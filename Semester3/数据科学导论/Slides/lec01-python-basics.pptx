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301" r:id="rId2"/>
    <p:sldId id="1188" r:id="rId3"/>
    <p:sldId id="1190" r:id="rId4"/>
    <p:sldId id="1118" r:id="rId5"/>
    <p:sldId id="1194" r:id="rId6"/>
    <p:sldId id="1192" r:id="rId7"/>
    <p:sldId id="1193" r:id="rId8"/>
    <p:sldId id="1196" r:id="rId9"/>
    <p:sldId id="1197" r:id="rId10"/>
    <p:sldId id="1200" r:id="rId11"/>
    <p:sldId id="1201" r:id="rId12"/>
    <p:sldId id="1199" r:id="rId13"/>
    <p:sldId id="1203" r:id="rId14"/>
    <p:sldId id="1204" r:id="rId15"/>
    <p:sldId id="1205" r:id="rId16"/>
    <p:sldId id="1206" r:id="rId17"/>
    <p:sldId id="1209" r:id="rId18"/>
    <p:sldId id="1210" r:id="rId19"/>
    <p:sldId id="1211" r:id="rId20"/>
    <p:sldId id="1213" r:id="rId21"/>
    <p:sldId id="1214" r:id="rId22"/>
    <p:sldId id="1217" r:id="rId23"/>
    <p:sldId id="1218" r:id="rId24"/>
    <p:sldId id="1222" r:id="rId25"/>
    <p:sldId id="1223" r:id="rId26"/>
    <p:sldId id="1224" r:id="rId27"/>
    <p:sldId id="1225" r:id="rId28"/>
    <p:sldId id="1226" r:id="rId29"/>
    <p:sldId id="1227" r:id="rId30"/>
    <p:sldId id="1231" r:id="rId31"/>
    <p:sldId id="1235" r:id="rId32"/>
    <p:sldId id="1236" r:id="rId33"/>
    <p:sldId id="1237" r:id="rId34"/>
    <p:sldId id="1238" r:id="rId35"/>
    <p:sldId id="1239" r:id="rId36"/>
    <p:sldId id="1240" r:id="rId37"/>
    <p:sldId id="1241" r:id="rId38"/>
    <p:sldId id="1315" r:id="rId39"/>
  </p:sldIdLst>
  <p:sldSz cx="9144000" cy="5143500" type="screen16x9"/>
  <p:notesSz cx="6858000" cy="9144000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21" autoAdjust="0"/>
    <p:restoredTop sz="94734" autoAdjust="0"/>
  </p:normalViewPr>
  <p:slideViewPr>
    <p:cSldViewPr snapToGrid="0">
      <p:cViewPr varScale="1">
        <p:scale>
          <a:sx n="171" d="100"/>
          <a:sy n="171" d="100"/>
        </p:scale>
        <p:origin x="90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202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下面是计算机程序设计语言发展的历史，</a:t>
            </a:r>
            <a:r>
              <a:rPr lang="en-US" altLang="zh-CN" dirty="0"/>
              <a:t>1940</a:t>
            </a:r>
            <a:r>
              <a:rPr lang="zh-CN" altLang="en-US" dirty="0"/>
              <a:t>年之前，电子计算机还没有发明，当然是一片蛮荒</a:t>
            </a:r>
            <a:r>
              <a:rPr lang="en-US" altLang="en-US" dirty="0"/>
              <a:t>。随着第一台电子计算机ENIAC的诞生，它也有了专用的程序设计语言。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60</a:t>
            </a:r>
            <a:r>
              <a:rPr lang="zh-CN" altLang="en-US" dirty="0"/>
              <a:t>年代，诞生了至今仍有使用的、专注于数值计算的</a:t>
            </a:r>
            <a:r>
              <a:rPr lang="en-US" altLang="zh-CN" dirty="0"/>
              <a:t>FORTRAN</a:t>
            </a:r>
            <a:r>
              <a:rPr lang="zh-CN" altLang="en-US" dirty="0"/>
              <a:t>语言以及著名的</a:t>
            </a:r>
            <a:r>
              <a:rPr lang="en-US" altLang="zh-CN" dirty="0"/>
              <a:t>BASIC</a:t>
            </a:r>
            <a:r>
              <a:rPr lang="zh-CN" altLang="en-US" dirty="0"/>
              <a:t>等语言，早期的</a:t>
            </a:r>
            <a:r>
              <a:rPr lang="en-US" altLang="zh-CN" dirty="0"/>
              <a:t>DOS</a:t>
            </a:r>
            <a:r>
              <a:rPr lang="zh-CN" altLang="en-US" dirty="0"/>
              <a:t>操作系统就是用</a:t>
            </a:r>
            <a:r>
              <a:rPr lang="en-US" altLang="zh-CN" dirty="0"/>
              <a:t>BASIC</a:t>
            </a:r>
            <a:r>
              <a:rPr lang="zh-CN" altLang="en-US" dirty="0"/>
              <a:t>语言写的。到了</a:t>
            </a:r>
            <a:r>
              <a:rPr lang="en-US" altLang="zh-CN" dirty="0"/>
              <a:t>70</a:t>
            </a:r>
            <a:r>
              <a:rPr lang="zh-CN" altLang="en-US" dirty="0"/>
              <a:t>年代，大名鼎鼎的</a:t>
            </a:r>
            <a:r>
              <a:rPr lang="en-US" altLang="zh-CN" dirty="0"/>
              <a:t>C</a:t>
            </a:r>
            <a:r>
              <a:rPr lang="zh-CN" altLang="en-US" dirty="0"/>
              <a:t>语言诞生了，</a:t>
            </a:r>
            <a:r>
              <a:rPr lang="en-US" altLang="zh-CN" dirty="0"/>
              <a:t>80</a:t>
            </a:r>
            <a:r>
              <a:rPr lang="zh-CN" altLang="en-US" dirty="0"/>
              <a:t>年代发明了</a:t>
            </a:r>
            <a:r>
              <a:rPr lang="en-US" altLang="zh-CN" dirty="0"/>
              <a:t>C</a:t>
            </a:r>
            <a:r>
              <a:rPr lang="zh-CN" altLang="en-US" dirty="0"/>
              <a:t>语言的升级版，</a:t>
            </a:r>
            <a:r>
              <a:rPr lang="en-US" altLang="zh-CN" dirty="0"/>
              <a:t>C++</a:t>
            </a:r>
            <a:r>
              <a:rPr lang="zh-CN" altLang="en-US" dirty="0"/>
              <a:t>语言。</a:t>
            </a:r>
            <a:r>
              <a:rPr lang="en-US" altLang="en-US" dirty="0"/>
              <a:t>90年代，人</a:t>
            </a:r>
            <a:r>
              <a:rPr lang="zh-CN" altLang="en-US" dirty="0"/>
              <a:t>类</a:t>
            </a:r>
            <a:r>
              <a:rPr lang="en-US" altLang="en-US" dirty="0" err="1"/>
              <a:t>进入了互联网时代，我们这门课的主角Python语言</a:t>
            </a:r>
            <a:r>
              <a:rPr lang="zh-CN" altLang="en-US" dirty="0"/>
              <a:t>登场了</a:t>
            </a:r>
            <a:r>
              <a:rPr lang="en-US" altLang="en-US" dirty="0"/>
              <a:t>，同时期</a:t>
            </a:r>
            <a:r>
              <a:rPr lang="zh-CN" altLang="en-US" dirty="0"/>
              <a:t>还诞生了</a:t>
            </a:r>
            <a:r>
              <a:rPr lang="en-US" altLang="zh-CN" dirty="0"/>
              <a:t>Java</a:t>
            </a:r>
            <a:r>
              <a:rPr lang="zh-CN" altLang="en-US" dirty="0"/>
              <a:t>、</a:t>
            </a:r>
            <a:r>
              <a:rPr lang="en-US" altLang="zh-CN" dirty="0"/>
              <a:t>PHP</a:t>
            </a:r>
            <a:r>
              <a:rPr lang="zh-CN" altLang="en-US" dirty="0"/>
              <a:t>等众多目前广为流行的语言。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66870-3EF6-4AA1-B83C-5EF97D491C29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1F77E12-8ED7-4898-821D-90B6931FA365}" type="datetime1">
              <a:rPr lang="zh-CN" altLang="en-US" smtClean="0"/>
              <a:t>2022/2/9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085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61265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8283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4471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6575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47810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327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02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0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95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7429"/>
      </p:ext>
    </p:extLst>
  </p:cSld>
  <p:clrMapOvr>
    <a:masterClrMapping/>
  </p:clrMapOvr>
  <p:transition spd="slow"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9" r:id="rId16"/>
  </p:sldLayoutIdLst>
  <p:transition spd="slow"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surveys/2017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pydsc.files.wordpress.com/2017/11/pythonenvironment.png?w=663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anaconda.com/distribu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ofish.com/how-to-install-python-package-in-anaconda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gextester.com/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59145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1587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27073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3" y="330984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30984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22153" y="2169137"/>
            <a:ext cx="8945065" cy="584747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数据科学导论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B11913AF-7BDC-6A43-974D-C041DD8A3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359299"/>
            <a:ext cx="5256213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100000"/>
              <a:defRPr/>
            </a:pPr>
            <a:r>
              <a:rPr kumimoji="1" lang="zh-CN" altLang="mr-IN" b="1" kern="0" dirty="0">
                <a:solidFill>
                  <a:schemeClr val="bg1"/>
                </a:solidFill>
                <a:latin typeface="Times-Roman" charset="0"/>
                <a:ea typeface="隶书" pitchFamily="49" charset="-122"/>
              </a:rPr>
              <a:t>范举副教授         </a:t>
            </a:r>
            <a:r>
              <a:rPr kumimoji="1" lang="mr-IN" altLang="zh-CN" b="1" kern="0" dirty="0" err="1">
                <a:solidFill>
                  <a:schemeClr val="bg1"/>
                </a:solidFill>
                <a:latin typeface="Times-Roman" charset="0"/>
                <a:ea typeface="隶书" pitchFamily="49" charset="-122"/>
              </a:rPr>
              <a:t>fanj@ruc.edu.cn</a:t>
            </a:r>
            <a:endParaRPr kumimoji="1" lang="mr-IN" altLang="zh-CN" b="1" kern="0" dirty="0">
              <a:solidFill>
                <a:schemeClr val="bg1"/>
              </a:solidFill>
              <a:latin typeface="Times-Roman" charset="0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73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800" y="1880285"/>
            <a:ext cx="83185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CMSS10" charset="0"/>
              </a:rPr>
              <a:t>“Data </a:t>
            </a:r>
            <a:r>
              <a:rPr lang="en-US" altLang="zh-CN" sz="3200" dirty="0">
                <a:latin typeface="CMSS10" charset="0"/>
              </a:rPr>
              <a:t>S</a:t>
            </a:r>
            <a:r>
              <a:rPr lang="en-US" sz="3200" dirty="0">
                <a:latin typeface="CMSS10" charset="0"/>
              </a:rPr>
              <a:t>cientist</a:t>
            </a:r>
            <a:r>
              <a:rPr lang="zh-CN" altLang="en-US" sz="3200" dirty="0">
                <a:latin typeface="CMSS10" charset="0"/>
              </a:rPr>
              <a:t> </a:t>
            </a:r>
            <a:r>
              <a:rPr lang="en-US" sz="3200" dirty="0">
                <a:latin typeface="CMSS10" charset="0"/>
              </a:rPr>
              <a:t>= statistician who uses </a:t>
            </a:r>
            <a:r>
              <a:rPr lang="en-US" sz="3200" b="1" dirty="0">
                <a:solidFill>
                  <a:srgbClr val="C00000"/>
                </a:solidFill>
                <a:latin typeface="CMSS10" charset="0"/>
              </a:rPr>
              <a:t>python</a:t>
            </a:r>
            <a:r>
              <a:rPr lang="en-US" sz="3200" dirty="0">
                <a:latin typeface="CMSS10" charset="0"/>
              </a:rPr>
              <a:t> and lives in San Francisco” 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32512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：数据科学家的最爱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89253"/>
            <a:ext cx="5048865" cy="3204088"/>
          </a:xfrm>
        </p:spPr>
      </p:pic>
      <p:sp>
        <p:nvSpPr>
          <p:cNvPr id="5" name="Rectangle 4"/>
          <p:cNvSpPr/>
          <p:nvPr/>
        </p:nvSpPr>
        <p:spPr>
          <a:xfrm>
            <a:off x="459694" y="4472137"/>
            <a:ext cx="3851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https://www.kaggle.com/surveys/2017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7200" y="862469"/>
            <a:ext cx="79346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>
                <a:solidFill>
                  <a:srgbClr val="C00000"/>
                </a:solidFill>
                <a:latin typeface="Helvetica" charset="0"/>
              </a:rPr>
              <a:t>What language </a:t>
            </a:r>
            <a:r>
              <a:rPr lang="en-US" b="1" dirty="0">
                <a:solidFill>
                  <a:srgbClr val="2B2B2B"/>
                </a:solidFill>
                <a:latin typeface="Helvetica" charset="0"/>
              </a:rPr>
              <a:t>would you recommend new data scientists learn first?</a:t>
            </a:r>
            <a:endParaRPr lang="en-US" b="1" i="0" dirty="0">
              <a:solidFill>
                <a:srgbClr val="2B2B2B"/>
              </a:solidFill>
              <a:effectLst/>
              <a:latin typeface="Helvetica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19136" y="1497572"/>
            <a:ext cx="330855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2B2B2B"/>
                </a:solidFill>
                <a:latin typeface="Helvetica" charset="0"/>
              </a:rPr>
              <a:t>Everyone data scientist has an opinions on what language you should learn first. As it turns out, people who solely use Python or R feel like they made the right choice. </a:t>
            </a:r>
            <a:r>
              <a:rPr lang="en-US" dirty="0">
                <a:solidFill>
                  <a:srgbClr val="008ABC"/>
                </a:solidFill>
                <a:latin typeface="Helvetica" charset="0"/>
              </a:rPr>
              <a:t>But if you ask people that use both R and Python, they are twice as likely to recommend </a:t>
            </a:r>
            <a:r>
              <a:rPr lang="en-US" dirty="0">
                <a:solidFill>
                  <a:srgbClr val="C00000"/>
                </a:solidFill>
                <a:latin typeface="Helvetica" charset="0"/>
              </a:rPr>
              <a:t>Python</a:t>
            </a:r>
            <a:r>
              <a:rPr lang="en-US" dirty="0">
                <a:solidFill>
                  <a:srgbClr val="008ABC"/>
                </a:solidFill>
                <a:latin typeface="Helvetica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380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计算机程序设计语言的历史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925" y="805434"/>
            <a:ext cx="639815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简介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 </a:t>
            </a:r>
            <a:r>
              <a:rPr lang="zh-CN" altLang="en-US" dirty="0"/>
              <a:t>是八十年代末和九十年代初（</a:t>
            </a:r>
            <a:r>
              <a:rPr lang="en-US" altLang="zh-CN" dirty="0"/>
              <a:t> 1989</a:t>
            </a:r>
            <a:r>
              <a:rPr lang="zh-CN" altLang="en-US" dirty="0"/>
              <a:t>年），在荷兰国家数学和计算机科学研究所设计出来的一种</a:t>
            </a:r>
            <a:r>
              <a:rPr lang="zh-CN" altLang="en-US" dirty="0">
                <a:solidFill>
                  <a:srgbClr val="C00000"/>
                </a:solidFill>
              </a:rPr>
              <a:t>程序设计语言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创始人为吉多</a:t>
            </a:r>
            <a:r>
              <a:rPr lang="en-US" altLang="zh-CN" dirty="0"/>
              <a:t>·</a:t>
            </a:r>
            <a:r>
              <a:rPr lang="zh-CN" altLang="en-US" dirty="0"/>
              <a:t>范罗苏姆（</a:t>
            </a:r>
            <a:r>
              <a:rPr lang="en-US" altLang="zh-CN" dirty="0"/>
              <a:t>Guido van Rossum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57984" y="2068920"/>
            <a:ext cx="1928403" cy="25106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22579" y="2068920"/>
            <a:ext cx="2052693" cy="24681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593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简介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39379"/>
          </a:xfrm>
        </p:spPr>
        <p:txBody>
          <a:bodyPr/>
          <a:lstStyle/>
          <a:p>
            <a:r>
              <a:rPr lang="zh-CN" altLang="en-US" dirty="0"/>
              <a:t>解释型语言与编译型语言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5" name="Rectangle 4"/>
          <p:cNvSpPr/>
          <p:nvPr/>
        </p:nvSpPr>
        <p:spPr>
          <a:xfrm>
            <a:off x="707920" y="1392493"/>
            <a:ext cx="1582993" cy="6489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编译型语言</a:t>
            </a:r>
            <a:endParaRPr lang="en-US" altLang="zh-CN" dirty="0"/>
          </a:p>
          <a:p>
            <a:pPr algn="ctr"/>
            <a:r>
              <a:rPr lang="zh-CN" altLang="en-US" dirty="0">
                <a:solidFill>
                  <a:srgbClr val="C00000"/>
                </a:solidFill>
              </a:rPr>
              <a:t>源代码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58261" y="1392492"/>
            <a:ext cx="1582993" cy="6489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编译型语言</a:t>
            </a:r>
            <a:endParaRPr lang="en-US" altLang="zh-CN" dirty="0"/>
          </a:p>
          <a:p>
            <a:pPr algn="ctr"/>
            <a:r>
              <a:rPr lang="zh-CN" altLang="en-US" dirty="0">
                <a:solidFill>
                  <a:srgbClr val="C00000"/>
                </a:solidFill>
              </a:rPr>
              <a:t>源代码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7920" y="2303820"/>
            <a:ext cx="1582993" cy="6489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dk1"/>
                </a:solidFill>
              </a:rPr>
              <a:t>编译器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07919" y="3215147"/>
            <a:ext cx="1582993" cy="6489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最终</a:t>
            </a:r>
            <a:endParaRPr lang="en-US" altLang="zh-CN" dirty="0"/>
          </a:p>
          <a:p>
            <a:pPr algn="ctr"/>
            <a:r>
              <a:rPr lang="zh-CN" altLang="en-US" dirty="0">
                <a:solidFill>
                  <a:srgbClr val="C00000"/>
                </a:solidFill>
              </a:rPr>
              <a:t>可执行文件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07919" y="4126475"/>
            <a:ext cx="4933335" cy="4811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操作系统（</a:t>
            </a:r>
            <a:r>
              <a:rPr lang="en-US" altLang="zh-CN" dirty="0">
                <a:solidFill>
                  <a:srgbClr val="C00000"/>
                </a:solidFill>
              </a:rPr>
              <a:t>Windows/Linux/Mac</a:t>
            </a:r>
            <a:r>
              <a:rPr lang="zh-CN" altLang="en-US" dirty="0"/>
              <a:t>）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058260" y="2303819"/>
            <a:ext cx="1582993" cy="156025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解释器</a:t>
            </a:r>
            <a:endParaRPr lang="en-US" altLang="zh-CN" dirty="0"/>
          </a:p>
          <a:p>
            <a:pPr algn="ctr"/>
            <a:r>
              <a:rPr lang="zh-CN" altLang="en-US" dirty="0">
                <a:solidFill>
                  <a:srgbClr val="C00000"/>
                </a:solidFill>
              </a:rPr>
              <a:t>逐行解释每一句源代码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2" name="Straight Arrow Connector 11"/>
          <p:cNvCxnSpPr>
            <a:stCxn id="5" idx="2"/>
            <a:endCxn id="7" idx="0"/>
          </p:cNvCxnSpPr>
          <p:nvPr/>
        </p:nvCxnSpPr>
        <p:spPr>
          <a:xfrm>
            <a:off x="1499417" y="2041422"/>
            <a:ext cx="0" cy="2623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2"/>
            <a:endCxn id="8" idx="0"/>
          </p:cNvCxnSpPr>
          <p:nvPr/>
        </p:nvCxnSpPr>
        <p:spPr>
          <a:xfrm flipH="1">
            <a:off x="1499416" y="2952749"/>
            <a:ext cx="1" cy="2623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2"/>
            <a:endCxn id="10" idx="0"/>
          </p:cNvCxnSpPr>
          <p:nvPr/>
        </p:nvCxnSpPr>
        <p:spPr>
          <a:xfrm flipH="1">
            <a:off x="4849757" y="2041421"/>
            <a:ext cx="1" cy="2623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2"/>
          </p:cNvCxnSpPr>
          <p:nvPr/>
        </p:nvCxnSpPr>
        <p:spPr>
          <a:xfrm flipH="1">
            <a:off x="1499415" y="3864076"/>
            <a:ext cx="1" cy="2623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4849753" y="3854857"/>
            <a:ext cx="1" cy="2623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598626" y="1743310"/>
            <a:ext cx="2265364" cy="11773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Helvetica Neue" charset="0"/>
              </a:rPr>
              <a:t>请问</a:t>
            </a:r>
            <a:r>
              <a:rPr lang="en-US" altLang="zh-CN" sz="2000" dirty="0">
                <a:solidFill>
                  <a:srgbClr val="C00000"/>
                </a:solidFill>
                <a:latin typeface="Helvetica Neue" charset="0"/>
              </a:rPr>
              <a:t>Python</a:t>
            </a:r>
            <a:r>
              <a:rPr lang="zh-CN" altLang="en-US" sz="2000" dirty="0">
                <a:solidFill>
                  <a:srgbClr val="C00000"/>
                </a:solidFill>
                <a:latin typeface="Helvetica Neue" charset="0"/>
              </a:rPr>
              <a:t>属于：</a:t>
            </a:r>
            <a:endParaRPr lang="en-US" altLang="zh-CN" sz="2000" dirty="0">
              <a:solidFill>
                <a:srgbClr val="C00000"/>
              </a:solidFill>
              <a:latin typeface="Helvetica Neue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effectLst/>
                <a:latin typeface="Helvetica Neue" charset="0"/>
              </a:rPr>
              <a:t>  </a:t>
            </a:r>
            <a:r>
              <a:rPr lang="en-US" altLang="zh-CN" dirty="0">
                <a:solidFill>
                  <a:srgbClr val="C00000"/>
                </a:solidFill>
                <a:effectLst/>
                <a:latin typeface="Helvetica Neue" charset="0"/>
              </a:rPr>
              <a:t>A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.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effectLst/>
                <a:latin typeface="Helvetica Neue" charset="0"/>
              </a:rPr>
              <a:t>编译型语言</a:t>
            </a:r>
            <a:endParaRPr lang="en-US" altLang="zh-CN" dirty="0">
              <a:solidFill>
                <a:srgbClr val="C00000"/>
              </a:solidFill>
              <a:latin typeface="Helvetica Neue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解释型语言</a:t>
            </a:r>
            <a:endParaRPr lang="en-US" sz="2800" dirty="0">
              <a:solidFill>
                <a:srgbClr val="C00000"/>
              </a:solidFill>
              <a:effectLst/>
              <a:latin typeface="Helvetica Neue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49859" y="3224979"/>
            <a:ext cx="229101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Helvetica Neue" charset="0"/>
              </a:rPr>
              <a:t>请在</a:t>
            </a:r>
            <a:r>
              <a:rPr lang="zh-CN" altLang="en-US" sz="2400">
                <a:solidFill>
                  <a:srgbClr val="000000"/>
                </a:solidFill>
                <a:latin typeface="Helvetica Neue" charset="0"/>
              </a:rPr>
              <a:t>腾讯课堂答题卡中作答</a:t>
            </a:r>
            <a:endParaRPr lang="en-US" sz="2800" dirty="0">
              <a:solidFill>
                <a:srgbClr val="000000"/>
              </a:solidFill>
              <a:effectLst/>
              <a:latin typeface="Helvetica Neue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111187" y="1743310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50447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简介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3790335" cy="3937000"/>
          </a:xfrm>
        </p:spPr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的优势</a:t>
            </a:r>
            <a:endParaRPr lang="en-US" altLang="zh-CN" dirty="0"/>
          </a:p>
          <a:p>
            <a:pPr lvl="1"/>
            <a:r>
              <a:rPr lang="zh-CN" altLang="en-US" dirty="0"/>
              <a:t>胶水语言（</a:t>
            </a:r>
            <a:r>
              <a:rPr lang="en-US" altLang="zh-CN" dirty="0"/>
              <a:t>Python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Glue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强大的数据科学</a:t>
            </a:r>
            <a:r>
              <a:rPr lang="zh-CN" altLang="en-US" dirty="0">
                <a:solidFill>
                  <a:srgbClr val="C00000"/>
                </a:solidFill>
              </a:rPr>
              <a:t>生态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en-US" altLang="zh-CN" dirty="0"/>
              <a:t>Solving the “Two-Language” Problem</a:t>
            </a:r>
          </a:p>
          <a:p>
            <a:pPr lvl="2"/>
            <a:r>
              <a:rPr lang="en-US" altLang="zh-CN" dirty="0"/>
              <a:t>Research,</a:t>
            </a:r>
            <a:r>
              <a:rPr lang="zh-CN" altLang="en-US" dirty="0"/>
              <a:t> </a:t>
            </a:r>
            <a:r>
              <a:rPr lang="en-US" altLang="zh-CN" dirty="0"/>
              <a:t>POC,</a:t>
            </a:r>
            <a:r>
              <a:rPr lang="zh-CN" altLang="en-US" dirty="0"/>
              <a:t> </a:t>
            </a:r>
            <a:r>
              <a:rPr lang="en-US" altLang="zh-CN" dirty="0"/>
              <a:t>etc.</a:t>
            </a:r>
          </a:p>
          <a:p>
            <a:pPr lvl="2"/>
            <a:r>
              <a:rPr lang="en-US" altLang="zh-CN" dirty="0"/>
              <a:t>Production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</a:p>
          <a:p>
            <a:r>
              <a:rPr lang="zh-CN" altLang="en-US" dirty="0"/>
              <a:t>何时不用</a:t>
            </a:r>
            <a:r>
              <a:rPr lang="en-US" altLang="zh-CN" dirty="0"/>
              <a:t>Python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性能</a:t>
            </a:r>
            <a:r>
              <a:rPr lang="zh-CN" altLang="en-US" dirty="0"/>
              <a:t>要求很强的场景</a:t>
            </a:r>
            <a:endParaRPr lang="en-US" altLang="zh-CN" dirty="0"/>
          </a:p>
          <a:p>
            <a:pPr lvl="2"/>
            <a:r>
              <a:rPr lang="zh-CN" altLang="en-US" dirty="0"/>
              <a:t>低延迟、高并发</a:t>
            </a:r>
            <a:endParaRPr lang="en-US" altLang="zh-CN" dirty="0"/>
          </a:p>
          <a:p>
            <a:pPr lvl="1"/>
            <a:r>
              <a:rPr lang="en-US" altLang="zh-CN" sz="1600" dirty="0"/>
              <a:t>Python</a:t>
            </a:r>
            <a:r>
              <a:rPr lang="zh-CN" altLang="en-US" sz="1600" dirty="0"/>
              <a:t>支撑“双十一”？</a:t>
            </a: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0" y="4501118"/>
            <a:ext cx="79641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medium-content-sans-serif-font" charset="0"/>
              </a:rPr>
              <a:t>Source: </a:t>
            </a:r>
            <a:r>
              <a:rPr lang="en-US" sz="1200" dirty="0">
                <a:latin typeface="medium-content-sans-serif-font" charset="0"/>
                <a:hlinkClick r:id="rId2"/>
              </a:rPr>
              <a:t>https://pydsc.files.wordpress.com/2017/11/pythonenvironment.png?w=663</a:t>
            </a:r>
            <a:endParaRPr lang="en-US" sz="1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" b="-1"/>
          <a:stretch/>
        </p:blipFill>
        <p:spPr>
          <a:xfrm>
            <a:off x="3982064" y="1567475"/>
            <a:ext cx="4984955" cy="287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69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  <a:r>
              <a:rPr lang="zh-CN" altLang="en-US" dirty="0"/>
              <a:t> </a:t>
            </a:r>
            <a:r>
              <a:rPr lang="en-US" dirty="0"/>
              <a:t>环境安装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虽然</a:t>
            </a:r>
            <a:r>
              <a:rPr lang="en-US" altLang="zh-CN" dirty="0"/>
              <a:t>Python</a:t>
            </a:r>
            <a:r>
              <a:rPr lang="zh-CN" altLang="en-US" dirty="0"/>
              <a:t>易学易用，但两个难题经常让人是否头痛：</a:t>
            </a:r>
            <a:endParaRPr lang="en-US" altLang="zh-CN" dirty="0"/>
          </a:p>
          <a:p>
            <a:pPr lvl="1"/>
            <a:r>
              <a:rPr lang="zh-CN" altLang="en-US" dirty="0"/>
              <a:t>不同版本问题：</a:t>
            </a:r>
            <a:r>
              <a:rPr lang="en-US" altLang="zh-CN" dirty="0"/>
              <a:t>Python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Python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3</a:t>
            </a:r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包管理：从哪里下载</a:t>
            </a:r>
            <a:r>
              <a:rPr lang="en-US" altLang="zh-CN" dirty="0"/>
              <a:t>numpy</a:t>
            </a:r>
            <a:r>
              <a:rPr lang="zh-CN" altLang="en-US" dirty="0"/>
              <a:t>和</a:t>
            </a:r>
            <a:r>
              <a:rPr lang="en-US" altLang="zh-CN" dirty="0"/>
              <a:t>pandas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Anaconda</a:t>
            </a:r>
            <a:r>
              <a:rPr lang="zh-CN" altLang="en-US" dirty="0"/>
              <a:t>进行</a:t>
            </a:r>
            <a:r>
              <a:rPr lang="en-US" altLang="zh-CN" dirty="0"/>
              <a:t>Python</a:t>
            </a:r>
            <a:r>
              <a:rPr lang="zh-CN" altLang="en-US" dirty="0"/>
              <a:t>开发</a:t>
            </a:r>
            <a:endParaRPr lang="en-US" altLang="zh-CN" dirty="0"/>
          </a:p>
          <a:p>
            <a:pPr lvl="1"/>
            <a:r>
              <a:rPr lang="zh-CN" altLang="en-US" dirty="0"/>
              <a:t>在同一个机器上安装</a:t>
            </a:r>
            <a:r>
              <a:rPr lang="zh-CN" altLang="en-US" dirty="0">
                <a:solidFill>
                  <a:srgbClr val="C00000"/>
                </a:solidFill>
              </a:rPr>
              <a:t>不同版本</a:t>
            </a:r>
            <a:r>
              <a:rPr lang="zh-CN" altLang="en-US" dirty="0"/>
              <a:t>的软件包及其依赖</a:t>
            </a:r>
            <a:endParaRPr lang="en-US" altLang="zh-CN" dirty="0"/>
          </a:p>
          <a:p>
            <a:pPr lvl="1"/>
            <a:r>
              <a:rPr lang="zh-CN" altLang="en-US" dirty="0"/>
              <a:t>能够在不同的环境之间进行切换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068" y="2512227"/>
            <a:ext cx="2696543" cy="1814038"/>
          </a:xfrm>
          <a:prstGeom prst="rect">
            <a:avLst/>
          </a:prstGeom>
          <a:ln>
            <a:noFill/>
          </a:ln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696955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Anaconda</a:t>
            </a:r>
            <a:r>
              <a:rPr kumimoji="1" lang="zh-CN" altLang="en-US" dirty="0"/>
              <a:t>环境安装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登录</a:t>
            </a:r>
            <a:r>
              <a:rPr lang="en-US" altLang="zh-CN" dirty="0"/>
              <a:t>Anaconda</a:t>
            </a:r>
            <a:r>
              <a:rPr lang="zh-CN" altLang="en-US" dirty="0"/>
              <a:t>官网：</a:t>
            </a:r>
            <a:r>
              <a:rPr lang="en-US" altLang="zh-CN" dirty="0">
                <a:hlinkClick r:id="rId2"/>
              </a:rPr>
              <a:t>https://www.anaconda.com/distribution/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70009"/>
            <a:ext cx="5156630" cy="32737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586" y="2645134"/>
            <a:ext cx="4496586" cy="211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08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预备</a:t>
            </a:r>
            <a:r>
              <a:rPr lang="en-US" altLang="zh-CN" dirty="0"/>
              <a:t>-Python</a:t>
            </a:r>
            <a:r>
              <a:rPr lang="zh-CN" altLang="en-US" dirty="0"/>
              <a:t>安装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AC6F5E-9ADF-2440-8D5E-DD52D76CEDD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6249" y="983375"/>
            <a:ext cx="5562618" cy="3476636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AA37329F-05DC-964A-930A-1395658895BF}"/>
              </a:ext>
            </a:extLst>
          </p:cNvPr>
          <p:cNvSpPr/>
          <p:nvPr/>
        </p:nvSpPr>
        <p:spPr>
          <a:xfrm>
            <a:off x="4586410" y="1275605"/>
            <a:ext cx="1011704" cy="89756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201185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预备</a:t>
            </a:r>
            <a:r>
              <a:rPr lang="en-US" altLang="zh-CN" dirty="0"/>
              <a:t>-Python</a:t>
            </a:r>
            <a:r>
              <a:rPr lang="zh-CN" altLang="en-US" dirty="0"/>
              <a:t>安装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218B81C-E8BF-4542-9449-2FB25BDA4BC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6371" y="1059582"/>
            <a:ext cx="5751258" cy="3294992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1C04DBF6-8726-B349-BECD-0AF309E6CA7F}"/>
              </a:ext>
            </a:extLst>
          </p:cNvPr>
          <p:cNvSpPr/>
          <p:nvPr/>
        </p:nvSpPr>
        <p:spPr>
          <a:xfrm>
            <a:off x="2411760" y="2571750"/>
            <a:ext cx="1296144" cy="27003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040104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预备</a:t>
            </a:r>
            <a:r>
              <a:rPr lang="en-US" altLang="zh-CN" dirty="0"/>
              <a:t>-Python</a:t>
            </a:r>
            <a:r>
              <a:rPr lang="zh-CN" altLang="en-US" dirty="0"/>
              <a:t>安装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68708"/>
          </a:xfrm>
        </p:spPr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/>
              <a:t>Jupyter</a:t>
            </a:r>
            <a:r>
              <a:rPr lang="zh-CN" altLang="en-US" dirty="0"/>
              <a:t> </a:t>
            </a:r>
            <a:r>
              <a:rPr lang="en-US" altLang="zh-CN" dirty="0"/>
              <a:t>Notebook</a:t>
            </a:r>
            <a:r>
              <a:rPr lang="zh-CN" altLang="en-US" dirty="0"/>
              <a:t>写</a:t>
            </a:r>
            <a:r>
              <a:rPr lang="en-US" altLang="zh-CN" dirty="0"/>
              <a:t>Python</a:t>
            </a:r>
            <a:r>
              <a:rPr lang="zh-CN" altLang="en-US" dirty="0"/>
              <a:t>程序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72" y="1287858"/>
            <a:ext cx="5443194" cy="34682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85871" y="1482111"/>
            <a:ext cx="23010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/>
              <a:t>PIP</a:t>
            </a:r>
            <a:r>
              <a:rPr lang="zh-CN" altLang="en-US" dirty="0"/>
              <a:t>安装</a:t>
            </a:r>
            <a:r>
              <a:rPr lang="en-US" altLang="zh-CN" dirty="0"/>
              <a:t>Python</a:t>
            </a:r>
            <a:r>
              <a:rPr lang="zh-CN" altLang="en-US" dirty="0"/>
              <a:t>包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372519" y="2180905"/>
            <a:ext cx="2354909" cy="369332"/>
          </a:xfrm>
          <a:prstGeom prst="rect">
            <a:avLst/>
          </a:prstGeom>
          <a:solidFill>
            <a:srgbClr val="F6F8FA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$ pip install </a:t>
            </a:r>
            <a:r>
              <a:rPr lang="en-US" altLang="zh-CN" dirty="0"/>
              <a:t>pandas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52449" y="3443284"/>
            <a:ext cx="27950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https://datatofish.com/how-to-install-python-package-in-anaconda/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216978" y="2958166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扩展阅读：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0E0BF5-3D0D-494F-8764-9DE7FCF8F581}"/>
              </a:ext>
            </a:extLst>
          </p:cNvPr>
          <p:cNvSpPr/>
          <p:nvPr/>
        </p:nvSpPr>
        <p:spPr>
          <a:xfrm>
            <a:off x="6152449" y="819150"/>
            <a:ext cx="27379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Anaconda</a:t>
            </a:r>
            <a:r>
              <a:rPr lang="zh-CN" altLang="en-US" dirty="0">
                <a:solidFill>
                  <a:srgbClr val="C00000"/>
                </a:solidFill>
              </a:rPr>
              <a:t>把主流软件包都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安装好了</a:t>
            </a:r>
          </a:p>
        </p:txBody>
      </p:sp>
    </p:spTree>
    <p:extLst>
      <p:ext uri="{BB962C8B-B14F-4D97-AF65-F5344CB8AC3E}">
        <p14:creationId xmlns:p14="http://schemas.microsoft.com/office/powerpoint/2010/main" val="56657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Hello World!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C61F01-DA24-DD4E-A4CB-53BEB896457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00" y="801343"/>
            <a:ext cx="6858000" cy="354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6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预备</a:t>
            </a:r>
            <a:r>
              <a:rPr lang="en-US" altLang="zh-CN" dirty="0"/>
              <a:t>-Debug</a:t>
            </a:r>
            <a:r>
              <a:rPr lang="zh-CN" altLang="en-US" dirty="0"/>
              <a:t>工具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AC6F5E-9ADF-2440-8D5E-DD52D76CEDD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5676" y="1275606"/>
            <a:ext cx="5562618" cy="3476636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AA37329F-05DC-964A-930A-1395658895BF}"/>
              </a:ext>
            </a:extLst>
          </p:cNvPr>
          <p:cNvSpPr/>
          <p:nvPr/>
        </p:nvSpPr>
        <p:spPr>
          <a:xfrm>
            <a:off x="5382090" y="1275605"/>
            <a:ext cx="1011704" cy="89756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09466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11F173-D7CB-474B-BFE6-AFE86884B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Debug</a:t>
            </a:r>
            <a:r>
              <a:rPr kumimoji="1" lang="zh-CN" altLang="en-US" dirty="0"/>
              <a:t>工具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BB7558-897B-F649-B154-1F1518C53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529C8E7-1528-8244-ABEF-22A21006B3F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00" y="735546"/>
            <a:ext cx="6967330" cy="399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5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599" cy="3937000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/>
              <a:t>变量、常量、注释</a:t>
            </a:r>
            <a:endParaRPr lang="en-US" altLang="zh-CN" dirty="0"/>
          </a:p>
          <a:p>
            <a:pPr lvl="1" algn="just"/>
            <a:endParaRPr lang="en-US" altLang="zh-CN" dirty="0"/>
          </a:p>
          <a:p>
            <a:pPr lvl="1" algn="just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913375-74E8-4109-90FE-EBF851E1C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41" y="1322813"/>
            <a:ext cx="5913120" cy="1625554"/>
          </a:xfrm>
          <a:prstGeom prst="rect">
            <a:avLst/>
          </a:prstGeom>
        </p:spPr>
      </p:pic>
      <p:pic>
        <p:nvPicPr>
          <p:cNvPr id="6" name="图片 3">
            <a:extLst>
              <a:ext uri="{FF2B5EF4-FFF2-40B4-BE49-F238E27FC236}">
                <a16:creationId xmlns:a16="http://schemas.microsoft.com/office/drawing/2014/main" id="{A85A66C0-6B01-4D3E-84FA-7D34F5CA0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41" y="3062667"/>
            <a:ext cx="6268720" cy="150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56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599" cy="3937000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/>
              <a:t>数据类型</a:t>
            </a:r>
            <a:endParaRPr lang="en-US" altLang="zh-CN" dirty="0"/>
          </a:p>
          <a:p>
            <a:pPr lvl="1"/>
            <a:r>
              <a:rPr lang="zh-CN" altLang="zh-CN" b="1" dirty="0"/>
              <a:t>布尔值</a:t>
            </a:r>
            <a:r>
              <a:rPr lang="en-US" altLang="zh-CN" b="1" dirty="0"/>
              <a:t>bool</a:t>
            </a:r>
            <a:endParaRPr lang="zh-CN" altLang="zh-CN" dirty="0"/>
          </a:p>
          <a:p>
            <a:pPr lvl="1"/>
            <a:r>
              <a:rPr lang="en-US" altLang="zh-CN" dirty="0"/>
              <a:t>	</a:t>
            </a:r>
            <a:r>
              <a:rPr lang="zh-CN" altLang="zh-CN" dirty="0"/>
              <a:t>布尔值只有</a:t>
            </a:r>
            <a:r>
              <a:rPr lang="en-US" altLang="zh-CN" dirty="0">
                <a:solidFill>
                  <a:srgbClr val="C00000"/>
                </a:solidFill>
              </a:rPr>
              <a:t>True</a:t>
            </a:r>
            <a:r>
              <a:rPr lang="zh-CN" altLang="zh-CN" dirty="0">
                <a:solidFill>
                  <a:srgbClr val="C00000"/>
                </a:solidFill>
              </a:rPr>
              <a:t>、</a:t>
            </a:r>
            <a:r>
              <a:rPr lang="en-US" altLang="zh-CN" dirty="0">
                <a:solidFill>
                  <a:srgbClr val="C00000"/>
                </a:solidFill>
              </a:rPr>
              <a:t>False</a:t>
            </a:r>
            <a:r>
              <a:rPr lang="zh-CN" altLang="zh-CN" dirty="0">
                <a:solidFill>
                  <a:srgbClr val="C00000"/>
                </a:solidFill>
              </a:rPr>
              <a:t>两种值</a:t>
            </a:r>
            <a:r>
              <a:rPr lang="zh-CN" altLang="zh-CN" dirty="0"/>
              <a:t>，要么是</a:t>
            </a:r>
            <a:r>
              <a:rPr lang="en-US" altLang="zh-CN" dirty="0"/>
              <a:t>True</a:t>
            </a:r>
            <a:r>
              <a:rPr lang="zh-CN" altLang="zh-CN" dirty="0"/>
              <a:t>，要么是</a:t>
            </a:r>
            <a:r>
              <a:rPr lang="en-US" altLang="zh-CN" dirty="0"/>
              <a:t>False</a:t>
            </a:r>
            <a:r>
              <a:rPr lang="zh-CN" altLang="zh-CN" dirty="0"/>
              <a:t>。在</a:t>
            </a:r>
            <a:r>
              <a:rPr lang="en-US" altLang="zh-CN" dirty="0"/>
              <a:t>Python</a:t>
            </a:r>
            <a:r>
              <a:rPr lang="zh-CN" altLang="zh-CN" dirty="0"/>
              <a:t>中，可以直接用</a:t>
            </a:r>
            <a:r>
              <a:rPr lang="en-US" altLang="zh-CN" dirty="0"/>
              <a:t>True</a:t>
            </a:r>
            <a:r>
              <a:rPr lang="zh-CN" altLang="zh-CN" dirty="0"/>
              <a:t>、</a:t>
            </a:r>
            <a:r>
              <a:rPr lang="en-US" altLang="zh-CN" dirty="0"/>
              <a:t>False</a:t>
            </a:r>
            <a:r>
              <a:rPr lang="zh-CN" altLang="zh-CN" dirty="0"/>
              <a:t>表示布尔值，也可以通过关系运算或者逻辑运算计算出来。下面的代码中，通过关系运算</a:t>
            </a:r>
            <a:r>
              <a:rPr lang="en-US" altLang="zh-CN" dirty="0"/>
              <a:t>3&gt;2(</a:t>
            </a:r>
            <a:r>
              <a:rPr lang="zh-CN" altLang="zh-CN" dirty="0"/>
              <a:t>为真，即</a:t>
            </a:r>
            <a:r>
              <a:rPr lang="en-US" altLang="zh-CN" dirty="0"/>
              <a:t>True)</a:t>
            </a:r>
            <a:r>
              <a:rPr lang="zh-CN" altLang="zh-CN" dirty="0"/>
              <a:t>，给变量</a:t>
            </a:r>
            <a:r>
              <a:rPr lang="en-US" altLang="zh-CN" dirty="0"/>
              <a:t>b1</a:t>
            </a:r>
            <a:r>
              <a:rPr lang="zh-CN" altLang="zh-CN" dirty="0"/>
              <a:t>赋值。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1B04C52-3CB5-488D-8C7B-63581516E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426" y="2787650"/>
            <a:ext cx="6001173" cy="183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864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599" cy="3937000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/>
              <a:t>数据类型</a:t>
            </a:r>
            <a:endParaRPr lang="en-US" altLang="zh-CN" dirty="0"/>
          </a:p>
          <a:p>
            <a:pPr lvl="1"/>
            <a:r>
              <a:rPr lang="zh-CN" altLang="zh-CN" b="1" dirty="0"/>
              <a:t>整数</a:t>
            </a:r>
            <a:r>
              <a:rPr lang="en-US" altLang="zh-CN" b="1" dirty="0"/>
              <a:t>int</a:t>
            </a:r>
            <a:endParaRPr lang="zh-CN" altLang="zh-CN" dirty="0"/>
          </a:p>
          <a:p>
            <a:pPr lvl="1"/>
            <a:r>
              <a:rPr lang="en-US" altLang="zh-CN" dirty="0"/>
              <a:t>	Python</a:t>
            </a:r>
            <a:r>
              <a:rPr lang="zh-CN" altLang="zh-CN" dirty="0"/>
              <a:t>可以表示精度不限的整数</a:t>
            </a:r>
            <a:r>
              <a:rPr lang="en-US" altLang="zh-CN" dirty="0"/>
              <a:t>(</a:t>
            </a:r>
            <a:r>
              <a:rPr lang="zh-CN" altLang="zh-CN" dirty="0"/>
              <a:t>包括</a:t>
            </a:r>
            <a:r>
              <a:rPr lang="en-US" altLang="zh-CN" dirty="0"/>
              <a:t>0</a:t>
            </a:r>
            <a:r>
              <a:rPr lang="zh-CN" altLang="zh-CN" dirty="0"/>
              <a:t>和负整数</a:t>
            </a:r>
            <a:r>
              <a:rPr lang="en-US" altLang="zh-CN" dirty="0"/>
              <a:t>)</a:t>
            </a:r>
            <a:r>
              <a:rPr lang="zh-CN" altLang="zh-CN" dirty="0"/>
              <a:t>。在程序中，整数的表示方法和数学上的写法是一致的，比如</a:t>
            </a:r>
            <a:r>
              <a:rPr lang="en-US" altLang="zh-CN" dirty="0"/>
              <a:t>100</a:t>
            </a:r>
            <a:r>
              <a:rPr lang="zh-CN" altLang="zh-CN" dirty="0"/>
              <a:t>、</a:t>
            </a:r>
            <a:r>
              <a:rPr lang="en-US" altLang="zh-CN" dirty="0"/>
              <a:t>-100</a:t>
            </a:r>
            <a:r>
              <a:rPr lang="zh-CN" altLang="zh-CN" dirty="0"/>
              <a:t>、</a:t>
            </a:r>
            <a:r>
              <a:rPr lang="en-US" altLang="zh-CN" dirty="0"/>
              <a:t>0</a:t>
            </a:r>
            <a:r>
              <a:rPr lang="zh-CN" altLang="zh-CN" dirty="0"/>
              <a:t>等。下面的代码中，给整数变量</a:t>
            </a:r>
            <a:r>
              <a:rPr lang="en-US" altLang="zh-CN" dirty="0"/>
              <a:t>a</a:t>
            </a:r>
            <a:r>
              <a:rPr lang="zh-CN" altLang="zh-CN" dirty="0"/>
              <a:t>、</a:t>
            </a:r>
            <a:r>
              <a:rPr lang="en-US" altLang="zh-CN" dirty="0"/>
              <a:t>b</a:t>
            </a:r>
            <a:r>
              <a:rPr lang="zh-CN" altLang="zh-CN" dirty="0"/>
              <a:t>、</a:t>
            </a:r>
            <a:r>
              <a:rPr lang="en-US" altLang="zh-CN" dirty="0"/>
              <a:t>c</a:t>
            </a:r>
            <a:r>
              <a:rPr lang="zh-CN" altLang="zh-CN" dirty="0"/>
              <a:t>进行了赋值。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551297A-DE48-41BB-AECC-B6629AA09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614" y="2571750"/>
            <a:ext cx="5774266" cy="216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28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599" cy="3937000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/>
              <a:t>数据类型</a:t>
            </a:r>
            <a:endParaRPr lang="en-US" altLang="zh-CN" dirty="0"/>
          </a:p>
          <a:p>
            <a:pPr lvl="1"/>
            <a:r>
              <a:rPr lang="zh-CN" altLang="en-US" sz="1600" b="1" dirty="0"/>
              <a:t>浮点数</a:t>
            </a:r>
            <a:r>
              <a:rPr lang="en-US" altLang="zh-CN" sz="1600" b="1" dirty="0"/>
              <a:t>float</a:t>
            </a:r>
          </a:p>
          <a:p>
            <a:pPr lvl="1"/>
            <a:r>
              <a:rPr lang="zh-CN" altLang="en-US" sz="1600" dirty="0"/>
              <a:t>浮点数也就是小数。浮点数可以使用标准的写法，如</a:t>
            </a:r>
            <a:r>
              <a:rPr lang="en-US" altLang="zh-CN" sz="1600" dirty="0"/>
              <a:t>3.23</a:t>
            </a:r>
            <a:r>
              <a:rPr lang="zh-CN" altLang="en-US" sz="1600" dirty="0"/>
              <a:t>、</a:t>
            </a:r>
            <a:r>
              <a:rPr lang="en-US" altLang="zh-CN" sz="1600" dirty="0"/>
              <a:t>3.24</a:t>
            </a:r>
            <a:r>
              <a:rPr lang="zh-CN" altLang="en-US" sz="1600" dirty="0"/>
              <a:t>、</a:t>
            </a:r>
            <a:r>
              <a:rPr lang="en-US" altLang="zh-CN" sz="1600" dirty="0"/>
              <a:t>-9.11</a:t>
            </a:r>
            <a:r>
              <a:rPr lang="zh-CN" altLang="en-US" sz="1600" dirty="0"/>
              <a:t>等，也可以使用科学计数法表示，比如</a:t>
            </a:r>
            <a:r>
              <a:rPr lang="en-US" altLang="zh-CN" sz="1600" dirty="0"/>
              <a:t>3.23e3</a:t>
            </a:r>
            <a:r>
              <a:rPr lang="zh-CN" altLang="en-US" sz="1600" dirty="0"/>
              <a:t>表示</a:t>
            </a:r>
            <a:r>
              <a:rPr lang="en-US" altLang="zh-CN" sz="1600" dirty="0"/>
              <a:t>3.23*103</a:t>
            </a:r>
            <a:r>
              <a:rPr lang="zh-CN" altLang="en-US" sz="1600" dirty="0"/>
              <a:t>，即</a:t>
            </a:r>
            <a:r>
              <a:rPr lang="en-US" altLang="zh-CN" sz="1600" dirty="0"/>
              <a:t>3230</a:t>
            </a:r>
            <a:r>
              <a:rPr lang="zh-CN" altLang="en-US" sz="1600" dirty="0"/>
              <a:t>，</a:t>
            </a:r>
            <a:r>
              <a:rPr lang="en-US" altLang="zh-CN" sz="1600" dirty="0"/>
              <a:t>1.2e-5</a:t>
            </a:r>
            <a:r>
              <a:rPr lang="zh-CN" altLang="en-US" sz="1600" dirty="0"/>
              <a:t>表示</a:t>
            </a:r>
            <a:r>
              <a:rPr lang="en-US" altLang="zh-CN" sz="1600" dirty="0"/>
              <a:t>0.000012</a:t>
            </a:r>
            <a:r>
              <a:rPr lang="zh-CN" altLang="en-US" sz="1600" dirty="0"/>
              <a:t>。下面的代码中，分别给变量</a:t>
            </a:r>
            <a:r>
              <a:rPr lang="en-US" altLang="zh-CN" sz="1600" dirty="0"/>
              <a:t>f1</a:t>
            </a:r>
            <a:r>
              <a:rPr lang="zh-CN" altLang="en-US" sz="1600" dirty="0"/>
              <a:t>、</a:t>
            </a:r>
            <a:r>
              <a:rPr lang="en-US" altLang="zh-CN" sz="1600" dirty="0"/>
              <a:t>f2</a:t>
            </a:r>
            <a:r>
              <a:rPr lang="zh-CN" altLang="en-US" sz="1600" dirty="0"/>
              <a:t>进行了浮点数赋值。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1F29E4-4C2C-44E7-81D0-5773AE71B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79" y="2503323"/>
            <a:ext cx="6644640" cy="197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9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19150"/>
            <a:ext cx="3769360" cy="3937000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/>
              <a:t>数据类型</a:t>
            </a:r>
            <a:endParaRPr lang="en-US" altLang="zh-CN" dirty="0"/>
          </a:p>
          <a:p>
            <a:pPr lvl="1" algn="just"/>
            <a:r>
              <a:rPr lang="zh-CN" altLang="zh-CN" sz="1400" b="1" dirty="0"/>
              <a:t>字符串</a:t>
            </a:r>
            <a:r>
              <a:rPr lang="en-US" altLang="zh-CN" sz="1400" b="1" dirty="0"/>
              <a:t>str</a:t>
            </a:r>
            <a:endParaRPr lang="zh-CN" altLang="zh-CN" sz="1400" dirty="0"/>
          </a:p>
          <a:p>
            <a:pPr lvl="1" algn="just"/>
            <a:r>
              <a:rPr lang="en-US" altLang="zh-CN" sz="1400" dirty="0"/>
              <a:t>	</a:t>
            </a:r>
            <a:r>
              <a:rPr lang="zh-CN" altLang="zh-CN" sz="1400" dirty="0"/>
              <a:t>字符串是由若干字符组成的有序序列，字符串可以用单引号或者双引号括起来。如果分别用三个双引号首尾括起来，可以用若干行的字符串常量，给一个字符串变量赋值，换行和空格都是字符串的一部分。</a:t>
            </a:r>
            <a:endParaRPr lang="en-US" altLang="zh-CN" sz="1400" dirty="0"/>
          </a:p>
          <a:p>
            <a:pPr lvl="1" algn="just"/>
            <a:r>
              <a:rPr lang="zh-CN" altLang="zh-CN" sz="1400" dirty="0"/>
              <a:t>下面代码中，分别给变量</a:t>
            </a:r>
            <a:r>
              <a:rPr lang="en-US" altLang="zh-CN" sz="1400" dirty="0"/>
              <a:t>s1</a:t>
            </a:r>
            <a:r>
              <a:rPr lang="zh-CN" altLang="zh-CN" sz="1400" dirty="0"/>
              <a:t>、</a:t>
            </a:r>
            <a:r>
              <a:rPr lang="en-US" altLang="zh-CN" sz="1400" dirty="0"/>
              <a:t>s2</a:t>
            </a:r>
            <a:r>
              <a:rPr lang="zh-CN" altLang="zh-CN" sz="1400" dirty="0"/>
              <a:t>、</a:t>
            </a:r>
            <a:r>
              <a:rPr lang="en-US" altLang="zh-CN" sz="1400" dirty="0"/>
              <a:t>s3</a:t>
            </a:r>
            <a:r>
              <a:rPr lang="zh-CN" altLang="zh-CN" sz="1400" dirty="0"/>
              <a:t>和</a:t>
            </a:r>
            <a:r>
              <a:rPr lang="en-US" altLang="zh-CN" sz="1400" dirty="0"/>
              <a:t>s4</a:t>
            </a:r>
            <a:r>
              <a:rPr lang="zh-CN" altLang="zh-CN" sz="1400" dirty="0"/>
              <a:t>进行了字符串赋值。并且通过下标寻访其元素</a:t>
            </a:r>
            <a:r>
              <a:rPr lang="en-US" altLang="zh-CN" sz="1400" dirty="0"/>
              <a:t>(</a:t>
            </a:r>
            <a:r>
              <a:rPr lang="zh-CN" altLang="zh-CN" sz="1400" dirty="0"/>
              <a:t>即字符</a:t>
            </a:r>
            <a:r>
              <a:rPr lang="en-US" altLang="zh-CN" sz="1400" dirty="0"/>
              <a:t>)</a:t>
            </a:r>
            <a:r>
              <a:rPr lang="zh-CN" altLang="zh-CN" sz="1400" dirty="0"/>
              <a:t>，下标的各种使用方式，代码中给出了说明。</a:t>
            </a:r>
            <a:r>
              <a:rPr lang="en-US" altLang="zh-CN" sz="1400" dirty="0"/>
              <a:t>(</a:t>
            </a:r>
            <a:r>
              <a:rPr lang="zh-CN" altLang="zh-CN" sz="1400" dirty="0"/>
              <a:t>注意</a:t>
            </a:r>
            <a:r>
              <a:rPr lang="en-US" altLang="zh-CN" sz="1400" dirty="0"/>
              <a:t>Python</a:t>
            </a:r>
            <a:r>
              <a:rPr lang="zh-CN" altLang="zh-CN" sz="1400" dirty="0"/>
              <a:t>的下标是从</a:t>
            </a:r>
            <a:r>
              <a:rPr lang="en-US" altLang="zh-CN" sz="1400" dirty="0"/>
              <a:t>0</a:t>
            </a:r>
            <a:r>
              <a:rPr lang="zh-CN" altLang="zh-CN" sz="1400" dirty="0"/>
              <a:t>开始的</a:t>
            </a:r>
            <a:r>
              <a:rPr lang="en-US" altLang="zh-CN" sz="1400" dirty="0"/>
              <a:t>)</a:t>
            </a:r>
            <a:endParaRPr lang="zh-CN" altLang="zh-CN" sz="1400" dirty="0"/>
          </a:p>
          <a:p>
            <a:pPr lvl="1" algn="just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C9D8AF-4EA4-4903-A6A7-CF217F636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117" y="844549"/>
            <a:ext cx="4473869" cy="387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58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19150"/>
            <a:ext cx="3122340" cy="3937000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/>
              <a:t>数据类型</a:t>
            </a:r>
            <a:endParaRPr lang="en-US" altLang="zh-CN" dirty="0"/>
          </a:p>
          <a:p>
            <a:pPr algn="just"/>
            <a:r>
              <a:rPr lang="zh-CN" altLang="zh-CN" sz="1600" b="1" dirty="0"/>
              <a:t>列表</a:t>
            </a:r>
            <a:r>
              <a:rPr lang="en-US" altLang="zh-CN" sz="1600" b="1" dirty="0"/>
              <a:t>list</a:t>
            </a:r>
            <a:endParaRPr lang="zh-CN" altLang="zh-CN" sz="1600" dirty="0"/>
          </a:p>
          <a:p>
            <a:pPr algn="just"/>
            <a:r>
              <a:rPr lang="zh-CN" altLang="zh-CN" sz="1600" dirty="0"/>
              <a:t>列表是包含多种不同类型的元素的、可以改变的有序序列，当然列表的元素也可以是同样类型的，比如整数列表、小数列表等。列表的表示方法是，用</a:t>
            </a:r>
            <a:r>
              <a:rPr lang="en-US" altLang="zh-CN" sz="1600" dirty="0"/>
              <a:t>[]</a:t>
            </a:r>
            <a:r>
              <a:rPr lang="zh-CN" altLang="zh-CN" sz="1600" dirty="0"/>
              <a:t>把元素包含起来，中间用逗号隔开。</a:t>
            </a:r>
            <a:endParaRPr lang="zh-CN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999508" y="3485858"/>
            <a:ext cx="2100531" cy="1072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Helvetica Neue" charset="0"/>
              </a:rPr>
              <a:t>请给出右侧题目的正确选项</a:t>
            </a:r>
            <a:endParaRPr lang="en-US" altLang="zh-CN" sz="2000" b="1" dirty="0">
              <a:solidFill>
                <a:srgbClr val="C00000"/>
              </a:solidFill>
              <a:latin typeface="Helvetica Neue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effectLst/>
                <a:latin typeface="Helvetica Neue" charset="0"/>
              </a:rPr>
              <a:t>  </a:t>
            </a:r>
            <a:endParaRPr lang="en-US" sz="2800" b="1" dirty="0">
              <a:solidFill>
                <a:srgbClr val="C00000"/>
              </a:solidFill>
              <a:effectLst/>
              <a:latin typeface="Helvetica Neue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2069" y="3485858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902" y="704850"/>
            <a:ext cx="5218771" cy="40600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49337" y="2910468"/>
            <a:ext cx="4449336" cy="356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charset="0"/>
                <a:ea typeface="Times New Roman" charset="0"/>
                <a:cs typeface="Times New Roman" charset="0"/>
              </a:rPr>
              <a:t>A.</a:t>
            </a:r>
            <a:r>
              <a:rPr lang="zh-CN" alt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zh-CN" dirty="0">
                <a:latin typeface="Times New Roman" charset="0"/>
                <a:ea typeface="Times New Roman" charset="0"/>
                <a:cs typeface="Times New Roman" charset="0"/>
              </a:rPr>
              <a:t>[789,</a:t>
            </a:r>
            <a:r>
              <a:rPr lang="zh-CN" alt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zh-CN" dirty="0">
                <a:latin typeface="Times New Roman" charset="0"/>
                <a:ea typeface="Times New Roman" charset="0"/>
                <a:cs typeface="Times New Roman" charset="0"/>
              </a:rPr>
              <a:t>2.23,</a:t>
            </a:r>
            <a:r>
              <a:rPr lang="zh-CN" alt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zh-CN" dirty="0">
                <a:latin typeface="Times New Roman" charset="0"/>
                <a:ea typeface="Times New Roman" charset="0"/>
                <a:cs typeface="Times New Roman" charset="0"/>
              </a:rPr>
              <a:t>’john’]</a:t>
            </a:r>
            <a:r>
              <a:rPr lang="zh-CN" altLang="en-US" dirty="0">
                <a:latin typeface="Times New Roman" charset="0"/>
                <a:ea typeface="Times New Roman" charset="0"/>
                <a:cs typeface="Times New Roman" charset="0"/>
              </a:rPr>
              <a:t>         </a:t>
            </a:r>
            <a:r>
              <a:rPr lang="en-US" altLang="zh-CN" dirty="0">
                <a:latin typeface="Times New Roman" charset="0"/>
                <a:ea typeface="Times New Roman" charset="0"/>
                <a:cs typeface="Times New Roman" charset="0"/>
              </a:rPr>
              <a:t>B.</a:t>
            </a:r>
            <a:r>
              <a:rPr lang="zh-CN" alt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zh-CN" dirty="0">
                <a:latin typeface="Times New Roman" charset="0"/>
                <a:ea typeface="Times New Roman" charset="0"/>
                <a:cs typeface="Times New Roman" charset="0"/>
              </a:rPr>
              <a:t>[789,</a:t>
            </a:r>
            <a:r>
              <a:rPr lang="zh-CN" alt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zh-CN" dirty="0">
                <a:latin typeface="Times New Roman" charset="0"/>
                <a:ea typeface="Times New Roman" charset="0"/>
                <a:cs typeface="Times New Roman" charset="0"/>
              </a:rPr>
              <a:t>2.23]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49337" y="4430822"/>
            <a:ext cx="4449336" cy="356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charset="0"/>
                <a:ea typeface="Times New Roman" charset="0"/>
                <a:cs typeface="Times New Roman" charset="0"/>
              </a:rPr>
              <a:t>A.</a:t>
            </a:r>
            <a:r>
              <a:rPr lang="zh-CN" alt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zh-CN" dirty="0">
                <a:latin typeface="Times New Roman" charset="0"/>
                <a:ea typeface="Times New Roman" charset="0"/>
                <a:cs typeface="Times New Roman" charset="0"/>
              </a:rPr>
              <a:t>[‘</a:t>
            </a:r>
            <a:r>
              <a:rPr lang="en-US" altLang="zh-CN" dirty="0" err="1">
                <a:latin typeface="Times New Roman" charset="0"/>
                <a:ea typeface="Times New Roman" charset="0"/>
                <a:cs typeface="Times New Roman" charset="0"/>
              </a:rPr>
              <a:t>abcd</a:t>
            </a:r>
            <a:r>
              <a:rPr lang="en-US" altLang="zh-CN" dirty="0">
                <a:latin typeface="Times New Roman" charset="0"/>
                <a:ea typeface="Times New Roman" charset="0"/>
                <a:cs typeface="Times New Roman" charset="0"/>
              </a:rPr>
              <a:t>’,</a:t>
            </a:r>
            <a:r>
              <a:rPr lang="zh-CN" alt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zh-CN" dirty="0">
                <a:latin typeface="Times New Roman" charset="0"/>
                <a:ea typeface="Times New Roman" charset="0"/>
                <a:cs typeface="Times New Roman" charset="0"/>
              </a:rPr>
              <a:t>789,</a:t>
            </a:r>
            <a:r>
              <a:rPr lang="zh-CN" alt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zh-CN" dirty="0">
                <a:latin typeface="Times New Roman" charset="0"/>
                <a:ea typeface="Times New Roman" charset="0"/>
                <a:cs typeface="Times New Roman" charset="0"/>
              </a:rPr>
              <a:t>2.23,</a:t>
            </a:r>
            <a:r>
              <a:rPr lang="zh-CN" alt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zh-CN" dirty="0">
                <a:latin typeface="Times New Roman" charset="0"/>
                <a:ea typeface="Times New Roman" charset="0"/>
                <a:cs typeface="Times New Roman" charset="0"/>
              </a:rPr>
              <a:t>’john’]</a:t>
            </a:r>
            <a:r>
              <a:rPr lang="zh-CN" altLang="en-US" dirty="0">
                <a:latin typeface="Times New Roman" charset="0"/>
                <a:ea typeface="Times New Roman" charset="0"/>
                <a:cs typeface="Times New Roman" charset="0"/>
              </a:rPr>
              <a:t>         </a:t>
            </a:r>
            <a:r>
              <a:rPr lang="en-US" altLang="zh-CN" dirty="0">
                <a:latin typeface="Times New Roman" charset="0"/>
                <a:ea typeface="Times New Roman" charset="0"/>
                <a:cs typeface="Times New Roman" charset="0"/>
              </a:rPr>
              <a:t>B.</a:t>
            </a:r>
            <a:r>
              <a:rPr lang="zh-CN" alt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zh-CN" dirty="0">
                <a:latin typeface="Times New Roman" charset="0"/>
                <a:ea typeface="Times New Roman" charset="0"/>
                <a:cs typeface="Times New Roman" charset="0"/>
              </a:rPr>
              <a:t>[70.2]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463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19150"/>
            <a:ext cx="3488266" cy="393700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dirty="0"/>
              <a:t>数据类型</a:t>
            </a:r>
            <a:endParaRPr lang="en-US" altLang="zh-CN" sz="2400" dirty="0"/>
          </a:p>
          <a:p>
            <a:pPr algn="just">
              <a:lnSpc>
                <a:spcPct val="120000"/>
              </a:lnSpc>
            </a:pPr>
            <a:r>
              <a:rPr lang="zh-CN" altLang="zh-CN" b="1" dirty="0"/>
              <a:t>元组</a:t>
            </a:r>
            <a:r>
              <a:rPr lang="en-US" altLang="zh-CN" b="1" dirty="0"/>
              <a:t>tuple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zh-CN" altLang="zh-CN" dirty="0"/>
              <a:t>元组也是一种有序序列，和列表非常相似。</a:t>
            </a:r>
            <a:endParaRPr lang="en-US" altLang="zh-CN" dirty="0"/>
          </a:p>
          <a:p>
            <a:pPr algn="just">
              <a:lnSpc>
                <a:spcPct val="120000"/>
              </a:lnSpc>
            </a:pPr>
            <a:r>
              <a:rPr lang="zh-CN" altLang="zh-CN" dirty="0"/>
              <a:t>元组和列表的</a:t>
            </a:r>
            <a:r>
              <a:rPr lang="zh-CN" altLang="en-US" dirty="0"/>
              <a:t>主要</a:t>
            </a:r>
            <a:r>
              <a:rPr lang="zh-CN" altLang="zh-CN" dirty="0"/>
              <a:t>区别</a:t>
            </a:r>
            <a:r>
              <a:rPr lang="zh-CN" altLang="en-US" dirty="0"/>
              <a:t>：</a:t>
            </a:r>
            <a:r>
              <a:rPr lang="zh-CN" altLang="zh-CN" dirty="0"/>
              <a:t>元组一旦初始化后，就不能修改了</a:t>
            </a:r>
            <a:endParaRPr lang="en-US" altLang="zh-CN" dirty="0"/>
          </a:p>
          <a:p>
            <a:pPr algn="just">
              <a:lnSpc>
                <a:spcPct val="120000"/>
              </a:lnSpc>
            </a:pPr>
            <a:r>
              <a:rPr lang="zh-CN" altLang="zh-CN" dirty="0"/>
              <a:t>它也没有</a:t>
            </a:r>
            <a:r>
              <a:rPr lang="en-US" altLang="zh-CN" dirty="0"/>
              <a:t>append()</a:t>
            </a:r>
            <a:r>
              <a:rPr lang="zh-CN" altLang="zh-CN" dirty="0"/>
              <a:t>、</a:t>
            </a:r>
            <a:r>
              <a:rPr lang="en-US" altLang="zh-CN" dirty="0"/>
              <a:t>insert()</a:t>
            </a:r>
            <a:r>
              <a:rPr lang="zh-CN" altLang="zh-CN" dirty="0"/>
              <a:t>这样的方法。元组可以被看作是只读的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b="1" dirty="0">
                <a:solidFill>
                  <a:srgbClr val="C00000"/>
                </a:solidFill>
              </a:rPr>
              <a:t>read-only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  <a:r>
              <a:rPr lang="zh-CN" altLang="zh-CN" dirty="0"/>
              <a:t>列表。</a:t>
            </a:r>
          </a:p>
          <a:p>
            <a:pPr algn="just">
              <a:lnSpc>
                <a:spcPct val="120000"/>
              </a:lnSpc>
            </a:pPr>
            <a:r>
              <a:rPr lang="zh-CN" altLang="zh-CN" dirty="0"/>
              <a:t>由于元组的元素是不可变得，所以用户编写的代码更加安全，不会由于不小心修改了某些元素，而导致程序执行错误</a:t>
            </a:r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200" y="1416824"/>
            <a:ext cx="4677220" cy="256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37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599" cy="1678723"/>
          </a:xfrm>
        </p:spPr>
        <p:txBody>
          <a:bodyPr>
            <a:normAutofit fontScale="92500"/>
          </a:bodyPr>
          <a:lstStyle/>
          <a:p>
            <a:pPr algn="just"/>
            <a:r>
              <a:rPr lang="zh-CN" altLang="en-US" sz="2200" dirty="0"/>
              <a:t>数据类型</a:t>
            </a:r>
            <a:endParaRPr lang="en-US" altLang="zh-CN" sz="2200" dirty="0"/>
          </a:p>
          <a:p>
            <a:r>
              <a:rPr lang="zh-CN" altLang="zh-CN" sz="1800" b="1" dirty="0"/>
              <a:t>字典</a:t>
            </a:r>
            <a:r>
              <a:rPr lang="en-US" altLang="zh-CN" sz="1800" b="1" dirty="0" err="1"/>
              <a:t>dict</a:t>
            </a:r>
            <a:endParaRPr lang="zh-CN" altLang="zh-CN" sz="1800" dirty="0"/>
          </a:p>
          <a:p>
            <a:pPr algn="just"/>
            <a:r>
              <a:rPr lang="en-US" altLang="zh-CN" sz="1800" dirty="0"/>
              <a:t>Python</a:t>
            </a:r>
            <a:r>
              <a:rPr lang="zh-CN" altLang="zh-CN" sz="1800" dirty="0"/>
              <a:t>的字典，实际上是一个哈希表</a:t>
            </a:r>
            <a:r>
              <a:rPr lang="en-US" altLang="zh-CN" sz="1800" dirty="0"/>
              <a:t>(Hash Table)</a:t>
            </a:r>
            <a:r>
              <a:rPr lang="zh-CN" altLang="zh-CN" sz="1800" dirty="0"/>
              <a:t>，这个表包含一系列的键值对</a:t>
            </a:r>
            <a:r>
              <a:rPr lang="en-US" altLang="zh-CN" sz="1800" dirty="0"/>
              <a:t>(Key Value Pairs)</a:t>
            </a:r>
            <a:r>
              <a:rPr lang="zh-CN" altLang="zh-CN" sz="1800" dirty="0"/>
              <a:t>，键值对的</a:t>
            </a:r>
            <a:r>
              <a:rPr lang="en-US" altLang="zh-CN" sz="1800" dirty="0"/>
              <a:t>key</a:t>
            </a:r>
            <a:r>
              <a:rPr lang="zh-CN" altLang="zh-CN" sz="1800" dirty="0"/>
              <a:t>和</a:t>
            </a:r>
            <a:r>
              <a:rPr lang="en-US" altLang="zh-CN" sz="1800" dirty="0"/>
              <a:t>value</a:t>
            </a:r>
            <a:r>
              <a:rPr lang="zh-CN" altLang="zh-CN" sz="1800" dirty="0"/>
              <a:t>可以是整数、小数、字符串、或者布尔值等数据类型。</a:t>
            </a:r>
            <a:r>
              <a:rPr lang="en-US" altLang="zh-CN" sz="1800" dirty="0" err="1"/>
              <a:t>Dict</a:t>
            </a:r>
            <a:r>
              <a:rPr lang="zh-CN" altLang="zh-CN" sz="1800" dirty="0"/>
              <a:t>具有极快的查找速度。寻访一个</a:t>
            </a:r>
            <a:r>
              <a:rPr lang="en-US" altLang="zh-CN" sz="1800" dirty="0" err="1"/>
              <a:t>dict</a:t>
            </a:r>
            <a:r>
              <a:rPr lang="zh-CN" altLang="zh-CN" sz="1800" dirty="0"/>
              <a:t>的某个</a:t>
            </a:r>
            <a:r>
              <a:rPr lang="en-US" altLang="zh-CN" sz="1800" dirty="0"/>
              <a:t>key</a:t>
            </a:r>
            <a:r>
              <a:rPr lang="zh-CN" altLang="zh-CN" sz="1800" dirty="0"/>
              <a:t>所对应的元素，</a:t>
            </a:r>
            <a:endParaRPr lang="zh-CN" alt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93" y="2351802"/>
            <a:ext cx="6802245" cy="235310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090621"/>
              </p:ext>
            </p:extLst>
          </p:nvPr>
        </p:nvGraphicFramePr>
        <p:xfrm>
          <a:off x="5700133" y="2497873"/>
          <a:ext cx="328961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286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794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6734</a:t>
                      </a:r>
                    </a:p>
                    <a:p>
                      <a:r>
                        <a:rPr lang="en-US" altLang="zh-CN" sz="1600" dirty="0"/>
                        <a:t>6734</a:t>
                      </a:r>
                    </a:p>
                    <a:p>
                      <a:r>
                        <a:rPr lang="en-US" altLang="zh-CN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aux</a:t>
                      </a:r>
                    </a:p>
                    <a:p>
                      <a:r>
                        <a:rPr lang="en-US" altLang="zh-CN" sz="1600" dirty="0"/>
                        <a:t>6734</a:t>
                      </a:r>
                    </a:p>
                    <a:p>
                      <a:r>
                        <a:rPr lang="en-US" altLang="zh-CN" sz="1600" dirty="0"/>
                        <a:t>True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35826" y="4073447"/>
            <a:ext cx="2509024" cy="501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21884" y="4089523"/>
            <a:ext cx="2361156" cy="970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请给出左侧题目后</a:t>
            </a:r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3</a:t>
            </a: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个操作的正确选项</a:t>
            </a:r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  <a:effectLst/>
                <a:latin typeface="Helvetica Neue" charset="0"/>
              </a:rPr>
              <a:t>  </a:t>
            </a:r>
            <a:endParaRPr lang="en-US" sz="2400" b="1" dirty="0">
              <a:solidFill>
                <a:srgbClr val="C00000"/>
              </a:solidFill>
              <a:effectLst/>
              <a:latin typeface="Helvetica Neue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34445" y="4143212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91039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19150"/>
            <a:ext cx="3769359" cy="3937000"/>
          </a:xfrm>
        </p:spPr>
        <p:txBody>
          <a:bodyPr>
            <a:normAutofit/>
          </a:bodyPr>
          <a:lstStyle/>
          <a:p>
            <a:pPr algn="just"/>
            <a:r>
              <a:rPr lang="zh-CN" altLang="zh-CN" dirty="0"/>
              <a:t>顺序、分支、循环</a:t>
            </a:r>
            <a:endParaRPr lang="en-US" altLang="zh-CN" dirty="0"/>
          </a:p>
          <a:p>
            <a:pPr lvl="1"/>
            <a:r>
              <a:rPr lang="zh-CN" altLang="zh-CN" sz="1600" b="1" dirty="0"/>
              <a:t>顺序程序结构</a:t>
            </a:r>
            <a:endParaRPr lang="zh-CN" altLang="zh-CN" sz="1600" dirty="0"/>
          </a:p>
          <a:p>
            <a:pPr lvl="1"/>
            <a:r>
              <a:rPr lang="zh-CN" altLang="zh-CN" sz="1600" dirty="0"/>
              <a:t>顺序结构是最简单的一种结构。解释程序执行顺序结构的</a:t>
            </a:r>
            <a:r>
              <a:rPr lang="en-US" altLang="zh-CN" sz="1600" dirty="0"/>
              <a:t>Python</a:t>
            </a:r>
            <a:r>
              <a:rPr lang="zh-CN" altLang="zh-CN" sz="1600" dirty="0"/>
              <a:t>程序时，它将顺序地解释执行各个语句，直到程序的末尾。</a:t>
            </a:r>
            <a:endParaRPr lang="en-US" altLang="zh-CN" sz="1600" dirty="0"/>
          </a:p>
          <a:p>
            <a:pPr lvl="1"/>
            <a:r>
              <a:rPr lang="zh-CN" altLang="zh-CN" sz="1600" dirty="0"/>
              <a:t>下面的程序，首先给两个变量赋值，然后交换两个变量，最后打印出两个变量的值。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0B1FEB-E4F4-4041-A0C0-E59191BD3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037" y="971973"/>
            <a:ext cx="3965656" cy="353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30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19150"/>
            <a:ext cx="3769359" cy="3937000"/>
          </a:xfrm>
        </p:spPr>
        <p:txBody>
          <a:bodyPr>
            <a:normAutofit fontScale="92500"/>
          </a:bodyPr>
          <a:lstStyle/>
          <a:p>
            <a:pPr algn="just"/>
            <a:r>
              <a:rPr lang="zh-CN" altLang="zh-CN" dirty="0"/>
              <a:t>顺序、分支、循环</a:t>
            </a:r>
            <a:endParaRPr lang="en-US" altLang="zh-CN" dirty="0"/>
          </a:p>
          <a:p>
            <a:pPr lvl="1"/>
            <a:r>
              <a:rPr lang="zh-CN" altLang="zh-CN" b="1" dirty="0"/>
              <a:t>分支程序结构</a:t>
            </a:r>
            <a:endParaRPr lang="zh-CN" altLang="zh-CN" dirty="0"/>
          </a:p>
          <a:p>
            <a:pPr lvl="1" algn="just"/>
            <a:r>
              <a:rPr lang="zh-CN" altLang="zh-CN" dirty="0"/>
              <a:t>分支程序结构用于根据一定的条件进行判断</a:t>
            </a:r>
            <a:r>
              <a:rPr lang="en-US" altLang="zh-CN" dirty="0"/>
              <a:t>(</a:t>
            </a:r>
            <a:r>
              <a:rPr lang="zh-CN" altLang="zh-CN" dirty="0"/>
              <a:t>关系表达式、逻辑表达式</a:t>
            </a:r>
            <a:r>
              <a:rPr lang="en-US" altLang="zh-CN" dirty="0"/>
              <a:t>)</a:t>
            </a:r>
            <a:r>
              <a:rPr lang="zh-CN" altLang="zh-CN" dirty="0"/>
              <a:t>，然后决定程序的走向。它由</a:t>
            </a:r>
            <a:r>
              <a:rPr lang="en-US" altLang="zh-CN" dirty="0"/>
              <a:t>if</a:t>
            </a:r>
            <a:r>
              <a:rPr lang="zh-CN" altLang="zh-CN" dirty="0"/>
              <a:t>语句、</a:t>
            </a:r>
            <a:r>
              <a:rPr lang="en-US" altLang="zh-CN" dirty="0"/>
              <a:t>else</a:t>
            </a:r>
            <a:r>
              <a:rPr lang="zh-CN" altLang="zh-CN" dirty="0"/>
              <a:t>语句、</a:t>
            </a:r>
            <a:r>
              <a:rPr lang="en-US" altLang="zh-CN" dirty="0" err="1"/>
              <a:t>elif</a:t>
            </a:r>
            <a:r>
              <a:rPr lang="zh-CN" altLang="zh-CN" dirty="0"/>
              <a:t>语句来构造，分支程序可以嵌套。我们通过实例来了解</a:t>
            </a:r>
            <a:r>
              <a:rPr lang="en-US" altLang="zh-CN" dirty="0"/>
              <a:t>if</a:t>
            </a:r>
            <a:r>
              <a:rPr lang="zh-CN" altLang="zh-CN" dirty="0"/>
              <a:t>语句的语法结构和功能。</a:t>
            </a:r>
          </a:p>
          <a:p>
            <a:pPr lvl="1"/>
            <a:r>
              <a:rPr lang="zh-CN" altLang="zh-CN" dirty="0"/>
              <a:t>分支程序结构的第一个实例如下，当</a:t>
            </a:r>
            <a:r>
              <a:rPr lang="en-US" altLang="zh-CN" dirty="0"/>
              <a:t>a</a:t>
            </a:r>
            <a:r>
              <a:rPr lang="zh-CN" altLang="zh-CN" dirty="0"/>
              <a:t>的值大于</a:t>
            </a:r>
            <a:r>
              <a:rPr lang="en-US" altLang="zh-CN" dirty="0"/>
              <a:t>b</a:t>
            </a:r>
            <a:r>
              <a:rPr lang="zh-CN" altLang="zh-CN" dirty="0"/>
              <a:t>的时候，对其值进行交换，最后先输出</a:t>
            </a:r>
            <a:r>
              <a:rPr lang="en-US" altLang="zh-CN" dirty="0"/>
              <a:t>a</a:t>
            </a:r>
            <a:r>
              <a:rPr lang="zh-CN" altLang="zh-CN" dirty="0"/>
              <a:t>，再输出</a:t>
            </a:r>
            <a:r>
              <a:rPr lang="en-US" altLang="zh-CN" dirty="0"/>
              <a:t>b</a:t>
            </a:r>
            <a:r>
              <a:rPr lang="zh-CN" altLang="zh-CN" dirty="0"/>
              <a:t>，也就是按照从小到大的顺序输出</a:t>
            </a:r>
            <a:r>
              <a:rPr lang="en-US" altLang="zh-CN" dirty="0"/>
              <a:t>b</a:t>
            </a:r>
            <a:r>
              <a:rPr lang="zh-CN" altLang="zh-CN" dirty="0"/>
              <a:t>。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AA736C9-7A0C-4DA5-A4E0-B6B39169D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868" y="1356056"/>
            <a:ext cx="4704080" cy="316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12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19150"/>
            <a:ext cx="3769359" cy="3937000"/>
          </a:xfrm>
        </p:spPr>
        <p:txBody>
          <a:bodyPr>
            <a:normAutofit/>
          </a:bodyPr>
          <a:lstStyle/>
          <a:p>
            <a:pPr algn="just"/>
            <a:r>
              <a:rPr lang="zh-CN" altLang="zh-CN" dirty="0"/>
              <a:t>顺序、分支、循环</a:t>
            </a:r>
            <a:endParaRPr lang="en-US" altLang="zh-CN" dirty="0"/>
          </a:p>
          <a:p>
            <a:pPr lvl="1"/>
            <a:r>
              <a:rPr lang="zh-CN" altLang="zh-CN" b="1" dirty="0"/>
              <a:t>分支程序结构</a:t>
            </a:r>
            <a:endParaRPr lang="zh-CN" altLang="zh-CN" dirty="0"/>
          </a:p>
          <a:p>
            <a:pPr lvl="1" algn="just"/>
            <a:r>
              <a:rPr lang="zh-CN" altLang="zh-CN" dirty="0"/>
              <a:t>分支程序结构的第二个实例如下，当</a:t>
            </a:r>
            <a:r>
              <a:rPr lang="fr-FR" altLang="zh-CN" dirty="0"/>
              <a:t>a</a:t>
            </a:r>
            <a:r>
              <a:rPr lang="zh-CN" altLang="zh-CN" dirty="0"/>
              <a:t>的值大于</a:t>
            </a:r>
            <a:r>
              <a:rPr lang="fr-FR" altLang="zh-CN" dirty="0"/>
              <a:t>b</a:t>
            </a:r>
            <a:r>
              <a:rPr lang="zh-CN" altLang="zh-CN" dirty="0"/>
              <a:t>，则打印</a:t>
            </a:r>
            <a:r>
              <a:rPr lang="fr-FR" altLang="zh-CN" dirty="0"/>
              <a:t>a greater than b</a:t>
            </a:r>
            <a:r>
              <a:rPr lang="zh-CN" altLang="zh-CN" dirty="0"/>
              <a:t>，否则打印</a:t>
            </a:r>
            <a:r>
              <a:rPr lang="fr-FR" altLang="zh-CN" dirty="0"/>
              <a:t>a less than or equal to b</a:t>
            </a:r>
            <a:r>
              <a:rPr lang="zh-CN" altLang="zh-CN" dirty="0"/>
              <a:t>。在这个实例里面，条件为真的时候，我们要进行某种处理，条件为假的时候，要进行另外一种情况的处理。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9CBBB9-AB94-4678-B2D7-2ACF4A873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560" y="1514648"/>
            <a:ext cx="4636347" cy="2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55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19150"/>
            <a:ext cx="3769359" cy="3937000"/>
          </a:xfrm>
        </p:spPr>
        <p:txBody>
          <a:bodyPr>
            <a:normAutofit/>
          </a:bodyPr>
          <a:lstStyle/>
          <a:p>
            <a:pPr algn="just"/>
            <a:r>
              <a:rPr lang="zh-CN" altLang="zh-CN" dirty="0"/>
              <a:t>顺序、分支、循环</a:t>
            </a:r>
            <a:endParaRPr lang="en-US" altLang="zh-CN" dirty="0"/>
          </a:p>
          <a:p>
            <a:pPr lvl="1"/>
            <a:r>
              <a:rPr lang="zh-CN" altLang="zh-CN" b="1" dirty="0"/>
              <a:t>分支程序结构</a:t>
            </a:r>
            <a:endParaRPr lang="zh-CN" altLang="zh-CN" dirty="0"/>
          </a:p>
          <a:p>
            <a:pPr lvl="1" algn="just"/>
            <a:r>
              <a:rPr lang="zh-CN" altLang="zh-CN" dirty="0"/>
              <a:t>分支程序结构的第三个实例如下，这个实例对不同区段的成绩，进行</a:t>
            </a:r>
            <a:r>
              <a:rPr lang="en-US" altLang="zh-CN" dirty="0"/>
              <a:t>A</a:t>
            </a:r>
            <a:r>
              <a:rPr lang="zh-CN" altLang="zh-CN" dirty="0"/>
              <a:t>、</a:t>
            </a:r>
            <a:r>
              <a:rPr lang="en-US" altLang="zh-CN" dirty="0"/>
              <a:t>B</a:t>
            </a:r>
            <a:r>
              <a:rPr lang="zh-CN" altLang="zh-CN" dirty="0"/>
              <a:t>、</a:t>
            </a:r>
            <a:r>
              <a:rPr lang="en-US" altLang="zh-CN" dirty="0"/>
              <a:t>C</a:t>
            </a:r>
            <a:r>
              <a:rPr lang="zh-CN" altLang="zh-CN" dirty="0"/>
              <a:t>、</a:t>
            </a:r>
            <a:r>
              <a:rPr lang="en-US" altLang="zh-CN" dirty="0"/>
              <a:t>D</a:t>
            </a:r>
            <a:r>
              <a:rPr lang="zh-CN" altLang="zh-CN" dirty="0"/>
              <a:t>、</a:t>
            </a:r>
            <a:r>
              <a:rPr lang="en-US" altLang="zh-CN" dirty="0"/>
              <a:t>E</a:t>
            </a:r>
            <a:r>
              <a:rPr lang="zh-CN" altLang="zh-CN" dirty="0"/>
              <a:t>级别的分档，需要使用</a:t>
            </a:r>
            <a:r>
              <a:rPr lang="en-US" altLang="zh-CN" dirty="0"/>
              <a:t>if…</a:t>
            </a:r>
            <a:r>
              <a:rPr lang="en-US" altLang="zh-CN" dirty="0" err="1"/>
              <a:t>elif</a:t>
            </a:r>
            <a:r>
              <a:rPr lang="en-US" altLang="zh-CN" dirty="0"/>
              <a:t>…else</a:t>
            </a:r>
            <a:r>
              <a:rPr lang="zh-CN" altLang="zh-CN" dirty="0"/>
              <a:t>分支程序结构。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5AF38A-A8DC-4FDE-8BCB-9DBC2DC87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037" y="1156970"/>
            <a:ext cx="4428377" cy="326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82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19150"/>
            <a:ext cx="3769359" cy="3937000"/>
          </a:xfrm>
        </p:spPr>
        <p:txBody>
          <a:bodyPr>
            <a:normAutofit/>
          </a:bodyPr>
          <a:lstStyle/>
          <a:p>
            <a:pPr algn="just"/>
            <a:r>
              <a:rPr lang="zh-CN" altLang="zh-CN" dirty="0"/>
              <a:t>顺序、分支、循环</a:t>
            </a:r>
            <a:endParaRPr lang="en-US" altLang="zh-CN" dirty="0"/>
          </a:p>
          <a:p>
            <a:pPr lvl="1" algn="just"/>
            <a:r>
              <a:rPr lang="zh-CN" altLang="zh-CN" b="1" dirty="0"/>
              <a:t>循环程序结构</a:t>
            </a:r>
            <a:endParaRPr lang="zh-CN" altLang="zh-CN" dirty="0"/>
          </a:p>
          <a:p>
            <a:pPr lvl="1" algn="just"/>
            <a:r>
              <a:rPr lang="en-US" altLang="zh-CN" dirty="0"/>
              <a:t>	</a:t>
            </a:r>
            <a:r>
              <a:rPr lang="zh-CN" altLang="zh-CN" dirty="0"/>
              <a:t>我们可以用两个关键字</a:t>
            </a:r>
            <a:r>
              <a:rPr lang="en-US" altLang="zh-CN" dirty="0"/>
              <a:t>while</a:t>
            </a:r>
            <a:r>
              <a:rPr lang="zh-CN" altLang="zh-CN" dirty="0"/>
              <a:t>和</a:t>
            </a:r>
            <a:r>
              <a:rPr lang="en-US" altLang="zh-CN" dirty="0"/>
              <a:t>for</a:t>
            </a:r>
            <a:r>
              <a:rPr lang="zh-CN" altLang="zh-CN" dirty="0"/>
              <a:t>来构造循环程序结构。循环程序结构的第一个例子是一个</a:t>
            </a:r>
            <a:r>
              <a:rPr lang="en-US" altLang="zh-CN" dirty="0"/>
              <a:t>while</a:t>
            </a:r>
            <a:r>
              <a:rPr lang="zh-CN" altLang="zh-CN" dirty="0"/>
              <a:t>循环，首先给变量</a:t>
            </a:r>
            <a:r>
              <a:rPr lang="en-US" altLang="zh-CN" dirty="0" err="1"/>
              <a:t>i</a:t>
            </a:r>
            <a:r>
              <a:rPr lang="zh-CN" altLang="zh-CN" dirty="0"/>
              <a:t>赋予初值</a:t>
            </a:r>
            <a:r>
              <a:rPr lang="en-US" altLang="zh-CN" dirty="0"/>
              <a:t>1</a:t>
            </a:r>
            <a:r>
              <a:rPr lang="zh-CN" altLang="zh-CN" dirty="0"/>
              <a:t>，然后通过</a:t>
            </a:r>
            <a:r>
              <a:rPr lang="en-US" altLang="zh-CN" dirty="0"/>
              <a:t>while</a:t>
            </a:r>
            <a:r>
              <a:rPr lang="zh-CN" altLang="zh-CN" dirty="0"/>
              <a:t>循环判断它是否还在</a:t>
            </a:r>
            <a:r>
              <a:rPr lang="en-US" altLang="zh-CN" dirty="0"/>
              <a:t>1</a:t>
            </a:r>
            <a:r>
              <a:rPr lang="zh-CN" altLang="zh-CN" dirty="0"/>
              <a:t>到</a:t>
            </a:r>
            <a:r>
              <a:rPr lang="en-US" altLang="zh-CN" dirty="0"/>
              <a:t>5</a:t>
            </a:r>
            <a:r>
              <a:rPr lang="zh-CN" altLang="zh-CN" dirty="0"/>
              <a:t>之间，然后把</a:t>
            </a:r>
            <a:r>
              <a:rPr lang="en-US" altLang="zh-CN" dirty="0" err="1"/>
              <a:t>i</a:t>
            </a:r>
            <a:r>
              <a:rPr lang="zh-CN" altLang="zh-CN" dirty="0"/>
              <a:t>累加到变量</a:t>
            </a:r>
            <a:r>
              <a:rPr lang="en-US" altLang="zh-CN" dirty="0"/>
              <a:t>sum</a:t>
            </a:r>
            <a:r>
              <a:rPr lang="zh-CN" altLang="zh-CN" dirty="0"/>
              <a:t>中，最后求出</a:t>
            </a:r>
            <a:r>
              <a:rPr lang="en-US" altLang="zh-CN" dirty="0"/>
              <a:t>1+2+3+4+5</a:t>
            </a:r>
            <a:r>
              <a:rPr lang="zh-CN" altLang="zh-CN" dirty="0"/>
              <a:t>的值。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3DD951-D5BA-4BA9-925B-27523B175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107" y="1316143"/>
            <a:ext cx="4341206" cy="294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11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19150"/>
            <a:ext cx="3769359" cy="3937000"/>
          </a:xfrm>
        </p:spPr>
        <p:txBody>
          <a:bodyPr>
            <a:normAutofit/>
          </a:bodyPr>
          <a:lstStyle/>
          <a:p>
            <a:pPr algn="just"/>
            <a:r>
              <a:rPr lang="zh-CN" altLang="zh-CN" dirty="0"/>
              <a:t>顺序、分支、循环</a:t>
            </a:r>
            <a:endParaRPr lang="en-US" altLang="zh-CN" dirty="0"/>
          </a:p>
          <a:p>
            <a:pPr lvl="1" algn="just"/>
            <a:r>
              <a:rPr lang="zh-CN" altLang="zh-CN" b="1" dirty="0"/>
              <a:t>循环程序结构</a:t>
            </a:r>
            <a:endParaRPr lang="zh-CN" altLang="zh-CN" dirty="0"/>
          </a:p>
          <a:p>
            <a:pPr lvl="1" algn="just"/>
            <a:r>
              <a:rPr lang="zh-CN" altLang="zh-CN" dirty="0"/>
              <a:t>循环程序结构的第二个实例是一个</a:t>
            </a:r>
            <a:r>
              <a:rPr lang="en-US" altLang="zh-CN" dirty="0"/>
              <a:t>for</a:t>
            </a:r>
            <a:r>
              <a:rPr lang="zh-CN" altLang="zh-CN" dirty="0"/>
              <a:t>循环，首先创建一个列表，然后对于列表长度</a:t>
            </a:r>
            <a:r>
              <a:rPr lang="en-US" altLang="zh-CN" dirty="0"/>
              <a:t>(</a:t>
            </a:r>
            <a:r>
              <a:rPr lang="zh-CN" altLang="zh-CN" dirty="0"/>
              <a:t>为</a:t>
            </a:r>
            <a:r>
              <a:rPr lang="en-US" altLang="zh-CN" dirty="0"/>
              <a:t>3)</a:t>
            </a:r>
            <a:r>
              <a:rPr lang="zh-CN" altLang="zh-CN" dirty="0"/>
              <a:t>之上创建的一个有效下标范围</a:t>
            </a:r>
            <a:r>
              <a:rPr lang="en-US" altLang="zh-CN" dirty="0"/>
              <a:t>(0</a:t>
            </a:r>
            <a:r>
              <a:rPr lang="zh-CN" altLang="zh-CN" dirty="0"/>
              <a:t>、</a:t>
            </a:r>
            <a:r>
              <a:rPr lang="en-US" altLang="zh-CN" dirty="0"/>
              <a:t>1</a:t>
            </a:r>
            <a:r>
              <a:rPr lang="zh-CN" altLang="zh-CN" dirty="0"/>
              <a:t>、</a:t>
            </a:r>
            <a:r>
              <a:rPr lang="en-US" altLang="zh-CN" dirty="0"/>
              <a:t>2)</a:t>
            </a:r>
            <a:r>
              <a:rPr lang="zh-CN" altLang="zh-CN" dirty="0"/>
              <a:t>的每个下标，顺序访问列表的每个元素。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93E191-AA4A-4C31-83E4-FFA35C563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80" y="1425786"/>
            <a:ext cx="4236719" cy="272372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C2513C0-D314-4560-B9C3-FF3FF95ADEB4}"/>
              </a:ext>
            </a:extLst>
          </p:cNvPr>
          <p:cNvSpPr/>
          <p:nvPr/>
        </p:nvSpPr>
        <p:spPr>
          <a:xfrm>
            <a:off x="983549" y="3484364"/>
            <a:ext cx="307007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</a:rPr>
              <a:t>len</a:t>
            </a:r>
            <a:r>
              <a:rPr lang="en-US" altLang="zh-CN" dirty="0">
                <a:latin typeface="Times New Roman" panose="02020603050405020304" pitchFamily="18" charset="0"/>
              </a:rPr>
              <a:t>(fruits)</a:t>
            </a:r>
            <a:r>
              <a:rPr lang="zh-CN" altLang="en-US" dirty="0">
                <a:latin typeface="Times New Roman" panose="02020603050405020304" pitchFamily="18" charset="0"/>
              </a:rPr>
              <a:t>返回列表长度，即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Range(3)</a:t>
            </a:r>
            <a:r>
              <a:rPr lang="zh-CN" altLang="en-US" dirty="0">
                <a:latin typeface="Times New Roman" panose="02020603050405020304" pitchFamily="18" charset="0"/>
              </a:rPr>
              <a:t>返回</a:t>
            </a:r>
            <a:r>
              <a:rPr lang="en-US" altLang="zh-CN" dirty="0">
                <a:latin typeface="Times New Roman" panose="02020603050405020304" pitchFamily="18" charset="0"/>
              </a:rPr>
              <a:t>[0,1,2]</a:t>
            </a:r>
            <a:r>
              <a:rPr lang="zh-CN" altLang="en-US" dirty="0">
                <a:latin typeface="Times New Roman" panose="02020603050405020304" pitchFamily="18" charset="0"/>
              </a:rPr>
              <a:t>列表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4701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4170556" cy="498872"/>
          </a:xfrm>
        </p:spPr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3373120" cy="4022878"/>
          </a:xfrm>
        </p:spPr>
        <p:txBody>
          <a:bodyPr>
            <a:noAutofit/>
          </a:bodyPr>
          <a:lstStyle/>
          <a:p>
            <a:pPr algn="just"/>
            <a:r>
              <a:rPr lang="zh-CN" altLang="zh-CN" dirty="0"/>
              <a:t>函数</a:t>
            </a:r>
            <a:endParaRPr lang="en-US" altLang="zh-CN" dirty="0"/>
          </a:p>
          <a:p>
            <a:pPr lvl="1" algn="just"/>
            <a:r>
              <a:rPr lang="zh-CN" altLang="zh-CN" sz="1600" dirty="0"/>
              <a:t>下面的代码，展示了二分查找函数的定义，以及对它的两次调用。</a:t>
            </a:r>
            <a:endParaRPr lang="en-US" altLang="zh-CN" sz="1600" dirty="0"/>
          </a:p>
          <a:p>
            <a:pPr lvl="1" algn="just"/>
            <a:r>
              <a:rPr lang="zh-CN" altLang="zh-CN" sz="1600" dirty="0"/>
              <a:t>从这个实例可以看出，通过把一些公用的功能实现为一个函数，我们可以多次调用实现更加复杂的功能，代码则变得简洁多了。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80D642-91ED-4CE3-A117-CC27EB3DB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756" y="0"/>
            <a:ext cx="4282069" cy="498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6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3430694" cy="4022878"/>
          </a:xfrm>
        </p:spPr>
        <p:txBody>
          <a:bodyPr>
            <a:noAutofit/>
          </a:bodyPr>
          <a:lstStyle/>
          <a:p>
            <a:pPr algn="just"/>
            <a:r>
              <a:rPr lang="zh-CN" altLang="zh-CN" sz="1800" dirty="0"/>
              <a:t>类和对象</a:t>
            </a:r>
            <a:endParaRPr lang="en-US" altLang="zh-CN" sz="1800" dirty="0"/>
          </a:p>
          <a:p>
            <a:pPr lvl="1" algn="just"/>
            <a:r>
              <a:rPr lang="en-US" altLang="zh-CN" sz="1400" dirty="0"/>
              <a:t>Python</a:t>
            </a:r>
            <a:r>
              <a:rPr lang="zh-CN" altLang="zh-CN" sz="1400" dirty="0"/>
              <a:t>是一种面向对象的编程语言，它通过封装机制，把数据和对数据的操作，封装成类，而类的实例化则是一个个的对象。</a:t>
            </a:r>
            <a:endParaRPr lang="en-US" altLang="zh-CN" sz="1400" dirty="0"/>
          </a:p>
          <a:p>
            <a:pPr lvl="1" algn="just"/>
            <a:r>
              <a:rPr lang="zh-CN" altLang="zh-CN" sz="1400" dirty="0"/>
              <a:t>比如，我们要对职员进行管理，需要登记他们的姓名、性别、年龄、薪水等信息，针对某个职员，可以显示他的这些信息。我们通过设计职员类，把上述属性管理起来，并且提供显示职员信息的操作函数。职员类建立以后，我们可以生成职员类的实例，分别对应</a:t>
            </a:r>
            <a:r>
              <a:rPr lang="en-US" altLang="zh-CN" sz="1400" dirty="0"/>
              <a:t>John</a:t>
            </a:r>
            <a:r>
              <a:rPr lang="zh-CN" altLang="zh-CN" sz="1400" dirty="0"/>
              <a:t>、</a:t>
            </a:r>
            <a:r>
              <a:rPr lang="en-US" altLang="zh-CN" sz="1400" dirty="0"/>
              <a:t>Mary</a:t>
            </a:r>
            <a:r>
              <a:rPr lang="zh-CN" altLang="zh-CN" sz="1400" dirty="0"/>
              <a:t>等职员。</a:t>
            </a:r>
            <a:endParaRPr lang="en-US" altLang="zh-CN" sz="1400" dirty="0"/>
          </a:p>
          <a:p>
            <a:pPr algn="just"/>
            <a:endParaRPr lang="zh-CN" altLang="zh-CN" sz="1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4CBA705-559E-4000-9520-A9BC2396F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608" y="774988"/>
            <a:ext cx="5179403" cy="393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88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229599" cy="4022878"/>
          </a:xfrm>
        </p:spPr>
        <p:txBody>
          <a:bodyPr>
            <a:noAutofit/>
          </a:bodyPr>
          <a:lstStyle/>
          <a:p>
            <a:pPr algn="just"/>
            <a:r>
              <a:rPr lang="zh-CN" altLang="zh-CN" sz="1600" dirty="0"/>
              <a:t>类和对象</a:t>
            </a:r>
            <a:endParaRPr lang="en-US" altLang="zh-CN" sz="1600" dirty="0"/>
          </a:p>
          <a:p>
            <a:r>
              <a:rPr lang="zh-CN" altLang="zh-CN" sz="1600" b="1" dirty="0"/>
              <a:t>构造函数</a:t>
            </a:r>
            <a:endParaRPr lang="zh-CN" altLang="zh-CN" sz="1600" dirty="0"/>
          </a:p>
          <a:p>
            <a:r>
              <a:rPr lang="zh-CN" altLang="zh-CN" sz="1600" dirty="0"/>
              <a:t>一个类的构造函数负责对象的构造，构造函数的名称为</a:t>
            </a:r>
            <a:r>
              <a:rPr lang="en-US" altLang="zh-CN" sz="1600" dirty="0"/>
              <a:t>__</a:t>
            </a:r>
            <a:r>
              <a:rPr lang="en-US" altLang="zh-CN" sz="1600" dirty="0" err="1"/>
              <a:t>init</a:t>
            </a:r>
            <a:r>
              <a:rPr lang="en-US" altLang="zh-CN" sz="1600" dirty="0"/>
              <a:t>__ </a:t>
            </a:r>
            <a:r>
              <a:rPr lang="zh-CN" altLang="zh-CN" sz="1600" dirty="0"/>
              <a:t>，它带一个</a:t>
            </a:r>
            <a:r>
              <a:rPr lang="en-US" altLang="zh-CN" sz="1600" dirty="0"/>
              <a:t>self</a:t>
            </a:r>
            <a:r>
              <a:rPr lang="zh-CN" altLang="zh-CN" sz="1600" dirty="0"/>
              <a:t>参数以及其它参数，其中</a:t>
            </a:r>
            <a:r>
              <a:rPr lang="en-US" altLang="zh-CN" sz="1600" dirty="0"/>
              <a:t>self</a:t>
            </a:r>
            <a:r>
              <a:rPr lang="zh-CN" altLang="zh-CN" sz="1600" dirty="0"/>
              <a:t>参数指向将要构造的对象，也就是</a:t>
            </a:r>
            <a:r>
              <a:rPr lang="en-US" altLang="zh-CN" sz="1600" dirty="0"/>
              <a:t>self</a:t>
            </a:r>
            <a:r>
              <a:rPr lang="zh-CN" altLang="zh-CN" sz="1600" dirty="0"/>
              <a:t>是对象的引用。构造函数的作用是对对象进行初始化。比如，上述代码中，</a:t>
            </a:r>
            <a:r>
              <a:rPr lang="en-US" altLang="zh-CN" sz="1600" dirty="0"/>
              <a:t>Employee</a:t>
            </a:r>
            <a:r>
              <a:rPr lang="zh-CN" altLang="zh-CN" sz="1600" dirty="0"/>
              <a:t>类的构造函数</a:t>
            </a:r>
            <a:r>
              <a:rPr lang="en-US" altLang="zh-CN" sz="1600" dirty="0"/>
              <a:t>__</a:t>
            </a:r>
            <a:r>
              <a:rPr lang="en-US" altLang="zh-CN" sz="1600" dirty="0" err="1"/>
              <a:t>init</a:t>
            </a:r>
            <a:r>
              <a:rPr lang="en-US" altLang="zh-CN" sz="1600" dirty="0"/>
              <a:t>__</a:t>
            </a:r>
            <a:r>
              <a:rPr lang="zh-CN" altLang="zh-CN" sz="1600" dirty="0"/>
              <a:t>，通过</a:t>
            </a:r>
            <a:r>
              <a:rPr lang="en-US" altLang="zh-CN" sz="1600" dirty="0"/>
              <a:t>_name</a:t>
            </a:r>
            <a:r>
              <a:rPr lang="zh-CN" altLang="zh-CN" sz="1600" dirty="0"/>
              <a:t>参数，给对象的</a:t>
            </a:r>
            <a:r>
              <a:rPr lang="en-US" altLang="zh-CN" sz="1600" dirty="0"/>
              <a:t>name</a:t>
            </a:r>
            <a:r>
              <a:rPr lang="zh-CN" altLang="zh-CN" sz="1600" dirty="0"/>
              <a:t>属性进行了赋值。而对</a:t>
            </a:r>
            <a:r>
              <a:rPr lang="en-US" altLang="zh-CN" sz="1600" dirty="0"/>
              <a:t>__</a:t>
            </a:r>
            <a:r>
              <a:rPr lang="en-US" altLang="zh-CN" sz="1600" dirty="0" err="1"/>
              <a:t>init</a:t>
            </a:r>
            <a:r>
              <a:rPr lang="en-US" altLang="zh-CN" sz="1600" dirty="0"/>
              <a:t>__</a:t>
            </a:r>
            <a:r>
              <a:rPr lang="zh-CN" altLang="zh-CN" sz="1600" dirty="0"/>
              <a:t>函数的调用隐含在</a:t>
            </a:r>
            <a:r>
              <a:rPr lang="en-US" altLang="zh-CN" sz="1600" dirty="0"/>
              <a:t>emp1 = Employee('John')</a:t>
            </a:r>
            <a:r>
              <a:rPr lang="zh-CN" altLang="zh-CN" sz="1600" dirty="0"/>
              <a:t>、和</a:t>
            </a:r>
            <a:r>
              <a:rPr lang="en-US" altLang="zh-CN" sz="1600" dirty="0"/>
              <a:t>emp2 = Employee('Mary')</a:t>
            </a:r>
            <a:r>
              <a:rPr lang="zh-CN" altLang="zh-CN" sz="1600" dirty="0"/>
              <a:t>语句的调用过程中，这两个语句分别创建了</a:t>
            </a:r>
            <a:r>
              <a:rPr lang="en-US" altLang="zh-CN" sz="1600" dirty="0"/>
              <a:t>emp1</a:t>
            </a:r>
            <a:r>
              <a:rPr lang="zh-CN" altLang="zh-CN" sz="1600" dirty="0"/>
              <a:t>对象和</a:t>
            </a:r>
            <a:r>
              <a:rPr lang="en-US" altLang="zh-CN" sz="1600" dirty="0"/>
              <a:t>emp2</a:t>
            </a:r>
            <a:r>
              <a:rPr lang="zh-CN" altLang="zh-CN" sz="1600" dirty="0"/>
              <a:t>对象，</a:t>
            </a:r>
            <a:r>
              <a:rPr lang="zh-CN" altLang="zh-CN" sz="1600" dirty="0">
                <a:solidFill>
                  <a:srgbClr val="C00000"/>
                </a:solidFill>
              </a:rPr>
              <a:t>它们的</a:t>
            </a:r>
            <a:r>
              <a:rPr lang="en-US" altLang="zh-CN" sz="1600" dirty="0">
                <a:solidFill>
                  <a:srgbClr val="C00000"/>
                </a:solidFill>
              </a:rPr>
              <a:t>name</a:t>
            </a:r>
            <a:r>
              <a:rPr lang="zh-CN" altLang="zh-CN" sz="1600" dirty="0">
                <a:solidFill>
                  <a:srgbClr val="C00000"/>
                </a:solidFill>
              </a:rPr>
              <a:t>属性分别为</a:t>
            </a:r>
            <a:r>
              <a:rPr lang="en-US" altLang="zh-CN" sz="1600" dirty="0">
                <a:solidFill>
                  <a:srgbClr val="C00000"/>
                </a:solidFill>
              </a:rPr>
              <a:t>'John'</a:t>
            </a:r>
            <a:r>
              <a:rPr lang="zh-CN" altLang="zh-CN" sz="1600" dirty="0">
                <a:solidFill>
                  <a:srgbClr val="C00000"/>
                </a:solidFill>
              </a:rPr>
              <a:t>和</a:t>
            </a:r>
            <a:r>
              <a:rPr lang="en-US" altLang="zh-CN" sz="1600" dirty="0">
                <a:solidFill>
                  <a:srgbClr val="C00000"/>
                </a:solidFill>
              </a:rPr>
              <a:t>'Mary</a:t>
            </a:r>
            <a:r>
              <a:rPr lang="en-US" altLang="zh-CN" sz="1600" dirty="0"/>
              <a:t>'</a:t>
            </a:r>
            <a:r>
              <a:rPr lang="zh-CN" altLang="zh-CN" sz="1600" dirty="0"/>
              <a:t>。</a:t>
            </a:r>
          </a:p>
          <a:p>
            <a:r>
              <a:rPr lang="zh-CN" altLang="zh-CN" sz="1600" b="1" dirty="0"/>
              <a:t>对象的摧毁和垃圾回收</a:t>
            </a:r>
            <a:endParaRPr lang="zh-CN" altLang="zh-CN" sz="1600" dirty="0"/>
          </a:p>
          <a:p>
            <a:r>
              <a:rPr lang="zh-CN" altLang="zh-CN" sz="1600" dirty="0"/>
              <a:t>对于程序不再使用的对象，</a:t>
            </a:r>
            <a:r>
              <a:rPr lang="en-US" altLang="zh-CN" sz="1600" dirty="0"/>
              <a:t>Python</a:t>
            </a:r>
            <a:r>
              <a:rPr lang="zh-CN" altLang="zh-CN" sz="1600" dirty="0"/>
              <a:t>周期性执行</a:t>
            </a:r>
            <a:r>
              <a:rPr lang="zh-CN" altLang="zh-CN" sz="1600" dirty="0">
                <a:solidFill>
                  <a:srgbClr val="C00000"/>
                </a:solidFill>
              </a:rPr>
              <a:t>垃圾回收过程</a:t>
            </a:r>
            <a:r>
              <a:rPr lang="zh-CN" altLang="zh-CN" sz="1600" dirty="0"/>
              <a:t>，自动删除这些对象，以释放它们占用的内存空间。</a:t>
            </a:r>
          </a:p>
        </p:txBody>
      </p:sp>
    </p:spTree>
    <p:extLst>
      <p:ext uri="{BB962C8B-B14F-4D97-AF65-F5344CB8AC3E}">
        <p14:creationId xmlns:p14="http://schemas.microsoft.com/office/powerpoint/2010/main" val="149723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3457787" cy="4022878"/>
          </a:xfrm>
        </p:spPr>
        <p:txBody>
          <a:bodyPr>
            <a:noAutofit/>
          </a:bodyPr>
          <a:lstStyle/>
          <a:p>
            <a:pPr algn="just"/>
            <a:r>
              <a:rPr lang="zh-CN" altLang="zh-CN" sz="1600" dirty="0"/>
              <a:t>类和对象</a:t>
            </a:r>
            <a:endParaRPr lang="en-US" altLang="zh-CN" sz="1600" dirty="0"/>
          </a:p>
          <a:p>
            <a:pPr lvl="1" algn="just"/>
            <a:r>
              <a:rPr lang="zh-CN" altLang="zh-CN" sz="1600" b="1" dirty="0"/>
              <a:t>继承</a:t>
            </a:r>
            <a:endParaRPr lang="zh-CN" altLang="zh-CN" sz="1600" dirty="0"/>
          </a:p>
          <a:p>
            <a:pPr lvl="1" algn="just"/>
            <a:r>
              <a:rPr lang="en-US" altLang="zh-CN" sz="1600" dirty="0"/>
              <a:t>	</a:t>
            </a:r>
            <a:r>
              <a:rPr lang="zh-CN" altLang="zh-CN" sz="1600" dirty="0"/>
              <a:t>在定义类的时候，我们可以基于已有的类定义新的类，新的类</a:t>
            </a:r>
            <a:r>
              <a:rPr lang="en-US" altLang="zh-CN" sz="1600" dirty="0"/>
              <a:t>(</a:t>
            </a:r>
            <a:r>
              <a:rPr lang="zh-CN" altLang="zh-CN" sz="1600" dirty="0"/>
              <a:t>子类</a:t>
            </a:r>
            <a:r>
              <a:rPr lang="en-US" altLang="zh-CN" sz="1600" dirty="0"/>
              <a:t>)</a:t>
            </a:r>
            <a:r>
              <a:rPr lang="zh-CN" altLang="zh-CN" sz="1600" dirty="0"/>
              <a:t>和已有的类</a:t>
            </a:r>
            <a:r>
              <a:rPr lang="en-US" altLang="zh-CN" sz="1600" dirty="0"/>
              <a:t>(</a:t>
            </a:r>
            <a:r>
              <a:rPr lang="zh-CN" altLang="zh-CN" sz="1600" dirty="0"/>
              <a:t>父类</a:t>
            </a:r>
            <a:r>
              <a:rPr lang="en-US" altLang="zh-CN" sz="1600" dirty="0"/>
              <a:t>)</a:t>
            </a:r>
            <a:r>
              <a:rPr lang="zh-CN" altLang="zh-CN" sz="1600" dirty="0"/>
              <a:t>是继承的关系。子类继承了父类的所有属性和方法</a:t>
            </a:r>
            <a:r>
              <a:rPr lang="en-US" altLang="zh-CN" sz="1600" dirty="0"/>
              <a:t>(</a:t>
            </a:r>
            <a:r>
              <a:rPr lang="zh-CN" altLang="zh-CN" sz="1600" dirty="0"/>
              <a:t>函数</a:t>
            </a:r>
            <a:r>
              <a:rPr lang="en-US" altLang="zh-CN" sz="1600" dirty="0"/>
              <a:t>)</a:t>
            </a:r>
            <a:r>
              <a:rPr lang="zh-CN" altLang="zh-CN" sz="1600" dirty="0"/>
              <a:t>，还可以增加新的属性和方法。</a:t>
            </a:r>
            <a:endParaRPr lang="en-US" altLang="zh-CN" sz="1600" dirty="0"/>
          </a:p>
          <a:p>
            <a:pPr lvl="1" algn="just"/>
            <a:r>
              <a:rPr lang="zh-CN" altLang="zh-CN" sz="1600" dirty="0"/>
              <a:t>比如，我们定义了一个新的类</a:t>
            </a:r>
            <a:r>
              <a:rPr lang="en-US" altLang="zh-CN" sz="1600" dirty="0"/>
              <a:t>Manager</a:t>
            </a:r>
            <a:r>
              <a:rPr lang="zh-CN" altLang="zh-CN" sz="1600" dirty="0"/>
              <a:t>，它继承于</a:t>
            </a:r>
            <a:r>
              <a:rPr lang="en-US" altLang="zh-CN" sz="1600" dirty="0"/>
              <a:t>Employee</a:t>
            </a:r>
            <a:r>
              <a:rPr lang="zh-CN" altLang="zh-CN" sz="1600" dirty="0"/>
              <a:t>类，但是增加了一个新的属性</a:t>
            </a:r>
            <a:r>
              <a:rPr lang="en-US" altLang="zh-CN" sz="1600" dirty="0"/>
              <a:t>subsidy(</a:t>
            </a:r>
            <a:r>
              <a:rPr lang="zh-CN" altLang="zh-CN" sz="1600" dirty="0"/>
              <a:t>特殊津贴</a:t>
            </a:r>
            <a:r>
              <a:rPr lang="en-US" altLang="zh-CN" sz="1600" dirty="0"/>
              <a:t>)</a:t>
            </a:r>
            <a:endParaRPr lang="zh-CN" altLang="zh-CN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0C29E0-C6DC-4846-BF2A-531D3CE61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987" y="1226634"/>
            <a:ext cx="5099285" cy="309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16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199120" cy="4022878"/>
          </a:xfrm>
        </p:spPr>
        <p:txBody>
          <a:bodyPr>
            <a:noAutofit/>
          </a:bodyPr>
          <a:lstStyle/>
          <a:p>
            <a:pPr algn="just"/>
            <a:r>
              <a:rPr lang="zh-CN" altLang="zh-CN" sz="1400" dirty="0"/>
              <a:t>类和对象</a:t>
            </a:r>
            <a:endParaRPr lang="en-US" altLang="zh-CN" sz="1400" dirty="0"/>
          </a:p>
          <a:p>
            <a:r>
              <a:rPr lang="zh-CN" altLang="zh-CN" sz="1400" b="1" dirty="0"/>
              <a:t>重写</a:t>
            </a:r>
            <a:r>
              <a:rPr lang="en-US" altLang="zh-CN" sz="1400" b="1" dirty="0"/>
              <a:t>Override</a:t>
            </a:r>
            <a:endParaRPr lang="zh-CN" altLang="zh-CN" sz="1400" dirty="0"/>
          </a:p>
          <a:p>
            <a:r>
              <a:rPr lang="zh-CN" altLang="zh-CN" sz="1400" dirty="0"/>
              <a:t>在上一个实例中，</a:t>
            </a:r>
            <a:r>
              <a:rPr lang="en-US" altLang="zh-CN" sz="1400" dirty="0"/>
              <a:t>mgr1.show()</a:t>
            </a:r>
            <a:r>
              <a:rPr lang="zh-CN" altLang="zh-CN" sz="1400" dirty="0"/>
              <a:t>只显示了经理的姓名、性别、年龄和薪水，但是没有显示特殊津贴。为此，我们必须为新的类</a:t>
            </a:r>
            <a:r>
              <a:rPr lang="en-US" altLang="zh-CN" sz="1400" dirty="0"/>
              <a:t>Manager</a:t>
            </a:r>
            <a:r>
              <a:rPr lang="zh-CN" altLang="zh-CN" sz="1400" dirty="0"/>
              <a:t>定义一个新的</a:t>
            </a:r>
            <a:r>
              <a:rPr lang="en-US" altLang="zh-CN" sz="1400" dirty="0"/>
              <a:t>show</a:t>
            </a:r>
            <a:r>
              <a:rPr lang="zh-CN" altLang="zh-CN" sz="1400" dirty="0"/>
              <a:t>函数，这个函数和父类</a:t>
            </a:r>
            <a:r>
              <a:rPr lang="en-US" altLang="zh-CN" sz="1400" dirty="0"/>
              <a:t>Employee</a:t>
            </a:r>
            <a:r>
              <a:rPr lang="zh-CN" altLang="zh-CN" sz="1400" dirty="0"/>
              <a:t>的</a:t>
            </a:r>
            <a:r>
              <a:rPr lang="en-US" altLang="zh-CN" sz="1400" dirty="0"/>
              <a:t>show</a:t>
            </a:r>
            <a:r>
              <a:rPr lang="zh-CN" altLang="zh-CN" sz="1400" dirty="0"/>
              <a:t>函数同名，但是功能有些不一样，除了显示姓名、性别、年龄和薪水，它还显示特殊津贴。</a:t>
            </a:r>
            <a:endParaRPr lang="en-US" altLang="zh-CN" sz="1400" dirty="0"/>
          </a:p>
          <a:p>
            <a:r>
              <a:rPr lang="zh-CN" altLang="zh-CN" sz="1400" dirty="0"/>
              <a:t>这种对父类的方法进行重新定义的机制，称为重写</a:t>
            </a:r>
            <a:r>
              <a:rPr lang="en-US" altLang="zh-CN" sz="1400" dirty="0"/>
              <a:t>Override</a:t>
            </a:r>
            <a:r>
              <a:rPr lang="zh-CN" altLang="zh-CN" sz="1400" dirty="0"/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54012D-2BF9-4DB1-8A95-5837FA1D3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07" y="2463376"/>
            <a:ext cx="7355840" cy="219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3620347" cy="4022878"/>
          </a:xfrm>
        </p:spPr>
        <p:txBody>
          <a:bodyPr>
            <a:noAutofit/>
          </a:bodyPr>
          <a:lstStyle/>
          <a:p>
            <a:pPr algn="just"/>
            <a:r>
              <a:rPr lang="zh-CN" altLang="en-US" sz="1600" dirty="0"/>
              <a:t>异常处理</a:t>
            </a:r>
            <a:endParaRPr lang="en-US" altLang="zh-CN" sz="1600" dirty="0"/>
          </a:p>
          <a:p>
            <a:pPr lvl="1" algn="just"/>
            <a:r>
              <a:rPr lang="zh-CN" altLang="zh-CN" sz="1600" dirty="0"/>
              <a:t>程序执行过程中，可能发生异常情况，比如一个非零的整数除以</a:t>
            </a:r>
            <a:r>
              <a:rPr lang="en-US" altLang="zh-CN" sz="1600" dirty="0"/>
              <a:t>0</a:t>
            </a:r>
            <a:r>
              <a:rPr lang="zh-CN" altLang="zh-CN" sz="1600" dirty="0"/>
              <a:t>就会发生异常。我们可以捕抓异常，然后打印提示信息，帮助用户了解到发生的情况，然后采取补救措施，比如等待用户输入正确的数值、释放磁盘空间、连接到互联网等。</a:t>
            </a:r>
          </a:p>
          <a:p>
            <a:pPr lvl="1" algn="just"/>
            <a:r>
              <a:rPr lang="zh-CN" altLang="zh-CN" sz="1600" dirty="0"/>
              <a:t>一般把有可能引发异常的代码放在一个</a:t>
            </a:r>
            <a:r>
              <a:rPr lang="en-US" altLang="zh-CN" sz="1600" dirty="0"/>
              <a:t>try:</a:t>
            </a:r>
            <a:r>
              <a:rPr lang="zh-CN" altLang="zh-CN" sz="1600" dirty="0"/>
              <a:t>语句块里，在</a:t>
            </a:r>
            <a:r>
              <a:rPr lang="en-US" altLang="zh-CN" sz="1600" dirty="0"/>
              <a:t>try:</a:t>
            </a:r>
            <a:r>
              <a:rPr lang="zh-CN" altLang="zh-CN" sz="1600" dirty="0"/>
              <a:t>语句块之后，跟着一个</a:t>
            </a:r>
            <a:r>
              <a:rPr lang="en-US" altLang="zh-CN" sz="1600" dirty="0"/>
              <a:t>except:</a:t>
            </a:r>
            <a:r>
              <a:rPr lang="zh-CN" altLang="zh-CN" sz="1600" dirty="0"/>
              <a:t>语句及其语句块，该语句块的代码，将对错误情况作出处理。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A2777F-D36E-4F1D-A8BD-ACB638AF3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734" y="907626"/>
            <a:ext cx="4592320" cy="373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932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3739376" cy="4022878"/>
          </a:xfrm>
        </p:spPr>
        <p:txBody>
          <a:bodyPr>
            <a:noAutofit/>
          </a:bodyPr>
          <a:lstStyle/>
          <a:p>
            <a:pPr algn="just"/>
            <a:r>
              <a:rPr lang="zh-CN" altLang="en-US" sz="1400" dirty="0"/>
              <a:t>正则表达式</a:t>
            </a:r>
            <a:endParaRPr lang="en-US" altLang="zh-CN" sz="1400" dirty="0"/>
          </a:p>
          <a:p>
            <a:pPr algn="just"/>
            <a:r>
              <a:rPr lang="zh-CN" altLang="zh-CN" sz="1400" dirty="0"/>
              <a:t>正则表达式，是一种用来匹配字符串的有力工具。它是一个特殊的字符序列，用于匹配或者查找其它字符串里面的子串。正则表达式可以用来判断一个字符串是否日期、电子邮件、邮政编码、或者电话号码，帮助我们对用户输入数据，进行合法性检验，也可以用来在一个字符串里面寻找这些实体类型。</a:t>
            </a:r>
          </a:p>
          <a:p>
            <a:pPr algn="just"/>
            <a:r>
              <a:rPr lang="zh-CN" altLang="zh-CN" sz="1400" dirty="0"/>
              <a:t>下面的实例，用正则表达式匹配电话号码。正确的电话号码的模式是，</a:t>
            </a:r>
            <a:r>
              <a:rPr lang="en-US" altLang="zh-CN" sz="1400" dirty="0"/>
              <a:t>3</a:t>
            </a:r>
            <a:r>
              <a:rPr lang="zh-CN" altLang="zh-CN" sz="1400" dirty="0"/>
              <a:t>个数字跟着一个横杠、然后跟着</a:t>
            </a:r>
            <a:r>
              <a:rPr lang="en-US" altLang="zh-CN" sz="1400" dirty="0"/>
              <a:t>3</a:t>
            </a:r>
            <a:r>
              <a:rPr lang="zh-CN" altLang="zh-CN" sz="1400" dirty="0"/>
              <a:t>个数字，再跟着一个横杠，最后跟着</a:t>
            </a:r>
            <a:r>
              <a:rPr lang="en-US" altLang="zh-CN" sz="1400" dirty="0"/>
              <a:t>4</a:t>
            </a:r>
            <a:r>
              <a:rPr lang="zh-CN" altLang="zh-CN" sz="1400" dirty="0"/>
              <a:t>个数字，具体的模式是</a:t>
            </a:r>
            <a:r>
              <a:rPr lang="en-US" altLang="zh-CN" sz="1400" dirty="0">
                <a:solidFill>
                  <a:srgbClr val="C00000"/>
                </a:solidFill>
              </a:rPr>
              <a:t>'^(\d{3})-(\d{3})-(\d{4})$'</a:t>
            </a:r>
            <a:r>
              <a:rPr lang="zh-CN" altLang="zh-CN" sz="1400" dirty="0">
                <a:solidFill>
                  <a:srgbClr val="C00000"/>
                </a:solidFill>
              </a:rPr>
              <a:t>，</a:t>
            </a:r>
            <a:r>
              <a:rPr lang="en-US" altLang="zh-CN" sz="1400" dirty="0">
                <a:solidFill>
                  <a:srgbClr val="C00000"/>
                </a:solidFill>
              </a:rPr>
              <a:t>^</a:t>
            </a:r>
            <a:r>
              <a:rPr lang="zh-CN" altLang="zh-CN" sz="1400" dirty="0">
                <a:solidFill>
                  <a:srgbClr val="C00000"/>
                </a:solidFill>
              </a:rPr>
              <a:t>表示开始，</a:t>
            </a:r>
            <a:r>
              <a:rPr lang="en-US" altLang="zh-CN" sz="1400" dirty="0">
                <a:solidFill>
                  <a:srgbClr val="C00000"/>
                </a:solidFill>
              </a:rPr>
              <a:t>$</a:t>
            </a:r>
            <a:r>
              <a:rPr lang="zh-CN" altLang="zh-CN" sz="1400" dirty="0">
                <a:solidFill>
                  <a:srgbClr val="C00000"/>
                </a:solidFill>
              </a:rPr>
              <a:t>表示结束，</a:t>
            </a:r>
            <a:r>
              <a:rPr lang="en-US" altLang="zh-CN" sz="1400" dirty="0">
                <a:solidFill>
                  <a:srgbClr val="C00000"/>
                </a:solidFill>
              </a:rPr>
              <a:t>\d</a:t>
            </a:r>
            <a:r>
              <a:rPr lang="zh-CN" altLang="zh-CN" sz="1400" dirty="0">
                <a:solidFill>
                  <a:srgbClr val="C00000"/>
                </a:solidFill>
              </a:rPr>
              <a:t>表示数字。</a:t>
            </a:r>
            <a:endParaRPr lang="en-US" altLang="zh-CN" sz="1400" dirty="0">
              <a:solidFill>
                <a:srgbClr val="C00000"/>
              </a:solidFill>
            </a:endParaRPr>
          </a:p>
          <a:p>
            <a:pPr algn="just"/>
            <a:r>
              <a:rPr lang="zh-CN" altLang="zh-CN" sz="1400" dirty="0"/>
              <a:t>这个正则表达式经过编译以后，就可以用来匹配电话号码。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6680550-DF55-46E7-86D7-9AF3D31CD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45" y="1259840"/>
            <a:ext cx="4300755" cy="318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40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3739376" cy="4022878"/>
          </a:xfrm>
        </p:spPr>
        <p:txBody>
          <a:bodyPr>
            <a:noAutofit/>
          </a:bodyPr>
          <a:lstStyle/>
          <a:p>
            <a:pPr algn="just"/>
            <a:r>
              <a:rPr lang="zh-CN" altLang="en-US" sz="1400" dirty="0"/>
              <a:t>正则表达式</a:t>
            </a:r>
            <a:endParaRPr lang="en-US" altLang="zh-CN" sz="1400" dirty="0"/>
          </a:p>
          <a:p>
            <a:pPr algn="just"/>
            <a:endParaRPr lang="zh-CN" altLang="zh-CN" sz="1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6680550-DF55-46E7-86D7-9AF3D31CD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45" y="1259840"/>
            <a:ext cx="4300755" cy="31896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5629" y="1273570"/>
            <a:ext cx="3392273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Helvetica Neue" charset="0"/>
              </a:rPr>
              <a:t>下面哪个字符串可以匹配正则表达式</a:t>
            </a:r>
            <a:endParaRPr lang="en-US" altLang="zh-CN" sz="2000" dirty="0">
              <a:solidFill>
                <a:srgbClr val="C00000"/>
              </a:solidFill>
              <a:latin typeface="Helvetica Neue" charset="0"/>
            </a:endParaRPr>
          </a:p>
          <a:p>
            <a:pPr algn="ctr"/>
            <a:r>
              <a:rPr lang="en-US" altLang="zh-CN" sz="2800" dirty="0">
                <a:solidFill>
                  <a:srgbClr val="C00000"/>
                </a:solidFill>
                <a:latin typeface="Helvetica Neue" charset="0"/>
              </a:rPr>
              <a:t>"(4{5,6})\1"</a:t>
            </a:r>
            <a:endParaRPr lang="en-US" altLang="zh-CN" dirty="0">
              <a:solidFill>
                <a:srgbClr val="C00000"/>
              </a:solidFill>
              <a:effectLst/>
              <a:latin typeface="Helvetica Neue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charset="0"/>
                <a:ea typeface="Times New Roman" charset="0"/>
                <a:cs typeface="Times New Roman" charset="0"/>
              </a:rPr>
              <a:t>A.</a:t>
            </a:r>
            <a:r>
              <a:rPr lang="zh-CN" altLang="en-US" sz="24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zh-CN" sz="2400" dirty="0">
                <a:latin typeface="Times New Roman" charset="0"/>
                <a:ea typeface="Times New Roman" charset="0"/>
                <a:cs typeface="Times New Roman" charset="0"/>
              </a:rPr>
              <a:t>456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effectLst/>
                <a:latin typeface="Times New Roman" charset="0"/>
                <a:ea typeface="Times New Roman" charset="0"/>
                <a:cs typeface="Times New Roman" charset="0"/>
              </a:rPr>
              <a:t>B.</a:t>
            </a:r>
            <a:r>
              <a:rPr lang="zh-CN" altLang="en-US" sz="2400" dirty="0">
                <a:effectLst/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mr-IN" sz="2400" dirty="0">
                <a:latin typeface="Times New Roman" charset="0"/>
                <a:ea typeface="Times New Roman" charset="0"/>
                <a:cs typeface="Times New Roman" charset="0"/>
              </a:rPr>
              <a:t>4444</a:t>
            </a:r>
            <a:r>
              <a:rPr lang="en-US" altLang="zh-CN" sz="2400" dirty="0">
                <a:latin typeface="Times New Roman" charset="0"/>
                <a:ea typeface="Times New Roman" charset="0"/>
                <a:cs typeface="Times New Roman" charset="0"/>
              </a:rPr>
              <a:t>4</a:t>
            </a:r>
            <a:r>
              <a:rPr lang="zh-CN" altLang="en-US" sz="24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zh-CN" sz="2400" dirty="0">
                <a:latin typeface="Times New Roman" charset="0"/>
                <a:ea typeface="Times New Roman" charset="0"/>
                <a:cs typeface="Times New Roman" charset="0"/>
              </a:rPr>
              <a:t>or</a:t>
            </a:r>
            <a:r>
              <a:rPr lang="zh-CN" altLang="en-US" sz="24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mr-IN" sz="2400" dirty="0">
                <a:latin typeface="Times New Roman" charset="0"/>
                <a:ea typeface="Times New Roman" charset="0"/>
                <a:cs typeface="Times New Roman" charset="0"/>
              </a:rPr>
              <a:t>4444</a:t>
            </a:r>
            <a:r>
              <a:rPr lang="en-US" altLang="zh-CN" sz="2400" dirty="0">
                <a:latin typeface="Times New Roman" charset="0"/>
                <a:ea typeface="Times New Roman" charset="0"/>
                <a:cs typeface="Times New Roman" charset="0"/>
              </a:rPr>
              <a:t>44</a:t>
            </a:r>
            <a:endParaRPr lang="en-US" altLang="zh-CN" sz="2400" dirty="0">
              <a:effectLst/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n-US" altLang="zh-CN" sz="2400" dirty="0">
                <a:latin typeface="Times New Roman" charset="0"/>
                <a:ea typeface="Times New Roman" charset="0"/>
                <a:cs typeface="Times New Roman" charset="0"/>
              </a:rPr>
              <a:t>C.</a:t>
            </a:r>
            <a:r>
              <a:rPr lang="zh-CN" altLang="en-US" sz="24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mr-IN" sz="2400" dirty="0">
                <a:latin typeface="Times New Roman" charset="0"/>
                <a:ea typeface="Times New Roman" charset="0"/>
                <a:cs typeface="Times New Roman" charset="0"/>
              </a:rPr>
              <a:t>4444444444</a:t>
            </a:r>
            <a:r>
              <a:rPr lang="zh-CN" altLang="en-US" sz="24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zh-CN" sz="2400" dirty="0">
                <a:latin typeface="Times New Roman" charset="0"/>
                <a:ea typeface="Times New Roman" charset="0"/>
                <a:cs typeface="Times New Roman" charset="0"/>
              </a:rPr>
              <a:t>or</a:t>
            </a:r>
            <a:r>
              <a:rPr lang="zh-CN" altLang="en-US" sz="24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mr-IN" sz="2400" dirty="0">
                <a:latin typeface="Times New Roman" charset="0"/>
                <a:ea typeface="Times New Roman" charset="0"/>
                <a:cs typeface="Times New Roman" charset="0"/>
              </a:rPr>
              <a:t>4444444444</a:t>
            </a:r>
            <a:r>
              <a:rPr lang="en-US" altLang="zh-CN" sz="2400" dirty="0">
                <a:latin typeface="Times New Roman" charset="0"/>
                <a:ea typeface="Times New Roman" charset="0"/>
                <a:cs typeface="Times New Roman" charset="0"/>
              </a:rPr>
              <a:t>44</a:t>
            </a:r>
            <a:endParaRPr lang="mr-IN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8181" y="1377710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E07366-029C-467C-851C-84FD488A30D8}"/>
              </a:ext>
            </a:extLst>
          </p:cNvPr>
          <p:cNvSpPr/>
          <p:nvPr/>
        </p:nvSpPr>
        <p:spPr>
          <a:xfrm>
            <a:off x="697297" y="4324350"/>
            <a:ext cx="44176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3"/>
              </a:rPr>
              <a:t>无需死记硬背</a:t>
            </a:r>
            <a:r>
              <a:rPr lang="en-US" altLang="zh-CN" dirty="0">
                <a:hlinkClick r:id="rId3"/>
              </a:rPr>
              <a:t>https://www.regextester.com/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76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字符频率统计</a:t>
            </a:r>
          </a:p>
          <a:p>
            <a:pPr lvl="1"/>
            <a:r>
              <a:rPr lang="zh-CN" altLang="en-US" dirty="0"/>
              <a:t>接受用户输入的一段字符串</a:t>
            </a:r>
            <a:r>
              <a:rPr lang="en-US" altLang="zh-CN" dirty="0"/>
              <a:t>s</a:t>
            </a:r>
          </a:p>
          <a:p>
            <a:pPr lvl="1"/>
            <a:r>
              <a:rPr lang="zh-CN" altLang="en-US" dirty="0"/>
              <a:t>统计并输出</a:t>
            </a:r>
            <a:r>
              <a:rPr lang="en-US" altLang="zh-CN" dirty="0"/>
              <a:t>s</a:t>
            </a:r>
            <a:r>
              <a:rPr lang="zh-CN" altLang="en-US" dirty="0"/>
              <a:t>中所有字符出现的频次</a:t>
            </a:r>
          </a:p>
          <a:p>
            <a:pPr lvl="1"/>
            <a:r>
              <a:rPr lang="zh-CN" altLang="en-US" dirty="0"/>
              <a:t>样例：</a:t>
            </a:r>
          </a:p>
          <a:p>
            <a:pPr lvl="2"/>
            <a:r>
              <a:rPr lang="en-US" altLang="zh-CN" dirty="0"/>
              <a:t>s = Letter</a:t>
            </a:r>
          </a:p>
          <a:p>
            <a:pPr lvl="2"/>
            <a:r>
              <a:rPr lang="zh-CN" altLang="en-US" dirty="0"/>
              <a:t>字符频率：</a:t>
            </a:r>
            <a:endParaRPr lang="en-US" altLang="zh-CN" dirty="0"/>
          </a:p>
          <a:p>
            <a:pPr lvl="1"/>
            <a:endParaRPr lang="en-US" dirty="0"/>
          </a:p>
          <a:p>
            <a:pPr lvl="1"/>
            <a:r>
              <a:rPr lang="zh-CN" altLang="en-US" dirty="0"/>
              <a:t>你能用两种不同的方法编程吗？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5429250" y="4729162"/>
            <a:ext cx="2171700" cy="357188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计算传播理论与实务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E60C35-1193-284A-B3D8-F868547A96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" name="表格 3"/>
          <p:cNvGraphicFramePr>
            <a:graphicFrameLocks noGrp="1"/>
          </p:cNvGraphicFramePr>
          <p:nvPr/>
        </p:nvGraphicFramePr>
        <p:xfrm>
          <a:off x="3706131" y="2210276"/>
          <a:ext cx="3810000" cy="56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字符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频率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65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8800</TotalTime>
  <Words>2666</Words>
  <Application>Microsoft Macintosh PowerPoint</Application>
  <PresentationFormat>On-screen Show (16:9)</PresentationFormat>
  <Paragraphs>207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CMSS10</vt:lpstr>
      <vt:lpstr>medium-content-sans-serif-font</vt:lpstr>
      <vt:lpstr>微软雅黑</vt:lpstr>
      <vt:lpstr>Arial</vt:lpstr>
      <vt:lpstr>Calibri</vt:lpstr>
      <vt:lpstr>Helvetica</vt:lpstr>
      <vt:lpstr>Helvetica Neue</vt:lpstr>
      <vt:lpstr>Times New Roman</vt:lpstr>
      <vt:lpstr>Times-Roman</vt:lpstr>
      <vt:lpstr>清风素材 https://12sc.taobao.com/</vt:lpstr>
      <vt:lpstr>PowerPoint Presentation</vt:lpstr>
      <vt:lpstr>PowerPoint Presentation</vt:lpstr>
      <vt:lpstr>Python：数据科学家的最爱</vt:lpstr>
      <vt:lpstr>计算机程序设计语言的历史</vt:lpstr>
      <vt:lpstr>Python简介</vt:lpstr>
      <vt:lpstr>Python简介</vt:lpstr>
      <vt:lpstr>Python简介</vt:lpstr>
      <vt:lpstr>Python 环境安装</vt:lpstr>
      <vt:lpstr>Anaconda环境安装</vt:lpstr>
      <vt:lpstr>预备-Python安装</vt:lpstr>
      <vt:lpstr>预备-Python安装</vt:lpstr>
      <vt:lpstr>预备-Python安装</vt:lpstr>
      <vt:lpstr>Hello World!</vt:lpstr>
      <vt:lpstr>预备-Debug工具</vt:lpstr>
      <vt:lpstr>Debug工具</vt:lpstr>
      <vt:lpstr>Python语言基础</vt:lpstr>
      <vt:lpstr>Python语言基础</vt:lpstr>
      <vt:lpstr>Python语言基础</vt:lpstr>
      <vt:lpstr>Python语言基础</vt:lpstr>
      <vt:lpstr>Python语言基础</vt:lpstr>
      <vt:lpstr>Python语言基础</vt:lpstr>
      <vt:lpstr>Python语言基础</vt:lpstr>
      <vt:lpstr>Python语言基础</vt:lpstr>
      <vt:lpstr>Python语言基础</vt:lpstr>
      <vt:lpstr>Python语言基础</vt:lpstr>
      <vt:lpstr>Python语言基础</vt:lpstr>
      <vt:lpstr>Python语言基础</vt:lpstr>
      <vt:lpstr>Python语言基础</vt:lpstr>
      <vt:lpstr>Python语言基础</vt:lpstr>
      <vt:lpstr>Python语言基础</vt:lpstr>
      <vt:lpstr>Python语言基础</vt:lpstr>
      <vt:lpstr>Python语言基础</vt:lpstr>
      <vt:lpstr>Python语言基础</vt:lpstr>
      <vt:lpstr>Python语言基础</vt:lpstr>
      <vt:lpstr>Python语言基础</vt:lpstr>
      <vt:lpstr>Python语言基础</vt:lpstr>
      <vt:lpstr>Python语言基础</vt:lpstr>
      <vt:lpstr>课堂练习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范 举</cp:lastModifiedBy>
  <cp:revision>164</cp:revision>
  <dcterms:created xsi:type="dcterms:W3CDTF">2015-01-23T04:02:45Z</dcterms:created>
  <dcterms:modified xsi:type="dcterms:W3CDTF">2022-02-09T13:35:42Z</dcterms:modified>
  <cp:category/>
  <cp:contentStatus>12sc.taobao.com</cp:contentStatus>
</cp:coreProperties>
</file>