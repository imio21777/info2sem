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</p:sldMasterIdLst>
  <p:notesMasterIdLst>
    <p:notesMasterId r:id="rId82"/>
  </p:notesMasterIdLst>
  <p:sldIdLst>
    <p:sldId id="1006" r:id="rId3"/>
    <p:sldId id="891" r:id="rId4"/>
    <p:sldId id="820" r:id="rId5"/>
    <p:sldId id="939" r:id="rId6"/>
    <p:sldId id="894" r:id="rId7"/>
    <p:sldId id="895" r:id="rId8"/>
    <p:sldId id="940" r:id="rId9"/>
    <p:sldId id="941" r:id="rId10"/>
    <p:sldId id="942" r:id="rId11"/>
    <p:sldId id="943" r:id="rId12"/>
    <p:sldId id="948" r:id="rId13"/>
    <p:sldId id="923" r:id="rId14"/>
    <p:sldId id="945" r:id="rId15"/>
    <p:sldId id="1009" r:id="rId16"/>
    <p:sldId id="1011" r:id="rId17"/>
    <p:sldId id="1012" r:id="rId18"/>
    <p:sldId id="1013" r:id="rId19"/>
    <p:sldId id="1024" r:id="rId20"/>
    <p:sldId id="1008" r:id="rId21"/>
    <p:sldId id="946" r:id="rId22"/>
    <p:sldId id="949" r:id="rId23"/>
    <p:sldId id="950" r:id="rId24"/>
    <p:sldId id="898" r:id="rId25"/>
    <p:sldId id="899" r:id="rId26"/>
    <p:sldId id="900" r:id="rId27"/>
    <p:sldId id="908" r:id="rId28"/>
    <p:sldId id="909" r:id="rId29"/>
    <p:sldId id="910" r:id="rId30"/>
    <p:sldId id="911" r:id="rId31"/>
    <p:sldId id="912" r:id="rId32"/>
    <p:sldId id="967" r:id="rId33"/>
    <p:sldId id="913" r:id="rId34"/>
    <p:sldId id="914" r:id="rId35"/>
    <p:sldId id="915" r:id="rId36"/>
    <p:sldId id="916" r:id="rId37"/>
    <p:sldId id="917" r:id="rId38"/>
    <p:sldId id="918" r:id="rId39"/>
    <p:sldId id="919" r:id="rId40"/>
    <p:sldId id="951" r:id="rId41"/>
    <p:sldId id="952" r:id="rId42"/>
    <p:sldId id="956" r:id="rId43"/>
    <p:sldId id="953" r:id="rId44"/>
    <p:sldId id="954" r:id="rId45"/>
    <p:sldId id="955" r:id="rId46"/>
    <p:sldId id="957" r:id="rId47"/>
    <p:sldId id="1014" r:id="rId48"/>
    <p:sldId id="968" r:id="rId49"/>
    <p:sldId id="1007" r:id="rId50"/>
    <p:sldId id="974" r:id="rId51"/>
    <p:sldId id="973" r:id="rId52"/>
    <p:sldId id="975" r:id="rId53"/>
    <p:sldId id="1001" r:id="rId54"/>
    <p:sldId id="1005" r:id="rId55"/>
    <p:sldId id="976" r:id="rId56"/>
    <p:sldId id="977" r:id="rId57"/>
    <p:sldId id="978" r:id="rId58"/>
    <p:sldId id="980" r:id="rId59"/>
    <p:sldId id="982" r:id="rId60"/>
    <p:sldId id="981" r:id="rId61"/>
    <p:sldId id="983" r:id="rId62"/>
    <p:sldId id="984" r:id="rId63"/>
    <p:sldId id="985" r:id="rId64"/>
    <p:sldId id="986" r:id="rId65"/>
    <p:sldId id="988" r:id="rId66"/>
    <p:sldId id="989" r:id="rId67"/>
    <p:sldId id="990" r:id="rId68"/>
    <p:sldId id="1025" r:id="rId69"/>
    <p:sldId id="1026" r:id="rId70"/>
    <p:sldId id="1027" r:id="rId71"/>
    <p:sldId id="1016" r:id="rId72"/>
    <p:sldId id="1017" r:id="rId73"/>
    <p:sldId id="1018" r:id="rId74"/>
    <p:sldId id="1019" r:id="rId75"/>
    <p:sldId id="1020" r:id="rId76"/>
    <p:sldId id="1021" r:id="rId77"/>
    <p:sldId id="1022" r:id="rId78"/>
    <p:sldId id="1023" r:id="rId79"/>
    <p:sldId id="993" r:id="rId80"/>
    <p:sldId id="997" r:id="rId81"/>
  </p:sldIdLst>
  <p:sldSz cx="9144000" cy="5143500" type="screen16x9"/>
  <p:notesSz cx="6858000" cy="9144000"/>
  <p:custDataLst>
    <p:tags r:id="rId8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BCDE"/>
    <a:srgbClr val="FA8DC7"/>
    <a:srgbClr val="FEC002"/>
    <a:srgbClr val="ED7D31"/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36" autoAdjust="0"/>
    <p:restoredTop sz="83664" autoAdjust="0"/>
  </p:normalViewPr>
  <p:slideViewPr>
    <p:cSldViewPr snapToGrid="0">
      <p:cViewPr varScale="1">
        <p:scale>
          <a:sx n="229" d="100"/>
          <a:sy n="229" d="100"/>
        </p:scale>
        <p:origin x="298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2024/11/20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291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2232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4462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360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849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510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6055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7340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000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221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611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46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6360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70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14231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9028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538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0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</p:cSld>
  <p:clrMapOvr>
    <a:masterClrMapping/>
  </p:clrMapOvr>
  <p:transition spd="slow">
    <p:cover dir="rd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70" r:id="rId15"/>
  </p:sldLayoutIdLst>
  <p:transition spd="slow">
    <p:pull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89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</p:sldLayoutIdLst>
  <p:transition spd="slow">
    <p:pull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60.png"/><Relationship Id="rId4" Type="http://schemas.openxmlformats.org/officeDocument/2006/relationships/image" Target="../media/image8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60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89.png"/><Relationship Id="rId5" Type="http://schemas.openxmlformats.org/officeDocument/2006/relationships/image" Target="../media/image59.emf"/><Relationship Id="rId10" Type="http://schemas.openxmlformats.org/officeDocument/2006/relationships/image" Target="../media/image93.png"/><Relationship Id="rId4" Type="http://schemas.openxmlformats.org/officeDocument/2006/relationships/oleObject" Target="../embeddings/oleObject1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86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7" Type="http://schemas.openxmlformats.org/officeDocument/2006/relationships/image" Target="../media/image60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9.emf"/><Relationship Id="rId4" Type="http://schemas.openxmlformats.org/officeDocument/2006/relationships/oleObject" Target="../embeddings/oleObject1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63.emf"/><Relationship Id="rId7" Type="http://schemas.openxmlformats.org/officeDocument/2006/relationships/image" Target="../media/image5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5.e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60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0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66.png"/><Relationship Id="rId4" Type="http://schemas.openxmlformats.org/officeDocument/2006/relationships/image" Target="../media/image103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122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25.png"/><Relationship Id="rId3" Type="http://schemas.openxmlformats.org/officeDocument/2006/relationships/image" Target="../media/image123.png"/><Relationship Id="rId7" Type="http://schemas.openxmlformats.org/officeDocument/2006/relationships/image" Target="../media/image65.emf"/><Relationship Id="rId1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60.emf"/><Relationship Id="rId5" Type="http://schemas.openxmlformats.org/officeDocument/2006/relationships/image" Target="../media/image63.emf"/><Relationship Id="rId15" Type="http://schemas.openxmlformats.org/officeDocument/2006/relationships/image" Target="../media/image127.png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59.emf"/><Relationship Id="rId14" Type="http://schemas.openxmlformats.org/officeDocument/2006/relationships/image" Target="../media/image12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68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emf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68379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571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-74527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85940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85940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prstClr val="white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78371"/>
            <a:ext cx="8945065" cy="584747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讲：聚类与无监督学习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B11913AF-7BDC-6A43-974D-C041DD8A3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908859"/>
            <a:ext cx="525621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100000"/>
              <a:defRPr/>
            </a:pPr>
            <a:r>
              <a:rPr kumimoji="1" lang="zh-CN" altLang="mr-IN" b="1" kern="0" dirty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范举</a:t>
            </a:r>
            <a:r>
              <a:rPr kumimoji="1" lang="zh-CN" altLang="en-US" b="1" kern="0" dirty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 </a:t>
            </a:r>
            <a:r>
              <a:rPr kumimoji="1" lang="zh-CN" altLang="mr-IN" b="1" kern="0" dirty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教授         </a:t>
            </a:r>
            <a:r>
              <a:rPr kumimoji="1" lang="mr-IN" altLang="zh-CN" b="1" kern="0" dirty="0" err="1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fanj@ruc.edu.cn</a:t>
            </a:r>
            <a:endParaRPr kumimoji="1" lang="mr-IN" altLang="zh-CN" b="1" kern="0" dirty="0">
              <a:solidFill>
                <a:prstClr val="white"/>
              </a:solidFill>
              <a:latin typeface="Times-Roman" charset="0"/>
              <a:ea typeface="隶书" pitchFamily="49" charset="-122"/>
            </a:endParaRPr>
          </a:p>
        </p:txBody>
      </p:sp>
      <p:sp>
        <p:nvSpPr>
          <p:cNvPr id="18" name="Title 7">
            <a:extLst>
              <a:ext uri="{FF2B5EF4-FFF2-40B4-BE49-F238E27FC236}">
                <a16:creationId xmlns:a16="http://schemas.microsoft.com/office/drawing/2014/main" id="{9951EC0A-19E6-B749-9332-D3931CB533BE}"/>
              </a:ext>
            </a:extLst>
          </p:cNvPr>
          <p:cNvSpPr txBox="1">
            <a:spLocks/>
          </p:cNvSpPr>
          <p:nvPr/>
        </p:nvSpPr>
        <p:spPr>
          <a:xfrm>
            <a:off x="0" y="2996097"/>
            <a:ext cx="9144000" cy="4988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“数据科学导论”专业核心课</a:t>
            </a:r>
            <a:endParaRPr lang="en-US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726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无监督学习（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Unsupervised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Learning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监督学习</a:t>
            </a:r>
            <a:endParaRPr lang="en-US" altLang="zh-CN" dirty="0"/>
          </a:p>
          <a:p>
            <a:pPr lvl="1"/>
            <a:r>
              <a:rPr lang="zh-CN" altLang="en-US" dirty="0"/>
              <a:t>建模数据中输入特征与目标类别之间的联系</a:t>
            </a:r>
            <a:endParaRPr lang="en-US" altLang="zh-CN" dirty="0"/>
          </a:p>
          <a:p>
            <a:pPr lvl="1"/>
            <a:r>
              <a:rPr lang="zh-CN" altLang="en-US" dirty="0"/>
              <a:t>目标：在未知数据上进行精确预测</a:t>
            </a:r>
            <a:endParaRPr lang="en-US" altLang="zh-CN" dirty="0"/>
          </a:p>
          <a:p>
            <a:r>
              <a:rPr lang="zh-CN" altLang="en-US" dirty="0"/>
              <a:t>无监督学习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只有输入</a:t>
            </a:r>
            <a:r>
              <a:rPr lang="zh-CN" altLang="en-US" dirty="0"/>
              <a:t>特征，没有目标类别</a:t>
            </a:r>
            <a:endParaRPr lang="en-US" altLang="zh-CN" dirty="0"/>
          </a:p>
          <a:p>
            <a:pPr lvl="1"/>
            <a:r>
              <a:rPr lang="zh-CN" altLang="en-US" dirty="0"/>
              <a:t>目标：发现数据内在的规律和结构</a:t>
            </a:r>
            <a:endParaRPr lang="en-US" altLang="zh-CN" dirty="0"/>
          </a:p>
          <a:p>
            <a:r>
              <a:rPr lang="zh-CN" altLang="en-US" dirty="0"/>
              <a:t>无监督学习的优点</a:t>
            </a:r>
            <a:endParaRPr lang="en-US" altLang="zh-CN" dirty="0"/>
          </a:p>
          <a:p>
            <a:pPr lvl="1"/>
            <a:r>
              <a:rPr lang="zh-CN" altLang="en-US" dirty="0"/>
              <a:t>可以利用大量的数据，</a:t>
            </a:r>
            <a:r>
              <a:rPr lang="zh-CN" altLang="en-US" dirty="0">
                <a:solidFill>
                  <a:srgbClr val="C00000"/>
                </a:solidFill>
              </a:rPr>
              <a:t>节省标注成本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有些应用</a:t>
            </a:r>
            <a:r>
              <a:rPr lang="zh-CN" altLang="en-US" dirty="0">
                <a:solidFill>
                  <a:srgbClr val="C00000"/>
                </a:solidFill>
              </a:rPr>
              <a:t>无法事先确定目标类别</a:t>
            </a:r>
            <a:r>
              <a:rPr lang="zh-CN" altLang="en-US" dirty="0"/>
              <a:t>（如目标客户）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39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聚类问题及其算法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001143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聚类问题及其评测方法</a:t>
            </a:r>
            <a:endParaRPr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聚类算法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K-Means</a:t>
            </a: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软聚类算法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EM</a:t>
            </a: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案例分析：聚类算法实践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483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 </a:t>
            </a:r>
            <a:r>
              <a:rPr lang="mr-IN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Clustering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聚类的目标是发现数据中相似群，成为簇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cluster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簇内中的数据彼此距离小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ea typeface="宋体" charset="-122"/>
              </a:rPr>
              <a:t>high </a:t>
            </a:r>
            <a:r>
              <a:rPr lang="en-US" altLang="zh-CN" dirty="0">
                <a:solidFill>
                  <a:srgbClr val="C00000"/>
                </a:solidFill>
                <a:ea typeface="宋体" charset="-122"/>
              </a:rPr>
              <a:t>intra-clusters </a:t>
            </a:r>
            <a:r>
              <a:rPr lang="en-US" altLang="zh-CN" dirty="0">
                <a:ea typeface="宋体" charset="-122"/>
              </a:rPr>
              <a:t>similarity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簇间数据距离大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ea typeface="宋体" charset="-122"/>
              </a:rPr>
              <a:t>low </a:t>
            </a:r>
            <a:r>
              <a:rPr lang="en-US" altLang="zh-CN" dirty="0">
                <a:solidFill>
                  <a:srgbClr val="C00000"/>
                </a:solidFill>
                <a:ea typeface="宋体" charset="-122"/>
              </a:rPr>
              <a:t>inter-clusters</a:t>
            </a:r>
            <a:r>
              <a:rPr lang="en-US" altLang="zh-CN" dirty="0">
                <a:ea typeface="宋体" charset="-122"/>
              </a:rPr>
              <a:t> similarity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聚类不需要提供标注每一个簇的样本，因此是一种无监督学习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64" y="2323018"/>
            <a:ext cx="3187664" cy="2658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椭圆 8"/>
          <p:cNvSpPr/>
          <p:nvPr/>
        </p:nvSpPr>
        <p:spPr>
          <a:xfrm>
            <a:off x="2064846" y="2523159"/>
            <a:ext cx="1140548" cy="985019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椭圆 9"/>
          <p:cNvSpPr/>
          <p:nvPr/>
        </p:nvSpPr>
        <p:spPr>
          <a:xfrm>
            <a:off x="1088537" y="3286757"/>
            <a:ext cx="1140548" cy="985019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10"/>
          <p:cNvSpPr/>
          <p:nvPr/>
        </p:nvSpPr>
        <p:spPr>
          <a:xfrm>
            <a:off x="2588465" y="3583990"/>
            <a:ext cx="1140548" cy="985019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Rectangle 9"/>
          <p:cNvSpPr/>
          <p:nvPr/>
        </p:nvSpPr>
        <p:spPr>
          <a:xfrm>
            <a:off x="4183402" y="3583990"/>
            <a:ext cx="458330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发现数据内在</a:t>
            </a:r>
            <a:r>
              <a:rPr lang="zh-CN" altLang="en-US" sz="2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的组织关系</a:t>
            </a:r>
            <a:endParaRPr lang="en-US" altLang="zh-CN" sz="20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如左图：数据点自然聚成三个簇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69076" y="2754058"/>
            <a:ext cx="35452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/>
            </a:pPr>
            <a:r>
              <a:rPr lang="en-US" altLang="zh-CN" sz="2800" dirty="0">
                <a:solidFill>
                  <a:srgbClr val="0000CC"/>
                </a:solidFill>
                <a:latin typeface="Calibri" charset="0"/>
                <a:ea typeface="Calibri" charset="0"/>
                <a:cs typeface="Calibri" charset="0"/>
              </a:rPr>
              <a:t>How Is This Organized?</a:t>
            </a:r>
            <a:endParaRPr lang="zh-CN" altLang="en-US" sz="2800" dirty="0">
              <a:solidFill>
                <a:srgbClr val="0000CC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4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聚类应用举例 </a:t>
            </a:r>
            <a:r>
              <a:rPr lang="mr-IN" altLang="zh-CN" dirty="0"/>
              <a:t>–</a:t>
            </a:r>
            <a:r>
              <a:rPr lang="zh-CN" altLang="en-US" dirty="0"/>
              <a:t> 相似网页的分组呈现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93345" y="951571"/>
            <a:ext cx="6172200" cy="3394472"/>
          </a:xfrm>
        </p:spPr>
        <p:txBody>
          <a:bodyPr>
            <a:normAutofit/>
          </a:bodyPr>
          <a:lstStyle/>
          <a:p>
            <a:r>
              <a:rPr lang="zh-CN" altLang="en-US" sz="2100" dirty="0"/>
              <a:t>网页搜索结果聚类（无法事先确定目标类别</a:t>
            </a:r>
            <a:r>
              <a:rPr lang="en-US" altLang="zh-CN" sz="2100" dirty="0"/>
              <a:t>)</a:t>
            </a:r>
            <a:endParaRPr lang="zh-CN" altLang="en-US" sz="21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778" y="1383619"/>
            <a:ext cx="4502001" cy="3657488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2249742" y="2733768"/>
            <a:ext cx="2862318" cy="102611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椭圆 7"/>
          <p:cNvSpPr/>
          <p:nvPr/>
        </p:nvSpPr>
        <p:spPr>
          <a:xfrm>
            <a:off x="2411760" y="4029912"/>
            <a:ext cx="2862318" cy="102611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106915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聚类应用举例 </a:t>
            </a:r>
            <a:r>
              <a:rPr lang="mr-IN" altLang="zh-CN" dirty="0"/>
              <a:t>–</a:t>
            </a:r>
            <a:r>
              <a:rPr lang="zh-CN" altLang="en-US" dirty="0"/>
              <a:t> 营销中的客户细分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客户细分</a:t>
            </a:r>
            <a:r>
              <a:rPr lang="en-US" altLang="zh-CN" dirty="0"/>
              <a:t>&amp;</a:t>
            </a:r>
            <a:r>
              <a:rPr lang="zh-CN" altLang="en-US" dirty="0"/>
              <a:t>画像</a:t>
            </a:r>
            <a:endParaRPr lang="en-US" altLang="zh-CN" dirty="0"/>
          </a:p>
          <a:p>
            <a:pPr lvl="1"/>
            <a:r>
              <a:rPr lang="zh-CN" altLang="en-US" dirty="0"/>
              <a:t>营销人员利用聚类对客户做进一步细分，已形成更为精确的画像</a:t>
            </a:r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90" y="1601967"/>
            <a:ext cx="6949200" cy="3166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6"/>
          <p:cNvSpPr/>
          <p:nvPr/>
        </p:nvSpPr>
        <p:spPr>
          <a:xfrm>
            <a:off x="2276669" y="2006082"/>
            <a:ext cx="1651519" cy="28738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67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聚类应用举例 </a:t>
            </a:r>
            <a:r>
              <a:rPr lang="mr-IN" altLang="zh-CN" dirty="0"/>
              <a:t>–</a:t>
            </a:r>
            <a:r>
              <a:rPr lang="zh-CN" altLang="en-US" dirty="0"/>
              <a:t> 营销中的客户细分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考虑某超市收集了客户数据，如何对客户进行细分？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38" y="1325035"/>
            <a:ext cx="4273162" cy="32941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247" y="1676426"/>
            <a:ext cx="4182966" cy="222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4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58" y="1530870"/>
            <a:ext cx="4837920" cy="32252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聚类应用举例 </a:t>
            </a:r>
            <a:r>
              <a:rPr lang="mr-IN" altLang="zh-CN" dirty="0"/>
              <a:t>–</a:t>
            </a:r>
            <a:r>
              <a:rPr lang="zh-CN" altLang="en-US" dirty="0"/>
              <a:t> 营销中的客户细分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739468"/>
          </a:xfrm>
        </p:spPr>
        <p:txBody>
          <a:bodyPr>
            <a:normAutofit/>
          </a:bodyPr>
          <a:lstStyle/>
          <a:p>
            <a:r>
              <a:rPr lang="zh-CN" altLang="en-US" dirty="0"/>
              <a:t>我们仅考虑收入水平（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Annual Income (k$)</a:t>
            </a:r>
            <a:r>
              <a:rPr lang="zh-CN" altLang="en-US" dirty="0"/>
              <a:t>）与花费评分（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Spending Score (1-100)</a:t>
            </a:r>
            <a:r>
              <a:rPr lang="zh-CN" altLang="en-US" dirty="0"/>
              <a:t>）作为客户的特征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椭圆 6"/>
          <p:cNvSpPr/>
          <p:nvPr/>
        </p:nvSpPr>
        <p:spPr>
          <a:xfrm>
            <a:off x="1326011" y="1809043"/>
            <a:ext cx="997311" cy="107411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椭圆 6"/>
          <p:cNvSpPr/>
          <p:nvPr/>
        </p:nvSpPr>
        <p:spPr>
          <a:xfrm>
            <a:off x="1281396" y="3175572"/>
            <a:ext cx="1054659" cy="1095684"/>
          </a:xfrm>
          <a:prstGeom prst="ellipse">
            <a:avLst/>
          </a:prstGeom>
          <a:noFill/>
          <a:ln>
            <a:solidFill>
              <a:srgbClr val="FA8DC7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椭圆 6"/>
          <p:cNvSpPr/>
          <p:nvPr/>
        </p:nvSpPr>
        <p:spPr>
          <a:xfrm>
            <a:off x="2958093" y="3175571"/>
            <a:ext cx="2040789" cy="109568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6"/>
          <p:cNvSpPr/>
          <p:nvPr/>
        </p:nvSpPr>
        <p:spPr>
          <a:xfrm>
            <a:off x="2958093" y="1809042"/>
            <a:ext cx="2173744" cy="98914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椭圆 6"/>
          <p:cNvSpPr/>
          <p:nvPr/>
        </p:nvSpPr>
        <p:spPr>
          <a:xfrm>
            <a:off x="2178300" y="2607806"/>
            <a:ext cx="994107" cy="86468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TextBox 10"/>
          <p:cNvSpPr txBox="1"/>
          <p:nvPr/>
        </p:nvSpPr>
        <p:spPr>
          <a:xfrm>
            <a:off x="512948" y="1487610"/>
            <a:ext cx="9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Group</a:t>
            </a:r>
            <a:r>
              <a:rPr lang="zh-CN" altLang="en-US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C</a:t>
            </a:r>
            <a:endParaRPr lang="en-US" dirty="0">
              <a:solidFill>
                <a:srgbClr val="FF000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9022" y="3862802"/>
            <a:ext cx="9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Group</a:t>
            </a:r>
            <a:r>
              <a:rPr lang="zh-CN" altLang="en-US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B</a:t>
            </a:r>
            <a:endParaRPr lang="en-US" dirty="0">
              <a:solidFill>
                <a:srgbClr val="FF000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27240" y="2815676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Group</a:t>
            </a:r>
            <a:r>
              <a:rPr lang="zh-CN" altLang="en-US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A</a:t>
            </a:r>
            <a:endParaRPr lang="en-US" dirty="0">
              <a:solidFill>
                <a:srgbClr val="FF000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13515" y="1451294"/>
            <a:ext cx="968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Group</a:t>
            </a:r>
            <a:r>
              <a:rPr lang="zh-CN" altLang="en-US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D</a:t>
            </a:r>
            <a:endParaRPr lang="en-US" dirty="0">
              <a:solidFill>
                <a:srgbClr val="FF000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84155" y="3970385"/>
            <a:ext cx="9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Group</a:t>
            </a:r>
            <a:r>
              <a:rPr lang="zh-CN" altLang="en-US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E</a:t>
            </a:r>
            <a:endParaRPr lang="en-US" dirty="0">
              <a:solidFill>
                <a:srgbClr val="FF000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565065" y="1624422"/>
            <a:ext cx="3266015" cy="299480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客户很自然地分为几组</a:t>
            </a:r>
            <a:endParaRPr lang="en-US" altLang="zh-CN" dirty="0"/>
          </a:p>
          <a:p>
            <a:pPr lvl="1"/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Group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A</a:t>
            </a:r>
            <a:r>
              <a:rPr lang="zh-CN" altLang="en-US" dirty="0"/>
              <a:t> 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standard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  <a:r>
              <a:rPr lang="zh-CN" altLang="en-US" dirty="0"/>
              <a:t> 中等收入中等花费 </a:t>
            </a:r>
            <a:endParaRPr lang="en-US" altLang="zh-CN" dirty="0"/>
          </a:p>
          <a:p>
            <a:pPr lvl="1"/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Group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B</a:t>
            </a:r>
            <a:r>
              <a:rPr lang="zh-CN" altLang="en-US" dirty="0"/>
              <a:t> 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sensible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  <a:r>
              <a:rPr lang="zh-CN" altLang="en-US" dirty="0"/>
              <a:t> 较低收入较低花费</a:t>
            </a:r>
            <a:endParaRPr lang="en-US" altLang="zh-CN" dirty="0"/>
          </a:p>
          <a:p>
            <a:pPr lvl="1"/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Group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C</a:t>
            </a:r>
            <a:r>
              <a:rPr lang="zh-CN" altLang="en-US" dirty="0"/>
              <a:t>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careless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  <a:r>
              <a:rPr lang="zh-CN" altLang="en-US" dirty="0"/>
              <a:t> 中等收入中等花费</a:t>
            </a:r>
            <a:endParaRPr lang="en-US" altLang="zh-CN" dirty="0"/>
          </a:p>
          <a:p>
            <a:pPr lvl="1"/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Group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D</a:t>
            </a:r>
            <a:r>
              <a:rPr lang="zh-CN" altLang="en-US" dirty="0"/>
              <a:t> 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target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  <a:r>
              <a:rPr lang="zh-CN" altLang="en-US" dirty="0"/>
              <a:t> 较高收入较高花费</a:t>
            </a:r>
            <a:endParaRPr lang="en-US" altLang="zh-CN" dirty="0"/>
          </a:p>
          <a:p>
            <a:pPr lvl="1"/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Group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E</a:t>
            </a:r>
            <a:r>
              <a:rPr lang="zh-CN" altLang="en-US" dirty="0"/>
              <a:t> 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careful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  <a:r>
              <a:rPr lang="zh-CN" altLang="en-US" dirty="0"/>
              <a:t> 较高收入较低花费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52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聚类应用举例 </a:t>
            </a:r>
            <a:r>
              <a:rPr lang="mr-IN" altLang="zh-CN" dirty="0"/>
              <a:t>–</a:t>
            </a:r>
            <a:r>
              <a:rPr lang="zh-CN" altLang="en-US" dirty="0"/>
              <a:t> 营销中的客户细分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可以进一步地分析不同细分类别客户的特点，指定营销方案</a:t>
            </a:r>
            <a:endParaRPr lang="en-US" altLang="zh-CN" dirty="0"/>
          </a:p>
          <a:p>
            <a:pPr lvl="1"/>
            <a:r>
              <a:rPr lang="zh-CN" altLang="en-US" dirty="0"/>
              <a:t>例如：以</a:t>
            </a:r>
            <a:r>
              <a:rPr lang="en-US" altLang="zh-CN" dirty="0"/>
              <a:t>30</a:t>
            </a:r>
            <a:r>
              <a:rPr lang="zh-CN" altLang="en-US" dirty="0"/>
              <a:t>岁为分界，分析不同细分类别中的年龄构成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62" y="1603094"/>
            <a:ext cx="4729584" cy="3153056"/>
          </a:xfrm>
          <a:prstGeom prst="rect">
            <a:avLst/>
          </a:prstGeom>
        </p:spPr>
      </p:pic>
      <p:sp>
        <p:nvSpPr>
          <p:cNvPr id="6" name="椭圆 6"/>
          <p:cNvSpPr/>
          <p:nvPr/>
        </p:nvSpPr>
        <p:spPr>
          <a:xfrm>
            <a:off x="1400655" y="1827704"/>
            <a:ext cx="997311" cy="1074118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椭圆 6"/>
          <p:cNvSpPr/>
          <p:nvPr/>
        </p:nvSpPr>
        <p:spPr>
          <a:xfrm>
            <a:off x="2911439" y="3293706"/>
            <a:ext cx="2164413" cy="10543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TextBox 7"/>
          <p:cNvSpPr txBox="1"/>
          <p:nvPr/>
        </p:nvSpPr>
        <p:spPr>
          <a:xfrm>
            <a:off x="458281" y="1904043"/>
            <a:ext cx="9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Group</a:t>
            </a:r>
            <a:r>
              <a:rPr lang="zh-CN" altLang="en-US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C</a:t>
            </a:r>
            <a:endParaRPr lang="en-US" dirty="0">
              <a:solidFill>
                <a:srgbClr val="FF000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12012" y="3998109"/>
            <a:ext cx="9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Group</a:t>
            </a:r>
            <a:r>
              <a:rPr lang="zh-CN" altLang="en-US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Calibri" charset="0"/>
                <a:ea typeface="Calibri" charset="0"/>
                <a:cs typeface="Calibri" charset="0"/>
              </a:rPr>
              <a:t>E</a:t>
            </a:r>
            <a:endParaRPr lang="en-US" dirty="0">
              <a:solidFill>
                <a:srgbClr val="FF000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44320" y="1827704"/>
            <a:ext cx="2674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Group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C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主要以哪类人为主？</a:t>
            </a:r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  <a:p>
            <a:pPr marL="342900" indent="-342900">
              <a:buAutoNum type="alphaUcPeriod"/>
            </a:pP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年轻人（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30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岁以下）</a:t>
            </a:r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  <a:p>
            <a:pPr marL="342900" indent="-342900">
              <a:buAutoNum type="alphaUcPeriod"/>
            </a:pP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中年或以上（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30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岁以后）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18565" y="1827704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sp>
        <p:nvSpPr>
          <p:cNvPr id="14" name="Rectangle 13"/>
          <p:cNvSpPr/>
          <p:nvPr/>
        </p:nvSpPr>
        <p:spPr>
          <a:xfrm>
            <a:off x="6144320" y="2943979"/>
            <a:ext cx="2674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Group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E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主要以哪类人为主？</a:t>
            </a:r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  <a:p>
            <a:pPr marL="342900" indent="-342900">
              <a:buAutoNum type="alphaUcPeriod"/>
            </a:pP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年轻人（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30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岁以下）</a:t>
            </a:r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  <a:p>
            <a:pPr marL="342900" indent="-342900">
              <a:buAutoNum type="alphaUcPeriod"/>
            </a:pP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中年或以上（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30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岁以后）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18565" y="2943979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66085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聚类的其它应用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识别犯罪地点</a:t>
            </a:r>
            <a:endParaRPr lang="en-US" altLang="zh-CN" dirty="0"/>
          </a:p>
          <a:p>
            <a:pPr lvl="1"/>
            <a:r>
              <a:rPr lang="zh-CN" altLang="en-US" dirty="0"/>
              <a:t>使用城市中特定地区的相关犯罪数据，分析犯罪类别、犯罪地点以及两者之间的关联</a:t>
            </a:r>
            <a:endParaRPr lang="en-US" altLang="zh-CN" dirty="0"/>
          </a:p>
          <a:p>
            <a:r>
              <a:rPr lang="zh-CN" altLang="en-US" dirty="0"/>
              <a:t>保险欺诈检测</a:t>
            </a:r>
            <a:endParaRPr lang="en-US" altLang="zh-CN" dirty="0"/>
          </a:p>
          <a:p>
            <a:pPr lvl="1"/>
            <a:r>
              <a:rPr lang="zh-CN" altLang="en-US" dirty="0"/>
              <a:t>利用以往欺诈性索赔的历史数据，根据它和欺诈性模式聚类的相似性来识别新的索赔</a:t>
            </a:r>
            <a:endParaRPr lang="en-US" altLang="zh-CN" dirty="0"/>
          </a:p>
          <a:p>
            <a:r>
              <a:rPr lang="zh-CN" altLang="en-US" dirty="0"/>
              <a:t>乘车数据分析</a:t>
            </a:r>
            <a:endParaRPr lang="en-US" altLang="zh-CN" dirty="0"/>
          </a:p>
          <a:p>
            <a:pPr lvl="1"/>
            <a:r>
              <a:rPr lang="zh-CN" altLang="en-US" dirty="0"/>
              <a:t>分析交通出行数据（如滴滴出行数据），有助于我们对城市的交通模式进行深入的了解，来帮助我们做城市未来规划</a:t>
            </a:r>
            <a:endParaRPr lang="en-US" altLang="zh-CN" dirty="0"/>
          </a:p>
          <a:p>
            <a:r>
              <a:rPr lang="en-US" altLang="zh-CN" dirty="0"/>
              <a:t>IT</a:t>
            </a:r>
            <a:r>
              <a:rPr lang="zh-CN" altLang="en-US" dirty="0"/>
              <a:t>警报的自动化聚类</a:t>
            </a:r>
            <a:endParaRPr lang="en-US" altLang="zh-CN" dirty="0"/>
          </a:p>
          <a:p>
            <a:pPr lvl="1"/>
            <a:r>
              <a:rPr lang="zh-CN" altLang="en-US" dirty="0"/>
              <a:t>对</a:t>
            </a:r>
            <a:r>
              <a:rPr lang="en-US" altLang="zh-CN" dirty="0"/>
              <a:t>IT</a:t>
            </a:r>
            <a:r>
              <a:rPr lang="zh-CN" altLang="en-US" dirty="0"/>
              <a:t>基础软件（如网络，存储或数据库）生成大量的警报消息进行聚类，可以对警报类别和修复时间做深入了解，有助于对未来故障进行预测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622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如何定义“距离”？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距离定义取决于具体的数据或分析需求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5" name="Picture 5" descr="C:\WINNT\Profiles\eamonn.000\Desktop\gorilla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165" y="1489930"/>
            <a:ext cx="1113235" cy="1027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C:\WINNT\Profiles\eamonn.000\Desktop\chimp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841" y="1575655"/>
            <a:ext cx="764381" cy="870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695840" y="2884152"/>
            <a:ext cx="1042988" cy="1042988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scene3d>
            <a:camera prst="legacyObliqueBottomLeft"/>
            <a:lightRig rig="legacyFlat3" dir="t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>
              <a:ea typeface="宋体" charset="-122"/>
            </a:endParaRP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6360709" y="2884152"/>
            <a:ext cx="1042988" cy="1042988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scene3d>
            <a:camera prst="legacyObliqueBottomLeft"/>
            <a:lightRig rig="legacyFlat3" dir="t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>
              <a:ea typeface="宋体" charset="-122"/>
            </a:endParaRP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4096140" y="2884152"/>
            <a:ext cx="1042988" cy="1042988"/>
          </a:xfrm>
          <a:prstGeom prst="rect">
            <a:avLst/>
          </a:prstGeom>
          <a:solidFill>
            <a:srgbClr val="969696"/>
          </a:solidFill>
          <a:ln w="9525">
            <a:miter lim="800000"/>
            <a:headEnd/>
            <a:tailEnd/>
          </a:ln>
          <a:scene3d>
            <a:camera prst="legacyObliqueBottomLeft"/>
            <a:lightRig rig="legacyFlat3" dir="t"/>
          </a:scene3d>
          <a:sp3d extrusionH="430200" contourW="127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</p:spPr>
        <p:txBody>
          <a:bodyPr wrap="none" anchor="ctr">
            <a:flatTx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>
              <a:ea typeface="宋体" charset="-122"/>
            </a:endParaRPr>
          </a:p>
        </p:txBody>
      </p:sp>
      <p:sp>
        <p:nvSpPr>
          <p:cNvPr id="10" name="AutoShape 10"/>
          <p:cNvSpPr>
            <a:spLocks noChangeArrowheads="1"/>
          </p:cNvSpPr>
          <p:nvPr/>
        </p:nvSpPr>
        <p:spPr bwMode="auto">
          <a:xfrm rot="-992687">
            <a:off x="1810140" y="2541252"/>
            <a:ext cx="171450" cy="2286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800">
              <a:ea typeface="宋体" charset="-122"/>
            </a:endParaRPr>
          </a:p>
        </p:txBody>
      </p:sp>
      <p:sp>
        <p:nvSpPr>
          <p:cNvPr id="11" name="AutoShape 11"/>
          <p:cNvSpPr>
            <a:spLocks noChangeArrowheads="1"/>
          </p:cNvSpPr>
          <p:nvPr/>
        </p:nvSpPr>
        <p:spPr bwMode="auto">
          <a:xfrm rot="-992687">
            <a:off x="4153290" y="2541252"/>
            <a:ext cx="171450" cy="2286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800">
              <a:ea typeface="宋体" charset="-122"/>
            </a:endParaRPr>
          </a:p>
        </p:txBody>
      </p:sp>
      <p:sp>
        <p:nvSpPr>
          <p:cNvPr id="12" name="AutoShape 12"/>
          <p:cNvSpPr>
            <a:spLocks noChangeArrowheads="1"/>
          </p:cNvSpPr>
          <p:nvPr/>
        </p:nvSpPr>
        <p:spPr bwMode="auto">
          <a:xfrm rot="-992687">
            <a:off x="6475009" y="2541252"/>
            <a:ext cx="171450" cy="2286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800">
              <a:ea typeface="宋体" charset="-122"/>
            </a:endParaRPr>
          </a:p>
        </p:txBody>
      </p:sp>
      <p:sp>
        <p:nvSpPr>
          <p:cNvPr id="13" name="AutoShape 13"/>
          <p:cNvSpPr>
            <a:spLocks noChangeArrowheads="1"/>
          </p:cNvSpPr>
          <p:nvPr/>
        </p:nvSpPr>
        <p:spPr bwMode="auto">
          <a:xfrm rot="992687" flipH="1">
            <a:off x="2553090" y="2541252"/>
            <a:ext cx="171450" cy="2286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800">
              <a:ea typeface="宋体" charset="-122"/>
            </a:endParaRP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 rot="992687" flipH="1">
            <a:off x="4978394" y="2541252"/>
            <a:ext cx="171450" cy="2286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800">
              <a:ea typeface="宋体" charset="-122"/>
            </a:endParaRPr>
          </a:p>
        </p:txBody>
      </p:sp>
      <p:sp>
        <p:nvSpPr>
          <p:cNvPr id="15" name="AutoShape 15"/>
          <p:cNvSpPr>
            <a:spLocks noChangeArrowheads="1"/>
          </p:cNvSpPr>
          <p:nvPr/>
        </p:nvSpPr>
        <p:spPr bwMode="auto">
          <a:xfrm rot="992687" flipH="1">
            <a:off x="7217959" y="2541252"/>
            <a:ext cx="171450" cy="22860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800">
              <a:ea typeface="宋体" charset="-122"/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917297" y="4277183"/>
            <a:ext cx="5886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charset="-122"/>
              </a:rPr>
              <a:t>0.23</a:t>
            </a:r>
          </a:p>
        </p:txBody>
      </p:sp>
      <p:sp>
        <p:nvSpPr>
          <p:cNvPr id="17" name="AutoShape 17"/>
          <p:cNvSpPr>
            <a:spLocks noChangeArrowheads="1"/>
          </p:cNvSpPr>
          <p:nvPr/>
        </p:nvSpPr>
        <p:spPr bwMode="auto">
          <a:xfrm rot="21550572" flipH="1">
            <a:off x="2024453" y="4112877"/>
            <a:ext cx="171450" cy="17145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800">
              <a:ea typeface="宋体" charset="-122"/>
            </a:endParaRP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4394987" y="4277183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charset="-122"/>
              </a:rPr>
              <a:t>3</a:t>
            </a:r>
          </a:p>
        </p:txBody>
      </p:sp>
      <p:sp>
        <p:nvSpPr>
          <p:cNvPr id="19" name="AutoShape 19"/>
          <p:cNvSpPr>
            <a:spLocks noChangeArrowheads="1"/>
          </p:cNvSpPr>
          <p:nvPr/>
        </p:nvSpPr>
        <p:spPr bwMode="auto">
          <a:xfrm rot="21550572" flipH="1">
            <a:off x="4424753" y="4112877"/>
            <a:ext cx="171450" cy="17145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800">
              <a:ea typeface="宋体" charset="-122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6546447" y="4277183"/>
            <a:ext cx="70403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ea typeface="宋体" charset="-122"/>
              </a:rPr>
              <a:t>342.7</a:t>
            </a:r>
          </a:p>
        </p:txBody>
      </p:sp>
      <p:sp>
        <p:nvSpPr>
          <p:cNvPr id="21" name="AutoShape 21"/>
          <p:cNvSpPr>
            <a:spLocks noChangeArrowheads="1"/>
          </p:cNvSpPr>
          <p:nvPr/>
        </p:nvSpPr>
        <p:spPr bwMode="auto">
          <a:xfrm rot="21550572" flipH="1">
            <a:off x="6746471" y="4112877"/>
            <a:ext cx="171450" cy="17145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800">
              <a:ea typeface="宋体" charset="-122"/>
            </a:endParaRP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3696091" y="2049524"/>
            <a:ext cx="994183" cy="415498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100" b="1">
                <a:latin typeface="Courier New" charset="0"/>
                <a:ea typeface="宋体" charset="-122"/>
              </a:rPr>
              <a:t>Kasun</a:t>
            </a:r>
          </a:p>
        </p:txBody>
      </p:sp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4721219" y="2049524"/>
            <a:ext cx="994183" cy="415498"/>
          </a:xfrm>
          <a:prstGeom prst="rect">
            <a:avLst/>
          </a:pr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100" b="1">
                <a:latin typeface="Courier New" charset="0"/>
                <a:ea typeface="宋体" charset="-122"/>
              </a:rPr>
              <a:t>Kiosn</a:t>
            </a:r>
          </a:p>
        </p:txBody>
      </p:sp>
      <p:pic>
        <p:nvPicPr>
          <p:cNvPr id="24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228" y="1533983"/>
            <a:ext cx="950119" cy="950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059" y="1533983"/>
            <a:ext cx="950119" cy="950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288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 noChangeArrowheads="1"/>
          </p:cNvSpPr>
          <p:nvPr>
            <p:ph type="title"/>
          </p:nvPr>
        </p:nvSpPr>
        <p:spPr>
          <a:xfrm>
            <a:off x="1657350" y="285750"/>
            <a:ext cx="5829300" cy="571500"/>
          </a:xfrm>
        </p:spPr>
        <p:txBody>
          <a:bodyPr/>
          <a:lstStyle/>
          <a:p>
            <a:r>
              <a:rPr lang="zh-CN" altLang="en-US" dirty="0"/>
              <a:t>距离度量函数</a:t>
            </a:r>
          </a:p>
        </p:txBody>
      </p:sp>
      <p:pic>
        <p:nvPicPr>
          <p:cNvPr id="10244" name="图片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24"/>
          <a:stretch/>
        </p:blipFill>
        <p:spPr bwMode="auto">
          <a:xfrm>
            <a:off x="323071" y="1023645"/>
            <a:ext cx="5480569" cy="3595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矩形 4"/>
          <p:cNvSpPr>
            <a:spLocks noChangeArrowheads="1"/>
          </p:cNvSpPr>
          <p:nvPr/>
        </p:nvSpPr>
        <p:spPr bwMode="auto">
          <a:xfrm>
            <a:off x="4260590" y="3732245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>
                <a:solidFill>
                  <a:srgbClr val="CC0000"/>
                </a:solidFill>
                <a:latin typeface="Arial" charset="0"/>
                <a:ea typeface="宋体" charset="-122"/>
              </a:rPr>
              <a:t>闵可夫斯基</a:t>
            </a:r>
            <a:endParaRPr lang="zh-CN" altLang="en-US" sz="1800">
              <a:ea typeface="宋体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12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349593" y="1370504"/>
                <a:ext cx="2674400" cy="23547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solidFill>
                      <a:srgbClr val="C00000"/>
                    </a:solidFill>
                    <a:latin typeface="Helvetica Neue" charset="0"/>
                  </a:rPr>
                  <a:t>请计算</a:t>
                </a:r>
                <a:r>
                  <a:rPr lang="en-US" altLang="zh-CN" sz="1600" dirty="0">
                    <a:solidFill>
                      <a:srgbClr val="C00000"/>
                    </a:solidFill>
                    <a:latin typeface="Calibri" charset="0"/>
                    <a:ea typeface="Calibri" charset="0"/>
                    <a:cs typeface="Calibri" charset="0"/>
                  </a:rPr>
                  <a:t>(1,1)</a:t>
                </a:r>
                <a:r>
                  <a:rPr lang="zh-CN" altLang="en-US" sz="1600" dirty="0">
                    <a:solidFill>
                      <a:srgbClr val="C00000"/>
                    </a:solidFill>
                    <a:latin typeface="Helvetica Neue" charset="0"/>
                  </a:rPr>
                  <a:t>与</a:t>
                </a:r>
                <a:r>
                  <a:rPr lang="en-US" altLang="zh-CN" sz="1600" dirty="0">
                    <a:solidFill>
                      <a:srgbClr val="C00000"/>
                    </a:solidFill>
                    <a:latin typeface="Calibri" charset="0"/>
                    <a:ea typeface="Calibri" charset="0"/>
                    <a:cs typeface="Calibri" charset="0"/>
                  </a:rPr>
                  <a:t>(3,3)</a:t>
                </a:r>
                <a:r>
                  <a:rPr lang="zh-CN" altLang="en-US" sz="1600" dirty="0">
                    <a:solidFill>
                      <a:srgbClr val="C00000"/>
                    </a:solidFill>
                    <a:latin typeface="Helvetica Neue" charset="0"/>
                  </a:rPr>
                  <a:t>两个数据点的欧式距离</a:t>
                </a:r>
                <a:endParaRPr lang="en-US" altLang="zh-CN" sz="1600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4</m:t>
                    </m:r>
                  </m:oMath>
                </a14:m>
                <a:endParaRPr lang="en-US" altLang="zh-CN" sz="1600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8</m:t>
                        </m:r>
                      </m:e>
                    </m:rad>
                  </m:oMath>
                </a14:m>
                <a:endParaRPr lang="en-US" altLang="zh-CN" sz="1600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pPr marL="342900" indent="-342900">
                  <a:buAutoNum type="alphaUcPeriod"/>
                </a:pPr>
                <a:endParaRPr lang="en-US" altLang="zh-CN" sz="1600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r>
                  <a:rPr lang="zh-CN" altLang="en-US" sz="1600" dirty="0">
                    <a:solidFill>
                      <a:srgbClr val="C00000"/>
                    </a:solidFill>
                    <a:latin typeface="Helvetica Neue" charset="0"/>
                  </a:rPr>
                  <a:t>请计算</a:t>
                </a:r>
                <a:r>
                  <a:rPr lang="en-US" altLang="zh-CN" sz="1600" dirty="0">
                    <a:solidFill>
                      <a:srgbClr val="C00000"/>
                    </a:solidFill>
                    <a:latin typeface="Calibri" charset="0"/>
                    <a:ea typeface="Calibri" charset="0"/>
                    <a:cs typeface="Calibri" charset="0"/>
                  </a:rPr>
                  <a:t>(1,1)</a:t>
                </a:r>
                <a:r>
                  <a:rPr lang="zh-CN" altLang="en-US" sz="1600" dirty="0">
                    <a:solidFill>
                      <a:srgbClr val="C00000"/>
                    </a:solidFill>
                    <a:latin typeface="Helvetica Neue" charset="0"/>
                  </a:rPr>
                  <a:t>与</a:t>
                </a:r>
                <a:r>
                  <a:rPr lang="en-US" altLang="zh-CN" sz="1600" dirty="0">
                    <a:solidFill>
                      <a:srgbClr val="C00000"/>
                    </a:solidFill>
                    <a:latin typeface="Calibri" charset="0"/>
                    <a:ea typeface="Calibri" charset="0"/>
                    <a:cs typeface="Calibri" charset="0"/>
                  </a:rPr>
                  <a:t>(3,3)</a:t>
                </a:r>
                <a:r>
                  <a:rPr lang="zh-CN" altLang="en-US" sz="1600" dirty="0">
                    <a:solidFill>
                      <a:srgbClr val="C00000"/>
                    </a:solidFill>
                    <a:latin typeface="Helvetica Neue" charset="0"/>
                  </a:rPr>
                  <a:t>两个数据点的曼哈顿距离</a:t>
                </a:r>
                <a:endParaRPr lang="en-US" altLang="zh-CN" sz="1600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charset="0"/>
                      </a:rPr>
                      <m:t>4</m:t>
                    </m:r>
                  </m:oMath>
                </a14:m>
                <a:endParaRPr lang="en-US" altLang="zh-CN" sz="1600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pPr marL="342900" indent="-342900">
                  <a:buAutoNum type="alphaUcPeriod"/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8</m:t>
                        </m:r>
                      </m:e>
                    </m:rad>
                  </m:oMath>
                </a14:m>
                <a:endParaRPr lang="en-US" altLang="zh-CN" sz="1600" dirty="0">
                  <a:solidFill>
                    <a:srgbClr val="C00000"/>
                  </a:solidFill>
                  <a:latin typeface="Helvetica Neue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593" y="1370504"/>
                <a:ext cx="2674400" cy="2354747"/>
              </a:xfrm>
              <a:prstGeom prst="rect">
                <a:avLst/>
              </a:prstGeom>
              <a:blipFill rotWithShape="0">
                <a:blip r:embed="rId3"/>
                <a:stretch>
                  <a:fillRect l="-1370" t="-1295" b="-33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5803640" y="1378739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77231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聚类算法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3805" y="963308"/>
            <a:ext cx="3666930" cy="3792841"/>
          </a:xfrm>
        </p:spPr>
        <p:txBody>
          <a:bodyPr/>
          <a:lstStyle/>
          <a:p>
            <a:r>
              <a:rPr lang="zh-CN" altLang="en-US" dirty="0"/>
              <a:t>层次聚类（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Hierarchical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sz="1700" dirty="0"/>
              <a:t>自下而上：从每个数据实例出发，逐渐聚成更大的类簇</a:t>
            </a:r>
            <a:endParaRPr lang="en-US" altLang="zh-CN" sz="1700" dirty="0"/>
          </a:p>
          <a:p>
            <a:pPr lvl="1"/>
            <a:r>
              <a:rPr lang="zh-CN" altLang="en-US" sz="1700" dirty="0"/>
              <a:t>自顶而下：从整个数据集出发，逐渐划分为细分的类簇</a:t>
            </a:r>
            <a:endParaRPr lang="en-US" altLang="zh-CN" sz="1700" dirty="0"/>
          </a:p>
          <a:p>
            <a:r>
              <a:rPr lang="zh-CN" altLang="en-US" dirty="0"/>
              <a:t>划分聚类（</a:t>
            </a:r>
            <a:r>
              <a:rPr lang="en-US" altLang="zh-CN" dirty="0" err="1">
                <a:latin typeface="Calibri" charset="0"/>
                <a:ea typeface="Calibri" charset="0"/>
                <a:cs typeface="Calibri" charset="0"/>
              </a:rPr>
              <a:t>Partitional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sz="1700" dirty="0"/>
              <a:t>直接对数据进行划分，形成类簇，也可用于层次聚类</a:t>
            </a:r>
            <a:endParaRPr lang="en-US" altLang="zh-CN" sz="1700" dirty="0"/>
          </a:p>
          <a:p>
            <a:r>
              <a:rPr lang="zh-CN" altLang="en-US" dirty="0"/>
              <a:t>贝叶斯聚类（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Bayesian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通过对数据进行划分，生成数据的后验数据分布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5" name="图片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89" y="963309"/>
            <a:ext cx="4951054" cy="3648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4909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聚类结果评价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对聚类结果评价很困难，原因在于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我们没有正确答案</a:t>
                </a:r>
                <a:endParaRPr lang="en-US" altLang="zh-CN" dirty="0"/>
              </a:p>
              <a:p>
                <a:r>
                  <a:rPr lang="zh-CN" altLang="en-US" dirty="0"/>
                  <a:t>间接评价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将聚类结果用于其他应用（如搜索排序），评价对其他应用效果的提升幅度</a:t>
                </a:r>
                <a:endParaRPr lang="en-US" altLang="zh-CN" dirty="0"/>
              </a:p>
              <a:p>
                <a:r>
                  <a:rPr lang="zh-CN" altLang="en-US" dirty="0"/>
                  <a:t>直接评价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假设每一个簇就是一个类别，则可以利用标注好的数据对聚类算法进行评价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根据聚类结果与标注数据构造</a:t>
                </a:r>
                <a:r>
                  <a:rPr lang="en-US" altLang="zh-CN" dirty="0"/>
                  <a:t>confusion matrix</a:t>
                </a:r>
              </a:p>
              <a:p>
                <a:pPr lvl="2"/>
                <a:r>
                  <a:rPr lang="zh-CN" altLang="en-US" dirty="0"/>
                  <a:t>假设数据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被标注成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个类别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聚类结果将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划分为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个簇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,⋯, 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9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评价方法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熵</a:t>
                </a:r>
                <a:r>
                  <a:rPr lang="en-US" altLang="zh-CN" dirty="0"/>
                  <a:t>(entropy)</a:t>
                </a:r>
              </a:p>
              <a:p>
                <a:pPr lvl="1"/>
                <a:r>
                  <a:rPr lang="zh-CN" altLang="en-US" dirty="0"/>
                  <a:t>单个簇的熵定义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func>
                                  <m:func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b="0" i="0" smtClean="0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func>
                          </m:e>
                        </m:func>
                      </m:e>
                    </m:nary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zh-CN" altLang="en-US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中标注为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的数据比例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聚类结果的总体熵为</a:t>
                </a:r>
                <a:endParaRPr lang="en-US" altLang="zh-CN" dirty="0"/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簇的纯度</a:t>
                </a:r>
                <a:r>
                  <a:rPr lang="en-US" altLang="zh-CN" dirty="0"/>
                  <a:t>(purity)</a:t>
                </a:r>
              </a:p>
              <a:p>
                <a:pPr lvl="1"/>
                <a:r>
                  <a:rPr lang="zh-CN" altLang="en-US" dirty="0">
                    <a:cs typeface="Times New Roman" panose="02020603050405020304" pitchFamily="18" charset="0"/>
                  </a:rPr>
                  <a:t>单个簇的纯度定义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purity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聚类结果的总体纯度</a:t>
                </a:r>
                <a:endParaRPr lang="en-US" altLang="zh-CN" dirty="0"/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purity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purity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1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133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课上练习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860360"/>
          </a:xfrm>
        </p:spPr>
        <p:txBody>
          <a:bodyPr/>
          <a:lstStyle/>
          <a:p>
            <a:r>
              <a:rPr lang="zh-CN" altLang="en-US" dirty="0"/>
              <a:t>考虑有</a:t>
            </a:r>
            <a:r>
              <a:rPr lang="en-US" altLang="zh-CN" dirty="0"/>
              <a:t>900</a:t>
            </a:r>
            <a:r>
              <a:rPr lang="zh-CN" altLang="en-US" dirty="0"/>
              <a:t>篇文档，来自</a:t>
            </a:r>
            <a:r>
              <a:rPr lang="en-US" altLang="zh-CN" dirty="0"/>
              <a:t>Science</a:t>
            </a:r>
            <a:r>
              <a:rPr lang="zh-CN" altLang="en-US" dirty="0"/>
              <a:t>、</a:t>
            </a:r>
            <a:r>
              <a:rPr lang="en-US" altLang="zh-CN" dirty="0"/>
              <a:t>Sports</a:t>
            </a:r>
            <a:r>
              <a:rPr lang="zh-CN" altLang="en-US" dirty="0"/>
              <a:t>和</a:t>
            </a:r>
            <a:r>
              <a:rPr lang="en-US" altLang="zh-CN" dirty="0"/>
              <a:t>Politics</a:t>
            </a:r>
            <a:r>
              <a:rPr lang="zh-CN" altLang="en-US" dirty="0"/>
              <a:t>三个类别，每个类别</a:t>
            </a:r>
            <a:r>
              <a:rPr lang="en-US" altLang="zh-CN" dirty="0"/>
              <a:t>300</a:t>
            </a:r>
            <a:r>
              <a:rPr lang="zh-CN" altLang="en-US" dirty="0"/>
              <a:t>篇文档。如果聚类结果如下，请计算评测指标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107838" y="1604164"/>
                <a:ext cx="3102772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8" y="1604164"/>
                <a:ext cx="3102772" cy="66620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336669" y="1604164"/>
                <a:ext cx="3997633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purity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purity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69" y="1604164"/>
                <a:ext cx="3997633" cy="66620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4481" y="2464524"/>
            <a:ext cx="5952931" cy="1999779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4711959" y="3055386"/>
            <a:ext cx="1772816" cy="13020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668883" y="2716060"/>
            <a:ext cx="23413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Helvetica Neue" charset="0"/>
              </a:rPr>
              <a:t>计算</a:t>
            </a:r>
            <a:r>
              <a:rPr lang="en-US" altLang="zh-CN" sz="16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Cluster</a:t>
            </a:r>
            <a:r>
              <a:rPr lang="zh-CN" altLang="en-US" sz="16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1</a:t>
            </a:r>
            <a:r>
              <a:rPr lang="zh-CN" altLang="en-US" sz="1600" dirty="0">
                <a:solidFill>
                  <a:srgbClr val="C00000"/>
                </a:solidFill>
                <a:latin typeface="Helvetica Neue" charset="0"/>
              </a:rPr>
              <a:t>的</a:t>
            </a:r>
            <a:r>
              <a:rPr lang="en-US" altLang="zh-CN" sz="16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Purity</a:t>
            </a:r>
          </a:p>
          <a:p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0.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893</a:t>
            </a:r>
          </a:p>
          <a:p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0.643</a:t>
            </a:r>
            <a:endParaRPr lang="zh-CN" altLang="en-US" sz="1600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52051" y="2192840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sp>
        <p:nvSpPr>
          <p:cNvPr id="11" name="Rectangle 10"/>
          <p:cNvSpPr/>
          <p:nvPr/>
        </p:nvSpPr>
        <p:spPr>
          <a:xfrm>
            <a:off x="6668883" y="3651309"/>
            <a:ext cx="23413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  <a:latin typeface="Helvetica Neue" charset="0"/>
              </a:rPr>
              <a:t>计算</a:t>
            </a:r>
            <a:r>
              <a:rPr lang="en-US" altLang="zh-CN" sz="16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Cluster</a:t>
            </a:r>
            <a:r>
              <a:rPr lang="zh-CN" altLang="en-US" sz="16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1</a:t>
            </a:r>
            <a:r>
              <a:rPr lang="zh-CN" altLang="en-US" sz="1600" dirty="0">
                <a:solidFill>
                  <a:srgbClr val="C00000"/>
                </a:solidFill>
                <a:latin typeface="Helvetica Neue" charset="0"/>
              </a:rPr>
              <a:t>的</a:t>
            </a:r>
            <a:r>
              <a:rPr lang="en-US" altLang="zh-CN" sz="1600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Entropy</a:t>
            </a:r>
          </a:p>
          <a:p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0.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588</a:t>
            </a:r>
          </a:p>
          <a:p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1.198</a:t>
            </a:r>
            <a:endParaRPr lang="zh-CN" altLang="en-US" sz="1600" b="1" dirty="0">
              <a:solidFill>
                <a:srgbClr val="C00000"/>
              </a:solidFill>
              <a:latin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714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课上练习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860360"/>
          </a:xfrm>
        </p:spPr>
        <p:txBody>
          <a:bodyPr/>
          <a:lstStyle/>
          <a:p>
            <a:r>
              <a:rPr lang="zh-CN" altLang="en-US" dirty="0"/>
              <a:t>考虑有</a:t>
            </a:r>
            <a:r>
              <a:rPr lang="en-US" altLang="zh-CN" dirty="0"/>
              <a:t>900</a:t>
            </a:r>
            <a:r>
              <a:rPr lang="zh-CN" altLang="en-US" dirty="0"/>
              <a:t>篇文档，来自</a:t>
            </a:r>
            <a:r>
              <a:rPr lang="en-US" altLang="zh-CN" dirty="0"/>
              <a:t>Science</a:t>
            </a:r>
            <a:r>
              <a:rPr lang="zh-CN" altLang="en-US" dirty="0"/>
              <a:t>、</a:t>
            </a:r>
            <a:r>
              <a:rPr lang="en-US" altLang="zh-CN" dirty="0"/>
              <a:t>Sports</a:t>
            </a:r>
            <a:r>
              <a:rPr lang="zh-CN" altLang="en-US" dirty="0"/>
              <a:t>和</a:t>
            </a:r>
            <a:r>
              <a:rPr lang="en-US" altLang="zh-CN" dirty="0"/>
              <a:t>Politics</a:t>
            </a:r>
            <a:r>
              <a:rPr lang="zh-CN" altLang="en-US" dirty="0"/>
              <a:t>三个类别，每个类别</a:t>
            </a:r>
            <a:r>
              <a:rPr lang="en-US" altLang="zh-CN" dirty="0"/>
              <a:t>300</a:t>
            </a:r>
            <a:r>
              <a:rPr lang="zh-CN" altLang="en-US" dirty="0"/>
              <a:t>篇文档。如果聚类结果如下，请计算评测指标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107838" y="1604164"/>
                <a:ext cx="3102772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7838" y="1604164"/>
                <a:ext cx="3102772" cy="66620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336669" y="1604164"/>
                <a:ext cx="3997633" cy="6662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purity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purity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669" y="1604164"/>
                <a:ext cx="3997633" cy="66620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4481" y="2464524"/>
            <a:ext cx="5952931" cy="1999779"/>
          </a:xfrm>
          <a:prstGeom prst="rect">
            <a:avLst/>
          </a:prstGeo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086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8F84-D28B-8942-B164-3AFD2C39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常见的评价指标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3D528-9FA1-CB4D-9B9B-FE716A7A0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91" y="819150"/>
            <a:ext cx="7048617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9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聚类问题及其算法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001143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聚类问题及其评测方法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聚类算法</a:t>
            </a:r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K-Means</a:t>
            </a: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软聚类算法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EM</a:t>
            </a: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案例分析：聚类算法实践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371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49"/>
            <a:ext cx="8229600" cy="1492895"/>
          </a:xfrm>
        </p:spPr>
        <p:txBody>
          <a:bodyPr>
            <a:normAutofit/>
          </a:bodyPr>
          <a:lstStyle/>
          <a:p>
            <a:r>
              <a:rPr lang="zh-CN" altLang="en-US" dirty="0"/>
              <a:t>最著名的聚类算法</a:t>
            </a:r>
            <a:endParaRPr lang="en-US" altLang="zh-CN" dirty="0"/>
          </a:p>
          <a:p>
            <a:pPr lvl="1"/>
            <a:r>
              <a:rPr lang="zh-CN" altLang="en-US" dirty="0"/>
              <a:t>基于数据划分，将每个数据点划分到一个簇中，目标是最小化类内距，以及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最大化类间距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形式化定义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77685" y="2426343"/>
                <a:ext cx="19094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=(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𝑁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685" y="2426343"/>
                <a:ext cx="1909497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2236" t="-2222" r="-4153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971339" y="2809178"/>
                <a:ext cx="1384032" cy="1126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1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ctrlPr>
                            <a:rPr lang="mr-IN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charset="0"/>
                                      </a:rPr>
                                      <m:t>𝑖</m:t>
                                    </m:r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𝑖𝑑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339" y="2809178"/>
                <a:ext cx="1384032" cy="11269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572000" y="3329761"/>
                <a:ext cx="3265766" cy="566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𝐽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is-I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𝑛𝑘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mr-IN" altLang="zh-CN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329761"/>
                <a:ext cx="3265766" cy="566886"/>
              </a:xfrm>
              <a:prstGeom prst="rect">
                <a:avLst/>
              </a:prstGeom>
              <a:blipFill>
                <a:blip r:embed="rId5"/>
                <a:stretch>
                  <a:fillRect l="-12791" t="-175556" b="-25777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572000" y="2956536"/>
            <a:ext cx="3403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最小化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(sum of squared error)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128703" y="2232253"/>
                <a:ext cx="3942183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将数据点分到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个类簇，每个类簇的代表点（中心点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centroid</a:t>
                </a:r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）表示为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zh-CN" altLang="en-US" b="1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𝝁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703" y="2232253"/>
                <a:ext cx="3942183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1236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128703" y="3968522"/>
                <a:ext cx="4610971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数据点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被分到第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个类簇表示为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𝑛𝑘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=1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，否则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𝑛𝑘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0</m:t>
                    </m:r>
                  </m:oMath>
                </a14:m>
                <a:endParaRPr lang="en-US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703" y="3968522"/>
                <a:ext cx="4610971" cy="646331"/>
              </a:xfrm>
              <a:prstGeom prst="rect">
                <a:avLst/>
              </a:prstGeom>
              <a:blipFill rotWithShape="0">
                <a:blip r:embed="rId7"/>
                <a:stretch>
                  <a:fillRect l="-1057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971339" y="4066721"/>
                <a:ext cx="81522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参数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𝐾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339" y="4066721"/>
                <a:ext cx="815223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5970"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0"/>
          <p:cNvSpPr/>
          <p:nvPr/>
        </p:nvSpPr>
        <p:spPr>
          <a:xfrm>
            <a:off x="3433665" y="3088432"/>
            <a:ext cx="345233" cy="699796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91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如何优化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优化目标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找到最优的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𝑛𝑘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{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zh-CN" b="1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dirty="0" smtClean="0">
                        <a:latin typeface="Cambria Math" charset="0"/>
                      </a:rPr>
                      <m:t>}</m:t>
                    </m:r>
                  </m:oMath>
                </a14:m>
                <a:r>
                  <a:rPr lang="zh-CN" altLang="en-US" dirty="0"/>
                  <a:t> ，使得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𝐽</m:t>
                    </m:r>
                  </m:oMath>
                </a14:m>
                <a:r>
                  <a:rPr lang="zh-CN" altLang="en-US" dirty="0"/>
                  <a:t> 最小化</a:t>
                </a:r>
                <a:endParaRPr lang="en-US" altLang="zh-CN" dirty="0"/>
              </a:p>
              <a:p>
                <a:endParaRPr lang="en-US" altLang="zh-CN" dirty="0"/>
              </a:p>
              <a:p>
                <a:pPr>
                  <a:spcBef>
                    <a:spcPts val="1080"/>
                  </a:spcBef>
                </a:pPr>
                <a:r>
                  <a:rPr lang="zh-CN" altLang="en-US" dirty="0"/>
                  <a:t>交替优化</a:t>
                </a:r>
                <a:endParaRPr lang="en-US" altLang="zh-CN" dirty="0"/>
              </a:p>
              <a:p>
                <a:pPr lvl="1">
                  <a:spcAft>
                    <a:spcPts val="600"/>
                  </a:spcAft>
                </a:pPr>
                <a:r>
                  <a:rPr lang="zh-CN" altLang="en-US" dirty="0"/>
                  <a:t>迭代式地对参数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</a:rPr>
                              <m:t>𝑛𝑘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{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𝝁</m:t>
                        </m:r>
                      </m:e>
                      <m:sub>
                        <m:r>
                          <a:rPr lang="en-US" altLang="zh-CN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latin typeface="Cambria Math" charset="0"/>
                      </a:rPr>
                      <m:t>}</m:t>
                    </m:r>
                  </m:oMath>
                </a14:m>
                <a:r>
                  <a:rPr lang="zh-CN" altLang="en-US" dirty="0"/>
                  <a:t>进行优化</a:t>
                </a:r>
                <a:endParaRPr lang="en-US" altLang="zh-CN" dirty="0"/>
              </a:p>
              <a:p>
                <a:pPr lvl="1">
                  <a:spcAft>
                    <a:spcPts val="600"/>
                  </a:spcAft>
                </a:pPr>
                <a:r>
                  <a:rPr lang="zh-CN" altLang="en-US" dirty="0"/>
                  <a:t>首先随机初始化中心点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{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𝝁</m:t>
                        </m:r>
                      </m:e>
                      <m:sub>
                        <m:r>
                          <a:rPr lang="en-US" altLang="zh-CN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latin typeface="Cambria Math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pPr lvl="1">
                  <a:spcAft>
                    <a:spcPts val="600"/>
                  </a:spcAft>
                </a:pPr>
                <a:r>
                  <a:rPr lang="zh-CN" altLang="en-US" dirty="0"/>
                  <a:t>在每个迭代步骤中，包含两个阶段</a:t>
                </a:r>
                <a:endParaRPr lang="en-US" altLang="zh-CN" dirty="0"/>
              </a:p>
              <a:p>
                <a:pPr lvl="2">
                  <a:spcAft>
                    <a:spcPts val="600"/>
                  </a:spcAft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固定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{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𝝁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} 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，优化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𝑛𝑘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，最小化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𝐽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lvl="2">
                  <a:spcAft>
                    <a:spcPts val="600"/>
                  </a:spcAft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固定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𝑛𝑘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，优化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{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𝝁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} </m:t>
                    </m:r>
                  </m:oMath>
                </a14:m>
                <a:r>
                  <a:rPr lang="zh-CN" altLang="en-US" dirty="0">
                    <a:solidFill>
                      <a:srgbClr val="C00000"/>
                    </a:solidFill>
                  </a:rPr>
                  <a:t>，最小化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𝐽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lvl="1">
                  <a:spcAft>
                    <a:spcPts val="600"/>
                  </a:spcAft>
                </a:pPr>
                <a:r>
                  <a:rPr lang="zh-CN" altLang="en-US" dirty="0"/>
                  <a:t>上述两阶段步骤不断重复，直到收敛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21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23322" y="1622259"/>
                <a:ext cx="2488053" cy="440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𝐽</m:t>
                      </m:r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𝑛</m:t>
                          </m:r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is-I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𝑘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sz="1400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𝑛𝑘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mr-IN" altLang="zh-CN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1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400" b="1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4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322" y="1622259"/>
                <a:ext cx="2488053" cy="440955"/>
              </a:xfrm>
              <a:prstGeom prst="rect">
                <a:avLst/>
              </a:prstGeom>
              <a:blipFill>
                <a:blip r:embed="rId3"/>
                <a:stretch>
                  <a:fillRect l="-13706" t="-169444" r="-508" b="-258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如何优化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5505061" cy="541852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chemeClr val="tx1"/>
                    </a:solidFill>
                  </a:rPr>
                  <a:t>阶段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1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：固定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charset="0"/>
                      </a:rPr>
                      <m:t>{</m:t>
                    </m:r>
                    <m:sSub>
                      <m:sSub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𝝁</m:t>
                        </m:r>
                      </m:e>
                      <m:sub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charset="0"/>
                      </a:rPr>
                      <m:t>} 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，优化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𝑛𝑘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solidFill>
                          <a:schemeClr val="tx1"/>
                        </a:solidFill>
                        <a:latin typeface="Cambria Math" charset="0"/>
                      </a:rPr>
                      <m:t> 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，最小化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charset="0"/>
                      </a:rPr>
                      <m:t>𝐽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342900" lvl="2" indent="-342900"/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5505061" cy="541852"/>
              </a:xfrm>
              <a:blipFill rotWithShape="0">
                <a:blip r:embed="rId3"/>
                <a:stretch>
                  <a:fillRect l="-997" t="-71910" b="-67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22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731155" y="2392403"/>
                <a:ext cx="3208058" cy="566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𝐽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is-IS" altLang="zh-CN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𝑛𝑘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mr-IN" altLang="zh-CN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rgbClr val="C00000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155" y="2392403"/>
                <a:ext cx="3208058" cy="566886"/>
              </a:xfrm>
              <a:prstGeom prst="rect">
                <a:avLst/>
              </a:prstGeom>
              <a:blipFill rotWithShape="0">
                <a:blip r:embed="rId4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143000" y="1473246"/>
                <a:ext cx="3695435" cy="7194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</a:rPr>
                            <m:t>𝑛𝑘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mr-IN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mr-IN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b="0" i="0" smtClean="0">
                                        <a:latin typeface="Cambria Math" charset="0"/>
                                      </a:rPr>
                                      <m:t>if</m:t>
                                    </m:r>
                                    <m:r>
                                      <a:rPr lang="zh-CN" altLang="en-US" b="0" i="1" smtClean="0">
                                        <a:latin typeface="Cambria Math" charset="0"/>
                                      </a:rPr>
                                      <m:t> </m:t>
                                    </m:r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𝑘</m:t>
                                    </m:r>
                                    <m: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=</m:t>
                                    </m:r>
                                    <m:func>
                                      <m:funcPr>
                                        <m:ctrlPr>
                                          <a:rPr lang="zh-CN" alt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b="0" i="0" smtClean="0">
                                            <a:latin typeface="Cambria Math" charset="0"/>
                                          </a:rPr>
                                          <m:t>arg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zh-CN" alt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limLow>
                                              <m:limLow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limLow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b="0" i="0" smtClean="0">
                                                    <a:latin typeface="Cambria Math" charset="0"/>
                                                  </a:rPr>
                                                  <m:t>min</m:t>
                                                </m:r>
                                              </m:e>
                                              <m:lim>
                                                <m:r>
                                                  <a:rPr lang="en-US" altLang="zh-CN" b="0" i="1" smtClean="0">
                                                    <a:latin typeface="Cambria Math" charset="0"/>
                                                  </a:rPr>
                                                  <m:t>𝑗</m:t>
                                                </m:r>
                                              </m:lim>
                                            </m:limLow>
                                          </m:fNam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d>
                                                  <m:dPr>
                                                    <m:begChr m:val="‖"/>
                                                    <m:endChr m:val="‖"/>
                                                    <m:ctrlPr>
                                                      <a:rPr lang="mr-IN" altLang="zh-CN" b="0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CN" b="1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CN" b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𝐱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CN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charset="0"/>
                                                          </a:rPr>
                                                          <m:t>𝑛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altLang="zh-CN" i="1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charset="0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CN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charset="0"/>
                                                            <a:cs typeface="Cambria Math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CN" b="1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charset="0"/>
                                                            <a:ea typeface="Cambria Math" charset="0"/>
                                                            <a:cs typeface="Cambria Math" charset="0"/>
                                                          </a:rPr>
                                                          <m:t>𝝁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CN" i="1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charset="0"/>
                                                            <a:ea typeface="Cambria Math" charset="0"/>
                                                            <a:cs typeface="Cambria Math" charset="0"/>
                                                          </a:rPr>
                                                          <m:t>𝑘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</m:d>
                                              </m:e>
                                              <m:sup>
                                                <m:r>
                                                  <a:rPr lang="en-US" altLang="zh-CN" b="0" i="1" smtClean="0">
                                                    <a:latin typeface="Cambria Math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func>
                                      </m:e>
                                    </m:func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b="0" i="0" smtClean="0">
                                        <a:latin typeface="Cambria Math" charset="0"/>
                                      </a:rPr>
                                      <m:t>otherwise</m:t>
                                    </m:r>
                                    <m:r>
                                      <a:rPr lang="zh-CN" altLang="en-US" b="0" i="0" smtClean="0">
                                        <a:latin typeface="Cambria Math" charset="0"/>
                                      </a:rPr>
                                      <m:t>                              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473246"/>
                <a:ext cx="3695435" cy="71942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/>
              <p:cNvSpPr txBox="1">
                <a:spLocks/>
              </p:cNvSpPr>
              <p:nvPr/>
            </p:nvSpPr>
            <p:spPr>
              <a:xfrm>
                <a:off x="457200" y="2725705"/>
                <a:ext cx="5505061" cy="5418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阶段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：固定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charset="0"/>
                              </a:rPr>
                              <m:t>𝑛𝑘</m:t>
                            </m:r>
                          </m:sub>
                        </m:sSub>
                      </m:e>
                    </m:d>
                    <m:r>
                      <a:rPr lang="en-US" altLang="zh-CN" i="1" dirty="0">
                        <a:latin typeface="Cambria Math" charset="0"/>
                      </a:rPr>
                      <m:t> </m:t>
                    </m:r>
                  </m:oMath>
                </a14:m>
                <a:r>
                  <a:rPr lang="zh-CN" altLang="en-US" dirty="0"/>
                  <a:t>，优化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charset="0"/>
                      </a:rPr>
                      <m:t>{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zh-CN" b="1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𝝁</m:t>
                        </m:r>
                      </m:e>
                      <m:sub>
                        <m:r>
                          <a:rPr lang="en-US" altLang="zh-CN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𝑘</m:t>
                        </m:r>
                      </m:sub>
                    </m:sSub>
                    <m:r>
                      <a:rPr lang="en-US" altLang="zh-CN" i="1" dirty="0">
                        <a:latin typeface="Cambria Math" charset="0"/>
                      </a:rPr>
                      <m:t>}</m:t>
                    </m:r>
                  </m:oMath>
                </a14:m>
                <a:r>
                  <a:rPr lang="zh-CN" altLang="en-US" dirty="0"/>
                  <a:t>，最小化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𝐽</m:t>
                    </m:r>
                  </m:oMath>
                </a14:m>
                <a:endParaRPr lang="en-US" altLang="zh-CN" dirty="0"/>
              </a:p>
              <a:p>
                <a:pPr marL="342900" lvl="2" indent="-342900"/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25705"/>
                <a:ext cx="5505061" cy="541852"/>
              </a:xfrm>
              <a:prstGeom prst="rect">
                <a:avLst/>
              </a:prstGeom>
              <a:blipFill rotWithShape="0">
                <a:blip r:embed="rId6"/>
                <a:stretch>
                  <a:fillRect l="-997" t="-71910" b="-674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245635" y="3295328"/>
                <a:ext cx="3168431" cy="566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=2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𝑛𝑘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)</m:t>
                          </m:r>
                        </m:e>
                      </m:nary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635" y="3295328"/>
                <a:ext cx="3168431" cy="566886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143000" y="4035953"/>
                <a:ext cx="1897314" cy="7201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is-IS" altLang="zh-CN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𝑛𝑘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is-IS" altLang="zh-CN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𝑛𝑘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035953"/>
                <a:ext cx="1897314" cy="720197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 flipV="1">
            <a:off x="4963887" y="1759910"/>
            <a:ext cx="1376501" cy="4643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4963887" y="3100452"/>
            <a:ext cx="1376501" cy="5460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62261" y="1525386"/>
            <a:ext cx="1952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E</a:t>
            </a:r>
            <a:r>
              <a:rPr lang="en-US" altLang="zh-CN" dirty="0"/>
              <a:t>(</a:t>
            </a:r>
            <a:r>
              <a:rPr lang="en-US" altLang="zh-CN" dirty="0" err="1"/>
              <a:t>xpectation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962261" y="3430292"/>
            <a:ext cx="21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M</a:t>
            </a:r>
            <a:r>
              <a:rPr lang="en-US" altLang="zh-CN" dirty="0"/>
              <a:t>(</a:t>
            </a:r>
            <a:r>
              <a:rPr lang="en-US" altLang="zh-CN" dirty="0" err="1"/>
              <a:t>aximization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115275" y="4130840"/>
            <a:ext cx="4450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扩展：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K-Means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是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Expectation-Maximization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(EM)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算法的特殊情况</a:t>
            </a:r>
            <a:endParaRPr lang="en-US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04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</a:rPr>
              <a:t>K-Means</a:t>
            </a:r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439652" y="1229506"/>
                <a:ext cx="6380466" cy="3394472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输入：数据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，簇数目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</a:p>
              <a:p>
                <a:pPr marL="728663" lvl="1" indent="-385763">
                  <a:buFont typeface="+mj-lt"/>
                  <a:buAutoNum type="arabicPeriod"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随机选取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个种子数据点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(seeds)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作为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个簇中心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8663" lvl="1" indent="-385763">
                  <a:buFont typeface="+mj-lt"/>
                  <a:buAutoNum type="arabicPeriod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repeat </a:t>
                </a:r>
              </a:p>
              <a:p>
                <a:pPr marL="728663" lvl="1" indent="-385763">
                  <a:buFont typeface="+mj-lt"/>
                  <a:buAutoNum type="arabicPeriod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altLang="zh-CN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foreach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</a:t>
                </a:r>
              </a:p>
              <a:p>
                <a:pPr marL="728663" lvl="1" indent="-385763">
                  <a:buFont typeface="+mj-lt"/>
                  <a:buAutoNum type="arabicPeriod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计算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𝐱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与每一个簇中心的距离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8663" lvl="1" indent="-385763">
                  <a:buFont typeface="+mj-lt"/>
                  <a:buAutoNum type="arabicPeriod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将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𝐱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指配到距离最近的簇中心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8663" lvl="1" indent="-385763">
                  <a:buFont typeface="+mj-lt"/>
                  <a:buAutoNum type="arabicPeriod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altLang="zh-CN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endfor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8663" lvl="1" indent="-385763">
                  <a:buFont typeface="+mj-lt"/>
                  <a:buAutoNum type="arabicPeriod"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用当前的簇内点重新计算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个簇中心位置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28663" lvl="1" indent="-385763">
                  <a:buFont typeface="+mj-lt"/>
                  <a:buAutoNum type="arabicPeriod"/>
                </a:pP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until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达到终止条件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9652" y="1229506"/>
                <a:ext cx="6380466" cy="3394472"/>
              </a:xfrm>
              <a:blipFill rotWithShape="0">
                <a:blip r:embed="rId2"/>
                <a:stretch>
                  <a:fillRect l="-860" t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23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终止条件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数据不再（很少）被重新指定到不同的簇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中心位置不再发生变化或者变化很小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SSE(sum of squared error)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不再减少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𝝁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第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个簇的中心点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24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96273" y="2220764"/>
                <a:ext cx="3208058" cy="566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𝐽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limLoc m:val="subSup"/>
                              <m:ctrlPr>
                                <a:rPr lang="is-I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𝑘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𝐾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𝑛𝑘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mr-IN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charset="0"/>
                                              <a:ea typeface="Cambria Math" charset="0"/>
                                              <a:cs typeface="Cambria Math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6273" y="2220764"/>
                <a:ext cx="3208058" cy="566886"/>
              </a:xfrm>
              <a:prstGeom prst="rect">
                <a:avLst/>
              </a:prstGeom>
              <a:blipFill rotWithShape="0">
                <a:blip r:embed="rId3"/>
                <a:stretch>
                  <a:fillRect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299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" panose="02020603050405020304" pitchFamily="18" charset="0"/>
                <a:cs typeface="Times" panose="02020603050405020304" pitchFamily="18" charset="0"/>
              </a:rPr>
              <a:t>K-Means</a:t>
            </a:r>
            <a:r>
              <a:rPr lang="zh-CN" altLang="en-US" dirty="0">
                <a:latin typeface="Times" panose="02020603050405020304" pitchFamily="18" charset="0"/>
                <a:cs typeface="Times" panose="02020603050405020304" pitchFamily="18" charset="0"/>
              </a:rPr>
              <a:t>运行过程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31995" y="345235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初始中心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521" y="1423118"/>
            <a:ext cx="1981544" cy="170996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17" y="1322532"/>
            <a:ext cx="1981544" cy="1911134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798999" y="345235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数据划分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181" y="1423118"/>
            <a:ext cx="1981544" cy="170996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947659" y="345123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更新中心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256" y="1373663"/>
            <a:ext cx="1981544" cy="1709962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834253" y="3451238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更新数据划分</a:t>
            </a:r>
          </a:p>
        </p:txBody>
      </p:sp>
    </p:spTree>
    <p:extLst>
      <p:ext uri="{BB962C8B-B14F-4D97-AF65-F5344CB8AC3E}">
        <p14:creationId xmlns:p14="http://schemas.microsoft.com/office/powerpoint/2010/main" val="144179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79" descr="sample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51435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39" name="TextBox 80"/>
          <p:cNvSpPr txBox="1">
            <a:spLocks noChangeArrowheads="1"/>
          </p:cNvSpPr>
          <p:nvPr/>
        </p:nvSpPr>
        <p:spPr bwMode="auto">
          <a:xfrm>
            <a:off x="3200400" y="0"/>
            <a:ext cx="480060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300" dirty="0">
                <a:ea typeface="宋体" charset="-122"/>
              </a:rPr>
              <a:t>Example - The data points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90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sample1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51435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TextBox 3"/>
          <p:cNvSpPr txBox="1">
            <a:spLocks noChangeArrowheads="1"/>
          </p:cNvSpPr>
          <p:nvPr/>
        </p:nvSpPr>
        <p:spPr bwMode="auto">
          <a:xfrm>
            <a:off x="5657850" y="0"/>
            <a:ext cx="234315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300">
                <a:ea typeface="宋体" charset="-122"/>
              </a:rPr>
              <a:t>Initialization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82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sample2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51435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7" name="TextBox 3"/>
          <p:cNvSpPr txBox="1">
            <a:spLocks noChangeArrowheads="1"/>
          </p:cNvSpPr>
          <p:nvPr/>
        </p:nvSpPr>
        <p:spPr bwMode="auto">
          <a:xfrm>
            <a:off x="6115050" y="0"/>
            <a:ext cx="188595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300">
                <a:ea typeface="宋体" charset="-122"/>
              </a:rPr>
              <a:t>#Runs = 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02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sample4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51435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5"/>
          <p:cNvSpPr txBox="1">
            <a:spLocks noChangeArrowheads="1"/>
          </p:cNvSpPr>
          <p:nvPr/>
        </p:nvSpPr>
        <p:spPr bwMode="auto">
          <a:xfrm>
            <a:off x="6115050" y="0"/>
            <a:ext cx="188595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300">
                <a:ea typeface="宋体" charset="-122"/>
              </a:rPr>
              <a:t>#Runs = 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51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sample4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51435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5" name="TextBox 4"/>
          <p:cNvSpPr txBox="1">
            <a:spLocks noChangeArrowheads="1"/>
          </p:cNvSpPr>
          <p:nvPr/>
        </p:nvSpPr>
        <p:spPr bwMode="auto">
          <a:xfrm>
            <a:off x="6115050" y="0"/>
            <a:ext cx="188595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300">
                <a:ea typeface="宋体" charset="-122"/>
              </a:rPr>
              <a:t>#Runs = 3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考虑以下</a:t>
            </a:r>
            <a:r>
              <a:rPr lang="en-US" altLang="zh-CN" dirty="0"/>
              <a:t>K-Means</a:t>
            </a:r>
            <a:r>
              <a:rPr lang="zh-CN" altLang="en-US" dirty="0"/>
              <a:t>聚类问题</a:t>
            </a:r>
            <a:endParaRPr lang="fi-FI" dirty="0"/>
          </a:p>
          <a:p>
            <a:pPr lvl="1"/>
            <a:r>
              <a:rPr lang="zh-CN" altLang="en-US" dirty="0"/>
              <a:t>数据点：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latin typeface="Calibri" charset="0"/>
                <a:ea typeface="Calibri" charset="0"/>
                <a:cs typeface="Calibri" charset="0"/>
              </a:rPr>
              <a:t>3,1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),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latin typeface="Calibri" charset="0"/>
                <a:ea typeface="Calibri" charset="0"/>
                <a:cs typeface="Calibri" charset="0"/>
              </a:rPr>
              <a:t>3,2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),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latin typeface="Calibri" charset="0"/>
                <a:ea typeface="Calibri" charset="0"/>
                <a:cs typeface="Calibri" charset="0"/>
              </a:rPr>
              <a:t>4,1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),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latin typeface="Calibri" charset="0"/>
                <a:ea typeface="Calibri" charset="0"/>
                <a:cs typeface="Calibri" charset="0"/>
              </a:rPr>
              <a:t>4,2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),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latin typeface="Calibri" charset="0"/>
                <a:ea typeface="Calibri" charset="0"/>
                <a:cs typeface="Calibri" charset="0"/>
              </a:rPr>
              <a:t>1,3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),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latin typeface="Calibri" charset="0"/>
                <a:ea typeface="Calibri" charset="0"/>
                <a:cs typeface="Calibri" charset="0"/>
              </a:rPr>
              <a:t>1,4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),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latin typeface="Calibri" charset="0"/>
                <a:ea typeface="Calibri" charset="0"/>
                <a:cs typeface="Calibri" charset="0"/>
              </a:rPr>
              <a:t>2,3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),</a:t>
            </a:r>
            <a:r>
              <a:rPr lang="zh-CN" altLang="en-US" dirty="0"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latin typeface="Calibri" charset="0"/>
                <a:ea typeface="Calibri" charset="0"/>
                <a:cs typeface="Calibri" charset="0"/>
              </a:rPr>
              <a:t>2,4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)</a:t>
            </a:r>
            <a:endParaRPr lang="fi-FI" dirty="0">
              <a:latin typeface="Calibri" charset="0"/>
              <a:ea typeface="Calibri" charset="0"/>
              <a:cs typeface="Calibri" charset="0"/>
            </a:endParaRPr>
          </a:p>
          <a:p>
            <a:pPr lvl="1"/>
            <a:r>
              <a:rPr lang="zh-CN" altLang="en-US" dirty="0"/>
              <a:t>初始中心点： </a:t>
            </a:r>
            <a:r>
              <a:rPr lang="en-US" altLang="zh-CN" dirty="0"/>
              <a:t>(</a:t>
            </a:r>
            <a:r>
              <a:rPr lang="uk-UA" altLang="zh-CN" dirty="0">
                <a:latin typeface="Calibri" charset="0"/>
                <a:ea typeface="Calibri" charset="0"/>
                <a:cs typeface="Calibri" charset="0"/>
              </a:rPr>
              <a:t>0,4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)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uk-UA" altLang="zh-CN" dirty="0">
                <a:latin typeface="Calibri" charset="0"/>
                <a:ea typeface="Calibri" charset="0"/>
                <a:cs typeface="Calibri" charset="0"/>
              </a:rPr>
              <a:t>3,3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)</a:t>
            </a:r>
          </a:p>
          <a:p>
            <a:endParaRPr lang="en-US" dirty="0"/>
          </a:p>
          <a:p>
            <a:r>
              <a:rPr lang="zh-CN" altLang="en-US" dirty="0"/>
              <a:t>请完成第一次迭代步骤的计算</a:t>
            </a:r>
            <a:endParaRPr lang="en-US" altLang="zh-CN" dirty="0"/>
          </a:p>
          <a:p>
            <a:pPr lvl="1"/>
            <a:r>
              <a:rPr lang="zh-CN" altLang="en-US" dirty="0"/>
              <a:t>确定中心点，分配数据点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1,3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),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1,4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Wingdings"/>
              </a:rPr>
              <a:t> 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Wingdings"/>
              </a:rPr>
              <a:t>(0,4)</a:t>
            </a:r>
            <a:endParaRPr lang="fi-FI" dirty="0">
              <a:solidFill>
                <a:srgbClr val="C00000"/>
              </a:solidFill>
              <a:latin typeface="Calibri" charset="0"/>
              <a:ea typeface="Calibri" charset="0"/>
              <a:cs typeface="Calibri" charset="0"/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2,3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),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2,4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),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3,1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),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3,2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),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4,1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),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(</a:t>
            </a:r>
            <a:r>
              <a:rPr lang="fi-FI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4,2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)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Wingdings"/>
              </a:rPr>
              <a:t>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uk-UA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3,3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)</a:t>
            </a:r>
          </a:p>
          <a:p>
            <a:pPr lvl="1"/>
            <a:r>
              <a:rPr lang="zh-CN" altLang="en-US" dirty="0"/>
              <a:t>更新中心点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(0,4)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Wingdings"/>
              </a:rPr>
              <a:t> 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Wingdings"/>
              </a:rPr>
              <a:t>(1,3.5)</a:t>
            </a:r>
          </a:p>
          <a:p>
            <a:pPr lvl="1"/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(3,3)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</a:rPr>
              <a:t> </a:t>
            </a:r>
            <a:r>
              <a:rPr lang="zh-CN" altLang="en-US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Wingdings"/>
              </a:rPr>
              <a:t> </a:t>
            </a:r>
            <a:r>
              <a:rPr lang="en-US" altLang="zh-CN" dirty="0">
                <a:solidFill>
                  <a:srgbClr val="C00000"/>
                </a:solidFill>
                <a:latin typeface="Calibri" charset="0"/>
                <a:ea typeface="Calibri" charset="0"/>
                <a:cs typeface="Calibri" charset="0"/>
                <a:sym typeface="Wingdings"/>
              </a:rPr>
              <a:t>(3,13/6)</a:t>
            </a:r>
            <a:endParaRPr lang="en-US" dirty="0">
              <a:solidFill>
                <a:srgbClr val="C00000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31</a:t>
            </a:fld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553" y="2029780"/>
            <a:ext cx="3574291" cy="23953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253698" y="1297102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084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 noChangeArrowheads="1"/>
          </p:cNvSpPr>
          <p:nvPr>
            <p:ph type="title"/>
          </p:nvPr>
        </p:nvSpPr>
        <p:spPr>
          <a:xfrm>
            <a:off x="1657350" y="457200"/>
            <a:ext cx="5829300" cy="2857500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K-Means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可能会陷入局部最优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44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problem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51435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3" name="TextBox 5"/>
          <p:cNvSpPr txBox="1">
            <a:spLocks noChangeArrowheads="1"/>
          </p:cNvSpPr>
          <p:nvPr/>
        </p:nvSpPr>
        <p:spPr bwMode="auto">
          <a:xfrm>
            <a:off x="2914650" y="0"/>
            <a:ext cx="508635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300">
                <a:ea typeface="宋体" charset="-122"/>
              </a:rPr>
              <a:t>Example - The data points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82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problem1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51435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07" name="TextBox 3"/>
          <p:cNvSpPr txBox="1">
            <a:spLocks noChangeArrowheads="1"/>
          </p:cNvSpPr>
          <p:nvPr/>
        </p:nvSpPr>
        <p:spPr bwMode="auto">
          <a:xfrm>
            <a:off x="5657850" y="0"/>
            <a:ext cx="234315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300">
                <a:ea typeface="宋体" charset="-122"/>
              </a:rPr>
              <a:t>Initialization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67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problem2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51435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1" name="TextBox 3"/>
          <p:cNvSpPr txBox="1">
            <a:spLocks noChangeArrowheads="1"/>
          </p:cNvSpPr>
          <p:nvPr/>
        </p:nvSpPr>
        <p:spPr bwMode="auto">
          <a:xfrm>
            <a:off x="6115050" y="0"/>
            <a:ext cx="188595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300">
                <a:ea typeface="宋体" charset="-122"/>
              </a:rPr>
              <a:t>#Runs = 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403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problem3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51435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5" name="TextBox 3"/>
          <p:cNvSpPr txBox="1">
            <a:spLocks noChangeArrowheads="1"/>
          </p:cNvSpPr>
          <p:nvPr/>
        </p:nvSpPr>
        <p:spPr bwMode="auto">
          <a:xfrm>
            <a:off x="6115050" y="0"/>
            <a:ext cx="188595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300">
                <a:ea typeface="宋体" charset="-122"/>
              </a:rPr>
              <a:t>#Runs = 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28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problem4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51435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79" name="TextBox 3"/>
          <p:cNvSpPr txBox="1">
            <a:spLocks noChangeArrowheads="1"/>
          </p:cNvSpPr>
          <p:nvPr/>
        </p:nvSpPr>
        <p:spPr bwMode="auto">
          <a:xfrm>
            <a:off x="6115050" y="0"/>
            <a:ext cx="188595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300">
                <a:ea typeface="宋体" charset="-122"/>
              </a:rPr>
              <a:t>#Runs = 3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838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problem4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0" cy="51435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603" name="TextBox 3"/>
          <p:cNvSpPr txBox="1">
            <a:spLocks noChangeArrowheads="1"/>
          </p:cNvSpPr>
          <p:nvPr/>
        </p:nvSpPr>
        <p:spPr bwMode="auto">
          <a:xfrm>
            <a:off x="6115050" y="0"/>
            <a:ext cx="188595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300">
                <a:ea typeface="宋体" charset="-122"/>
              </a:rPr>
              <a:t>#Runs = 4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3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优点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简单：易于理解和实现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高效：时间复杂度为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𝑇𝐾𝑁</m:t>
                        </m:r>
                      </m:e>
                    </m:d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为运行轮数，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为簇数目，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为样本数。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K-Means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是最广为人知的聚类算法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15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缺点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局部最优解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每一个数据点贪心选择距离最近的中心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不同初始中心可能得到不同的簇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平均值点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(“mean”)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有定义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一般来说要求特征为数值型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对于类别型特征不适应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用户指定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比较难以提前预知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对离群点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(outlier)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敏感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离群点为距离其他数据点很远的点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可能是在数据准备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预处理过程中出现的错误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65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对初始点的选择敏感 </a:t>
            </a:r>
            <a:r>
              <a:rPr lang="mr-IN" altLang="zh-CN" dirty="0"/>
              <a:t>–</a:t>
            </a:r>
            <a:r>
              <a:rPr lang="zh-CN" altLang="en-US" dirty="0"/>
              <a:t> 局部最优问题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5" name="图片 3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50"/>
          <a:stretch/>
        </p:blipFill>
        <p:spPr bwMode="auto">
          <a:xfrm>
            <a:off x="896976" y="895738"/>
            <a:ext cx="7437386" cy="3860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1651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如何确定参数</a:t>
            </a:r>
            <a:r>
              <a:rPr lang="en-US" altLang="zh-CN" dirty="0"/>
              <a:t>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5" name="图片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761" y="819150"/>
            <a:ext cx="5378477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895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离群点的影响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5" name="图片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683" y="819150"/>
            <a:ext cx="5406633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38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如何处理离群点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将过分远离中心点的数据点视为可能的离群点，将其删除</a:t>
            </a:r>
            <a:endParaRPr lang="en-US" altLang="zh-CN" dirty="0"/>
          </a:p>
          <a:p>
            <a:pPr lvl="1"/>
            <a:r>
              <a:rPr lang="zh-CN" altLang="en-US" dirty="0"/>
              <a:t>为了保险起见，通过几个迭代步骤，持续观察可能的离群点，明确每次都远离中心点再进行删除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采用随机采样</a:t>
            </a:r>
            <a:endParaRPr lang="en-US" altLang="zh-CN" dirty="0"/>
          </a:p>
          <a:p>
            <a:pPr lvl="1"/>
            <a:r>
              <a:rPr lang="zh-CN" altLang="en-US" dirty="0"/>
              <a:t>选取数据点的子集确定中心点，使选到离群点的机会变小</a:t>
            </a:r>
            <a:endParaRPr lang="en-US" altLang="zh-CN" dirty="0"/>
          </a:p>
          <a:p>
            <a:pPr lvl="1"/>
            <a:r>
              <a:rPr lang="zh-CN" altLang="en-US" dirty="0"/>
              <a:t>利用距离确定其它数据点的类簇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不适用于非超椭球聚簇情形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5" name="图片 4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2"/>
          <a:stretch/>
        </p:blipFill>
        <p:spPr bwMode="auto">
          <a:xfrm>
            <a:off x="1315641" y="811764"/>
            <a:ext cx="6514559" cy="3879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7573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聚类问题及其算法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001143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聚类问题及其评测方法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聚类算法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K-Means</a:t>
            </a:r>
          </a:p>
          <a:p>
            <a:pPr>
              <a:lnSpc>
                <a:spcPct val="160000"/>
              </a:lnSpc>
            </a:pPr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软聚类算法</a:t>
            </a:r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</a:t>
            </a: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案例分析：聚类算法实践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987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513A-D093-DE4D-9433-D0A7ECAA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硬聚类的局限性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3EF70-0803-0A4C-852B-A22B1D4E0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47</a:t>
            </a:fld>
            <a:endParaRPr lang="zh-CN" altLang="en-US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3D8EB68-F4F3-0F4E-A109-7B685D9E4B8C}"/>
              </a:ext>
            </a:extLst>
          </p:cNvPr>
          <p:cNvGrpSpPr/>
          <p:nvPr/>
        </p:nvGrpSpPr>
        <p:grpSpPr>
          <a:xfrm>
            <a:off x="250166" y="1722407"/>
            <a:ext cx="3505200" cy="1295400"/>
            <a:chOff x="2286000" y="3352800"/>
            <a:chExt cx="3505200" cy="1295400"/>
          </a:xfrm>
        </p:grpSpPr>
        <p:sp>
          <p:nvSpPr>
            <p:cNvPr id="61" name="Rectangle 3">
              <a:extLst>
                <a:ext uri="{FF2B5EF4-FFF2-40B4-BE49-F238E27FC236}">
                  <a16:creationId xmlns:a16="http://schemas.microsoft.com/office/drawing/2014/main" id="{EDAE5257-E6FC-9545-86DD-AC4A35001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33528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62" name="Rectangle 4">
              <a:extLst>
                <a:ext uri="{FF2B5EF4-FFF2-40B4-BE49-F238E27FC236}">
                  <a16:creationId xmlns:a16="http://schemas.microsoft.com/office/drawing/2014/main" id="{9F09695E-9382-5D4C-89C6-9AEB2B6BD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35814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63" name="Rectangle 5">
              <a:extLst>
                <a:ext uri="{FF2B5EF4-FFF2-40B4-BE49-F238E27FC236}">
                  <a16:creationId xmlns:a16="http://schemas.microsoft.com/office/drawing/2014/main" id="{90DE591C-038F-2943-A0B9-A22E9B0096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39624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64" name="Rectangle 6">
              <a:extLst>
                <a:ext uri="{FF2B5EF4-FFF2-40B4-BE49-F238E27FC236}">
                  <a16:creationId xmlns:a16="http://schemas.microsoft.com/office/drawing/2014/main" id="{BC095F47-CDBC-A04B-86F7-4E9D22D46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8862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65" name="Rectangle 7">
              <a:extLst>
                <a:ext uri="{FF2B5EF4-FFF2-40B4-BE49-F238E27FC236}">
                  <a16:creationId xmlns:a16="http://schemas.microsoft.com/office/drawing/2014/main" id="{F7292CEC-8BF0-7A43-AA56-E3F9A6ADA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34290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66" name="Rectangle 8">
              <a:extLst>
                <a:ext uri="{FF2B5EF4-FFF2-40B4-BE49-F238E27FC236}">
                  <a16:creationId xmlns:a16="http://schemas.microsoft.com/office/drawing/2014/main" id="{72245FA2-640F-1143-A0CD-0241E1B5E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37338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67" name="Rectangle 9">
              <a:extLst>
                <a:ext uri="{FF2B5EF4-FFF2-40B4-BE49-F238E27FC236}">
                  <a16:creationId xmlns:a16="http://schemas.microsoft.com/office/drawing/2014/main" id="{559C4756-C366-9842-9C87-FD6D9D3BD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41148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68" name="Rectangle 10">
              <a:extLst>
                <a:ext uri="{FF2B5EF4-FFF2-40B4-BE49-F238E27FC236}">
                  <a16:creationId xmlns:a16="http://schemas.microsoft.com/office/drawing/2014/main" id="{1176A08C-CDB0-6447-BBCC-CD669EDE7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39624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69" name="Rectangle 11">
              <a:extLst>
                <a:ext uri="{FF2B5EF4-FFF2-40B4-BE49-F238E27FC236}">
                  <a16:creationId xmlns:a16="http://schemas.microsoft.com/office/drawing/2014/main" id="{4F8C2E0B-CFAC-F94D-A540-D8CAC03F53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40386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70" name="Rectangle 12">
              <a:extLst>
                <a:ext uri="{FF2B5EF4-FFF2-40B4-BE49-F238E27FC236}">
                  <a16:creationId xmlns:a16="http://schemas.microsoft.com/office/drawing/2014/main" id="{D13D76AB-BFD0-784D-88F8-E826D8144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45720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71" name="Rectangle 13">
              <a:extLst>
                <a:ext uri="{FF2B5EF4-FFF2-40B4-BE49-F238E27FC236}">
                  <a16:creationId xmlns:a16="http://schemas.microsoft.com/office/drawing/2014/main" id="{AB97CEAD-5E01-9842-BF36-4A1A274B1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1910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72" name="Rectangle 14">
              <a:extLst>
                <a:ext uri="{FF2B5EF4-FFF2-40B4-BE49-F238E27FC236}">
                  <a16:creationId xmlns:a16="http://schemas.microsoft.com/office/drawing/2014/main" id="{7292FDE1-C2EF-D14E-A24F-FF8A52527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37338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73" name="Rectangle 15">
              <a:extLst>
                <a:ext uri="{FF2B5EF4-FFF2-40B4-BE49-F238E27FC236}">
                  <a16:creationId xmlns:a16="http://schemas.microsoft.com/office/drawing/2014/main" id="{397E492C-146A-1C4C-BF22-D80FFF7AF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38862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74" name="Rectangle 16">
              <a:extLst>
                <a:ext uri="{FF2B5EF4-FFF2-40B4-BE49-F238E27FC236}">
                  <a16:creationId xmlns:a16="http://schemas.microsoft.com/office/drawing/2014/main" id="{290D7DBD-A651-D646-B21A-43D58EEAC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3528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75" name="Rectangle 17">
              <a:extLst>
                <a:ext uri="{FF2B5EF4-FFF2-40B4-BE49-F238E27FC236}">
                  <a16:creationId xmlns:a16="http://schemas.microsoft.com/office/drawing/2014/main" id="{43EA346F-3B5F-1542-A3E3-0BCD640C0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38100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76" name="Rectangle 18">
              <a:extLst>
                <a:ext uri="{FF2B5EF4-FFF2-40B4-BE49-F238E27FC236}">
                  <a16:creationId xmlns:a16="http://schemas.microsoft.com/office/drawing/2014/main" id="{0C6EB87C-38D3-C14A-A9E2-78025606B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40386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77" name="Rectangle 19">
              <a:extLst>
                <a:ext uri="{FF2B5EF4-FFF2-40B4-BE49-F238E27FC236}">
                  <a16:creationId xmlns:a16="http://schemas.microsoft.com/office/drawing/2014/main" id="{998399EA-597B-6442-A3B2-FDF709913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41148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78" name="Rectangle 20">
              <a:extLst>
                <a:ext uri="{FF2B5EF4-FFF2-40B4-BE49-F238E27FC236}">
                  <a16:creationId xmlns:a16="http://schemas.microsoft.com/office/drawing/2014/main" id="{304D31AD-EFCD-8F4F-8DD9-13EBFD84E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42672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79" name="Rectangle 21">
              <a:extLst>
                <a:ext uri="{FF2B5EF4-FFF2-40B4-BE49-F238E27FC236}">
                  <a16:creationId xmlns:a16="http://schemas.microsoft.com/office/drawing/2014/main" id="{69C4385F-85C1-D64A-9C80-FB55C8220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44958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80" name="Rectangle 22">
              <a:extLst>
                <a:ext uri="{FF2B5EF4-FFF2-40B4-BE49-F238E27FC236}">
                  <a16:creationId xmlns:a16="http://schemas.microsoft.com/office/drawing/2014/main" id="{948D07AE-B4DC-DD4A-9B12-4BADBC9B0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38862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81" name="Rectangle 23">
              <a:extLst>
                <a:ext uri="{FF2B5EF4-FFF2-40B4-BE49-F238E27FC236}">
                  <a16:creationId xmlns:a16="http://schemas.microsoft.com/office/drawing/2014/main" id="{0A2E6E54-7266-3948-859D-5F1578713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40386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82" name="Rectangle 24">
              <a:extLst>
                <a:ext uri="{FF2B5EF4-FFF2-40B4-BE49-F238E27FC236}">
                  <a16:creationId xmlns:a16="http://schemas.microsoft.com/office/drawing/2014/main" id="{14B43D53-D51D-3544-83E7-878D91B02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44958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83" name="Oval 25">
              <a:extLst>
                <a:ext uri="{FF2B5EF4-FFF2-40B4-BE49-F238E27FC236}">
                  <a16:creationId xmlns:a16="http://schemas.microsoft.com/office/drawing/2014/main" id="{58A2D9E8-EEF8-C447-87BE-E100BB4C6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733800"/>
              <a:ext cx="76200" cy="76200"/>
            </a:xfrm>
            <a:prstGeom prst="ellipse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84" name="Oval 26">
              <a:extLst>
                <a:ext uri="{FF2B5EF4-FFF2-40B4-BE49-F238E27FC236}">
                  <a16:creationId xmlns:a16="http://schemas.microsoft.com/office/drawing/2014/main" id="{2A051507-744F-484D-9017-0CF1420A0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4191000"/>
              <a:ext cx="76200" cy="76200"/>
            </a:xfrm>
            <a:prstGeom prst="ellipse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85" name="Rectangle 27">
              <a:extLst>
                <a:ext uri="{FF2B5EF4-FFF2-40B4-BE49-F238E27FC236}">
                  <a16:creationId xmlns:a16="http://schemas.microsoft.com/office/drawing/2014/main" id="{DA23A527-F06E-9145-8726-9EDB50BCE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8862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86" name="Rectangle 28">
              <a:extLst>
                <a:ext uri="{FF2B5EF4-FFF2-40B4-BE49-F238E27FC236}">
                  <a16:creationId xmlns:a16="http://schemas.microsoft.com/office/drawing/2014/main" id="{2A57EB70-D07D-8747-B214-2673115E8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42672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87" name="Rectangle 29">
              <a:extLst>
                <a:ext uri="{FF2B5EF4-FFF2-40B4-BE49-F238E27FC236}">
                  <a16:creationId xmlns:a16="http://schemas.microsoft.com/office/drawing/2014/main" id="{1DDDDDD7-140C-3A4E-A1BC-A168C21D1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114800"/>
              <a:ext cx="76200" cy="76200"/>
            </a:xfrm>
            <a:prstGeom prst="rect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CFED059-0696-3342-9838-D56712A180C6}"/>
              </a:ext>
            </a:extLst>
          </p:cNvPr>
          <p:cNvGrpSpPr/>
          <p:nvPr/>
        </p:nvGrpSpPr>
        <p:grpSpPr>
          <a:xfrm>
            <a:off x="4745966" y="1544607"/>
            <a:ext cx="3868738" cy="1803400"/>
            <a:chOff x="2286000" y="3221038"/>
            <a:chExt cx="3868738" cy="1803400"/>
          </a:xfrm>
        </p:grpSpPr>
        <p:sp>
          <p:nvSpPr>
            <p:cNvPr id="118" name="Rectangle 3">
              <a:extLst>
                <a:ext uri="{FF2B5EF4-FFF2-40B4-BE49-F238E27FC236}">
                  <a16:creationId xmlns:a16="http://schemas.microsoft.com/office/drawing/2014/main" id="{CBDF5166-114C-4A46-A234-51B95CCE9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3352800"/>
              <a:ext cx="76200" cy="76200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19" name="Rectangle 4">
              <a:extLst>
                <a:ext uri="{FF2B5EF4-FFF2-40B4-BE49-F238E27FC236}">
                  <a16:creationId xmlns:a16="http://schemas.microsoft.com/office/drawing/2014/main" id="{BD00D182-D407-FE47-95EF-B4307B64A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3581400"/>
              <a:ext cx="76200" cy="76200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20" name="Rectangle 5">
              <a:extLst>
                <a:ext uri="{FF2B5EF4-FFF2-40B4-BE49-F238E27FC236}">
                  <a16:creationId xmlns:a16="http://schemas.microsoft.com/office/drawing/2014/main" id="{2535A672-880E-3942-9CD5-EE4DB0DC8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3962400"/>
              <a:ext cx="76200" cy="76200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21" name="Rectangle 6">
              <a:extLst>
                <a:ext uri="{FF2B5EF4-FFF2-40B4-BE49-F238E27FC236}">
                  <a16:creationId xmlns:a16="http://schemas.microsoft.com/office/drawing/2014/main" id="{8A09AFAB-83BE-FF4F-8D8E-886705A8A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886200"/>
              <a:ext cx="76200" cy="76200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22" name="Rectangle 7">
              <a:extLst>
                <a:ext uri="{FF2B5EF4-FFF2-40B4-BE49-F238E27FC236}">
                  <a16:creationId xmlns:a16="http://schemas.microsoft.com/office/drawing/2014/main" id="{CA35A22E-BF05-9546-89DB-E1A074CA9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3429000"/>
              <a:ext cx="76200" cy="76200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23" name="Rectangle 8">
              <a:extLst>
                <a:ext uri="{FF2B5EF4-FFF2-40B4-BE49-F238E27FC236}">
                  <a16:creationId xmlns:a16="http://schemas.microsoft.com/office/drawing/2014/main" id="{5F8C2DAA-EC26-DB4E-AD27-0C11BBA28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800" y="3733800"/>
              <a:ext cx="76200" cy="76200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24" name="Rectangle 9">
              <a:extLst>
                <a:ext uri="{FF2B5EF4-FFF2-40B4-BE49-F238E27FC236}">
                  <a16:creationId xmlns:a16="http://schemas.microsoft.com/office/drawing/2014/main" id="{0BA62E62-A57C-C84D-BFF0-0BB4F25F4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4114800"/>
              <a:ext cx="76200" cy="76200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25" name="Rectangle 10">
              <a:extLst>
                <a:ext uri="{FF2B5EF4-FFF2-40B4-BE49-F238E27FC236}">
                  <a16:creationId xmlns:a16="http://schemas.microsoft.com/office/drawing/2014/main" id="{76CE4D5E-9647-504E-8F7E-5B04F2F5B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3962400"/>
              <a:ext cx="76200" cy="76200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26" name="Rectangle 11">
              <a:extLst>
                <a:ext uri="{FF2B5EF4-FFF2-40B4-BE49-F238E27FC236}">
                  <a16:creationId xmlns:a16="http://schemas.microsoft.com/office/drawing/2014/main" id="{F5E55588-6A53-BB4C-BA25-D58C66168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4038600"/>
              <a:ext cx="76200" cy="76200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27" name="Rectangle 12">
              <a:extLst>
                <a:ext uri="{FF2B5EF4-FFF2-40B4-BE49-F238E27FC236}">
                  <a16:creationId xmlns:a16="http://schemas.microsoft.com/office/drawing/2014/main" id="{959B0F0C-96DB-0C43-A2FC-893B4496A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4572000"/>
              <a:ext cx="76200" cy="76200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28" name="Rectangle 13">
              <a:extLst>
                <a:ext uri="{FF2B5EF4-FFF2-40B4-BE49-F238E27FC236}">
                  <a16:creationId xmlns:a16="http://schemas.microsoft.com/office/drawing/2014/main" id="{5DB90B33-E3BE-1940-879F-9A554009E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4191000"/>
              <a:ext cx="76200" cy="76200"/>
            </a:xfrm>
            <a:prstGeom prst="rect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29" name="Rectangle 14">
              <a:extLst>
                <a:ext uri="{FF2B5EF4-FFF2-40B4-BE49-F238E27FC236}">
                  <a16:creationId xmlns:a16="http://schemas.microsoft.com/office/drawing/2014/main" id="{63EEEF6C-F071-E843-AEC6-6B49B50A6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3733800"/>
              <a:ext cx="76200" cy="76200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30" name="Rectangle 15">
              <a:extLst>
                <a:ext uri="{FF2B5EF4-FFF2-40B4-BE49-F238E27FC236}">
                  <a16:creationId xmlns:a16="http://schemas.microsoft.com/office/drawing/2014/main" id="{3381CC28-CB55-5443-8206-7D4BFA380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3886200"/>
              <a:ext cx="76200" cy="76200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31" name="Rectangle 16">
              <a:extLst>
                <a:ext uri="{FF2B5EF4-FFF2-40B4-BE49-F238E27FC236}">
                  <a16:creationId xmlns:a16="http://schemas.microsoft.com/office/drawing/2014/main" id="{3C2FF836-2485-F24E-806B-8B341DF7F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3352800"/>
              <a:ext cx="76200" cy="76200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32" name="Rectangle 17">
              <a:extLst>
                <a:ext uri="{FF2B5EF4-FFF2-40B4-BE49-F238E27FC236}">
                  <a16:creationId xmlns:a16="http://schemas.microsoft.com/office/drawing/2014/main" id="{C0380746-733F-A44A-9805-285C9C5F48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3810000"/>
              <a:ext cx="76200" cy="76200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33" name="Rectangle 18">
              <a:extLst>
                <a:ext uri="{FF2B5EF4-FFF2-40B4-BE49-F238E27FC236}">
                  <a16:creationId xmlns:a16="http://schemas.microsoft.com/office/drawing/2014/main" id="{DDA72DD3-5466-E24B-B326-99786DE7E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3000" y="4038600"/>
              <a:ext cx="76200" cy="76200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34" name="Rectangle 19">
              <a:extLst>
                <a:ext uri="{FF2B5EF4-FFF2-40B4-BE49-F238E27FC236}">
                  <a16:creationId xmlns:a16="http://schemas.microsoft.com/office/drawing/2014/main" id="{AFD14404-B941-1049-81F5-70617B484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8800" y="4114800"/>
              <a:ext cx="76200" cy="76200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35" name="Rectangle 20">
              <a:extLst>
                <a:ext uri="{FF2B5EF4-FFF2-40B4-BE49-F238E27FC236}">
                  <a16:creationId xmlns:a16="http://schemas.microsoft.com/office/drawing/2014/main" id="{8E830AE6-CD7D-4B48-A122-8DCC935C7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4267200"/>
              <a:ext cx="76200" cy="76200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36" name="Rectangle 21">
              <a:extLst>
                <a:ext uri="{FF2B5EF4-FFF2-40B4-BE49-F238E27FC236}">
                  <a16:creationId xmlns:a16="http://schemas.microsoft.com/office/drawing/2014/main" id="{2ADD3C37-5FE9-314A-A2C7-A7F12433F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000" y="4495800"/>
              <a:ext cx="76200" cy="76200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37" name="Rectangle 22">
              <a:extLst>
                <a:ext uri="{FF2B5EF4-FFF2-40B4-BE49-F238E27FC236}">
                  <a16:creationId xmlns:a16="http://schemas.microsoft.com/office/drawing/2014/main" id="{19C03CF8-4B3E-AC4D-9E0E-6589A3878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1600" y="3886200"/>
              <a:ext cx="76200" cy="76200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38" name="Rectangle 23">
              <a:extLst>
                <a:ext uri="{FF2B5EF4-FFF2-40B4-BE49-F238E27FC236}">
                  <a16:creationId xmlns:a16="http://schemas.microsoft.com/office/drawing/2014/main" id="{28F899E7-64F2-7F48-8884-AFC85B925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4038600"/>
              <a:ext cx="76200" cy="76200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39" name="Rectangle 24">
              <a:extLst>
                <a:ext uri="{FF2B5EF4-FFF2-40B4-BE49-F238E27FC236}">
                  <a16:creationId xmlns:a16="http://schemas.microsoft.com/office/drawing/2014/main" id="{7F0A43D2-E5F8-8345-B566-898F97DAB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4495800"/>
              <a:ext cx="76200" cy="76200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40" name="Oval 25">
              <a:extLst>
                <a:ext uri="{FF2B5EF4-FFF2-40B4-BE49-F238E27FC236}">
                  <a16:creationId xmlns:a16="http://schemas.microsoft.com/office/drawing/2014/main" id="{CF9E5895-B388-9B40-85F8-E05FF80EB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733800"/>
              <a:ext cx="76200" cy="76200"/>
            </a:xfrm>
            <a:prstGeom prst="ellipse">
              <a:avLst/>
            </a:prstGeom>
            <a:solidFill>
              <a:srgbClr val="BBE0E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41" name="Oval 26">
              <a:extLst>
                <a:ext uri="{FF2B5EF4-FFF2-40B4-BE49-F238E27FC236}">
                  <a16:creationId xmlns:a16="http://schemas.microsoft.com/office/drawing/2014/main" id="{114BC51C-7362-A749-B2E3-6379402A4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4000" y="4191000"/>
              <a:ext cx="76200" cy="76200"/>
            </a:xfrm>
            <a:prstGeom prst="ellipse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42" name="Rectangle 27">
              <a:extLst>
                <a:ext uri="{FF2B5EF4-FFF2-40B4-BE49-F238E27FC236}">
                  <a16:creationId xmlns:a16="http://schemas.microsoft.com/office/drawing/2014/main" id="{C53EF1B3-A08F-0D46-A879-F6D1A4689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400" y="3886200"/>
              <a:ext cx="76200" cy="76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43" name="Rectangle 28">
              <a:extLst>
                <a:ext uri="{FF2B5EF4-FFF2-40B4-BE49-F238E27FC236}">
                  <a16:creationId xmlns:a16="http://schemas.microsoft.com/office/drawing/2014/main" id="{42B745EC-3FAF-3842-A4A9-251275EB8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000" y="4267200"/>
              <a:ext cx="76200" cy="762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44" name="Rectangle 29">
              <a:extLst>
                <a:ext uri="{FF2B5EF4-FFF2-40B4-BE49-F238E27FC236}">
                  <a16:creationId xmlns:a16="http://schemas.microsoft.com/office/drawing/2014/main" id="{D3708432-68C7-AB44-9175-105BF434F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400" y="4114800"/>
              <a:ext cx="76200" cy="76200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45" name="Oval 31">
              <a:extLst>
                <a:ext uri="{FF2B5EF4-FFF2-40B4-BE49-F238E27FC236}">
                  <a16:creationId xmlns:a16="http://schemas.microsoft.com/office/drawing/2014/main" id="{27E0B7AB-749F-DA49-8D5B-D5496E4F6BD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90417">
              <a:off x="4454525" y="3221038"/>
              <a:ext cx="1700213" cy="1803400"/>
            </a:xfrm>
            <a:prstGeom prst="ellipse">
              <a:avLst/>
            </a:prstGeom>
            <a:noFill/>
            <a:ln w="25400">
              <a:solidFill>
                <a:srgbClr val="0099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DA3F719E-BA87-774A-AFCC-9156187F850E}"/>
              </a:ext>
            </a:extLst>
          </p:cNvPr>
          <p:cNvSpPr txBox="1"/>
          <p:nvPr/>
        </p:nvSpPr>
        <p:spPr>
          <a:xfrm>
            <a:off x="3322554" y="3845353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红色的点应该归到那个类簇？</a:t>
            </a:r>
            <a:endParaRPr lang="en-US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D9FBF87D-BF6F-2841-B0BF-08041F98CF98}"/>
              </a:ext>
            </a:extLst>
          </p:cNvPr>
          <p:cNvCxnSpPr/>
          <p:nvPr/>
        </p:nvCxnSpPr>
        <p:spPr>
          <a:xfrm flipV="1">
            <a:off x="5774666" y="2770126"/>
            <a:ext cx="764157" cy="9228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12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1D1E-5D3F-E5B8-DCE5-3B7381EAB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dirty="0"/>
              <a:t>软聚类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538444-EA64-30E2-2F70-7DDECF31E3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x-none" dirty="0"/>
                  <a:t>基本思路</a:t>
                </a:r>
              </a:p>
              <a:p>
                <a:pPr lvl="1"/>
                <a:r>
                  <a:rPr lang="zh-CN" altLang="en-US" dirty="0"/>
                  <a:t>将每个类簇 </a:t>
                </a:r>
                <a:r>
                  <a:rPr lang="en-US" alt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zh-CN" alt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/>
                  <a:t>表示为一个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高斯分布</a:t>
                </a:r>
                <a:r>
                  <a:rPr lang="zh-CN" altLang="en-US" dirty="0"/>
                  <a:t>，其中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均值和方差未知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zh-CN" altLang="en-US" dirty="0"/>
                  <a:t>针对每个数据点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和每个类簇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/>
                  <a:t>，计算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条件概率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zh-CN" altLang="en-US" dirty="0"/>
                  <a:t>考虑</a:t>
                </a:r>
                <a:r>
                  <a:rPr lang="en-US" altLang="zh-CN" dirty="0"/>
                  <a:t>1-D</a:t>
                </a:r>
                <a:r>
                  <a:rPr lang="zh-CN" altLang="en-US" dirty="0"/>
                  <a:t>数据的情形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每个类簇</a:t>
                </a:r>
                <a:r>
                  <a:rPr lang="en-US" altLang="en-US" dirty="0"/>
                  <a:t> </a:t>
                </a:r>
                <a:r>
                  <a:rPr lang="en-US" alt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altLang="en-US" dirty="0"/>
                  <a:t> </a:t>
                </a:r>
                <a:r>
                  <a:rPr lang="zh-CN" altLang="en-US" dirty="0"/>
                  <a:t>可以表示为一个高斯分布 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N(</a:t>
                </a:r>
                <a:r>
                  <a:rPr lang="en-US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</a:t>
                </a:r>
                <a:r>
                  <a:rPr lang="en-US" alt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j</a:t>
                </a:r>
                <a:r>
                  <a:rPr lang="en-US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 , </a:t>
                </a:r>
                <a:r>
                  <a:rPr lang="en-US" alt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j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itchFamily="2" charset="2"/>
                  </a:rPr>
                  <a:t>)</a:t>
                </a:r>
                <a:endParaRPr lang="en-US" altLang="en-US" dirty="0">
                  <a:latin typeface="Times New Roman" panose="02020603050405020304" pitchFamily="18" charset="0"/>
                  <a:cs typeface="Arial" panose="020B0604020202020204" pitchFamily="34" charset="0"/>
                  <a:sym typeface="Symbol" pitchFamily="2" charset="2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538444-EA64-30E2-2F70-7DDECF31E3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96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8EEC1-53B4-A67F-B0C3-FFBCD53F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9F46A-9EF0-1045-B30C-387DAF0ECE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321" b="18414"/>
          <a:stretch/>
        </p:blipFill>
        <p:spPr>
          <a:xfrm>
            <a:off x="1457787" y="2741561"/>
            <a:ext cx="4440248" cy="201458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9A4DB5-44C0-1561-A105-6FA0D35FBB9B}"/>
              </a:ext>
            </a:extLst>
          </p:cNvPr>
          <p:cNvSpPr/>
          <p:nvPr/>
        </p:nvSpPr>
        <p:spPr>
          <a:xfrm>
            <a:off x="6312287" y="2549832"/>
            <a:ext cx="23227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一维高斯分布概率密度函数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82878E-E3C5-E516-A15E-963FBCF1260C}"/>
                  </a:ext>
                </a:extLst>
              </p:cNvPr>
              <p:cNvSpPr txBox="1"/>
              <p:nvPr/>
            </p:nvSpPr>
            <p:spPr>
              <a:xfrm>
                <a:off x="6098692" y="3270230"/>
                <a:ext cx="3002360" cy="607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func>
                        <m:funcPr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82878E-E3C5-E516-A15E-963FBCF12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8692" y="3270230"/>
                <a:ext cx="3002360" cy="607667"/>
              </a:xfrm>
              <a:prstGeom prst="rect">
                <a:avLst/>
              </a:prstGeom>
              <a:blipFill>
                <a:blip r:embed="rId4"/>
                <a:stretch>
                  <a:fillRect l="-2532" r="-2110" b="-816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E6898E-01C0-50FC-2D6C-955AAE619285}"/>
                  </a:ext>
                </a:extLst>
              </p:cNvPr>
              <p:cNvSpPr txBox="1"/>
              <p:nvPr/>
            </p:nvSpPr>
            <p:spPr>
              <a:xfrm>
                <a:off x="6312287" y="4109819"/>
                <a:ext cx="269162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分别是高斯分布的均值和方差</a:t>
                </a:r>
                <a:endParaRPr lang="en-US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E6898E-01C0-50FC-2D6C-955AAE619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287" y="4109819"/>
                <a:ext cx="2691625" cy="646331"/>
              </a:xfrm>
              <a:prstGeom prst="rect">
                <a:avLst/>
              </a:prstGeom>
              <a:blipFill>
                <a:blip r:embed="rId5"/>
                <a:stretch>
                  <a:fillRect l="-1878" t="-3846" b="-1346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5CA9D160-89A3-5E54-E9EF-22E054B4235A}"/>
              </a:ext>
            </a:extLst>
          </p:cNvPr>
          <p:cNvSpPr/>
          <p:nvPr/>
        </p:nvSpPr>
        <p:spPr>
          <a:xfrm>
            <a:off x="203710" y="3158564"/>
            <a:ext cx="13330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  <a:sym typeface="Symbol" pitchFamily="2" charset="2"/>
              </a:rPr>
              <a:t>举例：男生女生的身高分布图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  <a:sym typeface="Symbol" pitchFamily="2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177E637-D366-14AE-78C1-21A272AFAF80}"/>
                  </a:ext>
                </a:extLst>
              </p:cNvPr>
              <p:cNvSpPr/>
              <p:nvPr/>
            </p:nvSpPr>
            <p:spPr>
              <a:xfrm>
                <a:off x="6974134" y="1598278"/>
                <a:ext cx="2174977" cy="8756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2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2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1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2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200" b="1" dirty="0">
                    <a:solidFill>
                      <a:srgbClr val="0070C0"/>
                    </a:solidFill>
                    <a:latin typeface="Helvetica Neue" charset="0"/>
                  </a:rPr>
                  <a:t>的含义是什么？</a:t>
                </a:r>
                <a:endParaRPr lang="en-US" altLang="zh-CN" sz="1200" b="1" dirty="0">
                  <a:solidFill>
                    <a:srgbClr val="0070C0"/>
                  </a:solidFill>
                  <a:latin typeface="Helvetica Neue" charset="0"/>
                </a:endParaRPr>
              </a:p>
              <a:p>
                <a:pPr marL="342900" indent="-342900">
                  <a:buAutoNum type="alphaUcPeriod"/>
                </a:pPr>
                <a:r>
                  <a:rPr lang="zh-CN" altLang="en-US" sz="1200" b="1" dirty="0">
                    <a:solidFill>
                      <a:srgbClr val="0070C0"/>
                    </a:solidFill>
                    <a:latin typeface="Helvetica Neue" charset="0"/>
                  </a:rPr>
                  <a:t>类簇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1200" b="1" dirty="0">
                    <a:solidFill>
                      <a:srgbClr val="0070C0"/>
                    </a:solidFill>
                    <a:latin typeface="Helvetica Neue" charset="0"/>
                  </a:rPr>
                  <a:t>中采到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1" dirty="0">
                    <a:solidFill>
                      <a:srgbClr val="0070C0"/>
                    </a:solidFill>
                    <a:latin typeface="Helvetica Neue" charset="0"/>
                  </a:rPr>
                  <a:t>的概率</a:t>
                </a:r>
                <a:endParaRPr lang="en-US" altLang="zh-CN" sz="1200" b="1" dirty="0">
                  <a:solidFill>
                    <a:srgbClr val="0070C0"/>
                  </a:solidFill>
                  <a:latin typeface="Helvetica Neue" charset="0"/>
                </a:endParaRPr>
              </a:p>
              <a:p>
                <a:pPr marL="342900" indent="-342900">
                  <a:buAutoNum type="alphaUcPeriod"/>
                </a:pPr>
                <a:r>
                  <a:rPr lang="zh-CN" altLang="en-US" sz="1200" b="1" dirty="0">
                    <a:solidFill>
                      <a:srgbClr val="0070C0"/>
                    </a:solidFill>
                    <a:latin typeface="Helvetica Neue" charset="0"/>
                  </a:rPr>
                  <a:t>给定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200" b="1" dirty="0">
                    <a:solidFill>
                      <a:srgbClr val="0070C0"/>
                    </a:solidFill>
                    <a:latin typeface="Helvetica Neue" charset="0"/>
                  </a:rPr>
                  <a:t>判断它属于类簇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1200" b="1" dirty="0">
                    <a:solidFill>
                      <a:srgbClr val="0070C0"/>
                    </a:solidFill>
                    <a:latin typeface="Helvetica Neue" charset="0"/>
                  </a:rPr>
                  <a:t>的概率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177E637-D366-14AE-78C1-21A272AFAF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134" y="1598278"/>
                <a:ext cx="2174977" cy="875624"/>
              </a:xfrm>
              <a:prstGeom prst="rect">
                <a:avLst/>
              </a:prstGeom>
              <a:blipFill>
                <a:blip r:embed="rId6"/>
                <a:stretch>
                  <a:fillRect b="-42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ADDEEF9-E9FD-8333-66A0-69F7B1A9231B}"/>
              </a:ext>
            </a:extLst>
          </p:cNvPr>
          <p:cNvSpPr/>
          <p:nvPr/>
        </p:nvSpPr>
        <p:spPr>
          <a:xfrm>
            <a:off x="7599872" y="1148359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69069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A3B5C-762D-1541-BF2D-CA65F936C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考虑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1-D</a:t>
            </a:r>
            <a:r>
              <a:rPr lang="zh-CN" altLang="en-US" dirty="0"/>
              <a:t>数据下的</a:t>
            </a:r>
            <a:r>
              <a:rPr lang="en-US" altLang="zh-CN" dirty="0"/>
              <a:t>EM</a:t>
            </a:r>
            <a:r>
              <a:rPr lang="zh-CN" altLang="en-US" dirty="0"/>
              <a:t>算法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20AC5-D40C-594F-B776-DFF928B20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5986732" cy="3937000"/>
          </a:xfrm>
        </p:spPr>
        <p:txBody>
          <a:bodyPr/>
          <a:lstStyle/>
          <a:p>
            <a:r>
              <a:rPr lang="zh-CN" altLang="en-US" dirty="0"/>
              <a:t>每个类簇</a:t>
            </a:r>
            <a:r>
              <a:rPr lang="en-US" altLang="en-US" dirty="0"/>
              <a:t> 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dirty="0"/>
              <a:t> </a:t>
            </a:r>
            <a:r>
              <a:rPr lang="zh-CN" altLang="en-US" dirty="0"/>
              <a:t>可以表示为一个高斯分布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</a:t>
            </a:r>
            <a:r>
              <a:rPr lang="en-US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j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 , </a:t>
            </a:r>
            <a:r>
              <a:rPr lang="en-US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j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)</a:t>
            </a:r>
            <a:endParaRPr lang="en-US" altLang="en-US" dirty="0">
              <a:latin typeface="Times New Roman" panose="02020603050405020304" pitchFamily="18" charset="0"/>
              <a:cs typeface="Arial" panose="020B0604020202020204" pitchFamily="34" charset="0"/>
              <a:sym typeface="Symbol" pitchFamily="2" charset="2"/>
            </a:endParaRPr>
          </a:p>
          <a:p>
            <a:pPr lvl="0"/>
            <a:r>
              <a:rPr lang="en-US" altLang="en-US" sz="2400" u="sng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 Step</a:t>
            </a:r>
            <a:r>
              <a:rPr lang="en-US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 </a:t>
            </a:r>
            <a:r>
              <a:rPr lang="en-US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clusters: C</a:t>
            </a:r>
            <a:r>
              <a:rPr lang="en-US" altLang="en-US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…, C</a:t>
            </a:r>
            <a:r>
              <a:rPr lang="en-US" altLang="en-US" sz="2000" i="1" baseline="-25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zh-CN" dirty="0">
              <a:cs typeface="Arial" panose="020B0604020202020204" pitchFamily="34" charset="0"/>
              <a:sym typeface="Symbol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79251-940D-9342-848B-6019FDF4A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10" name="Line 4">
            <a:extLst>
              <a:ext uri="{FF2B5EF4-FFF2-40B4-BE49-F238E27FC236}">
                <a16:creationId xmlns:a16="http://schemas.microsoft.com/office/drawing/2014/main" id="{82939D05-E8DA-9A4B-94BC-8C9CED71A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2589" y="2743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B4D19DF5-B3CB-A649-AC15-01AC2A4C61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0989" y="2743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6">
            <a:extLst>
              <a:ext uri="{FF2B5EF4-FFF2-40B4-BE49-F238E27FC236}">
                <a16:creationId xmlns:a16="http://schemas.microsoft.com/office/drawing/2014/main" id="{B0168DE8-640C-6B4E-9AE4-C628FE09B5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9389" y="2743200"/>
            <a:ext cx="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BD593717-7974-0344-B3C4-DEFFFD61C6E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02589" y="38862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8">
            <a:extLst>
              <a:ext uri="{FF2B5EF4-FFF2-40B4-BE49-F238E27FC236}">
                <a16:creationId xmlns:a16="http://schemas.microsoft.com/office/drawing/2014/main" id="{59BD2EE2-3F1E-254F-BF96-58F7A90E0A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0989" y="38862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FC6535DF-0EF6-B340-9777-5E4B0872ABA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9389" y="38862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0B6367A5-EC53-FA44-882F-B72BBFB7D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989" y="4114800"/>
            <a:ext cx="114005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/>
              <a:t>N(</a:t>
            </a:r>
            <a:r>
              <a:rPr lang="en-US" altLang="en-US" dirty="0">
                <a:sym typeface="Symbol" pitchFamily="2" charset="2"/>
              </a:rPr>
              <a:t></a:t>
            </a:r>
            <a:r>
              <a:rPr lang="en-US" altLang="en-US" baseline="-25000" dirty="0">
                <a:sym typeface="Symbol" pitchFamily="2" charset="2"/>
              </a:rPr>
              <a:t>1</a:t>
            </a:r>
            <a:r>
              <a:rPr lang="en-US" altLang="en-US" dirty="0">
                <a:sym typeface="Symbol" pitchFamily="2" charset="2"/>
              </a:rPr>
              <a:t> , </a:t>
            </a:r>
            <a:r>
              <a:rPr lang="en-US" altLang="en-US" baseline="-25000" dirty="0">
                <a:sym typeface="Symbol" pitchFamily="2" charset="2"/>
              </a:rPr>
              <a:t>1</a:t>
            </a:r>
            <a:r>
              <a:rPr lang="en-US" altLang="en-US" dirty="0">
                <a:sym typeface="Symbol" pitchFamily="2" charset="2"/>
              </a:rPr>
              <a:t>)</a:t>
            </a:r>
          </a:p>
          <a:p>
            <a:pPr algn="ctr" eaLnBrk="1" hangingPunct="1"/>
            <a:r>
              <a:rPr lang="en-US" altLang="en-US" dirty="0">
                <a:sym typeface="Symbol" pitchFamily="2" charset="2"/>
              </a:rPr>
              <a:t>P(C</a:t>
            </a:r>
            <a:r>
              <a:rPr lang="en-US" altLang="en-US" baseline="-25000" dirty="0">
                <a:sym typeface="Symbol" pitchFamily="2" charset="2"/>
              </a:rPr>
              <a:t>1</a:t>
            </a:r>
            <a:r>
              <a:rPr lang="en-US" altLang="en-US" dirty="0">
                <a:sym typeface="Symbol" pitchFamily="2" charset="2"/>
              </a:rPr>
              <a:t>)</a:t>
            </a:r>
          </a:p>
        </p:txBody>
      </p:sp>
      <p:sp>
        <p:nvSpPr>
          <p:cNvPr id="17" name="Text Box 11">
            <a:extLst>
              <a:ext uri="{FF2B5EF4-FFF2-40B4-BE49-F238E27FC236}">
                <a16:creationId xmlns:a16="http://schemas.microsoft.com/office/drawing/2014/main" id="{23E8BB07-297E-7D46-B33E-89F0158C8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3714" y="4071938"/>
            <a:ext cx="114005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/>
              <a:t>N(</a:t>
            </a:r>
            <a:r>
              <a:rPr lang="en-US" altLang="en-US" dirty="0">
                <a:sym typeface="Symbol" pitchFamily="2" charset="2"/>
              </a:rPr>
              <a:t></a:t>
            </a:r>
            <a:r>
              <a:rPr lang="en-US" altLang="en-US" baseline="-25000" dirty="0">
                <a:sym typeface="Symbol" pitchFamily="2" charset="2"/>
              </a:rPr>
              <a:t>2</a:t>
            </a:r>
            <a:r>
              <a:rPr lang="en-US" altLang="en-US" dirty="0">
                <a:sym typeface="Symbol" pitchFamily="2" charset="2"/>
              </a:rPr>
              <a:t> , </a:t>
            </a:r>
            <a:r>
              <a:rPr lang="en-US" altLang="en-US" baseline="-25000" dirty="0">
                <a:sym typeface="Symbol" pitchFamily="2" charset="2"/>
              </a:rPr>
              <a:t>2</a:t>
            </a:r>
            <a:r>
              <a:rPr lang="en-US" altLang="en-US" dirty="0">
                <a:sym typeface="Symbol" pitchFamily="2" charset="2"/>
              </a:rPr>
              <a:t>)</a:t>
            </a:r>
          </a:p>
          <a:p>
            <a:pPr algn="ctr" eaLnBrk="1" hangingPunct="1"/>
            <a:r>
              <a:rPr lang="en-US" altLang="en-US" dirty="0">
                <a:sym typeface="Symbol" pitchFamily="2" charset="2"/>
              </a:rPr>
              <a:t>P(C</a:t>
            </a:r>
            <a:r>
              <a:rPr lang="en-US" altLang="en-US" baseline="-25000" dirty="0">
                <a:sym typeface="Symbol" pitchFamily="2" charset="2"/>
              </a:rPr>
              <a:t>2</a:t>
            </a:r>
            <a:r>
              <a:rPr lang="en-US" altLang="en-US" dirty="0">
                <a:sym typeface="Symbol" pitchFamily="2" charset="2"/>
              </a:rPr>
              <a:t>)</a:t>
            </a:r>
            <a:endParaRPr lang="en-US" altLang="en-US" dirty="0"/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10926777-F382-B14E-95DC-508392079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114" y="4071938"/>
            <a:ext cx="114005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dirty="0"/>
              <a:t>N(</a:t>
            </a:r>
            <a:r>
              <a:rPr lang="en-US" altLang="en-US" dirty="0">
                <a:sym typeface="Symbol" pitchFamily="2" charset="2"/>
              </a:rPr>
              <a:t></a:t>
            </a:r>
            <a:r>
              <a:rPr lang="en-US" altLang="en-US" baseline="-25000" dirty="0">
                <a:sym typeface="Symbol" pitchFamily="2" charset="2"/>
              </a:rPr>
              <a:t>3</a:t>
            </a:r>
            <a:r>
              <a:rPr lang="en-US" altLang="en-US" dirty="0">
                <a:sym typeface="Symbol" pitchFamily="2" charset="2"/>
              </a:rPr>
              <a:t> , </a:t>
            </a:r>
            <a:r>
              <a:rPr lang="en-US" altLang="en-US" baseline="-25000" dirty="0">
                <a:sym typeface="Symbol" pitchFamily="2" charset="2"/>
              </a:rPr>
              <a:t>3</a:t>
            </a:r>
            <a:r>
              <a:rPr lang="en-US" altLang="en-US" dirty="0">
                <a:sym typeface="Symbol" pitchFamily="2" charset="2"/>
              </a:rPr>
              <a:t>)</a:t>
            </a:r>
          </a:p>
          <a:p>
            <a:pPr algn="ctr" eaLnBrk="1" hangingPunct="1"/>
            <a:r>
              <a:rPr lang="en-US" altLang="en-US" dirty="0">
                <a:sym typeface="Symbol" pitchFamily="2" charset="2"/>
              </a:rPr>
              <a:t>P(C</a:t>
            </a:r>
            <a:r>
              <a:rPr lang="en-US" altLang="en-US" baseline="-25000" dirty="0">
                <a:sym typeface="Symbol" pitchFamily="2" charset="2"/>
              </a:rPr>
              <a:t>3</a:t>
            </a:r>
            <a:r>
              <a:rPr lang="en-US" altLang="en-US" dirty="0">
                <a:sym typeface="Symbol" pitchFamily="2" charset="2"/>
              </a:rPr>
              <a:t>)</a:t>
            </a:r>
            <a:endParaRPr lang="en-US" altLang="en-US" dirty="0"/>
          </a:p>
        </p:txBody>
      </p:sp>
      <p:pic>
        <p:nvPicPr>
          <p:cNvPr id="19" name="Picture 13">
            <a:extLst>
              <a:ext uri="{FF2B5EF4-FFF2-40B4-BE49-F238E27FC236}">
                <a16:creationId xmlns:a16="http://schemas.microsoft.com/office/drawing/2014/main" id="{2781980A-519E-E942-96D4-6CD2DBE70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989" y="2819400"/>
            <a:ext cx="109537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4">
            <a:extLst>
              <a:ext uri="{FF2B5EF4-FFF2-40B4-BE49-F238E27FC236}">
                <a16:creationId xmlns:a16="http://schemas.microsoft.com/office/drawing/2014/main" id="{ED780B57-3EE1-0046-A014-DEEF6A6F2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389" y="2971800"/>
            <a:ext cx="137160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15">
            <a:extLst>
              <a:ext uri="{FF2B5EF4-FFF2-40B4-BE49-F238E27FC236}">
                <a16:creationId xmlns:a16="http://schemas.microsoft.com/office/drawing/2014/main" id="{12381562-D6AE-F24E-A278-3156A78E0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189" y="2743200"/>
            <a:ext cx="9429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A0B3CB5-8D97-7B45-BC1B-C993A61746DF}"/>
              </a:ext>
            </a:extLst>
          </p:cNvPr>
          <p:cNvSpPr/>
          <p:nvPr/>
        </p:nvSpPr>
        <p:spPr>
          <a:xfrm>
            <a:off x="1596030" y="2085885"/>
            <a:ext cx="39036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  <a:sym typeface="Symbol" pitchFamily="2" charset="2"/>
              </a:rPr>
              <a:t></a:t>
            </a:r>
            <a:r>
              <a:rPr lang="en-US" altLang="en-US" sz="2000" i="1" baseline="-25000" dirty="0">
                <a:latin typeface="Times New Roman" panose="02020603050405020304" pitchFamily="18" charset="0"/>
                <a:sym typeface="Symbol" pitchFamily="2" charset="2"/>
              </a:rPr>
              <a:t>j</a:t>
            </a:r>
            <a:r>
              <a:rPr lang="en-US" altLang="en-US" sz="2000" baseline="-25000" dirty="0">
                <a:latin typeface="Times New Roman" panose="02020603050405020304" pitchFamily="18" charset="0"/>
                <a:sym typeface="Symbol" pitchFamily="2" charset="2"/>
              </a:rPr>
              <a:t>,</a:t>
            </a:r>
            <a:r>
              <a:rPr lang="en-US" altLang="en-US" sz="2000" dirty="0">
                <a:latin typeface="Tahoma" panose="020B0604030504040204" pitchFamily="34" charset="0"/>
                <a:sym typeface="Symbol" pitchFamily="2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</a:t>
            </a:r>
            <a:r>
              <a:rPr lang="en-US" altLang="en-US" sz="2000" i="1" baseline="-25000" dirty="0">
                <a:latin typeface="Times" pitchFamily="2" charset="0"/>
                <a:sym typeface="Symbol" pitchFamily="2" charset="2"/>
              </a:rPr>
              <a:t>j</a:t>
            </a:r>
            <a:r>
              <a:rPr lang="en-US" altLang="en-US" sz="2000" dirty="0">
                <a:latin typeface="Times" pitchFamily="2" charset="0"/>
                <a:sym typeface="Symbol" pitchFamily="2" charset="2"/>
              </a:rPr>
              <a:t>) and </a:t>
            </a:r>
            <a:r>
              <a:rPr lang="en-US" altLang="en-US" sz="2000" i="1" dirty="0">
                <a:latin typeface="Times" pitchFamily="2" charset="0"/>
              </a:rPr>
              <a:t>P</a:t>
            </a:r>
            <a:r>
              <a:rPr lang="en-US" altLang="en-US" sz="2000" dirty="0">
                <a:latin typeface="Times" pitchFamily="2" charset="0"/>
              </a:rPr>
              <a:t>(</a:t>
            </a:r>
            <a:r>
              <a:rPr lang="en-US" altLang="en-US" sz="2000" i="1" dirty="0" err="1">
                <a:latin typeface="Times" pitchFamily="2" charset="0"/>
              </a:rPr>
              <a:t>C</a:t>
            </a:r>
            <a:r>
              <a:rPr lang="en-US" altLang="en-US" sz="2000" i="1" baseline="-25000" dirty="0" err="1">
                <a:latin typeface="Times" pitchFamily="2" charset="0"/>
              </a:rPr>
              <a:t>j</a:t>
            </a:r>
            <a:r>
              <a:rPr lang="en-US" altLang="en-US" sz="2000" dirty="0">
                <a:latin typeface="Times" pitchFamily="2" charset="0"/>
              </a:rPr>
              <a:t>)</a:t>
            </a:r>
            <a:r>
              <a:rPr lang="en-US" altLang="en-US" sz="2000" dirty="0">
                <a:latin typeface="Tahoma" panose="020B0604030504040204" pitchFamily="34" charset="0"/>
                <a:sym typeface="Symbol" pitchFamily="2" charset="2"/>
              </a:rPr>
              <a:t> </a:t>
            </a:r>
            <a:r>
              <a:rPr lang="en-US" altLang="en-US" sz="2000" dirty="0">
                <a:latin typeface="Times" pitchFamily="2" charset="0"/>
              </a:rPr>
              <a:t>for each cluster </a:t>
            </a:r>
            <a:r>
              <a:rPr lang="en-US" altLang="en-US" sz="2000" i="1" dirty="0">
                <a:latin typeface="Times" pitchFamily="2" charset="0"/>
              </a:rPr>
              <a:t>j. 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AE75C1-7974-A240-9C4A-FA579E4BBDC1}"/>
              </a:ext>
            </a:extLst>
          </p:cNvPr>
          <p:cNvSpPr/>
          <p:nvPr/>
        </p:nvSpPr>
        <p:spPr>
          <a:xfrm>
            <a:off x="5969793" y="1531888"/>
            <a:ext cx="232275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给每个类簇初始化一个随机的均值</a:t>
            </a:r>
            <a:r>
              <a:rPr lang="en-US" altLang="en-US" i="1" dirty="0">
                <a:latin typeface="Times New Roman" panose="02020603050405020304" pitchFamily="18" charset="0"/>
                <a:sym typeface="Symbol" pitchFamily="2" charset="2"/>
              </a:rPr>
              <a:t></a:t>
            </a:r>
            <a:r>
              <a:rPr lang="en-US" altLang="en-US" i="1" baseline="-25000" dirty="0">
                <a:latin typeface="Times New Roman" panose="02020603050405020304" pitchFamily="18" charset="0"/>
                <a:sym typeface="Symbol" pitchFamily="2" charset="2"/>
              </a:rPr>
              <a:t>j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、方差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</a:t>
            </a:r>
            <a:r>
              <a:rPr lang="en-US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j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2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还有权重</a:t>
            </a:r>
            <a:r>
              <a:rPr lang="en-US" altLang="en-US" i="1" dirty="0">
                <a:latin typeface="Times" pitchFamily="2" charset="0"/>
              </a:rPr>
              <a:t>P</a:t>
            </a:r>
            <a:r>
              <a:rPr lang="en-US" altLang="en-US" dirty="0">
                <a:latin typeface="Times" pitchFamily="2" charset="0"/>
              </a:rPr>
              <a:t>(</a:t>
            </a:r>
            <a:r>
              <a:rPr lang="en-US" altLang="en-US" i="1" dirty="0" err="1">
                <a:latin typeface="Times" pitchFamily="2" charset="0"/>
              </a:rPr>
              <a:t>C</a:t>
            </a:r>
            <a:r>
              <a:rPr lang="en-US" altLang="en-US" i="1" baseline="-25000" dirty="0" err="1">
                <a:latin typeface="Times" pitchFamily="2" charset="0"/>
              </a:rPr>
              <a:t>j</a:t>
            </a:r>
            <a:r>
              <a:rPr lang="en-US" altLang="en-US" dirty="0">
                <a:latin typeface="Times" pitchFamily="2" charset="0"/>
              </a:rPr>
              <a:t>)</a:t>
            </a:r>
            <a:endParaRPr lang="en-US" i="1" dirty="0"/>
          </a:p>
        </p:txBody>
      </p:sp>
      <p:sp>
        <p:nvSpPr>
          <p:cNvPr id="24" name="AutoShape 11">
            <a:extLst>
              <a:ext uri="{FF2B5EF4-FFF2-40B4-BE49-F238E27FC236}">
                <a16:creationId xmlns:a16="http://schemas.microsoft.com/office/drawing/2014/main" id="{A28774E6-D71E-B644-883A-54AE6B1F8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1523" y="1894641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45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F412B-841B-544E-9B2B-FAA120CFB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14AB2D-0F02-924C-8446-935E7747AC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1009650"/>
              </a:xfrm>
            </p:spPr>
            <p:txBody>
              <a:bodyPr/>
              <a:lstStyle/>
              <a:p>
                <a:r>
                  <a:rPr lang="zh-CN" altLang="en-US" dirty="0"/>
                  <a:t>针对每个数据点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和每个类簇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dirty="0"/>
                  <a:t>，计算条件概率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zh-CN" altLang="en-US" dirty="0"/>
                  <a:t>计算方法：贝叶斯公式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14AB2D-0F02-924C-8446-935E7747AC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1009650"/>
              </a:xfrm>
              <a:blipFill>
                <a:blip r:embed="rId2"/>
                <a:stretch>
                  <a:fillRect l="-617" t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A178D-0F3A-2F43-BB74-1E22A22CB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C63D9F-2917-C340-BB35-692EE9A26D45}"/>
                  </a:ext>
                </a:extLst>
              </p:cNvPr>
              <p:cNvSpPr txBox="1"/>
              <p:nvPr/>
            </p:nvSpPr>
            <p:spPr>
              <a:xfrm>
                <a:off x="1033410" y="1856228"/>
                <a:ext cx="4735079" cy="6396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C63D9F-2917-C340-BB35-692EE9A26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410" y="1856228"/>
                <a:ext cx="4735079" cy="639662"/>
              </a:xfrm>
              <a:prstGeom prst="rect">
                <a:avLst/>
              </a:prstGeom>
              <a:blipFill>
                <a:blip r:embed="rId4"/>
                <a:stretch>
                  <a:fillRect l="-535" t="-15385" r="-1070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2518087-89C1-5F4F-8DF8-823D53AA8B2E}"/>
                  </a:ext>
                </a:extLst>
              </p:cNvPr>
              <p:cNvSpPr/>
              <p:nvPr/>
            </p:nvSpPr>
            <p:spPr>
              <a:xfrm>
                <a:off x="912641" y="2678595"/>
                <a:ext cx="3823354" cy="8621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func>
                        <m:funcPr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(−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2518087-89C1-5F4F-8DF8-823D53AA8B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41" y="2678595"/>
                <a:ext cx="3823354" cy="8621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CCF44D0-4CB3-BB49-9260-3DA350695C31}"/>
                  </a:ext>
                </a:extLst>
              </p:cNvPr>
              <p:cNvSpPr/>
              <p:nvPr/>
            </p:nvSpPr>
            <p:spPr>
              <a:xfrm>
                <a:off x="5074356" y="3139053"/>
                <a:ext cx="3864857" cy="13630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当前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EM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步骤中，男生和女生的身高分别服从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(175,10)</m:t>
                    </m:r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16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(165,10)</m:t>
                    </m:r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6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分别为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𝟔𝟕</m:t>
                    </m:r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𝟑𝟑</m:t>
                    </m:r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，请计算</a:t>
                </a:r>
                <a14:m>
                  <m:oMath xmlns:m="http://schemas.openxmlformats.org/officeDocument/2006/math">
                    <m:r>
                      <a:rPr lang="en-US" altLang="zh-CN" sz="16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6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6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6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16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16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a:rPr lang="en-US" altLang="zh-CN" sz="16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endParaRPr lang="en-US" altLang="zh-CN" sz="1600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pPr marL="342900" indent="-342900">
                  <a:buAutoNum type="alphaUcPeriod"/>
                </a:pP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0.5,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0.5</a:t>
                </a:r>
              </a:p>
              <a:p>
                <a:pPr marL="342900" indent="-342900">
                  <a:buAutoNum type="alphaUcPeriod"/>
                </a:pP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0.67,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:r>
                  <a:rPr lang="en-US" altLang="zh-CN" sz="1600" b="1" dirty="0">
                    <a:solidFill>
                      <a:srgbClr val="C00000"/>
                    </a:solidFill>
                    <a:latin typeface="Helvetica Neue" charset="0"/>
                  </a:rPr>
                  <a:t>0.33</a:t>
                </a:r>
                <a:endParaRPr lang="zh-CN" altLang="en-US" sz="1600" b="1" dirty="0">
                  <a:solidFill>
                    <a:srgbClr val="C00000"/>
                  </a:solidFill>
                  <a:latin typeface="Helvetica Neue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CCF44D0-4CB3-BB49-9260-3DA350695C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356" y="3139053"/>
                <a:ext cx="3864857" cy="1363065"/>
              </a:xfrm>
              <a:prstGeom prst="rect">
                <a:avLst/>
              </a:prstGeom>
              <a:blipFill>
                <a:blip r:embed="rId6"/>
                <a:stretch>
                  <a:fillRect l="-984" t="-2778" b="-463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93E8A1D7-FCBF-424F-9A8B-916BB5A8870F}"/>
              </a:ext>
            </a:extLst>
          </p:cNvPr>
          <p:cNvSpPr/>
          <p:nvPr/>
        </p:nvSpPr>
        <p:spPr>
          <a:xfrm>
            <a:off x="7170064" y="3988848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44719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C8EB-6337-7846-A8D0-C38F952D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Maximization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984A89-A9A4-F942-AF70-1314AC455C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72478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已经针对每个数据点和类簇计算了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，使用它作为权重，更新新的参数：每个类簇的均值、方差与权重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984A89-A9A4-F942-AF70-1314AC455C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724784"/>
              </a:xfrm>
              <a:blipFill>
                <a:blip r:embed="rId3"/>
                <a:stretch>
                  <a:fillRect l="-617" t="-5172" b="-86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2D7E8-7A0B-134F-8B31-A641F690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51</a:t>
            </a:fld>
            <a:endParaRPr lang="zh-CN" alt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2C87656-3F4E-334A-90D0-41F85EDA5A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430407"/>
              </p:ext>
            </p:extLst>
          </p:nvPr>
        </p:nvGraphicFramePr>
        <p:xfrm>
          <a:off x="1181819" y="1730375"/>
          <a:ext cx="2133600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721300" imgH="15214600" progId="Equation.3">
                  <p:embed/>
                </p:oleObj>
              </mc:Choice>
              <mc:Fallback>
                <p:oleObj name="Equation" r:id="rId4" imgW="30721300" imgH="15214600" progId="Equation.3">
                  <p:embed/>
                  <p:pic>
                    <p:nvPicPr>
                      <p:cNvPr id="3074" name="Object 4">
                        <a:extLst>
                          <a:ext uri="{FF2B5EF4-FFF2-40B4-BE49-F238E27FC236}">
                            <a16:creationId xmlns:a16="http://schemas.microsoft.com/office/drawing/2014/main" id="{B07934A1-CC65-6347-A7B8-4EC0F92FC2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819" y="1730375"/>
                        <a:ext cx="2133600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90FF3581-C0FD-C44D-B87F-F0A1644C51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559149"/>
              </p:ext>
            </p:extLst>
          </p:nvPr>
        </p:nvGraphicFramePr>
        <p:xfrm>
          <a:off x="1181819" y="3098620"/>
          <a:ext cx="21367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013400" imgH="12001500" progId="Equation.3">
                  <p:embed/>
                </p:oleObj>
              </mc:Choice>
              <mc:Fallback>
                <p:oleObj name="Equation" r:id="rId6" imgW="31013400" imgH="12001500" progId="Equation.3">
                  <p:embed/>
                  <p:pic>
                    <p:nvPicPr>
                      <p:cNvPr id="3076" name="Object 8">
                        <a:extLst>
                          <a:ext uri="{FF2B5EF4-FFF2-40B4-BE49-F238E27FC236}">
                            <a16:creationId xmlns:a16="http://schemas.microsoft.com/office/drawing/2014/main" id="{BA6E9E12-4B72-DA4A-A7AF-7F44BAE157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1819" y="3098620"/>
                        <a:ext cx="213677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AutoShape 11">
            <a:extLst>
              <a:ext uri="{FF2B5EF4-FFF2-40B4-BE49-F238E27FC236}">
                <a16:creationId xmlns:a16="http://schemas.microsoft.com/office/drawing/2014/main" id="{AB06CA3A-62A6-4040-903D-1560D741D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081" y="3192632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AB48FC08-7F0C-FB44-9237-6CCCC8FC4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575" y="2974089"/>
            <a:ext cx="310868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你能观察到与</a:t>
            </a:r>
            <a:r>
              <a:rPr lang="en-US" altLang="zh-CN" sz="2000" dirty="0">
                <a:solidFill>
                  <a:srgbClr val="00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K-Means</a:t>
            </a:r>
            <a:r>
              <a:rPr lang="zh-CN" altLang="en-US" sz="2000" dirty="0">
                <a:solidFill>
                  <a:srgbClr val="00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的联系吗？</a:t>
            </a:r>
            <a:endParaRPr lang="en-US" altLang="en-US" sz="20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E8538C1-CA9A-484B-A096-238CE0AD38F0}"/>
                  </a:ext>
                </a:extLst>
              </p:cNvPr>
              <p:cNvSpPr/>
              <p:nvPr/>
            </p:nvSpPr>
            <p:spPr>
              <a:xfrm>
                <a:off x="6056241" y="3526837"/>
                <a:ext cx="1897314" cy="7201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panose="02040503050406030204" pitchFamily="18" charset="0"/>
                              <a:ea typeface="Cambria Math" charset="0"/>
                              <a:cs typeface="Cambria Math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is-IS" altLang="zh-CN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𝑛𝑘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is-IS" altLang="zh-CN" i="1">
                                  <a:latin typeface="Cambria Math" panose="02040503050406030204" pitchFamily="18" charset="0"/>
                                  <a:ea typeface="Cambria Math" charset="0"/>
                                  <a:cs typeface="Cambria Math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𝑛</m:t>
                              </m:r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charset="0"/>
                                  <a:ea typeface="Cambria Math" charset="0"/>
                                  <a:cs typeface="Cambria Math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charset="0"/>
                                      <a:cs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charset="0"/>
                                      <a:ea typeface="Cambria Math" charset="0"/>
                                      <a:cs typeface="Cambria Math" charset="0"/>
                                    </a:rPr>
                                    <m:t>𝑛𝑘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E8538C1-CA9A-484B-A096-238CE0AD38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241" y="3526837"/>
                <a:ext cx="1897314" cy="720197"/>
              </a:xfrm>
              <a:prstGeom prst="rect">
                <a:avLst/>
              </a:prstGeom>
              <a:blipFill>
                <a:blip r:embed="rId10"/>
                <a:stretch>
                  <a:fillRect t="-57895" b="-85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9EF3A6-7236-B5AF-79B3-99D139F8240B}"/>
                  </a:ext>
                </a:extLst>
              </p:cNvPr>
              <p:cNvSpPr txBox="1"/>
              <p:nvPr/>
            </p:nvSpPr>
            <p:spPr>
              <a:xfrm>
                <a:off x="4391491" y="1822001"/>
                <a:ext cx="2874184" cy="7108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9EF3A6-7236-B5AF-79B3-99D139F82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491" y="1822001"/>
                <a:ext cx="2874184" cy="710836"/>
              </a:xfrm>
              <a:prstGeom prst="rect">
                <a:avLst/>
              </a:prstGeom>
              <a:blipFill>
                <a:blip r:embed="rId11"/>
                <a:stretch>
                  <a:fillRect l="-439" t="-54386" b="-9122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9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CF089-495A-8F48-800F-59D9D2C5D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K-Means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EM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5962E-1403-2244-AA87-46890C88D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5612704" cy="3937000"/>
          </a:xfrm>
        </p:spPr>
        <p:txBody>
          <a:bodyPr/>
          <a:lstStyle/>
          <a:p>
            <a:r>
              <a:rPr lang="en-US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Step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clusters: C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C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Step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the cluster of each data point</a:t>
            </a:r>
          </a:p>
          <a:p>
            <a:pPr lvl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168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Re-estimate the cluster parameters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291BA-1EA7-B647-B349-944F8D16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A1EC57-5C8D-9345-9AC5-D471EF4E629A}"/>
              </a:ext>
            </a:extLst>
          </p:cNvPr>
          <p:cNvSpPr/>
          <p:nvPr/>
        </p:nvSpPr>
        <p:spPr>
          <a:xfrm>
            <a:off x="1578777" y="1619333"/>
            <a:ext cx="39036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  <a:sym typeface="Symbol" pitchFamily="2" charset="2"/>
              </a:rPr>
              <a:t></a:t>
            </a:r>
            <a:r>
              <a:rPr lang="en-US" altLang="en-US" sz="2000" i="1" baseline="-25000" dirty="0">
                <a:latin typeface="Times New Roman" panose="02020603050405020304" pitchFamily="18" charset="0"/>
                <a:sym typeface="Symbol" pitchFamily="2" charset="2"/>
              </a:rPr>
              <a:t>j</a:t>
            </a:r>
            <a:r>
              <a:rPr lang="en-US" altLang="en-US" sz="2000" baseline="-25000" dirty="0">
                <a:latin typeface="Times New Roman" panose="02020603050405020304" pitchFamily="18" charset="0"/>
                <a:sym typeface="Symbol" pitchFamily="2" charset="2"/>
              </a:rPr>
              <a:t>,</a:t>
            </a:r>
            <a:r>
              <a:rPr lang="en-US" altLang="en-US" sz="2000" dirty="0">
                <a:latin typeface="Tahoma" panose="020B0604030504040204" pitchFamily="34" charset="0"/>
                <a:sym typeface="Symbol" pitchFamily="2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</a:t>
            </a:r>
            <a:r>
              <a:rPr lang="en-US" altLang="en-US" sz="2000" i="1" baseline="-25000" dirty="0">
                <a:latin typeface="Times" pitchFamily="2" charset="0"/>
                <a:sym typeface="Symbol" pitchFamily="2" charset="2"/>
              </a:rPr>
              <a:t>j</a:t>
            </a:r>
            <a:r>
              <a:rPr lang="en-US" altLang="en-US" sz="2000" dirty="0">
                <a:latin typeface="Times" pitchFamily="2" charset="0"/>
                <a:sym typeface="Symbol" pitchFamily="2" charset="2"/>
              </a:rPr>
              <a:t>) and </a:t>
            </a:r>
            <a:r>
              <a:rPr lang="en-US" altLang="en-US" sz="2000" i="1" dirty="0">
                <a:latin typeface="Times" pitchFamily="2" charset="0"/>
              </a:rPr>
              <a:t>P</a:t>
            </a:r>
            <a:r>
              <a:rPr lang="en-US" altLang="en-US" sz="2000" dirty="0">
                <a:latin typeface="Times" pitchFamily="2" charset="0"/>
              </a:rPr>
              <a:t>(</a:t>
            </a:r>
            <a:r>
              <a:rPr lang="en-US" altLang="en-US" sz="2000" i="1" dirty="0" err="1">
                <a:latin typeface="Times" pitchFamily="2" charset="0"/>
              </a:rPr>
              <a:t>C</a:t>
            </a:r>
            <a:r>
              <a:rPr lang="en-US" altLang="en-US" sz="2000" i="1" baseline="-25000" dirty="0" err="1">
                <a:latin typeface="Times" pitchFamily="2" charset="0"/>
              </a:rPr>
              <a:t>j</a:t>
            </a:r>
            <a:r>
              <a:rPr lang="en-US" altLang="en-US" sz="2000" dirty="0">
                <a:latin typeface="Times" pitchFamily="2" charset="0"/>
              </a:rPr>
              <a:t>)</a:t>
            </a:r>
            <a:r>
              <a:rPr lang="en-US" altLang="en-US" sz="2000" dirty="0">
                <a:latin typeface="Tahoma" panose="020B0604030504040204" pitchFamily="34" charset="0"/>
                <a:sym typeface="Symbol" pitchFamily="2" charset="2"/>
              </a:rPr>
              <a:t> </a:t>
            </a:r>
            <a:r>
              <a:rPr lang="en-US" altLang="en-US" sz="2000" dirty="0">
                <a:latin typeface="Times" pitchFamily="2" charset="0"/>
              </a:rPr>
              <a:t>for each cluster </a:t>
            </a:r>
            <a:r>
              <a:rPr lang="en-US" altLang="en-US" sz="2000" i="1" dirty="0">
                <a:latin typeface="Times" pitchFamily="2" charset="0"/>
              </a:rPr>
              <a:t>j.  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1A3D2C3A-1F7C-3F43-8629-07664C3F2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648" y="3859341"/>
            <a:ext cx="1954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>
                <a:latin typeface="Times" pitchFamily="2" charset="0"/>
              </a:rPr>
              <a:t>For each cluster </a:t>
            </a:r>
            <a:r>
              <a:rPr lang="en-US" altLang="en-US" sz="2000" i="1" dirty="0">
                <a:latin typeface="Times" pitchFamily="2" charset="0"/>
              </a:rPr>
              <a:t>j</a:t>
            </a: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A8932F38-A6E2-A946-8F28-5E8BBF925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104" y="2920271"/>
            <a:ext cx="227979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E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solidFill>
                  <a:srgbClr val="009999"/>
                </a:solidFill>
                <a:latin typeface="Tahoma" panose="020B0604030504040204" pitchFamily="34" charset="0"/>
              </a:rPr>
              <a:t>xpectation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)</a:t>
            </a:r>
            <a:r>
              <a:rPr lang="zh-CN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Step</a:t>
            </a:r>
            <a:endParaRPr lang="en-US" altLang="en-US" sz="2000" dirty="0">
              <a:solidFill>
                <a:srgbClr val="009999"/>
              </a:solidFill>
              <a:latin typeface="Tahoma" panose="020B0604030504040204" pitchFamily="34" charset="0"/>
            </a:endParaRP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D673B8C1-9E30-1E44-B20B-76BD7D9E4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104" y="3838703"/>
            <a:ext cx="24336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M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solidFill>
                  <a:srgbClr val="009999"/>
                </a:solidFill>
                <a:latin typeface="Tahoma" panose="020B0604030504040204" pitchFamily="34" charset="0"/>
              </a:rPr>
              <a:t>aximization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)</a:t>
            </a:r>
            <a:r>
              <a:rPr lang="zh-CN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Step</a:t>
            </a:r>
            <a:endParaRPr lang="en-US" altLang="en-US" sz="2000" dirty="0">
              <a:solidFill>
                <a:srgbClr val="009999"/>
              </a:solidFill>
              <a:latin typeface="Tahoma" panose="020B0604030504040204" pitchFamily="34" charset="0"/>
            </a:endParaRPr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232749ED-A4F4-944D-BDD2-4B115700B0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704" y="3006026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7" name="AutoShape 12">
            <a:extLst>
              <a:ext uri="{FF2B5EF4-FFF2-40B4-BE49-F238E27FC236}">
                <a16:creationId xmlns:a16="http://schemas.microsoft.com/office/drawing/2014/main" id="{925D9722-CFCC-1943-8F18-0A20E15DA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704" y="3920426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" name="AutoShape 11">
            <a:extLst>
              <a:ext uri="{FF2B5EF4-FFF2-40B4-BE49-F238E27FC236}">
                <a16:creationId xmlns:a16="http://schemas.microsoft.com/office/drawing/2014/main" id="{F890569D-1A7C-7441-9109-2EF266D98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299" y="1683988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9" name="Text Box 9">
            <a:extLst>
              <a:ext uri="{FF2B5EF4-FFF2-40B4-BE49-F238E27FC236}">
                <a16:creationId xmlns:a16="http://schemas.microsoft.com/office/drawing/2014/main" id="{9B5FB5B3-7A99-744C-A1CE-7F6A446DE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793" y="1465445"/>
            <a:ext cx="222870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假设每个类簇的数据服从</a:t>
            </a:r>
            <a:r>
              <a: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高斯分布</a:t>
            </a:r>
            <a:endParaRPr lang="en-US" altLang="en-US" sz="20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59548D-032C-5DB1-2BD4-1A9258044DB5}"/>
                  </a:ext>
                </a:extLst>
              </p:cNvPr>
              <p:cNvSpPr txBox="1"/>
              <p:nvPr/>
            </p:nvSpPr>
            <p:spPr>
              <a:xfrm>
                <a:off x="1898779" y="3870578"/>
                <a:ext cx="1447769" cy="3282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59548D-032C-5DB1-2BD4-1A9258044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779" y="3870578"/>
                <a:ext cx="1447769" cy="328295"/>
              </a:xfrm>
              <a:prstGeom prst="rect">
                <a:avLst/>
              </a:prstGeom>
              <a:blipFill>
                <a:blip r:embed="rId2"/>
                <a:stretch>
                  <a:fillRect r="-5217" b="-2222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3DE26E2-22C4-5F92-9574-B373D332EC0C}"/>
                  </a:ext>
                </a:extLst>
              </p:cNvPr>
              <p:cNvSpPr/>
              <p:nvPr/>
            </p:nvSpPr>
            <p:spPr>
              <a:xfrm>
                <a:off x="1578777" y="2920271"/>
                <a:ext cx="1045479" cy="391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x-none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3DE26E2-22C4-5F92-9574-B373D332EC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777" y="2920271"/>
                <a:ext cx="1045479" cy="391646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3923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考虑多维数据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多维变量高斯分布联合概率密度函数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53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8C0291E-2D02-4046-877F-18111CC29EFD}"/>
                  </a:ext>
                </a:extLst>
              </p:cNvPr>
              <p:cNvSpPr txBox="1"/>
              <p:nvPr/>
            </p:nvSpPr>
            <p:spPr>
              <a:xfrm>
                <a:off x="1786922" y="1320157"/>
                <a:ext cx="5137368" cy="5631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charset="0"/>
                            </a:rPr>
                            <m:t>𝑋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𝑑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charset="0"/>
                                    </a:rPr>
                                    <m:t>Σ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1/2</m:t>
                              </m:r>
                            </m:sup>
                          </m:sSup>
                        </m:den>
                      </m:f>
                      <m:func>
                        <m:funcPr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(−</m:t>
                          </m:r>
                          <m:f>
                            <m:fPr>
                              <m:ctrlPr>
                                <a:rPr lang="mr-IN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charset="0"/>
                                    </a:rPr>
                                    <m:t>𝑋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charset="0"/>
                                </a:rPr>
                                <m:t>𝑋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8C0291E-2D02-4046-877F-18111CC29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922" y="1320157"/>
                <a:ext cx="5137368" cy="56316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469" y="1997624"/>
            <a:ext cx="3744274" cy="287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58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D4175-02B2-124D-9878-AD90DC2C9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考虑多维数据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Expectation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F9902-7EBC-7343-B93E-20CA6A203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3C97FB5E-4998-6245-B9C6-76CE07E42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1479430"/>
            <a:ext cx="1676400" cy="2027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i="1">
                <a:latin typeface="Times" pitchFamily="2" charset="0"/>
              </a:rPr>
              <a:t>x</a:t>
            </a:r>
            <a:r>
              <a:rPr lang="en-US" altLang="en-US" i="1" baseline="-25000">
                <a:latin typeface="Times" pitchFamily="2" charset="0"/>
              </a:rPr>
              <a:t>1</a:t>
            </a:r>
            <a:r>
              <a:rPr lang="en-US" altLang="en-US">
                <a:latin typeface="Times" pitchFamily="2" charset="0"/>
              </a:rPr>
              <a:t>={</a:t>
            </a:r>
            <a:r>
              <a:rPr lang="en-US" altLang="en-US" i="1">
                <a:latin typeface="Times" pitchFamily="2" charset="0"/>
              </a:rPr>
              <a:t>r</a:t>
            </a:r>
            <a:r>
              <a:rPr lang="en-US" altLang="en-US" i="1" baseline="-25000">
                <a:latin typeface="Times" pitchFamily="2" charset="0"/>
              </a:rPr>
              <a:t>1</a:t>
            </a:r>
            <a:r>
              <a:rPr lang="en-US" altLang="en-US" i="1">
                <a:latin typeface="Times" pitchFamily="2" charset="0"/>
              </a:rPr>
              <a:t>, g</a:t>
            </a:r>
            <a:r>
              <a:rPr lang="en-US" altLang="en-US" i="1" baseline="-25000">
                <a:latin typeface="Times" pitchFamily="2" charset="0"/>
              </a:rPr>
              <a:t>1</a:t>
            </a:r>
            <a:r>
              <a:rPr lang="en-US" altLang="en-US" i="1">
                <a:latin typeface="Times" pitchFamily="2" charset="0"/>
              </a:rPr>
              <a:t>, b</a:t>
            </a:r>
            <a:r>
              <a:rPr lang="en-US" altLang="en-US" i="1" baseline="-25000">
                <a:latin typeface="Times" pitchFamily="2" charset="0"/>
              </a:rPr>
              <a:t>1</a:t>
            </a:r>
            <a:r>
              <a:rPr lang="en-US" altLang="en-US">
                <a:latin typeface="Times" pitchFamily="2" charset="0"/>
              </a:rPr>
              <a:t>}</a:t>
            </a:r>
          </a:p>
          <a:p>
            <a:pPr>
              <a:spcBef>
                <a:spcPct val="50000"/>
              </a:spcBef>
            </a:pPr>
            <a:r>
              <a:rPr lang="en-US" altLang="en-US" i="1">
                <a:latin typeface="Times" pitchFamily="2" charset="0"/>
              </a:rPr>
              <a:t>x</a:t>
            </a:r>
            <a:r>
              <a:rPr lang="en-US" altLang="en-US" i="1" baseline="-25000">
                <a:latin typeface="Times" pitchFamily="2" charset="0"/>
              </a:rPr>
              <a:t>2</a:t>
            </a:r>
            <a:r>
              <a:rPr lang="en-US" altLang="en-US">
                <a:latin typeface="Times" pitchFamily="2" charset="0"/>
              </a:rPr>
              <a:t>={</a:t>
            </a:r>
            <a:r>
              <a:rPr lang="en-US" altLang="en-US" i="1">
                <a:latin typeface="Times" pitchFamily="2" charset="0"/>
              </a:rPr>
              <a:t>r</a:t>
            </a:r>
            <a:r>
              <a:rPr lang="en-US" altLang="en-US" i="1" baseline="-25000">
                <a:latin typeface="Times" pitchFamily="2" charset="0"/>
              </a:rPr>
              <a:t>2</a:t>
            </a:r>
            <a:r>
              <a:rPr lang="en-US" altLang="en-US" i="1">
                <a:latin typeface="Times" pitchFamily="2" charset="0"/>
              </a:rPr>
              <a:t>, g</a:t>
            </a:r>
            <a:r>
              <a:rPr lang="en-US" altLang="en-US" i="1" baseline="-25000">
                <a:latin typeface="Times" pitchFamily="2" charset="0"/>
              </a:rPr>
              <a:t>2</a:t>
            </a:r>
            <a:r>
              <a:rPr lang="en-US" altLang="en-US" i="1">
                <a:latin typeface="Times" pitchFamily="2" charset="0"/>
              </a:rPr>
              <a:t>, b</a:t>
            </a:r>
            <a:r>
              <a:rPr lang="en-US" altLang="en-US" i="1" baseline="-25000">
                <a:latin typeface="Times" pitchFamily="2" charset="0"/>
              </a:rPr>
              <a:t>2</a:t>
            </a:r>
            <a:r>
              <a:rPr lang="en-US" altLang="en-US">
                <a:latin typeface="Times" pitchFamily="2" charset="0"/>
              </a:rPr>
              <a:t>}</a:t>
            </a:r>
          </a:p>
          <a:p>
            <a:pPr>
              <a:spcBef>
                <a:spcPct val="50000"/>
              </a:spcBef>
            </a:pPr>
            <a:r>
              <a:rPr lang="en-US" altLang="en-US">
                <a:latin typeface="Times" pitchFamily="2" charset="0"/>
              </a:rPr>
              <a:t>…</a:t>
            </a:r>
          </a:p>
          <a:p>
            <a:pPr>
              <a:spcBef>
                <a:spcPct val="50000"/>
              </a:spcBef>
            </a:pPr>
            <a:r>
              <a:rPr lang="en-US" altLang="en-US" i="1">
                <a:latin typeface="Times" pitchFamily="2" charset="0"/>
              </a:rPr>
              <a:t>x</a:t>
            </a:r>
            <a:r>
              <a:rPr lang="en-US" altLang="en-US" i="1" baseline="-25000">
                <a:latin typeface="Times" pitchFamily="2" charset="0"/>
              </a:rPr>
              <a:t>i</a:t>
            </a:r>
            <a:r>
              <a:rPr lang="en-US" altLang="en-US">
                <a:latin typeface="Times" pitchFamily="2" charset="0"/>
              </a:rPr>
              <a:t>={</a:t>
            </a:r>
            <a:r>
              <a:rPr lang="en-US" altLang="en-US" i="1">
                <a:latin typeface="Times" pitchFamily="2" charset="0"/>
              </a:rPr>
              <a:t>r</a:t>
            </a:r>
            <a:r>
              <a:rPr lang="en-US" altLang="en-US" i="1" baseline="-25000">
                <a:latin typeface="Times" pitchFamily="2" charset="0"/>
              </a:rPr>
              <a:t>i</a:t>
            </a:r>
            <a:r>
              <a:rPr lang="en-US" altLang="en-US" i="1">
                <a:latin typeface="Times" pitchFamily="2" charset="0"/>
              </a:rPr>
              <a:t>, g</a:t>
            </a:r>
            <a:r>
              <a:rPr lang="en-US" altLang="en-US" i="1" baseline="-25000">
                <a:latin typeface="Times" pitchFamily="2" charset="0"/>
              </a:rPr>
              <a:t>i</a:t>
            </a:r>
            <a:r>
              <a:rPr lang="en-US" altLang="en-US" i="1">
                <a:latin typeface="Times" pitchFamily="2" charset="0"/>
              </a:rPr>
              <a:t>, b</a:t>
            </a:r>
            <a:r>
              <a:rPr lang="en-US" altLang="en-US" i="1" baseline="-25000">
                <a:latin typeface="Times" pitchFamily="2" charset="0"/>
              </a:rPr>
              <a:t>i</a:t>
            </a:r>
            <a:r>
              <a:rPr lang="en-US" altLang="en-US">
                <a:latin typeface="Times" pitchFamily="2" charset="0"/>
              </a:rPr>
              <a:t>}</a:t>
            </a:r>
          </a:p>
          <a:p>
            <a:pPr>
              <a:spcBef>
                <a:spcPct val="50000"/>
              </a:spcBef>
            </a:pPr>
            <a:r>
              <a:rPr lang="en-US" altLang="en-US">
                <a:latin typeface="Times" pitchFamily="2" charset="0"/>
              </a:rPr>
              <a:t>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682BECE-0FF4-894A-8CAB-A8089882D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75" y="1479430"/>
            <a:ext cx="2286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latin typeface="Times" pitchFamily="2" charset="0"/>
              </a:rPr>
              <a:t>Cluster Parameters</a:t>
            </a:r>
          </a:p>
          <a:p>
            <a:pPr algn="ctr"/>
            <a:r>
              <a:rPr lang="en-US" altLang="en-US">
                <a:latin typeface="Times" pitchFamily="2" charset="0"/>
                <a:sym typeface="Symbol" pitchFamily="2" charset="2"/>
              </a:rPr>
              <a:t>(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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1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,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1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)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, p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(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C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1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)</a:t>
            </a:r>
            <a:r>
              <a:rPr lang="en-US" altLang="en-US">
                <a:latin typeface="Times" pitchFamily="2" charset="0"/>
              </a:rPr>
              <a:t> for C</a:t>
            </a:r>
            <a:r>
              <a:rPr lang="en-US" altLang="en-US" i="1" baseline="-25000">
                <a:latin typeface="Times" pitchFamily="2" charset="0"/>
              </a:rPr>
              <a:t>1</a:t>
            </a:r>
          </a:p>
          <a:p>
            <a:pPr algn="ctr"/>
            <a:r>
              <a:rPr lang="en-US" altLang="en-US">
                <a:latin typeface="Times" pitchFamily="2" charset="0"/>
                <a:sym typeface="Symbol" pitchFamily="2" charset="2"/>
              </a:rPr>
              <a:t>(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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2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,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2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)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, p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(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C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2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)</a:t>
            </a:r>
            <a:r>
              <a:rPr lang="en-US" altLang="en-US">
                <a:latin typeface="Times" pitchFamily="2" charset="0"/>
              </a:rPr>
              <a:t> for C</a:t>
            </a:r>
            <a:r>
              <a:rPr lang="en-US" altLang="en-US" i="1" baseline="-25000">
                <a:latin typeface="Times" pitchFamily="2" charset="0"/>
              </a:rPr>
              <a:t>2</a:t>
            </a:r>
          </a:p>
          <a:p>
            <a:pPr algn="ctr"/>
            <a:endParaRPr lang="en-US" altLang="en-US" i="1" baseline="-25000">
              <a:latin typeface="Times" pitchFamily="2" charset="0"/>
            </a:endParaRPr>
          </a:p>
          <a:p>
            <a:pPr algn="ctr"/>
            <a:r>
              <a:rPr lang="en-US" altLang="en-US">
                <a:latin typeface="Times" pitchFamily="2" charset="0"/>
              </a:rPr>
              <a:t>…</a:t>
            </a:r>
            <a:endParaRPr lang="en-US" altLang="en-US" i="1">
              <a:latin typeface="Times" pitchFamily="2" charset="0"/>
            </a:endParaRPr>
          </a:p>
          <a:p>
            <a:pPr algn="ctr"/>
            <a:r>
              <a:rPr lang="en-US" altLang="en-US">
                <a:latin typeface="Times" pitchFamily="2" charset="0"/>
                <a:sym typeface="Symbol" pitchFamily="2" charset="2"/>
              </a:rPr>
              <a:t>(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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k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,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k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)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, p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(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C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k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)</a:t>
            </a:r>
            <a:r>
              <a:rPr lang="en-US" altLang="en-US">
                <a:latin typeface="Times" pitchFamily="2" charset="0"/>
              </a:rPr>
              <a:t> for C</a:t>
            </a:r>
            <a:r>
              <a:rPr lang="en-US" altLang="en-US" i="1" baseline="-25000">
                <a:latin typeface="Times" pitchFamily="2" charset="0"/>
              </a:rPr>
              <a:t>k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5A27CD1A-36C6-764F-9AD2-4F1F58C96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946030"/>
            <a:ext cx="18181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输入</a:t>
            </a:r>
            <a:r>
              <a:rPr lang="en-US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(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已知数据</a:t>
            </a:r>
            <a:r>
              <a:rPr lang="en-US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6C5DEB07-CAFD-6D45-B22B-1C290F769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75" y="946030"/>
            <a:ext cx="18181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输入</a:t>
            </a:r>
            <a:r>
              <a:rPr lang="en-US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(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当前估计</a:t>
            </a:r>
            <a:r>
              <a:rPr lang="en-US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FB0B9EA2-5BB3-1945-87A1-6B3007B17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7382" y="946030"/>
            <a:ext cx="18004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输出：分配结果</a:t>
            </a:r>
            <a:endParaRPr lang="en-US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B0FEC88E-090C-864A-B6D9-2995A973B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0475" y="216523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</a:rPr>
              <a:t>+</a:t>
            </a:r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39A87EC7-EF96-FE40-BF86-2C50B90C1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475" y="2241430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C42A7EED-8687-744B-A131-F4414BB48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275" y="1479430"/>
            <a:ext cx="21336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i="1" dirty="0">
              <a:latin typeface="Times" pitchFamily="2" charset="0"/>
            </a:endParaRPr>
          </a:p>
          <a:p>
            <a:pPr algn="ctr"/>
            <a:r>
              <a:rPr lang="en-US" altLang="en-US" i="1" dirty="0">
                <a:latin typeface="Times" pitchFamily="2" charset="0"/>
              </a:rPr>
              <a:t>p</a:t>
            </a:r>
            <a:r>
              <a:rPr lang="en-US" altLang="en-US" dirty="0">
                <a:latin typeface="Times" pitchFamily="2" charset="0"/>
              </a:rPr>
              <a:t>(</a:t>
            </a:r>
            <a:r>
              <a:rPr lang="en-US" altLang="en-US" dirty="0">
                <a:latin typeface="Times" pitchFamily="2" charset="0"/>
                <a:sym typeface="Symbol" pitchFamily="2" charset="2"/>
              </a:rPr>
              <a:t>C</a:t>
            </a:r>
            <a:r>
              <a:rPr lang="en-US" altLang="en-US" i="1" baseline="-25000" dirty="0">
                <a:latin typeface="Times" pitchFamily="2" charset="0"/>
                <a:sym typeface="Symbol" pitchFamily="2" charset="2"/>
              </a:rPr>
              <a:t>1</a:t>
            </a:r>
            <a:r>
              <a:rPr lang="en-US" altLang="en-US" i="1" dirty="0">
                <a:latin typeface="Times" pitchFamily="2" charset="0"/>
                <a:sym typeface="Symbol" pitchFamily="2" charset="2"/>
              </a:rPr>
              <a:t>|</a:t>
            </a:r>
            <a:r>
              <a:rPr lang="en-US" altLang="en-US" i="1" dirty="0">
                <a:latin typeface="Times" pitchFamily="2" charset="0"/>
              </a:rPr>
              <a:t>x</a:t>
            </a:r>
            <a:r>
              <a:rPr lang="en-US" altLang="en-US" i="1" baseline="-25000" dirty="0">
                <a:latin typeface="Times" pitchFamily="2" charset="0"/>
              </a:rPr>
              <a:t>1</a:t>
            </a:r>
            <a:r>
              <a:rPr lang="en-US" altLang="en-US" dirty="0">
                <a:latin typeface="Times" pitchFamily="2" charset="0"/>
                <a:sym typeface="Symbol" pitchFamily="2" charset="2"/>
              </a:rPr>
              <a:t>)</a:t>
            </a:r>
          </a:p>
          <a:p>
            <a:pPr algn="ctr"/>
            <a:r>
              <a:rPr lang="en-US" altLang="en-US" i="1" dirty="0">
                <a:latin typeface="Times" pitchFamily="2" charset="0"/>
                <a:sym typeface="Symbol" pitchFamily="2" charset="2"/>
              </a:rPr>
              <a:t>p</a:t>
            </a:r>
            <a:r>
              <a:rPr lang="en-US" altLang="en-US" dirty="0">
                <a:latin typeface="Times" pitchFamily="2" charset="0"/>
                <a:sym typeface="Symbol" pitchFamily="2" charset="2"/>
              </a:rPr>
              <a:t>(C</a:t>
            </a:r>
            <a:r>
              <a:rPr lang="en-US" altLang="en-US" i="1" baseline="-25000" dirty="0">
                <a:latin typeface="Times" pitchFamily="2" charset="0"/>
                <a:sym typeface="Symbol" pitchFamily="2" charset="2"/>
              </a:rPr>
              <a:t>j</a:t>
            </a:r>
            <a:r>
              <a:rPr lang="en-US" altLang="en-US" i="1" dirty="0">
                <a:latin typeface="Times" pitchFamily="2" charset="0"/>
                <a:sym typeface="Symbol" pitchFamily="2" charset="2"/>
              </a:rPr>
              <a:t>|</a:t>
            </a:r>
            <a:r>
              <a:rPr lang="en-US" altLang="en-US" i="1" dirty="0">
                <a:latin typeface="Times" pitchFamily="2" charset="0"/>
              </a:rPr>
              <a:t>x</a:t>
            </a:r>
            <a:r>
              <a:rPr lang="en-US" altLang="en-US" i="1" baseline="-25000" dirty="0">
                <a:latin typeface="Times" pitchFamily="2" charset="0"/>
              </a:rPr>
              <a:t>2</a:t>
            </a:r>
            <a:r>
              <a:rPr lang="en-US" altLang="en-US" dirty="0">
                <a:latin typeface="Times" pitchFamily="2" charset="0"/>
                <a:sym typeface="Symbol" pitchFamily="2" charset="2"/>
              </a:rPr>
              <a:t>)</a:t>
            </a:r>
          </a:p>
          <a:p>
            <a:pPr algn="ctr"/>
            <a:r>
              <a:rPr lang="en-US" altLang="en-US" dirty="0">
                <a:latin typeface="Times" pitchFamily="2" charset="0"/>
                <a:sym typeface="Symbol" pitchFamily="2" charset="2"/>
              </a:rPr>
              <a:t>…</a:t>
            </a:r>
          </a:p>
          <a:p>
            <a:pPr algn="ctr"/>
            <a:r>
              <a:rPr lang="en-US" altLang="en-US" i="1" dirty="0">
                <a:latin typeface="Times" pitchFamily="2" charset="0"/>
              </a:rPr>
              <a:t>p</a:t>
            </a:r>
            <a:r>
              <a:rPr lang="en-US" altLang="en-US" dirty="0">
                <a:latin typeface="Times" pitchFamily="2" charset="0"/>
              </a:rPr>
              <a:t>(</a:t>
            </a:r>
            <a:r>
              <a:rPr lang="en-US" altLang="en-US" dirty="0" err="1">
                <a:latin typeface="Times" pitchFamily="2" charset="0"/>
                <a:sym typeface="Symbol" pitchFamily="2" charset="2"/>
              </a:rPr>
              <a:t>C</a:t>
            </a:r>
            <a:r>
              <a:rPr lang="en-US" altLang="en-US" i="1" baseline="-25000" dirty="0" err="1">
                <a:latin typeface="Times" pitchFamily="2" charset="0"/>
                <a:sym typeface="Symbol" pitchFamily="2" charset="2"/>
              </a:rPr>
              <a:t>j</a:t>
            </a:r>
            <a:r>
              <a:rPr lang="en-US" altLang="en-US" i="1" dirty="0" err="1">
                <a:latin typeface="Times" pitchFamily="2" charset="0"/>
                <a:sym typeface="Symbol" pitchFamily="2" charset="2"/>
              </a:rPr>
              <a:t>|</a:t>
            </a:r>
            <a:r>
              <a:rPr lang="en-US" altLang="en-US" i="1" dirty="0" err="1">
                <a:latin typeface="Times" pitchFamily="2" charset="0"/>
              </a:rPr>
              <a:t>x</a:t>
            </a:r>
            <a:r>
              <a:rPr lang="en-US" altLang="en-US" i="1" baseline="-25000" dirty="0" err="1">
                <a:latin typeface="Times" pitchFamily="2" charset="0"/>
              </a:rPr>
              <a:t>i</a:t>
            </a:r>
            <a:r>
              <a:rPr lang="en-US" altLang="en-US" dirty="0">
                <a:latin typeface="Times" pitchFamily="2" charset="0"/>
                <a:sym typeface="Symbol" pitchFamily="2" charset="2"/>
              </a:rPr>
              <a:t>)</a:t>
            </a:r>
          </a:p>
          <a:p>
            <a:pPr algn="ctr"/>
            <a:r>
              <a:rPr lang="en-US" altLang="en-US" dirty="0">
                <a:latin typeface="Times" pitchFamily="2" charset="0"/>
                <a:sym typeface="Symbol" pitchFamily="2" charset="2"/>
              </a:rPr>
              <a:t>…</a:t>
            </a:r>
          </a:p>
        </p:txBody>
      </p:sp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87280B89-DCFD-824C-BBBD-1675D564D5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389323"/>
              </p:ext>
            </p:extLst>
          </p:nvPr>
        </p:nvGraphicFramePr>
        <p:xfrm>
          <a:off x="1420543" y="3825938"/>
          <a:ext cx="4157932" cy="793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431400" imgH="13462000" progId="Equation.3">
                  <p:embed/>
                </p:oleObj>
              </mc:Choice>
              <mc:Fallback>
                <p:oleObj name="Equation" r:id="rId2" imgW="73431400" imgH="13462000" progId="Equation.3">
                  <p:embed/>
                  <p:pic>
                    <p:nvPicPr>
                      <p:cNvPr id="4098" name="Object 11">
                        <a:extLst>
                          <a:ext uri="{FF2B5EF4-FFF2-40B4-BE49-F238E27FC236}">
                            <a16:creationId xmlns:a16="http://schemas.microsoft.com/office/drawing/2014/main" id="{DE04A3BC-5B32-AB49-ACD3-D1673EDB98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543" y="3825938"/>
                        <a:ext cx="4157932" cy="793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39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82CDA-372A-3149-9423-29BE57972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考虑多维数据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Maximization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509AD-D9E6-1946-BB8D-36C44FC7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1F04DE12-916E-9549-B492-0F882754B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17" y="1458029"/>
            <a:ext cx="1676400" cy="2027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i="1">
                <a:latin typeface="Times" pitchFamily="2" charset="0"/>
              </a:rPr>
              <a:t>x</a:t>
            </a:r>
            <a:r>
              <a:rPr lang="en-US" altLang="en-US" i="1" baseline="-25000">
                <a:latin typeface="Times" pitchFamily="2" charset="0"/>
              </a:rPr>
              <a:t>1</a:t>
            </a:r>
            <a:r>
              <a:rPr lang="en-US" altLang="en-US">
                <a:latin typeface="Times" pitchFamily="2" charset="0"/>
              </a:rPr>
              <a:t>={</a:t>
            </a:r>
            <a:r>
              <a:rPr lang="en-US" altLang="en-US" i="1">
                <a:latin typeface="Times" pitchFamily="2" charset="0"/>
              </a:rPr>
              <a:t>r</a:t>
            </a:r>
            <a:r>
              <a:rPr lang="en-US" altLang="en-US" i="1" baseline="-25000">
                <a:latin typeface="Times" pitchFamily="2" charset="0"/>
              </a:rPr>
              <a:t>1</a:t>
            </a:r>
            <a:r>
              <a:rPr lang="en-US" altLang="en-US" i="1">
                <a:latin typeface="Times" pitchFamily="2" charset="0"/>
              </a:rPr>
              <a:t>, g</a:t>
            </a:r>
            <a:r>
              <a:rPr lang="en-US" altLang="en-US" i="1" baseline="-25000">
                <a:latin typeface="Times" pitchFamily="2" charset="0"/>
              </a:rPr>
              <a:t>1</a:t>
            </a:r>
            <a:r>
              <a:rPr lang="en-US" altLang="en-US" i="1">
                <a:latin typeface="Times" pitchFamily="2" charset="0"/>
              </a:rPr>
              <a:t>, b</a:t>
            </a:r>
            <a:r>
              <a:rPr lang="en-US" altLang="en-US" i="1" baseline="-25000">
                <a:latin typeface="Times" pitchFamily="2" charset="0"/>
              </a:rPr>
              <a:t>1</a:t>
            </a:r>
            <a:r>
              <a:rPr lang="en-US" altLang="en-US">
                <a:latin typeface="Times" pitchFamily="2" charset="0"/>
              </a:rPr>
              <a:t>}</a:t>
            </a:r>
          </a:p>
          <a:p>
            <a:pPr>
              <a:spcBef>
                <a:spcPct val="50000"/>
              </a:spcBef>
            </a:pPr>
            <a:r>
              <a:rPr lang="en-US" altLang="en-US" i="1">
                <a:latin typeface="Times" pitchFamily="2" charset="0"/>
              </a:rPr>
              <a:t>x</a:t>
            </a:r>
            <a:r>
              <a:rPr lang="en-US" altLang="en-US" i="1" baseline="-25000">
                <a:latin typeface="Times" pitchFamily="2" charset="0"/>
              </a:rPr>
              <a:t>2</a:t>
            </a:r>
            <a:r>
              <a:rPr lang="en-US" altLang="en-US">
                <a:latin typeface="Times" pitchFamily="2" charset="0"/>
              </a:rPr>
              <a:t>={</a:t>
            </a:r>
            <a:r>
              <a:rPr lang="en-US" altLang="en-US" i="1">
                <a:latin typeface="Times" pitchFamily="2" charset="0"/>
              </a:rPr>
              <a:t>r</a:t>
            </a:r>
            <a:r>
              <a:rPr lang="en-US" altLang="en-US" i="1" baseline="-25000">
                <a:latin typeface="Times" pitchFamily="2" charset="0"/>
              </a:rPr>
              <a:t>2</a:t>
            </a:r>
            <a:r>
              <a:rPr lang="en-US" altLang="en-US" i="1">
                <a:latin typeface="Times" pitchFamily="2" charset="0"/>
              </a:rPr>
              <a:t>, g</a:t>
            </a:r>
            <a:r>
              <a:rPr lang="en-US" altLang="en-US" i="1" baseline="-25000">
                <a:latin typeface="Times" pitchFamily="2" charset="0"/>
              </a:rPr>
              <a:t>2</a:t>
            </a:r>
            <a:r>
              <a:rPr lang="en-US" altLang="en-US" i="1">
                <a:latin typeface="Times" pitchFamily="2" charset="0"/>
              </a:rPr>
              <a:t>, b</a:t>
            </a:r>
            <a:r>
              <a:rPr lang="en-US" altLang="en-US" i="1" baseline="-25000">
                <a:latin typeface="Times" pitchFamily="2" charset="0"/>
              </a:rPr>
              <a:t>2</a:t>
            </a:r>
            <a:r>
              <a:rPr lang="en-US" altLang="en-US">
                <a:latin typeface="Times" pitchFamily="2" charset="0"/>
              </a:rPr>
              <a:t>}</a:t>
            </a:r>
          </a:p>
          <a:p>
            <a:pPr>
              <a:spcBef>
                <a:spcPct val="50000"/>
              </a:spcBef>
            </a:pPr>
            <a:r>
              <a:rPr lang="en-US" altLang="en-US">
                <a:latin typeface="Times" pitchFamily="2" charset="0"/>
              </a:rPr>
              <a:t>…</a:t>
            </a:r>
          </a:p>
          <a:p>
            <a:pPr>
              <a:spcBef>
                <a:spcPct val="50000"/>
              </a:spcBef>
            </a:pPr>
            <a:r>
              <a:rPr lang="en-US" altLang="en-US" i="1">
                <a:latin typeface="Times" pitchFamily="2" charset="0"/>
              </a:rPr>
              <a:t>x</a:t>
            </a:r>
            <a:r>
              <a:rPr lang="en-US" altLang="en-US" i="1" baseline="-25000">
                <a:latin typeface="Times" pitchFamily="2" charset="0"/>
              </a:rPr>
              <a:t>i</a:t>
            </a:r>
            <a:r>
              <a:rPr lang="en-US" altLang="en-US">
                <a:latin typeface="Times" pitchFamily="2" charset="0"/>
              </a:rPr>
              <a:t>={</a:t>
            </a:r>
            <a:r>
              <a:rPr lang="en-US" altLang="en-US" i="1">
                <a:latin typeface="Times" pitchFamily="2" charset="0"/>
              </a:rPr>
              <a:t>r</a:t>
            </a:r>
            <a:r>
              <a:rPr lang="en-US" altLang="en-US" i="1" baseline="-25000">
                <a:latin typeface="Times" pitchFamily="2" charset="0"/>
              </a:rPr>
              <a:t>i</a:t>
            </a:r>
            <a:r>
              <a:rPr lang="en-US" altLang="en-US" i="1">
                <a:latin typeface="Times" pitchFamily="2" charset="0"/>
              </a:rPr>
              <a:t>, g</a:t>
            </a:r>
            <a:r>
              <a:rPr lang="en-US" altLang="en-US" i="1" baseline="-25000">
                <a:latin typeface="Times" pitchFamily="2" charset="0"/>
              </a:rPr>
              <a:t>i</a:t>
            </a:r>
            <a:r>
              <a:rPr lang="en-US" altLang="en-US" i="1">
                <a:latin typeface="Times" pitchFamily="2" charset="0"/>
              </a:rPr>
              <a:t>, b</a:t>
            </a:r>
            <a:r>
              <a:rPr lang="en-US" altLang="en-US" i="1" baseline="-25000">
                <a:latin typeface="Times" pitchFamily="2" charset="0"/>
              </a:rPr>
              <a:t>i</a:t>
            </a:r>
            <a:r>
              <a:rPr lang="en-US" altLang="en-US">
                <a:latin typeface="Times" pitchFamily="2" charset="0"/>
              </a:rPr>
              <a:t>}</a:t>
            </a:r>
          </a:p>
          <a:p>
            <a:pPr>
              <a:spcBef>
                <a:spcPct val="50000"/>
              </a:spcBef>
            </a:pPr>
            <a:r>
              <a:rPr lang="en-US" altLang="en-US">
                <a:latin typeface="Times" pitchFamily="2" charset="0"/>
              </a:rPr>
              <a:t>…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28AF6E8-CE43-F84E-9D75-CF7A73F7E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17" y="1458029"/>
            <a:ext cx="22860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>
                <a:latin typeface="Times" pitchFamily="2" charset="0"/>
              </a:rPr>
              <a:t>Cluster Parameters</a:t>
            </a:r>
          </a:p>
          <a:p>
            <a:pPr algn="ctr"/>
            <a:r>
              <a:rPr lang="en-US" altLang="en-US">
                <a:latin typeface="Times" pitchFamily="2" charset="0"/>
                <a:sym typeface="Symbol" pitchFamily="2" charset="2"/>
              </a:rPr>
              <a:t>(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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1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,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1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)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, p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(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C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1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)</a:t>
            </a:r>
            <a:r>
              <a:rPr lang="en-US" altLang="en-US">
                <a:latin typeface="Times" pitchFamily="2" charset="0"/>
              </a:rPr>
              <a:t> for C</a:t>
            </a:r>
            <a:r>
              <a:rPr lang="en-US" altLang="en-US" i="1" baseline="-25000">
                <a:latin typeface="Times" pitchFamily="2" charset="0"/>
              </a:rPr>
              <a:t>1</a:t>
            </a:r>
          </a:p>
          <a:p>
            <a:pPr algn="ctr"/>
            <a:r>
              <a:rPr lang="en-US" altLang="en-US">
                <a:latin typeface="Times" pitchFamily="2" charset="0"/>
                <a:sym typeface="Symbol" pitchFamily="2" charset="2"/>
              </a:rPr>
              <a:t>(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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2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,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2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)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, p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(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C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2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)</a:t>
            </a:r>
            <a:r>
              <a:rPr lang="en-US" altLang="en-US">
                <a:latin typeface="Times" pitchFamily="2" charset="0"/>
              </a:rPr>
              <a:t> for C</a:t>
            </a:r>
            <a:r>
              <a:rPr lang="en-US" altLang="en-US" i="1" baseline="-25000">
                <a:latin typeface="Times" pitchFamily="2" charset="0"/>
              </a:rPr>
              <a:t>2</a:t>
            </a:r>
          </a:p>
          <a:p>
            <a:pPr algn="ctr"/>
            <a:endParaRPr lang="en-US" altLang="en-US" i="1" baseline="-25000">
              <a:latin typeface="Times" pitchFamily="2" charset="0"/>
            </a:endParaRPr>
          </a:p>
          <a:p>
            <a:pPr algn="ctr"/>
            <a:r>
              <a:rPr lang="en-US" altLang="en-US">
                <a:latin typeface="Times" pitchFamily="2" charset="0"/>
              </a:rPr>
              <a:t>…</a:t>
            </a:r>
            <a:endParaRPr lang="en-US" altLang="en-US" i="1">
              <a:latin typeface="Times" pitchFamily="2" charset="0"/>
            </a:endParaRPr>
          </a:p>
          <a:p>
            <a:pPr algn="ctr"/>
            <a:r>
              <a:rPr lang="en-US" altLang="en-US">
                <a:latin typeface="Times" pitchFamily="2" charset="0"/>
                <a:sym typeface="Symbol" pitchFamily="2" charset="2"/>
              </a:rPr>
              <a:t>(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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k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,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k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)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, p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(</a:t>
            </a:r>
            <a:r>
              <a:rPr lang="en-US" altLang="en-US" i="1">
                <a:latin typeface="Times" pitchFamily="2" charset="0"/>
                <a:sym typeface="Symbol" pitchFamily="2" charset="2"/>
              </a:rPr>
              <a:t>C</a:t>
            </a:r>
            <a:r>
              <a:rPr lang="en-US" altLang="en-US" i="1" baseline="-25000">
                <a:latin typeface="Times" pitchFamily="2" charset="0"/>
                <a:sym typeface="Symbol" pitchFamily="2" charset="2"/>
              </a:rPr>
              <a:t>k</a:t>
            </a:r>
            <a:r>
              <a:rPr lang="en-US" altLang="en-US">
                <a:latin typeface="Times" pitchFamily="2" charset="0"/>
                <a:sym typeface="Symbol" pitchFamily="2" charset="2"/>
              </a:rPr>
              <a:t>)</a:t>
            </a:r>
            <a:r>
              <a:rPr lang="en-US" altLang="en-US">
                <a:latin typeface="Times" pitchFamily="2" charset="0"/>
              </a:rPr>
              <a:t> for C</a:t>
            </a:r>
            <a:r>
              <a:rPr lang="en-US" altLang="en-US" i="1" baseline="-25000">
                <a:latin typeface="Times" pitchFamily="2" charset="0"/>
              </a:rPr>
              <a:t>k</a:t>
            </a: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43FDFCE6-39EC-CD44-8163-626119029D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211725"/>
              </p:ext>
            </p:extLst>
          </p:nvPr>
        </p:nvGraphicFramePr>
        <p:xfrm>
          <a:off x="2804931" y="3816965"/>
          <a:ext cx="2946076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295800" imgH="15214600" progId="Equation.3">
                  <p:embed/>
                </p:oleObj>
              </mc:Choice>
              <mc:Fallback>
                <p:oleObj name="Equation" r:id="rId2" imgW="55295800" imgH="15214600" progId="Equation.3">
                  <p:embed/>
                  <p:pic>
                    <p:nvPicPr>
                      <p:cNvPr id="5122" name="Object 5">
                        <a:extLst>
                          <a:ext uri="{FF2B5EF4-FFF2-40B4-BE49-F238E27FC236}">
                            <a16:creationId xmlns:a16="http://schemas.microsoft.com/office/drawing/2014/main" id="{4E79410E-BA8B-284E-B77B-971705D3C5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4931" y="3816965"/>
                        <a:ext cx="2946076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>
            <a:extLst>
              <a:ext uri="{FF2B5EF4-FFF2-40B4-BE49-F238E27FC236}">
                <a16:creationId xmlns:a16="http://schemas.microsoft.com/office/drawing/2014/main" id="{E867BE00-9C98-8248-B837-A98C98FA2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17" y="924629"/>
            <a:ext cx="17924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输入</a:t>
            </a:r>
            <a:r>
              <a:rPr lang="en-US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(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已知数据</a:t>
            </a:r>
            <a:r>
              <a:rPr lang="en-US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709DCD5C-1542-D945-8DA8-42B4C9A6B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17" y="924629"/>
            <a:ext cx="181812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输入</a:t>
            </a:r>
            <a:r>
              <a:rPr lang="en-US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(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当前分配</a:t>
            </a:r>
            <a:r>
              <a:rPr lang="en-US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5D8F856F-7FA4-7244-AA0A-BB343A10B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017" y="924629"/>
            <a:ext cx="18004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输出：估计结果</a:t>
            </a:r>
            <a:endParaRPr lang="en-US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74266773-18B4-5B45-8122-FE240B002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4217" y="2143829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Tahoma" panose="020B0604030504040204" pitchFamily="34" charset="0"/>
              </a:rPr>
              <a:t>+</a:t>
            </a:r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9BA7D39A-00C4-7B4F-A0B8-EA2451077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17" y="2220029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4E80B56-C89C-4347-85A8-E114F7352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3817" y="1458029"/>
            <a:ext cx="2133600" cy="1905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i="1" dirty="0">
              <a:latin typeface="Times" pitchFamily="2" charset="0"/>
            </a:endParaRPr>
          </a:p>
          <a:p>
            <a:pPr algn="ctr"/>
            <a:r>
              <a:rPr lang="en-US" altLang="en-US" i="1" dirty="0">
                <a:latin typeface="Times" pitchFamily="2" charset="0"/>
              </a:rPr>
              <a:t>p</a:t>
            </a:r>
            <a:r>
              <a:rPr lang="en-US" altLang="en-US" dirty="0">
                <a:latin typeface="Times" pitchFamily="2" charset="0"/>
              </a:rPr>
              <a:t>(</a:t>
            </a:r>
            <a:r>
              <a:rPr lang="en-US" altLang="en-US" dirty="0">
                <a:latin typeface="Times" pitchFamily="2" charset="0"/>
                <a:sym typeface="Symbol" pitchFamily="2" charset="2"/>
              </a:rPr>
              <a:t>C</a:t>
            </a:r>
            <a:r>
              <a:rPr lang="en-US" altLang="en-US" i="1" baseline="-25000" dirty="0">
                <a:latin typeface="Times" pitchFamily="2" charset="0"/>
                <a:sym typeface="Symbol" pitchFamily="2" charset="2"/>
              </a:rPr>
              <a:t>1</a:t>
            </a:r>
            <a:r>
              <a:rPr lang="en-US" altLang="en-US" i="1" dirty="0">
                <a:latin typeface="Times" pitchFamily="2" charset="0"/>
                <a:sym typeface="Symbol" pitchFamily="2" charset="2"/>
              </a:rPr>
              <a:t>|</a:t>
            </a:r>
            <a:r>
              <a:rPr lang="en-US" altLang="en-US" i="1" dirty="0">
                <a:latin typeface="Times" pitchFamily="2" charset="0"/>
              </a:rPr>
              <a:t>x</a:t>
            </a:r>
            <a:r>
              <a:rPr lang="en-US" altLang="en-US" i="1" baseline="-25000" dirty="0">
                <a:latin typeface="Times" pitchFamily="2" charset="0"/>
              </a:rPr>
              <a:t>1</a:t>
            </a:r>
            <a:r>
              <a:rPr lang="en-US" altLang="en-US" dirty="0">
                <a:latin typeface="Times" pitchFamily="2" charset="0"/>
                <a:sym typeface="Symbol" pitchFamily="2" charset="2"/>
              </a:rPr>
              <a:t>)</a:t>
            </a:r>
          </a:p>
          <a:p>
            <a:pPr algn="ctr"/>
            <a:r>
              <a:rPr lang="en-US" altLang="en-US" i="1" dirty="0">
                <a:latin typeface="Times" pitchFamily="2" charset="0"/>
                <a:sym typeface="Symbol" pitchFamily="2" charset="2"/>
              </a:rPr>
              <a:t>p</a:t>
            </a:r>
            <a:r>
              <a:rPr lang="en-US" altLang="en-US" dirty="0">
                <a:latin typeface="Times" pitchFamily="2" charset="0"/>
                <a:sym typeface="Symbol" pitchFamily="2" charset="2"/>
              </a:rPr>
              <a:t>(C</a:t>
            </a:r>
            <a:r>
              <a:rPr lang="en-US" altLang="en-US" i="1" baseline="-25000" dirty="0">
                <a:latin typeface="Times" pitchFamily="2" charset="0"/>
                <a:sym typeface="Symbol" pitchFamily="2" charset="2"/>
              </a:rPr>
              <a:t>j</a:t>
            </a:r>
            <a:r>
              <a:rPr lang="en-US" altLang="en-US" i="1" dirty="0">
                <a:latin typeface="Times" pitchFamily="2" charset="0"/>
                <a:sym typeface="Symbol" pitchFamily="2" charset="2"/>
              </a:rPr>
              <a:t>|</a:t>
            </a:r>
            <a:r>
              <a:rPr lang="en-US" altLang="en-US" i="1" dirty="0">
                <a:latin typeface="Times" pitchFamily="2" charset="0"/>
              </a:rPr>
              <a:t>x</a:t>
            </a:r>
            <a:r>
              <a:rPr lang="en-US" altLang="en-US" i="1" baseline="-25000" dirty="0">
                <a:latin typeface="Times" pitchFamily="2" charset="0"/>
              </a:rPr>
              <a:t>2</a:t>
            </a:r>
            <a:r>
              <a:rPr lang="en-US" altLang="en-US" dirty="0">
                <a:latin typeface="Times" pitchFamily="2" charset="0"/>
                <a:sym typeface="Symbol" pitchFamily="2" charset="2"/>
              </a:rPr>
              <a:t>)</a:t>
            </a:r>
          </a:p>
          <a:p>
            <a:pPr algn="ctr"/>
            <a:r>
              <a:rPr lang="en-US" altLang="en-US" dirty="0">
                <a:latin typeface="Times" pitchFamily="2" charset="0"/>
                <a:sym typeface="Symbol" pitchFamily="2" charset="2"/>
              </a:rPr>
              <a:t>…</a:t>
            </a:r>
          </a:p>
          <a:p>
            <a:pPr algn="ctr"/>
            <a:r>
              <a:rPr lang="en-US" altLang="en-US" i="1" dirty="0">
                <a:latin typeface="Times" pitchFamily="2" charset="0"/>
              </a:rPr>
              <a:t>p</a:t>
            </a:r>
            <a:r>
              <a:rPr lang="en-US" altLang="en-US" dirty="0">
                <a:latin typeface="Times" pitchFamily="2" charset="0"/>
              </a:rPr>
              <a:t>(</a:t>
            </a:r>
            <a:r>
              <a:rPr lang="en-US" altLang="en-US" dirty="0" err="1">
                <a:latin typeface="Times" pitchFamily="2" charset="0"/>
                <a:sym typeface="Symbol" pitchFamily="2" charset="2"/>
              </a:rPr>
              <a:t>C</a:t>
            </a:r>
            <a:r>
              <a:rPr lang="en-US" altLang="en-US" i="1" baseline="-25000" dirty="0" err="1">
                <a:latin typeface="Times" pitchFamily="2" charset="0"/>
                <a:sym typeface="Symbol" pitchFamily="2" charset="2"/>
              </a:rPr>
              <a:t>j</a:t>
            </a:r>
            <a:r>
              <a:rPr lang="en-US" altLang="en-US" i="1" dirty="0" err="1">
                <a:latin typeface="Times" pitchFamily="2" charset="0"/>
                <a:sym typeface="Symbol" pitchFamily="2" charset="2"/>
              </a:rPr>
              <a:t>|</a:t>
            </a:r>
            <a:r>
              <a:rPr lang="en-US" altLang="en-US" i="1" dirty="0" err="1">
                <a:latin typeface="Times" pitchFamily="2" charset="0"/>
              </a:rPr>
              <a:t>x</a:t>
            </a:r>
            <a:r>
              <a:rPr lang="en-US" altLang="en-US" i="1" baseline="-25000" dirty="0" err="1">
                <a:latin typeface="Times" pitchFamily="2" charset="0"/>
              </a:rPr>
              <a:t>i</a:t>
            </a:r>
            <a:r>
              <a:rPr lang="en-US" altLang="en-US" dirty="0">
                <a:latin typeface="Times" pitchFamily="2" charset="0"/>
                <a:sym typeface="Symbol" pitchFamily="2" charset="2"/>
              </a:rPr>
              <a:t>)</a:t>
            </a:r>
          </a:p>
          <a:p>
            <a:pPr algn="ctr"/>
            <a:r>
              <a:rPr lang="en-US" altLang="en-US" dirty="0">
                <a:latin typeface="Times" pitchFamily="2" charset="0"/>
                <a:sym typeface="Symbol" pitchFamily="2" charset="2"/>
              </a:rPr>
              <a:t>…</a:t>
            </a:r>
          </a:p>
        </p:txBody>
      </p:sp>
      <p:graphicFrame>
        <p:nvGraphicFramePr>
          <p:cNvPr id="14" name="Object 12">
            <a:extLst>
              <a:ext uri="{FF2B5EF4-FFF2-40B4-BE49-F238E27FC236}">
                <a16:creationId xmlns:a16="http://schemas.microsoft.com/office/drawing/2014/main" id="{990390E2-83FE-8A42-A606-7A118F2E9D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134891"/>
              </p:ext>
            </p:extLst>
          </p:nvPr>
        </p:nvGraphicFramePr>
        <p:xfrm>
          <a:off x="854851" y="3816965"/>
          <a:ext cx="1620894" cy="8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721300" imgH="15214600" progId="Equation.3">
                  <p:embed/>
                </p:oleObj>
              </mc:Choice>
              <mc:Fallback>
                <p:oleObj name="Equation" r:id="rId4" imgW="30721300" imgH="15214600" progId="Equation.3">
                  <p:embed/>
                  <p:pic>
                    <p:nvPicPr>
                      <p:cNvPr id="5123" name="Object 12">
                        <a:extLst>
                          <a:ext uri="{FF2B5EF4-FFF2-40B4-BE49-F238E27FC236}">
                            <a16:creationId xmlns:a16="http://schemas.microsoft.com/office/drawing/2014/main" id="{19298DB1-E640-1749-AF7D-3CFEB70732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851" y="3816965"/>
                        <a:ext cx="1620894" cy="82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3">
            <a:extLst>
              <a:ext uri="{FF2B5EF4-FFF2-40B4-BE49-F238E27FC236}">
                <a16:creationId xmlns:a16="http://schemas.microsoft.com/office/drawing/2014/main" id="{72E86784-5AE0-4A41-B2E6-69ABD8D203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167611"/>
              </p:ext>
            </p:extLst>
          </p:nvPr>
        </p:nvGraphicFramePr>
        <p:xfrm>
          <a:off x="6182969" y="3905923"/>
          <a:ext cx="1651569" cy="665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013400" imgH="12001500" progId="Equation.3">
                  <p:embed/>
                </p:oleObj>
              </mc:Choice>
              <mc:Fallback>
                <p:oleObj name="Equation" r:id="rId6" imgW="31013400" imgH="12001500" progId="Equation.3">
                  <p:embed/>
                  <p:pic>
                    <p:nvPicPr>
                      <p:cNvPr id="5124" name="Object 13">
                        <a:extLst>
                          <a:ext uri="{FF2B5EF4-FFF2-40B4-BE49-F238E27FC236}">
                            <a16:creationId xmlns:a16="http://schemas.microsoft.com/office/drawing/2014/main" id="{BF7FE9E8-14E6-444E-8838-D79A967630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2969" y="3905923"/>
                        <a:ext cx="1651569" cy="6650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4383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958C-4A13-3044-A241-1242DBF7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</a:t>
            </a:r>
            <a:r>
              <a:rPr lang="zh-CN" altLang="en-US" dirty="0"/>
              <a:t>算法步骤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6598E-51BE-FF49-A20F-D22851BCF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A0A63B0-DD09-8C43-B1B2-1ABE99544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5612704" cy="3937000"/>
          </a:xfrm>
        </p:spPr>
        <p:txBody>
          <a:bodyPr/>
          <a:lstStyle/>
          <a:p>
            <a:r>
              <a:rPr lang="en-US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Step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clusters: C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C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Step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the cluster of each data point</a:t>
            </a:r>
          </a:p>
          <a:p>
            <a:pPr lvl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480"/>
              </a:spcBef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48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Re-estimate the cluster parameters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BA17C8-FEFB-EF48-B857-B8E97B91906B}"/>
              </a:ext>
            </a:extLst>
          </p:cNvPr>
          <p:cNvSpPr/>
          <p:nvPr/>
        </p:nvSpPr>
        <p:spPr>
          <a:xfrm>
            <a:off x="1578777" y="1619333"/>
            <a:ext cx="39036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  <a:sym typeface="Symbol" pitchFamily="2" charset="2"/>
              </a:rPr>
              <a:t></a:t>
            </a:r>
            <a:r>
              <a:rPr lang="en-US" altLang="en-US" sz="2000" i="1" baseline="-25000" dirty="0">
                <a:latin typeface="Times New Roman" panose="02020603050405020304" pitchFamily="18" charset="0"/>
                <a:sym typeface="Symbol" pitchFamily="2" charset="2"/>
              </a:rPr>
              <a:t>j</a:t>
            </a:r>
            <a:r>
              <a:rPr lang="en-US" altLang="en-US" sz="2000" baseline="-25000" dirty="0">
                <a:latin typeface="Times New Roman" panose="02020603050405020304" pitchFamily="18" charset="0"/>
                <a:sym typeface="Symbol" pitchFamily="2" charset="2"/>
              </a:rPr>
              <a:t>,</a:t>
            </a:r>
            <a:r>
              <a:rPr lang="en-US" altLang="en-US" sz="2000" dirty="0">
                <a:latin typeface="Tahoma" panose="020B0604030504040204" pitchFamily="34" charset="0"/>
                <a:sym typeface="Symbol" pitchFamily="2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</a:t>
            </a:r>
            <a:r>
              <a:rPr lang="en-US" altLang="en-US" sz="2000" i="1" baseline="-25000" dirty="0">
                <a:latin typeface="Times" pitchFamily="2" charset="0"/>
                <a:sym typeface="Symbol" pitchFamily="2" charset="2"/>
              </a:rPr>
              <a:t>j</a:t>
            </a:r>
            <a:r>
              <a:rPr lang="en-US" altLang="en-US" sz="2000" dirty="0">
                <a:latin typeface="Times" pitchFamily="2" charset="0"/>
                <a:sym typeface="Symbol" pitchFamily="2" charset="2"/>
              </a:rPr>
              <a:t>) and </a:t>
            </a:r>
            <a:r>
              <a:rPr lang="en-US" altLang="en-US" sz="2000" i="1" dirty="0">
                <a:latin typeface="Times" pitchFamily="2" charset="0"/>
              </a:rPr>
              <a:t>P</a:t>
            </a:r>
            <a:r>
              <a:rPr lang="en-US" altLang="en-US" sz="2000" dirty="0">
                <a:latin typeface="Times" pitchFamily="2" charset="0"/>
              </a:rPr>
              <a:t>(</a:t>
            </a:r>
            <a:r>
              <a:rPr lang="en-US" altLang="en-US" sz="2000" i="1" dirty="0" err="1">
                <a:latin typeface="Times" pitchFamily="2" charset="0"/>
              </a:rPr>
              <a:t>C</a:t>
            </a:r>
            <a:r>
              <a:rPr lang="en-US" altLang="en-US" sz="2000" i="1" baseline="-25000" dirty="0" err="1">
                <a:latin typeface="Times" pitchFamily="2" charset="0"/>
              </a:rPr>
              <a:t>j</a:t>
            </a:r>
            <a:r>
              <a:rPr lang="en-US" altLang="en-US" sz="2000" dirty="0">
                <a:latin typeface="Times" pitchFamily="2" charset="0"/>
              </a:rPr>
              <a:t>)</a:t>
            </a:r>
            <a:r>
              <a:rPr lang="en-US" altLang="en-US" sz="2000" dirty="0">
                <a:latin typeface="Tahoma" panose="020B0604030504040204" pitchFamily="34" charset="0"/>
                <a:sym typeface="Symbol" pitchFamily="2" charset="2"/>
              </a:rPr>
              <a:t> </a:t>
            </a:r>
            <a:r>
              <a:rPr lang="en-US" altLang="en-US" sz="2000" dirty="0">
                <a:latin typeface="Times" pitchFamily="2" charset="0"/>
              </a:rPr>
              <a:t>for each cluster </a:t>
            </a:r>
            <a:r>
              <a:rPr lang="en-US" altLang="en-US" sz="2000" i="1" dirty="0">
                <a:latin typeface="Times" pitchFamily="2" charset="0"/>
              </a:rPr>
              <a:t>j.  </a:t>
            </a:r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B79C10FF-4BD4-0646-A4F0-EEDE9FAF0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104" y="2920271"/>
            <a:ext cx="227979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E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solidFill>
                  <a:srgbClr val="009999"/>
                </a:solidFill>
                <a:latin typeface="Tahoma" panose="020B0604030504040204" pitchFamily="34" charset="0"/>
              </a:rPr>
              <a:t>xpectation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)</a:t>
            </a:r>
            <a:r>
              <a:rPr lang="zh-CN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Step</a:t>
            </a:r>
            <a:endParaRPr lang="en-US" altLang="en-US" sz="2000" dirty="0">
              <a:solidFill>
                <a:srgbClr val="009999"/>
              </a:solidFill>
              <a:latin typeface="Tahoma" panose="020B0604030504040204" pitchFamily="34" charset="0"/>
            </a:endParaRP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6F870880-B303-3A4F-AD71-68B46B23B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104" y="3686303"/>
            <a:ext cx="24336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M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solidFill>
                  <a:srgbClr val="009999"/>
                </a:solidFill>
                <a:latin typeface="Tahoma" panose="020B0604030504040204" pitchFamily="34" charset="0"/>
              </a:rPr>
              <a:t>aximization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)</a:t>
            </a:r>
            <a:r>
              <a:rPr lang="zh-CN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Step</a:t>
            </a:r>
            <a:endParaRPr lang="en-US" altLang="en-US" sz="2000" dirty="0">
              <a:solidFill>
                <a:srgbClr val="009999"/>
              </a:solidFill>
              <a:latin typeface="Tahoma" panose="020B0604030504040204" pitchFamily="34" charset="0"/>
            </a:endParaRPr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92BD6C9E-C270-CF45-B045-A3775C972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704" y="3006026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" name="AutoShape 12">
            <a:extLst>
              <a:ext uri="{FF2B5EF4-FFF2-40B4-BE49-F238E27FC236}">
                <a16:creationId xmlns:a16="http://schemas.microsoft.com/office/drawing/2014/main" id="{707C21F8-37BB-1846-AF32-08E110A0B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704" y="3768026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" name="AutoShape 11">
            <a:extLst>
              <a:ext uri="{FF2B5EF4-FFF2-40B4-BE49-F238E27FC236}">
                <a16:creationId xmlns:a16="http://schemas.microsoft.com/office/drawing/2014/main" id="{BD111BA7-1AAB-3E47-94C9-9F3BFBBBB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299" y="1683988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id="{EE486211-6F6F-314B-AFDD-109B38535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793" y="1465445"/>
            <a:ext cx="222870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00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假设每个类簇的数据服从</a:t>
            </a:r>
            <a:r>
              <a:rPr lang="zh-CN" altLang="en-US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高斯分布</a:t>
            </a:r>
            <a:endParaRPr lang="en-US" altLang="en-US" sz="2000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23" name="Object 5">
            <a:extLst>
              <a:ext uri="{FF2B5EF4-FFF2-40B4-BE49-F238E27FC236}">
                <a16:creationId xmlns:a16="http://schemas.microsoft.com/office/drawing/2014/main" id="{807B03FC-FC00-344C-A5E2-92B4486C10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325527"/>
              </p:ext>
            </p:extLst>
          </p:nvPr>
        </p:nvGraphicFramePr>
        <p:xfrm>
          <a:off x="1673375" y="2920271"/>
          <a:ext cx="3665486" cy="69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3431400" imgH="13462000" progId="Equation.3">
                  <p:embed/>
                </p:oleObj>
              </mc:Choice>
              <mc:Fallback>
                <p:oleObj name="Equation" r:id="rId2" imgW="73431400" imgH="13462000" progId="Equation.3">
                  <p:embed/>
                  <p:pic>
                    <p:nvPicPr>
                      <p:cNvPr id="6146" name="Object 5">
                        <a:extLst>
                          <a:ext uri="{FF2B5EF4-FFF2-40B4-BE49-F238E27FC236}">
                            <a16:creationId xmlns:a16="http://schemas.microsoft.com/office/drawing/2014/main" id="{2E16F8ED-EF85-CF44-9400-32CA3EC17E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375" y="2920271"/>
                        <a:ext cx="3665486" cy="698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>
            <a:extLst>
              <a:ext uri="{FF2B5EF4-FFF2-40B4-BE49-F238E27FC236}">
                <a16:creationId xmlns:a16="http://schemas.microsoft.com/office/drawing/2014/main" id="{BC5D3EC3-A2E8-4549-9F1A-F9F6DD8D6B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784229"/>
              </p:ext>
            </p:extLst>
          </p:nvPr>
        </p:nvGraphicFramePr>
        <p:xfrm>
          <a:off x="3098015" y="4067840"/>
          <a:ext cx="2439172" cy="6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5295800" imgH="15214600" progId="Equation.3">
                  <p:embed/>
                </p:oleObj>
              </mc:Choice>
              <mc:Fallback>
                <p:oleObj name="Equation" r:id="rId4" imgW="55295800" imgH="15214600" progId="Equation.3">
                  <p:embed/>
                  <p:pic>
                    <p:nvPicPr>
                      <p:cNvPr id="6147" name="Object 6">
                        <a:extLst>
                          <a:ext uri="{FF2B5EF4-FFF2-40B4-BE49-F238E27FC236}">
                            <a16:creationId xmlns:a16="http://schemas.microsoft.com/office/drawing/2014/main" id="{91C461D8-7D83-A64D-AA38-DDF57F8082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015" y="4067840"/>
                        <a:ext cx="2439172" cy="6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7">
            <a:extLst>
              <a:ext uri="{FF2B5EF4-FFF2-40B4-BE49-F238E27FC236}">
                <a16:creationId xmlns:a16="http://schemas.microsoft.com/office/drawing/2014/main" id="{CE868841-324E-7346-B044-778F3D669F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894365"/>
              </p:ext>
            </p:extLst>
          </p:nvPr>
        </p:nvGraphicFramePr>
        <p:xfrm>
          <a:off x="1578777" y="4067840"/>
          <a:ext cx="1355813" cy="6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721300" imgH="15214600" progId="Equation.3">
                  <p:embed/>
                </p:oleObj>
              </mc:Choice>
              <mc:Fallback>
                <p:oleObj name="Equation" r:id="rId6" imgW="30721300" imgH="15214600" progId="Equation.3">
                  <p:embed/>
                  <p:pic>
                    <p:nvPicPr>
                      <p:cNvPr id="6148" name="Object 7">
                        <a:extLst>
                          <a:ext uri="{FF2B5EF4-FFF2-40B4-BE49-F238E27FC236}">
                            <a16:creationId xmlns:a16="http://schemas.microsoft.com/office/drawing/2014/main" id="{9CDC07AB-1D2F-7641-90AE-BBCFEF8503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8777" y="4067840"/>
                        <a:ext cx="1355813" cy="6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8">
            <a:extLst>
              <a:ext uri="{FF2B5EF4-FFF2-40B4-BE49-F238E27FC236}">
                <a16:creationId xmlns:a16="http://schemas.microsoft.com/office/drawing/2014/main" id="{E9679A05-2FD1-074C-BCE9-8EBD5A2FE1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5153365"/>
              </p:ext>
            </p:extLst>
          </p:nvPr>
        </p:nvGraphicFramePr>
        <p:xfrm>
          <a:off x="5651900" y="4136356"/>
          <a:ext cx="1368725" cy="52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013400" imgH="12001500" progId="Equation.3">
                  <p:embed/>
                </p:oleObj>
              </mc:Choice>
              <mc:Fallback>
                <p:oleObj name="Equation" r:id="rId8" imgW="31013400" imgH="12001500" progId="Equation.3">
                  <p:embed/>
                  <p:pic>
                    <p:nvPicPr>
                      <p:cNvPr id="6149" name="Object 8">
                        <a:extLst>
                          <a:ext uri="{FF2B5EF4-FFF2-40B4-BE49-F238E27FC236}">
                            <a16:creationId xmlns:a16="http://schemas.microsoft.com/office/drawing/2014/main" id="{0DCE8EE6-7852-FE4B-B3FC-E813EEA95B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900" y="4136356"/>
                        <a:ext cx="1368725" cy="52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205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CF256-6FE7-AC4A-B410-96D1EFFF1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3774"/>
            <a:ext cx="8229600" cy="675376"/>
          </a:xfrm>
        </p:spPr>
        <p:txBody>
          <a:bodyPr/>
          <a:lstStyle/>
          <a:p>
            <a:r>
              <a:rPr lang="en-US" dirty="0"/>
              <a:t>EM</a:t>
            </a:r>
            <a:r>
              <a:rPr lang="zh-CN" altLang="en-US" dirty="0"/>
              <a:t>算法深入 </a:t>
            </a:r>
            <a:r>
              <a:rPr lang="en-US" altLang="zh-CN" dirty="0"/>
              <a:t>–</a:t>
            </a:r>
            <a:r>
              <a:rPr lang="zh-CN" altLang="en-US" dirty="0"/>
              <a:t> 混合高斯模型</a:t>
            </a:r>
            <a:br>
              <a:rPr lang="en-US" altLang="zh-CN" dirty="0"/>
            </a:br>
            <a:r>
              <a:rPr lang="zh-CN" altLang="en-US" sz="1400" dirty="0">
                <a:solidFill>
                  <a:srgbClr val="0070C0"/>
                </a:solidFill>
              </a:rPr>
              <a:t>注：这部分属于了解内容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D5C20-D1B1-9F49-B795-BDE4C7E8B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561076"/>
          </a:xfrm>
        </p:spPr>
        <p:txBody>
          <a:bodyPr/>
          <a:lstStyle/>
          <a:p>
            <a:r>
              <a:rPr lang="zh-CN" altLang="en-US" dirty="0"/>
              <a:t>将简单的模型混合起来成为复杂的模型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B81D2-BA81-7543-959C-E25F6898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41081F-E511-1F4F-8A4F-F0B880728290}"/>
                  </a:ext>
                </a:extLst>
              </p:cNvPr>
              <p:cNvSpPr txBox="1"/>
              <p:nvPr/>
            </p:nvSpPr>
            <p:spPr>
              <a:xfrm>
                <a:off x="1171433" y="1494526"/>
                <a:ext cx="2762295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41081F-E511-1F4F-8A4F-F0B880728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433" y="1494526"/>
                <a:ext cx="2762295" cy="672172"/>
              </a:xfrm>
              <a:prstGeom prst="rect">
                <a:avLst/>
              </a:prstGeom>
              <a:blipFill>
                <a:blip r:embed="rId2"/>
                <a:stretch>
                  <a:fillRect l="-913" t="-144444" r="-1826" b="-196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729F4E-F166-464C-A272-984E8BA22578}"/>
                  </a:ext>
                </a:extLst>
              </p:cNvPr>
              <p:cNvSpPr txBox="1"/>
              <p:nvPr/>
            </p:nvSpPr>
            <p:spPr>
              <a:xfrm>
                <a:off x="6798526" y="1461789"/>
                <a:ext cx="1888274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729F4E-F166-464C-A272-984E8BA22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526" y="1461789"/>
                <a:ext cx="1888274" cy="672172"/>
              </a:xfrm>
              <a:prstGeom prst="rect">
                <a:avLst/>
              </a:prstGeom>
              <a:blipFill>
                <a:blip r:embed="rId3"/>
                <a:stretch>
                  <a:fillRect l="-44295" t="-149057" r="-2685" b="-20377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F339C3C-C6D4-034A-B15A-981B34E1CE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09" y="2396122"/>
            <a:ext cx="3313019" cy="21603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9E0DD0-37A5-5745-91BD-D9BD60D013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966" y="2371878"/>
            <a:ext cx="4227662" cy="22088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622C44-BF0B-4614-AEDA-AC8A24C1F060}"/>
                  </a:ext>
                </a:extLst>
              </p:cNvPr>
              <p:cNvSpPr txBox="1"/>
              <p:nvPr/>
            </p:nvSpPr>
            <p:spPr>
              <a:xfrm>
                <a:off x="4492978" y="1487630"/>
                <a:ext cx="237809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x-none" dirty="0"/>
                  <a:t>其中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x-none" dirty="0"/>
                  <a:t>表示数据属于第k个子模型的概率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622C44-BF0B-4614-AEDA-AC8A24C1F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2978" y="1487630"/>
                <a:ext cx="2378095" cy="646331"/>
              </a:xfrm>
              <a:prstGeom prst="rect">
                <a:avLst/>
              </a:prstGeom>
              <a:blipFill>
                <a:blip r:embed="rId6"/>
                <a:stretch>
                  <a:fillRect l="-2128" t="-3922" b="-17647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981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CF256-6FE7-AC4A-B410-96D1EFFF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混合高斯模型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6D5C20-D1B1-9F49-B795-BDE4C7E8B3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1749880"/>
              </a:xfrm>
            </p:spPr>
            <p:txBody>
              <a:bodyPr/>
              <a:lstStyle/>
              <a:p>
                <a:r>
                  <a:rPr lang="zh-CN" altLang="en-US" dirty="0"/>
                  <a:t>将简单的模型混合起来成为复杂的模型</a:t>
                </a:r>
                <a:endParaRPr lang="en-US" altLang="zh-CN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zh-CN" altLang="en-US" dirty="0"/>
                  <a:t>如何基于一组观测数据</a:t>
                </a:r>
                <a14:m>
                  <m:oMath xmlns:m="http://schemas.openxmlformats.org/officeDocument/2006/math">
                    <m:r>
                      <a:rPr lang="en-US" altLang="zh-CN" b="1" i="0" dirty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zh-CN" altLang="en-US" dirty="0"/>
                  <a:t>，“还原”出背后的模型？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6D5C20-D1B1-9F49-B795-BDE4C7E8B3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1749880"/>
              </a:xfrm>
              <a:blipFill>
                <a:blip r:embed="rId2"/>
                <a:stretch>
                  <a:fillRect l="-617" t="-215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B81D2-BA81-7543-959C-E25F68987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58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41081F-E511-1F4F-8A4F-F0B880728290}"/>
                  </a:ext>
                </a:extLst>
              </p:cNvPr>
              <p:cNvSpPr txBox="1"/>
              <p:nvPr/>
            </p:nvSpPr>
            <p:spPr>
              <a:xfrm>
                <a:off x="1335336" y="1247940"/>
                <a:ext cx="2762295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41081F-E511-1F4F-8A4F-F0B880728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5336" y="1247940"/>
                <a:ext cx="2762295" cy="672172"/>
              </a:xfrm>
              <a:prstGeom prst="rect">
                <a:avLst/>
              </a:prstGeom>
              <a:blipFill>
                <a:blip r:embed="rId3"/>
                <a:stretch>
                  <a:fillRect l="-913" t="-142593" r="-1826" b="-19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729F4E-F166-464C-A272-984E8BA22578}"/>
                  </a:ext>
                </a:extLst>
              </p:cNvPr>
              <p:cNvSpPr txBox="1"/>
              <p:nvPr/>
            </p:nvSpPr>
            <p:spPr>
              <a:xfrm>
                <a:off x="5130959" y="1247940"/>
                <a:ext cx="1888274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729F4E-F166-464C-A272-984E8BA22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959" y="1247940"/>
                <a:ext cx="1888274" cy="672172"/>
              </a:xfrm>
              <a:prstGeom prst="rect">
                <a:avLst/>
              </a:prstGeom>
              <a:blipFill>
                <a:blip r:embed="rId4"/>
                <a:stretch>
                  <a:fillRect l="-43333" t="-142593" r="-2000" b="-19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354ADCDD-5240-4643-9F99-CDC0321BFD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586" y="2458879"/>
            <a:ext cx="3313019" cy="21603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F2DF8BF-5FC6-204D-ACFA-20C1574F7A77}"/>
                  </a:ext>
                </a:extLst>
              </p:cNvPr>
              <p:cNvSpPr/>
              <p:nvPr/>
            </p:nvSpPr>
            <p:spPr>
              <a:xfrm>
                <a:off x="952160" y="2683330"/>
                <a:ext cx="227459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dirty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altLang="zh-CN" sz="2000" b="1" i="0" dirty="0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altLang="zh-CN" sz="2000" b="1" i="0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F2DF8BF-5FC6-204D-ACFA-20C1574F7A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160" y="2683330"/>
                <a:ext cx="2274597" cy="400110"/>
              </a:xfrm>
              <a:prstGeom prst="rect">
                <a:avLst/>
              </a:prstGeom>
              <a:blipFill>
                <a:blip r:embed="rId6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utoShape 11">
            <a:extLst>
              <a:ext uri="{FF2B5EF4-FFF2-40B4-BE49-F238E27FC236}">
                <a16:creationId xmlns:a16="http://schemas.microsoft.com/office/drawing/2014/main" id="{F73DFC8F-18A5-2C47-9C8C-5125DBE07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431" y="2825599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D1D571-FC90-544F-A849-7713A850795F}"/>
              </a:ext>
            </a:extLst>
          </p:cNvPr>
          <p:cNvSpPr/>
          <p:nvPr/>
        </p:nvSpPr>
        <p:spPr>
          <a:xfrm>
            <a:off x="747389" y="3310768"/>
            <a:ext cx="332351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问题抽象：如果已知数据服从某个特定的分布，并有一组观测到的数据样本，对分布的参数进行估计</a:t>
            </a:r>
            <a:endParaRPr lang="en-US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957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B5E0A-8BCD-7146-9533-3175C940D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极大似然估计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Maximum Likelihood Estimate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9331E-BCC0-9E4B-88AF-BDF66ACE0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举例：已知数据服从高斯分布，且我们观测到以下数据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0F0FD-555F-8247-8A86-F5982FCA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59</a:t>
            </a:fld>
            <a:endParaRPr lang="zh-CN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C0E8A0-E3F8-0B4D-AD50-E99C0F7A23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01"/>
          <a:stretch/>
        </p:blipFill>
        <p:spPr>
          <a:xfrm>
            <a:off x="831668" y="1303221"/>
            <a:ext cx="4811486" cy="338484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921D6C-AC17-E14A-9478-AC63DF70FFC7}"/>
              </a:ext>
            </a:extLst>
          </p:cNvPr>
          <p:cNvSpPr/>
          <p:nvPr/>
        </p:nvSpPr>
        <p:spPr>
          <a:xfrm>
            <a:off x="6344698" y="1541937"/>
            <a:ext cx="2674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根据左侧给出的观测数据，你觉得哪个高斯分布函数比较合适呢？</a:t>
            </a:r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  <a:p>
            <a:endParaRPr lang="en-US" altLang="zh-CN" sz="1600" b="1" dirty="0">
              <a:solidFill>
                <a:srgbClr val="C00000"/>
              </a:solidFill>
              <a:latin typeface="Helvetica Neue" charset="0"/>
            </a:endParaRPr>
          </a:p>
          <a:p>
            <a:pPr marL="342900" indent="-342900">
              <a:buAutoNum type="alphaUcPeriod"/>
            </a:pP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分布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1</a:t>
            </a:r>
          </a:p>
          <a:p>
            <a:pPr marL="342900" indent="-342900">
              <a:buAutoNum type="alphaUcPeriod"/>
            </a:pP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分布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2</a:t>
            </a:r>
          </a:p>
          <a:p>
            <a:pPr marL="342900" indent="-342900">
              <a:buAutoNum type="alphaUcPeriod"/>
            </a:pP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分布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3</a:t>
            </a:r>
          </a:p>
          <a:p>
            <a:pPr marL="342900" indent="-342900">
              <a:buAutoNum type="alphaUcPeriod"/>
            </a:pPr>
            <a:r>
              <a:rPr lang="zh-CN" altLang="en-US" sz="1600" b="1" dirty="0">
                <a:solidFill>
                  <a:srgbClr val="C00000"/>
                </a:solidFill>
                <a:latin typeface="Helvetica Neue" charset="0"/>
              </a:rPr>
              <a:t>分布</a:t>
            </a:r>
            <a:r>
              <a:rPr lang="en-US" altLang="zh-CN" sz="1600" b="1" dirty="0">
                <a:solidFill>
                  <a:srgbClr val="C00000"/>
                </a:solidFill>
                <a:latin typeface="Helvetica Neue" charset="0"/>
              </a:rPr>
              <a:t>4</a:t>
            </a:r>
            <a:endParaRPr lang="zh-CN" altLang="en-US" sz="1600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21FD63-8A3E-D449-8BCF-27241D067186}"/>
              </a:ext>
            </a:extLst>
          </p:cNvPr>
          <p:cNvSpPr/>
          <p:nvPr/>
        </p:nvSpPr>
        <p:spPr>
          <a:xfrm>
            <a:off x="7681898" y="1018717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2731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3C0-2A09-F54C-A8F5-B462C17B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极大似然估计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Maximum Likelihood Estimate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AD539A-C2A6-2443-9AD3-8A92F7C9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基本思想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找到一组参数，使得已观测到样本集的联合概率最大化</a:t>
                </a:r>
                <a:endParaRPr lang="en-US" altLang="zh-CN" dirty="0"/>
              </a:p>
              <a:p>
                <a:r>
                  <a:rPr lang="zh-CN" altLang="en-US" dirty="0"/>
                  <a:t>似然函数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假设有样本集</a:t>
                </a:r>
                <a14:m>
                  <m:oMath xmlns:m="http://schemas.openxmlformats.org/officeDocument/2006/math">
                    <m:r>
                      <a:rPr lang="en-US" altLang="zh-CN" b="1" dirty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altLang="zh-CN" b="1" dirty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b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服从高斯分布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l-GR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𝜮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zh-CN" altLang="en-US" dirty="0"/>
                  <a:t>假设样本抽样是独立的，那么我们同时抽到这</a:t>
                </a:r>
                <a:r>
                  <a:rPr lang="en-US" dirty="0"/>
                  <a:t>N</a:t>
                </a:r>
                <a:r>
                  <a:rPr lang="zh-CN" altLang="en-US" dirty="0"/>
                  <a:t>个样本的概率是抽到每个样本概率的乘积，也就是样本集</a:t>
                </a:r>
                <a:r>
                  <a:rPr lang="en-US" dirty="0"/>
                  <a:t>Y</a:t>
                </a:r>
                <a:r>
                  <a:rPr lang="zh-CN" altLang="en-US" dirty="0"/>
                  <a:t>的联合概率。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此联合概率即为似然函数</a:t>
                </a:r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AD539A-C2A6-2443-9AD3-8A92F7C9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 t="-965" r="-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B7C96-070B-8247-800E-9D9672B7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60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5A78BC-1CE6-BB47-A75F-652C4518468F}"/>
                  </a:ext>
                </a:extLst>
              </p:cNvPr>
              <p:cNvSpPr txBox="1"/>
              <p:nvPr/>
            </p:nvSpPr>
            <p:spPr>
              <a:xfrm>
                <a:off x="1393371" y="3222171"/>
                <a:ext cx="2467663" cy="7788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l-GR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5A78BC-1CE6-BB47-A75F-652C45184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371" y="3222171"/>
                <a:ext cx="2467663" cy="778868"/>
              </a:xfrm>
              <a:prstGeom prst="rect">
                <a:avLst/>
              </a:prstGeom>
              <a:blipFill>
                <a:blip r:embed="rId3"/>
                <a:stretch>
                  <a:fillRect l="-513" t="-111290" r="-2051" b="-17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19C8BA-412E-DC46-9C70-2433594566D9}"/>
                  </a:ext>
                </a:extLst>
              </p:cNvPr>
              <p:cNvSpPr txBox="1"/>
              <p:nvPr/>
            </p:nvSpPr>
            <p:spPr>
              <a:xfrm>
                <a:off x="5194662" y="3222171"/>
                <a:ext cx="2840906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l-GR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</m:d>
                        </m:e>
                      </m:fun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l-GR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19C8BA-412E-DC46-9C70-243359456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4662" y="3222171"/>
                <a:ext cx="2840906" cy="778931"/>
              </a:xfrm>
              <a:prstGeom prst="rect">
                <a:avLst/>
              </a:prstGeom>
              <a:blipFill>
                <a:blip r:embed="rId4"/>
                <a:stretch>
                  <a:fillRect l="-1333" t="-111290" r="-2222" b="-17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11">
            <a:extLst>
              <a:ext uri="{FF2B5EF4-FFF2-40B4-BE49-F238E27FC236}">
                <a16:creationId xmlns:a16="http://schemas.microsoft.com/office/drawing/2014/main" id="{5E2C9D5A-40A2-E44A-ABDA-5A76C48DD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109" y="3497305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DE579-BD42-8B45-8609-CE0F8E745DF4}"/>
              </a:ext>
            </a:extLst>
          </p:cNvPr>
          <p:cNvSpPr txBox="1"/>
          <p:nvPr/>
        </p:nvSpPr>
        <p:spPr>
          <a:xfrm>
            <a:off x="4021746" y="384020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00999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对数形式</a:t>
            </a:r>
            <a:endParaRPr lang="en-US" dirty="0">
              <a:solidFill>
                <a:srgbClr val="00999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697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B3C0-2A09-F54C-A8F5-B462C17B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极大似然估计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Maximum Likelihood Estimate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AD539A-C2A6-2443-9AD3-8A92F7C928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3256461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基本思想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找到一组参数，使得已观测到样本集的联合概率最大化</a:t>
                </a:r>
                <a:endParaRPr lang="en-US" altLang="zh-CN" dirty="0"/>
              </a:p>
              <a:p>
                <a:r>
                  <a:rPr lang="zh-CN" altLang="en-US" dirty="0"/>
                  <a:t>最大化似然函数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假设有样本集</a:t>
                </a:r>
                <a14:m>
                  <m:oMath xmlns:m="http://schemas.openxmlformats.org/officeDocument/2006/math">
                    <m:r>
                      <a:rPr lang="en-US" altLang="zh-CN" b="1" dirty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altLang="zh-CN" b="1" dirty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b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服从高斯分布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𝝁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l-GR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𝜮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zh-CN" altLang="en-US" dirty="0"/>
                  <a:t>请写出</a:t>
                </a:r>
                <a:r>
                  <a:rPr lang="en-US" altLang="zh-CN" dirty="0"/>
                  <a:t>1-D</a:t>
                </a:r>
                <a:r>
                  <a:rPr lang="zh-CN" altLang="en-US" dirty="0"/>
                  <a:t>高斯分布的例子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zh-CN" alt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unc>
                      <m:funcPr>
                        <m:ctrlPr>
                          <a:rPr lang="zh-CN" alt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func>
                  </m:oMath>
                </a14:m>
                <a:endParaRPr lang="zh-CN" altLang="en-US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DAD539A-C2A6-2443-9AD3-8A92F7C928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3256461"/>
              </a:xfrm>
              <a:blipFill rotWithShape="0">
                <a:blip r:embed="rId2"/>
                <a:stretch>
                  <a:fillRect l="-667" t="-935" b="-12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B7C96-070B-8247-800E-9D9672B7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61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19C8BA-412E-DC46-9C70-2433594566D9}"/>
                  </a:ext>
                </a:extLst>
              </p:cNvPr>
              <p:cNvSpPr txBox="1"/>
              <p:nvPr/>
            </p:nvSpPr>
            <p:spPr>
              <a:xfrm>
                <a:off x="2207622" y="2398184"/>
                <a:ext cx="3751412" cy="778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func>
                            <m:func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l-GR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𝜮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>
                                          <a:latin typeface="Cambria Math" panose="02040503050406030204" pitchFamily="18" charset="0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l-GR" altLang="zh-CN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𝜮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func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419C8BA-412E-DC46-9C70-243359456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622" y="2398184"/>
                <a:ext cx="3751412" cy="778931"/>
              </a:xfrm>
              <a:prstGeom prst="rect">
                <a:avLst/>
              </a:prstGeom>
              <a:blipFill>
                <a:blip r:embed="rId3"/>
                <a:stretch>
                  <a:fillRect l="-338" t="-111290" r="-1689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B5D506-1E9D-AC44-9981-874D14CE008C}"/>
                  </a:ext>
                </a:extLst>
              </p:cNvPr>
              <p:cNvSpPr txBox="1"/>
              <p:nvPr/>
            </p:nvSpPr>
            <p:spPr>
              <a:xfrm>
                <a:off x="1617537" y="4106294"/>
                <a:ext cx="2664768" cy="5401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  <m:func>
                        <m:funcPr>
                          <m:ctrlPr>
                            <a:rPr lang="zh-CN" altLang="en-US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1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(−</m:t>
                          </m:r>
                          <m:f>
                            <m:fPr>
                              <m:ctrlP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sz="16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altLang="zh-CN" sz="16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1600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B5D506-1E9D-AC44-9981-874D14CE0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7537" y="4106294"/>
                <a:ext cx="2664768" cy="540148"/>
              </a:xfrm>
              <a:prstGeom prst="rect">
                <a:avLst/>
              </a:prstGeom>
              <a:blipFill>
                <a:blip r:embed="rId4"/>
                <a:stretch>
                  <a:fillRect l="-1896" r="-2370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4E3EFD0-7336-974E-8C20-239A71410AFC}"/>
                  </a:ext>
                </a:extLst>
              </p:cNvPr>
              <p:cNvSpPr/>
              <p:nvPr/>
            </p:nvSpPr>
            <p:spPr>
              <a:xfrm>
                <a:off x="6657568" y="3596672"/>
                <a:ext cx="2076858" cy="8394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课后练习：</a:t>
                </a:r>
                <a:endParaRPr lang="en-US" altLang="zh-CN" sz="1600" b="1" dirty="0">
                  <a:solidFill>
                    <a:srgbClr val="C00000"/>
                  </a:solidFill>
                  <a:latin typeface="Helvetica Neue" charset="0"/>
                </a:endParaRPr>
              </a:p>
              <a:p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请推导极大似然估计的参数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ML</m:t>
                        </m:r>
                      </m:sub>
                    </m:sSub>
                  </m:oMath>
                </a14:m>
                <a:r>
                  <a:rPr lang="zh-CN" altLang="en-US" sz="1600" b="1" dirty="0">
                    <a:solidFill>
                      <a:srgbClr val="C00000"/>
                    </a:solidFill>
                    <a:latin typeface="Helvetica Neue" charset="0"/>
                  </a:rPr>
                  <a:t>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ML</m:t>
                        </m:r>
                      </m:sub>
                      <m:sup>
                        <m:r>
                          <a:rPr lang="en-US" altLang="zh-CN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zh-CN" altLang="en-US" sz="1600" b="1" dirty="0">
                  <a:solidFill>
                    <a:srgbClr val="C00000"/>
                  </a:solidFill>
                  <a:latin typeface="Helvetica Neue" charset="0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4E3EFD0-7336-974E-8C20-239A71410A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568" y="3596672"/>
                <a:ext cx="2076858" cy="839461"/>
              </a:xfrm>
              <a:prstGeom prst="rect">
                <a:avLst/>
              </a:prstGeom>
              <a:blipFill>
                <a:blip r:embed="rId5"/>
                <a:stretch>
                  <a:fillRect l="-1829" t="-4478" b="-746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58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7E41-5E88-274D-8F5A-F0E75052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混合高斯分布的极大似然估计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CBAC0F-E9CF-C548-B54F-2419EAA0B0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89463"/>
                <a:ext cx="8229600" cy="610536"/>
              </a:xfrm>
            </p:spPr>
            <p:txBody>
              <a:bodyPr/>
              <a:lstStyle/>
              <a:p>
                <a:r>
                  <a:rPr lang="zh-CN" altLang="en-US" dirty="0"/>
                  <a:t>针对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求导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CBAC0F-E9CF-C548-B54F-2419EAA0B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89463"/>
                <a:ext cx="8229600" cy="610536"/>
              </a:xfrm>
              <a:blipFill>
                <a:blip r:embed="rId2"/>
                <a:stretch>
                  <a:fillRect l="-617" t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8F974-C62D-EB41-A964-A9C3F393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62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270042-83A0-CE45-BD20-4C55FF29F9FE}"/>
                  </a:ext>
                </a:extLst>
              </p:cNvPr>
              <p:cNvSpPr txBox="1"/>
              <p:nvPr/>
            </p:nvSpPr>
            <p:spPr>
              <a:xfrm>
                <a:off x="795404" y="861070"/>
                <a:ext cx="4863447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l-GR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nary>
                        <m:naryPr>
                          <m:chr m:val="∑"/>
                          <m:limLoc m:val="subSup"/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altLang="zh-CN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𝜮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270042-83A0-CE45-BD20-4C55FF29F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04" y="861070"/>
                <a:ext cx="4863447" cy="672172"/>
              </a:xfrm>
              <a:prstGeom prst="rect">
                <a:avLst/>
              </a:prstGeom>
              <a:blipFill>
                <a:blip r:embed="rId3"/>
                <a:stretch>
                  <a:fillRect l="-521" t="-142593" r="-1042" b="-19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2C9ADCC-2629-4540-8625-9AEE6D587252}"/>
                  </a:ext>
                </a:extLst>
              </p:cNvPr>
              <p:cNvSpPr/>
              <p:nvPr/>
            </p:nvSpPr>
            <p:spPr>
              <a:xfrm>
                <a:off x="1532718" y="2299998"/>
                <a:ext cx="5149423" cy="7466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𝜮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d>
                                    <m:d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  <m:e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l-GR" altLang="zh-CN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𝜮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den>
                          </m:f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2C9ADCC-2629-4540-8625-9AEE6D5872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718" y="2299998"/>
                <a:ext cx="5149423" cy="746679"/>
              </a:xfrm>
              <a:prstGeom prst="rect">
                <a:avLst/>
              </a:prstGeom>
              <a:blipFill>
                <a:blip r:embed="rId4"/>
                <a:stretch>
                  <a:fillRect t="-121667" b="-17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6F5BF49-7B90-9941-A2C4-CD3A56FB8CBF}"/>
                  </a:ext>
                </a:extLst>
              </p:cNvPr>
              <p:cNvSpPr/>
              <p:nvPr/>
            </p:nvSpPr>
            <p:spPr>
              <a:xfrm>
                <a:off x="1891247" y="3685207"/>
                <a:ext cx="2044791" cy="5200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6F5BF49-7B90-9941-A2C4-CD3A56FB8C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247" y="3685207"/>
                <a:ext cx="2044791" cy="520079"/>
              </a:xfrm>
              <a:prstGeom prst="rect">
                <a:avLst/>
              </a:prstGeom>
              <a:blipFill>
                <a:blip r:embed="rId5"/>
                <a:stretch>
                  <a:fillRect t="-69048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622C4D4-579A-314B-9DD8-E76C90E69B99}"/>
              </a:ext>
            </a:extLst>
          </p:cNvPr>
          <p:cNvSpPr/>
          <p:nvPr/>
        </p:nvSpPr>
        <p:spPr>
          <a:xfrm>
            <a:off x="3161211" y="2299998"/>
            <a:ext cx="1724298" cy="74667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5AD510-47D1-024C-905D-4C9AD5516840}"/>
              </a:ext>
            </a:extLst>
          </p:cNvPr>
          <p:cNvCxnSpPr/>
          <p:nvPr/>
        </p:nvCxnSpPr>
        <p:spPr>
          <a:xfrm flipH="1">
            <a:off x="3431177" y="3117669"/>
            <a:ext cx="313509" cy="67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E17ED3-AB7B-7149-A3F1-35080BFB3E0A}"/>
                  </a:ext>
                </a:extLst>
              </p:cNvPr>
              <p:cNvSpPr/>
              <p:nvPr/>
            </p:nvSpPr>
            <p:spPr>
              <a:xfrm>
                <a:off x="4294436" y="3796937"/>
                <a:ext cx="2217402" cy="3844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Where</a:t>
                </a:r>
                <a:r>
                  <a:rPr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E17ED3-AB7B-7149-A3F1-35080BFB3E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436" y="3796937"/>
                <a:ext cx="2217402" cy="384464"/>
              </a:xfrm>
              <a:prstGeom prst="rect">
                <a:avLst/>
              </a:prstGeom>
              <a:blipFill>
                <a:blip r:embed="rId6"/>
                <a:stretch>
                  <a:fillRect l="-1705" t="-103226" b="-16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48872E2F-42B6-17D0-15EF-F65C7258B7A6}"/>
              </a:ext>
            </a:extLst>
          </p:cNvPr>
          <p:cNvSpPr/>
          <p:nvPr/>
        </p:nvSpPr>
        <p:spPr>
          <a:xfrm>
            <a:off x="3268778" y="3867929"/>
            <a:ext cx="313509" cy="26954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6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7E41-5E88-274D-8F5A-F0E75052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混合高斯分布的极大似然估计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CBAC0F-E9CF-C548-B54F-2419EAA0B0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89463"/>
                <a:ext cx="8229600" cy="610536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chemeClr val="tx1"/>
                    </a:solidFill>
                  </a:rPr>
                  <a:t>类似的方式求解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与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CBAC0F-E9CF-C548-B54F-2419EAA0B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89463"/>
                <a:ext cx="8229600" cy="610536"/>
              </a:xfrm>
              <a:blipFill>
                <a:blip r:embed="rId2"/>
                <a:stretch>
                  <a:fillRect l="-617" t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8F974-C62D-EB41-A964-A9C3F393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63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270042-83A0-CE45-BD20-4C55FF29F9FE}"/>
                  </a:ext>
                </a:extLst>
              </p:cNvPr>
              <p:cNvSpPr txBox="1"/>
              <p:nvPr/>
            </p:nvSpPr>
            <p:spPr>
              <a:xfrm>
                <a:off x="795404" y="861070"/>
                <a:ext cx="4863447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0" smtClean="0"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l-GR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𝜮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nary>
                        <m:naryPr>
                          <m:chr m:val="∑"/>
                          <m:limLoc m:val="subSup"/>
                          <m:ctrlP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altLang="zh-CN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𝜮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4270042-83A0-CE45-BD20-4C55FF29F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04" y="861070"/>
                <a:ext cx="4863447" cy="672172"/>
              </a:xfrm>
              <a:prstGeom prst="rect">
                <a:avLst/>
              </a:prstGeom>
              <a:blipFill>
                <a:blip r:embed="rId3"/>
                <a:stretch>
                  <a:fillRect l="-521" t="-142593" r="-1042" b="-198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2C9ADCC-2629-4540-8625-9AEE6D587252}"/>
                  </a:ext>
                </a:extLst>
              </p:cNvPr>
              <p:cNvSpPr/>
              <p:nvPr/>
            </p:nvSpPr>
            <p:spPr>
              <a:xfrm>
                <a:off x="795404" y="2300935"/>
                <a:ext cx="4040145" cy="6701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2C9ADCC-2629-4540-8625-9AEE6D5872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04" y="2300935"/>
                <a:ext cx="4040145" cy="670183"/>
              </a:xfrm>
              <a:prstGeom prst="rect">
                <a:avLst/>
              </a:prstGeom>
              <a:blipFill>
                <a:blip r:embed="rId4"/>
                <a:stretch>
                  <a:fillRect t="-137037" b="-20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6F5BF49-7B90-9941-A2C4-CD3A56FB8CBF}"/>
                  </a:ext>
                </a:extLst>
              </p:cNvPr>
              <p:cNvSpPr/>
              <p:nvPr/>
            </p:nvSpPr>
            <p:spPr>
              <a:xfrm>
                <a:off x="795404" y="3686144"/>
                <a:ext cx="2044791" cy="5200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6F5BF49-7B90-9941-A2C4-CD3A56FB8C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04" y="3686144"/>
                <a:ext cx="2044791" cy="520079"/>
              </a:xfrm>
              <a:prstGeom prst="rect">
                <a:avLst/>
              </a:prstGeom>
              <a:blipFill>
                <a:blip r:embed="rId5"/>
                <a:stretch>
                  <a:fillRect t="-69048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55AD510-47D1-024C-905D-4C9AD5516840}"/>
              </a:ext>
            </a:extLst>
          </p:cNvPr>
          <p:cNvCxnSpPr/>
          <p:nvPr/>
        </p:nvCxnSpPr>
        <p:spPr>
          <a:xfrm flipH="1">
            <a:off x="2335334" y="3044862"/>
            <a:ext cx="313509" cy="67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E17ED3-AB7B-7149-A3F1-35080BFB3E0A}"/>
                  </a:ext>
                </a:extLst>
              </p:cNvPr>
              <p:cNvSpPr/>
              <p:nvPr/>
            </p:nvSpPr>
            <p:spPr>
              <a:xfrm>
                <a:off x="3198593" y="3797874"/>
                <a:ext cx="2217402" cy="3844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Where</a:t>
                </a:r>
                <a:r>
                  <a:rPr lang="zh-CN" alt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E17ED3-AB7B-7149-A3F1-35080BFB3E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593" y="3797874"/>
                <a:ext cx="2217402" cy="384464"/>
              </a:xfrm>
              <a:prstGeom prst="rect">
                <a:avLst/>
              </a:prstGeom>
              <a:blipFill>
                <a:blip r:embed="rId6"/>
                <a:stretch>
                  <a:fillRect l="-2874" t="-103226" b="-161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EB69B2-0A73-3E49-A50B-C643793E0D06}"/>
              </a:ext>
            </a:extLst>
          </p:cNvPr>
          <p:cNvCxnSpPr>
            <a:cxnSpLocks/>
          </p:cNvCxnSpPr>
          <p:nvPr/>
        </p:nvCxnSpPr>
        <p:spPr>
          <a:xfrm>
            <a:off x="3198593" y="3044862"/>
            <a:ext cx="582364" cy="6792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8D4793-DDF6-8346-A1FA-0709B66BE42A}"/>
                  </a:ext>
                </a:extLst>
              </p:cNvPr>
              <p:cNvSpPr/>
              <p:nvPr/>
            </p:nvSpPr>
            <p:spPr>
              <a:xfrm>
                <a:off x="6547333" y="2636026"/>
                <a:ext cx="1058495" cy="6090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8D4793-DDF6-8346-A1FA-0709B66BE4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333" y="2636026"/>
                <a:ext cx="1058495" cy="609077"/>
              </a:xfrm>
              <a:prstGeom prst="rect">
                <a:avLst/>
              </a:prstGeom>
              <a:blipFill>
                <a:blip r:embed="rId7"/>
                <a:stretch>
                  <a:fillRect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247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958C-4A13-3044-A241-1242DBF7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EM</a:t>
            </a:r>
            <a:r>
              <a:rPr lang="zh-CN" altLang="en-US" dirty="0"/>
              <a:t>算法进行交替优化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6598E-51BE-FF49-A20F-D22851BCF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A0A63B0-DD09-8C43-B1B2-1ABE99544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50"/>
            <a:ext cx="5612704" cy="3937000"/>
          </a:xfrm>
        </p:spPr>
        <p:txBody>
          <a:bodyPr/>
          <a:lstStyle/>
          <a:p>
            <a:r>
              <a:rPr lang="en-US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 Step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clusters: C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C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en-US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Step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the cluster of each data point</a:t>
            </a:r>
          </a:p>
          <a:p>
            <a:pPr lvl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480"/>
              </a:spcBef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48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Re-estimate the cluster parameters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BA17C8-FEFB-EF48-B857-B8E97B91906B}"/>
              </a:ext>
            </a:extLst>
          </p:cNvPr>
          <p:cNvSpPr/>
          <p:nvPr/>
        </p:nvSpPr>
        <p:spPr>
          <a:xfrm>
            <a:off x="1578777" y="1619333"/>
            <a:ext cx="39036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  <a:sym typeface="Symbol" pitchFamily="2" charset="2"/>
              </a:rPr>
              <a:t></a:t>
            </a:r>
            <a:r>
              <a:rPr lang="en-US" altLang="en-US" sz="2000" i="1" baseline="-25000" dirty="0">
                <a:latin typeface="Times New Roman" panose="02020603050405020304" pitchFamily="18" charset="0"/>
                <a:sym typeface="Symbol" pitchFamily="2" charset="2"/>
              </a:rPr>
              <a:t>j</a:t>
            </a:r>
            <a:r>
              <a:rPr lang="en-US" altLang="en-US" sz="2000" baseline="-25000" dirty="0">
                <a:latin typeface="Times New Roman" panose="02020603050405020304" pitchFamily="18" charset="0"/>
                <a:sym typeface="Symbol" pitchFamily="2" charset="2"/>
              </a:rPr>
              <a:t>,</a:t>
            </a:r>
            <a:r>
              <a:rPr lang="en-US" altLang="en-US" sz="2000" dirty="0">
                <a:latin typeface="Tahoma" panose="020B0604030504040204" pitchFamily="34" charset="0"/>
                <a:sym typeface="Symbol" pitchFamily="2" charset="2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sym typeface="Symbol" pitchFamily="2" charset="2"/>
              </a:rPr>
              <a:t></a:t>
            </a:r>
            <a:r>
              <a:rPr lang="en-US" altLang="en-US" sz="2000" i="1" baseline="-25000" dirty="0">
                <a:latin typeface="Times" pitchFamily="2" charset="0"/>
                <a:sym typeface="Symbol" pitchFamily="2" charset="2"/>
              </a:rPr>
              <a:t>j</a:t>
            </a:r>
            <a:r>
              <a:rPr lang="en-US" altLang="en-US" sz="2000" dirty="0">
                <a:latin typeface="Times" pitchFamily="2" charset="0"/>
                <a:sym typeface="Symbol" pitchFamily="2" charset="2"/>
              </a:rPr>
              <a:t>) and </a:t>
            </a:r>
            <a:r>
              <a:rPr lang="en-US" altLang="en-US" sz="2000" i="1" dirty="0">
                <a:latin typeface="Times" pitchFamily="2" charset="0"/>
              </a:rPr>
              <a:t>P</a:t>
            </a:r>
            <a:r>
              <a:rPr lang="en-US" altLang="en-US" sz="2000" dirty="0">
                <a:latin typeface="Times" pitchFamily="2" charset="0"/>
              </a:rPr>
              <a:t>(</a:t>
            </a:r>
            <a:r>
              <a:rPr lang="en-US" altLang="en-US" sz="2000" i="1" dirty="0" err="1">
                <a:latin typeface="Times" pitchFamily="2" charset="0"/>
              </a:rPr>
              <a:t>C</a:t>
            </a:r>
            <a:r>
              <a:rPr lang="en-US" altLang="en-US" sz="2000" i="1" baseline="-25000" dirty="0" err="1">
                <a:latin typeface="Times" pitchFamily="2" charset="0"/>
              </a:rPr>
              <a:t>j</a:t>
            </a:r>
            <a:r>
              <a:rPr lang="en-US" altLang="en-US" sz="2000" dirty="0">
                <a:latin typeface="Times" pitchFamily="2" charset="0"/>
              </a:rPr>
              <a:t>)</a:t>
            </a:r>
            <a:r>
              <a:rPr lang="en-US" altLang="en-US" sz="2000" dirty="0">
                <a:latin typeface="Tahoma" panose="020B0604030504040204" pitchFamily="34" charset="0"/>
                <a:sym typeface="Symbol" pitchFamily="2" charset="2"/>
              </a:rPr>
              <a:t> </a:t>
            </a:r>
            <a:r>
              <a:rPr lang="en-US" altLang="en-US" sz="2000" dirty="0">
                <a:latin typeface="Times" pitchFamily="2" charset="0"/>
              </a:rPr>
              <a:t>for each cluster </a:t>
            </a:r>
            <a:r>
              <a:rPr lang="en-US" altLang="en-US" sz="2000" i="1" dirty="0">
                <a:latin typeface="Times" pitchFamily="2" charset="0"/>
              </a:rPr>
              <a:t>j.  </a:t>
            </a:r>
          </a:p>
        </p:txBody>
      </p:sp>
      <p:sp>
        <p:nvSpPr>
          <p:cNvPr id="17" name="Text Box 9">
            <a:extLst>
              <a:ext uri="{FF2B5EF4-FFF2-40B4-BE49-F238E27FC236}">
                <a16:creationId xmlns:a16="http://schemas.microsoft.com/office/drawing/2014/main" id="{B79C10FF-4BD4-0646-A4F0-EEDE9FAF0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6534" y="1841784"/>
            <a:ext cx="227979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E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solidFill>
                  <a:srgbClr val="009999"/>
                </a:solidFill>
                <a:latin typeface="Tahoma" panose="020B0604030504040204" pitchFamily="34" charset="0"/>
              </a:rPr>
              <a:t>xpectation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)</a:t>
            </a:r>
            <a:r>
              <a:rPr lang="zh-CN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Step</a:t>
            </a:r>
            <a:endParaRPr lang="en-US" altLang="en-US" sz="2000" dirty="0">
              <a:solidFill>
                <a:srgbClr val="009999"/>
              </a:solidFill>
              <a:latin typeface="Tahoma" panose="020B0604030504040204" pitchFamily="34" charset="0"/>
            </a:endParaRP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id="{6F870880-B303-3A4F-AD71-68B46B23B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9537" y="2999322"/>
            <a:ext cx="24336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M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000" dirty="0" err="1">
                <a:solidFill>
                  <a:srgbClr val="009999"/>
                </a:solidFill>
                <a:latin typeface="Tahoma" panose="020B0604030504040204" pitchFamily="34" charset="0"/>
              </a:rPr>
              <a:t>aximization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)</a:t>
            </a:r>
            <a:r>
              <a:rPr lang="zh-CN" altLang="en-US" sz="2000" dirty="0">
                <a:solidFill>
                  <a:srgbClr val="009999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000" dirty="0">
                <a:solidFill>
                  <a:srgbClr val="009999"/>
                </a:solidFill>
                <a:latin typeface="Tahoma" panose="020B0604030504040204" pitchFamily="34" charset="0"/>
              </a:rPr>
              <a:t>Step</a:t>
            </a:r>
            <a:endParaRPr lang="en-US" altLang="en-US" sz="2000" dirty="0">
              <a:solidFill>
                <a:srgbClr val="009999"/>
              </a:solidFill>
              <a:latin typeface="Tahoma" panose="020B0604030504040204" pitchFamily="34" charset="0"/>
            </a:endParaRPr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92BD6C9E-C270-CF45-B045-A3775C9726B1}"/>
              </a:ext>
            </a:extLst>
          </p:cNvPr>
          <p:cNvSpPr>
            <a:spLocks noChangeArrowheads="1"/>
          </p:cNvSpPr>
          <p:nvPr/>
        </p:nvSpPr>
        <p:spPr bwMode="auto">
          <a:xfrm rot="19805028">
            <a:off x="5463043" y="2728461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0" name="AutoShape 12">
            <a:extLst>
              <a:ext uri="{FF2B5EF4-FFF2-40B4-BE49-F238E27FC236}">
                <a16:creationId xmlns:a16="http://schemas.microsoft.com/office/drawing/2014/main" id="{707C21F8-37BB-1846-AF32-08E110A0B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588" y="3690275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1" name="AutoShape 11">
            <a:extLst>
              <a:ext uri="{FF2B5EF4-FFF2-40B4-BE49-F238E27FC236}">
                <a16:creationId xmlns:a16="http://schemas.microsoft.com/office/drawing/2014/main" id="{BD111BA7-1AAB-3E47-94C9-9F3BFBBBB6DA}"/>
              </a:ext>
            </a:extLst>
          </p:cNvPr>
          <p:cNvSpPr>
            <a:spLocks noChangeArrowheads="1"/>
          </p:cNvSpPr>
          <p:nvPr/>
        </p:nvSpPr>
        <p:spPr bwMode="auto">
          <a:xfrm rot="20829598">
            <a:off x="5511313" y="1515862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9">
                <a:extLst>
                  <a:ext uri="{FF2B5EF4-FFF2-40B4-BE49-F238E27FC236}">
                    <a16:creationId xmlns:a16="http://schemas.microsoft.com/office/drawing/2014/main" id="{EE486211-6F6F-314B-AFDD-109B385355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40171" y="1014157"/>
                <a:ext cx="2300613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000" dirty="0">
                    <a:solidFill>
                      <a:srgbClr val="009999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初始化参数</a:t>
                </a:r>
                <a:endParaRPr lang="en-US" altLang="zh-CN" sz="2000" dirty="0">
                  <a:solidFill>
                    <a:srgbClr val="009999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en-US" sz="2000" dirty="0">
                  <a:solidFill>
                    <a:srgbClr val="C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2" name="Text Box 9">
                <a:extLst>
                  <a:ext uri="{FF2B5EF4-FFF2-40B4-BE49-F238E27FC236}">
                    <a16:creationId xmlns:a16="http://schemas.microsoft.com/office/drawing/2014/main" id="{EE486211-6F6F-314B-AFDD-109B38535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40171" y="1014157"/>
                <a:ext cx="2300613" cy="707886"/>
              </a:xfrm>
              <a:prstGeom prst="rect">
                <a:avLst/>
              </a:prstGeom>
              <a:blipFill>
                <a:blip r:embed="rId3"/>
                <a:stretch>
                  <a:fillRect l="-2186" t="-3509" b="-526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Object 5">
            <a:extLst>
              <a:ext uri="{FF2B5EF4-FFF2-40B4-BE49-F238E27FC236}">
                <a16:creationId xmlns:a16="http://schemas.microsoft.com/office/drawing/2014/main" id="{807B03FC-FC00-344C-A5E2-92B4486C10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3375" y="2920271"/>
          <a:ext cx="3665486" cy="69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431400" imgH="13462000" progId="Equation.3">
                  <p:embed/>
                </p:oleObj>
              </mc:Choice>
              <mc:Fallback>
                <p:oleObj name="Equation" r:id="rId4" imgW="73431400" imgH="13462000" progId="Equation.3">
                  <p:embed/>
                  <p:pic>
                    <p:nvPicPr>
                      <p:cNvPr id="23" name="Object 5">
                        <a:extLst>
                          <a:ext uri="{FF2B5EF4-FFF2-40B4-BE49-F238E27FC236}">
                            <a16:creationId xmlns:a16="http://schemas.microsoft.com/office/drawing/2014/main" id="{807B03FC-FC00-344C-A5E2-92B4486C10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375" y="2920271"/>
                        <a:ext cx="3665486" cy="698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">
            <a:extLst>
              <a:ext uri="{FF2B5EF4-FFF2-40B4-BE49-F238E27FC236}">
                <a16:creationId xmlns:a16="http://schemas.microsoft.com/office/drawing/2014/main" id="{BC5D3EC3-A2E8-4549-9F1A-F9F6DD8D6B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936185"/>
              </p:ext>
            </p:extLst>
          </p:nvPr>
        </p:nvGraphicFramePr>
        <p:xfrm>
          <a:off x="1834265" y="4054717"/>
          <a:ext cx="2439172" cy="6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5295800" imgH="15214600" progId="Equation.3">
                  <p:embed/>
                </p:oleObj>
              </mc:Choice>
              <mc:Fallback>
                <p:oleObj name="Equation" r:id="rId6" imgW="55295800" imgH="15214600" progId="Equation.3">
                  <p:embed/>
                  <p:pic>
                    <p:nvPicPr>
                      <p:cNvPr id="24" name="Object 6">
                        <a:extLst>
                          <a:ext uri="{FF2B5EF4-FFF2-40B4-BE49-F238E27FC236}">
                            <a16:creationId xmlns:a16="http://schemas.microsoft.com/office/drawing/2014/main" id="{BC5D3EC3-A2E8-4549-9F1A-F9F6DD8D6B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265" y="4054717"/>
                        <a:ext cx="2439172" cy="6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7">
            <a:extLst>
              <a:ext uri="{FF2B5EF4-FFF2-40B4-BE49-F238E27FC236}">
                <a16:creationId xmlns:a16="http://schemas.microsoft.com/office/drawing/2014/main" id="{CE868841-324E-7346-B044-778F3D669F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667302"/>
              </p:ext>
            </p:extLst>
          </p:nvPr>
        </p:nvGraphicFramePr>
        <p:xfrm>
          <a:off x="315027" y="4054717"/>
          <a:ext cx="1355813" cy="6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721300" imgH="15214600" progId="Equation.3">
                  <p:embed/>
                </p:oleObj>
              </mc:Choice>
              <mc:Fallback>
                <p:oleObj name="Equation" r:id="rId8" imgW="30721300" imgH="15214600" progId="Equation.3">
                  <p:embed/>
                  <p:pic>
                    <p:nvPicPr>
                      <p:cNvPr id="25" name="Object 7">
                        <a:extLst>
                          <a:ext uri="{FF2B5EF4-FFF2-40B4-BE49-F238E27FC236}">
                            <a16:creationId xmlns:a16="http://schemas.microsoft.com/office/drawing/2014/main" id="{CE868841-324E-7346-B044-778F3D669F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027" y="4054717"/>
                        <a:ext cx="1355813" cy="6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8">
            <a:extLst>
              <a:ext uri="{FF2B5EF4-FFF2-40B4-BE49-F238E27FC236}">
                <a16:creationId xmlns:a16="http://schemas.microsoft.com/office/drawing/2014/main" id="{E9679A05-2FD1-074C-BCE9-8EBD5A2FE1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7406"/>
              </p:ext>
            </p:extLst>
          </p:nvPr>
        </p:nvGraphicFramePr>
        <p:xfrm>
          <a:off x="4388150" y="4123233"/>
          <a:ext cx="1368725" cy="52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1013400" imgH="12001500" progId="Equation.3">
                  <p:embed/>
                </p:oleObj>
              </mc:Choice>
              <mc:Fallback>
                <p:oleObj name="Equation" r:id="rId10" imgW="31013400" imgH="12001500" progId="Equation.3">
                  <p:embed/>
                  <p:pic>
                    <p:nvPicPr>
                      <p:cNvPr id="26" name="Object 8">
                        <a:extLst>
                          <a:ext uri="{FF2B5EF4-FFF2-40B4-BE49-F238E27FC236}">
                            <a16:creationId xmlns:a16="http://schemas.microsoft.com/office/drawing/2014/main" id="{E9679A05-2FD1-074C-BCE9-8EBD5A2FE1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8150" y="4123233"/>
                        <a:ext cx="1368725" cy="52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1E8304E-5495-5745-A0E5-774D1FFA844D}"/>
                  </a:ext>
                </a:extLst>
              </p:cNvPr>
              <p:cNvSpPr/>
              <p:nvPr/>
            </p:nvSpPr>
            <p:spPr>
              <a:xfrm>
                <a:off x="6140171" y="2204940"/>
                <a:ext cx="2277739" cy="6567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altLang="zh-CN" b="1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𝜮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l-GR" altLang="zh-CN" b="1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𝜮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den>
                    </m:f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1E8304E-5495-5745-A0E5-774D1FFA84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171" y="2204940"/>
                <a:ext cx="2277739" cy="656783"/>
              </a:xfrm>
              <a:prstGeom prst="rect">
                <a:avLst/>
              </a:prstGeom>
              <a:blipFill>
                <a:blip r:embed="rId12"/>
                <a:stretch>
                  <a:fillRect b="-6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0377A41-E607-234C-859C-B62074E176B5}"/>
                  </a:ext>
                </a:extLst>
              </p:cNvPr>
              <p:cNvSpPr/>
              <p:nvPr/>
            </p:nvSpPr>
            <p:spPr>
              <a:xfrm>
                <a:off x="6135551" y="3399432"/>
                <a:ext cx="1837298" cy="4725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16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0377A41-E607-234C-859C-B62074E176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5551" y="3399432"/>
                <a:ext cx="1837298" cy="472502"/>
              </a:xfrm>
              <a:prstGeom prst="rect">
                <a:avLst/>
              </a:prstGeom>
              <a:blipFill>
                <a:blip r:embed="rId13"/>
                <a:stretch>
                  <a:fillRect t="-68421" b="-1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47DD5C5-1D83-C048-A838-FB1C8515BB0B}"/>
                  </a:ext>
                </a:extLst>
              </p:cNvPr>
              <p:cNvSpPr/>
              <p:nvPr/>
            </p:nvSpPr>
            <p:spPr>
              <a:xfrm>
                <a:off x="6063418" y="3814942"/>
                <a:ext cx="3126945" cy="5418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14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400" b="1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sz="1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4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sz="14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1400" b="0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47DD5C5-1D83-C048-A838-FB1C8515BB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418" y="3814942"/>
                <a:ext cx="3126945" cy="541815"/>
              </a:xfrm>
              <a:prstGeom prst="rect">
                <a:avLst/>
              </a:prstGeom>
              <a:blipFill>
                <a:blip r:embed="rId14"/>
                <a:stretch>
                  <a:fillRect t="-134884" b="-20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3C869B7-BEB4-3C4D-A527-A5584C037352}"/>
                  </a:ext>
                </a:extLst>
              </p:cNvPr>
              <p:cNvSpPr/>
              <p:nvPr/>
            </p:nvSpPr>
            <p:spPr>
              <a:xfrm>
                <a:off x="6124527" y="4343351"/>
                <a:ext cx="963021" cy="5517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16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C3C869B7-BEB4-3C4D-A527-A5584C0373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527" y="4343351"/>
                <a:ext cx="963021" cy="551754"/>
              </a:xfrm>
              <a:prstGeom prst="rect">
                <a:avLst/>
              </a:prstGeom>
              <a:blipFill>
                <a:blip r:embed="rId15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20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2F430-7C57-3B46-8820-15831EF64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EM</a:t>
            </a:r>
            <a:r>
              <a:rPr lang="zh-CN" altLang="en-US" dirty="0"/>
              <a:t>算法进行交替优化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F486DE-79EF-434A-95A4-1CED3764B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956" y="819150"/>
            <a:ext cx="5666087" cy="39370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80D56-FD56-A646-B025-9B0A75F37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47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6005-A8A5-7848-B41B-7F4C4C86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K-Means</a:t>
            </a:r>
            <a:r>
              <a:rPr lang="zh-CN" altLang="en-US" dirty="0"/>
              <a:t>与</a:t>
            </a:r>
            <a:r>
              <a:rPr lang="en-US" altLang="zh-CN" dirty="0"/>
              <a:t>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CE7A4-2A62-E548-B5E3-20ADA22E9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19149"/>
            <a:ext cx="8229600" cy="10455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K</a:t>
            </a:r>
            <a:r>
              <a:rPr lang="en-US" altLang="zh-CN" dirty="0"/>
              <a:t>-Means</a:t>
            </a:r>
            <a:r>
              <a:rPr lang="zh-CN" altLang="en-US" dirty="0"/>
              <a:t>是</a:t>
            </a:r>
            <a:r>
              <a:rPr lang="en-US" altLang="zh-CN" dirty="0"/>
              <a:t>EM</a:t>
            </a:r>
            <a:r>
              <a:rPr lang="zh-CN" altLang="en-US" dirty="0"/>
              <a:t>的特殊情况</a:t>
            </a:r>
            <a:endParaRPr lang="en-US" altLang="zh-CN" dirty="0"/>
          </a:p>
          <a:p>
            <a:pPr lvl="1"/>
            <a:r>
              <a:rPr lang="zh-CN" altLang="en-US" dirty="0"/>
              <a:t>只考虑类簇的均值，而不考虑类簇方差</a:t>
            </a:r>
            <a:endParaRPr lang="en-US" altLang="zh-CN" dirty="0"/>
          </a:p>
          <a:p>
            <a:pPr lvl="1"/>
            <a:r>
              <a:rPr lang="zh-CN" altLang="en-US" dirty="0"/>
              <a:t>优化目标等价于极大似然估计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60AA-C3FB-A449-8DFF-9CFFC4011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EF79FC-A913-4243-9562-49DBF20DD8A1}"/>
                  </a:ext>
                </a:extLst>
              </p:cNvPr>
              <p:cNvSpPr/>
              <p:nvPr/>
            </p:nvSpPr>
            <p:spPr>
              <a:xfrm>
                <a:off x="1302413" y="1921859"/>
                <a:ext cx="1006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𝜮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EF79FC-A913-4243-9562-49DBF20DD8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413" y="1921859"/>
                <a:ext cx="100636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6B6813-740F-BF44-999C-497D07929A2B}"/>
                  </a:ext>
                </a:extLst>
              </p:cNvPr>
              <p:cNvSpPr/>
              <p:nvPr/>
            </p:nvSpPr>
            <p:spPr>
              <a:xfrm>
                <a:off x="1185852" y="2241950"/>
                <a:ext cx="5500928" cy="8196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CN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𝜮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altLang="zh-CN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𝜮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{−</m:t>
                              </m:r>
                              <m:sSup>
                                <m:sSup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𝝁</m:t>
                                          </m:r>
                                        </m:e>
                                        <m: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{−</m:t>
                                  </m:r>
                                  <m:sSup>
                                    <m:sSup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1"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b="1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𝝁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DA6B6813-740F-BF44-999C-497D07929A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852" y="2241950"/>
                <a:ext cx="5500928" cy="819648"/>
              </a:xfrm>
              <a:prstGeom prst="rect">
                <a:avLst/>
              </a:prstGeom>
              <a:blipFill>
                <a:blip r:embed="rId3"/>
                <a:stretch>
                  <a:fillRect t="-9231" b="-7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25B73C-5922-D042-83C3-A5A9DF4EFE10}"/>
                  </a:ext>
                </a:extLst>
              </p:cNvPr>
              <p:cNvSpPr/>
              <p:nvPr/>
            </p:nvSpPr>
            <p:spPr>
              <a:xfrm>
                <a:off x="2649721" y="3061599"/>
                <a:ext cx="4439869" cy="8117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i="1">
                              <a:latin typeface="Cambria Math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>
                              <a:latin typeface="Cambria Math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mr-IN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mr-IN" altLang="zh-CN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charset="0"/>
                                      </a:rPr>
                                      <m:t>if</m:t>
                                    </m:r>
                                    <m:r>
                                      <a:rPr lang="zh-CN" altLang="en-US" i="1">
                                        <a:latin typeface="Cambria Math" charset="0"/>
                                      </a:rPr>
                                      <m:t> </m:t>
                                    </m:r>
                                    <m:r>
                                      <a:rPr lang="en-US" altLang="zh-CN" i="1">
                                        <a:latin typeface="Cambria Math" charset="0"/>
                                      </a:rPr>
                                      <m:t>𝑘</m:t>
                                    </m:r>
                                    <m:r>
                                      <a:rPr lang="en-US" altLang="zh-CN" i="1">
                                        <a:latin typeface="Cambria Math" charset="0"/>
                                      </a:rPr>
                                      <m:t>=</m:t>
                                    </m:r>
                                    <m:func>
                                      <m:funcPr>
                                        <m:ctrlPr>
                                          <a:rPr lang="zh-CN" alt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>
                                            <a:latin typeface="Cambria Math" charset="0"/>
                                          </a:rPr>
                                          <m:t>arg</m:t>
                                        </m:r>
                                      </m:fName>
                                      <m:e>
                                        <m:func>
                                          <m:funcPr>
                                            <m:ctrlPr>
                                              <a:rPr lang="zh-CN" alt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limLow>
                                              <m:limLowPr>
                                                <m:ctrlPr>
                                                  <a:rPr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limLowPr>
                                              <m:e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>
                                                    <a:latin typeface="Cambria Math" charset="0"/>
                                                  </a:rPr>
                                                  <m:t>min</m:t>
                                                </m:r>
                                              </m:e>
                                              <m:lim>
                                                <m:r>
                                                  <a:rPr lang="en-US" altLang="zh-CN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lim>
                                            </m:limLow>
                                          </m:fNam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CN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d>
                                                  <m:dPr>
                                                    <m:begChr m:val="‖"/>
                                                    <m:endChr m:val="‖"/>
                                                    <m:ctrlPr>
                                                      <a:rPr lang="mr-IN" altLang="zh-CN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CN" b="1" i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CN" b="1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𝐱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CN" b="0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𝑖</m:t>
                                                        </m:r>
                                                      </m:sub>
                                                    </m:sSub>
                                                    <m:r>
                                                      <a:rPr lang="en-US" altLang="zh-CN" i="1">
                                                        <a:latin typeface="Cambria Math" charset="0"/>
                                                      </a:rPr>
                                                      <m:t>−</m:t>
                                                    </m:r>
                                                    <m:sSub>
                                                      <m:sSubPr>
                                                        <m:ctrlPr>
                                                          <a:rPr lang="en-US" altLang="zh-CN" i="1">
                                                            <a:latin typeface="Cambria Math" panose="02040503050406030204" pitchFamily="18" charset="0"/>
                                                            <a:ea typeface="Cambria Math" charset="0"/>
                                                            <a:cs typeface="Cambria Math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en-US" altLang="zh-CN" b="1" i="1">
                                                            <a:latin typeface="Cambria Math" charset="0"/>
                                                            <a:ea typeface="Cambria Math" charset="0"/>
                                                            <a:cs typeface="Cambria Math" charset="0"/>
                                                          </a:rPr>
                                                          <m:t>𝝁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en-US" altLang="zh-CN" i="1">
                                                            <a:latin typeface="Cambria Math" charset="0"/>
                                                            <a:ea typeface="Cambria Math" charset="0"/>
                                                            <a:cs typeface="Cambria Math" charset="0"/>
                                                          </a:rPr>
                                                          <m:t>𝑘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</m:d>
                                              </m:e>
                                              <m:sup>
                                                <m:r>
                                                  <a:rPr lang="en-US" altLang="zh-CN" i="1">
                                                    <a:latin typeface="Cambria Math" charset="0"/>
                                                  </a:rPr>
                                                  <m:t>2</m:t>
                                                </m:r>
                                              </m:sup>
                                            </m:sSup>
                                          </m:e>
                                        </m:func>
                                      </m:e>
                                    </m:func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mr-I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>
                                        <a:latin typeface="Cambria Math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>
                                        <a:latin typeface="Cambria Math" charset="0"/>
                                      </a:rPr>
                                      <m:t>otherwise</m:t>
                                    </m:r>
                                    <m:r>
                                      <a:rPr lang="zh-CN" altLang="en-US">
                                        <a:latin typeface="Cambria Math" charset="0"/>
                                      </a:rPr>
                                      <m:t>                              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625B73C-5922-D042-83C3-A5A9DF4EFE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721" y="3061599"/>
                <a:ext cx="4439869" cy="811761"/>
              </a:xfrm>
              <a:prstGeom prst="rect">
                <a:avLst/>
              </a:prstGeom>
              <a:blipFill>
                <a:blip r:embed="rId4"/>
                <a:stretch>
                  <a:fillRect l="-571" t="-192308" b="-27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53288BA-8998-8F47-9CBA-2AB743CB65FD}"/>
                  </a:ext>
                </a:extLst>
              </p:cNvPr>
              <p:cNvSpPr/>
              <p:nvPr/>
            </p:nvSpPr>
            <p:spPr>
              <a:xfrm>
                <a:off x="1302413" y="3282813"/>
                <a:ext cx="8027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53288BA-8998-8F47-9CBA-2AB743CB65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413" y="3282813"/>
                <a:ext cx="80272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utoShape 11">
            <a:extLst>
              <a:ext uri="{FF2B5EF4-FFF2-40B4-BE49-F238E27FC236}">
                <a16:creationId xmlns:a16="http://schemas.microsoft.com/office/drawing/2014/main" id="{5CBDD783-9B2D-2E40-8E7C-392F6DB0F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521" y="3353179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6D6FE98-82CA-B349-AF86-5BAC6E1F1F82}"/>
                  </a:ext>
                </a:extLst>
              </p:cNvPr>
              <p:cNvSpPr/>
              <p:nvPr/>
            </p:nvSpPr>
            <p:spPr>
              <a:xfrm>
                <a:off x="2702869" y="4066278"/>
                <a:ext cx="4537717" cy="4834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]→</m:t>
                    </m:r>
                  </m:oMath>
                </a14:m>
                <a:r>
                  <a:rPr lang="is-IS" altLang="zh-CN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is-I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1"/>
                          </m:r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is-IS" altLang="zh-C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  <m:t>𝐾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𝑛𝑘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mr-IN" altLang="zh-CN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𝐱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  <m:r>
                                      <a:rPr lang="en-US" altLang="zh-CN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charset="0"/>
                                            <a:cs typeface="Cambria Math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ea typeface="Cambria Math" charset="0"/>
                                            <a:cs typeface="Cambria Math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altLang="zh-CN" i="1">
                                            <a:solidFill>
                                              <a:schemeClr val="tx1"/>
                                            </a:solidFill>
                                            <a:latin typeface="Cambria Math" charset="0"/>
                                            <a:ea typeface="Cambria Math" charset="0"/>
                                            <a:cs typeface="Cambria Math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altLang="zh-CN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const</m:t>
                            </m:r>
                          </m:e>
                        </m:nary>
                      </m:e>
                    </m:nary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6D6FE98-82CA-B349-AF86-5BAC6E1F1F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869" y="4066278"/>
                <a:ext cx="4537717" cy="483466"/>
              </a:xfrm>
              <a:prstGeom prst="rect">
                <a:avLst/>
              </a:prstGeom>
              <a:blipFill>
                <a:blip r:embed="rId6"/>
                <a:stretch>
                  <a:fillRect t="-74359" b="-1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BBA03FB-3509-BC47-BF65-EC117540002C}"/>
                  </a:ext>
                </a:extLst>
              </p:cNvPr>
              <p:cNvSpPr/>
              <p:nvPr/>
            </p:nvSpPr>
            <p:spPr>
              <a:xfrm>
                <a:off x="1302413" y="4073844"/>
                <a:ext cx="8027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BBA03FB-3509-BC47-BF65-EC1175400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413" y="4073844"/>
                <a:ext cx="80272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utoShape 11">
            <a:extLst>
              <a:ext uri="{FF2B5EF4-FFF2-40B4-BE49-F238E27FC236}">
                <a16:creationId xmlns:a16="http://schemas.microsoft.com/office/drawing/2014/main" id="{8C84B18A-3CA0-8243-82A6-D78F18E3F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3842" y="414421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99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804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800" dirty="0"/>
                  <a:t>考虑一组由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en-US" sz="1800" dirty="0"/>
                  <a:t>个样本组成的身高数据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800" dirty="0"/>
                  <a:t>，由来自男生类簇（表示为类簇</a:t>
                </a:r>
                <a:r>
                  <a:rPr lang="en-US" sz="1800" dirty="0"/>
                  <a:t>C</a:t>
                </a:r>
                <a:r>
                  <a:rPr lang="en-US" sz="1800" baseline="-25000" dirty="0"/>
                  <a:t>1</a:t>
                </a:r>
                <a:r>
                  <a:rPr lang="zh-CN" altLang="en-US" sz="1800" dirty="0"/>
                  <a:t>）和女生类簇（表示为类簇</a:t>
                </a:r>
                <a:r>
                  <a:rPr lang="en-US" sz="1800" dirty="0"/>
                  <a:t>C</a:t>
                </a:r>
                <a:r>
                  <a:rPr lang="en-US" sz="1800" baseline="-25000" dirty="0"/>
                  <a:t>2</a:t>
                </a:r>
                <a:r>
                  <a:rPr lang="zh-CN" altLang="en-US" sz="1800" dirty="0"/>
                  <a:t>）的两组身高数据混合而成。其中，男生类簇的身高数据服从高斯分布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1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18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/>
                  <a:t>，女生类簇的身高数据服从高斯分布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1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18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800" dirty="0"/>
                  <a:t>，因此整个身高数据集服从混合高斯分布。 </a:t>
                </a:r>
                <a:endParaRPr lang="en-GB" sz="1800" dirty="0"/>
              </a:p>
              <a:p>
                <a:pPr>
                  <a:lnSpc>
                    <a:spcPct val="120000"/>
                  </a:lnSpc>
                </a:pPr>
                <a:r>
                  <a:rPr lang="zh-CN" altLang="en-US" sz="1800" dirty="0"/>
                  <a:t>现在考虑使用期望最大化（</a:t>
                </a:r>
                <a:r>
                  <a:rPr lang="en-US" sz="1800" dirty="0"/>
                  <a:t>Expectation Maximization</a:t>
                </a:r>
                <a:r>
                  <a:rPr lang="zh-CN" altLang="en-US" sz="1800" dirty="0"/>
                  <a:t>，简称</a:t>
                </a:r>
                <a:r>
                  <a:rPr lang="en-US" sz="1800" dirty="0"/>
                  <a:t>EM</a:t>
                </a:r>
                <a:r>
                  <a:rPr lang="zh-CN" altLang="en-US" sz="1800" dirty="0"/>
                  <a:t>）算法来对这组身高数据进行“软”聚类。</a:t>
                </a:r>
                <a:endParaRPr lang="en-GB" sz="1800" dirty="0"/>
              </a:p>
              <a:p>
                <a:pPr marL="800100" lvl="1" indent="-342900">
                  <a:lnSpc>
                    <a:spcPct val="120000"/>
                  </a:lnSpc>
                  <a:buFont typeface="+mj-lt"/>
                  <a:buAutoNum type="arabicParenR"/>
                </a:pPr>
                <a:r>
                  <a:rPr lang="zh-CN" altLang="en-US" dirty="0"/>
                  <a:t>请简述</a:t>
                </a:r>
                <a:r>
                  <a:rPr lang="en-US" dirty="0"/>
                  <a:t>EM</a:t>
                </a:r>
                <a:r>
                  <a:rPr lang="zh-CN" altLang="en-US" dirty="0"/>
                  <a:t>算法每次迭代中的</a:t>
                </a:r>
                <a:r>
                  <a:rPr lang="en-US" dirty="0"/>
                  <a:t>Expectation</a:t>
                </a:r>
                <a:r>
                  <a:rPr lang="zh-CN" altLang="en-US" dirty="0"/>
                  <a:t>步骤和</a:t>
                </a:r>
                <a:r>
                  <a:rPr lang="en-US" dirty="0"/>
                  <a:t>Maximization</a:t>
                </a:r>
                <a:r>
                  <a:rPr lang="zh-CN" altLang="en-US" dirty="0"/>
                  <a:t>步骤的主要目的，并给出这两个步骤的输入与输出；（</a:t>
                </a:r>
                <a:r>
                  <a:rPr lang="en-US" dirty="0"/>
                  <a:t>4</a:t>
                </a:r>
                <a:r>
                  <a:rPr lang="zh-CN" altLang="en-US" dirty="0"/>
                  <a:t>分）</a:t>
                </a:r>
                <a:endParaRPr lang="en-GB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44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5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0000"/>
                  </a:lnSpc>
                </a:pPr>
                <a:r>
                  <a:rPr lang="zh-CN" altLang="en-US" dirty="0"/>
                  <a:t>假设某个</a:t>
                </a:r>
                <a:r>
                  <a:rPr lang="en-US" dirty="0"/>
                  <a:t>Expectation</a:t>
                </a:r>
                <a:r>
                  <a:rPr lang="zh-CN" altLang="en-US" dirty="0"/>
                  <a:t>步骤后，得到以下结果：</a:t>
                </a:r>
                <a:endParaRPr lang="en-US" altLang="zh-CN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r>
                  <a:rPr lang="zh-CN" altLang="en-US" dirty="0"/>
                  <a:t>请计算接下来的</a:t>
                </a:r>
                <a:r>
                  <a:rPr lang="en-US" dirty="0"/>
                  <a:t>Maximization</a:t>
                </a:r>
                <a:r>
                  <a:rPr lang="zh-CN" altLang="en-US" dirty="0"/>
                  <a:t>步骤的内容：</a:t>
                </a:r>
                <a:endParaRPr lang="en-GB" dirty="0"/>
              </a:p>
              <a:p>
                <a:pPr lvl="1"/>
                <a:r>
                  <a:rPr lang="zh-CN" altLang="en-US" dirty="0"/>
                  <a:t>数据集中两个高斯分布的混合比例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？（</a:t>
                </a:r>
                <a:r>
                  <a:rPr lang="en-US" dirty="0"/>
                  <a:t>2</a:t>
                </a:r>
                <a:r>
                  <a:rPr lang="zh-CN" altLang="en-US" dirty="0"/>
                  <a:t>分）</a:t>
                </a:r>
                <a:endParaRPr lang="en-GB" dirty="0"/>
              </a:p>
              <a:p>
                <a:pPr lvl="1"/>
                <a:r>
                  <a:rPr lang="zh-CN" altLang="en-US" dirty="0"/>
                  <a:t>两个高斯分布的均值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？列出计算式即可，可不计算出最终结果。（</a:t>
                </a:r>
                <a:r>
                  <a:rPr lang="en-US" dirty="0"/>
                  <a:t>2</a:t>
                </a:r>
                <a:r>
                  <a:rPr lang="zh-CN" altLang="en-US" dirty="0"/>
                  <a:t>分）</a:t>
                </a:r>
                <a:endParaRPr lang="en-GB" dirty="0"/>
              </a:p>
              <a:p>
                <a:pPr lvl="1"/>
                <a:r>
                  <a:rPr lang="zh-CN" altLang="en-US" dirty="0"/>
                  <a:t>两个高斯分布的方差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dirty="0"/>
                  <a:t>？列出计算式即可，计算式中可以使用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，可不计算出最终结果。（</a:t>
                </a:r>
                <a:r>
                  <a:rPr lang="en-US" dirty="0"/>
                  <a:t>2</a:t>
                </a:r>
                <a:r>
                  <a:rPr lang="zh-CN" altLang="en-US" dirty="0"/>
                  <a:t>分）</a:t>
                </a:r>
                <a:r>
                  <a:rPr lang="en-GB" dirty="0">
                    <a:effectLst/>
                  </a:rPr>
                  <a:t> </a:t>
                </a:r>
                <a:r>
                  <a:rPr lang="en-GB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68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4981395"/>
                  </p:ext>
                </p:extLst>
              </p:nvPr>
            </p:nvGraphicFramePr>
            <p:xfrm>
              <a:off x="1710724" y="1359771"/>
              <a:ext cx="4666593" cy="11311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5522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552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5615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8853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000" i="1" kern="100">
                                        <a:effectLst/>
                                        <a:latin typeface="Cambria Math" panose="02040503050406030204" pitchFamily="18" charset="0"/>
                                        <a:ea typeface="宋体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i="1" kern="100">
                                        <a:effectLst/>
                                        <a:latin typeface="Cambria Math" charset="0"/>
                                        <a:ea typeface="宋体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000" i="1" kern="100">
                                        <a:effectLst/>
                                        <a:latin typeface="Cambria Math" charset="0"/>
                                        <a:ea typeface="宋体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i="1" kern="100">
                                    <a:effectLst/>
                                    <a:latin typeface="Cambria Math" charset="0"/>
                                    <a:ea typeface="宋体" charset="-122"/>
                                  </a:rPr>
                                  <m:t>𝑃</m:t>
                                </m:r>
                                <m:r>
                                  <a:rPr lang="en-US" sz="1000" kern="100">
                                    <a:effectLst/>
                                    <a:latin typeface="Cambria Math" charset="0"/>
                                    <a:ea typeface="宋体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GB" sz="1000" i="1" kern="100">
                                        <a:effectLst/>
                                        <a:latin typeface="Cambria Math" panose="02040503050406030204" pitchFamily="18" charset="0"/>
                                        <a:ea typeface="宋体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i="1" kern="100">
                                        <a:effectLst/>
                                        <a:latin typeface="Cambria Math" charset="0"/>
                                        <a:ea typeface="宋体" charset="-122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000" i="1" kern="100">
                                        <a:effectLst/>
                                        <a:latin typeface="Cambria Math" charset="0"/>
                                        <a:ea typeface="宋体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000" i="1" kern="100">
                                    <a:effectLst/>
                                    <a:latin typeface="Cambria Math" charset="0"/>
                                    <a:ea typeface="宋体" charset="-122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GB" sz="1000" i="1" kern="100">
                                        <a:effectLst/>
                                        <a:latin typeface="Cambria Math" panose="02040503050406030204" pitchFamily="18" charset="0"/>
                                        <a:ea typeface="宋体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i="1" kern="100">
                                        <a:effectLst/>
                                        <a:latin typeface="Cambria Math" charset="0"/>
                                        <a:ea typeface="宋体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000" i="1" kern="100">
                                        <a:effectLst/>
                                        <a:latin typeface="Cambria Math" charset="0"/>
                                        <a:ea typeface="宋体" charset="-122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kern="100">
                                    <a:effectLst/>
                                    <a:latin typeface="Cambria Math" charset="0"/>
                                    <a:ea typeface="宋体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i="1" kern="100">
                                    <a:effectLst/>
                                    <a:latin typeface="Cambria Math" charset="0"/>
                                    <a:ea typeface="宋体" charset="-122"/>
                                  </a:rPr>
                                  <m:t>𝑃</m:t>
                                </m:r>
                                <m:r>
                                  <a:rPr lang="en-US" sz="1000" kern="100">
                                    <a:effectLst/>
                                    <a:latin typeface="Cambria Math" charset="0"/>
                                    <a:ea typeface="宋体" charset="-122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GB" sz="1000" i="1" kern="100">
                                        <a:effectLst/>
                                        <a:latin typeface="Cambria Math" panose="02040503050406030204" pitchFamily="18" charset="0"/>
                                        <a:ea typeface="宋体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i="1" kern="100">
                                        <a:effectLst/>
                                        <a:latin typeface="Cambria Math" charset="0"/>
                                        <a:ea typeface="宋体" charset="-122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000" i="1" kern="100">
                                        <a:effectLst/>
                                        <a:latin typeface="Cambria Math" charset="0"/>
                                        <a:ea typeface="宋体" charset="-122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000" i="1" kern="100">
                                    <a:effectLst/>
                                    <a:latin typeface="Cambria Math" charset="0"/>
                                    <a:ea typeface="宋体" charset="-122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GB" sz="1000" i="1" kern="100">
                                        <a:effectLst/>
                                        <a:latin typeface="Cambria Math" panose="02040503050406030204" pitchFamily="18" charset="0"/>
                                        <a:ea typeface="宋体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i="1" kern="100">
                                        <a:effectLst/>
                                        <a:latin typeface="Cambria Math" charset="0"/>
                                        <a:ea typeface="宋体" charset="-122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000" i="1" kern="100">
                                        <a:effectLst/>
                                        <a:latin typeface="Cambria Math" charset="0"/>
                                        <a:ea typeface="宋体" charset="-122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kern="100">
                                    <a:effectLst/>
                                    <a:latin typeface="Cambria Math" charset="0"/>
                                    <a:ea typeface="宋体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853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000" i="1" kern="100">
                                      <a:effectLst/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 kern="100">
                                      <a:effectLst/>
                                      <a:latin typeface="Cambria Math" charset="0"/>
                                      <a:ea typeface="宋体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i="1" kern="100">
                                      <a:effectLst/>
                                      <a:latin typeface="Cambria Math" charset="0"/>
                                      <a:ea typeface="宋体" charset="-122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 (174)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0.9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0.1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853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000" i="1" kern="100">
                                      <a:effectLst/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 kern="100">
                                      <a:effectLst/>
                                      <a:latin typeface="Cambria Math" charset="0"/>
                                      <a:ea typeface="宋体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i="1" kern="100">
                                      <a:effectLst/>
                                      <a:latin typeface="Cambria Math" charset="0"/>
                                      <a:ea typeface="宋体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 (173)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0.8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0.2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8853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000" i="1" kern="100">
                                      <a:effectLst/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 kern="100">
                                      <a:effectLst/>
                                      <a:latin typeface="Cambria Math" charset="0"/>
                                      <a:ea typeface="宋体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i="1" kern="100">
                                      <a:effectLst/>
                                      <a:latin typeface="Cambria Math" charset="0"/>
                                      <a:ea typeface="宋体" charset="-122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 (168)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0.4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0.6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8853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000" i="1" kern="100">
                                      <a:effectLst/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 kern="100">
                                      <a:effectLst/>
                                      <a:latin typeface="Cambria Math" charset="0"/>
                                      <a:ea typeface="宋体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i="1" kern="100">
                                      <a:effectLst/>
                                      <a:latin typeface="Cambria Math" charset="0"/>
                                      <a:ea typeface="宋体" charset="-122"/>
                                    </a:rPr>
                                    <m:t>4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 (167)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0.2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0.8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8853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sz="1000" i="1" kern="100">
                                      <a:effectLst/>
                                      <a:latin typeface="Cambria Math" panose="02040503050406030204" pitchFamily="18" charset="0"/>
                                      <a:ea typeface="宋体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i="1" kern="100">
                                      <a:effectLst/>
                                      <a:latin typeface="Cambria Math" charset="0"/>
                                      <a:ea typeface="宋体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000" i="1" kern="100">
                                      <a:effectLst/>
                                      <a:latin typeface="Cambria Math" charset="0"/>
                                      <a:ea typeface="宋体" charset="-122"/>
                                    </a:rPr>
                                    <m:t>5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 (166)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0.1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 dirty="0">
                              <a:effectLst/>
                              <a:latin typeface="Times New Roman" charset="0"/>
                              <a:ea typeface="宋体" charset="-122"/>
                            </a:rPr>
                            <a:t>0.9</a:t>
                          </a:r>
                          <a:endParaRPr lang="en-GB" sz="1000" kern="100" dirty="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4981395"/>
                  </p:ext>
                </p:extLst>
              </p:nvPr>
            </p:nvGraphicFramePr>
            <p:xfrm>
              <a:off x="1710724" y="1359771"/>
              <a:ext cx="4666593" cy="11311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55220"/>
                    <a:gridCol w="1555220"/>
                    <a:gridCol w="1556153"/>
                  </a:tblGrid>
                  <a:tr h="1885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91" t="-3226" r="-200391" b="-5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100784" t="-3226" r="-101176" b="-5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200000" t="-3226" r="-781" b="-532258"/>
                          </a:stretch>
                        </a:blipFill>
                      </a:tcPr>
                    </a:tc>
                  </a:tr>
                  <a:tr h="1885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91" t="-103226" r="-200391" b="-4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0.9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0.1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1885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91" t="-203226" r="-200391" b="-3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0.8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0.2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1885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91" t="-303226" r="-200391" b="-2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0.4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0.6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1885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91" t="-403226" r="-200391" b="-1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0.2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0.8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</a:tr>
                  <a:tr h="18853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391" t="-503226" r="-200391" b="-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>
                              <a:effectLst/>
                              <a:latin typeface="Times New Roman" charset="0"/>
                              <a:ea typeface="宋体" charset="-122"/>
                            </a:rPr>
                            <a:t>0.1</a:t>
                          </a:r>
                          <a:endParaRPr lang="en-GB" sz="1000" kern="10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000" kern="100" dirty="0">
                              <a:effectLst/>
                              <a:latin typeface="Times New Roman" charset="0"/>
                              <a:ea typeface="宋体" charset="-122"/>
                            </a:rPr>
                            <a:t>0.9</a:t>
                          </a:r>
                          <a:endParaRPr lang="en-GB" sz="1000" kern="100" dirty="0">
                            <a:effectLst/>
                            <a:latin typeface="Times New Roman" charset="0"/>
                            <a:ea typeface="宋体" charset="-122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7605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参考答案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442434" cy="393700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600" dirty="0"/>
                  <a:t>Expectation</a:t>
                </a:r>
                <a:r>
                  <a:rPr lang="zh-CN" altLang="en-US" sz="1600" dirty="0"/>
                  <a:t>的目的是给每个样本一个软分配，其输入是两个高斯分布目前估计的参数（均值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1600" b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1600" dirty="0"/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b="0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a:rPr lang="en-US" sz="1600" b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1600" dirty="0"/>
                  <a:t>、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600" b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1600" b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b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/>
                  <a:t>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600" b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1600" b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600" b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sz="1600" dirty="0"/>
                  <a:t>）以及混合比例（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b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和</a:t>
                </a:r>
                <a14:m>
                  <m:oMath xmlns:m="http://schemas.openxmlformats.org/officeDocument/2006/math">
                    <m:r>
                      <a:rPr lang="en-US" sz="1600" b="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b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 dirty="0"/>
                  <a:t>），输出是软分配结果。</a:t>
                </a:r>
                <a:endParaRPr lang="en-GB" sz="1600" dirty="0"/>
              </a:p>
              <a:p>
                <a:pPr>
                  <a:lnSpc>
                    <a:spcPct val="120000"/>
                  </a:lnSpc>
                </a:pPr>
                <a:r>
                  <a:rPr lang="en-US" sz="1600" dirty="0"/>
                  <a:t>Maximization</a:t>
                </a:r>
                <a:r>
                  <a:rPr lang="zh-CN" altLang="en-US" sz="1600" dirty="0"/>
                  <a:t>的目的是根据目前样本的软分配，估计两个高斯分布的参数以及混合比例。</a:t>
                </a:r>
                <a:endParaRPr lang="en-US" altLang="zh-CN" sz="1600" dirty="0"/>
              </a:p>
              <a:p>
                <a:pPr>
                  <a:lnSpc>
                    <a:spcPct val="120000"/>
                  </a:lnSpc>
                </a:pPr>
                <a:r>
                  <a:rPr lang="en-GB" sz="1600" dirty="0">
                    <a:effectLst/>
                  </a:rPr>
                  <a:t> 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=(0.9+0.8+0.4+0.2+0.1)/5 = 2.4/5 = 0.48</a:t>
                </a:r>
                <a:endParaRPr lang="en-GB" sz="16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=(0.1+0.2+0.6+0.8+0.9) = 2.6/5 = 0.52 </a:t>
                </a:r>
                <a:endParaRPr lang="en-GB" sz="16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= (174*0.9+173*0.8+168*0.4+167*0.2+166*0.1)/2.4</a:t>
                </a:r>
                <a:endParaRPr lang="en-GB" sz="16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 = (174*0.1+173*0.2+168*0.6+167*0.8+166*0.9)/2.6</a:t>
                </a:r>
                <a:endParaRPr lang="en-GB" sz="16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600" dirty="0"/>
                  <a:t> = (</a:t>
                </a:r>
                <a:r>
                  <a:rPr lang="zh-CN" altLang="en-US" sz="1600" dirty="0"/>
                  <a:t>（</a:t>
                </a:r>
                <a:r>
                  <a:rPr lang="en-US" sz="1600" dirty="0"/>
                  <a:t>174-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)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*0.9+</a:t>
                </a:r>
                <a:r>
                  <a:rPr lang="zh-CN" altLang="en-US" sz="1600" dirty="0"/>
                  <a:t>（</a:t>
                </a:r>
                <a:r>
                  <a:rPr lang="en-US" sz="1600" dirty="0"/>
                  <a:t>173-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)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*0.8+</a:t>
                </a:r>
                <a:r>
                  <a:rPr lang="zh-CN" altLang="en-US" sz="1600" dirty="0"/>
                  <a:t>（</a:t>
                </a:r>
                <a:r>
                  <a:rPr lang="en-US" sz="1600" dirty="0"/>
                  <a:t>168-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)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*0.4+</a:t>
                </a:r>
                <a:r>
                  <a:rPr lang="zh-CN" altLang="en-US" sz="1600" dirty="0"/>
                  <a:t>（</a:t>
                </a:r>
                <a:r>
                  <a:rPr lang="en-US" sz="1600" dirty="0"/>
                  <a:t>167-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)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*0.2+(166-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)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*0.1)/2.4</a:t>
                </a:r>
                <a:endParaRPr lang="en-GB" sz="16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600" dirty="0"/>
                  <a:t> =((174-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)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*0.1+(173-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)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*0.2+(168-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)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*0.6+(167-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)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*0.8+(166-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/>
                  <a:t>)</a:t>
                </a:r>
                <a:r>
                  <a:rPr lang="en-US" sz="1600" baseline="30000" dirty="0"/>
                  <a:t>2</a:t>
                </a:r>
                <a:r>
                  <a:rPr lang="en-US" sz="1600" dirty="0"/>
                  <a:t>*0.9)/2.6</a:t>
                </a:r>
                <a:endParaRPr lang="en-GB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442434" cy="3937000"/>
              </a:xfrm>
              <a:blipFill rotWithShape="0">
                <a:blip r:embed="rId2"/>
                <a:stretch>
                  <a:fillRect l="-289" r="-1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72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聚类问题及其算法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3001143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聚类问题及其评测方法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聚类算法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K-Means</a:t>
            </a: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软聚类算法</a:t>
            </a: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EM</a:t>
            </a:r>
          </a:p>
          <a:p>
            <a:pPr>
              <a:lnSpc>
                <a:spcPct val="160000"/>
              </a:lnSpc>
            </a:pPr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案例分析：聚类算法实践</a:t>
            </a:r>
            <a:endParaRPr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788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K-Means</a:t>
            </a:r>
            <a:r>
              <a:rPr lang="zh-CN" altLang="en-US" dirty="0"/>
              <a:t>实践 </a:t>
            </a:r>
            <a:r>
              <a:rPr lang="mr-IN" altLang="zh-CN" dirty="0"/>
              <a:t>–</a:t>
            </a:r>
            <a:r>
              <a:rPr lang="zh-CN" altLang="en-US" dirty="0"/>
              <a:t> 模型调用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"/>
          <a:stretch/>
        </p:blipFill>
        <p:spPr>
          <a:xfrm>
            <a:off x="531844" y="1078249"/>
            <a:ext cx="8154955" cy="341880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66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K-Means</a:t>
            </a:r>
            <a:r>
              <a:rPr lang="zh-CN" altLang="en-US" dirty="0"/>
              <a:t>实践 </a:t>
            </a:r>
            <a:r>
              <a:rPr lang="mr-IN" altLang="zh-CN" dirty="0"/>
              <a:t>–</a:t>
            </a:r>
            <a:r>
              <a:rPr lang="zh-CN" altLang="en-US" dirty="0"/>
              <a:t> 可视化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72</a:t>
            </a:fld>
            <a:endParaRPr lang="zh-CN" alt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563" y="819150"/>
            <a:ext cx="5882873" cy="3937000"/>
          </a:xfrm>
        </p:spPr>
      </p:pic>
    </p:spTree>
    <p:extLst>
      <p:ext uri="{BB962C8B-B14F-4D97-AF65-F5344CB8AC3E}">
        <p14:creationId xmlns:p14="http://schemas.microsoft.com/office/powerpoint/2010/main" val="1632335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K-Means</a:t>
            </a:r>
            <a:r>
              <a:rPr lang="zh-CN" altLang="en-US" dirty="0"/>
              <a:t>实践 </a:t>
            </a:r>
            <a:r>
              <a:rPr lang="mr-IN" altLang="zh-CN" dirty="0"/>
              <a:t>–</a:t>
            </a:r>
            <a:r>
              <a:rPr lang="zh-CN" altLang="en-US" dirty="0"/>
              <a:t> 参数</a:t>
            </a:r>
            <a:r>
              <a:rPr lang="en-US" altLang="zh-CN" dirty="0"/>
              <a:t>K</a:t>
            </a:r>
            <a:r>
              <a:rPr lang="zh-CN" altLang="en-US" dirty="0"/>
              <a:t>选择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340359"/>
                <a:ext cx="8229600" cy="141579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肘部的值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优化目标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𝐽</m:t>
                    </m:r>
                  </m:oMath>
                </a14:m>
                <a:r>
                  <a:rPr lang="zh-CN" altLang="en-US" dirty="0"/>
                  <a:t> 开始时下降很快，在肘部开始平缓了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作为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K</a:t>
                </a:r>
                <a:r>
                  <a:rPr lang="zh-CN" altLang="en-US" dirty="0"/>
                  <a:t>值，</a:t>
                </a:r>
                <a:endParaRPr lang="en-US" altLang="zh-CN" dirty="0">
                  <a:latin typeface="Calibri" charset="0"/>
                  <a:ea typeface="Calibri" charset="0"/>
                  <a:cs typeface="Calibri" charset="0"/>
                </a:endParaRPr>
              </a:p>
              <a:p>
                <a:r>
                  <a:rPr lang="zh-CN" altLang="en-US" dirty="0"/>
                  <a:t>并不是所有的问题都可以通过画肘部图来解决，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有的问题如右边的那个图，肘点位置不明显（肘点可以是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3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，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4</a:t>
                </a:r>
                <a:r>
                  <a:rPr lang="zh-CN" altLang="en-US" dirty="0">
                    <a:latin typeface="Calibri" charset="0"/>
                    <a:ea typeface="Calibri" charset="0"/>
                    <a:cs typeface="Calibri" charset="0"/>
                  </a:rPr>
                  <a:t>，</a:t>
                </a:r>
                <a:r>
                  <a:rPr lang="en-US" altLang="zh-CN" dirty="0">
                    <a:latin typeface="Calibri" charset="0"/>
                    <a:ea typeface="Calibri" charset="0"/>
                    <a:cs typeface="Calibri" charset="0"/>
                  </a:rPr>
                  <a:t>5</a:t>
                </a:r>
                <a:r>
                  <a:rPr lang="zh-CN" altLang="en-US" dirty="0"/>
                  <a:t>），这时就无法确定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值了。故肘部图不一定总是适用。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340359"/>
                <a:ext cx="8229600" cy="1415790"/>
              </a:xfrm>
              <a:blipFill rotWithShape="0">
                <a:blip r:embed="rId2"/>
                <a:stretch>
                  <a:fillRect l="-667" t="-3017" r="-444"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73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570" y="888159"/>
            <a:ext cx="5868178" cy="226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04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K-Means</a:t>
            </a:r>
            <a:r>
              <a:rPr lang="zh-CN" altLang="en-US" dirty="0"/>
              <a:t>实践 </a:t>
            </a:r>
            <a:r>
              <a:rPr lang="mr-IN" altLang="zh-CN" dirty="0"/>
              <a:t>–</a:t>
            </a:r>
            <a:r>
              <a:rPr lang="zh-CN" altLang="en-US" dirty="0"/>
              <a:t> 参数</a:t>
            </a:r>
            <a:r>
              <a:rPr lang="en-US" altLang="zh-CN" dirty="0"/>
              <a:t>K</a:t>
            </a:r>
            <a:r>
              <a:rPr lang="zh-CN" altLang="en-US" dirty="0"/>
              <a:t>选择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24" y="1164825"/>
            <a:ext cx="4621890" cy="271099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74</a:t>
            </a:fld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814" y="1164825"/>
            <a:ext cx="4125080" cy="271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46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K-Means</a:t>
            </a:r>
            <a:r>
              <a:rPr lang="zh-CN" altLang="en-US" dirty="0"/>
              <a:t>实践 </a:t>
            </a:r>
            <a:r>
              <a:rPr lang="mr-IN" altLang="zh-CN" dirty="0"/>
              <a:t>–</a:t>
            </a:r>
            <a:r>
              <a:rPr lang="zh-CN" altLang="en-US" dirty="0"/>
              <a:t> 数据归一化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/>
          <a:lstStyle/>
          <a:p>
            <a:r>
              <a:rPr kumimoji="1" lang="en-US" altLang="zh-CN" dirty="0"/>
              <a:t>Min-max</a:t>
            </a:r>
            <a:r>
              <a:rPr kumimoji="1" lang="zh-CN" altLang="en-US" dirty="0"/>
              <a:t>归一化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Z-score</a:t>
            </a:r>
            <a:r>
              <a:rPr kumimoji="1" lang="zh-CN" altLang="en-US" dirty="0"/>
              <a:t>归一化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基于统计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十位数归一化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j</a:t>
            </a:r>
            <a:r>
              <a:rPr kumimoji="1" lang="zh-CN" altLang="en-US" dirty="0"/>
              <a:t>取值刚好让最大的数小于等于</a:t>
            </a:r>
            <a:r>
              <a:rPr kumimoji="1" lang="en-US" altLang="zh-CN" dirty="0"/>
              <a:t>1</a:t>
            </a:r>
          </a:p>
          <a:p>
            <a:endParaRPr kumimoji="1" lang="zh-CN" altLang="en-US" dirty="0"/>
          </a:p>
        </p:txBody>
      </p:sp>
      <p:pic>
        <p:nvPicPr>
          <p:cNvPr id="6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948004" y="-1014884"/>
            <a:ext cx="544606" cy="5143500"/>
          </a:xfrm>
          <a:prstGeom prst="rect">
            <a:avLst/>
          </a:prstGeom>
        </p:spPr>
      </p:pic>
      <p:pic>
        <p:nvPicPr>
          <p:cNvPr id="7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082541" y="2415582"/>
            <a:ext cx="647700" cy="965200"/>
          </a:xfrm>
          <a:prstGeom prst="rect">
            <a:avLst/>
          </a:prstGeom>
        </p:spPr>
      </p:pic>
      <p:pic>
        <p:nvPicPr>
          <p:cNvPr id="8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847073" y="3724659"/>
            <a:ext cx="736600" cy="100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07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大数据量下的</a:t>
            </a:r>
            <a:r>
              <a:rPr lang="en-US" dirty="0" err="1">
                <a:latin typeface="Calibri" charset="0"/>
                <a:ea typeface="Calibri" charset="0"/>
                <a:cs typeface="Calibri" charset="0"/>
              </a:rPr>
              <a:t>Mini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-Batch-K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-</a:t>
            </a:r>
            <a:r>
              <a:rPr lang="en-US" dirty="0" err="1">
                <a:latin typeface="Calibri" charset="0"/>
                <a:ea typeface="Calibri" charset="0"/>
                <a:cs typeface="Calibri" charset="0"/>
              </a:rPr>
              <a:t>Means</a:t>
            </a:r>
            <a:r>
              <a:rPr lang="en-US" dirty="0" err="1"/>
              <a:t>算法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1896058"/>
          </a:xfrm>
        </p:spPr>
        <p:txBody>
          <a:bodyPr/>
          <a:lstStyle/>
          <a:p>
            <a:r>
              <a:rPr lang="en-US" altLang="zh-CN" sz="1800" dirty="0"/>
              <a:t>Mini Batch K-Means</a:t>
            </a:r>
            <a:r>
              <a:rPr lang="zh-CN" altLang="en-US" sz="1800" dirty="0"/>
              <a:t>算法是</a:t>
            </a:r>
            <a:r>
              <a:rPr lang="en-US" altLang="zh-CN" sz="1800" dirty="0"/>
              <a:t>K-Means</a:t>
            </a:r>
            <a:r>
              <a:rPr lang="zh-CN" altLang="en-US" sz="1800" dirty="0"/>
              <a:t>算法的变种</a:t>
            </a:r>
            <a:endParaRPr lang="en-US" altLang="zh-CN" sz="1800" dirty="0"/>
          </a:p>
          <a:p>
            <a:r>
              <a:rPr lang="zh-CN" altLang="en-US" sz="1800" dirty="0"/>
              <a:t>采用小批量的数据子集减小计算时间，同时仍试图优化目标函数</a:t>
            </a:r>
            <a:endParaRPr lang="en-US" altLang="zh-CN" sz="1800" dirty="0"/>
          </a:p>
          <a:p>
            <a:pPr lvl="1"/>
            <a:r>
              <a:rPr lang="zh-CN" altLang="en-US" sz="1600" dirty="0"/>
              <a:t>每次随机抽取数据子集，采用子集进行训练算法，大大减小了计算时间，</a:t>
            </a:r>
            <a:endParaRPr lang="en-US" altLang="zh-CN" sz="1600" dirty="0"/>
          </a:p>
          <a:p>
            <a:r>
              <a:rPr lang="zh-CN" altLang="en-US" sz="1800" dirty="0"/>
              <a:t>与其他算法相比，减少了</a:t>
            </a:r>
            <a:r>
              <a:rPr lang="en-US" altLang="zh-CN" sz="1800" dirty="0">
                <a:latin typeface="Calibri" charset="0"/>
                <a:ea typeface="Calibri" charset="0"/>
                <a:cs typeface="Calibri" charset="0"/>
              </a:rPr>
              <a:t>K-Means</a:t>
            </a:r>
            <a:r>
              <a:rPr lang="zh-CN" altLang="en-US" sz="1800" dirty="0"/>
              <a:t>的收敛时间，</a:t>
            </a:r>
            <a:r>
              <a:rPr lang="en-US" sz="1800" dirty="0"/>
              <a:t> </a:t>
            </a:r>
            <a:r>
              <a:rPr lang="en-US" sz="1800" dirty="0">
                <a:latin typeface="Calibri" charset="0"/>
                <a:ea typeface="Calibri" charset="0"/>
                <a:cs typeface="Calibri" charset="0"/>
              </a:rPr>
              <a:t>Mini-Batch-K</a:t>
            </a:r>
            <a:r>
              <a:rPr lang="en-US" altLang="zh-CN" sz="1800" dirty="0">
                <a:latin typeface="Calibri" charset="0"/>
                <a:ea typeface="Calibri" charset="0"/>
                <a:cs typeface="Calibri" charset="0"/>
              </a:rPr>
              <a:t>-</a:t>
            </a:r>
            <a:r>
              <a:rPr lang="en-US" sz="1800" dirty="0">
                <a:latin typeface="Calibri" charset="0"/>
                <a:ea typeface="Calibri" charset="0"/>
                <a:cs typeface="Calibri" charset="0"/>
              </a:rPr>
              <a:t>Means</a:t>
            </a:r>
            <a:r>
              <a:rPr lang="zh-CN" altLang="en-US" sz="1800" dirty="0"/>
              <a:t>产生的结果，一般只略差于标准算法</a:t>
            </a:r>
            <a:r>
              <a:rPr lang="zh-CN" altLang="en-US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635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大数据量下的</a:t>
            </a:r>
            <a:r>
              <a:rPr lang="en-US" dirty="0" err="1">
                <a:latin typeface="Calibri" charset="0"/>
                <a:ea typeface="Calibri" charset="0"/>
                <a:cs typeface="Calibri" charset="0"/>
              </a:rPr>
              <a:t>Mini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-Batch-K</a:t>
            </a:r>
            <a:r>
              <a:rPr lang="en-US" altLang="zh-CN" dirty="0">
                <a:latin typeface="Calibri" charset="0"/>
                <a:ea typeface="Calibri" charset="0"/>
                <a:cs typeface="Calibri" charset="0"/>
              </a:rPr>
              <a:t>-</a:t>
            </a:r>
            <a:r>
              <a:rPr lang="en-US" dirty="0" err="1">
                <a:latin typeface="Calibri" charset="0"/>
                <a:ea typeface="Calibri" charset="0"/>
                <a:cs typeface="Calibri" charset="0"/>
              </a:rPr>
              <a:t>Means</a:t>
            </a:r>
            <a:r>
              <a:rPr lang="en-US" dirty="0" err="1"/>
              <a:t>算法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990" y="1043084"/>
            <a:ext cx="5858020" cy="308465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3" name="Rectangle 2"/>
          <p:cNvSpPr/>
          <p:nvPr/>
        </p:nvSpPr>
        <p:spPr>
          <a:xfrm>
            <a:off x="3586635" y="4159140"/>
            <a:ext cx="52401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课后练习：请在规模较大的数据集上比较</a:t>
            </a:r>
            <a:r>
              <a:rPr lang="en-US" altLang="zh-CN" b="1" dirty="0">
                <a:solidFill>
                  <a:srgbClr val="C00000"/>
                </a:solidFill>
              </a:rPr>
              <a:t>K-Means</a:t>
            </a:r>
            <a:r>
              <a:rPr lang="zh-CN" altLang="en-US" b="1" dirty="0">
                <a:solidFill>
                  <a:srgbClr val="C00000"/>
                </a:solidFill>
              </a:rPr>
              <a:t>和</a:t>
            </a:r>
            <a:r>
              <a:rPr lang="en-US" altLang="zh-CN" b="1" dirty="0">
                <a:solidFill>
                  <a:srgbClr val="C00000"/>
                </a:solidFill>
              </a:rPr>
              <a:t>Mini-Batch-K-Means</a:t>
            </a:r>
            <a:r>
              <a:rPr lang="zh-CN" altLang="en-US" b="1" dirty="0">
                <a:solidFill>
                  <a:srgbClr val="C00000"/>
                </a:solidFill>
              </a:rPr>
              <a:t>的效果与时间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578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E302-76A9-6045-BB75-B389EF10F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</a:t>
            </a:r>
            <a:r>
              <a:rPr lang="zh-CN" altLang="en-US" dirty="0"/>
              <a:t>算法实践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DFA6F-D1E7-0949-B827-174036EB7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K-Means</a:t>
            </a:r>
            <a:r>
              <a:rPr lang="zh-CN" altLang="en-US" dirty="0"/>
              <a:t>和</a:t>
            </a:r>
            <a:r>
              <a:rPr lang="en-US" altLang="zh-CN" dirty="0"/>
              <a:t>EM</a:t>
            </a:r>
            <a:r>
              <a:rPr lang="zh-CN" altLang="en-US" dirty="0"/>
              <a:t>算法对</a:t>
            </a:r>
            <a:r>
              <a:rPr lang="en-US" altLang="zh-CN" dirty="0"/>
              <a:t>IRIS</a:t>
            </a:r>
            <a:r>
              <a:rPr lang="zh-CN" altLang="en-US" dirty="0"/>
              <a:t>数据集聚类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18FC7-48D7-1C46-8EAA-D2E7C0220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78</a:t>
            </a:fld>
            <a:endParaRPr lang="zh-CN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0E2ABB-62E3-3449-8322-F26A4D606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1346236"/>
            <a:ext cx="4292600" cy="31532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82BADC-749F-6E45-9D58-111DB5CD3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238" y="1369892"/>
            <a:ext cx="4221162" cy="311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79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无监督学习</a:t>
            </a:r>
            <a:endParaRPr lang="en-US" altLang="zh-CN" dirty="0"/>
          </a:p>
          <a:p>
            <a:pPr lvl="1"/>
            <a:r>
              <a:rPr lang="zh-CN" altLang="en-US" dirty="0"/>
              <a:t>聚类算法：将数据按照其相似度</a:t>
            </a:r>
            <a:r>
              <a:rPr lang="en-US" altLang="zh-CN" dirty="0"/>
              <a:t>/</a:t>
            </a:r>
            <a:r>
              <a:rPr lang="zh-CN" altLang="en-US" dirty="0"/>
              <a:t>距离划分为不同的簇</a:t>
            </a:r>
            <a:endParaRPr lang="en-US" altLang="zh-CN" dirty="0"/>
          </a:p>
          <a:p>
            <a:pPr lvl="1"/>
            <a:r>
              <a:rPr lang="zh-CN" altLang="en-US" dirty="0"/>
              <a:t>矩阵分解</a:t>
            </a:r>
            <a:r>
              <a:rPr lang="en-US" altLang="zh-CN" dirty="0"/>
              <a:t>/</a:t>
            </a:r>
            <a:r>
              <a:rPr lang="zh-CN" altLang="en-US" dirty="0"/>
              <a:t>话题模型：将输入矩阵分解为多个矩阵的乘积，得到其“低秩”近似</a:t>
            </a:r>
            <a:endParaRPr lang="en-US" altLang="zh-CN" dirty="0"/>
          </a:p>
          <a:p>
            <a:pPr lvl="1"/>
            <a:r>
              <a:rPr lang="zh-CN" altLang="en-US" dirty="0"/>
              <a:t>文本表达：利用单词的共现信息构建单词语义表达</a:t>
            </a:r>
            <a:endParaRPr lang="en-US" altLang="zh-CN" dirty="0"/>
          </a:p>
          <a:p>
            <a:r>
              <a:rPr lang="zh-CN" altLang="en-US" dirty="0"/>
              <a:t>矩阵分解</a:t>
            </a:r>
            <a:r>
              <a:rPr lang="en-US" altLang="zh-CN" dirty="0"/>
              <a:t>/</a:t>
            </a:r>
            <a:r>
              <a:rPr lang="zh-CN" altLang="en-US" dirty="0"/>
              <a:t>话题模型也可以看出“软</a:t>
            </a:r>
            <a:r>
              <a:rPr lang="en-US" altLang="zh-CN" dirty="0"/>
              <a:t>”</a:t>
            </a:r>
            <a:r>
              <a:rPr lang="zh-CN" altLang="en-US" dirty="0"/>
              <a:t>聚类</a:t>
            </a:r>
            <a:endParaRPr lang="en-US" altLang="zh-CN" dirty="0"/>
          </a:p>
          <a:p>
            <a:pPr lvl="1"/>
            <a:r>
              <a:rPr lang="zh-CN" altLang="en-US" dirty="0"/>
              <a:t>每一个话题</a:t>
            </a:r>
            <a:r>
              <a:rPr lang="en-US" altLang="zh-CN" dirty="0"/>
              <a:t>/</a:t>
            </a:r>
            <a:r>
              <a:rPr lang="zh-CN" altLang="en-US" dirty="0"/>
              <a:t>隐维度看成一个簇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一个重要的方法：极大似然估计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835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8968</TotalTime>
  <Words>4204</Words>
  <Application>Microsoft Macintosh PowerPoint</Application>
  <PresentationFormat>On-screen Show (16:9)</PresentationFormat>
  <Paragraphs>628</Paragraphs>
  <Slides>79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98" baseType="lpstr">
      <vt:lpstr>楷体</vt:lpstr>
      <vt:lpstr>Microsoft YaHei</vt:lpstr>
      <vt:lpstr>Microsoft YaHei</vt:lpstr>
      <vt:lpstr>宋体</vt:lpstr>
      <vt:lpstr>Times</vt:lpstr>
      <vt:lpstr>Times-Roman</vt:lpstr>
      <vt:lpstr>方正兰亭细黑_GBK</vt:lpstr>
      <vt:lpstr>方正超粗黑简体</vt:lpstr>
      <vt:lpstr>Arial</vt:lpstr>
      <vt:lpstr>Calibri</vt:lpstr>
      <vt:lpstr>Cambria Math</vt:lpstr>
      <vt:lpstr>Courier New</vt:lpstr>
      <vt:lpstr>Helvetica Neue</vt:lpstr>
      <vt:lpstr>Symbol</vt:lpstr>
      <vt:lpstr>Tahoma</vt:lpstr>
      <vt:lpstr>Times New Roman</vt:lpstr>
      <vt:lpstr>清风素材 https://12sc.taobao.com/</vt:lpstr>
      <vt:lpstr>1_清风素材 https://12sc.taobao.com/</vt:lpstr>
      <vt:lpstr>Equation</vt:lpstr>
      <vt:lpstr>PowerPoint Presentation</vt:lpstr>
      <vt:lpstr>无监督学习（Unsupervised Learning）</vt:lpstr>
      <vt:lpstr>PowerPoint Presentation</vt:lpstr>
      <vt:lpstr>聚类 – Clustering</vt:lpstr>
      <vt:lpstr>聚类应用举例 – 相似网页的分组呈现</vt:lpstr>
      <vt:lpstr>聚类应用举例 – 营销中的客户细分</vt:lpstr>
      <vt:lpstr>聚类应用举例 – 营销中的客户细分</vt:lpstr>
      <vt:lpstr>聚类应用举例 – 营销中的客户细分</vt:lpstr>
      <vt:lpstr>聚类应用举例 – 营销中的客户细分</vt:lpstr>
      <vt:lpstr>聚类的其它应用</vt:lpstr>
      <vt:lpstr>如何定义“距离”？</vt:lpstr>
      <vt:lpstr>距离度量函数</vt:lpstr>
      <vt:lpstr>聚类算法</vt:lpstr>
      <vt:lpstr>聚类结果评价</vt:lpstr>
      <vt:lpstr>评价方法</vt:lpstr>
      <vt:lpstr>课上练习</vt:lpstr>
      <vt:lpstr>课上练习</vt:lpstr>
      <vt:lpstr>常见的评价指标</vt:lpstr>
      <vt:lpstr>PowerPoint Presentation</vt:lpstr>
      <vt:lpstr>K-Means</vt:lpstr>
      <vt:lpstr>如何优化SSE</vt:lpstr>
      <vt:lpstr>如何优化SSE</vt:lpstr>
      <vt:lpstr>K-Means算法</vt:lpstr>
      <vt:lpstr>终止条件</vt:lpstr>
      <vt:lpstr>K-Means运行过程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课堂练习</vt:lpstr>
      <vt:lpstr>K-Means可能会陷入局部最优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K-Means优点</vt:lpstr>
      <vt:lpstr>K-Means缺点</vt:lpstr>
      <vt:lpstr>对初始点的选择敏感 – 局部最优问题</vt:lpstr>
      <vt:lpstr>如何确定参数K</vt:lpstr>
      <vt:lpstr>离群点的影响</vt:lpstr>
      <vt:lpstr>如何处理离群点</vt:lpstr>
      <vt:lpstr>不适用于非超椭球聚簇情形</vt:lpstr>
      <vt:lpstr>PowerPoint Presentation</vt:lpstr>
      <vt:lpstr>硬聚类的局限性</vt:lpstr>
      <vt:lpstr>软聚类</vt:lpstr>
      <vt:lpstr>考虑1-D数据下的EM算法</vt:lpstr>
      <vt:lpstr>Expectation Step</vt:lpstr>
      <vt:lpstr>Maximization Step</vt:lpstr>
      <vt:lpstr>K-Means  EM</vt:lpstr>
      <vt:lpstr>考虑多维数据</vt:lpstr>
      <vt:lpstr>考虑多维数据 – Expectation Step</vt:lpstr>
      <vt:lpstr>考虑多维数据 – Maximization Step</vt:lpstr>
      <vt:lpstr>EM算法步骤</vt:lpstr>
      <vt:lpstr>EM算法深入 – 混合高斯模型 注：这部分属于了解内容</vt:lpstr>
      <vt:lpstr>混合高斯模型</vt:lpstr>
      <vt:lpstr>极大似然估计 - Maximum Likelihood Estimate</vt:lpstr>
      <vt:lpstr>极大似然估计 - Maximum Likelihood Estimate</vt:lpstr>
      <vt:lpstr>极大似然估计 - Maximum Likelihood Estimate</vt:lpstr>
      <vt:lpstr>混合高斯分布的极大似然估计</vt:lpstr>
      <vt:lpstr>混合高斯分布的极大似然估计</vt:lpstr>
      <vt:lpstr>使用EM算法进行交替优化</vt:lpstr>
      <vt:lpstr>使用EM算法进行交替优化</vt:lpstr>
      <vt:lpstr>K-Means与EM</vt:lpstr>
      <vt:lpstr>课堂练习</vt:lpstr>
      <vt:lpstr>课堂练习</vt:lpstr>
      <vt:lpstr>参考答案</vt:lpstr>
      <vt:lpstr>PowerPoint Presentation</vt:lpstr>
      <vt:lpstr>K-Means实践 – 模型调用</vt:lpstr>
      <vt:lpstr>K-Means实践 – 可视化</vt:lpstr>
      <vt:lpstr>K-Means实践 – 参数K选择</vt:lpstr>
      <vt:lpstr>K-Means实践 – 参数K选择</vt:lpstr>
      <vt:lpstr>K-Means实践 – 数据归一化</vt:lpstr>
      <vt:lpstr>大数据量下的Mini-Batch-K-Means算法</vt:lpstr>
      <vt:lpstr>大数据量下的Mini-Batch-K-Means算法</vt:lpstr>
      <vt:lpstr>EM算法实践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举 范</cp:lastModifiedBy>
  <cp:revision>507</cp:revision>
  <cp:lastPrinted>2020-04-10T09:33:45Z</cp:lastPrinted>
  <dcterms:created xsi:type="dcterms:W3CDTF">2015-01-23T04:02:45Z</dcterms:created>
  <dcterms:modified xsi:type="dcterms:W3CDTF">2024-11-20T08:52:31Z</dcterms:modified>
  <cp:category/>
  <cp:contentStatus>12sc.taobao.com</cp:contentStatus>
</cp:coreProperties>
</file>