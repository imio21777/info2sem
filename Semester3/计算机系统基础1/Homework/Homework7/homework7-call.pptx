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8" r:id="rId3"/>
    <p:sldId id="266" r:id="rId4"/>
    <p:sldId id="26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29"/>
    <p:restoredTop sz="94655"/>
  </p:normalViewPr>
  <p:slideViewPr>
    <p:cSldViewPr snapToGrid="0" snapToObjects="1">
      <p:cViewPr varScale="1">
        <p:scale>
          <a:sx n="128" d="100"/>
          <a:sy n="128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8DA6B6-36FF-6F40-89DF-801D3511F187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410C-B627-B44F-87AA-5EC4395C7E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54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3071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110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165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9620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2579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2009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901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4906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7326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8234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111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3554-FB1A-8444-BC32-63F3C4EDF6C5}" type="datetimeFigureOut">
              <a:rPr kumimoji="1" lang="zh-CN" altLang="en-US" smtClean="0"/>
              <a:t>2024/11/11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F5178-C338-AC48-BE6E-907E1937F73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77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Homework7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4289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Homework7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4567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1</a:t>
            </a:r>
          </a:p>
          <a:p>
            <a:pPr lvl="1"/>
            <a:r>
              <a:rPr lang="zh-CN" altLang="en-US" sz="2000" dirty="0"/>
              <a:t>一个</a:t>
            </a:r>
            <a:r>
              <a:rPr lang="en-US" altLang="zh-CN" sz="2000" dirty="0"/>
              <a:t>C</a:t>
            </a:r>
            <a:r>
              <a:rPr lang="zh-CN" altLang="en-US" sz="2000" dirty="0"/>
              <a:t>函数</a:t>
            </a:r>
            <a:r>
              <a:rPr lang="en-US" altLang="zh-CN" sz="2000" dirty="0"/>
              <a:t>fun</a:t>
            </a:r>
            <a:r>
              <a:rPr lang="zh-CN" altLang="en-US" sz="2000" dirty="0"/>
              <a:t>具有如下代码体：</a:t>
            </a:r>
            <a:r>
              <a:rPr lang="en-US" altLang="zh-CN" sz="2000" dirty="0"/>
              <a:t>(</a:t>
            </a:r>
            <a:r>
              <a:rPr lang="zh-CN" altLang="en-US" sz="2000" dirty="0"/>
              <a:t>参数从右向左入栈</a:t>
            </a:r>
            <a:r>
              <a:rPr lang="en-US" altLang="zh-CN" sz="2000" dirty="0"/>
              <a:t>)</a:t>
            </a:r>
          </a:p>
          <a:p>
            <a:pPr lvl="1">
              <a:buFontTx/>
              <a:buNone/>
            </a:pPr>
            <a:r>
              <a:rPr lang="zh-CN" altLang="en-US" sz="2000" dirty="0"/>
              <a:t>*</a:t>
            </a:r>
            <a:r>
              <a:rPr lang="en-US" altLang="zh-CN" sz="2000" dirty="0"/>
              <a:t>p</a:t>
            </a:r>
            <a:r>
              <a:rPr lang="zh-CN" altLang="en-US" sz="2000" dirty="0"/>
              <a:t> </a:t>
            </a:r>
            <a:r>
              <a:rPr lang="en-US" altLang="zh-CN" sz="2000" dirty="0"/>
              <a:t>=</a:t>
            </a:r>
            <a:r>
              <a:rPr lang="zh-CN" altLang="en-US" sz="2000" dirty="0"/>
              <a:t> </a:t>
            </a:r>
            <a:r>
              <a:rPr lang="en-US" altLang="zh-CN" sz="2000" dirty="0"/>
              <a:t>d;</a:t>
            </a:r>
          </a:p>
          <a:p>
            <a:pPr lvl="1">
              <a:buFontTx/>
              <a:buNone/>
            </a:pPr>
            <a:r>
              <a:rPr lang="en-US" altLang="zh-CN" sz="2000" dirty="0"/>
              <a:t>return</a:t>
            </a:r>
            <a:r>
              <a:rPr lang="zh-CN" altLang="en-US" sz="2000" dirty="0"/>
              <a:t> </a:t>
            </a:r>
            <a:r>
              <a:rPr lang="en-US" altLang="zh-CN" sz="2000" dirty="0" err="1"/>
              <a:t>x-c</a:t>
            </a:r>
            <a:r>
              <a:rPr lang="en-US" altLang="zh-CN" sz="2000" dirty="0"/>
              <a:t>;</a:t>
            </a:r>
          </a:p>
          <a:p>
            <a:pPr lvl="1"/>
            <a:r>
              <a:rPr lang="zh-CN" altLang="en-US" sz="2000" dirty="0"/>
              <a:t>执行这个函数体的</a:t>
            </a:r>
            <a:r>
              <a:rPr lang="en-US" altLang="zh-CN" sz="2000" dirty="0"/>
              <a:t>IA32</a:t>
            </a:r>
            <a:r>
              <a:rPr lang="zh-CN" altLang="en-US" sz="2000" dirty="0"/>
              <a:t>代码如下：</a:t>
            </a:r>
            <a:endParaRPr lang="en-US" altLang="zh-CN" sz="2000" dirty="0"/>
          </a:p>
          <a:p>
            <a:pPr lvl="1">
              <a:buFontTx/>
              <a:buAutoNum type="arabicPlain"/>
            </a:pPr>
            <a:r>
              <a:rPr lang="en-US" altLang="zh-CN" sz="2000" dirty="0" err="1"/>
              <a:t>Movsbl</a:t>
            </a:r>
            <a:r>
              <a:rPr lang="en-US" altLang="zh-CN" sz="2000" dirty="0"/>
              <a:t>	12(%</a:t>
            </a:r>
            <a:r>
              <a:rPr lang="en-US" altLang="zh-CN" sz="2000" dirty="0" err="1"/>
              <a:t>ebp</a:t>
            </a:r>
            <a:r>
              <a:rPr lang="en-US" altLang="zh-CN" sz="2000" dirty="0"/>
              <a:t>),</a:t>
            </a:r>
            <a:r>
              <a:rPr lang="zh-CN" altLang="en-US" sz="2000" dirty="0"/>
              <a:t> </a:t>
            </a:r>
            <a:r>
              <a:rPr lang="en-US" altLang="zh-CN" sz="2000" dirty="0"/>
              <a:t>%</a:t>
            </a:r>
            <a:r>
              <a:rPr lang="en-US" altLang="zh-CN" sz="2000" dirty="0" err="1"/>
              <a:t>edx</a:t>
            </a:r>
            <a:r>
              <a:rPr lang="en-US" altLang="zh-CN" sz="2000" dirty="0"/>
              <a:t>	;</a:t>
            </a:r>
            <a:r>
              <a:rPr lang="zh-CN" altLang="en-US" sz="2000" dirty="0"/>
              <a:t>较小的</a:t>
            </a:r>
            <a:r>
              <a:rPr lang="en-US" altLang="zh-CN" sz="2000" dirty="0"/>
              <a:t>byte-&gt;</a:t>
            </a:r>
            <a:r>
              <a:rPr lang="en-US" altLang="zh-CN" sz="2000" dirty="0" err="1"/>
              <a:t>dword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s</a:t>
            </a:r>
            <a:r>
              <a:rPr lang="zh-CN" altLang="en-US" sz="2000" dirty="0"/>
              <a:t>表示符号填充，</a:t>
            </a:r>
            <a:r>
              <a:rPr lang="en-US" altLang="zh-CN" sz="2000" dirty="0"/>
              <a:t>z</a:t>
            </a:r>
            <a:r>
              <a:rPr lang="zh-CN" altLang="en-US" sz="2000" dirty="0"/>
              <a:t>表示</a:t>
            </a:r>
            <a:r>
              <a:rPr lang="en-US" altLang="zh-CN" sz="2000" dirty="0"/>
              <a:t>0</a:t>
            </a:r>
            <a:r>
              <a:rPr lang="zh-CN" altLang="en-US" sz="2000" dirty="0"/>
              <a:t>填充</a:t>
            </a:r>
            <a:endParaRPr lang="en-US" altLang="zh-CN" sz="2000" dirty="0"/>
          </a:p>
          <a:p>
            <a:pPr lvl="1">
              <a:buFontTx/>
              <a:buAutoNum type="arabicPlain"/>
            </a:pPr>
            <a:r>
              <a:rPr lang="en-US" altLang="zh-CN" sz="2000" dirty="0" err="1"/>
              <a:t>Movl</a:t>
            </a:r>
            <a:r>
              <a:rPr lang="en-US" altLang="zh-CN" sz="2000" dirty="0"/>
              <a:t>	16</a:t>
            </a:r>
            <a:r>
              <a:rPr lang="zh-CN" altLang="en-US" sz="2000" dirty="0"/>
              <a:t>(</a:t>
            </a:r>
            <a:r>
              <a:rPr lang="en-US" altLang="zh-CN" sz="2000" dirty="0"/>
              <a:t>%</a:t>
            </a:r>
            <a:r>
              <a:rPr lang="en-US" altLang="zh-CN" sz="2000" dirty="0" err="1"/>
              <a:t>ebp</a:t>
            </a:r>
            <a:r>
              <a:rPr lang="en-US" altLang="zh-CN" sz="2000" dirty="0"/>
              <a:t>),</a:t>
            </a:r>
            <a:r>
              <a:rPr lang="zh-CN" altLang="en-US" sz="2000" dirty="0"/>
              <a:t> </a:t>
            </a:r>
            <a:r>
              <a:rPr lang="en-US" altLang="zh-CN" sz="2000" dirty="0"/>
              <a:t>%</a:t>
            </a:r>
            <a:r>
              <a:rPr lang="en-US" altLang="zh-CN" sz="2000" dirty="0" err="1"/>
              <a:t>eax</a:t>
            </a:r>
            <a:endParaRPr lang="en-US" altLang="zh-CN" sz="2000" dirty="0"/>
          </a:p>
          <a:p>
            <a:pPr lvl="1">
              <a:buFontTx/>
              <a:buAutoNum type="arabicPlain"/>
            </a:pPr>
            <a:r>
              <a:rPr lang="en-US" altLang="zh-CN" sz="2000" dirty="0" err="1"/>
              <a:t>Movl</a:t>
            </a:r>
            <a:r>
              <a:rPr lang="zh-CN" altLang="en-US" sz="2000" dirty="0"/>
              <a:t> </a:t>
            </a:r>
            <a:r>
              <a:rPr lang="en-US" altLang="zh-CN" sz="2000" dirty="0"/>
              <a:t>	%</a:t>
            </a:r>
            <a:r>
              <a:rPr lang="en-US" altLang="zh-CN" sz="2000" dirty="0" err="1"/>
              <a:t>edx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(%</a:t>
            </a:r>
            <a:r>
              <a:rPr lang="en-US" altLang="zh-CN" sz="2000" dirty="0" err="1"/>
              <a:t>eax</a:t>
            </a:r>
            <a:r>
              <a:rPr lang="en-US" altLang="zh-CN" sz="2000" dirty="0"/>
              <a:t>)</a:t>
            </a:r>
          </a:p>
          <a:p>
            <a:pPr lvl="1">
              <a:buFontTx/>
              <a:buAutoNum type="arabicPlain"/>
            </a:pPr>
            <a:r>
              <a:rPr lang="en-US" altLang="zh-CN" sz="2000" dirty="0" err="1"/>
              <a:t>Movswl</a:t>
            </a:r>
            <a:r>
              <a:rPr lang="en-US" altLang="zh-CN" sz="2000" dirty="0"/>
              <a:t>	8(%</a:t>
            </a:r>
            <a:r>
              <a:rPr lang="en-US" altLang="zh-CN" sz="2000" dirty="0" err="1"/>
              <a:t>ebp</a:t>
            </a:r>
            <a:r>
              <a:rPr lang="en-US" altLang="zh-CN" sz="2000" dirty="0"/>
              <a:t>),</a:t>
            </a:r>
            <a:r>
              <a:rPr lang="zh-CN" altLang="en-US" sz="2000" dirty="0"/>
              <a:t> </a:t>
            </a:r>
            <a:r>
              <a:rPr lang="en-US" altLang="zh-CN" sz="2000" dirty="0"/>
              <a:t>%</a:t>
            </a:r>
            <a:r>
              <a:rPr lang="en-US" altLang="zh-CN" sz="2000" dirty="0" err="1"/>
              <a:t>eax</a:t>
            </a:r>
            <a:endParaRPr lang="en-US" altLang="zh-CN" sz="2000" dirty="0"/>
          </a:p>
          <a:p>
            <a:pPr lvl="1">
              <a:buFontTx/>
              <a:buAutoNum type="arabicPlain"/>
            </a:pPr>
            <a:r>
              <a:rPr lang="en-US" altLang="zh-CN" sz="2000" dirty="0" err="1"/>
              <a:t>Movl</a:t>
            </a:r>
            <a:r>
              <a:rPr lang="en-US" altLang="zh-CN" sz="2000" dirty="0"/>
              <a:t>	20(%</a:t>
            </a:r>
            <a:r>
              <a:rPr lang="en-US" altLang="zh-CN" sz="2000" dirty="0" err="1"/>
              <a:t>ebp</a:t>
            </a:r>
            <a:r>
              <a:rPr lang="en-US" altLang="zh-CN" sz="2000" dirty="0"/>
              <a:t>),</a:t>
            </a:r>
            <a:r>
              <a:rPr lang="zh-CN" altLang="en-US" sz="2000" dirty="0"/>
              <a:t> </a:t>
            </a:r>
            <a:r>
              <a:rPr lang="en-US" altLang="zh-CN" sz="2000" dirty="0"/>
              <a:t>%</a:t>
            </a:r>
            <a:r>
              <a:rPr lang="en-US" altLang="zh-CN" sz="2000" dirty="0" err="1"/>
              <a:t>edx</a:t>
            </a:r>
            <a:endParaRPr lang="en-US" altLang="zh-CN" sz="2000" dirty="0"/>
          </a:p>
          <a:p>
            <a:pPr lvl="1">
              <a:buFontTx/>
              <a:buAutoNum type="arabicPlain"/>
            </a:pPr>
            <a:r>
              <a:rPr lang="en-US" altLang="zh-CN" sz="2000" dirty="0" err="1"/>
              <a:t>Subl</a:t>
            </a:r>
            <a:r>
              <a:rPr lang="en-US" altLang="zh-CN" sz="2000" dirty="0"/>
              <a:t>	%</a:t>
            </a:r>
            <a:r>
              <a:rPr lang="en-US" altLang="zh-CN" sz="2000" dirty="0" err="1"/>
              <a:t>eax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%</a:t>
            </a:r>
            <a:r>
              <a:rPr lang="en-US" altLang="zh-CN" sz="2000" dirty="0" err="1"/>
              <a:t>edx</a:t>
            </a:r>
            <a:endParaRPr lang="en-US" altLang="zh-CN" sz="2000" dirty="0"/>
          </a:p>
          <a:p>
            <a:pPr lvl="1">
              <a:buFontTx/>
              <a:buAutoNum type="arabicPlain"/>
            </a:pPr>
            <a:r>
              <a:rPr lang="en-US" altLang="zh-CN" sz="2000" dirty="0" err="1"/>
              <a:t>Movl</a:t>
            </a:r>
            <a:r>
              <a:rPr lang="en-US" altLang="zh-CN" sz="2000" dirty="0"/>
              <a:t>	%</a:t>
            </a:r>
            <a:r>
              <a:rPr lang="en-US" altLang="zh-CN" sz="2000" dirty="0" err="1"/>
              <a:t>edx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%</a:t>
            </a:r>
            <a:r>
              <a:rPr lang="en-US" altLang="zh-CN" sz="2000" dirty="0" err="1"/>
              <a:t>eax</a:t>
            </a:r>
            <a:endParaRPr lang="en-US" altLang="zh-CN" sz="2000" dirty="0"/>
          </a:p>
          <a:p>
            <a:pPr lvl="1">
              <a:buFontTx/>
              <a:buNone/>
            </a:pPr>
            <a:r>
              <a:rPr lang="zh-CN" altLang="en-US" sz="2000" dirty="0"/>
              <a:t>写出函数</a:t>
            </a:r>
            <a:r>
              <a:rPr lang="en-US" altLang="zh-CN" sz="2000" dirty="0"/>
              <a:t>fun</a:t>
            </a:r>
            <a:r>
              <a:rPr lang="zh-CN" altLang="en-US" sz="2000" dirty="0"/>
              <a:t>的原型，给出参数</a:t>
            </a:r>
            <a:r>
              <a:rPr lang="en-US" altLang="zh-CN" sz="2000" dirty="0"/>
              <a:t>p,</a:t>
            </a:r>
            <a:r>
              <a:rPr lang="zh-CN" altLang="en-US" sz="2000" dirty="0"/>
              <a:t> </a:t>
            </a:r>
            <a:r>
              <a:rPr lang="en-US" altLang="zh-CN" sz="2000" dirty="0"/>
              <a:t>d,</a:t>
            </a:r>
            <a:r>
              <a:rPr lang="zh-CN" altLang="en-US" sz="2000" dirty="0"/>
              <a:t> </a:t>
            </a:r>
            <a:r>
              <a:rPr lang="en-US" altLang="zh-CN" sz="2000" dirty="0"/>
              <a:t>x,</a:t>
            </a:r>
            <a:r>
              <a:rPr lang="zh-CN" altLang="en-US" sz="2000" dirty="0"/>
              <a:t> </a:t>
            </a:r>
            <a:r>
              <a:rPr lang="en-US" altLang="zh-CN" sz="2000" dirty="0"/>
              <a:t>c</a:t>
            </a:r>
            <a:r>
              <a:rPr lang="zh-CN" altLang="en-US" sz="2000" dirty="0"/>
              <a:t>的类型和顺序。写出求解过程。</a:t>
            </a:r>
            <a:endParaRPr kumimoji="1"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570144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Homework7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350910" cy="4594840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2</a:t>
            </a:r>
          </a:p>
          <a:p>
            <a:pPr lvl="1"/>
            <a:r>
              <a:rPr lang="en-US" altLang="zh-CN" dirty="0"/>
              <a:t>Suppose the initial value of %</a:t>
            </a:r>
            <a:r>
              <a:rPr lang="en-US" altLang="zh-CN" dirty="0" err="1"/>
              <a:t>esp</a:t>
            </a:r>
            <a:r>
              <a:rPr lang="en-US" altLang="zh-CN" dirty="0"/>
              <a:t> is 0x7FFFFFC4, initial value of %</a:t>
            </a:r>
            <a:r>
              <a:rPr lang="en-US" altLang="zh-CN" dirty="0" err="1"/>
              <a:t>ebp</a:t>
            </a:r>
            <a:r>
              <a:rPr lang="en-US" altLang="zh-CN" dirty="0"/>
              <a:t> is 0x7FFFFFF4.</a:t>
            </a:r>
          </a:p>
          <a:p>
            <a:pPr lvl="1"/>
            <a:r>
              <a:rPr lang="en-US" altLang="zh-CN" dirty="0"/>
              <a:t>The value stored in address 0x7FFFFFC0 is 0x120, value stored in address 0x7FFFFFC4 is 0x200, the value stored in address 0x7FFFFFF4 is 0x2710. </a:t>
            </a:r>
          </a:p>
          <a:p>
            <a:pPr lvl="1"/>
            <a:r>
              <a:rPr lang="en-US" altLang="zh-CN" dirty="0"/>
              <a:t>We have following x86 assembly code executed sequentially: </a:t>
            </a:r>
          </a:p>
          <a:p>
            <a:pPr lvl="2"/>
            <a:r>
              <a:rPr lang="en-US" altLang="zh-CN" dirty="0" err="1"/>
              <a:t>pushl</a:t>
            </a:r>
            <a:r>
              <a:rPr lang="en-US" altLang="zh-CN" dirty="0"/>
              <a:t> %</a:t>
            </a:r>
            <a:r>
              <a:rPr lang="en-US" altLang="zh-CN" dirty="0" err="1"/>
              <a:t>esp</a:t>
            </a:r>
            <a:r>
              <a:rPr lang="en-US" altLang="zh-CN" dirty="0"/>
              <a:t> (instruction 1)</a:t>
            </a:r>
            <a:br>
              <a:rPr lang="en-US" altLang="zh-CN" dirty="0"/>
            </a:br>
            <a:r>
              <a:rPr lang="en-US" altLang="zh-CN" dirty="0" err="1"/>
              <a:t>movl</a:t>
            </a:r>
            <a:r>
              <a:rPr lang="en-US" altLang="zh-CN" dirty="0"/>
              <a:t> %</a:t>
            </a:r>
            <a:r>
              <a:rPr lang="en-US" altLang="zh-CN" dirty="0" err="1"/>
              <a:t>esp</a:t>
            </a:r>
            <a:r>
              <a:rPr lang="en-US" altLang="zh-CN" dirty="0"/>
              <a:t>,%</a:t>
            </a:r>
            <a:r>
              <a:rPr lang="en-US" altLang="zh-CN" dirty="0" err="1"/>
              <a:t>ebp</a:t>
            </a:r>
            <a:r>
              <a:rPr lang="en-US" altLang="zh-CN" dirty="0"/>
              <a:t> (instruction 2)</a:t>
            </a:r>
            <a:br>
              <a:rPr lang="en-US" altLang="zh-CN" dirty="0"/>
            </a:br>
            <a:r>
              <a:rPr lang="en-US" altLang="zh-CN" dirty="0" err="1"/>
              <a:t>popl</a:t>
            </a:r>
            <a:r>
              <a:rPr lang="en-US" altLang="zh-CN" dirty="0"/>
              <a:t> %</a:t>
            </a:r>
            <a:r>
              <a:rPr lang="en-US" altLang="zh-CN" dirty="0" err="1"/>
              <a:t>ebp</a:t>
            </a:r>
            <a:r>
              <a:rPr lang="en-US" altLang="zh-CN" dirty="0"/>
              <a:t> (instruction 3) </a:t>
            </a:r>
          </a:p>
          <a:p>
            <a:pPr lvl="1"/>
            <a:r>
              <a:rPr lang="en-US" altLang="zh-CN" dirty="0"/>
              <a:t>Question: After each instruction executed, what is the value of %</a:t>
            </a:r>
            <a:r>
              <a:rPr lang="en-US" altLang="zh-CN" dirty="0" err="1"/>
              <a:t>esp</a:t>
            </a:r>
            <a:r>
              <a:rPr lang="en-US" altLang="zh-CN" dirty="0"/>
              <a:t> and %</a:t>
            </a:r>
            <a:r>
              <a:rPr lang="en-US" altLang="zh-CN" dirty="0" err="1"/>
              <a:t>ebp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(1) Instruction 1:</a:t>
            </a:r>
            <a:br>
              <a:rPr lang="en-US" altLang="zh-CN" dirty="0"/>
            </a:br>
            <a:r>
              <a:rPr lang="en-US" altLang="zh-CN" dirty="0"/>
              <a:t>(2) Instruction 2:</a:t>
            </a:r>
            <a:br>
              <a:rPr lang="en-US" altLang="zh-CN" dirty="0"/>
            </a:br>
            <a:r>
              <a:rPr lang="en-US" altLang="zh-CN" dirty="0"/>
              <a:t>(3) Instruction 3: </a:t>
            </a:r>
          </a:p>
        </p:txBody>
      </p:sp>
    </p:spTree>
    <p:extLst>
      <p:ext uri="{BB962C8B-B14F-4D97-AF65-F5344CB8AC3E}">
        <p14:creationId xmlns:p14="http://schemas.microsoft.com/office/powerpoint/2010/main" val="190069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441FD-80D3-1841-B62A-0CC7B61EC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Homework7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24EEF2-31C6-E14E-A118-0D64AE1B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8930" cy="435133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题目</a:t>
            </a:r>
            <a:r>
              <a:rPr kumimoji="1" lang="en-US" altLang="zh-CN" dirty="0"/>
              <a:t>3</a:t>
            </a:r>
          </a:p>
          <a:p>
            <a:pPr lvl="1"/>
            <a:r>
              <a:rPr kumimoji="1" lang="zh-CN" altLang="en-US" dirty="0"/>
              <a:t>右边是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语言源代码文件</a:t>
            </a:r>
            <a:r>
              <a:rPr kumimoji="1" lang="en-US" altLang="zh-CN" dirty="0" err="1"/>
              <a:t>func.c</a:t>
            </a:r>
            <a:r>
              <a:rPr kumimoji="1" lang="zh-CN" altLang="en-US" dirty="0"/>
              <a:t>对应的汇编代码，请写出对应的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语言代码；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画出</a:t>
            </a:r>
            <a:r>
              <a:rPr kumimoji="1" lang="en-US" altLang="zh-CN" dirty="0"/>
              <a:t>Line 24</a:t>
            </a:r>
            <a:r>
              <a:rPr kumimoji="1" lang="zh-CN" altLang="en-US" dirty="0"/>
              <a:t>执行前栈的状态，以及此时寄存器</a:t>
            </a:r>
            <a:r>
              <a:rPr kumimoji="1" lang="en-US" altLang="zh-CN" dirty="0"/>
              <a:t>%</a:t>
            </a:r>
            <a:r>
              <a:rPr kumimoji="1" lang="en-US" altLang="zh-CN" dirty="0" err="1"/>
              <a:t>edi</a:t>
            </a:r>
            <a:r>
              <a:rPr kumimoji="1" lang="en-US" altLang="zh-CN" dirty="0"/>
              <a:t>, %</a:t>
            </a:r>
            <a:r>
              <a:rPr kumimoji="1" lang="en-US" altLang="zh-CN" dirty="0" err="1"/>
              <a:t>esi</a:t>
            </a:r>
            <a:r>
              <a:rPr kumimoji="1" lang="en-US" altLang="zh-CN" dirty="0"/>
              <a:t>, %</a:t>
            </a:r>
            <a:r>
              <a:rPr kumimoji="1" lang="en-US" altLang="zh-CN" dirty="0" err="1"/>
              <a:t>edx</a:t>
            </a:r>
            <a:r>
              <a:rPr kumimoji="1" lang="en-US" altLang="zh-CN" dirty="0"/>
              <a:t>, %</a:t>
            </a:r>
            <a:r>
              <a:rPr kumimoji="1" lang="en-US" altLang="zh-CN" dirty="0" err="1"/>
              <a:t>ecx</a:t>
            </a:r>
            <a:r>
              <a:rPr kumimoji="1" lang="en-US" altLang="zh-CN" dirty="0"/>
              <a:t>, %</a:t>
            </a:r>
            <a:r>
              <a:rPr kumimoji="1" lang="en-US" altLang="zh-CN" dirty="0" err="1"/>
              <a:t>rsp</a:t>
            </a:r>
            <a:r>
              <a:rPr kumimoji="1" lang="zh-CN" altLang="en-US" dirty="0"/>
              <a:t>的值；假设进入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函数前</a:t>
            </a:r>
            <a:r>
              <a:rPr kumimoji="1" lang="en-US" altLang="zh-CN" dirty="0"/>
              <a:t>%</a:t>
            </a:r>
            <a:r>
              <a:rPr kumimoji="1" lang="en-US" altLang="zh-CN" dirty="0" err="1"/>
              <a:t>rsp</a:t>
            </a:r>
            <a:r>
              <a:rPr kumimoji="1" lang="zh-CN" altLang="en-US" dirty="0"/>
              <a:t>的值为</a:t>
            </a:r>
            <a:r>
              <a:rPr kumimoji="1" lang="en-US" altLang="zh-CN" dirty="0"/>
              <a:t>0x8000420</a:t>
            </a:r>
            <a:r>
              <a:rPr kumimoji="1" lang="zh-CN" altLang="en-US" dirty="0"/>
              <a:t>（代码中出现的局部变量，要标记在栈图中；图中标记内存地址）</a:t>
            </a:r>
            <a:endParaRPr kumimoji="1" lang="en-US" altLang="zh-CN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FADBCF2-A970-7948-B45D-DEAFC3106D31}"/>
              </a:ext>
            </a:extLst>
          </p:cNvPr>
          <p:cNvSpPr txBox="1">
            <a:spLocks/>
          </p:cNvSpPr>
          <p:nvPr/>
        </p:nvSpPr>
        <p:spPr>
          <a:xfrm>
            <a:off x="6357729" y="57871"/>
            <a:ext cx="5516217" cy="701425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kumimoji="1" lang="en-US" altLang="zh-CN" dirty="0"/>
              <a:t>1:</a:t>
            </a:r>
            <a:r>
              <a:rPr kumimoji="1" lang="zh-CN" altLang="en-US" dirty="0"/>
              <a:t> </a:t>
            </a:r>
            <a:r>
              <a:rPr kumimoji="1" lang="en" altLang="zh-CN" dirty="0"/>
              <a:t>.file   "</a:t>
            </a:r>
            <a:r>
              <a:rPr kumimoji="1" lang="en" altLang="zh-CN" dirty="0" err="1"/>
              <a:t>func.c</a:t>
            </a:r>
            <a:r>
              <a:rPr kumimoji="1" lang="en" altLang="zh-CN" dirty="0"/>
              <a:t>"</a:t>
            </a:r>
          </a:p>
          <a:p>
            <a:pPr lvl="1"/>
            <a:r>
              <a:rPr kumimoji="1" lang="en-US" altLang="zh-CN" dirty="0"/>
              <a:t>2:</a:t>
            </a:r>
            <a:r>
              <a:rPr kumimoji="1" lang="en" altLang="zh-CN" dirty="0"/>
              <a:t>        .section        .rodata.str1.1,"aMS",@progbits,1</a:t>
            </a:r>
          </a:p>
          <a:p>
            <a:pPr lvl="1"/>
            <a:r>
              <a:rPr kumimoji="1" lang="en-US" altLang="zh-CN" dirty="0"/>
              <a:t>3:</a:t>
            </a:r>
            <a:r>
              <a:rPr kumimoji="1" lang="zh-CN" altLang="en-US" dirty="0"/>
              <a:t> </a:t>
            </a:r>
            <a:r>
              <a:rPr kumimoji="1" lang="en" altLang="zh-CN" dirty="0"/>
              <a:t>.LC0:</a:t>
            </a:r>
          </a:p>
          <a:p>
            <a:pPr lvl="1"/>
            <a:r>
              <a:rPr kumimoji="1" lang="en-US" altLang="zh-CN" dirty="0"/>
              <a:t>4:</a:t>
            </a:r>
            <a:r>
              <a:rPr kumimoji="1" lang="en" altLang="zh-CN" dirty="0"/>
              <a:t>        .string "%d %d"</a:t>
            </a:r>
          </a:p>
          <a:p>
            <a:pPr lvl="1"/>
            <a:r>
              <a:rPr kumimoji="1" lang="en-US" altLang="zh-CN" dirty="0"/>
              <a:t>5:</a:t>
            </a:r>
            <a:r>
              <a:rPr kumimoji="1" lang="en" altLang="zh-CN" dirty="0"/>
              <a:t>.LC1:</a:t>
            </a:r>
          </a:p>
          <a:p>
            <a:pPr lvl="1"/>
            <a:r>
              <a:rPr kumimoji="1" lang="en" altLang="zh-CN" dirty="0"/>
              <a:t>6:        .string "%d %d %d\n"</a:t>
            </a:r>
          </a:p>
          <a:p>
            <a:pPr lvl="1"/>
            <a:r>
              <a:rPr kumimoji="1" lang="en" altLang="zh-CN" dirty="0"/>
              <a:t>7:        .text</a:t>
            </a:r>
          </a:p>
          <a:p>
            <a:pPr lvl="1"/>
            <a:r>
              <a:rPr kumimoji="1" lang="en" altLang="zh-CN" dirty="0"/>
              <a:t>8:        .</a:t>
            </a:r>
            <a:r>
              <a:rPr kumimoji="1" lang="en" altLang="zh-CN" dirty="0" err="1"/>
              <a:t>globl</a:t>
            </a:r>
            <a:r>
              <a:rPr kumimoji="1" lang="en" altLang="zh-CN" dirty="0"/>
              <a:t>  main</a:t>
            </a:r>
          </a:p>
          <a:p>
            <a:pPr lvl="1"/>
            <a:r>
              <a:rPr kumimoji="1" lang="en" altLang="zh-CN" dirty="0"/>
              <a:t>9:        .type   main, @function</a:t>
            </a:r>
          </a:p>
          <a:p>
            <a:pPr lvl="1"/>
            <a:r>
              <a:rPr kumimoji="1" lang="en" altLang="zh-CN" dirty="0"/>
              <a:t>10:main:</a:t>
            </a:r>
          </a:p>
          <a:p>
            <a:pPr lvl="1"/>
            <a:r>
              <a:rPr kumimoji="1" lang="en" altLang="zh-CN" dirty="0"/>
              <a:t>11:.cfi_startproc</a:t>
            </a:r>
          </a:p>
          <a:p>
            <a:pPr lvl="1"/>
            <a:r>
              <a:rPr kumimoji="1" lang="en" altLang="zh-CN" dirty="0"/>
              <a:t>12:        </a:t>
            </a:r>
            <a:r>
              <a:rPr kumimoji="1" lang="en" altLang="zh-CN" dirty="0" err="1"/>
              <a:t>subq</a:t>
            </a:r>
            <a:r>
              <a:rPr kumimoji="1" lang="en" altLang="zh-CN" dirty="0"/>
              <a:t>    $24, %</a:t>
            </a:r>
            <a:r>
              <a:rPr kumimoji="1" lang="en" altLang="zh-CN" dirty="0" err="1"/>
              <a:t>rsp</a:t>
            </a:r>
            <a:endParaRPr kumimoji="1" lang="en" altLang="zh-CN" dirty="0"/>
          </a:p>
          <a:p>
            <a:pPr lvl="1"/>
            <a:r>
              <a:rPr kumimoji="1" lang="en" altLang="zh-CN" dirty="0"/>
              <a:t>13:        </a:t>
            </a:r>
            <a:r>
              <a:rPr kumimoji="1" lang="en" altLang="zh-CN" dirty="0" err="1"/>
              <a:t>leaq</a:t>
            </a:r>
            <a:r>
              <a:rPr kumimoji="1" lang="en" altLang="zh-CN" dirty="0"/>
              <a:t>    8(%</a:t>
            </a:r>
            <a:r>
              <a:rPr kumimoji="1" lang="en" altLang="zh-CN" dirty="0" err="1"/>
              <a:t>rsp</a:t>
            </a:r>
            <a:r>
              <a:rPr kumimoji="1" lang="en" altLang="zh-CN" dirty="0"/>
              <a:t>), %</a:t>
            </a:r>
            <a:r>
              <a:rPr kumimoji="1" lang="en" altLang="zh-CN" dirty="0" err="1"/>
              <a:t>rdx</a:t>
            </a:r>
            <a:endParaRPr kumimoji="1" lang="en" altLang="zh-CN" dirty="0"/>
          </a:p>
          <a:p>
            <a:pPr lvl="1"/>
            <a:r>
              <a:rPr kumimoji="1" lang="en" altLang="zh-CN" dirty="0"/>
              <a:t>14:        </a:t>
            </a:r>
            <a:r>
              <a:rPr kumimoji="1" lang="en" altLang="zh-CN" dirty="0" err="1"/>
              <a:t>leaq</a:t>
            </a:r>
            <a:r>
              <a:rPr kumimoji="1" lang="en" altLang="zh-CN" dirty="0"/>
              <a:t>    12(%</a:t>
            </a:r>
            <a:r>
              <a:rPr kumimoji="1" lang="en" altLang="zh-CN" dirty="0" err="1"/>
              <a:t>rsp</a:t>
            </a:r>
            <a:r>
              <a:rPr kumimoji="1" lang="en" altLang="zh-CN" dirty="0"/>
              <a:t>), %</a:t>
            </a:r>
            <a:r>
              <a:rPr kumimoji="1" lang="en" altLang="zh-CN" dirty="0" err="1"/>
              <a:t>rsi</a:t>
            </a:r>
            <a:endParaRPr kumimoji="1" lang="en" altLang="zh-CN" dirty="0"/>
          </a:p>
          <a:p>
            <a:pPr lvl="1"/>
            <a:r>
              <a:rPr kumimoji="1" lang="en" altLang="zh-CN" dirty="0"/>
              <a:t>15:        </a:t>
            </a:r>
            <a:r>
              <a:rPr kumimoji="1" lang="en" altLang="zh-CN" dirty="0" err="1"/>
              <a:t>movl</a:t>
            </a:r>
            <a:r>
              <a:rPr kumimoji="1" lang="en" altLang="zh-CN" dirty="0"/>
              <a:t>    $.LC0, %</a:t>
            </a:r>
            <a:r>
              <a:rPr kumimoji="1" lang="en" altLang="zh-CN" dirty="0" err="1"/>
              <a:t>edi</a:t>
            </a:r>
            <a:endParaRPr kumimoji="1" lang="en" altLang="zh-CN" dirty="0"/>
          </a:p>
          <a:p>
            <a:pPr lvl="1"/>
            <a:r>
              <a:rPr kumimoji="1" lang="en" altLang="zh-CN" dirty="0"/>
              <a:t>16:        </a:t>
            </a:r>
            <a:r>
              <a:rPr kumimoji="1" lang="en" altLang="zh-CN" dirty="0" err="1"/>
              <a:t>movl</a:t>
            </a:r>
            <a:r>
              <a:rPr kumimoji="1" lang="en" altLang="zh-CN" dirty="0"/>
              <a:t>    $0, %</a:t>
            </a:r>
            <a:r>
              <a:rPr kumimoji="1" lang="en" altLang="zh-CN" dirty="0" err="1"/>
              <a:t>eax</a:t>
            </a:r>
            <a:endParaRPr kumimoji="1" lang="en" altLang="zh-CN" dirty="0"/>
          </a:p>
          <a:p>
            <a:pPr lvl="1"/>
            <a:r>
              <a:rPr kumimoji="1" lang="en" altLang="zh-CN" dirty="0"/>
              <a:t>17:        call    __isoc99_scanf</a:t>
            </a:r>
          </a:p>
          <a:p>
            <a:pPr lvl="1"/>
            <a:r>
              <a:rPr kumimoji="1" lang="en" altLang="zh-CN" dirty="0"/>
              <a:t>18:        </a:t>
            </a:r>
            <a:r>
              <a:rPr kumimoji="1" lang="en" altLang="zh-CN" dirty="0" err="1"/>
              <a:t>movl</a:t>
            </a:r>
            <a:r>
              <a:rPr kumimoji="1" lang="en" altLang="zh-CN" dirty="0"/>
              <a:t>    12(%</a:t>
            </a:r>
            <a:r>
              <a:rPr kumimoji="1" lang="en" altLang="zh-CN" dirty="0" err="1"/>
              <a:t>rsp</a:t>
            </a:r>
            <a:r>
              <a:rPr kumimoji="1" lang="en" altLang="zh-CN" dirty="0"/>
              <a:t>), %</a:t>
            </a:r>
            <a:r>
              <a:rPr kumimoji="1" lang="en" altLang="zh-CN" dirty="0" err="1"/>
              <a:t>ecx</a:t>
            </a:r>
            <a:endParaRPr kumimoji="1" lang="en" altLang="zh-CN" dirty="0"/>
          </a:p>
          <a:p>
            <a:pPr lvl="1"/>
            <a:r>
              <a:rPr kumimoji="1" lang="en" altLang="zh-CN" dirty="0"/>
              <a:t>19:        </a:t>
            </a:r>
            <a:r>
              <a:rPr kumimoji="1" lang="en" altLang="zh-CN" dirty="0" err="1"/>
              <a:t>movl</a:t>
            </a:r>
            <a:r>
              <a:rPr kumimoji="1" lang="en" altLang="zh-CN" dirty="0"/>
              <a:t>    8(%</a:t>
            </a:r>
            <a:r>
              <a:rPr kumimoji="1" lang="en" altLang="zh-CN" dirty="0" err="1"/>
              <a:t>rsp</a:t>
            </a:r>
            <a:r>
              <a:rPr kumimoji="1" lang="en" altLang="zh-CN" dirty="0"/>
              <a:t>), %</a:t>
            </a:r>
            <a:r>
              <a:rPr kumimoji="1" lang="en" altLang="zh-CN" dirty="0" err="1"/>
              <a:t>edx</a:t>
            </a:r>
            <a:endParaRPr kumimoji="1" lang="en" altLang="zh-CN" dirty="0"/>
          </a:p>
          <a:p>
            <a:pPr lvl="1"/>
            <a:r>
              <a:rPr kumimoji="1" lang="en" altLang="zh-CN" dirty="0"/>
              <a:t>20:        </a:t>
            </a:r>
            <a:r>
              <a:rPr kumimoji="1" lang="en" altLang="zh-CN" dirty="0" err="1"/>
              <a:t>movl</a:t>
            </a:r>
            <a:r>
              <a:rPr kumimoji="1" lang="en" altLang="zh-CN" dirty="0"/>
              <a:t>    %</a:t>
            </a:r>
            <a:r>
              <a:rPr kumimoji="1" lang="en" altLang="zh-CN" dirty="0" err="1"/>
              <a:t>edx</a:t>
            </a:r>
            <a:r>
              <a:rPr kumimoji="1" lang="en" altLang="zh-CN" dirty="0"/>
              <a:t>, %</a:t>
            </a:r>
            <a:r>
              <a:rPr kumimoji="1" lang="en" altLang="zh-CN" dirty="0" err="1"/>
              <a:t>esi</a:t>
            </a:r>
            <a:endParaRPr kumimoji="1" lang="en" altLang="zh-CN" dirty="0"/>
          </a:p>
          <a:p>
            <a:pPr lvl="1"/>
            <a:r>
              <a:rPr kumimoji="1" lang="en" altLang="zh-CN" dirty="0"/>
              <a:t>21:        </a:t>
            </a:r>
            <a:r>
              <a:rPr kumimoji="1" lang="en" altLang="zh-CN" dirty="0" err="1"/>
              <a:t>xorl</a:t>
            </a:r>
            <a:r>
              <a:rPr kumimoji="1" lang="en" altLang="zh-CN" dirty="0"/>
              <a:t>    %</a:t>
            </a:r>
            <a:r>
              <a:rPr kumimoji="1" lang="en" altLang="zh-CN" dirty="0" err="1"/>
              <a:t>ecx</a:t>
            </a:r>
            <a:r>
              <a:rPr kumimoji="1" lang="en" altLang="zh-CN" dirty="0"/>
              <a:t>, %</a:t>
            </a:r>
            <a:r>
              <a:rPr kumimoji="1" lang="en" altLang="zh-CN" dirty="0" err="1"/>
              <a:t>esi</a:t>
            </a:r>
            <a:endParaRPr kumimoji="1" lang="en" altLang="zh-CN" dirty="0"/>
          </a:p>
          <a:p>
            <a:pPr lvl="1"/>
            <a:r>
              <a:rPr kumimoji="1" lang="en" altLang="zh-CN" dirty="0"/>
              <a:t>22:        </a:t>
            </a:r>
            <a:r>
              <a:rPr kumimoji="1" lang="en" altLang="zh-CN" dirty="0" err="1"/>
              <a:t>movl</a:t>
            </a:r>
            <a:r>
              <a:rPr kumimoji="1" lang="en" altLang="zh-CN" dirty="0"/>
              <a:t>    $.LC1, %</a:t>
            </a:r>
            <a:r>
              <a:rPr kumimoji="1" lang="en" altLang="zh-CN" dirty="0" err="1"/>
              <a:t>edi</a:t>
            </a:r>
            <a:endParaRPr kumimoji="1" lang="en" altLang="zh-CN" dirty="0"/>
          </a:p>
          <a:p>
            <a:pPr lvl="1"/>
            <a:r>
              <a:rPr kumimoji="1" lang="en" altLang="zh-CN" dirty="0"/>
              <a:t>23:        </a:t>
            </a:r>
            <a:r>
              <a:rPr kumimoji="1" lang="en" altLang="zh-CN" dirty="0" err="1"/>
              <a:t>movl</a:t>
            </a:r>
            <a:r>
              <a:rPr kumimoji="1" lang="en" altLang="zh-CN" dirty="0"/>
              <a:t>    $0, %</a:t>
            </a:r>
            <a:r>
              <a:rPr kumimoji="1" lang="en" altLang="zh-CN" dirty="0" err="1"/>
              <a:t>eax</a:t>
            </a:r>
            <a:endParaRPr kumimoji="1" lang="en" altLang="zh-CN" dirty="0"/>
          </a:p>
          <a:p>
            <a:pPr lvl="1"/>
            <a:r>
              <a:rPr kumimoji="1" lang="en" altLang="zh-CN" dirty="0"/>
              <a:t>24:        call    </a:t>
            </a:r>
            <a:r>
              <a:rPr kumimoji="1" lang="en" altLang="zh-CN" dirty="0" err="1"/>
              <a:t>printf</a:t>
            </a:r>
            <a:endParaRPr kumimoji="1" lang="en" altLang="zh-CN" dirty="0"/>
          </a:p>
          <a:p>
            <a:pPr lvl="1"/>
            <a:r>
              <a:rPr kumimoji="1" lang="en" altLang="zh-CN" dirty="0"/>
              <a:t>25:        </a:t>
            </a:r>
            <a:r>
              <a:rPr kumimoji="1" lang="en" altLang="zh-CN" dirty="0" err="1"/>
              <a:t>movl</a:t>
            </a:r>
            <a:r>
              <a:rPr kumimoji="1" lang="en" altLang="zh-CN" dirty="0"/>
              <a:t>    $0, %</a:t>
            </a:r>
            <a:r>
              <a:rPr kumimoji="1" lang="en" altLang="zh-CN" dirty="0" err="1"/>
              <a:t>eax</a:t>
            </a:r>
            <a:endParaRPr kumimoji="1" lang="en" altLang="zh-CN" dirty="0"/>
          </a:p>
          <a:p>
            <a:pPr lvl="1"/>
            <a:r>
              <a:rPr kumimoji="1" lang="en" altLang="zh-CN" dirty="0"/>
              <a:t>26:        </a:t>
            </a:r>
            <a:r>
              <a:rPr kumimoji="1" lang="en" altLang="zh-CN" dirty="0" err="1"/>
              <a:t>addq</a:t>
            </a:r>
            <a:r>
              <a:rPr kumimoji="1" lang="en" altLang="zh-CN" dirty="0"/>
              <a:t>    $24, %</a:t>
            </a:r>
            <a:r>
              <a:rPr kumimoji="1" lang="en" altLang="zh-CN" dirty="0" err="1"/>
              <a:t>rsp</a:t>
            </a:r>
            <a:endParaRPr kumimoji="1" lang="en" altLang="zh-CN" dirty="0"/>
          </a:p>
          <a:p>
            <a:pPr lvl="1"/>
            <a:r>
              <a:rPr kumimoji="1" lang="en" altLang="zh-CN" dirty="0"/>
              <a:t>27:        ret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1580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549</Words>
  <Application>Microsoft Macintosh PowerPoint</Application>
  <PresentationFormat>宽屏</PresentationFormat>
  <Paragraphs>54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DengXian</vt:lpstr>
      <vt:lpstr>DengXian Light</vt:lpstr>
      <vt:lpstr>Arial</vt:lpstr>
      <vt:lpstr>Office 主题</vt:lpstr>
      <vt:lpstr>Homework7</vt:lpstr>
      <vt:lpstr>Homework7</vt:lpstr>
      <vt:lpstr>Homework7</vt:lpstr>
      <vt:lpstr>Homework7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Homework3</dc:title>
  <dc:creator>Microsoft Office 用户</dc:creator>
  <cp:lastModifiedBy>7025</cp:lastModifiedBy>
  <cp:revision>62</cp:revision>
  <dcterms:created xsi:type="dcterms:W3CDTF">2018-09-27T09:01:03Z</dcterms:created>
  <dcterms:modified xsi:type="dcterms:W3CDTF">2024-11-11T00:12:32Z</dcterms:modified>
</cp:coreProperties>
</file>