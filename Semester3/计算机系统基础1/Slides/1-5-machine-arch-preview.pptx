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embeddings/oleObject13.bin" ContentType="application/vnd.openxmlformats-officedocument.oleObject"/>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81"/>
  </p:notesMasterIdLst>
  <p:handoutMasterIdLst>
    <p:handoutMasterId r:id="rId82"/>
  </p:handoutMasterIdLst>
  <p:sldIdLst>
    <p:sldId id="952" r:id="rId2"/>
    <p:sldId id="953" r:id="rId3"/>
    <p:sldId id="991" r:id="rId4"/>
    <p:sldId id="992" r:id="rId5"/>
    <p:sldId id="1023" r:id="rId6"/>
    <p:sldId id="993" r:id="rId7"/>
    <p:sldId id="955" r:id="rId8"/>
    <p:sldId id="956" r:id="rId9"/>
    <p:sldId id="957" r:id="rId10"/>
    <p:sldId id="958" r:id="rId11"/>
    <p:sldId id="959" r:id="rId12"/>
    <p:sldId id="1012" r:id="rId13"/>
    <p:sldId id="960" r:id="rId14"/>
    <p:sldId id="961" r:id="rId15"/>
    <p:sldId id="1024" r:id="rId16"/>
    <p:sldId id="962" r:id="rId17"/>
    <p:sldId id="280" r:id="rId18"/>
    <p:sldId id="281" r:id="rId19"/>
    <p:sldId id="282" r:id="rId20"/>
    <p:sldId id="1046" r:id="rId21"/>
    <p:sldId id="1025" r:id="rId22"/>
    <p:sldId id="1026" r:id="rId23"/>
    <p:sldId id="1042" r:id="rId24"/>
    <p:sldId id="1027" r:id="rId25"/>
    <p:sldId id="1028" r:id="rId26"/>
    <p:sldId id="1029" r:id="rId27"/>
    <p:sldId id="1030" r:id="rId28"/>
    <p:sldId id="1031" r:id="rId29"/>
    <p:sldId id="1033" r:id="rId30"/>
    <p:sldId id="1034" r:id="rId31"/>
    <p:sldId id="1035" r:id="rId32"/>
    <p:sldId id="1036" r:id="rId33"/>
    <p:sldId id="1032" r:id="rId34"/>
    <p:sldId id="1043" r:id="rId35"/>
    <p:sldId id="1037" r:id="rId36"/>
    <p:sldId id="1044" r:id="rId37"/>
    <p:sldId id="1045" r:id="rId38"/>
    <p:sldId id="1038" r:id="rId39"/>
    <p:sldId id="1039" r:id="rId40"/>
    <p:sldId id="1040" r:id="rId41"/>
    <p:sldId id="1041" r:id="rId42"/>
    <p:sldId id="1047" r:id="rId43"/>
    <p:sldId id="283" r:id="rId44"/>
    <p:sldId id="423" r:id="rId45"/>
    <p:sldId id="284" r:id="rId46"/>
    <p:sldId id="285" r:id="rId47"/>
    <p:sldId id="287" r:id="rId48"/>
    <p:sldId id="288" r:id="rId49"/>
    <p:sldId id="289" r:id="rId50"/>
    <p:sldId id="415" r:id="rId51"/>
    <p:sldId id="416" r:id="rId52"/>
    <p:sldId id="292" r:id="rId53"/>
    <p:sldId id="293" r:id="rId54"/>
    <p:sldId id="1048" r:id="rId55"/>
    <p:sldId id="996" r:id="rId56"/>
    <p:sldId id="997" r:id="rId57"/>
    <p:sldId id="998" r:id="rId58"/>
    <p:sldId id="999" r:id="rId59"/>
    <p:sldId id="1000" r:id="rId60"/>
    <p:sldId id="1001" r:id="rId61"/>
    <p:sldId id="1002" r:id="rId62"/>
    <p:sldId id="1003" r:id="rId63"/>
    <p:sldId id="1004" r:id="rId64"/>
    <p:sldId id="1005" r:id="rId65"/>
    <p:sldId id="1006" r:id="rId66"/>
    <p:sldId id="1007" r:id="rId67"/>
    <p:sldId id="1008" r:id="rId68"/>
    <p:sldId id="995" r:id="rId69"/>
    <p:sldId id="1010" r:id="rId70"/>
    <p:sldId id="1011" r:id="rId71"/>
    <p:sldId id="1018" r:id="rId72"/>
    <p:sldId id="1019" r:id="rId73"/>
    <p:sldId id="1022" r:id="rId74"/>
    <p:sldId id="1049" r:id="rId75"/>
    <p:sldId id="379" r:id="rId76"/>
    <p:sldId id="305" r:id="rId77"/>
    <p:sldId id="309" r:id="rId78"/>
    <p:sldId id="311" r:id="rId79"/>
    <p:sldId id="366" r:id="rId80"/>
  </p:sldIdLst>
  <p:sldSz cx="9144000" cy="6858000" type="screen4x3"/>
  <p:notesSz cx="6858000" cy="9144000"/>
  <p:defaultTextStyle>
    <a:defPPr>
      <a:defRPr lang="en-US"/>
    </a:defPPr>
    <a:lvl1pPr algn="l" rtl="0" eaLnBrk="0" fontAlgn="base" hangingPunct="0">
      <a:spcBef>
        <a:spcPct val="0"/>
      </a:spcBef>
      <a:spcAft>
        <a:spcPct val="0"/>
      </a:spcAft>
      <a:defRPr sz="2000" b="1" kern="1200">
        <a:solidFill>
          <a:schemeClr val="tx1"/>
        </a:solidFill>
        <a:latin typeface="Comic Sans MS" panose="030F0902030302020204" pitchFamily="66" charset="0"/>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tx1"/>
        </a:solidFill>
        <a:latin typeface="Comic Sans MS" panose="030F0902030302020204" pitchFamily="66" charset="0"/>
        <a:ea typeface="宋体" panose="02010600030101010101" pitchFamily="2" charset="-122"/>
        <a:cs typeface="+mn-cs"/>
      </a:defRPr>
    </a:lvl2pPr>
    <a:lvl3pPr marL="914400" algn="l" rtl="0" eaLnBrk="0" fontAlgn="base" hangingPunct="0">
      <a:spcBef>
        <a:spcPct val="0"/>
      </a:spcBef>
      <a:spcAft>
        <a:spcPct val="0"/>
      </a:spcAft>
      <a:defRPr sz="2000" b="1" kern="1200">
        <a:solidFill>
          <a:schemeClr val="tx1"/>
        </a:solidFill>
        <a:latin typeface="Comic Sans MS" panose="030F0902030302020204" pitchFamily="66" charset="0"/>
        <a:ea typeface="宋体" panose="02010600030101010101" pitchFamily="2" charset="-122"/>
        <a:cs typeface="+mn-cs"/>
      </a:defRPr>
    </a:lvl3pPr>
    <a:lvl4pPr marL="1371600" algn="l" rtl="0" eaLnBrk="0" fontAlgn="base" hangingPunct="0">
      <a:spcBef>
        <a:spcPct val="0"/>
      </a:spcBef>
      <a:spcAft>
        <a:spcPct val="0"/>
      </a:spcAft>
      <a:defRPr sz="2000" b="1" kern="1200">
        <a:solidFill>
          <a:schemeClr val="tx1"/>
        </a:solidFill>
        <a:latin typeface="Comic Sans MS" panose="030F0902030302020204" pitchFamily="66" charset="0"/>
        <a:ea typeface="宋体" panose="02010600030101010101" pitchFamily="2" charset="-122"/>
        <a:cs typeface="+mn-cs"/>
      </a:defRPr>
    </a:lvl4pPr>
    <a:lvl5pPr marL="1828800" algn="l" rtl="0" eaLnBrk="0" fontAlgn="base" hangingPunct="0">
      <a:spcBef>
        <a:spcPct val="0"/>
      </a:spcBef>
      <a:spcAft>
        <a:spcPct val="0"/>
      </a:spcAft>
      <a:defRPr sz="2000" b="1" kern="1200">
        <a:solidFill>
          <a:schemeClr val="tx1"/>
        </a:solidFill>
        <a:latin typeface="Comic Sans MS" panose="030F0902030302020204" pitchFamily="66" charset="0"/>
        <a:ea typeface="宋体" panose="02010600030101010101" pitchFamily="2" charset="-122"/>
        <a:cs typeface="+mn-cs"/>
      </a:defRPr>
    </a:lvl5pPr>
    <a:lvl6pPr marL="2286000" algn="l" defTabSz="914400" rtl="0" eaLnBrk="1" latinLnBrk="0" hangingPunct="1">
      <a:defRPr sz="2000" b="1" kern="1200">
        <a:solidFill>
          <a:schemeClr val="tx1"/>
        </a:solidFill>
        <a:latin typeface="Comic Sans MS" panose="030F0902030302020204" pitchFamily="66" charset="0"/>
        <a:ea typeface="宋体" panose="02010600030101010101" pitchFamily="2" charset="-122"/>
        <a:cs typeface="+mn-cs"/>
      </a:defRPr>
    </a:lvl6pPr>
    <a:lvl7pPr marL="2743200" algn="l" defTabSz="914400" rtl="0" eaLnBrk="1" latinLnBrk="0" hangingPunct="1">
      <a:defRPr sz="2000" b="1" kern="1200">
        <a:solidFill>
          <a:schemeClr val="tx1"/>
        </a:solidFill>
        <a:latin typeface="Comic Sans MS" panose="030F0902030302020204" pitchFamily="66" charset="0"/>
        <a:ea typeface="宋体" panose="02010600030101010101" pitchFamily="2" charset="-122"/>
        <a:cs typeface="+mn-cs"/>
      </a:defRPr>
    </a:lvl7pPr>
    <a:lvl8pPr marL="3200400" algn="l" defTabSz="914400" rtl="0" eaLnBrk="1" latinLnBrk="0" hangingPunct="1">
      <a:defRPr sz="2000" b="1" kern="1200">
        <a:solidFill>
          <a:schemeClr val="tx1"/>
        </a:solidFill>
        <a:latin typeface="Comic Sans MS" panose="030F0902030302020204" pitchFamily="66" charset="0"/>
        <a:ea typeface="宋体" panose="02010600030101010101" pitchFamily="2" charset="-122"/>
        <a:cs typeface="+mn-cs"/>
      </a:defRPr>
    </a:lvl8pPr>
    <a:lvl9pPr marL="3657600" algn="l" defTabSz="914400" rtl="0" eaLnBrk="1" latinLnBrk="0" hangingPunct="1">
      <a:defRPr sz="2000" b="1" kern="1200">
        <a:solidFill>
          <a:schemeClr val="tx1"/>
        </a:solidFill>
        <a:latin typeface="Comic Sans MS" panose="030F0902030302020204" pitchFamily="66"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790" autoAdjust="0"/>
    <p:restoredTop sz="88707" autoAdjust="0"/>
  </p:normalViewPr>
  <p:slideViewPr>
    <p:cSldViewPr>
      <p:cViewPr>
        <p:scale>
          <a:sx n="115" d="100"/>
          <a:sy n="115" d="100"/>
        </p:scale>
        <p:origin x="1640" y="1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D700FCD-3183-63EC-1D2D-163E0509AC5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kumimoji="1" sz="1200">
                <a:latin typeface="Comic Sans MS" charset="0"/>
                <a:ea typeface="宋体" charset="-122"/>
              </a:defRPr>
            </a:lvl1pPr>
          </a:lstStyle>
          <a:p>
            <a:pPr>
              <a:defRPr/>
            </a:pPr>
            <a:endParaRPr lang="zh-CN" altLang="en-US"/>
          </a:p>
        </p:txBody>
      </p:sp>
      <p:sp>
        <p:nvSpPr>
          <p:cNvPr id="3" name="日期占位符 2">
            <a:extLst>
              <a:ext uri="{FF2B5EF4-FFF2-40B4-BE49-F238E27FC236}">
                <a16:creationId xmlns:a16="http://schemas.microsoft.com/office/drawing/2014/main" id="{11AAB29B-1733-0454-6894-C4748D8BF00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kumimoji="1" sz="1200">
                <a:latin typeface="Comic Sans MS" charset="0"/>
                <a:ea typeface="宋体" charset="-122"/>
              </a:defRPr>
            </a:lvl1pPr>
          </a:lstStyle>
          <a:p>
            <a:pPr>
              <a:defRPr/>
            </a:pPr>
            <a:fld id="{EC850FBB-DF38-E248-81A0-96D104D94D2F}" type="datetimeFigureOut">
              <a:rPr lang="zh-CN" altLang="en-US"/>
              <a:pPr>
                <a:defRPr/>
              </a:pPr>
              <a:t>2024/10/14</a:t>
            </a:fld>
            <a:endParaRPr lang="zh-CN" altLang="en-US"/>
          </a:p>
        </p:txBody>
      </p:sp>
      <p:sp>
        <p:nvSpPr>
          <p:cNvPr id="4" name="页脚占位符 3">
            <a:extLst>
              <a:ext uri="{FF2B5EF4-FFF2-40B4-BE49-F238E27FC236}">
                <a16:creationId xmlns:a16="http://schemas.microsoft.com/office/drawing/2014/main" id="{CE387D0B-CE5A-B2F8-C093-A6E2598E47C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kumimoji="1" sz="1200">
                <a:latin typeface="Comic Sans MS" charset="0"/>
                <a:ea typeface="宋体" charset="-122"/>
              </a:defRPr>
            </a:lvl1pPr>
          </a:lstStyle>
          <a:p>
            <a:pPr>
              <a:defRPr/>
            </a:pPr>
            <a:endParaRPr lang="zh-CN" altLang="en-US"/>
          </a:p>
        </p:txBody>
      </p:sp>
      <p:sp>
        <p:nvSpPr>
          <p:cNvPr id="5" name="幻灯片编号占位符 4">
            <a:extLst>
              <a:ext uri="{FF2B5EF4-FFF2-40B4-BE49-F238E27FC236}">
                <a16:creationId xmlns:a16="http://schemas.microsoft.com/office/drawing/2014/main" id="{53E68F95-7A97-2A5D-D9E3-EE9A07049413}"/>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kumimoji="1" sz="1200"/>
            </a:lvl1pPr>
          </a:lstStyle>
          <a:p>
            <a:pPr>
              <a:defRPr/>
            </a:pPr>
            <a:fld id="{D66EFB35-A64F-7043-A5F7-C3B753671E1B}"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0E9CF9C-DAA0-9CA7-83D0-BF4C883DD5CE}"/>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Times New Roman" pitchFamily="18" charset="0"/>
                <a:ea typeface="宋体" pitchFamily="2" charset="-122"/>
              </a:defRPr>
            </a:lvl1pPr>
          </a:lstStyle>
          <a:p>
            <a:pPr>
              <a:defRPr/>
            </a:pPr>
            <a:endParaRPr lang="zh-CN" altLang="en-US"/>
          </a:p>
        </p:txBody>
      </p:sp>
      <p:sp>
        <p:nvSpPr>
          <p:cNvPr id="6147" name="Rectangle 3">
            <a:extLst>
              <a:ext uri="{FF2B5EF4-FFF2-40B4-BE49-F238E27FC236}">
                <a16:creationId xmlns:a16="http://schemas.microsoft.com/office/drawing/2014/main" id="{CBB522C9-D6EB-D2F8-CA51-B3E96CBA58C1}"/>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ea typeface="宋体" pitchFamily="2" charset="-122"/>
              </a:defRPr>
            </a:lvl1pPr>
          </a:lstStyle>
          <a:p>
            <a:pPr>
              <a:defRPr/>
            </a:pPr>
            <a:endParaRPr lang="en-US" altLang="zh-CN"/>
          </a:p>
        </p:txBody>
      </p:sp>
      <p:sp>
        <p:nvSpPr>
          <p:cNvPr id="14340" name="Rectangle 4">
            <a:extLst>
              <a:ext uri="{FF2B5EF4-FFF2-40B4-BE49-F238E27FC236}">
                <a16:creationId xmlns:a16="http://schemas.microsoft.com/office/drawing/2014/main" id="{B9FE2046-7C4B-4115-7FA3-742BEED59D01}"/>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275EB54B-E421-3ADC-653C-87748240F13F}"/>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6150" name="Rectangle 6">
            <a:extLst>
              <a:ext uri="{FF2B5EF4-FFF2-40B4-BE49-F238E27FC236}">
                <a16:creationId xmlns:a16="http://schemas.microsoft.com/office/drawing/2014/main" id="{C214EB29-52B4-0B40-40C0-56CE72C9330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Times New Roman" pitchFamily="18" charset="0"/>
                <a:ea typeface="宋体" pitchFamily="2" charset="-122"/>
              </a:defRPr>
            </a:lvl1pPr>
          </a:lstStyle>
          <a:p>
            <a:pPr>
              <a:defRPr/>
            </a:pPr>
            <a:endParaRPr lang="en-US" altLang="zh-CN"/>
          </a:p>
        </p:txBody>
      </p:sp>
      <p:sp>
        <p:nvSpPr>
          <p:cNvPr id="6151" name="Rectangle 7">
            <a:extLst>
              <a:ext uri="{FF2B5EF4-FFF2-40B4-BE49-F238E27FC236}">
                <a16:creationId xmlns:a16="http://schemas.microsoft.com/office/drawing/2014/main" id="{C70332B8-72B2-BD4D-E852-2E852D356E2A}"/>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anose="02020603050405020304" pitchFamily="18" charset="0"/>
              </a:defRPr>
            </a:lvl1pPr>
          </a:lstStyle>
          <a:p>
            <a:pPr>
              <a:defRPr/>
            </a:pPr>
            <a:fld id="{E25A2786-35AA-A343-94F5-5A4B61CE6FB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a:extLst>
              <a:ext uri="{FF2B5EF4-FFF2-40B4-BE49-F238E27FC236}">
                <a16:creationId xmlns:a16="http://schemas.microsoft.com/office/drawing/2014/main" id="{8E4D4162-B00A-D518-2A45-7AD825D5BE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902030302020204" pitchFamily="66" charset="0"/>
                <a:ea typeface="宋体" panose="02010600030101010101" pitchFamily="2" charset="-122"/>
              </a:defRPr>
            </a:lvl1pPr>
            <a:lvl2pPr marL="742950" indent="-285750">
              <a:defRPr sz="2000" b="1">
                <a:solidFill>
                  <a:schemeClr val="tx1"/>
                </a:solidFill>
                <a:latin typeface="Comic Sans MS" panose="030F0902030302020204" pitchFamily="66" charset="0"/>
                <a:ea typeface="宋体" panose="02010600030101010101" pitchFamily="2" charset="-122"/>
              </a:defRPr>
            </a:lvl2pPr>
            <a:lvl3pPr marL="1143000" indent="-228600">
              <a:defRPr sz="2000" b="1">
                <a:solidFill>
                  <a:schemeClr val="tx1"/>
                </a:solidFill>
                <a:latin typeface="Comic Sans MS" panose="030F0902030302020204" pitchFamily="66" charset="0"/>
                <a:ea typeface="宋体" panose="02010600030101010101" pitchFamily="2" charset="-122"/>
              </a:defRPr>
            </a:lvl3pPr>
            <a:lvl4pPr marL="1600200" indent="-228600">
              <a:defRPr sz="2000" b="1">
                <a:solidFill>
                  <a:schemeClr val="tx1"/>
                </a:solidFill>
                <a:latin typeface="Comic Sans MS" panose="030F0902030302020204" pitchFamily="66" charset="0"/>
                <a:ea typeface="宋体" panose="02010600030101010101" pitchFamily="2" charset="-122"/>
              </a:defRPr>
            </a:lvl4pPr>
            <a:lvl5pPr marL="2057400" indent="-228600">
              <a:defRPr sz="2000" b="1">
                <a:solidFill>
                  <a:schemeClr val="tx1"/>
                </a:solidFill>
                <a:latin typeface="Comic Sans MS" panose="030F09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9pPr>
          </a:lstStyle>
          <a:p>
            <a:fld id="{559EE728-0724-7D42-820A-DD48A75F3B55}" type="slidenum">
              <a:rPr lang="zh-CN" altLang="en-US" sz="1200" b="0" smtClean="0">
                <a:latin typeface="Times New Roman" panose="02020603050405020304" pitchFamily="18" charset="0"/>
              </a:rPr>
              <a:pPr/>
              <a:t>1</a:t>
            </a:fld>
            <a:endParaRPr lang="en-US" altLang="zh-CN" sz="1200" b="0">
              <a:latin typeface="Times New Roman" panose="02020603050405020304" pitchFamily="18" charset="0"/>
            </a:endParaRPr>
          </a:p>
        </p:txBody>
      </p:sp>
      <p:sp>
        <p:nvSpPr>
          <p:cNvPr id="17410" name="Rectangle 2">
            <a:extLst>
              <a:ext uri="{FF2B5EF4-FFF2-40B4-BE49-F238E27FC236}">
                <a16:creationId xmlns:a16="http://schemas.microsoft.com/office/drawing/2014/main" id="{6136A10C-2746-B9CE-DD76-4EC5C54D04D0}"/>
              </a:ext>
            </a:extLst>
          </p:cNvPr>
          <p:cNvSpPr>
            <a:spLocks noGrp="1" noRot="1" noChangeAspect="1" noChangeArrowheads="1" noTextEdit="1"/>
          </p:cNvSpPr>
          <p:nvPr>
            <p:ph type="sldImg"/>
          </p:nvPr>
        </p:nvSpPr>
        <p:spPr>
          <a:ln/>
        </p:spPr>
      </p:sp>
      <p:sp>
        <p:nvSpPr>
          <p:cNvPr id="17411" name="Rectangle 3">
            <a:extLst>
              <a:ext uri="{FF2B5EF4-FFF2-40B4-BE49-F238E27FC236}">
                <a16:creationId xmlns:a16="http://schemas.microsoft.com/office/drawing/2014/main" id="{D33F5D99-8931-99CE-AE60-C7E18F386F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72E82B6F-6FB9-7F5C-293F-6A58A8CD6E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902030302020204" pitchFamily="66" charset="0"/>
                <a:ea typeface="宋体" panose="02010600030101010101" pitchFamily="2" charset="-122"/>
              </a:defRPr>
            </a:lvl1pPr>
            <a:lvl2pPr marL="742950" indent="-285750">
              <a:defRPr sz="2000" b="1">
                <a:solidFill>
                  <a:schemeClr val="tx1"/>
                </a:solidFill>
                <a:latin typeface="Comic Sans MS" panose="030F0902030302020204" pitchFamily="66" charset="0"/>
                <a:ea typeface="宋体" panose="02010600030101010101" pitchFamily="2" charset="-122"/>
              </a:defRPr>
            </a:lvl2pPr>
            <a:lvl3pPr marL="1143000" indent="-228600">
              <a:defRPr sz="2000" b="1">
                <a:solidFill>
                  <a:schemeClr val="tx1"/>
                </a:solidFill>
                <a:latin typeface="Comic Sans MS" panose="030F0902030302020204" pitchFamily="66" charset="0"/>
                <a:ea typeface="宋体" panose="02010600030101010101" pitchFamily="2" charset="-122"/>
              </a:defRPr>
            </a:lvl3pPr>
            <a:lvl4pPr marL="1600200" indent="-228600">
              <a:defRPr sz="2000" b="1">
                <a:solidFill>
                  <a:schemeClr val="tx1"/>
                </a:solidFill>
                <a:latin typeface="Comic Sans MS" panose="030F0902030302020204" pitchFamily="66" charset="0"/>
                <a:ea typeface="宋体" panose="02010600030101010101" pitchFamily="2" charset="-122"/>
              </a:defRPr>
            </a:lvl4pPr>
            <a:lvl5pPr marL="2057400" indent="-228600">
              <a:defRPr sz="2000" b="1">
                <a:solidFill>
                  <a:schemeClr val="tx1"/>
                </a:solidFill>
                <a:latin typeface="Comic Sans MS" panose="030F09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9pPr>
          </a:lstStyle>
          <a:p>
            <a:fld id="{3CD5D92C-C540-2E46-9D0F-D17AEA8A54BB}" type="slidenum">
              <a:rPr lang="zh-CN" altLang="en-US" sz="1200" b="0" smtClean="0">
                <a:latin typeface="Times New Roman" panose="02020603050405020304" pitchFamily="18" charset="0"/>
              </a:rPr>
              <a:pPr/>
              <a:t>2</a:t>
            </a:fld>
            <a:endParaRPr lang="en-US" altLang="zh-CN" sz="1200" b="0">
              <a:latin typeface="Times New Roman" panose="02020603050405020304" pitchFamily="18" charset="0"/>
            </a:endParaRPr>
          </a:p>
        </p:txBody>
      </p:sp>
      <p:sp>
        <p:nvSpPr>
          <p:cNvPr id="19458" name="Rectangle 2">
            <a:extLst>
              <a:ext uri="{FF2B5EF4-FFF2-40B4-BE49-F238E27FC236}">
                <a16:creationId xmlns:a16="http://schemas.microsoft.com/office/drawing/2014/main" id="{8774214E-EB19-3E6B-B2E2-542888EA42D6}"/>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3B4857D9-BCC9-45B5-06CB-691FACA797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5CD43208-D0D1-DC68-3A59-21625B8DC84B}"/>
              </a:ext>
            </a:extLst>
          </p:cNvPr>
          <p:cNvSpPr>
            <a:spLocks noGrp="1" noRot="1" noChangeAspect="1" noChangeArrowheads="1" noTextEdit="1"/>
          </p:cNvSpPr>
          <p:nvPr>
            <p:ph type="sldImg"/>
          </p:nvPr>
        </p:nvSpPr>
        <p:spPr>
          <a:ln/>
        </p:spPr>
      </p:sp>
      <p:sp>
        <p:nvSpPr>
          <p:cNvPr id="30722" name="Rectangle 3">
            <a:extLst>
              <a:ext uri="{FF2B5EF4-FFF2-40B4-BE49-F238E27FC236}">
                <a16:creationId xmlns:a16="http://schemas.microsoft.com/office/drawing/2014/main" id="{E0F9C9A6-52F2-599B-4DF4-FDB6A2E24A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F67CA6D2-8A48-4D98-B8D6-45CA7ACC7C9A}"/>
              </a:ext>
            </a:extLst>
          </p:cNvPr>
          <p:cNvSpPr>
            <a:spLocks noGrp="1" noRot="1" noChangeAspect="1" noChangeArrowheads="1" noTextEdit="1"/>
          </p:cNvSpPr>
          <p:nvPr>
            <p:ph type="sldImg"/>
          </p:nvPr>
        </p:nvSpPr>
        <p:spPr>
          <a:ln/>
        </p:spPr>
      </p:sp>
      <p:sp>
        <p:nvSpPr>
          <p:cNvPr id="35842" name="Rectangle 3">
            <a:extLst>
              <a:ext uri="{FF2B5EF4-FFF2-40B4-BE49-F238E27FC236}">
                <a16:creationId xmlns:a16="http://schemas.microsoft.com/office/drawing/2014/main" id="{7EDF3F71-30E1-1A5A-EA55-0014D2CA85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3">
            <a:extLst>
              <a:ext uri="{FF2B5EF4-FFF2-40B4-BE49-F238E27FC236}">
                <a16:creationId xmlns:a16="http://schemas.microsoft.com/office/drawing/2014/main" id="{93E8B4B2-ECF7-713E-8BF5-E38F540450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100"/>
              <a:t>晶圆（</a:t>
            </a:r>
            <a:r>
              <a:rPr lang="en-US" altLang="zh-CN" sz="1100"/>
              <a:t>Wafer</a:t>
            </a:r>
            <a:r>
              <a:rPr lang="zh-CN" altLang="en-US" sz="1100"/>
              <a:t>）是指制作硅半导体集成电路所用的硅芯片，由于其形状为圆形，故称为晶圆。晶圆是生产集成电路所用的载体</a:t>
            </a:r>
            <a:endParaRPr lang="en-US" altLang="zh-CN" sz="1100"/>
          </a:p>
          <a:p>
            <a:r>
              <a:rPr lang="zh-CN" altLang="en-US" sz="1100"/>
              <a:t>电路（</a:t>
            </a:r>
            <a:r>
              <a:rPr lang="en-US" altLang="zh-CN" sz="1100"/>
              <a:t>Electrical Circuit</a:t>
            </a:r>
            <a:r>
              <a:rPr lang="zh-CN" altLang="en-US" sz="1100"/>
              <a:t>）或称电子回路，是由电气设备和元器件，按一定方式连接起来，为电荷流通提供了路径的总体，也叫电子线路或称电气回路，简称网络或回路。如电源、电阻、电容、电感、二极管、晶体管、集成电路和电键等，构成的网络、硬件。负电荷可以在其中运动。</a:t>
            </a:r>
            <a:endParaRPr lang="en-US" altLang="zh-CN" sz="1100"/>
          </a:p>
          <a:p>
            <a:r>
              <a:rPr lang="zh-CN" altLang="en-US" sz="1100"/>
              <a:t>半导体器件（</a:t>
            </a:r>
            <a:r>
              <a:rPr lang="en-US" altLang="zh-CN" sz="1100"/>
              <a:t>Semiconductor Device</a:t>
            </a:r>
            <a:r>
              <a:rPr lang="zh-CN" altLang="en-US" sz="1100"/>
              <a:t>）是利用半导体材料的特殊电特性来完成特定功能的电子器件。半导体的导电性介于良导电体与绝缘体之间，这些半导体材料通常是硅、锗或砷化镓，并经过各式特定的渗杂，产生</a:t>
            </a:r>
            <a:r>
              <a:rPr lang="en-US" altLang="zh-CN" sz="1100"/>
              <a:t>P</a:t>
            </a:r>
            <a:r>
              <a:rPr lang="zh-CN" altLang="en-US" sz="1100"/>
              <a:t>型或</a:t>
            </a:r>
            <a:r>
              <a:rPr lang="en-US" altLang="zh-CN" sz="1100"/>
              <a:t>N</a:t>
            </a:r>
            <a:r>
              <a:rPr lang="zh-CN" altLang="en-US" sz="1100"/>
              <a:t>型半导体，作成整流器、振荡器、发光器、放大器、测光器等元件或设备。</a:t>
            </a:r>
            <a:endParaRPr lang="en-US" altLang="zh-CN" sz="1100"/>
          </a:p>
          <a:p>
            <a:r>
              <a:rPr lang="zh-CN" altLang="en-US" sz="1100"/>
              <a:t>被动元件（</a:t>
            </a:r>
            <a:r>
              <a:rPr lang="en-US" altLang="zh-CN" sz="1100"/>
              <a:t>Passive Components</a:t>
            </a:r>
            <a:r>
              <a:rPr lang="zh-CN" altLang="en-US" sz="1100"/>
              <a:t>）或称无源器件，在不同领域有不同定义，可以指消耗但不产生能量的电子元件，或者指无法产生增益的电子元件。与被动元件或无源器件相对的另一类元器件是主动元件或有源器件。</a:t>
            </a:r>
          </a:p>
        </p:txBody>
      </p:sp>
      <p:sp>
        <p:nvSpPr>
          <p:cNvPr id="37890" name="幻灯片图像占位符 2">
            <a:extLst>
              <a:ext uri="{FF2B5EF4-FFF2-40B4-BE49-F238E27FC236}">
                <a16:creationId xmlns:a16="http://schemas.microsoft.com/office/drawing/2014/main" id="{F63FB8D7-6F37-642A-6F48-E844E99B9EB8}"/>
              </a:ext>
            </a:extLst>
          </p:cNvPr>
          <p:cNvSpPr>
            <a:spLocks noGrp="1" noRot="1" noChangeAspect="1" noChangeArrowheads="1" noTextEdit="1"/>
          </p:cNvSpPr>
          <p:nvPr>
            <p:ph type="sldImg"/>
          </p:nvPr>
        </p:nvSpPr>
        <p:spPr>
          <a:xfrm>
            <a:off x="1438275" y="717550"/>
            <a:ext cx="4167188" cy="3125788"/>
          </a:xfr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3">
            <a:extLst>
              <a:ext uri="{FF2B5EF4-FFF2-40B4-BE49-F238E27FC236}">
                <a16:creationId xmlns:a16="http://schemas.microsoft.com/office/drawing/2014/main" id="{C188256C-5DDD-2268-2280-4AEE9E23ED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100"/>
              <a:t>ENIAC</a:t>
            </a:r>
            <a:r>
              <a:rPr lang="zh-CN" altLang="en-US" sz="1100"/>
              <a:t>，全称为</a:t>
            </a:r>
            <a:r>
              <a:rPr lang="en-US" altLang="zh-CN" sz="1100"/>
              <a:t>Electronic Numerical Integrator And Computer</a:t>
            </a:r>
            <a:r>
              <a:rPr lang="zh-CN" altLang="en-US" sz="1100"/>
              <a:t>，即电子数字积分计算机。</a:t>
            </a:r>
            <a:r>
              <a:rPr lang="en-US" altLang="zh-CN" sz="1100"/>
              <a:t>ENIAC</a:t>
            </a:r>
            <a:r>
              <a:rPr lang="zh-CN" altLang="en-US" sz="1100"/>
              <a:t>为美国陆军的弹道研究实验室（</a:t>
            </a:r>
            <a:r>
              <a:rPr lang="en-US" altLang="zh-CN" sz="1100"/>
              <a:t>BRL</a:t>
            </a:r>
            <a:r>
              <a:rPr lang="zh-CN" altLang="en-US" sz="1100"/>
              <a:t>）所使用，用于计算火炮的火力表。</a:t>
            </a:r>
            <a:r>
              <a:rPr lang="en-US" altLang="zh-CN" sz="1100"/>
              <a:t>ENIAC</a:t>
            </a:r>
            <a:r>
              <a:rPr lang="zh-CN" altLang="en-US" sz="1100"/>
              <a:t>在</a:t>
            </a:r>
            <a:r>
              <a:rPr lang="en-US" altLang="zh-CN" sz="1100"/>
              <a:t>1946</a:t>
            </a:r>
            <a:r>
              <a:rPr lang="zh-CN" altLang="en-US" sz="1100"/>
              <a:t>年公布的时候，就被当时的新闻赞誉为“巨脑”。它的计算速度比机电机器提高了一千倍。这是一个飞跃，之前没有任何一台单独的机器达到过这个速度。</a:t>
            </a:r>
          </a:p>
          <a:p>
            <a:endParaRPr lang="zh-CN" altLang="en-US"/>
          </a:p>
        </p:txBody>
      </p:sp>
      <p:sp>
        <p:nvSpPr>
          <p:cNvPr id="39938" name="幻灯片图像占位符 3">
            <a:extLst>
              <a:ext uri="{FF2B5EF4-FFF2-40B4-BE49-F238E27FC236}">
                <a16:creationId xmlns:a16="http://schemas.microsoft.com/office/drawing/2014/main" id="{6D61FA8F-5DA5-2A18-13FC-6FC83EBB29FE}"/>
              </a:ext>
            </a:extLst>
          </p:cNvPr>
          <p:cNvSpPr>
            <a:spLocks noGrp="1" noRot="1" noChangeAspect="1" noChangeArrowheads="1" noTextEdit="1"/>
          </p:cNvSpPr>
          <p:nvPr>
            <p:ph type="sldImg"/>
          </p:nvPr>
        </p:nvSpPr>
        <p:spPr>
          <a:xfrm>
            <a:off x="1438275" y="717550"/>
            <a:ext cx="4167188" cy="3125788"/>
          </a:xfr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3">
            <a:extLst>
              <a:ext uri="{FF2B5EF4-FFF2-40B4-BE49-F238E27FC236}">
                <a16:creationId xmlns:a16="http://schemas.microsoft.com/office/drawing/2014/main" id="{851ED63B-F4A9-0D6D-D84B-D76A489A51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100"/>
              <a:t>整合元件制造商（</a:t>
            </a:r>
            <a:r>
              <a:rPr lang="en-US" altLang="zh-CN" sz="1100"/>
              <a:t>IDM</a:t>
            </a:r>
            <a:r>
              <a:rPr lang="zh-CN" altLang="en-US" sz="1100"/>
              <a:t>，</a:t>
            </a:r>
            <a:r>
              <a:rPr lang="en-US" altLang="zh-CN" sz="1100"/>
              <a:t>Integrated Device Manufacturer</a:t>
            </a:r>
            <a:r>
              <a:rPr lang="zh-CN" altLang="en-US" sz="1100"/>
              <a:t>）：从</a:t>
            </a:r>
            <a:r>
              <a:rPr lang="en-US" altLang="zh-CN" sz="1100"/>
              <a:t>IC</a:t>
            </a:r>
            <a:r>
              <a:rPr lang="zh-CN" altLang="en-US" sz="1100"/>
              <a:t>设计、制造、封装、测试到销售都涉及。全球主要</a:t>
            </a:r>
            <a:r>
              <a:rPr lang="en-US" altLang="zh-CN" sz="1100"/>
              <a:t>IDM</a:t>
            </a:r>
            <a:r>
              <a:rPr lang="zh-CN" altLang="en-US" sz="1100"/>
              <a:t>企业有英特尔 </a:t>
            </a:r>
            <a:r>
              <a:rPr lang="en-US" altLang="zh-CN" sz="1100"/>
              <a:t>(Intel)</a:t>
            </a:r>
            <a:r>
              <a:rPr lang="zh-CN" altLang="en-US" sz="1100"/>
              <a:t>、三星 </a:t>
            </a:r>
            <a:r>
              <a:rPr lang="en-US" altLang="zh-CN" sz="1100"/>
              <a:t>(Samsung)</a:t>
            </a:r>
            <a:r>
              <a:rPr lang="zh-CN" altLang="en-US" sz="1100"/>
              <a:t>、</a:t>
            </a:r>
            <a:r>
              <a:rPr lang="en-US" altLang="zh-CN" sz="1100"/>
              <a:t>SK</a:t>
            </a:r>
            <a:r>
              <a:rPr lang="zh-CN" altLang="en-US" sz="1100"/>
              <a:t>海力士（</a:t>
            </a:r>
            <a:r>
              <a:rPr lang="en-US" altLang="zh-CN" sz="1100"/>
              <a:t>SK Hynix</a:t>
            </a:r>
            <a:r>
              <a:rPr lang="zh-CN" altLang="en-US" sz="1100"/>
              <a:t>）。</a:t>
            </a:r>
            <a:endParaRPr lang="en-US" altLang="zh-CN" sz="1100"/>
          </a:p>
          <a:p>
            <a:r>
              <a:rPr lang="en-US" altLang="zh-CN" sz="1100"/>
              <a:t>IC</a:t>
            </a:r>
            <a:r>
              <a:rPr lang="zh-CN" altLang="en-US" sz="1100"/>
              <a:t>设计商（</a:t>
            </a:r>
            <a:r>
              <a:rPr lang="en-US" altLang="zh-CN" sz="1100"/>
              <a:t>Fabless</a:t>
            </a:r>
            <a:r>
              <a:rPr lang="zh-CN" altLang="en-US" sz="1100"/>
              <a:t>）： </a:t>
            </a:r>
            <a:r>
              <a:rPr lang="en-US" altLang="zh-CN" sz="1100"/>
              <a:t>IC</a:t>
            </a:r>
            <a:r>
              <a:rPr lang="zh-CN" altLang="en-US" sz="1100"/>
              <a:t>设计商只设计和销售晶片，但将制造、封装、测试外包给第三方。他们又称为</a:t>
            </a:r>
            <a:r>
              <a:rPr lang="en-US" altLang="zh-CN" sz="1100"/>
              <a:t>Fabless Semiconductor Company</a:t>
            </a:r>
            <a:r>
              <a:rPr lang="zh-CN" altLang="en-US" sz="1100"/>
              <a:t>。全球主要</a:t>
            </a:r>
            <a:r>
              <a:rPr lang="en-US" altLang="zh-CN" sz="1100"/>
              <a:t>IC</a:t>
            </a:r>
            <a:r>
              <a:rPr lang="zh-CN" altLang="en-US" sz="1100"/>
              <a:t>设计企业有高通 </a:t>
            </a:r>
            <a:r>
              <a:rPr lang="en-US" altLang="zh-CN" sz="1100"/>
              <a:t>(Qualcomm)</a:t>
            </a:r>
            <a:r>
              <a:rPr lang="zh-CN" altLang="en-US" sz="1100"/>
              <a:t>、博通 </a:t>
            </a:r>
            <a:r>
              <a:rPr lang="en-US" altLang="zh-CN" sz="1100"/>
              <a:t>(Broadcom)</a:t>
            </a:r>
            <a:r>
              <a:rPr lang="zh-CN" altLang="en-US" sz="1100"/>
              <a:t>、联发科 </a:t>
            </a:r>
            <a:r>
              <a:rPr lang="en-US" altLang="zh-CN" sz="1100"/>
              <a:t>(MediaTek)</a:t>
            </a:r>
            <a:r>
              <a:rPr lang="zh-CN" altLang="en-US" sz="1100"/>
              <a:t>、英伟达（</a:t>
            </a:r>
            <a:r>
              <a:rPr lang="en-US" altLang="zh-CN" sz="1100"/>
              <a:t>NVIDIA</a:t>
            </a:r>
            <a:r>
              <a:rPr lang="zh-CN" altLang="en-US" sz="1100"/>
              <a:t>）、</a:t>
            </a:r>
            <a:r>
              <a:rPr lang="en-US" altLang="zh-CN" sz="1100"/>
              <a:t>AMD</a:t>
            </a:r>
            <a:r>
              <a:rPr lang="zh-CN" altLang="en-US" sz="1100"/>
              <a:t>、海思（</a:t>
            </a:r>
            <a:r>
              <a:rPr lang="en-US" altLang="zh-CN" sz="1100"/>
              <a:t>Hisilicon</a:t>
            </a:r>
            <a:r>
              <a:rPr lang="zh-CN" altLang="en-US" sz="1100"/>
              <a:t>）、苹果（</a:t>
            </a:r>
            <a:r>
              <a:rPr lang="en-US" altLang="zh-CN" sz="1100"/>
              <a:t>Apple</a:t>
            </a:r>
            <a:r>
              <a:rPr lang="zh-CN" altLang="en-US" sz="1100"/>
              <a:t>）、美满电子</a:t>
            </a:r>
            <a:r>
              <a:rPr lang="en-US" altLang="zh-CN" sz="1100"/>
              <a:t>(Marvell)</a:t>
            </a:r>
            <a:r>
              <a:rPr lang="zh-CN" altLang="en-US" sz="1100"/>
              <a:t>、赛灵思（</a:t>
            </a:r>
            <a:r>
              <a:rPr lang="en-US" altLang="zh-CN" sz="1100"/>
              <a:t>Xilinx</a:t>
            </a:r>
            <a:r>
              <a:rPr lang="zh-CN" altLang="en-US" sz="1100"/>
              <a:t>）等。</a:t>
            </a:r>
            <a:endParaRPr lang="en-US" altLang="zh-CN" sz="1100"/>
          </a:p>
          <a:p>
            <a:r>
              <a:rPr lang="zh-CN" altLang="en-US" sz="1100"/>
              <a:t>晶圆制造商（</a:t>
            </a:r>
            <a:r>
              <a:rPr lang="en-US" altLang="zh-CN" sz="1100"/>
              <a:t>Foundry</a:t>
            </a:r>
            <a:r>
              <a:rPr lang="zh-CN" altLang="en-US" sz="1100"/>
              <a:t>）：指晶圆制造代工厂，全球主要晶圆代工企业有台积电（</a:t>
            </a:r>
            <a:r>
              <a:rPr lang="en-US" altLang="zh-CN" sz="1100"/>
              <a:t>TSMC</a:t>
            </a:r>
            <a:r>
              <a:rPr lang="zh-CN" altLang="en-US" sz="1100"/>
              <a:t>）、格罗方德（</a:t>
            </a:r>
            <a:r>
              <a:rPr lang="en-US" altLang="zh-CN" sz="1100"/>
              <a:t>Global Foundries</a:t>
            </a:r>
            <a:r>
              <a:rPr lang="zh-CN" altLang="en-US" sz="1100"/>
              <a:t>）、联电（</a:t>
            </a:r>
            <a:r>
              <a:rPr lang="en-US" altLang="zh-CN" sz="1100"/>
              <a:t>UMC</a:t>
            </a:r>
            <a:r>
              <a:rPr lang="zh-CN" altLang="en-US" sz="1100"/>
              <a:t>）、中芯国际（</a:t>
            </a:r>
            <a:r>
              <a:rPr lang="en-US" altLang="zh-CN" sz="1100"/>
              <a:t>SMIC</a:t>
            </a:r>
            <a:r>
              <a:rPr lang="zh-CN" altLang="en-US" sz="1100"/>
              <a:t>）。</a:t>
            </a:r>
            <a:endParaRPr lang="en-US" altLang="zh-CN" sz="1100"/>
          </a:p>
          <a:p>
            <a:r>
              <a:rPr lang="zh-CN" altLang="en-US" sz="1100"/>
              <a:t>封测厂商（</a:t>
            </a:r>
            <a:r>
              <a:rPr lang="en-US" altLang="zh-CN" sz="1100"/>
              <a:t>OSAT</a:t>
            </a:r>
            <a:r>
              <a:rPr lang="zh-CN" altLang="en-US" sz="1100"/>
              <a:t>）：主要是封装测试代工厂。全球主要封测代工企业有日月光（</a:t>
            </a:r>
            <a:r>
              <a:rPr lang="en-US" altLang="zh-CN" sz="1100"/>
              <a:t>ASE</a:t>
            </a:r>
            <a:r>
              <a:rPr lang="zh-CN" altLang="en-US" sz="1100"/>
              <a:t>）、安靠（</a:t>
            </a:r>
            <a:r>
              <a:rPr lang="en-US" altLang="zh-CN" sz="1100"/>
              <a:t>Amkor</a:t>
            </a:r>
            <a:r>
              <a:rPr lang="zh-CN" altLang="en-US" sz="1100"/>
              <a:t>）、长电科技、矽品（</a:t>
            </a:r>
            <a:r>
              <a:rPr lang="en-US" altLang="zh-CN" sz="1100"/>
              <a:t>SPIL</a:t>
            </a:r>
            <a:r>
              <a:rPr lang="zh-CN" altLang="en-US" sz="1100"/>
              <a:t>）、力成科技、华天科技、通富微电、京元电子、南茂科技、联合科技。</a:t>
            </a:r>
            <a:endParaRPr lang="zh-CN" altLang="en-US"/>
          </a:p>
        </p:txBody>
      </p:sp>
      <p:sp>
        <p:nvSpPr>
          <p:cNvPr id="41986" name="幻灯片图像占位符 2">
            <a:extLst>
              <a:ext uri="{FF2B5EF4-FFF2-40B4-BE49-F238E27FC236}">
                <a16:creationId xmlns:a16="http://schemas.microsoft.com/office/drawing/2014/main" id="{25D416AF-E96E-EE53-58B4-671F76208C04}"/>
              </a:ext>
            </a:extLst>
          </p:cNvPr>
          <p:cNvSpPr>
            <a:spLocks noGrp="1" noRot="1" noChangeAspect="1" noChangeArrowheads="1" noTextEdit="1"/>
          </p:cNvSpPr>
          <p:nvPr>
            <p:ph type="sldImg"/>
          </p:nvPr>
        </p:nvSpPr>
        <p:spPr>
          <a:xfrm>
            <a:off x="1438275" y="717550"/>
            <a:ext cx="4167188" cy="3125788"/>
          </a:xfr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9404353F-BB54-570A-D9A9-C331811C4B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902030302020204" pitchFamily="66" charset="0"/>
                <a:ea typeface="宋体" panose="02010600030101010101" pitchFamily="2" charset="-122"/>
              </a:defRPr>
            </a:lvl1pPr>
            <a:lvl2pPr marL="742950" indent="-285750">
              <a:defRPr sz="2000" b="1">
                <a:solidFill>
                  <a:schemeClr val="tx1"/>
                </a:solidFill>
                <a:latin typeface="Comic Sans MS" panose="030F0902030302020204" pitchFamily="66" charset="0"/>
                <a:ea typeface="宋体" panose="02010600030101010101" pitchFamily="2" charset="-122"/>
              </a:defRPr>
            </a:lvl2pPr>
            <a:lvl3pPr marL="1143000" indent="-228600">
              <a:defRPr sz="2000" b="1">
                <a:solidFill>
                  <a:schemeClr val="tx1"/>
                </a:solidFill>
                <a:latin typeface="Comic Sans MS" panose="030F0902030302020204" pitchFamily="66" charset="0"/>
                <a:ea typeface="宋体" panose="02010600030101010101" pitchFamily="2" charset="-122"/>
              </a:defRPr>
            </a:lvl3pPr>
            <a:lvl4pPr marL="1600200" indent="-228600">
              <a:defRPr sz="2000" b="1">
                <a:solidFill>
                  <a:schemeClr val="tx1"/>
                </a:solidFill>
                <a:latin typeface="Comic Sans MS" panose="030F0902030302020204" pitchFamily="66" charset="0"/>
                <a:ea typeface="宋体" panose="02010600030101010101" pitchFamily="2" charset="-122"/>
              </a:defRPr>
            </a:lvl4pPr>
            <a:lvl5pPr marL="2057400" indent="-228600">
              <a:defRPr sz="2000" b="1">
                <a:solidFill>
                  <a:schemeClr val="tx1"/>
                </a:solidFill>
                <a:latin typeface="Comic Sans MS" panose="030F09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9pPr>
          </a:lstStyle>
          <a:p>
            <a:fld id="{0DF46699-B424-0B4E-874A-1FE5110C0D48}" type="slidenum">
              <a:rPr lang="zh-CN" altLang="en-US" sz="1200" b="0" smtClean="0">
                <a:latin typeface="Times New Roman" panose="02020603050405020304" pitchFamily="18" charset="0"/>
              </a:rPr>
              <a:pPr/>
              <a:t>20</a:t>
            </a:fld>
            <a:endParaRPr lang="en-US" altLang="zh-CN" sz="1200" b="0">
              <a:latin typeface="Times New Roman" panose="02020603050405020304" pitchFamily="18" charset="0"/>
            </a:endParaRPr>
          </a:p>
        </p:txBody>
      </p:sp>
      <p:sp>
        <p:nvSpPr>
          <p:cNvPr id="44034" name="Rectangle 2">
            <a:extLst>
              <a:ext uri="{FF2B5EF4-FFF2-40B4-BE49-F238E27FC236}">
                <a16:creationId xmlns:a16="http://schemas.microsoft.com/office/drawing/2014/main" id="{D4A1B8AC-E12D-1A6C-A8BF-7681F377C81B}"/>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4335A4E6-7BAE-D7A9-FDEF-DE3F1EE42C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BD90E9C3-8A7F-C4EE-4B2F-3304DD8FB5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902030302020204" pitchFamily="66" charset="0"/>
                <a:ea typeface="宋体" panose="02010600030101010101" pitchFamily="2" charset="-122"/>
              </a:defRPr>
            </a:lvl1pPr>
            <a:lvl2pPr marL="742950" indent="-285750">
              <a:defRPr sz="2000" b="1">
                <a:solidFill>
                  <a:schemeClr val="tx1"/>
                </a:solidFill>
                <a:latin typeface="Comic Sans MS" panose="030F0902030302020204" pitchFamily="66" charset="0"/>
                <a:ea typeface="宋体" panose="02010600030101010101" pitchFamily="2" charset="-122"/>
              </a:defRPr>
            </a:lvl2pPr>
            <a:lvl3pPr marL="1143000" indent="-228600">
              <a:defRPr sz="2000" b="1">
                <a:solidFill>
                  <a:schemeClr val="tx1"/>
                </a:solidFill>
                <a:latin typeface="Comic Sans MS" panose="030F0902030302020204" pitchFamily="66" charset="0"/>
                <a:ea typeface="宋体" panose="02010600030101010101" pitchFamily="2" charset="-122"/>
              </a:defRPr>
            </a:lvl3pPr>
            <a:lvl4pPr marL="1600200" indent="-228600">
              <a:defRPr sz="2000" b="1">
                <a:solidFill>
                  <a:schemeClr val="tx1"/>
                </a:solidFill>
                <a:latin typeface="Comic Sans MS" panose="030F0902030302020204" pitchFamily="66" charset="0"/>
                <a:ea typeface="宋体" panose="02010600030101010101" pitchFamily="2" charset="-122"/>
              </a:defRPr>
            </a:lvl4pPr>
            <a:lvl5pPr marL="2057400" indent="-228600">
              <a:defRPr sz="2000" b="1">
                <a:solidFill>
                  <a:schemeClr val="tx1"/>
                </a:solidFill>
                <a:latin typeface="Comic Sans MS" panose="030F09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9pPr>
          </a:lstStyle>
          <a:p>
            <a:fld id="{7E2E5708-0043-E74C-B0A2-83C246E7C003}" type="slidenum">
              <a:rPr lang="zh-CN" altLang="en-US" sz="1200" b="0" smtClean="0">
                <a:latin typeface="Times New Roman" panose="02020603050405020304" pitchFamily="18" charset="0"/>
              </a:rPr>
              <a:pPr/>
              <a:t>42</a:t>
            </a:fld>
            <a:endParaRPr lang="en-US" altLang="zh-CN" sz="1200" b="0">
              <a:latin typeface="Times New Roman" panose="02020603050405020304" pitchFamily="18" charset="0"/>
            </a:endParaRPr>
          </a:p>
        </p:txBody>
      </p:sp>
      <p:sp>
        <p:nvSpPr>
          <p:cNvPr id="67586" name="Rectangle 2">
            <a:extLst>
              <a:ext uri="{FF2B5EF4-FFF2-40B4-BE49-F238E27FC236}">
                <a16:creationId xmlns:a16="http://schemas.microsoft.com/office/drawing/2014/main" id="{108C0958-66B3-87AF-4EF4-88F13E24FD6C}"/>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B7384B83-2ECF-1CFC-265A-F636EA3728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幻灯片图像占位符 1">
            <a:extLst>
              <a:ext uri="{FF2B5EF4-FFF2-40B4-BE49-F238E27FC236}">
                <a16:creationId xmlns:a16="http://schemas.microsoft.com/office/drawing/2014/main" id="{3ECC0BDD-4383-990D-8422-3D6AD78E390D}"/>
              </a:ext>
            </a:extLst>
          </p:cNvPr>
          <p:cNvSpPr>
            <a:spLocks noGrp="1" noRot="1" noChangeAspect="1" noChangeArrowheads="1" noTextEdit="1"/>
          </p:cNvSpPr>
          <p:nvPr>
            <p:ph type="sldImg"/>
          </p:nvPr>
        </p:nvSpPr>
        <p:spPr>
          <a:xfrm>
            <a:off x="1438275" y="717550"/>
            <a:ext cx="4167188" cy="3125788"/>
          </a:xfrm>
          <a:ln/>
        </p:spPr>
      </p:sp>
      <p:sp>
        <p:nvSpPr>
          <p:cNvPr id="69634" name="备注占位符 2">
            <a:extLst>
              <a:ext uri="{FF2B5EF4-FFF2-40B4-BE49-F238E27FC236}">
                <a16:creationId xmlns:a16="http://schemas.microsoft.com/office/drawing/2014/main" id="{C7E9175F-6B23-3617-9A13-A9F5F02019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幻灯片图像占位符 1">
            <a:extLst>
              <a:ext uri="{FF2B5EF4-FFF2-40B4-BE49-F238E27FC236}">
                <a16:creationId xmlns:a16="http://schemas.microsoft.com/office/drawing/2014/main" id="{CF09A772-826F-16F1-B175-A55821A163A4}"/>
              </a:ext>
            </a:extLst>
          </p:cNvPr>
          <p:cNvSpPr>
            <a:spLocks noGrp="1" noRot="1" noChangeAspect="1" noChangeArrowheads="1" noTextEdit="1"/>
          </p:cNvSpPr>
          <p:nvPr>
            <p:ph type="sldImg"/>
          </p:nvPr>
        </p:nvSpPr>
        <p:spPr>
          <a:xfrm>
            <a:off x="1438275" y="717550"/>
            <a:ext cx="4167188" cy="3125788"/>
          </a:xfrm>
          <a:ln/>
        </p:spPr>
      </p:sp>
      <p:sp>
        <p:nvSpPr>
          <p:cNvPr id="71682" name="备注占位符 2">
            <a:extLst>
              <a:ext uri="{FF2B5EF4-FFF2-40B4-BE49-F238E27FC236}">
                <a16:creationId xmlns:a16="http://schemas.microsoft.com/office/drawing/2014/main" id="{526D8A95-E168-53C8-EC13-81297FE3FC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备注占位符 4">
            <a:extLst>
              <a:ext uri="{FF2B5EF4-FFF2-40B4-BE49-F238E27FC236}">
                <a16:creationId xmlns:a16="http://schemas.microsoft.com/office/drawing/2014/main" id="{718F751B-66D4-F483-D8F0-2C82958BD3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100"/>
              <a:t>IA</a:t>
            </a:r>
            <a:r>
              <a:rPr lang="zh-CN" altLang="en-US" sz="1100"/>
              <a:t>：</a:t>
            </a:r>
            <a:r>
              <a:rPr lang="en-US" altLang="zh-CN" sz="1100"/>
              <a:t>Intel Architecture </a:t>
            </a:r>
            <a:r>
              <a:rPr lang="zh-CN" altLang="en-US" sz="1100"/>
              <a:t>。</a:t>
            </a:r>
            <a:endParaRPr lang="en-US" altLang="zh-CN" sz="1100"/>
          </a:p>
          <a:p>
            <a:r>
              <a:rPr lang="en-US" altLang="zh-CN" sz="1100"/>
              <a:t>PPC</a:t>
            </a:r>
            <a:r>
              <a:rPr lang="zh-CN" altLang="en-US" sz="1100"/>
              <a:t>：</a:t>
            </a:r>
            <a:r>
              <a:rPr lang="en-US" altLang="zh-CN" sz="1100"/>
              <a:t>PowerPC </a:t>
            </a:r>
            <a:r>
              <a:rPr lang="zh-CN" altLang="en-US" sz="1100"/>
              <a:t>。</a:t>
            </a:r>
          </a:p>
        </p:txBody>
      </p:sp>
      <p:sp>
        <p:nvSpPr>
          <p:cNvPr id="73730" name="幻灯片图像占位符 2">
            <a:extLst>
              <a:ext uri="{FF2B5EF4-FFF2-40B4-BE49-F238E27FC236}">
                <a16:creationId xmlns:a16="http://schemas.microsoft.com/office/drawing/2014/main" id="{C0495404-6893-A3B5-9139-5308794E5085}"/>
              </a:ext>
            </a:extLst>
          </p:cNvPr>
          <p:cNvSpPr>
            <a:spLocks noGrp="1" noRot="1" noChangeAspect="1" noChangeArrowheads="1" noTextEdit="1"/>
          </p:cNvSpPr>
          <p:nvPr>
            <p:ph type="sldImg"/>
          </p:nvPr>
        </p:nvSpPr>
        <p:spPr>
          <a:xfrm>
            <a:off x="1438275" y="717550"/>
            <a:ext cx="4167188" cy="3125788"/>
          </a:xfr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幻灯片图像占位符 3">
            <a:extLst>
              <a:ext uri="{FF2B5EF4-FFF2-40B4-BE49-F238E27FC236}">
                <a16:creationId xmlns:a16="http://schemas.microsoft.com/office/drawing/2014/main" id="{291BBA79-3C55-2C08-8579-0CE8F2138902}"/>
              </a:ext>
            </a:extLst>
          </p:cNvPr>
          <p:cNvSpPr>
            <a:spLocks noGrp="1" noRot="1" noChangeAspect="1" noChangeArrowheads="1" noTextEdit="1"/>
          </p:cNvSpPr>
          <p:nvPr>
            <p:ph type="sldImg"/>
          </p:nvPr>
        </p:nvSpPr>
        <p:spPr>
          <a:xfrm>
            <a:off x="1438275" y="717550"/>
            <a:ext cx="4167188" cy="3125788"/>
          </a:xfrm>
          <a:ln/>
        </p:spPr>
      </p:sp>
      <p:sp>
        <p:nvSpPr>
          <p:cNvPr id="75778" name="备注占位符 4">
            <a:extLst>
              <a:ext uri="{FF2B5EF4-FFF2-40B4-BE49-F238E27FC236}">
                <a16:creationId xmlns:a16="http://schemas.microsoft.com/office/drawing/2014/main" id="{C8D41E35-70D5-C4ED-338B-B915D2D185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Logo</a:t>
            </a:r>
            <a:r>
              <a:rPr lang="zh-CN" altLang="en-US"/>
              <a:t>引用链接：</a:t>
            </a:r>
            <a:endParaRPr lang="en-US" altLang="zh-CN"/>
          </a:p>
          <a:p>
            <a:pPr lvl="1"/>
            <a:r>
              <a:rPr lang="en-US" altLang="zh-CN"/>
              <a:t>Intel</a:t>
            </a:r>
            <a:r>
              <a:rPr lang="zh-CN" altLang="en-US"/>
              <a:t>：</a:t>
            </a:r>
            <a:r>
              <a:rPr lang="en-US" altLang="zh-CN"/>
              <a:t>https://peixotocoffee.com/wp-content/uploads/2018/05/intellogo.png</a:t>
            </a:r>
          </a:p>
          <a:p>
            <a:pPr lvl="1"/>
            <a:r>
              <a:rPr lang="en-US" altLang="zh-CN"/>
              <a:t>AMD</a:t>
            </a:r>
            <a:r>
              <a:rPr lang="zh-CN" altLang="en-US"/>
              <a:t>：</a:t>
            </a:r>
            <a:r>
              <a:rPr lang="en-US" altLang="zh-CN"/>
              <a:t>https://i0.wp.com/play3r.net/wp-content/uploads/2016/08/amd-logo.png?fit=2000%2C770&amp;ssl=1</a:t>
            </a:r>
          </a:p>
          <a:p>
            <a:pPr lvl="1"/>
            <a:r>
              <a:rPr lang="en-US" altLang="zh-CN"/>
              <a:t>IBM</a:t>
            </a:r>
            <a:r>
              <a:rPr lang="zh-CN" altLang="en-US"/>
              <a:t>：</a:t>
            </a:r>
            <a:r>
              <a:rPr lang="en-US" altLang="zh-CN"/>
              <a:t>https://encrypted-tbn0.gstatic.com/images?q=tbn:ANd9GcRfvzamX_Mku7_SYdsgmIk_2byhhbzkRm93HA&amp;usqp=CAU</a:t>
            </a:r>
          </a:p>
          <a:p>
            <a:pPr lvl="1"/>
            <a:r>
              <a:rPr lang="en-US" altLang="zh-CN"/>
              <a:t>freescale</a:t>
            </a:r>
            <a:r>
              <a:rPr lang="zh-CN" altLang="en-US"/>
              <a:t>：</a:t>
            </a:r>
            <a:r>
              <a:rPr lang="en-US" altLang="zh-CN"/>
              <a:t>https://allvectorlogo.com/img/2016/04/freescale-logo.png</a:t>
            </a:r>
          </a:p>
          <a:p>
            <a:pPr lvl="1"/>
            <a:r>
              <a:rPr lang="en-US" altLang="zh-CN"/>
              <a:t>MIPS</a:t>
            </a:r>
            <a:r>
              <a:rPr lang="zh-CN" altLang="en-US"/>
              <a:t>：</a:t>
            </a:r>
            <a:r>
              <a:rPr lang="en-US" altLang="zh-CN"/>
              <a:t>https://encrypted-tbn0.gstatic.com/images?q=tbn:ANd9GcR7WrXSVFofQ8Vj5KRVwg_JHfUpD6mcisRS8w&amp;usqp=CAU</a:t>
            </a:r>
          </a:p>
          <a:p>
            <a:pPr lvl="1"/>
            <a:r>
              <a:rPr lang="en-US" altLang="zh-CN"/>
              <a:t>ARM</a:t>
            </a:r>
            <a:r>
              <a:rPr lang="zh-CN" altLang="en-US"/>
              <a:t>：</a:t>
            </a:r>
            <a:r>
              <a:rPr lang="en-US" altLang="zh-CN"/>
              <a:t>https://encrypted-tbn0.gstatic.com/images?q=tbn:ANd9GcRhRRhQePDpvCcQP8TwUAYacLABdiDRfx3pgw&amp;usqp=CAU</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备注占位符 2">
            <a:extLst>
              <a:ext uri="{FF2B5EF4-FFF2-40B4-BE49-F238E27FC236}">
                <a16:creationId xmlns:a16="http://schemas.microsoft.com/office/drawing/2014/main" id="{7BA62695-0C85-EA46-691A-05AD8F56D8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100"/>
              <a:t>一个</a:t>
            </a:r>
            <a:r>
              <a:rPr lang="en-US" altLang="zh-CN" sz="1100"/>
              <a:t>ARM</a:t>
            </a:r>
            <a:r>
              <a:rPr lang="zh-CN" altLang="en-US" sz="1100"/>
              <a:t>核的面积仅为</a:t>
            </a:r>
            <a:r>
              <a:rPr lang="en-US" altLang="zh-CN" sz="1100"/>
              <a:t>X86</a:t>
            </a:r>
            <a:r>
              <a:rPr lang="zh-CN" altLang="en-US" sz="1100"/>
              <a:t>核的</a:t>
            </a:r>
            <a:r>
              <a:rPr lang="en-US" altLang="zh-CN" sz="1100"/>
              <a:t>1/7</a:t>
            </a:r>
            <a:r>
              <a:rPr lang="zh-CN" altLang="en-US" sz="1100"/>
              <a:t>。</a:t>
            </a:r>
            <a:endParaRPr lang="en-US" altLang="zh-CN" sz="1100"/>
          </a:p>
          <a:p>
            <a:r>
              <a:rPr lang="zh-CN" altLang="en-US" sz="1100"/>
              <a:t>同样的芯片尺寸下，</a:t>
            </a:r>
            <a:r>
              <a:rPr lang="en-US" altLang="zh-CN" sz="1100"/>
              <a:t>ARM</a:t>
            </a:r>
            <a:r>
              <a:rPr lang="zh-CN" altLang="en-US" sz="1100"/>
              <a:t>的核数是</a:t>
            </a:r>
            <a:r>
              <a:rPr lang="en-US" altLang="zh-CN" sz="1100"/>
              <a:t>X86</a:t>
            </a:r>
            <a:r>
              <a:rPr lang="zh-CN" altLang="en-US" sz="1100"/>
              <a:t>的</a:t>
            </a:r>
            <a:r>
              <a:rPr lang="en-US" altLang="zh-CN" sz="1100"/>
              <a:t>4</a:t>
            </a:r>
            <a:r>
              <a:rPr lang="zh-CN" altLang="en-US" sz="1100"/>
              <a:t>倍以上。</a:t>
            </a:r>
          </a:p>
        </p:txBody>
      </p:sp>
      <p:sp>
        <p:nvSpPr>
          <p:cNvPr id="77826" name="幻灯片图像占位符 4">
            <a:extLst>
              <a:ext uri="{FF2B5EF4-FFF2-40B4-BE49-F238E27FC236}">
                <a16:creationId xmlns:a16="http://schemas.microsoft.com/office/drawing/2014/main" id="{A7FEDDCF-10C6-D2D0-D698-2F1E51DEFA50}"/>
              </a:ext>
            </a:extLst>
          </p:cNvPr>
          <p:cNvSpPr>
            <a:spLocks noGrp="1" noRot="1" noChangeAspect="1" noChangeArrowheads="1" noTextEdit="1"/>
          </p:cNvSpPr>
          <p:nvPr>
            <p:ph type="sldImg"/>
          </p:nvPr>
        </p:nvSpPr>
        <p:spPr>
          <a:xfrm>
            <a:off x="1438275" y="717550"/>
            <a:ext cx="4167188" cy="3125788"/>
          </a:xfr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幻灯片图像占位符 3">
            <a:extLst>
              <a:ext uri="{FF2B5EF4-FFF2-40B4-BE49-F238E27FC236}">
                <a16:creationId xmlns:a16="http://schemas.microsoft.com/office/drawing/2014/main" id="{58654F36-340E-E024-DB32-B04700F5301B}"/>
              </a:ext>
            </a:extLst>
          </p:cNvPr>
          <p:cNvSpPr>
            <a:spLocks noGrp="1" noRot="1" noChangeAspect="1" noChangeArrowheads="1" noTextEdit="1"/>
          </p:cNvSpPr>
          <p:nvPr>
            <p:ph type="sldImg"/>
          </p:nvPr>
        </p:nvSpPr>
        <p:spPr>
          <a:xfrm>
            <a:off x="1438275" y="717550"/>
            <a:ext cx="4167188" cy="3125788"/>
          </a:xfrm>
          <a:ln/>
        </p:spPr>
      </p:sp>
      <p:sp>
        <p:nvSpPr>
          <p:cNvPr id="79874" name="备注占位符 4">
            <a:extLst>
              <a:ext uri="{FF2B5EF4-FFF2-40B4-BE49-F238E27FC236}">
                <a16:creationId xmlns:a16="http://schemas.microsoft.com/office/drawing/2014/main" id="{F6574AA2-4C75-A177-9983-A52E2DF5E6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备注占位符 2">
            <a:extLst>
              <a:ext uri="{FF2B5EF4-FFF2-40B4-BE49-F238E27FC236}">
                <a16:creationId xmlns:a16="http://schemas.microsoft.com/office/drawing/2014/main" id="{CBC5388D-4E29-3BE3-6AD0-8693E3962A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100"/>
              <a:t>CPU</a:t>
            </a:r>
            <a:endParaRPr lang="zh-CN" altLang="zh-CN" sz="1100"/>
          </a:p>
          <a:p>
            <a:pPr lvl="1"/>
            <a:r>
              <a:rPr lang="en-US" altLang="zh-CN"/>
              <a:t>CPU</a:t>
            </a:r>
            <a:r>
              <a:rPr lang="zh-CN" altLang="zh-CN"/>
              <a:t>是</a:t>
            </a:r>
            <a:r>
              <a:rPr lang="en-US" altLang="zh-CN"/>
              <a:t>Central Processing Unit</a:t>
            </a:r>
            <a:r>
              <a:rPr lang="zh-CN" altLang="zh-CN"/>
              <a:t>的缩写，即中央处理器。由控制器</a:t>
            </a:r>
            <a:r>
              <a:rPr lang="zh-CN" altLang="en-US"/>
              <a:t>，</a:t>
            </a:r>
            <a:r>
              <a:rPr lang="zh-CN" altLang="zh-CN"/>
              <a:t>运算器</a:t>
            </a:r>
            <a:r>
              <a:rPr lang="zh-CN" altLang="en-US"/>
              <a:t>，寄存器和内部总线</a:t>
            </a:r>
            <a:r>
              <a:rPr lang="zh-CN" altLang="zh-CN"/>
              <a:t>构成，是整个计算机系统中最重要的部分</a:t>
            </a:r>
            <a:r>
              <a:rPr lang="zh-CN" altLang="en-US"/>
              <a:t>。</a:t>
            </a:r>
            <a:endParaRPr lang="en-US" altLang="zh-CN"/>
          </a:p>
          <a:p>
            <a:r>
              <a:rPr lang="zh-CN" altLang="zh-CN" sz="1100"/>
              <a:t>内存</a:t>
            </a:r>
          </a:p>
          <a:p>
            <a:pPr lvl="1"/>
            <a:r>
              <a:rPr lang="zh-CN" altLang="zh-CN"/>
              <a:t>内存是介于</a:t>
            </a:r>
            <a:r>
              <a:rPr lang="en-US" altLang="zh-CN"/>
              <a:t>CPU </a:t>
            </a:r>
            <a:r>
              <a:rPr lang="zh-CN" altLang="zh-CN"/>
              <a:t>和外部存储之间，是</a:t>
            </a:r>
            <a:r>
              <a:rPr lang="en-US" altLang="zh-CN"/>
              <a:t>CPU </a:t>
            </a:r>
            <a:r>
              <a:rPr lang="zh-CN" altLang="zh-CN"/>
              <a:t>对外部存储中程序与数据进行高速运算时存放程序指令、数据和中间结果的临时场所，它的物理实质就是一组具备数据输入输出和数据存储功能的高速集成电路。</a:t>
            </a:r>
            <a:endParaRPr lang="en-US" altLang="zh-CN"/>
          </a:p>
          <a:p>
            <a:r>
              <a:rPr lang="zh-CN" altLang="zh-CN" sz="1100"/>
              <a:t>硬盘</a:t>
            </a:r>
          </a:p>
          <a:p>
            <a:pPr lvl="1"/>
            <a:r>
              <a:rPr lang="zh-CN" altLang="en-US"/>
              <a:t>服务器上使用的硬盘，有区别于普通硬盘。目前服务器市场上采用的硬盘主要有三种，</a:t>
            </a:r>
            <a:r>
              <a:rPr lang="en-US" altLang="zh-CN"/>
              <a:t>SATA</a:t>
            </a:r>
            <a:r>
              <a:rPr lang="zh-CN" altLang="en-US"/>
              <a:t>硬盘、</a:t>
            </a:r>
            <a:r>
              <a:rPr lang="en-US" altLang="zh-CN"/>
              <a:t>SCSI</a:t>
            </a:r>
            <a:r>
              <a:rPr lang="zh-CN" altLang="en-US"/>
              <a:t>硬盘以及</a:t>
            </a:r>
            <a:r>
              <a:rPr lang="en-US" altLang="zh-CN"/>
              <a:t>SAS</a:t>
            </a:r>
            <a:r>
              <a:rPr lang="zh-CN" altLang="en-US"/>
              <a:t>硬盘。如果说服务器是网络数据的核心，那么服务器硬盘就是这个核心的数据仓库，所有的软件和用户数据都存储在这里。</a:t>
            </a:r>
          </a:p>
          <a:p>
            <a:r>
              <a:rPr lang="zh-CN" altLang="zh-CN" sz="1100"/>
              <a:t>电源</a:t>
            </a:r>
            <a:endParaRPr lang="en-US" altLang="zh-CN" sz="1100"/>
          </a:p>
          <a:p>
            <a:pPr lvl="1"/>
            <a:r>
              <a:rPr lang="zh-CN" altLang="en-US"/>
              <a:t>服务器电源和个人电脑电源一样，都是一种开关电源。服务器电源按照标准可以分为</a:t>
            </a:r>
            <a:r>
              <a:rPr lang="en-US" altLang="zh-CN"/>
              <a:t>ATX</a:t>
            </a:r>
            <a:r>
              <a:rPr lang="zh-CN" altLang="en-US"/>
              <a:t>电源和</a:t>
            </a:r>
            <a:r>
              <a:rPr lang="en-US" altLang="zh-CN"/>
              <a:t>SSI</a:t>
            </a:r>
            <a:r>
              <a:rPr lang="zh-CN" altLang="en-US"/>
              <a:t>电源两种。</a:t>
            </a:r>
            <a:r>
              <a:rPr lang="en-US" altLang="zh-CN"/>
              <a:t>ATX</a:t>
            </a:r>
            <a:r>
              <a:rPr lang="zh-CN" altLang="en-US"/>
              <a:t>标准使用较为普遍，主要用于台式机、工作站和低端服务器；而</a:t>
            </a:r>
            <a:r>
              <a:rPr lang="en-US" altLang="zh-CN"/>
              <a:t>SSI</a:t>
            </a:r>
            <a:r>
              <a:rPr lang="zh-CN" altLang="en-US"/>
              <a:t>标准是随着服务器技术的发展而产生的，适用于各种其他档次的服务器。</a:t>
            </a:r>
            <a:endParaRPr lang="en-US" altLang="zh-CN"/>
          </a:p>
          <a:p>
            <a:r>
              <a:rPr lang="zh-CN" altLang="zh-CN" sz="1100"/>
              <a:t>网卡</a:t>
            </a:r>
            <a:endParaRPr lang="en-US" altLang="zh-CN" sz="1100"/>
          </a:p>
          <a:p>
            <a:pPr lvl="1"/>
            <a:r>
              <a:rPr lang="zh-CN" altLang="en-US"/>
              <a:t>又称网络适配器或网络接口卡（</a:t>
            </a:r>
            <a:r>
              <a:rPr lang="en-US" altLang="zh-CN"/>
              <a:t>NIC</a:t>
            </a:r>
            <a:r>
              <a:rPr lang="zh-CN" altLang="en-US"/>
              <a:t>），英文名为</a:t>
            </a:r>
            <a:r>
              <a:rPr lang="en-US" altLang="zh-CN"/>
              <a:t>Network Interface Card</a:t>
            </a:r>
            <a:r>
              <a:rPr lang="zh-CN" altLang="en-US"/>
              <a:t>。适用于服务器与交换机等网络设备之间的连接。</a:t>
            </a:r>
            <a:endParaRPr lang="en-US" altLang="zh-CN"/>
          </a:p>
        </p:txBody>
      </p:sp>
      <p:sp>
        <p:nvSpPr>
          <p:cNvPr id="81922" name="幻灯片图像占位符 3">
            <a:extLst>
              <a:ext uri="{FF2B5EF4-FFF2-40B4-BE49-F238E27FC236}">
                <a16:creationId xmlns:a16="http://schemas.microsoft.com/office/drawing/2014/main" id="{350A524D-BC63-0041-37A5-842611705420}"/>
              </a:ext>
            </a:extLst>
          </p:cNvPr>
          <p:cNvSpPr>
            <a:spLocks noGrp="1" noRot="1" noChangeAspect="1" noChangeArrowheads="1" noTextEdit="1"/>
          </p:cNvSpPr>
          <p:nvPr>
            <p:ph type="sldImg"/>
          </p:nvPr>
        </p:nvSpPr>
        <p:spPr>
          <a:xfrm>
            <a:off x="1438275" y="717550"/>
            <a:ext cx="4167188" cy="3125788"/>
          </a:xfr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备注占位符 2">
            <a:extLst>
              <a:ext uri="{FF2B5EF4-FFF2-40B4-BE49-F238E27FC236}">
                <a16:creationId xmlns:a16="http://schemas.microsoft.com/office/drawing/2014/main" id="{994402B0-A2B7-0854-CF27-734C08EC99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CPU</a:t>
            </a:r>
          </a:p>
          <a:p>
            <a:pPr lvl="1"/>
            <a:r>
              <a:rPr lang="zh-CN" altLang="en-US"/>
              <a:t>计算机的性能在很大程度上由</a:t>
            </a:r>
            <a:r>
              <a:rPr lang="en-US" altLang="zh-CN"/>
              <a:t>CPU</a:t>
            </a:r>
            <a:r>
              <a:rPr lang="zh-CN" altLang="en-US"/>
              <a:t>的性能决定，而</a:t>
            </a:r>
            <a:r>
              <a:rPr lang="en-US" altLang="zh-CN"/>
              <a:t>CPU</a:t>
            </a:r>
            <a:r>
              <a:rPr lang="zh-CN" altLang="en-US"/>
              <a:t>的性能主要体现在其运行程序的速度上。影响运行速度的性能指标包括</a:t>
            </a:r>
            <a:r>
              <a:rPr lang="en-US" altLang="zh-CN"/>
              <a:t>CPU</a:t>
            </a:r>
            <a:r>
              <a:rPr lang="zh-CN" altLang="en-US"/>
              <a:t>的工作频率、</a:t>
            </a:r>
            <a:r>
              <a:rPr lang="en-US" altLang="zh-CN"/>
              <a:t>Cache</a:t>
            </a:r>
            <a:r>
              <a:rPr lang="zh-CN" altLang="en-US"/>
              <a:t>容量、指令系统等参数。</a:t>
            </a:r>
          </a:p>
          <a:p>
            <a:r>
              <a:rPr lang="zh-CN" altLang="en-US"/>
              <a:t>内存</a:t>
            </a:r>
            <a:endParaRPr lang="en-US" altLang="zh-CN"/>
          </a:p>
          <a:p>
            <a:pPr lvl="1"/>
            <a:r>
              <a:rPr lang="zh-CN" altLang="en-US"/>
              <a:t>用于暂时存放</a:t>
            </a:r>
            <a:r>
              <a:rPr lang="en-US" altLang="zh-CN"/>
              <a:t>CPU</a:t>
            </a:r>
            <a:r>
              <a:rPr lang="zh-CN" altLang="en-US"/>
              <a:t>中的运算数据，以及与硬盘等外部存储器交换数据。</a:t>
            </a:r>
          </a:p>
          <a:p>
            <a:pPr lvl="1"/>
            <a:r>
              <a:rPr lang="zh-CN" altLang="en-US"/>
              <a:t>只要计算机在运行，</a:t>
            </a:r>
            <a:r>
              <a:rPr lang="en-US" altLang="zh-CN"/>
              <a:t>CPU</a:t>
            </a:r>
            <a:r>
              <a:rPr lang="zh-CN" altLang="en-US"/>
              <a:t>就会把需要运算的数据调到内存中进行运算，当运算完成后</a:t>
            </a:r>
            <a:r>
              <a:rPr lang="en-US" altLang="zh-CN"/>
              <a:t>CPU</a:t>
            </a:r>
            <a:r>
              <a:rPr lang="zh-CN" altLang="en-US"/>
              <a:t>再将结果传送出来。</a:t>
            </a:r>
          </a:p>
          <a:p>
            <a:r>
              <a:rPr lang="zh-CN" altLang="zh-CN"/>
              <a:t>独立磁盘冗余阵列</a:t>
            </a:r>
            <a:r>
              <a:rPr lang="zh-CN" altLang="en-US"/>
              <a:t>（</a:t>
            </a:r>
            <a:r>
              <a:rPr lang="en-US" altLang="zh-CN"/>
              <a:t>Redundant Array of Independent Drives</a:t>
            </a:r>
            <a:r>
              <a:rPr lang="zh-CN" altLang="en-US"/>
              <a:t>，</a:t>
            </a:r>
            <a:r>
              <a:rPr lang="en-US" altLang="zh-CN"/>
              <a:t>RAID</a:t>
            </a:r>
            <a:r>
              <a:rPr lang="zh-CN" altLang="en-US"/>
              <a:t>）</a:t>
            </a:r>
            <a:endParaRPr lang="zh-CN" altLang="zh-CN"/>
          </a:p>
          <a:p>
            <a:pPr lvl="1"/>
            <a:r>
              <a:rPr lang="zh-CN" altLang="zh-CN"/>
              <a:t>能提供更高的性能</a:t>
            </a:r>
            <a:r>
              <a:rPr lang="zh-CN" altLang="en-US"/>
              <a:t>。</a:t>
            </a:r>
            <a:r>
              <a:rPr lang="zh-CN" altLang="zh-CN"/>
              <a:t> </a:t>
            </a:r>
          </a:p>
          <a:p>
            <a:pPr lvl="1"/>
            <a:r>
              <a:rPr lang="zh-CN" altLang="zh-CN"/>
              <a:t>能提供容错</a:t>
            </a:r>
            <a:r>
              <a:rPr lang="zh-CN" altLang="en-US"/>
              <a:t>。</a:t>
            </a:r>
            <a:endParaRPr lang="zh-CN" altLang="zh-CN"/>
          </a:p>
          <a:p>
            <a:pPr lvl="1"/>
            <a:r>
              <a:rPr lang="zh-CN" altLang="zh-CN"/>
              <a:t>能提供动态增加</a:t>
            </a:r>
            <a:r>
              <a:rPr lang="zh-CN" altLang="en-US"/>
              <a:t>的</a:t>
            </a:r>
            <a:r>
              <a:rPr lang="zh-CN" altLang="zh-CN"/>
              <a:t>存储容量</a:t>
            </a:r>
            <a:r>
              <a:rPr lang="zh-CN" altLang="en-US"/>
              <a:t>。</a:t>
            </a:r>
            <a:r>
              <a:rPr lang="zh-CN" altLang="zh-CN"/>
              <a:t> </a:t>
            </a:r>
          </a:p>
          <a:p>
            <a:pPr lvl="1"/>
            <a:r>
              <a:rPr lang="zh-CN" altLang="zh-CN"/>
              <a:t>能提供简单</a:t>
            </a:r>
            <a:r>
              <a:rPr lang="zh-CN" altLang="en-US"/>
              <a:t>的</a:t>
            </a:r>
            <a:r>
              <a:rPr lang="zh-CN" altLang="zh-CN"/>
              <a:t>存储管理</a:t>
            </a:r>
            <a:r>
              <a:rPr lang="zh-CN" altLang="en-US"/>
              <a:t>。</a:t>
            </a:r>
            <a:endParaRPr lang="zh-CN" altLang="zh-CN"/>
          </a:p>
          <a:p>
            <a:endParaRPr lang="en-US" altLang="zh-CN"/>
          </a:p>
          <a:p>
            <a:endParaRPr lang="zh-CN" altLang="en-US"/>
          </a:p>
        </p:txBody>
      </p:sp>
      <p:sp>
        <p:nvSpPr>
          <p:cNvPr id="83970" name="幻灯片图像占位符 6">
            <a:extLst>
              <a:ext uri="{FF2B5EF4-FFF2-40B4-BE49-F238E27FC236}">
                <a16:creationId xmlns:a16="http://schemas.microsoft.com/office/drawing/2014/main" id="{283E3040-28D7-D9B3-173F-31E67512BDA0}"/>
              </a:ext>
            </a:extLst>
          </p:cNvPr>
          <p:cNvSpPr>
            <a:spLocks noGrp="1" noRot="1" noChangeAspect="1" noChangeArrowheads="1" noTextEdit="1"/>
          </p:cNvSpPr>
          <p:nvPr>
            <p:ph type="sldImg"/>
          </p:nvPr>
        </p:nvSpPr>
        <p:spPr>
          <a:xfrm>
            <a:off x="1438275" y="717550"/>
            <a:ext cx="4167188" cy="3125788"/>
          </a:xfr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备注占位符 2">
            <a:extLst>
              <a:ext uri="{FF2B5EF4-FFF2-40B4-BE49-F238E27FC236}">
                <a16:creationId xmlns:a16="http://schemas.microsoft.com/office/drawing/2014/main" id="{C6D8DDDA-5392-0106-7B4D-5B74AEB000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18" name="幻灯片图像占位符 6">
            <a:extLst>
              <a:ext uri="{FF2B5EF4-FFF2-40B4-BE49-F238E27FC236}">
                <a16:creationId xmlns:a16="http://schemas.microsoft.com/office/drawing/2014/main" id="{F61FE443-B452-418A-6B6E-70ABC67CA567}"/>
              </a:ext>
            </a:extLst>
          </p:cNvPr>
          <p:cNvSpPr>
            <a:spLocks noGrp="1" noRot="1" noChangeAspect="1" noChangeArrowheads="1" noTextEdit="1"/>
          </p:cNvSpPr>
          <p:nvPr>
            <p:ph type="sldImg"/>
          </p:nvPr>
        </p:nvSpPr>
        <p:spPr>
          <a:xfrm>
            <a:off x="1438275" y="717550"/>
            <a:ext cx="4167188" cy="3125788"/>
          </a:xfr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幻灯片图像占位符 1">
            <a:extLst>
              <a:ext uri="{FF2B5EF4-FFF2-40B4-BE49-F238E27FC236}">
                <a16:creationId xmlns:a16="http://schemas.microsoft.com/office/drawing/2014/main" id="{4115E876-AD46-1103-AABB-EE57F014DF4E}"/>
              </a:ext>
            </a:extLst>
          </p:cNvPr>
          <p:cNvSpPr>
            <a:spLocks noGrp="1" noRot="1" noChangeAspect="1" noChangeArrowheads="1" noTextEdit="1"/>
          </p:cNvSpPr>
          <p:nvPr>
            <p:ph type="sldImg"/>
          </p:nvPr>
        </p:nvSpPr>
        <p:spPr>
          <a:xfrm>
            <a:off x="1438275" y="717550"/>
            <a:ext cx="4167188" cy="3125788"/>
          </a:xfrm>
          <a:ln/>
        </p:spPr>
      </p:sp>
      <p:sp>
        <p:nvSpPr>
          <p:cNvPr id="88066" name="备注占位符 2">
            <a:extLst>
              <a:ext uri="{FF2B5EF4-FFF2-40B4-BE49-F238E27FC236}">
                <a16:creationId xmlns:a16="http://schemas.microsoft.com/office/drawing/2014/main" id="{5EA84616-33C4-E099-1DD1-5D712449D8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幻灯片图像占位符 1">
            <a:extLst>
              <a:ext uri="{FF2B5EF4-FFF2-40B4-BE49-F238E27FC236}">
                <a16:creationId xmlns:a16="http://schemas.microsoft.com/office/drawing/2014/main" id="{F988EAB7-C242-9221-2CAA-2FE6D141F6CC}"/>
              </a:ext>
            </a:extLst>
          </p:cNvPr>
          <p:cNvSpPr>
            <a:spLocks noGrp="1" noRot="1" noChangeAspect="1" noChangeArrowheads="1" noTextEdit="1"/>
          </p:cNvSpPr>
          <p:nvPr>
            <p:ph type="sldImg"/>
          </p:nvPr>
        </p:nvSpPr>
        <p:spPr>
          <a:xfrm>
            <a:off x="1438275" y="717550"/>
            <a:ext cx="4167188" cy="3125788"/>
          </a:xfrm>
          <a:ln/>
        </p:spPr>
      </p:sp>
      <p:sp>
        <p:nvSpPr>
          <p:cNvPr id="90114" name="备注占位符 2">
            <a:extLst>
              <a:ext uri="{FF2B5EF4-FFF2-40B4-BE49-F238E27FC236}">
                <a16:creationId xmlns:a16="http://schemas.microsoft.com/office/drawing/2014/main" id="{64D72316-56C4-46D4-2699-257510A0F8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6E49ED8B-3FAC-BB92-CDEE-25DEFB9572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902030302020204" pitchFamily="66" charset="0"/>
                <a:ea typeface="宋体" panose="02010600030101010101" pitchFamily="2" charset="-122"/>
              </a:defRPr>
            </a:lvl1pPr>
            <a:lvl2pPr marL="742950" indent="-285750">
              <a:defRPr sz="2000" b="1">
                <a:solidFill>
                  <a:schemeClr val="tx1"/>
                </a:solidFill>
                <a:latin typeface="Comic Sans MS" panose="030F0902030302020204" pitchFamily="66" charset="0"/>
                <a:ea typeface="宋体" panose="02010600030101010101" pitchFamily="2" charset="-122"/>
              </a:defRPr>
            </a:lvl2pPr>
            <a:lvl3pPr marL="1143000" indent="-228600">
              <a:defRPr sz="2000" b="1">
                <a:solidFill>
                  <a:schemeClr val="tx1"/>
                </a:solidFill>
                <a:latin typeface="Comic Sans MS" panose="030F0902030302020204" pitchFamily="66" charset="0"/>
                <a:ea typeface="宋体" panose="02010600030101010101" pitchFamily="2" charset="-122"/>
              </a:defRPr>
            </a:lvl3pPr>
            <a:lvl4pPr marL="1600200" indent="-228600">
              <a:defRPr sz="2000" b="1">
                <a:solidFill>
                  <a:schemeClr val="tx1"/>
                </a:solidFill>
                <a:latin typeface="Comic Sans MS" panose="030F0902030302020204" pitchFamily="66" charset="0"/>
                <a:ea typeface="宋体" panose="02010600030101010101" pitchFamily="2" charset="-122"/>
              </a:defRPr>
            </a:lvl4pPr>
            <a:lvl5pPr marL="2057400" indent="-228600">
              <a:defRPr sz="2000" b="1">
                <a:solidFill>
                  <a:schemeClr val="tx1"/>
                </a:solidFill>
                <a:latin typeface="Comic Sans MS" panose="030F09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9pPr>
          </a:lstStyle>
          <a:p>
            <a:fld id="{BF1616A0-E2C9-DD46-9A17-BF564A3EF8BE}" type="slidenum">
              <a:rPr lang="zh-CN" altLang="en-US" sz="1200" b="0" smtClean="0">
                <a:latin typeface="Times New Roman" panose="02020603050405020304" pitchFamily="18" charset="0"/>
              </a:rPr>
              <a:pPr/>
              <a:t>54</a:t>
            </a:fld>
            <a:endParaRPr lang="en-US" altLang="zh-CN" sz="1200" b="0">
              <a:latin typeface="Times New Roman" panose="02020603050405020304" pitchFamily="18" charset="0"/>
            </a:endParaRPr>
          </a:p>
        </p:txBody>
      </p:sp>
      <p:sp>
        <p:nvSpPr>
          <p:cNvPr id="92162" name="Rectangle 2">
            <a:extLst>
              <a:ext uri="{FF2B5EF4-FFF2-40B4-BE49-F238E27FC236}">
                <a16:creationId xmlns:a16="http://schemas.microsoft.com/office/drawing/2014/main" id="{59016EB3-698F-6C23-AF6A-ADC5CBA1A565}"/>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81AB61B1-A3CC-5670-9A83-C276286756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a:extLst>
              <a:ext uri="{FF2B5EF4-FFF2-40B4-BE49-F238E27FC236}">
                <a16:creationId xmlns:a16="http://schemas.microsoft.com/office/drawing/2014/main" id="{E92FA7A6-E53C-6155-6D7C-4DB3378A18BE}"/>
              </a:ext>
            </a:extLst>
          </p:cNvPr>
          <p:cNvSpPr>
            <a:spLocks noGrp="1" noRot="1" noChangeAspect="1" noChangeArrowheads="1" noTextEdit="1"/>
          </p:cNvSpPr>
          <p:nvPr>
            <p:ph type="sldImg"/>
          </p:nvPr>
        </p:nvSpPr>
        <p:spPr>
          <a:ln/>
        </p:spPr>
      </p:sp>
      <p:sp>
        <p:nvSpPr>
          <p:cNvPr id="111618" name="Notes Placeholder 2">
            <a:extLst>
              <a:ext uri="{FF2B5EF4-FFF2-40B4-BE49-F238E27FC236}">
                <a16:creationId xmlns:a16="http://schemas.microsoft.com/office/drawing/2014/main" id="{0F4C3C99-1A9F-5261-856F-233720D202E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
        <p:nvSpPr>
          <p:cNvPr id="111619" name="Slide Number Placeholder 3">
            <a:extLst>
              <a:ext uri="{FF2B5EF4-FFF2-40B4-BE49-F238E27FC236}">
                <a16:creationId xmlns:a16="http://schemas.microsoft.com/office/drawing/2014/main" id="{05073359-1084-4E7B-3DB6-54B0593876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902030302020204" pitchFamily="66" charset="0"/>
                <a:ea typeface="宋体" panose="02010600030101010101" pitchFamily="2" charset="-122"/>
              </a:defRPr>
            </a:lvl1pPr>
            <a:lvl2pPr marL="742950" indent="-285750">
              <a:defRPr sz="2000" b="1">
                <a:solidFill>
                  <a:schemeClr val="tx1"/>
                </a:solidFill>
                <a:latin typeface="Comic Sans MS" panose="030F0902030302020204" pitchFamily="66" charset="0"/>
                <a:ea typeface="宋体" panose="02010600030101010101" pitchFamily="2" charset="-122"/>
              </a:defRPr>
            </a:lvl2pPr>
            <a:lvl3pPr marL="1143000" indent="-228600">
              <a:defRPr sz="2000" b="1">
                <a:solidFill>
                  <a:schemeClr val="tx1"/>
                </a:solidFill>
                <a:latin typeface="Comic Sans MS" panose="030F0902030302020204" pitchFamily="66" charset="0"/>
                <a:ea typeface="宋体" panose="02010600030101010101" pitchFamily="2" charset="-122"/>
              </a:defRPr>
            </a:lvl3pPr>
            <a:lvl4pPr marL="1600200" indent="-228600">
              <a:defRPr sz="2000" b="1">
                <a:solidFill>
                  <a:schemeClr val="tx1"/>
                </a:solidFill>
                <a:latin typeface="Comic Sans MS" panose="030F0902030302020204" pitchFamily="66" charset="0"/>
                <a:ea typeface="宋体" panose="02010600030101010101" pitchFamily="2" charset="-122"/>
              </a:defRPr>
            </a:lvl4pPr>
            <a:lvl5pPr marL="2057400" indent="-228600">
              <a:defRPr sz="2000" b="1">
                <a:solidFill>
                  <a:schemeClr val="tx1"/>
                </a:solidFill>
                <a:latin typeface="Comic Sans MS" panose="030F09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9pPr>
          </a:lstStyle>
          <a:p>
            <a:fld id="{59170D77-7168-D744-8FB1-578C36C6587A}" type="slidenum">
              <a:rPr lang="en-US" altLang="zh-CN" sz="1200" b="0" smtClean="0">
                <a:latin typeface="Times New Roman" panose="02020603050405020304" pitchFamily="18" charset="0"/>
              </a:rPr>
              <a:pPr/>
              <a:t>72</a:t>
            </a:fld>
            <a:endParaRPr lang="en-US" altLang="zh-CN" sz="1200" b="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a:extLst>
              <a:ext uri="{FF2B5EF4-FFF2-40B4-BE49-F238E27FC236}">
                <a16:creationId xmlns:a16="http://schemas.microsoft.com/office/drawing/2014/main" id="{4532005A-B5E2-6FBD-E516-A244B15708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Comic Sans MS" panose="030F0902030302020204" pitchFamily="66" charset="0"/>
                <a:ea typeface="宋体" panose="02010600030101010101" pitchFamily="2" charset="-122"/>
              </a:defRPr>
            </a:lvl1pPr>
            <a:lvl2pPr marL="742950" indent="-285750">
              <a:defRPr sz="2000" b="1">
                <a:solidFill>
                  <a:schemeClr val="tx1"/>
                </a:solidFill>
                <a:latin typeface="Comic Sans MS" panose="030F0902030302020204" pitchFamily="66" charset="0"/>
                <a:ea typeface="宋体" panose="02010600030101010101" pitchFamily="2" charset="-122"/>
              </a:defRPr>
            </a:lvl2pPr>
            <a:lvl3pPr marL="1143000" indent="-228600">
              <a:defRPr sz="2000" b="1">
                <a:solidFill>
                  <a:schemeClr val="tx1"/>
                </a:solidFill>
                <a:latin typeface="Comic Sans MS" panose="030F0902030302020204" pitchFamily="66" charset="0"/>
                <a:ea typeface="宋体" panose="02010600030101010101" pitchFamily="2" charset="-122"/>
              </a:defRPr>
            </a:lvl3pPr>
            <a:lvl4pPr marL="1600200" indent="-228600">
              <a:defRPr sz="2000" b="1">
                <a:solidFill>
                  <a:schemeClr val="tx1"/>
                </a:solidFill>
                <a:latin typeface="Comic Sans MS" panose="030F0902030302020204" pitchFamily="66" charset="0"/>
                <a:ea typeface="宋体" panose="02010600030101010101" pitchFamily="2" charset="-122"/>
              </a:defRPr>
            </a:lvl4pPr>
            <a:lvl5pPr marL="2057400" indent="-228600">
              <a:defRPr sz="2000" b="1">
                <a:solidFill>
                  <a:schemeClr val="tx1"/>
                </a:solidFill>
                <a:latin typeface="Comic Sans MS" panose="030F0902030302020204" pitchFamily="66"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Comic Sans MS" panose="030F0902030302020204" pitchFamily="66" charset="0"/>
                <a:ea typeface="宋体" panose="02010600030101010101" pitchFamily="2" charset="-122"/>
              </a:defRPr>
            </a:lvl9pPr>
          </a:lstStyle>
          <a:p>
            <a:fld id="{8D585943-3483-3C4D-B62D-F27459E4BC80}" type="slidenum">
              <a:rPr lang="zh-CN" altLang="en-US" sz="1200" b="0" smtClean="0">
                <a:latin typeface="Times New Roman" panose="02020603050405020304" pitchFamily="18" charset="0"/>
              </a:rPr>
              <a:pPr/>
              <a:t>74</a:t>
            </a:fld>
            <a:endParaRPr lang="en-US" altLang="zh-CN" sz="1200" b="0">
              <a:latin typeface="Times New Roman" panose="02020603050405020304" pitchFamily="18" charset="0"/>
            </a:endParaRPr>
          </a:p>
        </p:txBody>
      </p:sp>
      <p:sp>
        <p:nvSpPr>
          <p:cNvPr id="114690" name="Rectangle 2">
            <a:extLst>
              <a:ext uri="{FF2B5EF4-FFF2-40B4-BE49-F238E27FC236}">
                <a16:creationId xmlns:a16="http://schemas.microsoft.com/office/drawing/2014/main" id="{1C835ED0-8C2C-9B76-4095-EBF6E2D52874}"/>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12C30851-5490-78CD-4361-E9C0F3E6A4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备注占位符 2">
            <a:extLst>
              <a:ext uri="{FF2B5EF4-FFF2-40B4-BE49-F238E27FC236}">
                <a16:creationId xmlns:a16="http://schemas.microsoft.com/office/drawing/2014/main" id="{189349B0-E3E9-2C7B-C280-17DACE8E10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100"/>
              <a:t>寄存器传输级（</a:t>
            </a:r>
            <a:r>
              <a:rPr lang="en-US" altLang="zh-CN" sz="1100"/>
              <a:t>Register-Transfer Level, RTL</a:t>
            </a:r>
            <a:r>
              <a:rPr lang="zh-CN" altLang="en-US" sz="1100"/>
              <a:t>）是通过硬件描述语言来描述实际电路的一种高层次模型。</a:t>
            </a:r>
            <a:endParaRPr lang="en-US" altLang="zh-CN" sz="1100"/>
          </a:p>
          <a:p>
            <a:r>
              <a:rPr lang="zh-CN" altLang="en-US" sz="1100"/>
              <a:t>处理器优化包</a:t>
            </a:r>
            <a:r>
              <a:rPr lang="en-US" altLang="zh-CN" sz="1100"/>
              <a:t> (Processor Optimization Pack, POP)</a:t>
            </a:r>
            <a:r>
              <a:rPr lang="zh-CN" altLang="en-US" sz="1100"/>
              <a:t>。</a:t>
            </a:r>
          </a:p>
        </p:txBody>
      </p:sp>
      <p:sp>
        <p:nvSpPr>
          <p:cNvPr id="116738" name="幻灯片图像占位符 4">
            <a:extLst>
              <a:ext uri="{FF2B5EF4-FFF2-40B4-BE49-F238E27FC236}">
                <a16:creationId xmlns:a16="http://schemas.microsoft.com/office/drawing/2014/main" id="{845BA1BB-9DD0-F8CA-30C0-3F69C7B9A431}"/>
              </a:ext>
            </a:extLst>
          </p:cNvPr>
          <p:cNvSpPr>
            <a:spLocks noGrp="1" noRot="1" noChangeAspect="1" noChangeArrowheads="1" noTextEdit="1"/>
          </p:cNvSpPr>
          <p:nvPr>
            <p:ph type="sldImg"/>
          </p:nvPr>
        </p:nvSpPr>
        <p:spPr>
          <a:xfrm>
            <a:off x="1438275" y="717550"/>
            <a:ext cx="4167188" cy="3125788"/>
          </a:xfr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幻灯片图像占位符 1">
            <a:extLst>
              <a:ext uri="{FF2B5EF4-FFF2-40B4-BE49-F238E27FC236}">
                <a16:creationId xmlns:a16="http://schemas.microsoft.com/office/drawing/2014/main" id="{77E9F65D-1BB7-E727-B990-AEF2D733DDAA}"/>
              </a:ext>
            </a:extLst>
          </p:cNvPr>
          <p:cNvSpPr>
            <a:spLocks noGrp="1" noRot="1" noChangeAspect="1" noChangeArrowheads="1" noTextEdit="1"/>
          </p:cNvSpPr>
          <p:nvPr>
            <p:ph type="sldImg"/>
          </p:nvPr>
        </p:nvSpPr>
        <p:spPr>
          <a:xfrm>
            <a:off x="1438275" y="717550"/>
            <a:ext cx="4167188" cy="3125788"/>
          </a:xfrm>
          <a:ln/>
        </p:spPr>
      </p:sp>
      <p:sp>
        <p:nvSpPr>
          <p:cNvPr id="118786" name="备注占位符 2">
            <a:extLst>
              <a:ext uri="{FF2B5EF4-FFF2-40B4-BE49-F238E27FC236}">
                <a16:creationId xmlns:a16="http://schemas.microsoft.com/office/drawing/2014/main" id="{EC28896C-E24C-EB5D-0F51-8BF120BAB3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幻灯片图像占位符 1">
            <a:extLst>
              <a:ext uri="{FF2B5EF4-FFF2-40B4-BE49-F238E27FC236}">
                <a16:creationId xmlns:a16="http://schemas.microsoft.com/office/drawing/2014/main" id="{2DE4E329-B543-CD6D-A3AE-A39C14E8CB43}"/>
              </a:ext>
            </a:extLst>
          </p:cNvPr>
          <p:cNvSpPr>
            <a:spLocks noGrp="1" noRot="1" noChangeAspect="1" noChangeArrowheads="1" noTextEdit="1"/>
          </p:cNvSpPr>
          <p:nvPr>
            <p:ph type="sldImg"/>
          </p:nvPr>
        </p:nvSpPr>
        <p:spPr>
          <a:xfrm>
            <a:off x="1438275" y="717550"/>
            <a:ext cx="4167188" cy="3125788"/>
          </a:xfrm>
          <a:ln/>
        </p:spPr>
      </p:sp>
      <p:sp>
        <p:nvSpPr>
          <p:cNvPr id="120834" name="备注占位符 2">
            <a:extLst>
              <a:ext uri="{FF2B5EF4-FFF2-40B4-BE49-F238E27FC236}">
                <a16:creationId xmlns:a16="http://schemas.microsoft.com/office/drawing/2014/main" id="{6AFA8462-6034-859F-8C02-FE1F8DE7BE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备注占位符 2">
            <a:extLst>
              <a:ext uri="{FF2B5EF4-FFF2-40B4-BE49-F238E27FC236}">
                <a16:creationId xmlns:a16="http://schemas.microsoft.com/office/drawing/2014/main" id="{DD91D065-4FB5-920E-EBA7-53F3EB0B21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100"/>
              <a:t>基于华为鲲鹏</a:t>
            </a:r>
            <a:r>
              <a:rPr lang="en-US" altLang="zh-CN" sz="1100"/>
              <a:t>920</a:t>
            </a:r>
            <a:r>
              <a:rPr lang="zh-CN" altLang="en-US" sz="1100"/>
              <a:t>处理器，华为打造了新一代数据中心服务器 </a:t>
            </a:r>
            <a:r>
              <a:rPr lang="en-US" altLang="zh-CN" sz="1100"/>
              <a:t>– TaiShan 200</a:t>
            </a:r>
            <a:r>
              <a:rPr lang="zh-CN" altLang="en-US" sz="1100"/>
              <a:t>服务器。</a:t>
            </a:r>
            <a:r>
              <a:rPr lang="en-US" altLang="zh-CN" sz="1100"/>
              <a:t>TaiShan 200</a:t>
            </a:r>
            <a:r>
              <a:rPr lang="zh-CN" altLang="en-US" sz="1100"/>
              <a:t>服务器是过往</a:t>
            </a:r>
            <a:r>
              <a:rPr lang="en-US" altLang="zh-CN" sz="1100"/>
              <a:t>17</a:t>
            </a:r>
            <a:r>
              <a:rPr lang="zh-CN" altLang="en-US" sz="1100"/>
              <a:t>年华为在计算技术和整机工程方面长期积累的结晶。</a:t>
            </a:r>
            <a:endParaRPr lang="en-US" altLang="zh-CN" sz="1100"/>
          </a:p>
          <a:p>
            <a:r>
              <a:rPr lang="zh-CN" altLang="en-US" sz="1100"/>
              <a:t>首先，华为在</a:t>
            </a:r>
            <a:r>
              <a:rPr lang="en-US" altLang="zh-CN" sz="1100"/>
              <a:t>TaiShan 200</a:t>
            </a:r>
            <a:r>
              <a:rPr lang="zh-CN" altLang="en-US" sz="1100"/>
              <a:t>服务器上充分应用了散热液冷、高速互联、可靠性设计与质量品控等工程工艺技术，将</a:t>
            </a:r>
            <a:r>
              <a:rPr lang="en-US" altLang="zh-CN" sz="1100"/>
              <a:t>TaiShan 200</a:t>
            </a:r>
            <a:r>
              <a:rPr lang="zh-CN" altLang="en-US" sz="1100"/>
              <a:t>服务器打造成为精品，为鲲鹏 </a:t>
            </a:r>
            <a:r>
              <a:rPr lang="en-US" altLang="zh-CN" sz="1100"/>
              <a:t>920</a:t>
            </a:r>
            <a:r>
              <a:rPr lang="zh-CN" altLang="en-US" sz="1100"/>
              <a:t>处理器应用在数据中心服务器领域树立了一个行业标杆，打个样。</a:t>
            </a:r>
            <a:endParaRPr lang="en-US" altLang="zh-CN" sz="1100"/>
          </a:p>
          <a:p>
            <a:r>
              <a:rPr lang="zh-CN" altLang="en-US" sz="1100"/>
              <a:t>其次，通过</a:t>
            </a:r>
            <a:r>
              <a:rPr lang="en-US" altLang="zh-CN" sz="1100"/>
              <a:t>TaiShan</a:t>
            </a:r>
            <a:r>
              <a:rPr lang="zh-CN" altLang="en-US" sz="1100"/>
              <a:t>服务器催熟整个鲲鹏产业链，从关键器件</a:t>
            </a:r>
            <a:r>
              <a:rPr lang="en-US" altLang="zh-CN" sz="1100"/>
              <a:t>(</a:t>
            </a:r>
            <a:r>
              <a:rPr lang="zh-CN" altLang="en-US" sz="1100"/>
              <a:t>电源芯片</a:t>
            </a:r>
            <a:r>
              <a:rPr lang="en-US" altLang="zh-CN" sz="1100"/>
              <a:t>/CPLD)</a:t>
            </a:r>
            <a:r>
              <a:rPr lang="zh-CN" altLang="en-US" sz="1100"/>
              <a:t>、核心部件</a:t>
            </a:r>
            <a:r>
              <a:rPr lang="en-US" altLang="zh-CN" sz="1100"/>
              <a:t>(SSD)</a:t>
            </a:r>
            <a:r>
              <a:rPr lang="zh-CN" altLang="en-US" sz="1100"/>
              <a:t>、基础软件到上层行业应用，构筑完整的产业生态，让鲲鹏生态能够满足更多客户与应用场景的需要，扩大产业空间。</a:t>
            </a:r>
            <a:endParaRPr lang="en-US" altLang="zh-CN" sz="1100"/>
          </a:p>
          <a:p>
            <a:r>
              <a:rPr lang="en-US" altLang="zh-CN" sz="1100"/>
              <a:t>TaiShan 200</a:t>
            </a:r>
            <a:r>
              <a:rPr lang="zh-CN" altLang="en-US" sz="1100"/>
              <a:t>服务器提供计算均衡型、存储计算型和高密计算型等不同产品型号：</a:t>
            </a:r>
            <a:endParaRPr lang="en-US" altLang="zh-CN" sz="1100"/>
          </a:p>
          <a:p>
            <a:r>
              <a:rPr lang="en-US" altLang="zh-CN" sz="1100"/>
              <a:t>2280</a:t>
            </a:r>
            <a:r>
              <a:rPr lang="zh-CN" altLang="en-US" sz="1100"/>
              <a:t>均衡型，网络能力、存储能力和计算能力均衡，适用大数据、分布式存储、</a:t>
            </a:r>
            <a:r>
              <a:rPr lang="en-US" altLang="zh-CN" sz="1100"/>
              <a:t>Web</a:t>
            </a:r>
            <a:r>
              <a:rPr lang="zh-CN" altLang="en-US" sz="1100"/>
              <a:t>等多种应用场景。</a:t>
            </a:r>
            <a:endParaRPr lang="en-US" altLang="zh-CN" sz="1100"/>
          </a:p>
          <a:p>
            <a:r>
              <a:rPr lang="en-US" altLang="zh-CN" sz="1100"/>
              <a:t>5280</a:t>
            </a:r>
            <a:r>
              <a:rPr lang="zh-CN" altLang="en-US" sz="1100"/>
              <a:t>存储型，</a:t>
            </a:r>
            <a:r>
              <a:rPr lang="en-US" altLang="zh-CN" sz="1100"/>
              <a:t>1</a:t>
            </a:r>
            <a:r>
              <a:rPr lang="zh-CN" altLang="en-US" sz="1100"/>
              <a:t>柜支持</a:t>
            </a:r>
            <a:r>
              <a:rPr lang="en-US" altLang="zh-CN" sz="1100"/>
              <a:t>5.6PB</a:t>
            </a:r>
            <a:r>
              <a:rPr lang="zh-CN" altLang="en-US" sz="1100"/>
              <a:t>容量，可存储</a:t>
            </a:r>
            <a:r>
              <a:rPr lang="en-US" altLang="zh-CN" sz="1100"/>
              <a:t>100</a:t>
            </a:r>
            <a:r>
              <a:rPr lang="zh-CN" altLang="en-US" sz="1100"/>
              <a:t>万部高清影片，适用于海量存储场景。</a:t>
            </a:r>
            <a:endParaRPr lang="en-US" altLang="zh-CN" sz="1100"/>
          </a:p>
          <a:p>
            <a:r>
              <a:rPr lang="en-US" altLang="zh-CN" sz="1100"/>
              <a:t>X6000</a:t>
            </a:r>
            <a:r>
              <a:rPr lang="zh-CN" altLang="en-US" sz="1100"/>
              <a:t>高密型，</a:t>
            </a:r>
            <a:r>
              <a:rPr lang="en-US" altLang="zh-CN" sz="1100"/>
              <a:t>1</a:t>
            </a:r>
            <a:r>
              <a:rPr lang="zh-CN" altLang="en-US" sz="1100"/>
              <a:t>柜可支持</a:t>
            </a:r>
            <a:r>
              <a:rPr lang="en-US" altLang="zh-CN" sz="1100"/>
              <a:t>10240</a:t>
            </a:r>
            <a:r>
              <a:rPr lang="zh-CN" altLang="en-US" sz="1100"/>
              <a:t>核，相当于</a:t>
            </a:r>
            <a:r>
              <a:rPr lang="en-US" altLang="zh-CN" sz="1100"/>
              <a:t>5000</a:t>
            </a:r>
            <a:r>
              <a:rPr lang="zh-CN" altLang="en-US" sz="1100"/>
              <a:t>台笔记本电脑的算力，适用于海量整型计算场景。</a:t>
            </a:r>
            <a:endParaRPr lang="zh-CN" altLang="en-US"/>
          </a:p>
        </p:txBody>
      </p:sp>
      <p:sp>
        <p:nvSpPr>
          <p:cNvPr id="122882" name="幻灯片图像占位符 4">
            <a:extLst>
              <a:ext uri="{FF2B5EF4-FFF2-40B4-BE49-F238E27FC236}">
                <a16:creationId xmlns:a16="http://schemas.microsoft.com/office/drawing/2014/main" id="{BED99C3A-A64A-C234-3F89-17DC7BA13671}"/>
              </a:ext>
            </a:extLst>
          </p:cNvPr>
          <p:cNvSpPr>
            <a:spLocks noGrp="1" noRot="1" noChangeAspect="1" noChangeArrowheads="1" noTextEdit="1"/>
          </p:cNvSpPr>
          <p:nvPr>
            <p:ph type="sldImg"/>
          </p:nvPr>
        </p:nvSpPr>
        <p:spPr>
          <a:xfrm>
            <a:off x="1438275" y="717550"/>
            <a:ext cx="4167188" cy="3125788"/>
          </a:xfr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幻灯片图像占位符 3">
            <a:extLst>
              <a:ext uri="{FF2B5EF4-FFF2-40B4-BE49-F238E27FC236}">
                <a16:creationId xmlns:a16="http://schemas.microsoft.com/office/drawing/2014/main" id="{61EF39F6-65CE-EEC9-FB89-D1261CC75257}"/>
              </a:ext>
            </a:extLst>
          </p:cNvPr>
          <p:cNvSpPr>
            <a:spLocks noGrp="1" noRot="1" noChangeAspect="1" noChangeArrowheads="1" noTextEdit="1"/>
          </p:cNvSpPr>
          <p:nvPr>
            <p:ph type="sldImg"/>
          </p:nvPr>
        </p:nvSpPr>
        <p:spPr>
          <a:xfrm>
            <a:off x="1438275" y="717550"/>
            <a:ext cx="4167188" cy="3125788"/>
          </a:xfrm>
          <a:ln/>
        </p:spPr>
      </p:sp>
      <p:sp>
        <p:nvSpPr>
          <p:cNvPr id="124930" name="备注占位符 4">
            <a:extLst>
              <a:ext uri="{FF2B5EF4-FFF2-40B4-BE49-F238E27FC236}">
                <a16:creationId xmlns:a16="http://schemas.microsoft.com/office/drawing/2014/main" id="{D90C722A-6BB6-F61D-2072-F92D5F7CAF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098" name="Rectangle 1026"/>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p>
        </p:txBody>
      </p:sp>
      <p:sp>
        <p:nvSpPr>
          <p:cNvPr id="4099" name="Rectangle 1027"/>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ltLang="zh-CN"/>
              <a:t>Click to edit Master subtitle style</a:t>
            </a:r>
          </a:p>
        </p:txBody>
      </p:sp>
      <p:sp>
        <p:nvSpPr>
          <p:cNvPr id="2" name="Rectangle 1028">
            <a:extLst>
              <a:ext uri="{FF2B5EF4-FFF2-40B4-BE49-F238E27FC236}">
                <a16:creationId xmlns:a16="http://schemas.microsoft.com/office/drawing/2014/main" id="{4BEBAED1-ADC2-2800-914B-EC19391678E7}"/>
              </a:ext>
            </a:extLst>
          </p:cNvPr>
          <p:cNvSpPr>
            <a:spLocks noGrp="1" noChangeArrowheads="1"/>
          </p:cNvSpPr>
          <p:nvPr>
            <p:ph type="dt" sz="half" idx="10"/>
          </p:nvPr>
        </p:nvSpPr>
        <p:spPr>
          <a:xfrm>
            <a:off x="533400" y="6248400"/>
            <a:ext cx="1905000" cy="457200"/>
          </a:xfrm>
        </p:spPr>
        <p:txBody>
          <a:bodyPr/>
          <a:lstStyle>
            <a:lvl1pPr>
              <a:defRPr/>
            </a:lvl1pPr>
          </a:lstStyle>
          <a:p>
            <a:pPr>
              <a:defRPr/>
            </a:pPr>
            <a:fld id="{2E642036-B39C-8341-BF66-815FF24AD088}" type="datetime1">
              <a:rPr lang="zh-CN" altLang="en-US"/>
              <a:pPr>
                <a:defRPr/>
              </a:pPr>
              <a:t>2024/10/14</a:t>
            </a:fld>
            <a:endParaRPr lang="en-US" altLang="zh-CN"/>
          </a:p>
        </p:txBody>
      </p:sp>
      <p:sp>
        <p:nvSpPr>
          <p:cNvPr id="3" name="Rectangle 1029">
            <a:extLst>
              <a:ext uri="{FF2B5EF4-FFF2-40B4-BE49-F238E27FC236}">
                <a16:creationId xmlns:a16="http://schemas.microsoft.com/office/drawing/2014/main" id="{84947347-0E62-41D3-AE18-2EA430313472}"/>
              </a:ext>
            </a:extLst>
          </p:cNvPr>
          <p:cNvSpPr>
            <a:spLocks noGrp="1" noChangeArrowheads="1"/>
          </p:cNvSpPr>
          <p:nvPr>
            <p:ph type="ftr" sz="quarter" idx="11"/>
          </p:nvPr>
        </p:nvSpPr>
        <p:spPr>
          <a:xfrm>
            <a:off x="2514600" y="6248400"/>
            <a:ext cx="4114800" cy="457200"/>
          </a:xfrm>
        </p:spPr>
        <p:txBody>
          <a:bodyPr/>
          <a:lstStyle>
            <a:lvl1pPr>
              <a:defRPr/>
            </a:lvl1pPr>
          </a:lstStyle>
          <a:p>
            <a:pPr>
              <a:defRPr/>
            </a:pPr>
            <a:r>
              <a:rPr lang="zh-CN" altLang="en-US"/>
              <a:t>Compilers Autumn 2002</a:t>
            </a:r>
            <a:endParaRPr lang="en-US" altLang="zh-CN"/>
          </a:p>
        </p:txBody>
      </p:sp>
      <p:sp>
        <p:nvSpPr>
          <p:cNvPr id="4" name="Rectangle 1030">
            <a:extLst>
              <a:ext uri="{FF2B5EF4-FFF2-40B4-BE49-F238E27FC236}">
                <a16:creationId xmlns:a16="http://schemas.microsoft.com/office/drawing/2014/main" id="{CD5ECE04-1A1A-9D65-128C-ED7286F1C897}"/>
              </a:ext>
            </a:extLst>
          </p:cNvPr>
          <p:cNvSpPr>
            <a:spLocks noGrp="1" noChangeArrowheads="1"/>
          </p:cNvSpPr>
          <p:nvPr>
            <p:ph type="sldNum" sz="quarter" idx="12"/>
          </p:nvPr>
        </p:nvSpPr>
        <p:spPr>
          <a:xfrm>
            <a:off x="6705600" y="6248400"/>
            <a:ext cx="1905000" cy="457200"/>
          </a:xfrm>
        </p:spPr>
        <p:txBody>
          <a:bodyPr/>
          <a:lstStyle>
            <a:lvl1pPr>
              <a:defRPr/>
            </a:lvl1pPr>
          </a:lstStyle>
          <a:p>
            <a:pPr>
              <a:defRPr/>
            </a:pPr>
            <a:fld id="{5216D19D-7BF0-E340-844B-5DCD19DCF9D5}" type="slidenum">
              <a:rPr lang="zh-CN" altLang="en-US"/>
              <a:pPr>
                <a:defRPr/>
              </a:pPr>
              <a:t>‹#›</a:t>
            </a:fld>
            <a:endParaRPr lang="en-US" altLang="zh-CN"/>
          </a:p>
        </p:txBody>
      </p:sp>
    </p:spTree>
    <p:extLst>
      <p:ext uri="{BB962C8B-B14F-4D97-AF65-F5344CB8AC3E}">
        <p14:creationId xmlns:p14="http://schemas.microsoft.com/office/powerpoint/2010/main" val="817293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720459C-044F-6013-7EA4-8F610C705C5A}"/>
              </a:ext>
            </a:extLst>
          </p:cNvPr>
          <p:cNvSpPr>
            <a:spLocks noGrp="1" noChangeArrowheads="1"/>
          </p:cNvSpPr>
          <p:nvPr>
            <p:ph type="dt" sz="half" idx="10"/>
          </p:nvPr>
        </p:nvSpPr>
        <p:spPr>
          <a:ln/>
        </p:spPr>
        <p:txBody>
          <a:bodyPr/>
          <a:lstStyle>
            <a:lvl1pPr>
              <a:defRPr/>
            </a:lvl1pPr>
          </a:lstStyle>
          <a:p>
            <a:pPr>
              <a:defRPr/>
            </a:pPr>
            <a:fld id="{E75B569E-E193-FB49-A081-F1FBF94AF0CB}" type="datetime1">
              <a:rPr lang="zh-CN" altLang="en-US"/>
              <a:pPr>
                <a:defRPr/>
              </a:pPr>
              <a:t>2024/10/14</a:t>
            </a:fld>
            <a:endParaRPr lang="en-US" altLang="zh-CN"/>
          </a:p>
        </p:txBody>
      </p:sp>
      <p:sp>
        <p:nvSpPr>
          <p:cNvPr id="5" name="Rectangle 5">
            <a:extLst>
              <a:ext uri="{FF2B5EF4-FFF2-40B4-BE49-F238E27FC236}">
                <a16:creationId xmlns:a16="http://schemas.microsoft.com/office/drawing/2014/main" id="{9CEBE87B-4FE1-D5E8-A19F-9790849DBD04}"/>
              </a:ext>
            </a:extLst>
          </p:cNvPr>
          <p:cNvSpPr>
            <a:spLocks noGrp="1" noChangeArrowheads="1"/>
          </p:cNvSpPr>
          <p:nvPr>
            <p:ph type="ftr" sz="quarter" idx="11"/>
          </p:nvPr>
        </p:nvSpPr>
        <p:spPr>
          <a:ln/>
        </p:spPr>
        <p:txBody>
          <a:bodyPr/>
          <a:lstStyle>
            <a:lvl1pPr>
              <a:defRPr/>
            </a:lvl1pPr>
          </a:lstStyle>
          <a:p>
            <a:pPr>
              <a:defRPr/>
            </a:pPr>
            <a:r>
              <a:rPr lang="zh-CN" altLang="en-US"/>
              <a:t>Compilers Autumn 2002</a:t>
            </a:r>
            <a:endParaRPr lang="en-US" altLang="zh-CN"/>
          </a:p>
        </p:txBody>
      </p:sp>
      <p:sp>
        <p:nvSpPr>
          <p:cNvPr id="6" name="Rectangle 6">
            <a:extLst>
              <a:ext uri="{FF2B5EF4-FFF2-40B4-BE49-F238E27FC236}">
                <a16:creationId xmlns:a16="http://schemas.microsoft.com/office/drawing/2014/main" id="{B6931F2B-CA84-A5DF-D7F3-D73701607D10}"/>
              </a:ext>
            </a:extLst>
          </p:cNvPr>
          <p:cNvSpPr>
            <a:spLocks noGrp="1" noChangeArrowheads="1"/>
          </p:cNvSpPr>
          <p:nvPr>
            <p:ph type="sldNum" sz="quarter" idx="12"/>
          </p:nvPr>
        </p:nvSpPr>
        <p:spPr>
          <a:ln/>
        </p:spPr>
        <p:txBody>
          <a:bodyPr/>
          <a:lstStyle>
            <a:lvl1pPr>
              <a:defRPr/>
            </a:lvl1pPr>
          </a:lstStyle>
          <a:p>
            <a:pPr>
              <a:defRPr/>
            </a:pPr>
            <a:fld id="{63343EE6-768A-0E42-B5D2-19A1F4EA74D6}" type="slidenum">
              <a:rPr lang="zh-CN" altLang="en-US"/>
              <a:pPr>
                <a:defRPr/>
              </a:pPr>
              <a:t>‹#›</a:t>
            </a:fld>
            <a:endParaRPr lang="en-US" altLang="zh-CN"/>
          </a:p>
        </p:txBody>
      </p:sp>
    </p:spTree>
    <p:extLst>
      <p:ext uri="{BB962C8B-B14F-4D97-AF65-F5344CB8AC3E}">
        <p14:creationId xmlns:p14="http://schemas.microsoft.com/office/powerpoint/2010/main" val="1868940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EF38418B-D03D-A58B-90AF-3F204C19168A}"/>
              </a:ext>
            </a:extLst>
          </p:cNvPr>
          <p:cNvSpPr>
            <a:spLocks noGrp="1" noChangeArrowheads="1"/>
          </p:cNvSpPr>
          <p:nvPr>
            <p:ph type="dt" sz="half" idx="10"/>
          </p:nvPr>
        </p:nvSpPr>
        <p:spPr>
          <a:ln/>
        </p:spPr>
        <p:txBody>
          <a:bodyPr/>
          <a:lstStyle>
            <a:lvl1pPr>
              <a:defRPr/>
            </a:lvl1pPr>
          </a:lstStyle>
          <a:p>
            <a:pPr>
              <a:defRPr/>
            </a:pPr>
            <a:fld id="{43AE789A-E5F5-D74E-8167-D5FE24B9A80D}" type="datetime1">
              <a:rPr lang="zh-CN" altLang="en-US"/>
              <a:pPr>
                <a:defRPr/>
              </a:pPr>
              <a:t>2024/10/14</a:t>
            </a:fld>
            <a:endParaRPr lang="en-US" altLang="zh-CN"/>
          </a:p>
        </p:txBody>
      </p:sp>
      <p:sp>
        <p:nvSpPr>
          <p:cNvPr id="5" name="Rectangle 5">
            <a:extLst>
              <a:ext uri="{FF2B5EF4-FFF2-40B4-BE49-F238E27FC236}">
                <a16:creationId xmlns:a16="http://schemas.microsoft.com/office/drawing/2014/main" id="{41379AD1-C077-23AF-6912-BBEE8473EB48}"/>
              </a:ext>
            </a:extLst>
          </p:cNvPr>
          <p:cNvSpPr>
            <a:spLocks noGrp="1" noChangeArrowheads="1"/>
          </p:cNvSpPr>
          <p:nvPr>
            <p:ph type="ftr" sz="quarter" idx="11"/>
          </p:nvPr>
        </p:nvSpPr>
        <p:spPr>
          <a:ln/>
        </p:spPr>
        <p:txBody>
          <a:bodyPr/>
          <a:lstStyle>
            <a:lvl1pPr>
              <a:defRPr/>
            </a:lvl1pPr>
          </a:lstStyle>
          <a:p>
            <a:pPr>
              <a:defRPr/>
            </a:pPr>
            <a:r>
              <a:rPr lang="zh-CN" altLang="en-US"/>
              <a:t>Compilers Autumn 2002</a:t>
            </a:r>
            <a:endParaRPr lang="en-US" altLang="zh-CN"/>
          </a:p>
        </p:txBody>
      </p:sp>
      <p:sp>
        <p:nvSpPr>
          <p:cNvPr id="6" name="Rectangle 6">
            <a:extLst>
              <a:ext uri="{FF2B5EF4-FFF2-40B4-BE49-F238E27FC236}">
                <a16:creationId xmlns:a16="http://schemas.microsoft.com/office/drawing/2014/main" id="{4690C922-476E-6898-9A5C-1C680B2DD0B3}"/>
              </a:ext>
            </a:extLst>
          </p:cNvPr>
          <p:cNvSpPr>
            <a:spLocks noGrp="1" noChangeArrowheads="1"/>
          </p:cNvSpPr>
          <p:nvPr>
            <p:ph type="sldNum" sz="quarter" idx="12"/>
          </p:nvPr>
        </p:nvSpPr>
        <p:spPr>
          <a:ln/>
        </p:spPr>
        <p:txBody>
          <a:bodyPr/>
          <a:lstStyle>
            <a:lvl1pPr>
              <a:defRPr/>
            </a:lvl1pPr>
          </a:lstStyle>
          <a:p>
            <a:pPr>
              <a:defRPr/>
            </a:pPr>
            <a:fld id="{C77F71D6-6CAE-604D-944A-51B16B9AF8C4}" type="slidenum">
              <a:rPr lang="zh-CN" altLang="en-US"/>
              <a:pPr>
                <a:defRPr/>
              </a:pPr>
              <a:t>‹#›</a:t>
            </a:fld>
            <a:endParaRPr lang="en-US" altLang="zh-CN"/>
          </a:p>
        </p:txBody>
      </p:sp>
    </p:spTree>
    <p:extLst>
      <p:ext uri="{BB962C8B-B14F-4D97-AF65-F5344CB8AC3E}">
        <p14:creationId xmlns:p14="http://schemas.microsoft.com/office/powerpoint/2010/main" val="1550506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767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1600200"/>
            <a:ext cx="40767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A857F4A1-30F3-486B-2E80-47810DFC931D}"/>
              </a:ext>
            </a:extLst>
          </p:cNvPr>
          <p:cNvSpPr>
            <a:spLocks noGrp="1" noChangeArrowheads="1"/>
          </p:cNvSpPr>
          <p:nvPr>
            <p:ph type="dt" sz="half" idx="10"/>
          </p:nvPr>
        </p:nvSpPr>
        <p:spPr>
          <a:ln/>
        </p:spPr>
        <p:txBody>
          <a:bodyPr/>
          <a:lstStyle>
            <a:lvl1pPr>
              <a:defRPr/>
            </a:lvl1pPr>
          </a:lstStyle>
          <a:p>
            <a:pPr>
              <a:defRPr/>
            </a:pPr>
            <a:fld id="{A16EE00D-C2BD-E040-AA34-FB8E89BCEB4A}" type="datetime1">
              <a:rPr lang="zh-CN" altLang="en-US"/>
              <a:pPr>
                <a:defRPr/>
              </a:pPr>
              <a:t>2024/10/14</a:t>
            </a:fld>
            <a:endParaRPr lang="en-US" altLang="zh-CN"/>
          </a:p>
        </p:txBody>
      </p:sp>
      <p:sp>
        <p:nvSpPr>
          <p:cNvPr id="6" name="Rectangle 5">
            <a:extLst>
              <a:ext uri="{FF2B5EF4-FFF2-40B4-BE49-F238E27FC236}">
                <a16:creationId xmlns:a16="http://schemas.microsoft.com/office/drawing/2014/main" id="{E9A864B3-B736-65C2-71D7-940408FD0204}"/>
              </a:ext>
            </a:extLst>
          </p:cNvPr>
          <p:cNvSpPr>
            <a:spLocks noGrp="1" noChangeArrowheads="1"/>
          </p:cNvSpPr>
          <p:nvPr>
            <p:ph type="ftr" sz="quarter" idx="11"/>
          </p:nvPr>
        </p:nvSpPr>
        <p:spPr>
          <a:ln/>
        </p:spPr>
        <p:txBody>
          <a:bodyPr/>
          <a:lstStyle>
            <a:lvl1pPr>
              <a:defRPr/>
            </a:lvl1pPr>
          </a:lstStyle>
          <a:p>
            <a:pPr>
              <a:defRPr/>
            </a:pPr>
            <a:r>
              <a:rPr lang="zh-CN" altLang="en-US"/>
              <a:t>Compilers Autumn 2002</a:t>
            </a:r>
            <a:endParaRPr lang="en-US" altLang="zh-CN"/>
          </a:p>
        </p:txBody>
      </p:sp>
      <p:sp>
        <p:nvSpPr>
          <p:cNvPr id="7" name="Rectangle 6">
            <a:extLst>
              <a:ext uri="{FF2B5EF4-FFF2-40B4-BE49-F238E27FC236}">
                <a16:creationId xmlns:a16="http://schemas.microsoft.com/office/drawing/2014/main" id="{A4110A27-438D-DADC-56E8-8EBB9EF2B194}"/>
              </a:ext>
            </a:extLst>
          </p:cNvPr>
          <p:cNvSpPr>
            <a:spLocks noGrp="1" noChangeArrowheads="1"/>
          </p:cNvSpPr>
          <p:nvPr>
            <p:ph type="sldNum" sz="quarter" idx="12"/>
          </p:nvPr>
        </p:nvSpPr>
        <p:spPr>
          <a:ln/>
        </p:spPr>
        <p:txBody>
          <a:bodyPr/>
          <a:lstStyle>
            <a:lvl1pPr>
              <a:defRPr/>
            </a:lvl1pPr>
          </a:lstStyle>
          <a:p>
            <a:pPr>
              <a:defRPr/>
            </a:pPr>
            <a:fld id="{C95B99FD-A8B4-5340-987E-F53F2C8BDC31}" type="slidenum">
              <a:rPr lang="zh-CN" altLang="en-US"/>
              <a:pPr>
                <a:defRPr/>
              </a:pPr>
              <a:t>‹#›</a:t>
            </a:fld>
            <a:endParaRPr lang="en-US" altLang="zh-CN"/>
          </a:p>
        </p:txBody>
      </p:sp>
    </p:spTree>
    <p:extLst>
      <p:ext uri="{BB962C8B-B14F-4D97-AF65-F5344CB8AC3E}">
        <p14:creationId xmlns:p14="http://schemas.microsoft.com/office/powerpoint/2010/main" val="3814784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0DAC9FCB-1CCE-7254-FBC6-CEE0985ED01D}"/>
              </a:ext>
            </a:extLst>
          </p:cNvPr>
          <p:cNvSpPr>
            <a:spLocks noGrp="1" noChangeArrowheads="1"/>
          </p:cNvSpPr>
          <p:nvPr>
            <p:ph type="dt" sz="half" idx="10"/>
          </p:nvPr>
        </p:nvSpPr>
        <p:spPr>
          <a:ln/>
        </p:spPr>
        <p:txBody>
          <a:bodyPr/>
          <a:lstStyle>
            <a:lvl1pPr>
              <a:defRPr/>
            </a:lvl1pPr>
          </a:lstStyle>
          <a:p>
            <a:pPr>
              <a:defRPr/>
            </a:pPr>
            <a:fld id="{7E21751B-218A-4E40-8839-84185DAE0289}" type="datetime1">
              <a:rPr lang="zh-CN" altLang="en-US"/>
              <a:pPr>
                <a:defRPr/>
              </a:pPr>
              <a:t>2024/10/14</a:t>
            </a:fld>
            <a:endParaRPr lang="en-US" altLang="zh-CN"/>
          </a:p>
        </p:txBody>
      </p:sp>
      <p:sp>
        <p:nvSpPr>
          <p:cNvPr id="8" name="Rectangle 5">
            <a:extLst>
              <a:ext uri="{FF2B5EF4-FFF2-40B4-BE49-F238E27FC236}">
                <a16:creationId xmlns:a16="http://schemas.microsoft.com/office/drawing/2014/main" id="{3DA8EB8A-B0BD-D4AF-C66B-C61305A6D0CC}"/>
              </a:ext>
            </a:extLst>
          </p:cNvPr>
          <p:cNvSpPr>
            <a:spLocks noGrp="1" noChangeArrowheads="1"/>
          </p:cNvSpPr>
          <p:nvPr>
            <p:ph type="ftr" sz="quarter" idx="11"/>
          </p:nvPr>
        </p:nvSpPr>
        <p:spPr>
          <a:ln/>
        </p:spPr>
        <p:txBody>
          <a:bodyPr/>
          <a:lstStyle>
            <a:lvl1pPr>
              <a:defRPr/>
            </a:lvl1pPr>
          </a:lstStyle>
          <a:p>
            <a:pPr>
              <a:defRPr/>
            </a:pPr>
            <a:r>
              <a:rPr lang="zh-CN" altLang="en-US"/>
              <a:t>Compilers Autumn 2002</a:t>
            </a:r>
            <a:endParaRPr lang="en-US" altLang="zh-CN"/>
          </a:p>
        </p:txBody>
      </p:sp>
      <p:sp>
        <p:nvSpPr>
          <p:cNvPr id="9" name="Rectangle 6">
            <a:extLst>
              <a:ext uri="{FF2B5EF4-FFF2-40B4-BE49-F238E27FC236}">
                <a16:creationId xmlns:a16="http://schemas.microsoft.com/office/drawing/2014/main" id="{215D9CF1-F66E-8C7D-5F0B-F8804583F307}"/>
              </a:ext>
            </a:extLst>
          </p:cNvPr>
          <p:cNvSpPr>
            <a:spLocks noGrp="1" noChangeArrowheads="1"/>
          </p:cNvSpPr>
          <p:nvPr>
            <p:ph type="sldNum" sz="quarter" idx="12"/>
          </p:nvPr>
        </p:nvSpPr>
        <p:spPr>
          <a:ln/>
        </p:spPr>
        <p:txBody>
          <a:bodyPr/>
          <a:lstStyle>
            <a:lvl1pPr>
              <a:defRPr/>
            </a:lvl1pPr>
          </a:lstStyle>
          <a:p>
            <a:pPr>
              <a:defRPr/>
            </a:pPr>
            <a:fld id="{57BC1D71-1AA6-1040-8C31-AC70928FDE9D}" type="slidenum">
              <a:rPr lang="zh-CN" altLang="en-US"/>
              <a:pPr>
                <a:defRPr/>
              </a:pPr>
              <a:t>‹#›</a:t>
            </a:fld>
            <a:endParaRPr lang="en-US" altLang="zh-CN"/>
          </a:p>
        </p:txBody>
      </p:sp>
    </p:spTree>
    <p:extLst>
      <p:ext uri="{BB962C8B-B14F-4D97-AF65-F5344CB8AC3E}">
        <p14:creationId xmlns:p14="http://schemas.microsoft.com/office/powerpoint/2010/main" val="3577228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FF506B88-936D-45F0-5D07-F83055B6E8DF}"/>
              </a:ext>
            </a:extLst>
          </p:cNvPr>
          <p:cNvSpPr>
            <a:spLocks noGrp="1" noChangeArrowheads="1"/>
          </p:cNvSpPr>
          <p:nvPr>
            <p:ph type="dt" sz="half" idx="10"/>
          </p:nvPr>
        </p:nvSpPr>
        <p:spPr>
          <a:ln/>
        </p:spPr>
        <p:txBody>
          <a:bodyPr/>
          <a:lstStyle>
            <a:lvl1pPr>
              <a:defRPr/>
            </a:lvl1pPr>
          </a:lstStyle>
          <a:p>
            <a:pPr>
              <a:defRPr/>
            </a:pPr>
            <a:fld id="{9E23CA34-F755-FF43-AEBC-6C2DCD6CA488}" type="datetime1">
              <a:rPr lang="zh-CN" altLang="en-US"/>
              <a:pPr>
                <a:defRPr/>
              </a:pPr>
              <a:t>2024/10/14</a:t>
            </a:fld>
            <a:endParaRPr lang="en-US" altLang="zh-CN"/>
          </a:p>
        </p:txBody>
      </p:sp>
      <p:sp>
        <p:nvSpPr>
          <p:cNvPr id="4" name="Rectangle 5">
            <a:extLst>
              <a:ext uri="{FF2B5EF4-FFF2-40B4-BE49-F238E27FC236}">
                <a16:creationId xmlns:a16="http://schemas.microsoft.com/office/drawing/2014/main" id="{C34A1E15-B260-AD4B-4DD7-6ADA9D2E22B0}"/>
              </a:ext>
            </a:extLst>
          </p:cNvPr>
          <p:cNvSpPr>
            <a:spLocks noGrp="1" noChangeArrowheads="1"/>
          </p:cNvSpPr>
          <p:nvPr>
            <p:ph type="ftr" sz="quarter" idx="11"/>
          </p:nvPr>
        </p:nvSpPr>
        <p:spPr>
          <a:ln/>
        </p:spPr>
        <p:txBody>
          <a:bodyPr/>
          <a:lstStyle>
            <a:lvl1pPr>
              <a:defRPr/>
            </a:lvl1pPr>
          </a:lstStyle>
          <a:p>
            <a:pPr>
              <a:defRPr/>
            </a:pPr>
            <a:r>
              <a:rPr lang="zh-CN" altLang="en-US"/>
              <a:t>Compilers Autumn 2002</a:t>
            </a:r>
            <a:endParaRPr lang="en-US" altLang="zh-CN"/>
          </a:p>
        </p:txBody>
      </p:sp>
      <p:sp>
        <p:nvSpPr>
          <p:cNvPr id="5" name="Rectangle 6">
            <a:extLst>
              <a:ext uri="{FF2B5EF4-FFF2-40B4-BE49-F238E27FC236}">
                <a16:creationId xmlns:a16="http://schemas.microsoft.com/office/drawing/2014/main" id="{CC4637ED-224E-E500-A9DF-3BF7D669D807}"/>
              </a:ext>
            </a:extLst>
          </p:cNvPr>
          <p:cNvSpPr>
            <a:spLocks noGrp="1" noChangeArrowheads="1"/>
          </p:cNvSpPr>
          <p:nvPr>
            <p:ph type="sldNum" sz="quarter" idx="12"/>
          </p:nvPr>
        </p:nvSpPr>
        <p:spPr>
          <a:ln/>
        </p:spPr>
        <p:txBody>
          <a:bodyPr/>
          <a:lstStyle>
            <a:lvl1pPr>
              <a:defRPr/>
            </a:lvl1pPr>
          </a:lstStyle>
          <a:p>
            <a:pPr>
              <a:defRPr/>
            </a:pPr>
            <a:fld id="{01FA7888-109F-534D-9314-880B4458F8E4}" type="slidenum">
              <a:rPr lang="zh-CN" altLang="en-US"/>
              <a:pPr>
                <a:defRPr/>
              </a:pPr>
              <a:t>‹#›</a:t>
            </a:fld>
            <a:endParaRPr lang="en-US" altLang="zh-CN"/>
          </a:p>
        </p:txBody>
      </p:sp>
    </p:spTree>
    <p:extLst>
      <p:ext uri="{BB962C8B-B14F-4D97-AF65-F5344CB8AC3E}">
        <p14:creationId xmlns:p14="http://schemas.microsoft.com/office/powerpoint/2010/main" val="1856176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DC3A815-49D3-E7BD-50BE-9E51D26D1997}"/>
              </a:ext>
            </a:extLst>
          </p:cNvPr>
          <p:cNvSpPr>
            <a:spLocks noGrp="1" noChangeArrowheads="1"/>
          </p:cNvSpPr>
          <p:nvPr>
            <p:ph type="dt" sz="half" idx="10"/>
          </p:nvPr>
        </p:nvSpPr>
        <p:spPr>
          <a:ln/>
        </p:spPr>
        <p:txBody>
          <a:bodyPr/>
          <a:lstStyle>
            <a:lvl1pPr>
              <a:defRPr/>
            </a:lvl1pPr>
          </a:lstStyle>
          <a:p>
            <a:pPr>
              <a:defRPr/>
            </a:pPr>
            <a:fld id="{3F205387-AF3C-A74D-88F9-4D1AA87EF969}" type="datetime1">
              <a:rPr lang="zh-CN" altLang="en-US"/>
              <a:pPr>
                <a:defRPr/>
              </a:pPr>
              <a:t>2024/10/14</a:t>
            </a:fld>
            <a:endParaRPr lang="en-US" altLang="zh-CN"/>
          </a:p>
        </p:txBody>
      </p:sp>
      <p:sp>
        <p:nvSpPr>
          <p:cNvPr id="3" name="Rectangle 5">
            <a:extLst>
              <a:ext uri="{FF2B5EF4-FFF2-40B4-BE49-F238E27FC236}">
                <a16:creationId xmlns:a16="http://schemas.microsoft.com/office/drawing/2014/main" id="{1F66F631-18AC-FD03-5231-41C4AE9D2B21}"/>
              </a:ext>
            </a:extLst>
          </p:cNvPr>
          <p:cNvSpPr>
            <a:spLocks noGrp="1" noChangeArrowheads="1"/>
          </p:cNvSpPr>
          <p:nvPr>
            <p:ph type="ftr" sz="quarter" idx="11"/>
          </p:nvPr>
        </p:nvSpPr>
        <p:spPr>
          <a:ln/>
        </p:spPr>
        <p:txBody>
          <a:bodyPr/>
          <a:lstStyle>
            <a:lvl1pPr>
              <a:defRPr/>
            </a:lvl1pPr>
          </a:lstStyle>
          <a:p>
            <a:pPr>
              <a:defRPr/>
            </a:pPr>
            <a:r>
              <a:rPr lang="zh-CN" altLang="en-US"/>
              <a:t>Compilers Autumn 2002</a:t>
            </a:r>
            <a:endParaRPr lang="en-US" altLang="zh-CN"/>
          </a:p>
        </p:txBody>
      </p:sp>
      <p:sp>
        <p:nvSpPr>
          <p:cNvPr id="4" name="Rectangle 6">
            <a:extLst>
              <a:ext uri="{FF2B5EF4-FFF2-40B4-BE49-F238E27FC236}">
                <a16:creationId xmlns:a16="http://schemas.microsoft.com/office/drawing/2014/main" id="{EB36A5DA-40BC-177B-EAA1-B4A11F3345E2}"/>
              </a:ext>
            </a:extLst>
          </p:cNvPr>
          <p:cNvSpPr>
            <a:spLocks noGrp="1" noChangeArrowheads="1"/>
          </p:cNvSpPr>
          <p:nvPr>
            <p:ph type="sldNum" sz="quarter" idx="12"/>
          </p:nvPr>
        </p:nvSpPr>
        <p:spPr>
          <a:ln/>
        </p:spPr>
        <p:txBody>
          <a:bodyPr/>
          <a:lstStyle>
            <a:lvl1pPr>
              <a:defRPr/>
            </a:lvl1pPr>
          </a:lstStyle>
          <a:p>
            <a:pPr>
              <a:defRPr/>
            </a:pPr>
            <a:fld id="{08DF2738-FFDC-4043-8127-4C159F2414E6}" type="slidenum">
              <a:rPr lang="zh-CN" altLang="en-US"/>
              <a:pPr>
                <a:defRPr/>
              </a:pPr>
              <a:t>‹#›</a:t>
            </a:fld>
            <a:endParaRPr lang="en-US" altLang="zh-CN"/>
          </a:p>
        </p:txBody>
      </p:sp>
    </p:spTree>
    <p:extLst>
      <p:ext uri="{BB962C8B-B14F-4D97-AF65-F5344CB8AC3E}">
        <p14:creationId xmlns:p14="http://schemas.microsoft.com/office/powerpoint/2010/main" val="1068114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0663D7C4-49C6-536F-AD5D-F6E09E62F9F4}"/>
              </a:ext>
            </a:extLst>
          </p:cNvPr>
          <p:cNvSpPr>
            <a:spLocks noGrp="1" noChangeArrowheads="1"/>
          </p:cNvSpPr>
          <p:nvPr>
            <p:ph type="dt" sz="half" idx="10"/>
          </p:nvPr>
        </p:nvSpPr>
        <p:spPr>
          <a:ln/>
        </p:spPr>
        <p:txBody>
          <a:bodyPr/>
          <a:lstStyle>
            <a:lvl1pPr>
              <a:defRPr/>
            </a:lvl1pPr>
          </a:lstStyle>
          <a:p>
            <a:pPr>
              <a:defRPr/>
            </a:pPr>
            <a:fld id="{71AEC172-FCA0-854E-97E2-D68CF5465AEF}" type="datetime1">
              <a:rPr lang="zh-CN" altLang="en-US"/>
              <a:pPr>
                <a:defRPr/>
              </a:pPr>
              <a:t>2024/10/14</a:t>
            </a:fld>
            <a:endParaRPr lang="en-US" altLang="zh-CN"/>
          </a:p>
        </p:txBody>
      </p:sp>
      <p:sp>
        <p:nvSpPr>
          <p:cNvPr id="6" name="Rectangle 5">
            <a:extLst>
              <a:ext uri="{FF2B5EF4-FFF2-40B4-BE49-F238E27FC236}">
                <a16:creationId xmlns:a16="http://schemas.microsoft.com/office/drawing/2014/main" id="{EA42CB64-3F78-32C6-4400-4867C44D4070}"/>
              </a:ext>
            </a:extLst>
          </p:cNvPr>
          <p:cNvSpPr>
            <a:spLocks noGrp="1" noChangeArrowheads="1"/>
          </p:cNvSpPr>
          <p:nvPr>
            <p:ph type="ftr" sz="quarter" idx="11"/>
          </p:nvPr>
        </p:nvSpPr>
        <p:spPr>
          <a:ln/>
        </p:spPr>
        <p:txBody>
          <a:bodyPr/>
          <a:lstStyle>
            <a:lvl1pPr>
              <a:defRPr/>
            </a:lvl1pPr>
          </a:lstStyle>
          <a:p>
            <a:pPr>
              <a:defRPr/>
            </a:pPr>
            <a:r>
              <a:rPr lang="zh-CN" altLang="en-US"/>
              <a:t>Compilers Autumn 2002</a:t>
            </a:r>
            <a:endParaRPr lang="en-US" altLang="zh-CN"/>
          </a:p>
        </p:txBody>
      </p:sp>
      <p:sp>
        <p:nvSpPr>
          <p:cNvPr id="7" name="Rectangle 6">
            <a:extLst>
              <a:ext uri="{FF2B5EF4-FFF2-40B4-BE49-F238E27FC236}">
                <a16:creationId xmlns:a16="http://schemas.microsoft.com/office/drawing/2014/main" id="{7EA10CA6-8DDB-8ECD-F553-3DC9D9036502}"/>
              </a:ext>
            </a:extLst>
          </p:cNvPr>
          <p:cNvSpPr>
            <a:spLocks noGrp="1" noChangeArrowheads="1"/>
          </p:cNvSpPr>
          <p:nvPr>
            <p:ph type="sldNum" sz="quarter" idx="12"/>
          </p:nvPr>
        </p:nvSpPr>
        <p:spPr>
          <a:ln/>
        </p:spPr>
        <p:txBody>
          <a:bodyPr/>
          <a:lstStyle>
            <a:lvl1pPr>
              <a:defRPr/>
            </a:lvl1pPr>
          </a:lstStyle>
          <a:p>
            <a:pPr>
              <a:defRPr/>
            </a:pPr>
            <a:fld id="{9DD71956-B953-3144-9F41-6A951674D871}" type="slidenum">
              <a:rPr lang="zh-CN" altLang="en-US"/>
              <a:pPr>
                <a:defRPr/>
              </a:pPr>
              <a:t>‹#›</a:t>
            </a:fld>
            <a:endParaRPr lang="en-US" altLang="zh-CN"/>
          </a:p>
        </p:txBody>
      </p:sp>
    </p:spTree>
    <p:extLst>
      <p:ext uri="{BB962C8B-B14F-4D97-AF65-F5344CB8AC3E}">
        <p14:creationId xmlns:p14="http://schemas.microsoft.com/office/powerpoint/2010/main" val="3163496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5F2BAFA5-9AFA-FFA1-6D1C-8AE7C485E3C3}"/>
              </a:ext>
            </a:extLst>
          </p:cNvPr>
          <p:cNvSpPr>
            <a:spLocks noGrp="1" noChangeArrowheads="1"/>
          </p:cNvSpPr>
          <p:nvPr>
            <p:ph type="dt" sz="half" idx="10"/>
          </p:nvPr>
        </p:nvSpPr>
        <p:spPr>
          <a:ln/>
        </p:spPr>
        <p:txBody>
          <a:bodyPr/>
          <a:lstStyle>
            <a:lvl1pPr>
              <a:defRPr/>
            </a:lvl1pPr>
          </a:lstStyle>
          <a:p>
            <a:pPr>
              <a:defRPr/>
            </a:pPr>
            <a:fld id="{8D5D7CDE-4878-6A45-A5B9-658BC035C6DA}" type="datetime1">
              <a:rPr lang="zh-CN" altLang="en-US"/>
              <a:pPr>
                <a:defRPr/>
              </a:pPr>
              <a:t>2024/10/14</a:t>
            </a:fld>
            <a:endParaRPr lang="en-US" altLang="zh-CN"/>
          </a:p>
        </p:txBody>
      </p:sp>
      <p:sp>
        <p:nvSpPr>
          <p:cNvPr id="6" name="Rectangle 5">
            <a:extLst>
              <a:ext uri="{FF2B5EF4-FFF2-40B4-BE49-F238E27FC236}">
                <a16:creationId xmlns:a16="http://schemas.microsoft.com/office/drawing/2014/main" id="{11540C5F-7237-67C1-4BBD-A27018EE5332}"/>
              </a:ext>
            </a:extLst>
          </p:cNvPr>
          <p:cNvSpPr>
            <a:spLocks noGrp="1" noChangeArrowheads="1"/>
          </p:cNvSpPr>
          <p:nvPr>
            <p:ph type="ftr" sz="quarter" idx="11"/>
          </p:nvPr>
        </p:nvSpPr>
        <p:spPr>
          <a:ln/>
        </p:spPr>
        <p:txBody>
          <a:bodyPr/>
          <a:lstStyle>
            <a:lvl1pPr>
              <a:defRPr/>
            </a:lvl1pPr>
          </a:lstStyle>
          <a:p>
            <a:pPr>
              <a:defRPr/>
            </a:pPr>
            <a:r>
              <a:rPr lang="zh-CN" altLang="en-US"/>
              <a:t>Compilers Autumn 2002</a:t>
            </a:r>
            <a:endParaRPr lang="en-US" altLang="zh-CN"/>
          </a:p>
        </p:txBody>
      </p:sp>
      <p:sp>
        <p:nvSpPr>
          <p:cNvPr id="7" name="Rectangle 6">
            <a:extLst>
              <a:ext uri="{FF2B5EF4-FFF2-40B4-BE49-F238E27FC236}">
                <a16:creationId xmlns:a16="http://schemas.microsoft.com/office/drawing/2014/main" id="{946F5DB0-0683-E5E5-E309-6EFE8E08B5D0}"/>
              </a:ext>
            </a:extLst>
          </p:cNvPr>
          <p:cNvSpPr>
            <a:spLocks noGrp="1" noChangeArrowheads="1"/>
          </p:cNvSpPr>
          <p:nvPr>
            <p:ph type="sldNum" sz="quarter" idx="12"/>
          </p:nvPr>
        </p:nvSpPr>
        <p:spPr>
          <a:ln/>
        </p:spPr>
        <p:txBody>
          <a:bodyPr/>
          <a:lstStyle>
            <a:lvl1pPr>
              <a:defRPr/>
            </a:lvl1pPr>
          </a:lstStyle>
          <a:p>
            <a:pPr>
              <a:defRPr/>
            </a:pPr>
            <a:fld id="{9CEB601C-4DE7-4F4E-ABF9-6A90F6E0AB0B}" type="slidenum">
              <a:rPr lang="zh-CN" altLang="en-US"/>
              <a:pPr>
                <a:defRPr/>
              </a:pPr>
              <a:t>‹#›</a:t>
            </a:fld>
            <a:endParaRPr lang="en-US" altLang="zh-CN"/>
          </a:p>
        </p:txBody>
      </p:sp>
    </p:spTree>
    <p:extLst>
      <p:ext uri="{BB962C8B-B14F-4D97-AF65-F5344CB8AC3E}">
        <p14:creationId xmlns:p14="http://schemas.microsoft.com/office/powerpoint/2010/main" val="2625848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C6CA23F-9098-BFC9-6BCE-664A14304C1E}"/>
              </a:ext>
            </a:extLst>
          </p:cNvPr>
          <p:cNvSpPr>
            <a:spLocks noGrp="1" noChangeArrowheads="1"/>
          </p:cNvSpPr>
          <p:nvPr>
            <p:ph type="dt" sz="half" idx="10"/>
          </p:nvPr>
        </p:nvSpPr>
        <p:spPr>
          <a:ln/>
        </p:spPr>
        <p:txBody>
          <a:bodyPr/>
          <a:lstStyle>
            <a:lvl1pPr>
              <a:defRPr/>
            </a:lvl1pPr>
          </a:lstStyle>
          <a:p>
            <a:pPr>
              <a:defRPr/>
            </a:pPr>
            <a:fld id="{13087EF0-B535-C04F-AF04-83C886351CEB}" type="datetime1">
              <a:rPr lang="zh-CN" altLang="en-US"/>
              <a:pPr>
                <a:defRPr/>
              </a:pPr>
              <a:t>2024/10/14</a:t>
            </a:fld>
            <a:endParaRPr lang="en-US" altLang="zh-CN"/>
          </a:p>
        </p:txBody>
      </p:sp>
      <p:sp>
        <p:nvSpPr>
          <p:cNvPr id="5" name="Rectangle 5">
            <a:extLst>
              <a:ext uri="{FF2B5EF4-FFF2-40B4-BE49-F238E27FC236}">
                <a16:creationId xmlns:a16="http://schemas.microsoft.com/office/drawing/2014/main" id="{70ECE0F1-4D35-2746-3CCC-E31588C14B1A}"/>
              </a:ext>
            </a:extLst>
          </p:cNvPr>
          <p:cNvSpPr>
            <a:spLocks noGrp="1" noChangeArrowheads="1"/>
          </p:cNvSpPr>
          <p:nvPr>
            <p:ph type="ftr" sz="quarter" idx="11"/>
          </p:nvPr>
        </p:nvSpPr>
        <p:spPr>
          <a:ln/>
        </p:spPr>
        <p:txBody>
          <a:bodyPr/>
          <a:lstStyle>
            <a:lvl1pPr>
              <a:defRPr/>
            </a:lvl1pPr>
          </a:lstStyle>
          <a:p>
            <a:pPr>
              <a:defRPr/>
            </a:pPr>
            <a:r>
              <a:rPr lang="zh-CN" altLang="en-US"/>
              <a:t>Compilers Autumn 2002</a:t>
            </a:r>
            <a:endParaRPr lang="en-US" altLang="zh-CN"/>
          </a:p>
        </p:txBody>
      </p:sp>
      <p:sp>
        <p:nvSpPr>
          <p:cNvPr id="6" name="Rectangle 6">
            <a:extLst>
              <a:ext uri="{FF2B5EF4-FFF2-40B4-BE49-F238E27FC236}">
                <a16:creationId xmlns:a16="http://schemas.microsoft.com/office/drawing/2014/main" id="{7A3CE2D5-F103-C553-D54E-1493350770AE}"/>
              </a:ext>
            </a:extLst>
          </p:cNvPr>
          <p:cNvSpPr>
            <a:spLocks noGrp="1" noChangeArrowheads="1"/>
          </p:cNvSpPr>
          <p:nvPr>
            <p:ph type="sldNum" sz="quarter" idx="12"/>
          </p:nvPr>
        </p:nvSpPr>
        <p:spPr>
          <a:ln/>
        </p:spPr>
        <p:txBody>
          <a:bodyPr/>
          <a:lstStyle>
            <a:lvl1pPr>
              <a:defRPr/>
            </a:lvl1pPr>
          </a:lstStyle>
          <a:p>
            <a:pPr>
              <a:defRPr/>
            </a:pPr>
            <a:fld id="{5274A4C0-FD6B-4F43-828F-DFD26D790693}" type="slidenum">
              <a:rPr lang="zh-CN" altLang="en-US"/>
              <a:pPr>
                <a:defRPr/>
              </a:pPr>
              <a:t>‹#›</a:t>
            </a:fld>
            <a:endParaRPr lang="en-US" altLang="zh-CN"/>
          </a:p>
        </p:txBody>
      </p:sp>
    </p:spTree>
    <p:extLst>
      <p:ext uri="{BB962C8B-B14F-4D97-AF65-F5344CB8AC3E}">
        <p14:creationId xmlns:p14="http://schemas.microsoft.com/office/powerpoint/2010/main" val="3591424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457200"/>
            <a:ext cx="2076450" cy="55626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76950" cy="55626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C33CD5D-73FC-0CE2-36B0-64BE839D371B}"/>
              </a:ext>
            </a:extLst>
          </p:cNvPr>
          <p:cNvSpPr>
            <a:spLocks noGrp="1" noChangeArrowheads="1"/>
          </p:cNvSpPr>
          <p:nvPr>
            <p:ph type="dt" sz="half" idx="10"/>
          </p:nvPr>
        </p:nvSpPr>
        <p:spPr>
          <a:ln/>
        </p:spPr>
        <p:txBody>
          <a:bodyPr/>
          <a:lstStyle>
            <a:lvl1pPr>
              <a:defRPr/>
            </a:lvl1pPr>
          </a:lstStyle>
          <a:p>
            <a:pPr>
              <a:defRPr/>
            </a:pPr>
            <a:fld id="{8F90FCBD-8C50-6F47-BCC3-344743CC2817}" type="datetime1">
              <a:rPr lang="zh-CN" altLang="en-US"/>
              <a:pPr>
                <a:defRPr/>
              </a:pPr>
              <a:t>2024/10/14</a:t>
            </a:fld>
            <a:endParaRPr lang="en-US" altLang="zh-CN"/>
          </a:p>
        </p:txBody>
      </p:sp>
      <p:sp>
        <p:nvSpPr>
          <p:cNvPr id="5" name="Rectangle 5">
            <a:extLst>
              <a:ext uri="{FF2B5EF4-FFF2-40B4-BE49-F238E27FC236}">
                <a16:creationId xmlns:a16="http://schemas.microsoft.com/office/drawing/2014/main" id="{35D3BE20-E0D4-AADE-9237-5C910B52BAB3}"/>
              </a:ext>
            </a:extLst>
          </p:cNvPr>
          <p:cNvSpPr>
            <a:spLocks noGrp="1" noChangeArrowheads="1"/>
          </p:cNvSpPr>
          <p:nvPr>
            <p:ph type="ftr" sz="quarter" idx="11"/>
          </p:nvPr>
        </p:nvSpPr>
        <p:spPr>
          <a:ln/>
        </p:spPr>
        <p:txBody>
          <a:bodyPr/>
          <a:lstStyle>
            <a:lvl1pPr>
              <a:defRPr/>
            </a:lvl1pPr>
          </a:lstStyle>
          <a:p>
            <a:pPr>
              <a:defRPr/>
            </a:pPr>
            <a:r>
              <a:rPr lang="zh-CN" altLang="en-US"/>
              <a:t>Compilers Autumn 2002</a:t>
            </a:r>
            <a:endParaRPr lang="en-US" altLang="zh-CN"/>
          </a:p>
        </p:txBody>
      </p:sp>
      <p:sp>
        <p:nvSpPr>
          <p:cNvPr id="6" name="Rectangle 6">
            <a:extLst>
              <a:ext uri="{FF2B5EF4-FFF2-40B4-BE49-F238E27FC236}">
                <a16:creationId xmlns:a16="http://schemas.microsoft.com/office/drawing/2014/main" id="{58A4845A-B093-4A7F-91C3-DA718B02D28C}"/>
              </a:ext>
            </a:extLst>
          </p:cNvPr>
          <p:cNvSpPr>
            <a:spLocks noGrp="1" noChangeArrowheads="1"/>
          </p:cNvSpPr>
          <p:nvPr>
            <p:ph type="sldNum" sz="quarter" idx="12"/>
          </p:nvPr>
        </p:nvSpPr>
        <p:spPr>
          <a:ln/>
        </p:spPr>
        <p:txBody>
          <a:bodyPr/>
          <a:lstStyle>
            <a:lvl1pPr>
              <a:defRPr/>
            </a:lvl1pPr>
          </a:lstStyle>
          <a:p>
            <a:pPr>
              <a:defRPr/>
            </a:pPr>
            <a:fld id="{3CE8219B-7AA7-0B40-9639-80533D3FC588}" type="slidenum">
              <a:rPr lang="zh-CN" altLang="en-US"/>
              <a:pPr>
                <a:defRPr/>
              </a:pPr>
              <a:t>‹#›</a:t>
            </a:fld>
            <a:endParaRPr lang="en-US" altLang="zh-CN"/>
          </a:p>
        </p:txBody>
      </p:sp>
    </p:spTree>
    <p:extLst>
      <p:ext uri="{BB962C8B-B14F-4D97-AF65-F5344CB8AC3E}">
        <p14:creationId xmlns:p14="http://schemas.microsoft.com/office/powerpoint/2010/main" val="3488957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lvl="0"/>
            <a:r>
              <a:rPr lang="zh-CN" altLang="en-US" dirty="0"/>
              <a:t>单击此处编辑母版标题样式</a:t>
            </a:r>
          </a:p>
        </p:txBody>
      </p:sp>
      <p:sp>
        <p:nvSpPr>
          <p:cNvPr id="9" name="文本占位符 6"/>
          <p:cNvSpPr>
            <a:spLocks noGrp="1"/>
          </p:cNvSpPr>
          <p:nvPr>
            <p:ph type="body" sz="quarter" idx="10"/>
          </p:nvPr>
        </p:nvSpPr>
        <p:spPr>
          <a:xfrm>
            <a:off x="548878" y="1047751"/>
            <a:ext cx="804624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a:t>单击此处编辑母版文本样式</a:t>
            </a:r>
          </a:p>
        </p:txBody>
      </p:sp>
    </p:spTree>
    <p:extLst>
      <p:ext uri="{BB962C8B-B14F-4D97-AF65-F5344CB8AC3E}">
        <p14:creationId xmlns:p14="http://schemas.microsoft.com/office/powerpoint/2010/main" val="8630846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14#学习推荐(可选)">
    <p:spTree>
      <p:nvGrpSpPr>
        <p:cNvPr id="1" name=""/>
        <p:cNvGrpSpPr/>
        <p:nvPr/>
      </p:nvGrpSpPr>
      <p:grpSpPr>
        <a:xfrm>
          <a:off x="0" y="0"/>
          <a:ext cx="0" cy="0"/>
          <a:chOff x="0" y="0"/>
          <a:chExt cx="0" cy="0"/>
        </a:xfrm>
      </p:grpSpPr>
      <p:cxnSp>
        <p:nvCxnSpPr>
          <p:cNvPr id="2" name="直线连接符 14">
            <a:extLst>
              <a:ext uri="{FF2B5EF4-FFF2-40B4-BE49-F238E27FC236}">
                <a16:creationId xmlns:a16="http://schemas.microsoft.com/office/drawing/2014/main" id="{43CAC1DC-BD13-1E0C-DFBE-BABC749C92F1}"/>
              </a:ext>
            </a:extLst>
          </p:cNvPr>
          <p:cNvCxnSpPr>
            <a:cxnSpLocks/>
          </p:cNvCxnSpPr>
          <p:nvPr userDrawn="1"/>
        </p:nvCxnSpPr>
        <p:spPr>
          <a:xfrm flipH="1">
            <a:off x="773113" y="1349375"/>
            <a:ext cx="1349375"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a:extLst>
              <a:ext uri="{FF2B5EF4-FFF2-40B4-BE49-F238E27FC236}">
                <a16:creationId xmlns:a16="http://schemas.microsoft.com/office/drawing/2014/main" id="{D1D95109-8DA0-BAFE-5128-4F6E416F9F2B}"/>
              </a:ext>
            </a:extLst>
          </p:cNvPr>
          <p:cNvSpPr txBox="1"/>
          <p:nvPr userDrawn="1"/>
        </p:nvSpPr>
        <p:spPr>
          <a:xfrm>
            <a:off x="688975" y="630238"/>
            <a:ext cx="1582738" cy="512762"/>
          </a:xfrm>
          <a:prstGeom prst="rect">
            <a:avLst/>
          </a:prstGeom>
          <a:noFill/>
        </p:spPr>
        <p:txBody>
          <a:bodyPr wrap="none">
            <a:spAutoFit/>
          </a:bodyPr>
          <a:lstStyle/>
          <a:p>
            <a:pPr>
              <a:defRPr/>
            </a:pPr>
            <a:r>
              <a:rPr kumimoji="1" lang="zh-CN" altLang="en-US" sz="2727" dirty="0">
                <a:solidFill>
                  <a:srgbClr val="404040"/>
                </a:solidFill>
                <a:latin typeface="Huawei Sans" panose="020C0503030203020204" pitchFamily="34" charset="0"/>
                <a:ea typeface="方正兰亭黑简体" panose="02000000000000000000" pitchFamily="2" charset="-122"/>
                <a:cs typeface="Microsoft YaHei" charset="-122"/>
              </a:rPr>
              <a:t>学习推荐</a:t>
            </a:r>
          </a:p>
        </p:txBody>
      </p:sp>
      <p:sp>
        <p:nvSpPr>
          <p:cNvPr id="3" name="文本占位符 6"/>
          <p:cNvSpPr>
            <a:spLocks noGrp="1"/>
          </p:cNvSpPr>
          <p:nvPr>
            <p:ph type="body" sz="quarter" idx="10"/>
          </p:nvPr>
        </p:nvSpPr>
        <p:spPr>
          <a:xfrm>
            <a:off x="764381" y="1844675"/>
            <a:ext cx="7615238"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spTree>
    <p:extLst>
      <p:ext uri="{BB962C8B-B14F-4D97-AF65-F5344CB8AC3E}">
        <p14:creationId xmlns:p14="http://schemas.microsoft.com/office/powerpoint/2010/main" val="2811601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26EB6AA-AC15-E1AF-A702-4DC67776CDBB}"/>
              </a:ext>
            </a:extLst>
          </p:cNvPr>
          <p:cNvSpPr>
            <a:spLocks noGrp="1" noChangeArrowheads="1"/>
          </p:cNvSpPr>
          <p:nvPr>
            <p:ph type="title"/>
          </p:nvPr>
        </p:nvSpPr>
        <p:spPr bwMode="auto">
          <a:xfrm>
            <a:off x="457200" y="457200"/>
            <a:ext cx="8077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1027" name="Rectangle 3">
            <a:extLst>
              <a:ext uri="{FF2B5EF4-FFF2-40B4-BE49-F238E27FC236}">
                <a16:creationId xmlns:a16="http://schemas.microsoft.com/office/drawing/2014/main" id="{403BB2C0-74BC-9827-6FE6-87193BBB677D}"/>
              </a:ext>
            </a:extLst>
          </p:cNvPr>
          <p:cNvSpPr>
            <a:spLocks noGrp="1" noChangeArrowheads="1"/>
          </p:cNvSpPr>
          <p:nvPr>
            <p:ph type="body" idx="1"/>
          </p:nvPr>
        </p:nvSpPr>
        <p:spPr bwMode="auto">
          <a:xfrm>
            <a:off x="457200" y="1600200"/>
            <a:ext cx="83058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3076" name="Rectangle 4">
            <a:extLst>
              <a:ext uri="{FF2B5EF4-FFF2-40B4-BE49-F238E27FC236}">
                <a16:creationId xmlns:a16="http://schemas.microsoft.com/office/drawing/2014/main" id="{E5A7D0E0-00A9-933B-C4BC-7EAA7515EE4F}"/>
              </a:ext>
            </a:extLst>
          </p:cNvPr>
          <p:cNvSpPr>
            <a:spLocks noGrp="1" noChangeArrowheads="1"/>
          </p:cNvSpPr>
          <p:nvPr>
            <p:ph type="dt" sz="half" idx="2"/>
          </p:nvPr>
        </p:nvSpPr>
        <p:spPr bwMode="auto">
          <a:xfrm>
            <a:off x="838200" y="6172200"/>
            <a:ext cx="1524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b="0">
                <a:latin typeface="Times New Roman" pitchFamily="18" charset="0"/>
                <a:ea typeface="宋体" pitchFamily="2" charset="-122"/>
              </a:defRPr>
            </a:lvl1pPr>
          </a:lstStyle>
          <a:p>
            <a:pPr>
              <a:defRPr/>
            </a:pPr>
            <a:fld id="{C5CF137F-A637-AD42-A2C5-B6AB4CC4277E}" type="datetime1">
              <a:rPr lang="zh-CN" altLang="en-US"/>
              <a:pPr>
                <a:defRPr/>
              </a:pPr>
              <a:t>2024/10/14</a:t>
            </a:fld>
            <a:endParaRPr lang="en-US" altLang="zh-CN"/>
          </a:p>
        </p:txBody>
      </p:sp>
      <p:sp>
        <p:nvSpPr>
          <p:cNvPr id="3077" name="Rectangle 5">
            <a:extLst>
              <a:ext uri="{FF2B5EF4-FFF2-40B4-BE49-F238E27FC236}">
                <a16:creationId xmlns:a16="http://schemas.microsoft.com/office/drawing/2014/main" id="{E430DB23-519C-B571-073C-42CE74CB0040}"/>
              </a:ext>
            </a:extLst>
          </p:cNvPr>
          <p:cNvSpPr>
            <a:spLocks noGrp="1" noChangeArrowheads="1"/>
          </p:cNvSpPr>
          <p:nvPr>
            <p:ph type="ftr" sz="quarter" idx="3"/>
          </p:nvPr>
        </p:nvSpPr>
        <p:spPr bwMode="auto">
          <a:xfrm>
            <a:off x="2590800" y="6172200"/>
            <a:ext cx="411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latin typeface="Times New Roman" panose="02020603050405020304" pitchFamily="18" charset="0"/>
              </a:defRPr>
            </a:lvl1pPr>
          </a:lstStyle>
          <a:p>
            <a:pPr>
              <a:defRPr/>
            </a:pPr>
            <a:r>
              <a:rPr lang="zh-CN" altLang="en-US"/>
              <a:t>Compilers Autumn 2002</a:t>
            </a:r>
            <a:endParaRPr lang="en-US" altLang="zh-CN"/>
          </a:p>
        </p:txBody>
      </p:sp>
      <p:sp>
        <p:nvSpPr>
          <p:cNvPr id="3078" name="Rectangle 6">
            <a:extLst>
              <a:ext uri="{FF2B5EF4-FFF2-40B4-BE49-F238E27FC236}">
                <a16:creationId xmlns:a16="http://schemas.microsoft.com/office/drawing/2014/main" id="{BBC4425A-9969-80F0-88EC-3747EFA2534B}"/>
              </a:ext>
            </a:extLst>
          </p:cNvPr>
          <p:cNvSpPr>
            <a:spLocks noGrp="1" noChangeArrowheads="1"/>
          </p:cNvSpPr>
          <p:nvPr>
            <p:ph type="sldNum" sz="quarter" idx="4"/>
          </p:nvPr>
        </p:nvSpPr>
        <p:spPr bwMode="auto">
          <a:xfrm>
            <a:off x="6934200" y="6172200"/>
            <a:ext cx="1295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pPr>
              <a:defRPr/>
            </a:pPr>
            <a:fld id="{A34700E0-9B3D-7440-AAE5-816AE66A6509}" type="slidenum">
              <a:rPr lang="zh-CN" altLang="en-US"/>
              <a:pPr>
                <a:defRPr/>
              </a:pPr>
              <a:t>‹#›</a:t>
            </a:fld>
            <a:endParaRPr lang="en-US" altLang="zh-CN"/>
          </a:p>
        </p:txBody>
      </p:sp>
      <p:sp>
        <p:nvSpPr>
          <p:cNvPr id="1031" name="Line 7">
            <a:extLst>
              <a:ext uri="{FF2B5EF4-FFF2-40B4-BE49-F238E27FC236}">
                <a16:creationId xmlns:a16="http://schemas.microsoft.com/office/drawing/2014/main" id="{56D484C2-24F7-C34E-7184-C8D2674A5494}"/>
              </a:ext>
            </a:extLst>
          </p:cNvPr>
          <p:cNvSpPr>
            <a:spLocks noChangeShapeType="1"/>
          </p:cNvSpPr>
          <p:nvPr/>
        </p:nvSpPr>
        <p:spPr bwMode="auto">
          <a:xfrm>
            <a:off x="457200" y="1371600"/>
            <a:ext cx="80772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 bg1="lt1" tx1="dk1" bg2="lt2" tx2="dk2" accent1="accent1" accent2="accent2" accent3="accent3" accent4="accent4" accent5="accent5" accent6="accent6" hlink="hlink" folHlink="folHlink"/>
  <p:sldLayoutIdLst>
    <p:sldLayoutId id="2147484304" r:id="rId1"/>
    <p:sldLayoutId id="2147484294" r:id="rId2"/>
    <p:sldLayoutId id="2147484295" r:id="rId3"/>
    <p:sldLayoutId id="2147484296" r:id="rId4"/>
    <p:sldLayoutId id="2147484297" r:id="rId5"/>
    <p:sldLayoutId id="2147484298" r:id="rId6"/>
    <p:sldLayoutId id="2147484299" r:id="rId7"/>
    <p:sldLayoutId id="2147484300" r:id="rId8"/>
    <p:sldLayoutId id="2147484301" r:id="rId9"/>
    <p:sldLayoutId id="2147484302" r:id="rId10"/>
    <p:sldLayoutId id="2147484303" r:id="rId11"/>
    <p:sldLayoutId id="2147484305" r:id="rId12"/>
    <p:sldLayoutId id="2147484306" r:id="rId13"/>
  </p:sldLayoutIdLst>
  <p:hf hdr="0" ftr="0" dt="0"/>
  <p:txStyles>
    <p:title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Comic Sans MS" pitchFamily="66" charset="0"/>
        </a:defRPr>
      </a:lvl2pPr>
      <a:lvl3pPr algn="l" rtl="0" eaLnBrk="0" fontAlgn="base" hangingPunct="0">
        <a:spcBef>
          <a:spcPct val="0"/>
        </a:spcBef>
        <a:spcAft>
          <a:spcPct val="0"/>
        </a:spcAft>
        <a:defRPr sz="2800" b="1">
          <a:solidFill>
            <a:schemeClr val="tx2"/>
          </a:solidFill>
          <a:latin typeface="Comic Sans MS" pitchFamily="66" charset="0"/>
        </a:defRPr>
      </a:lvl3pPr>
      <a:lvl4pPr algn="l" rtl="0" eaLnBrk="0" fontAlgn="base" hangingPunct="0">
        <a:spcBef>
          <a:spcPct val="0"/>
        </a:spcBef>
        <a:spcAft>
          <a:spcPct val="0"/>
        </a:spcAft>
        <a:defRPr sz="2800" b="1">
          <a:solidFill>
            <a:schemeClr val="tx2"/>
          </a:solidFill>
          <a:latin typeface="Comic Sans MS" pitchFamily="66" charset="0"/>
        </a:defRPr>
      </a:lvl4pPr>
      <a:lvl5pPr algn="l" rtl="0" eaLnBrk="0" fontAlgn="base" hangingPunct="0">
        <a:spcBef>
          <a:spcPct val="0"/>
        </a:spcBef>
        <a:spcAft>
          <a:spcPct val="0"/>
        </a:spcAft>
        <a:defRPr sz="2800" b="1">
          <a:solidFill>
            <a:schemeClr val="tx2"/>
          </a:solidFill>
          <a:latin typeface="Comic Sans MS" pitchFamily="66" charset="0"/>
        </a:defRPr>
      </a:lvl5pPr>
      <a:lvl6pPr marL="457200" algn="l" rtl="0" eaLnBrk="0" fontAlgn="base" hangingPunct="0">
        <a:spcBef>
          <a:spcPct val="0"/>
        </a:spcBef>
        <a:spcAft>
          <a:spcPct val="0"/>
        </a:spcAft>
        <a:defRPr sz="2800" b="1">
          <a:solidFill>
            <a:schemeClr val="tx2"/>
          </a:solidFill>
          <a:latin typeface="Comic Sans MS" pitchFamily="66" charset="0"/>
        </a:defRPr>
      </a:lvl6pPr>
      <a:lvl7pPr marL="914400" algn="l" rtl="0" eaLnBrk="0" fontAlgn="base" hangingPunct="0">
        <a:spcBef>
          <a:spcPct val="0"/>
        </a:spcBef>
        <a:spcAft>
          <a:spcPct val="0"/>
        </a:spcAft>
        <a:defRPr sz="2800" b="1">
          <a:solidFill>
            <a:schemeClr val="tx2"/>
          </a:solidFill>
          <a:latin typeface="Comic Sans MS" pitchFamily="66" charset="0"/>
        </a:defRPr>
      </a:lvl7pPr>
      <a:lvl8pPr marL="1371600" algn="l" rtl="0" eaLnBrk="0" fontAlgn="base" hangingPunct="0">
        <a:spcBef>
          <a:spcPct val="0"/>
        </a:spcBef>
        <a:spcAft>
          <a:spcPct val="0"/>
        </a:spcAft>
        <a:defRPr sz="2800" b="1">
          <a:solidFill>
            <a:schemeClr val="tx2"/>
          </a:solidFill>
          <a:latin typeface="Comic Sans MS" pitchFamily="66" charset="0"/>
        </a:defRPr>
      </a:lvl8pPr>
      <a:lvl9pPr marL="1828800" algn="l" rtl="0" eaLnBrk="0" fontAlgn="base" hangingPunct="0">
        <a:spcBef>
          <a:spcPct val="0"/>
        </a:spcBef>
        <a:spcAft>
          <a:spcPct val="0"/>
        </a:spcAft>
        <a:defRPr sz="2800" b="1">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20.jpe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28.jpe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audio" Target="../media/audio3.bin"/><Relationship Id="rId2" Type="http://schemas.openxmlformats.org/officeDocument/2006/relationships/audio" Target="../media/audio2.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audio" Target="../media/audio3.bin"/><Relationship Id="rId1" Type="http://schemas.openxmlformats.org/officeDocument/2006/relationships/slideLayout" Target="../slideLayouts/slideLayout2.xml"/><Relationship Id="rId6" Type="http://schemas.openxmlformats.org/officeDocument/2006/relationships/image" Target="../media/image31.emf"/><Relationship Id="rId5" Type="http://schemas.openxmlformats.org/officeDocument/2006/relationships/oleObject" Target="../embeddings/oleObject2.bin"/><Relationship Id="rId4" Type="http://schemas.openxmlformats.org/officeDocument/2006/relationships/image" Target="../media/image30.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audio" Target="../media/audio3.bin"/><Relationship Id="rId1" Type="http://schemas.openxmlformats.org/officeDocument/2006/relationships/slideLayout" Target="../slideLayouts/slideLayout2.xml"/><Relationship Id="rId6" Type="http://schemas.openxmlformats.org/officeDocument/2006/relationships/image" Target="../media/image33.emf"/><Relationship Id="rId5" Type="http://schemas.openxmlformats.org/officeDocument/2006/relationships/oleObject" Target="../embeddings/oleObject4.bin"/><Relationship Id="rId4" Type="http://schemas.openxmlformats.org/officeDocument/2006/relationships/image" Target="../media/image32.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36.emf"/><Relationship Id="rId4" Type="http://schemas.openxmlformats.org/officeDocument/2006/relationships/oleObject" Target="../embeddings/oleObject6.bin"/></Relationships>
</file>

<file path=ppt/slides/_rels/slide2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37.emf"/><Relationship Id="rId4" Type="http://schemas.openxmlformats.org/officeDocument/2006/relationships/oleObject" Target="../embeddings/oleObject8.bin"/></Relationships>
</file>

<file path=ppt/slides/_rels/slide30.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image" Target="../media/image37.emf"/><Relationship Id="rId4" Type="http://schemas.openxmlformats.org/officeDocument/2006/relationships/oleObject" Target="../embeddings/oleObject10.bin"/></Relationships>
</file>

<file path=ppt/slides/_rels/slide3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11.bin"/><Relationship Id="rId1" Type="http://schemas.openxmlformats.org/officeDocument/2006/relationships/slideLayout" Target="../slideLayouts/slideLayout2.xml"/><Relationship Id="rId5" Type="http://schemas.openxmlformats.org/officeDocument/2006/relationships/image" Target="../media/image37.emf"/><Relationship Id="rId4" Type="http://schemas.openxmlformats.org/officeDocument/2006/relationships/oleObject" Target="../embeddings/oleObject12.bin"/></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jpe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65.png"/><Relationship Id="rId4" Type="http://schemas.openxmlformats.org/officeDocument/2006/relationships/image" Target="../media/image64.png"/></Relationships>
</file>

<file path=ppt/slides/_rels/slide5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68.jpeg"/><Relationship Id="rId4" Type="http://schemas.openxmlformats.org/officeDocument/2006/relationships/image" Target="../media/image67.jpeg"/></Relationships>
</file>

<file path=ppt/slides/_rels/slide52.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 Target="slide4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slide" Target="slide66.xml"/><Relationship Id="rId1" Type="http://schemas.openxmlformats.org/officeDocument/2006/relationships/slideLayout" Target="../slideLayouts/slideLayout2.xml"/><Relationship Id="rId4" Type="http://schemas.openxmlformats.org/officeDocument/2006/relationships/slide" Target="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7.jpeg"/></Relationships>
</file>

<file path=ppt/slides/_rels/slide78.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s>
</file>

<file path=ppt/slides/_rels/slide79.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hyperlink" Target="https://e.huawei.com/cn/talent/#/home" TargetMode="External"/><Relationship Id="rId7" Type="http://schemas.openxmlformats.org/officeDocument/2006/relationships/image" Target="../media/image88.png"/><Relationship Id="rId2" Type="http://schemas.openxmlformats.org/officeDocument/2006/relationships/notesSlide" Target="../notesSlides/notesSlide28.xml"/><Relationship Id="rId1" Type="http://schemas.openxmlformats.org/officeDocument/2006/relationships/slideLayout" Target="../slideLayouts/slideLayout13.xml"/><Relationship Id="rId6" Type="http://schemas.openxmlformats.org/officeDocument/2006/relationships/image" Target="../media/image87.png"/><Relationship Id="rId5" Type="http://schemas.openxmlformats.org/officeDocument/2006/relationships/hyperlink" Target="http://support.huawei.com/enterprise/" TargetMode="External"/><Relationship Id="rId4" Type="http://schemas.openxmlformats.org/officeDocument/2006/relationships/hyperlink" Target="http://enterprise.huawei.com/cn/" TargetMode="External"/><Relationship Id="rId9"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030">
            <a:extLst>
              <a:ext uri="{FF2B5EF4-FFF2-40B4-BE49-F238E27FC236}">
                <a16:creationId xmlns:a16="http://schemas.microsoft.com/office/drawing/2014/main" id="{42A54F96-E0B2-DB59-2304-2323121757C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EC604512-56F4-3C4A-90FE-8F4FC059D8E8}" type="slidenum">
              <a:rPr lang="zh-CN" altLang="en-US" sz="1400" smtClean="0">
                <a:latin typeface="Times New Roman" panose="02020603050405020304" pitchFamily="18" charset="0"/>
              </a:rPr>
              <a:pPr>
                <a:spcBef>
                  <a:spcPct val="0"/>
                </a:spcBef>
                <a:buFontTx/>
                <a:buNone/>
              </a:pPr>
              <a:t>1</a:t>
            </a:fld>
            <a:endParaRPr lang="en-US" altLang="zh-CN" sz="1400">
              <a:latin typeface="Times New Roman" panose="02020603050405020304" pitchFamily="18" charset="0"/>
            </a:endParaRPr>
          </a:p>
        </p:txBody>
      </p:sp>
      <p:sp>
        <p:nvSpPr>
          <p:cNvPr id="16386" name="Rectangle 2">
            <a:extLst>
              <a:ext uri="{FF2B5EF4-FFF2-40B4-BE49-F238E27FC236}">
                <a16:creationId xmlns:a16="http://schemas.microsoft.com/office/drawing/2014/main" id="{8F77DE1C-A102-0D90-9A6F-3822C36C87D3}"/>
              </a:ext>
            </a:extLst>
          </p:cNvPr>
          <p:cNvSpPr>
            <a:spLocks noGrp="1" noChangeArrowheads="1"/>
          </p:cNvSpPr>
          <p:nvPr>
            <p:ph type="ctrTitle"/>
          </p:nvPr>
        </p:nvSpPr>
        <p:spPr>
          <a:xfrm>
            <a:off x="685800" y="2133600"/>
            <a:ext cx="7772400" cy="1828800"/>
          </a:xfrm>
        </p:spPr>
        <p:txBody>
          <a:bodyPr/>
          <a:lstStyle/>
          <a:p>
            <a:r>
              <a:rPr lang="zh-CN" altLang="en-US" sz="3600">
                <a:ea typeface="宋体" panose="02010600030101010101" pitchFamily="2" charset="-122"/>
              </a:rPr>
              <a:t>程序的机器级表示（</a:t>
            </a:r>
            <a:r>
              <a:rPr lang="en-US" altLang="zh-CN" sz="3600">
                <a:ea typeface="宋体" panose="02010600030101010101" pitchFamily="2" charset="-122"/>
              </a:rPr>
              <a:t>1</a:t>
            </a:r>
            <a:r>
              <a:rPr lang="zh-CN" altLang="en-US" sz="3600">
                <a:ea typeface="宋体" panose="02010600030101010101" pitchFamily="2" charset="-122"/>
              </a:rPr>
              <a:t>）</a:t>
            </a:r>
            <a:endParaRPr lang="en-US" altLang="zh-CN" sz="3600">
              <a:ea typeface="宋体" panose="02010600030101010101" pitchFamily="2" charset="-122"/>
            </a:endParaRPr>
          </a:p>
        </p:txBody>
      </p:sp>
      <p:sp>
        <p:nvSpPr>
          <p:cNvPr id="16387" name="矩形 3">
            <a:extLst>
              <a:ext uri="{FF2B5EF4-FFF2-40B4-BE49-F238E27FC236}">
                <a16:creationId xmlns:a16="http://schemas.microsoft.com/office/drawing/2014/main" id="{04B6B689-A4EB-9B4B-BBC5-ADA3CA46955F}"/>
              </a:ext>
            </a:extLst>
          </p:cNvPr>
          <p:cNvSpPr>
            <a:spLocks noChangeArrowheads="1"/>
          </p:cNvSpPr>
          <p:nvPr/>
        </p:nvSpPr>
        <p:spPr bwMode="auto">
          <a:xfrm>
            <a:off x="3881438" y="4789488"/>
            <a:ext cx="13811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2400"/>
              <a:t>柴云鹏</a:t>
            </a:r>
            <a:endParaRPr lang="en-US" altLang="zh-CN" sz="2400"/>
          </a:p>
          <a:p>
            <a:pPr algn="ctr">
              <a:spcBef>
                <a:spcPct val="0"/>
              </a:spcBef>
              <a:buFontTx/>
              <a:buNone/>
            </a:pPr>
            <a:endParaRPr lang="en-US" altLang="zh-CN" sz="2400"/>
          </a:p>
          <a:p>
            <a:pPr algn="ctr">
              <a:spcBef>
                <a:spcPct val="0"/>
              </a:spcBef>
              <a:buFontTx/>
              <a:buNone/>
            </a:pPr>
            <a:r>
              <a:rPr lang="en-US" altLang="zh-CN" sz="2400"/>
              <a:t>2024.10</a:t>
            </a:r>
            <a:endParaRPr lang="zh-CN" altLang="en-US"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灯片编号占位符 5">
            <a:extLst>
              <a:ext uri="{FF2B5EF4-FFF2-40B4-BE49-F238E27FC236}">
                <a16:creationId xmlns:a16="http://schemas.microsoft.com/office/drawing/2014/main" id="{B5BBDC50-6166-1480-FEEE-DBA86751C8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296A28DB-854E-0B45-B440-4FCAE2942433}" type="slidenum">
              <a:rPr lang="zh-CN" altLang="en-US" sz="1400" smtClean="0">
                <a:latin typeface="Times New Roman" panose="02020603050405020304" pitchFamily="18" charset="0"/>
              </a:rPr>
              <a:pPr>
                <a:spcBef>
                  <a:spcPct val="0"/>
                </a:spcBef>
                <a:buFontTx/>
                <a:buNone/>
              </a:pPr>
              <a:t>2</a:t>
            </a:fld>
            <a:endParaRPr lang="en-US" altLang="zh-CN" sz="1400">
              <a:latin typeface="Times New Roman" panose="02020603050405020304" pitchFamily="18" charset="0"/>
            </a:endParaRPr>
          </a:p>
        </p:txBody>
      </p:sp>
      <p:sp>
        <p:nvSpPr>
          <p:cNvPr id="18434" name="Rectangle 2">
            <a:extLst>
              <a:ext uri="{FF2B5EF4-FFF2-40B4-BE49-F238E27FC236}">
                <a16:creationId xmlns:a16="http://schemas.microsoft.com/office/drawing/2014/main" id="{30BDDE43-F76D-D81C-34F5-8165DF0F6DB4}"/>
              </a:ext>
            </a:extLst>
          </p:cNvPr>
          <p:cNvSpPr>
            <a:spLocks noGrp="1" noChangeArrowheads="1"/>
          </p:cNvSpPr>
          <p:nvPr>
            <p:ph type="title"/>
          </p:nvPr>
        </p:nvSpPr>
        <p:spPr/>
        <p:txBody>
          <a:bodyPr/>
          <a:lstStyle/>
          <a:p>
            <a:r>
              <a:rPr lang="en-US" altLang="zh-CN">
                <a:ea typeface="宋体" panose="02010600030101010101" pitchFamily="2" charset="-122"/>
              </a:rPr>
              <a:t>Outline</a:t>
            </a:r>
          </a:p>
        </p:txBody>
      </p:sp>
      <p:sp>
        <p:nvSpPr>
          <p:cNvPr id="18435" name="Rectangle 3">
            <a:extLst>
              <a:ext uri="{FF2B5EF4-FFF2-40B4-BE49-F238E27FC236}">
                <a16:creationId xmlns:a16="http://schemas.microsoft.com/office/drawing/2014/main" id="{681F0D67-8778-57C6-D37E-D1988DB78BEF}"/>
              </a:ext>
            </a:extLst>
          </p:cNvPr>
          <p:cNvSpPr>
            <a:spLocks noGrp="1" noChangeArrowheads="1"/>
          </p:cNvSpPr>
          <p:nvPr>
            <p:ph type="body" idx="1"/>
          </p:nvPr>
        </p:nvSpPr>
        <p:spPr/>
        <p:txBody>
          <a:bodyPr/>
          <a:lstStyle/>
          <a:p>
            <a:r>
              <a:rPr lang="en-US" altLang="zh-CN" b="1">
                <a:solidFill>
                  <a:srgbClr val="C00000"/>
                </a:solidFill>
                <a:ea typeface="宋体" panose="02010600030101010101" pitchFamily="2" charset="-122"/>
              </a:rPr>
              <a:t>CPU</a:t>
            </a:r>
            <a:r>
              <a:rPr lang="zh-CN" altLang="en-US" b="1">
                <a:solidFill>
                  <a:srgbClr val="C00000"/>
                </a:solidFill>
                <a:ea typeface="宋体" panose="02010600030101010101" pitchFamily="2" charset="-122"/>
              </a:rPr>
              <a:t>发展</a:t>
            </a:r>
            <a:endParaRPr lang="en-US" altLang="zh-CN" b="1">
              <a:solidFill>
                <a:srgbClr val="C00000"/>
              </a:solidFill>
              <a:ea typeface="宋体" panose="02010600030101010101" pitchFamily="2" charset="-122"/>
            </a:endParaRPr>
          </a:p>
          <a:p>
            <a:r>
              <a:rPr kumimoji="1" lang="zh-CN" altLang="en-US">
                <a:ea typeface="宋体" panose="02010600030101010101" pitchFamily="2" charset="-122"/>
              </a:rPr>
              <a:t>自下而上：构建计算机体系</a:t>
            </a:r>
            <a:endParaRPr lang="en-US" altLang="zh-CN">
              <a:ea typeface="宋体" panose="02010600030101010101" pitchFamily="2" charset="-122"/>
            </a:endParaRPr>
          </a:p>
          <a:p>
            <a:r>
              <a:rPr lang="en-US" altLang="zh-CN">
                <a:ea typeface="宋体" panose="02010600030101010101" pitchFamily="2" charset="-122"/>
              </a:rPr>
              <a:t>CPU Architecture</a:t>
            </a:r>
          </a:p>
          <a:p>
            <a:r>
              <a:rPr lang="en-US" altLang="zh-CN">
                <a:ea typeface="宋体" panose="02010600030101010101" pitchFamily="2" charset="-122"/>
              </a:rPr>
              <a:t>Memory and Registers</a:t>
            </a:r>
          </a:p>
          <a:p>
            <a:r>
              <a:rPr lang="zh-CN" altLang="en-US">
                <a:ea typeface="宋体" panose="02010600030101010101" pitchFamily="2" charset="-122"/>
              </a:rPr>
              <a:t>处理器架构实例：华为鲲鹏处理器</a:t>
            </a:r>
            <a:endParaRPr lang="en-US" altLang="zh-CN">
              <a:ea typeface="宋体" panose="02010600030101010101" pitchFamily="2" charset="-122"/>
            </a:endParaRPr>
          </a:p>
          <a:p>
            <a:pPr>
              <a:buFontTx/>
              <a:buNone/>
            </a:pPr>
            <a:endParaRPr lang="en-US" altLang="zh-CN">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a:extLst>
              <a:ext uri="{FF2B5EF4-FFF2-40B4-BE49-F238E27FC236}">
                <a16:creationId xmlns:a16="http://schemas.microsoft.com/office/drawing/2014/main" id="{6DD271F8-6A15-278B-C37F-F7EDDFA1DD83}"/>
              </a:ext>
            </a:extLst>
          </p:cNvPr>
          <p:cNvSpPr>
            <a:spLocks noGrp="1" noChangeArrowheads="1"/>
          </p:cNvSpPr>
          <p:nvPr>
            <p:ph type="title"/>
          </p:nvPr>
        </p:nvSpPr>
        <p:spPr/>
        <p:txBody>
          <a:bodyPr/>
          <a:lstStyle/>
          <a:p>
            <a:r>
              <a:rPr kumimoji="1" lang="en-US" altLang="zh-CN">
                <a:ea typeface="宋体" panose="02010600030101010101" pitchFamily="2" charset="-122"/>
              </a:rPr>
              <a:t>ENIAC</a:t>
            </a:r>
            <a:endParaRPr kumimoji="1" lang="zh-CN" altLang="en-US">
              <a:ea typeface="宋体" panose="02010600030101010101" pitchFamily="2" charset="-122"/>
            </a:endParaRPr>
          </a:p>
        </p:txBody>
      </p:sp>
      <p:sp>
        <p:nvSpPr>
          <p:cNvPr id="20482" name="内容占位符 2">
            <a:extLst>
              <a:ext uri="{FF2B5EF4-FFF2-40B4-BE49-F238E27FC236}">
                <a16:creationId xmlns:a16="http://schemas.microsoft.com/office/drawing/2014/main" id="{B62AA06A-1121-573E-D883-D4FA6A45360F}"/>
              </a:ext>
            </a:extLst>
          </p:cNvPr>
          <p:cNvSpPr>
            <a:spLocks noGrp="1" noChangeArrowheads="1"/>
          </p:cNvSpPr>
          <p:nvPr>
            <p:ph idx="1"/>
          </p:nvPr>
        </p:nvSpPr>
        <p:spPr/>
        <p:txBody>
          <a:bodyPr/>
          <a:lstStyle/>
          <a:p>
            <a:r>
              <a:rPr kumimoji="1" lang="zh-CN" altLang="en-US">
                <a:ea typeface="宋体" panose="02010600030101010101" pitchFamily="2" charset="-122"/>
              </a:rPr>
              <a:t>第一台电子计算机，宾夕法尼亚大学，</a:t>
            </a:r>
            <a:r>
              <a:rPr kumimoji="1" lang="en-US" altLang="zh-CN">
                <a:ea typeface="宋体" panose="02010600030101010101" pitchFamily="2" charset="-122"/>
              </a:rPr>
              <a:t>1946</a:t>
            </a:r>
            <a:r>
              <a:rPr kumimoji="1" lang="zh-CN" altLang="en-US">
                <a:ea typeface="宋体" panose="02010600030101010101" pitchFamily="2" charset="-122"/>
              </a:rPr>
              <a:t>年</a:t>
            </a:r>
            <a:endParaRPr kumimoji="1" lang="en-US" altLang="zh-CN">
              <a:ea typeface="宋体" panose="02010600030101010101" pitchFamily="2" charset="-122"/>
            </a:endParaRPr>
          </a:p>
          <a:p>
            <a:pPr lvl="1"/>
            <a:r>
              <a:rPr lang="zh-CN" altLang="en-US">
                <a:ea typeface="宋体" panose="02010600030101010101" pitchFamily="2" charset="-122"/>
              </a:rPr>
              <a:t>建造的目的是取代人工，计算导弹弹道</a:t>
            </a:r>
            <a:endParaRPr lang="en-US" altLang="zh-CN">
              <a:ea typeface="宋体" panose="02010600030101010101" pitchFamily="2" charset="-122"/>
            </a:endParaRPr>
          </a:p>
          <a:p>
            <a:pPr lvl="1"/>
            <a:r>
              <a:rPr lang="en-US" altLang="zh-CN">
                <a:ea typeface="宋体" panose="02010600030101010101" pitchFamily="2" charset="-122"/>
              </a:rPr>
              <a:t>ENIAC</a:t>
            </a:r>
            <a:r>
              <a:rPr lang="zh-CN" altLang="en-US">
                <a:ea typeface="宋体" panose="02010600030101010101" pitchFamily="2" charset="-122"/>
              </a:rPr>
              <a:t>用了</a:t>
            </a:r>
            <a:r>
              <a:rPr lang="en-US" altLang="zh-CN">
                <a:ea typeface="宋体" panose="02010600030101010101" pitchFamily="2" charset="-122"/>
              </a:rPr>
              <a:t>18000</a:t>
            </a:r>
            <a:r>
              <a:rPr lang="zh-CN" altLang="en-US">
                <a:ea typeface="宋体" panose="02010600030101010101" pitchFamily="2" charset="-122"/>
              </a:rPr>
              <a:t>电子管、</a:t>
            </a:r>
            <a:r>
              <a:rPr lang="en-US" altLang="zh-CN">
                <a:ea typeface="宋体" panose="02010600030101010101" pitchFamily="2" charset="-122"/>
              </a:rPr>
              <a:t>1500</a:t>
            </a:r>
            <a:r>
              <a:rPr lang="zh-CN" altLang="en-US">
                <a:ea typeface="宋体" panose="02010600030101010101" pitchFamily="2" charset="-122"/>
              </a:rPr>
              <a:t>继电器、重</a:t>
            </a:r>
            <a:r>
              <a:rPr lang="en-US" altLang="zh-CN">
                <a:ea typeface="宋体" panose="02010600030101010101" pitchFamily="2" charset="-122"/>
              </a:rPr>
              <a:t>30</a:t>
            </a:r>
            <a:r>
              <a:rPr lang="zh-CN" altLang="en-US">
                <a:ea typeface="宋体" panose="02010600030101010101" pitchFamily="2" charset="-122"/>
              </a:rPr>
              <a:t>吨、占地</a:t>
            </a:r>
            <a:r>
              <a:rPr lang="en-US" altLang="zh-CN">
                <a:ea typeface="宋体" panose="02010600030101010101" pitchFamily="2" charset="-122"/>
              </a:rPr>
              <a:t>170m2</a:t>
            </a:r>
            <a:r>
              <a:rPr lang="zh-CN" altLang="en-US">
                <a:ea typeface="宋体" panose="02010600030101010101" pitchFamily="2" charset="-122"/>
              </a:rPr>
              <a:t>、耗电</a:t>
            </a:r>
            <a:r>
              <a:rPr lang="en-US" altLang="zh-CN">
                <a:ea typeface="宋体" panose="02010600030101010101" pitchFamily="2" charset="-122"/>
              </a:rPr>
              <a:t>140kw</a:t>
            </a:r>
            <a:r>
              <a:rPr lang="zh-CN" altLang="en-US">
                <a:ea typeface="宋体" panose="02010600030101010101" pitchFamily="2" charset="-122"/>
              </a:rPr>
              <a:t>、每秒计算</a:t>
            </a:r>
            <a:r>
              <a:rPr lang="en-US" altLang="zh-CN">
                <a:ea typeface="宋体" panose="02010600030101010101" pitchFamily="2" charset="-122"/>
              </a:rPr>
              <a:t>5000</a:t>
            </a:r>
            <a:r>
              <a:rPr lang="zh-CN" altLang="en-US">
                <a:ea typeface="宋体" panose="02010600030101010101" pitchFamily="2" charset="-122"/>
              </a:rPr>
              <a:t>次加法</a:t>
            </a:r>
            <a:endParaRPr lang="en-US" altLang="zh-CN">
              <a:ea typeface="宋体" panose="02010600030101010101" pitchFamily="2" charset="-122"/>
            </a:endParaRPr>
          </a:p>
          <a:p>
            <a:pPr lvl="1"/>
            <a:r>
              <a:rPr lang="zh-CN" altLang="en-US">
                <a:ea typeface="宋体" panose="02010600030101010101" pitchFamily="2" charset="-122"/>
              </a:rPr>
              <a:t>相当于手工计算的</a:t>
            </a:r>
            <a:r>
              <a:rPr lang="en-US" altLang="zh-CN">
                <a:ea typeface="宋体" panose="02010600030101010101" pitchFamily="2" charset="-122"/>
              </a:rPr>
              <a:t>20</a:t>
            </a:r>
            <a:r>
              <a:rPr lang="zh-CN" altLang="en-US">
                <a:ea typeface="宋体" panose="02010600030101010101" pitchFamily="2" charset="-122"/>
              </a:rPr>
              <a:t>万倍、机电式计算机的</a:t>
            </a:r>
            <a:r>
              <a:rPr lang="en-US" altLang="zh-CN">
                <a:ea typeface="宋体" panose="02010600030101010101" pitchFamily="2" charset="-122"/>
              </a:rPr>
              <a:t>1000</a:t>
            </a:r>
            <a:r>
              <a:rPr lang="zh-CN" altLang="en-US">
                <a:ea typeface="宋体" panose="02010600030101010101" pitchFamily="2" charset="-122"/>
              </a:rPr>
              <a:t>倍</a:t>
            </a:r>
            <a:endParaRPr kumimoji="1" lang="en-US" altLang="zh-CN">
              <a:ea typeface="宋体" panose="02010600030101010101" pitchFamily="2" charset="-122"/>
            </a:endParaRPr>
          </a:p>
          <a:p>
            <a:pPr lvl="1"/>
            <a:r>
              <a:rPr kumimoji="1" lang="zh-CN" altLang="en-US">
                <a:ea typeface="宋体" panose="02010600030101010101" pitchFamily="2" charset="-122"/>
              </a:rPr>
              <a:t>纸带输入程序和数据，人工时间占比很高</a:t>
            </a:r>
          </a:p>
        </p:txBody>
      </p:sp>
      <p:sp>
        <p:nvSpPr>
          <p:cNvPr id="20483" name="幻灯片编号占位符 3">
            <a:extLst>
              <a:ext uri="{FF2B5EF4-FFF2-40B4-BE49-F238E27FC236}">
                <a16:creationId xmlns:a16="http://schemas.microsoft.com/office/drawing/2014/main" id="{209BBAF0-B11A-ECD7-03B5-543F20959EB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50CAEE0C-14E8-A849-8AF6-8979D9DDFFA9}" type="slidenum">
              <a:rPr lang="zh-CN" altLang="en-US" sz="1400" smtClean="0">
                <a:latin typeface="Times New Roman" panose="02020603050405020304" pitchFamily="18" charset="0"/>
              </a:rPr>
              <a:pPr>
                <a:spcBef>
                  <a:spcPct val="0"/>
                </a:spcBef>
                <a:buFontTx/>
                <a:buNone/>
              </a:pPr>
              <a:t>3</a:t>
            </a:fld>
            <a:endParaRPr lang="en-US" altLang="zh-CN" sz="1400">
              <a:latin typeface="Times New Roman" panose="02020603050405020304" pitchFamily="18" charset="0"/>
            </a:endParaRPr>
          </a:p>
        </p:txBody>
      </p:sp>
      <p:pic>
        <p:nvPicPr>
          <p:cNvPr id="20484" name="Picture 2">
            <a:extLst>
              <a:ext uri="{FF2B5EF4-FFF2-40B4-BE49-F238E27FC236}">
                <a16:creationId xmlns:a16="http://schemas.microsoft.com/office/drawing/2014/main" id="{B4BCF022-109E-BCCF-F1AF-CC83C10AFC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4232275"/>
            <a:ext cx="5995988" cy="259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a:extLst>
              <a:ext uri="{FF2B5EF4-FFF2-40B4-BE49-F238E27FC236}">
                <a16:creationId xmlns:a16="http://schemas.microsoft.com/office/drawing/2014/main" id="{05866E88-7BC8-950D-3D98-E9FE719E1577}"/>
              </a:ext>
            </a:extLst>
          </p:cNvPr>
          <p:cNvSpPr>
            <a:spLocks noGrp="1" noChangeArrowheads="1"/>
          </p:cNvSpPr>
          <p:nvPr>
            <p:ph type="title"/>
          </p:nvPr>
        </p:nvSpPr>
        <p:spPr/>
        <p:txBody>
          <a:bodyPr/>
          <a:lstStyle/>
          <a:p>
            <a:r>
              <a:rPr kumimoji="1" lang="zh-CN" altLang="en-US">
                <a:ea typeface="宋体" panose="02010600030101010101" pitchFamily="2" charset="-122"/>
              </a:rPr>
              <a:t>企业级计算机：</a:t>
            </a:r>
            <a:r>
              <a:rPr kumimoji="1" lang="en-US" altLang="zh-CN">
                <a:ea typeface="宋体" panose="02010600030101010101" pitchFamily="2" charset="-122"/>
              </a:rPr>
              <a:t>IBM</a:t>
            </a:r>
            <a:r>
              <a:rPr kumimoji="1" lang="zh-CN" altLang="en-US">
                <a:ea typeface="宋体" panose="02010600030101010101" pitchFamily="2" charset="-122"/>
              </a:rPr>
              <a:t>和</a:t>
            </a:r>
            <a:r>
              <a:rPr kumimoji="1" lang="en-US" altLang="zh-CN">
                <a:ea typeface="宋体" panose="02010600030101010101" pitchFamily="2" charset="-122"/>
              </a:rPr>
              <a:t>DEC</a:t>
            </a:r>
            <a:endParaRPr kumimoji="1" lang="zh-CN" altLang="en-US">
              <a:ea typeface="宋体" panose="02010600030101010101" pitchFamily="2" charset="-122"/>
            </a:endParaRPr>
          </a:p>
        </p:txBody>
      </p:sp>
      <p:sp>
        <p:nvSpPr>
          <p:cNvPr id="21506" name="幻灯片编号占位符 3">
            <a:extLst>
              <a:ext uri="{FF2B5EF4-FFF2-40B4-BE49-F238E27FC236}">
                <a16:creationId xmlns:a16="http://schemas.microsoft.com/office/drawing/2014/main" id="{77046A8D-D800-A00C-7B1A-32B092651C1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8F665F4D-0FB7-1544-B97B-BAF7E0D919E1}" type="slidenum">
              <a:rPr lang="zh-CN" altLang="en-US" sz="1400" smtClean="0">
                <a:latin typeface="Times New Roman" panose="02020603050405020304" pitchFamily="18" charset="0"/>
              </a:rPr>
              <a:pPr>
                <a:spcBef>
                  <a:spcPct val="0"/>
                </a:spcBef>
                <a:buFontTx/>
                <a:buNone/>
              </a:pPr>
              <a:t>4</a:t>
            </a:fld>
            <a:endParaRPr lang="en-US" altLang="zh-CN" sz="1400">
              <a:latin typeface="Times New Roman" panose="02020603050405020304" pitchFamily="18" charset="0"/>
            </a:endParaRPr>
          </a:p>
        </p:txBody>
      </p:sp>
      <p:pic>
        <p:nvPicPr>
          <p:cNvPr id="21507" name="Picture 2" descr="IBM system 360âçå¾çæç´¢ç»æ">
            <a:extLst>
              <a:ext uri="{FF2B5EF4-FFF2-40B4-BE49-F238E27FC236}">
                <a16:creationId xmlns:a16="http://schemas.microsoft.com/office/drawing/2014/main" id="{770111FA-9FD7-08BD-3E5F-D0257F5CC0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0" y="2362200"/>
            <a:ext cx="4686300"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Picture 4" descr="DP-11">
            <a:extLst>
              <a:ext uri="{FF2B5EF4-FFF2-40B4-BE49-F238E27FC236}">
                <a16:creationId xmlns:a16="http://schemas.microsoft.com/office/drawing/2014/main" id="{629E042C-632E-9CA8-577F-BCE5BF58DC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7988" y="2384425"/>
            <a:ext cx="3127375"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矩形 5">
            <a:extLst>
              <a:ext uri="{FF2B5EF4-FFF2-40B4-BE49-F238E27FC236}">
                <a16:creationId xmlns:a16="http://schemas.microsoft.com/office/drawing/2014/main" id="{8F04D0E7-656A-F7E8-B35B-996F09BBBCA1}"/>
              </a:ext>
            </a:extLst>
          </p:cNvPr>
          <p:cNvSpPr>
            <a:spLocks noChangeArrowheads="1"/>
          </p:cNvSpPr>
          <p:nvPr/>
        </p:nvSpPr>
        <p:spPr bwMode="auto">
          <a:xfrm>
            <a:off x="6188075" y="1885950"/>
            <a:ext cx="172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kumimoji="1" lang="en-US" altLang="zh-CN" sz="2000"/>
              <a:t>DEC PDP-11</a:t>
            </a:r>
            <a:endParaRPr kumimoji="1" lang="zh-CN" altLang="en-US" sz="2000"/>
          </a:p>
        </p:txBody>
      </p:sp>
      <p:sp>
        <p:nvSpPr>
          <p:cNvPr id="21510" name="矩形 6">
            <a:extLst>
              <a:ext uri="{FF2B5EF4-FFF2-40B4-BE49-F238E27FC236}">
                <a16:creationId xmlns:a16="http://schemas.microsoft.com/office/drawing/2014/main" id="{AEBD55D1-EF57-5F50-16DC-27F404D8F5F3}"/>
              </a:ext>
            </a:extLst>
          </p:cNvPr>
          <p:cNvSpPr>
            <a:spLocks noChangeArrowheads="1"/>
          </p:cNvSpPr>
          <p:nvPr/>
        </p:nvSpPr>
        <p:spPr bwMode="auto">
          <a:xfrm>
            <a:off x="915988" y="1885950"/>
            <a:ext cx="2578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kumimoji="1" lang="en-US" altLang="zh-CN" sz="2000"/>
              <a:t>IBM S/360, 1960s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a:extLst>
              <a:ext uri="{FF2B5EF4-FFF2-40B4-BE49-F238E27FC236}">
                <a16:creationId xmlns:a16="http://schemas.microsoft.com/office/drawing/2014/main" id="{424E4C53-3A03-1A4C-66BD-49ED134804E1}"/>
              </a:ext>
            </a:extLst>
          </p:cNvPr>
          <p:cNvSpPr>
            <a:spLocks noGrp="1" noChangeArrowheads="1"/>
          </p:cNvSpPr>
          <p:nvPr>
            <p:ph type="title"/>
          </p:nvPr>
        </p:nvSpPr>
        <p:spPr/>
        <p:txBody>
          <a:bodyPr/>
          <a:lstStyle/>
          <a:p>
            <a:r>
              <a:rPr kumimoji="1" lang="zh-CN" altLang="en-US">
                <a:ea typeface="宋体" panose="02010600030101010101" pitchFamily="2" charset="-122"/>
              </a:rPr>
              <a:t>仙童</a:t>
            </a:r>
          </a:p>
        </p:txBody>
      </p:sp>
      <p:sp>
        <p:nvSpPr>
          <p:cNvPr id="22530" name="内容占位符 2">
            <a:extLst>
              <a:ext uri="{FF2B5EF4-FFF2-40B4-BE49-F238E27FC236}">
                <a16:creationId xmlns:a16="http://schemas.microsoft.com/office/drawing/2014/main" id="{6D290448-AA4D-7498-9E59-BFFC4D9D9542}"/>
              </a:ext>
            </a:extLst>
          </p:cNvPr>
          <p:cNvSpPr>
            <a:spLocks noGrp="1" noChangeArrowheads="1"/>
          </p:cNvSpPr>
          <p:nvPr>
            <p:ph idx="1"/>
          </p:nvPr>
        </p:nvSpPr>
        <p:spPr/>
        <p:txBody>
          <a:bodyPr/>
          <a:lstStyle/>
          <a:p>
            <a:r>
              <a:rPr lang="en-US" altLang="zh-CN">
                <a:ea typeface="宋体" panose="02010600030101010101" pitchFamily="2" charset="-122"/>
              </a:rPr>
              <a:t>1957</a:t>
            </a:r>
            <a:r>
              <a:rPr lang="zh-CN" altLang="en-US">
                <a:ea typeface="宋体" panose="02010600030101010101" pitchFamily="2" charset="-122"/>
              </a:rPr>
              <a:t>年，“晶体管之父”肖克利建立公司开始晶体管研发</a:t>
            </a:r>
            <a:endParaRPr lang="en-US" altLang="zh-CN">
              <a:ea typeface="宋体" panose="02010600030101010101" pitchFamily="2" charset="-122"/>
            </a:endParaRPr>
          </a:p>
          <a:p>
            <a:r>
              <a:rPr lang="zh-CN" altLang="en-US">
                <a:ea typeface="宋体" panose="02010600030101010101" pitchFamily="2" charset="-122"/>
              </a:rPr>
              <a:t>旗下“八叛徒”建立仙童公司，后建立</a:t>
            </a:r>
            <a:r>
              <a:rPr lang="en-US" altLang="zh-CN">
                <a:ea typeface="宋体" panose="02010600030101010101" pitchFamily="2" charset="-122"/>
              </a:rPr>
              <a:t>Intel, AMD</a:t>
            </a:r>
            <a:r>
              <a:rPr lang="zh-CN" altLang="en-US">
                <a:ea typeface="宋体" panose="02010600030101010101" pitchFamily="2" charset="-122"/>
              </a:rPr>
              <a:t>等公司</a:t>
            </a:r>
            <a:endParaRPr lang="en-US" altLang="zh-CN">
              <a:ea typeface="宋体" panose="02010600030101010101" pitchFamily="2" charset="-122"/>
            </a:endParaRPr>
          </a:p>
          <a:p>
            <a:endParaRPr kumimoji="1" lang="zh-CN" altLang="en-US">
              <a:ea typeface="宋体" panose="02010600030101010101" pitchFamily="2" charset="-122"/>
            </a:endParaRPr>
          </a:p>
        </p:txBody>
      </p:sp>
      <p:sp>
        <p:nvSpPr>
          <p:cNvPr id="22531" name="灯片编号占位符 3">
            <a:extLst>
              <a:ext uri="{FF2B5EF4-FFF2-40B4-BE49-F238E27FC236}">
                <a16:creationId xmlns:a16="http://schemas.microsoft.com/office/drawing/2014/main" id="{E7EA7827-33DE-367C-3CC4-A9B98948314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696C7AA8-3168-CB4E-AC36-2CA6161E76C6}" type="slidenum">
              <a:rPr lang="zh-CN" altLang="en-US" sz="1400" smtClean="0">
                <a:latin typeface="Times New Roman" panose="02020603050405020304" pitchFamily="18" charset="0"/>
              </a:rPr>
              <a:pPr>
                <a:spcBef>
                  <a:spcPct val="0"/>
                </a:spcBef>
                <a:buFontTx/>
                <a:buNone/>
              </a:pPr>
              <a:t>5</a:t>
            </a:fld>
            <a:endParaRPr lang="en-US" altLang="zh-CN" sz="1400">
              <a:latin typeface="Times New Roman" panose="02020603050405020304" pitchFamily="18" charset="0"/>
            </a:endParaRPr>
          </a:p>
        </p:txBody>
      </p:sp>
      <p:pic>
        <p:nvPicPr>
          <p:cNvPr id="22532" name="图片 4" descr="一群人在交谈&#10;&#10;描述已自动生成">
            <a:extLst>
              <a:ext uri="{FF2B5EF4-FFF2-40B4-BE49-F238E27FC236}">
                <a16:creationId xmlns:a16="http://schemas.microsoft.com/office/drawing/2014/main" id="{B1F365E4-60C6-9BA8-F2ED-F90D430B63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7438" y="3195638"/>
            <a:ext cx="5135562" cy="343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图片 6" descr="男人戴着眼镜&#10;&#10;描述已自动生成">
            <a:extLst>
              <a:ext uri="{FF2B5EF4-FFF2-40B4-BE49-F238E27FC236}">
                <a16:creationId xmlns:a16="http://schemas.microsoft.com/office/drawing/2014/main" id="{9E8BFBBF-1DD3-297D-108A-B7D6ACEB3C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0705" r="21320"/>
          <a:stretch>
            <a:fillRect/>
          </a:stretch>
        </p:blipFill>
        <p:spPr bwMode="auto">
          <a:xfrm>
            <a:off x="457200" y="3741738"/>
            <a:ext cx="2740025" cy="265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a:extLst>
              <a:ext uri="{FF2B5EF4-FFF2-40B4-BE49-F238E27FC236}">
                <a16:creationId xmlns:a16="http://schemas.microsoft.com/office/drawing/2014/main" id="{948FC919-8598-D5CA-9C10-3EE64032D29E}"/>
              </a:ext>
            </a:extLst>
          </p:cNvPr>
          <p:cNvSpPr>
            <a:spLocks noGrp="1" noChangeArrowheads="1"/>
          </p:cNvSpPr>
          <p:nvPr>
            <p:ph type="title"/>
          </p:nvPr>
        </p:nvSpPr>
        <p:spPr/>
        <p:txBody>
          <a:bodyPr/>
          <a:lstStyle/>
          <a:p>
            <a:r>
              <a:rPr kumimoji="1" lang="en-US" altLang="zh-CN">
                <a:ea typeface="宋体" panose="02010600030101010101" pitchFamily="2" charset="-122"/>
              </a:rPr>
              <a:t>Intel x86 CPU</a:t>
            </a:r>
            <a:endParaRPr kumimoji="1" lang="zh-CN" altLang="en-US">
              <a:ea typeface="宋体" panose="02010600030101010101" pitchFamily="2" charset="-122"/>
            </a:endParaRPr>
          </a:p>
        </p:txBody>
      </p:sp>
      <p:sp>
        <p:nvSpPr>
          <p:cNvPr id="23554" name="内容占位符 2">
            <a:extLst>
              <a:ext uri="{FF2B5EF4-FFF2-40B4-BE49-F238E27FC236}">
                <a16:creationId xmlns:a16="http://schemas.microsoft.com/office/drawing/2014/main" id="{F725CC87-3CB5-8AC0-56ED-7096B5856163}"/>
              </a:ext>
            </a:extLst>
          </p:cNvPr>
          <p:cNvSpPr>
            <a:spLocks noGrp="1" noChangeArrowheads="1"/>
          </p:cNvSpPr>
          <p:nvPr>
            <p:ph idx="1"/>
          </p:nvPr>
        </p:nvSpPr>
        <p:spPr/>
        <p:txBody>
          <a:bodyPr/>
          <a:lstStyle/>
          <a:p>
            <a:pPr algn="just" eaLnBrk="1" hangingPunct="1"/>
            <a:r>
              <a:rPr lang="en-US" altLang="zh-CN" sz="2200">
                <a:ea typeface="宋体" panose="02010600030101010101" pitchFamily="2" charset="-122"/>
              </a:rPr>
              <a:t>Intel</a:t>
            </a:r>
            <a:r>
              <a:rPr lang="zh-CN" altLang="en-US" sz="2200">
                <a:ea typeface="宋体" panose="02010600030101010101" pitchFamily="2" charset="-122"/>
              </a:rPr>
              <a:t>成立于</a:t>
            </a:r>
            <a:r>
              <a:rPr lang="en-US" altLang="zh-CN" sz="2200">
                <a:ea typeface="宋体" panose="02010600030101010101" pitchFamily="2" charset="-122"/>
              </a:rPr>
              <a:t>1968</a:t>
            </a:r>
            <a:r>
              <a:rPr lang="zh-CN" altLang="en-US" sz="2200">
                <a:ea typeface="宋体" panose="02010600030101010101" pitchFamily="2" charset="-122"/>
              </a:rPr>
              <a:t>年，创始人包括来自仙童的葛罗夫（</a:t>
            </a:r>
            <a:r>
              <a:rPr lang="en-US" altLang="zh-CN" sz="2200">
                <a:ea typeface="宋体" panose="02010600030101010101" pitchFamily="2" charset="-122"/>
              </a:rPr>
              <a:t>A.</a:t>
            </a:r>
            <a:r>
              <a:rPr lang="zh-CN" altLang="en-US" sz="2200">
                <a:ea typeface="宋体" panose="02010600030101010101" pitchFamily="2" charset="-122"/>
              </a:rPr>
              <a:t> </a:t>
            </a:r>
            <a:r>
              <a:rPr lang="en-US" altLang="zh-CN" sz="2200">
                <a:ea typeface="宋体" panose="02010600030101010101" pitchFamily="2" charset="-122"/>
              </a:rPr>
              <a:t>Grove</a:t>
            </a:r>
            <a:r>
              <a:rPr lang="zh-CN" altLang="en-US" sz="2200">
                <a:ea typeface="宋体" panose="02010600030101010101" pitchFamily="2" charset="-122"/>
              </a:rPr>
              <a:t>）和戈登</a:t>
            </a:r>
            <a:r>
              <a:rPr lang="en-US" altLang="zh-CN" sz="2200">
                <a:ea typeface="宋体" panose="02010600030101010101" pitchFamily="2" charset="-122"/>
              </a:rPr>
              <a:t>·</a:t>
            </a:r>
            <a:r>
              <a:rPr lang="zh-CN" altLang="en-US" sz="2200">
                <a:ea typeface="宋体" panose="02010600030101010101" pitchFamily="2" charset="-122"/>
              </a:rPr>
              <a:t>摩尔（</a:t>
            </a:r>
            <a:r>
              <a:rPr lang="en-US" altLang="zh-CN" sz="2200">
                <a:ea typeface="宋体" panose="02010600030101010101" pitchFamily="2" charset="-122"/>
              </a:rPr>
              <a:t>Gordon</a:t>
            </a:r>
            <a:r>
              <a:rPr lang="zh-CN" altLang="en-US" sz="2200">
                <a:ea typeface="宋体" panose="02010600030101010101" pitchFamily="2" charset="-122"/>
              </a:rPr>
              <a:t> </a:t>
            </a:r>
            <a:r>
              <a:rPr lang="en-US" altLang="zh-CN" sz="2200">
                <a:ea typeface="宋体" panose="02010600030101010101" pitchFamily="2" charset="-122"/>
              </a:rPr>
              <a:t>Moore</a:t>
            </a:r>
            <a:r>
              <a:rPr lang="zh-CN" altLang="en-US" sz="2200">
                <a:ea typeface="宋体" panose="02010600030101010101" pitchFamily="2" charset="-122"/>
              </a:rPr>
              <a:t>）；</a:t>
            </a:r>
            <a:r>
              <a:rPr lang="en-US" altLang="zh-CN" sz="2200">
                <a:ea typeface="宋体" panose="02010600030101010101" pitchFamily="2" charset="-122"/>
              </a:rPr>
              <a:t>AMD</a:t>
            </a:r>
            <a:r>
              <a:rPr lang="zh-CN" altLang="en-US" sz="2200">
                <a:ea typeface="宋体" panose="02010600030101010101" pitchFamily="2" charset="-122"/>
              </a:rPr>
              <a:t>成立于</a:t>
            </a:r>
            <a:r>
              <a:rPr lang="en-US" altLang="zh-CN" sz="2200">
                <a:ea typeface="宋体" panose="02010600030101010101" pitchFamily="2" charset="-122"/>
              </a:rPr>
              <a:t>1969</a:t>
            </a:r>
            <a:r>
              <a:rPr lang="zh-CN" altLang="en-US" sz="2200">
                <a:ea typeface="宋体" panose="02010600030101010101" pitchFamily="2" charset="-122"/>
              </a:rPr>
              <a:t>年，创始人是仙童的销售杰里</a:t>
            </a:r>
            <a:r>
              <a:rPr lang="en-US" altLang="zh-CN" sz="2200">
                <a:ea typeface="宋体" panose="02010600030101010101" pitchFamily="2" charset="-122"/>
              </a:rPr>
              <a:t>·</a:t>
            </a:r>
            <a:r>
              <a:rPr lang="zh-CN" altLang="en-US" sz="2200">
                <a:ea typeface="宋体" panose="02010600030101010101" pitchFamily="2" charset="-122"/>
              </a:rPr>
              <a:t>桑德斯（</a:t>
            </a:r>
            <a:r>
              <a:rPr lang="en-US" altLang="zh-CN" sz="2200">
                <a:ea typeface="宋体" panose="02010600030101010101" pitchFamily="2" charset="-122"/>
              </a:rPr>
              <a:t>Jerry</a:t>
            </a:r>
            <a:r>
              <a:rPr lang="zh-CN" altLang="en-US" sz="2200">
                <a:ea typeface="宋体" panose="02010600030101010101" pitchFamily="2" charset="-122"/>
              </a:rPr>
              <a:t> </a:t>
            </a:r>
            <a:r>
              <a:rPr lang="en-US" altLang="zh-CN" sz="2200">
                <a:ea typeface="宋体" panose="02010600030101010101" pitchFamily="2" charset="-122"/>
              </a:rPr>
              <a:t>Sanders</a:t>
            </a:r>
            <a:r>
              <a:rPr lang="zh-CN" altLang="en-US" sz="2200">
                <a:ea typeface="宋体" panose="02010600030101010101" pitchFamily="2" charset="-122"/>
              </a:rPr>
              <a:t>）</a:t>
            </a:r>
            <a:endParaRPr lang="en-US" altLang="zh-CN" sz="2200">
              <a:ea typeface="宋体" panose="02010600030101010101" pitchFamily="2" charset="-122"/>
            </a:endParaRPr>
          </a:p>
          <a:p>
            <a:pPr algn="just" eaLnBrk="1" hangingPunct="1"/>
            <a:r>
              <a:rPr lang="en-US" altLang="zh-CN" sz="2200">
                <a:ea typeface="宋体" panose="02010600030101010101" pitchFamily="2" charset="-122"/>
              </a:rPr>
              <a:t>1971</a:t>
            </a:r>
            <a:r>
              <a:rPr lang="zh-CN" altLang="en-US" sz="2200">
                <a:ea typeface="宋体" panose="02010600030101010101" pitchFamily="2" charset="-122"/>
              </a:rPr>
              <a:t>年第一款</a:t>
            </a:r>
            <a:r>
              <a:rPr lang="en-US" altLang="zh-CN" sz="2200">
                <a:ea typeface="宋体" panose="02010600030101010101" pitchFamily="2" charset="-122"/>
              </a:rPr>
              <a:t>4</a:t>
            </a:r>
            <a:r>
              <a:rPr lang="zh-CN" altLang="en-US" sz="2200">
                <a:ea typeface="宋体" panose="02010600030101010101" pitchFamily="2" charset="-122"/>
              </a:rPr>
              <a:t>位微处理器</a:t>
            </a:r>
            <a:r>
              <a:rPr lang="en-US" altLang="zh-CN" sz="2200">
                <a:ea typeface="宋体" panose="02010600030101010101" pitchFamily="2" charset="-122"/>
              </a:rPr>
              <a:t>Intel 4004</a:t>
            </a:r>
            <a:r>
              <a:rPr lang="zh-CN" altLang="en-US" sz="2200">
                <a:ea typeface="宋体" panose="02010600030101010101" pitchFamily="2" charset="-122"/>
              </a:rPr>
              <a:t>问世，</a:t>
            </a:r>
            <a:r>
              <a:rPr lang="en-US" altLang="zh-CN" sz="2200">
                <a:ea typeface="宋体" panose="02010600030101010101" pitchFamily="2" charset="-122"/>
              </a:rPr>
              <a:t>1974</a:t>
            </a:r>
            <a:r>
              <a:rPr lang="zh-CN" altLang="en-US" sz="2200">
                <a:ea typeface="宋体" panose="02010600030101010101" pitchFamily="2" charset="-122"/>
              </a:rPr>
              <a:t>年第一款</a:t>
            </a:r>
            <a:r>
              <a:rPr lang="en-US" altLang="zh-CN" sz="2200">
                <a:ea typeface="宋体" panose="02010600030101010101" pitchFamily="2" charset="-122"/>
              </a:rPr>
              <a:t>8</a:t>
            </a:r>
            <a:r>
              <a:rPr lang="zh-CN" altLang="en-US" sz="2200">
                <a:ea typeface="宋体" panose="02010600030101010101" pitchFamily="2" charset="-122"/>
              </a:rPr>
              <a:t>位微处理器</a:t>
            </a:r>
            <a:r>
              <a:rPr lang="en-US" altLang="zh-CN" sz="2200">
                <a:ea typeface="宋体" panose="02010600030101010101" pitchFamily="2" charset="-122"/>
              </a:rPr>
              <a:t>Intel 8080</a:t>
            </a:r>
            <a:r>
              <a:rPr lang="zh-CN" altLang="en-US" sz="2200">
                <a:ea typeface="宋体" panose="02010600030101010101" pitchFamily="2" charset="-122"/>
              </a:rPr>
              <a:t>问世</a:t>
            </a:r>
            <a:endParaRPr lang="en-US" altLang="zh-CN" sz="2200">
              <a:ea typeface="宋体" panose="02010600030101010101" pitchFamily="2" charset="-122"/>
            </a:endParaRPr>
          </a:p>
          <a:p>
            <a:endParaRPr kumimoji="1" lang="zh-CN" altLang="en-US" sz="2200">
              <a:ea typeface="宋体" panose="02010600030101010101" pitchFamily="2" charset="-122"/>
            </a:endParaRPr>
          </a:p>
        </p:txBody>
      </p:sp>
      <p:sp>
        <p:nvSpPr>
          <p:cNvPr id="23555" name="幻灯片编号占位符 3">
            <a:extLst>
              <a:ext uri="{FF2B5EF4-FFF2-40B4-BE49-F238E27FC236}">
                <a16:creationId xmlns:a16="http://schemas.microsoft.com/office/drawing/2014/main" id="{740B0A26-691E-F667-F32B-7203449DAA60}"/>
              </a:ext>
            </a:extLst>
          </p:cNvPr>
          <p:cNvSpPr>
            <a:spLocks noGrp="1"/>
          </p:cNvSpPr>
          <p:nvPr>
            <p:ph type="sldNum" sz="quarter" idx="12"/>
          </p:nvPr>
        </p:nvSpPr>
        <p:spPr>
          <a:xfrm>
            <a:off x="6934200" y="5897563"/>
            <a:ext cx="12954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5DCA0386-1CA9-BF4F-A216-F7B588913A67}" type="slidenum">
              <a:rPr lang="zh-CN" altLang="en-US" sz="1400" smtClean="0">
                <a:latin typeface="Times New Roman" panose="02020603050405020304" pitchFamily="18" charset="0"/>
              </a:rPr>
              <a:pPr>
                <a:spcBef>
                  <a:spcPct val="0"/>
                </a:spcBef>
                <a:buFontTx/>
                <a:buNone/>
              </a:pPr>
              <a:t>6</a:t>
            </a:fld>
            <a:endParaRPr lang="en-US" altLang="zh-CN" sz="1400">
              <a:latin typeface="Times New Roman" panose="02020603050405020304" pitchFamily="18" charset="0"/>
            </a:endParaRPr>
          </a:p>
        </p:txBody>
      </p:sp>
      <p:pic>
        <p:nvPicPr>
          <p:cNvPr id="23556" name="图片 4" descr="S4e5d826f-a8f0-4881-8d38-4d40da4f69dd.jpg">
            <a:extLst>
              <a:ext uri="{FF2B5EF4-FFF2-40B4-BE49-F238E27FC236}">
                <a16:creationId xmlns:a16="http://schemas.microsoft.com/office/drawing/2014/main" id="{4CA02838-20D3-DB71-D4A1-F9D0EF3D9D9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17563" y="3771900"/>
            <a:ext cx="3362325" cy="210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图片 5" descr="Sb5fd9b38-2c1a-41de-8aa4-59aa90fa4c0d.jpg">
            <a:extLst>
              <a:ext uri="{FF2B5EF4-FFF2-40B4-BE49-F238E27FC236}">
                <a16:creationId xmlns:a16="http://schemas.microsoft.com/office/drawing/2014/main" id="{CD65A657-166C-507B-3114-C4C52B66CC0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67300" y="3352800"/>
            <a:ext cx="2879725" cy="254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文本框 6">
            <a:extLst>
              <a:ext uri="{FF2B5EF4-FFF2-40B4-BE49-F238E27FC236}">
                <a16:creationId xmlns:a16="http://schemas.microsoft.com/office/drawing/2014/main" id="{6C4B68F0-D313-4733-604C-C4901AFB977F}"/>
              </a:ext>
            </a:extLst>
          </p:cNvPr>
          <p:cNvSpPr txBox="1">
            <a:spLocks noChangeArrowheads="1"/>
          </p:cNvSpPr>
          <p:nvPr/>
        </p:nvSpPr>
        <p:spPr bwMode="auto">
          <a:xfrm>
            <a:off x="422275" y="5905500"/>
            <a:ext cx="42846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kumimoji="1" lang="en-US" altLang="zh-CN" sz="2000">
                <a:latin typeface="Tahoma" panose="020B0604030504040204" pitchFamily="34" charset="0"/>
              </a:rPr>
              <a:t>Intel</a:t>
            </a:r>
            <a:r>
              <a:rPr kumimoji="1" lang="zh-CN" altLang="en-US" sz="2000">
                <a:latin typeface="Tahoma" panose="020B0604030504040204" pitchFamily="34" charset="0"/>
              </a:rPr>
              <a:t> </a:t>
            </a:r>
            <a:r>
              <a:rPr kumimoji="1" lang="en-US" altLang="zh-CN" sz="2000">
                <a:latin typeface="Tahoma" panose="020B0604030504040204" pitchFamily="34" charset="0"/>
              </a:rPr>
              <a:t>4004</a:t>
            </a:r>
            <a:r>
              <a:rPr kumimoji="1" lang="zh-CN" altLang="en-US" sz="2000">
                <a:latin typeface="Tahoma" panose="020B0604030504040204" pitchFamily="34" charset="0"/>
              </a:rPr>
              <a:t>是第一个商用微处理器</a:t>
            </a:r>
          </a:p>
        </p:txBody>
      </p:sp>
      <p:sp>
        <p:nvSpPr>
          <p:cNvPr id="23559" name="文本框 6">
            <a:extLst>
              <a:ext uri="{FF2B5EF4-FFF2-40B4-BE49-F238E27FC236}">
                <a16:creationId xmlns:a16="http://schemas.microsoft.com/office/drawing/2014/main" id="{D88EBCA8-4A27-DC9F-F333-9A4AF66A6717}"/>
              </a:ext>
            </a:extLst>
          </p:cNvPr>
          <p:cNvSpPr txBox="1">
            <a:spLocks noChangeArrowheads="1"/>
          </p:cNvSpPr>
          <p:nvPr/>
        </p:nvSpPr>
        <p:spPr bwMode="auto">
          <a:xfrm>
            <a:off x="4598988" y="6007100"/>
            <a:ext cx="464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kumimoji="1" lang="zh-CN" altLang="en-US" sz="2000">
                <a:latin typeface="Tahoma" panose="020B0604030504040204" pitchFamily="34" charset="0"/>
              </a:rPr>
              <a:t>采用</a:t>
            </a:r>
            <a:r>
              <a:rPr kumimoji="1" lang="en-US" altLang="zh-CN" sz="2000">
                <a:latin typeface="Tahoma" panose="020B0604030504040204" pitchFamily="34" charset="0"/>
              </a:rPr>
              <a:t>4004</a:t>
            </a:r>
            <a:r>
              <a:rPr kumimoji="1" lang="zh-CN" altLang="en-US" sz="2000">
                <a:latin typeface="Tahoma" panose="020B0604030504040204" pitchFamily="34" charset="0"/>
              </a:rPr>
              <a:t>的</a:t>
            </a:r>
            <a:r>
              <a:rPr kumimoji="1" lang="en-US" altLang="zh-CN" sz="2000">
                <a:latin typeface="Tahoma" panose="020B0604030504040204" pitchFamily="34" charset="0"/>
              </a:rPr>
              <a:t>Busicom</a:t>
            </a:r>
            <a:r>
              <a:rPr kumimoji="1" lang="zh-CN" altLang="en-US" sz="2000">
                <a:latin typeface="Tahoma" panose="020B0604030504040204" pitchFamily="34" charset="0"/>
              </a:rPr>
              <a:t> </a:t>
            </a:r>
            <a:r>
              <a:rPr kumimoji="1" lang="en-US" altLang="zh-CN" sz="2000">
                <a:latin typeface="Tahoma" panose="020B0604030504040204" pitchFamily="34" charset="0"/>
              </a:rPr>
              <a:t>Unicom</a:t>
            </a:r>
            <a:r>
              <a:rPr kumimoji="1" lang="zh-CN" altLang="en-US" sz="2000">
                <a:latin typeface="Tahoma" panose="020B0604030504040204" pitchFamily="34" charset="0"/>
              </a:rPr>
              <a:t>计算器</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59AEB60C-2E9D-604F-A38C-AC6DBAEF5F1E}"/>
              </a:ext>
            </a:extLst>
          </p:cNvPr>
          <p:cNvSpPr>
            <a:spLocks noGrp="1" noChangeArrowheads="1"/>
          </p:cNvSpPr>
          <p:nvPr>
            <p:ph type="title"/>
          </p:nvPr>
        </p:nvSpPr>
        <p:spPr>
          <a:xfrm>
            <a:off x="685800" y="609600"/>
            <a:ext cx="7772400" cy="685800"/>
          </a:xfrm>
        </p:spPr>
        <p:txBody>
          <a:bodyPr/>
          <a:lstStyle/>
          <a:p>
            <a:r>
              <a:rPr lang="en-US" altLang="zh-CN">
                <a:ea typeface="宋体" panose="02010600030101010101" pitchFamily="2" charset="-122"/>
              </a:rPr>
              <a:t>X86 family</a:t>
            </a:r>
          </a:p>
        </p:txBody>
      </p:sp>
      <p:sp>
        <p:nvSpPr>
          <p:cNvPr id="24578" name="Rectangle 3">
            <a:extLst>
              <a:ext uri="{FF2B5EF4-FFF2-40B4-BE49-F238E27FC236}">
                <a16:creationId xmlns:a16="http://schemas.microsoft.com/office/drawing/2014/main" id="{6D61C18A-0350-1C62-7214-28703295B65D}"/>
              </a:ext>
            </a:extLst>
          </p:cNvPr>
          <p:cNvSpPr>
            <a:spLocks noGrp="1" noChangeArrowheads="1"/>
          </p:cNvSpPr>
          <p:nvPr>
            <p:ph type="body" idx="1"/>
          </p:nvPr>
        </p:nvSpPr>
        <p:spPr>
          <a:xfrm>
            <a:off x="457200" y="1447800"/>
            <a:ext cx="8077200" cy="4724400"/>
          </a:xfrm>
        </p:spPr>
        <p:txBody>
          <a:bodyPr/>
          <a:lstStyle/>
          <a:p>
            <a:r>
              <a:rPr lang="zh-CN" altLang="en-US">
                <a:ea typeface="宋体" panose="02010600030101010101" pitchFamily="2" charset="-122"/>
              </a:rPr>
              <a:t>8086(1978, 29</a:t>
            </a:r>
            <a:r>
              <a:rPr lang="en-US" altLang="zh-CN">
                <a:ea typeface="宋体" panose="02010600030101010101" pitchFamily="2" charset="-122"/>
              </a:rPr>
              <a:t>K)</a:t>
            </a:r>
          </a:p>
          <a:p>
            <a:pPr lvl="1"/>
            <a:r>
              <a:rPr lang="en-US" altLang="zh-CN">
                <a:ea typeface="宋体" panose="02010600030101010101" pitchFamily="2" charset="-122"/>
              </a:rPr>
              <a:t>The heart of the </a:t>
            </a:r>
            <a:r>
              <a:rPr lang="en-US" altLang="zh-CN">
                <a:solidFill>
                  <a:srgbClr val="FF0000"/>
                </a:solidFill>
                <a:ea typeface="宋体" panose="02010600030101010101" pitchFamily="2" charset="-122"/>
              </a:rPr>
              <a:t>IBM PC </a:t>
            </a:r>
            <a:r>
              <a:rPr lang="en-US" altLang="zh-CN">
                <a:ea typeface="宋体" panose="02010600030101010101" pitchFamily="2" charset="-122"/>
              </a:rPr>
              <a:t>&amp; DOS (</a:t>
            </a:r>
            <a:r>
              <a:rPr lang="en-US" altLang="zh-CN">
                <a:solidFill>
                  <a:srgbClr val="FF0000"/>
                </a:solidFill>
                <a:ea typeface="宋体" panose="02010600030101010101" pitchFamily="2" charset="-122"/>
              </a:rPr>
              <a:t>8088</a:t>
            </a:r>
            <a:r>
              <a:rPr lang="en-US" altLang="zh-CN">
                <a:ea typeface="宋体" panose="02010600030101010101" pitchFamily="2" charset="-122"/>
              </a:rPr>
              <a:t>)</a:t>
            </a:r>
          </a:p>
          <a:p>
            <a:pPr lvl="1"/>
            <a:r>
              <a:rPr lang="en-US" altLang="zh-CN">
                <a:ea typeface="宋体" panose="02010600030101010101" pitchFamily="2" charset="-122"/>
              </a:rPr>
              <a:t>16-bit, 1M bytes addressable, 640K for users</a:t>
            </a:r>
          </a:p>
          <a:p>
            <a:pPr lvl="1"/>
            <a:r>
              <a:rPr lang="en-US" altLang="zh-CN">
                <a:ea typeface="宋体" panose="02010600030101010101" pitchFamily="2" charset="-122"/>
              </a:rPr>
              <a:t>x87 for floating pointing</a:t>
            </a:r>
          </a:p>
          <a:p>
            <a:r>
              <a:rPr lang="en-US" altLang="zh-CN">
                <a:ea typeface="宋体" panose="02010600030101010101" pitchFamily="2" charset="-122"/>
              </a:rPr>
              <a:t>80286(1982, 134K)</a:t>
            </a:r>
          </a:p>
          <a:p>
            <a:pPr lvl="1"/>
            <a:r>
              <a:rPr lang="en-US" altLang="zh-CN">
                <a:ea typeface="宋体" panose="02010600030101010101" pitchFamily="2" charset="-122"/>
              </a:rPr>
              <a:t>80186</a:t>
            </a:r>
            <a:r>
              <a:rPr lang="zh-CN" altLang="en-US">
                <a:ea typeface="宋体" panose="02010600030101010101" pitchFamily="2" charset="-122"/>
              </a:rPr>
              <a:t>编号给了不太重要的一个芯片</a:t>
            </a:r>
            <a:endParaRPr lang="en-US" altLang="zh-CN">
              <a:ea typeface="宋体" panose="02010600030101010101" pitchFamily="2" charset="-122"/>
            </a:endParaRPr>
          </a:p>
          <a:p>
            <a:pPr lvl="2"/>
            <a:r>
              <a:rPr lang="zh-CN" altLang="en-US">
                <a:ea typeface="宋体" panose="02010600030101010101" pitchFamily="2" charset="-122"/>
              </a:rPr>
              <a:t>为了与摩托罗拉</a:t>
            </a:r>
            <a:r>
              <a:rPr lang="en-US" altLang="zh-CN">
                <a:ea typeface="宋体" panose="02010600030101010101" pitchFamily="2" charset="-122"/>
              </a:rPr>
              <a:t>68000</a:t>
            </a:r>
            <a:r>
              <a:rPr lang="zh-CN" altLang="en-US">
                <a:ea typeface="宋体" panose="02010600030101010101" pitchFamily="2" charset="-122"/>
              </a:rPr>
              <a:t>系列</a:t>
            </a:r>
            <a:r>
              <a:rPr lang="en-US" altLang="zh-CN">
                <a:ea typeface="宋体" panose="02010600030101010101" pitchFamily="2" charset="-122"/>
              </a:rPr>
              <a:t>CPU</a:t>
            </a:r>
            <a:r>
              <a:rPr lang="zh-CN" altLang="en-US">
                <a:ea typeface="宋体" panose="02010600030101010101" pitchFamily="2" charset="-122"/>
              </a:rPr>
              <a:t>竞争</a:t>
            </a:r>
            <a:endParaRPr lang="en-US" altLang="zh-CN">
              <a:ea typeface="宋体" panose="02010600030101010101" pitchFamily="2" charset="-122"/>
            </a:endParaRPr>
          </a:p>
          <a:p>
            <a:pPr lvl="1"/>
            <a:r>
              <a:rPr lang="en-US" altLang="zh-CN">
                <a:ea typeface="宋体" panose="02010600030101010101" pitchFamily="2" charset="-122"/>
              </a:rPr>
              <a:t>Basis of the IBM PC-AT &amp; Windows</a:t>
            </a:r>
          </a:p>
          <a:p>
            <a:r>
              <a:rPr lang="en-US" altLang="zh-CN">
                <a:ea typeface="宋体" panose="02010600030101010101" pitchFamily="2" charset="-122"/>
              </a:rPr>
              <a:t>i386(1985, 275K)</a:t>
            </a:r>
          </a:p>
          <a:p>
            <a:pPr lvl="1"/>
            <a:r>
              <a:rPr lang="en-US" altLang="zh-CN">
                <a:ea typeface="宋体" panose="02010600030101010101" pitchFamily="2" charset="-122"/>
              </a:rPr>
              <a:t>32 bits architecture, flat addressing model</a:t>
            </a:r>
          </a:p>
          <a:p>
            <a:pPr lvl="1"/>
            <a:r>
              <a:rPr lang="en-US" altLang="zh-CN">
                <a:ea typeface="宋体" panose="02010600030101010101" pitchFamily="2" charset="-122"/>
              </a:rPr>
              <a:t>Support a Unix operating system</a:t>
            </a:r>
          </a:p>
        </p:txBody>
      </p:sp>
      <p:sp>
        <p:nvSpPr>
          <p:cNvPr id="24579" name="灯片编号占位符 3">
            <a:extLst>
              <a:ext uri="{FF2B5EF4-FFF2-40B4-BE49-F238E27FC236}">
                <a16:creationId xmlns:a16="http://schemas.microsoft.com/office/drawing/2014/main" id="{43B83EFA-2135-C50F-EF18-81E222D39B0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B73F70FE-CF66-B943-8D85-342E73BFACD8}" type="slidenum">
              <a:rPr lang="zh-CN" altLang="en-US" sz="1400" smtClean="0">
                <a:latin typeface="Times New Roman" panose="02020603050405020304" pitchFamily="18" charset="0"/>
              </a:rPr>
              <a:pPr>
                <a:spcBef>
                  <a:spcPct val="0"/>
                </a:spcBef>
                <a:buFontTx/>
                <a:buNone/>
              </a:pPr>
              <a:t>7</a:t>
            </a:fld>
            <a:endParaRPr lang="en-US" altLang="zh-CN" sz="1400">
              <a:latin typeface="Times New Roman" panose="02020603050405020304" pitchFamily="18" charset="0"/>
            </a:endParaRPr>
          </a:p>
        </p:txBody>
      </p:sp>
      <p:pic>
        <p:nvPicPr>
          <p:cNvPr id="24580" name="Picture 3" descr="8088CPU">
            <a:extLst>
              <a:ext uri="{FF2B5EF4-FFF2-40B4-BE49-F238E27FC236}">
                <a16:creationId xmlns:a16="http://schemas.microsoft.com/office/drawing/2014/main" id="{34B7F403-4776-F199-8330-D93B16D7D6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088" y="1187450"/>
            <a:ext cx="1497012"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5" descr="IBM PC-AT机">
            <a:extLst>
              <a:ext uri="{FF2B5EF4-FFF2-40B4-BE49-F238E27FC236}">
                <a16:creationId xmlns:a16="http://schemas.microsoft.com/office/drawing/2014/main" id="{5E3E4F5C-2C7D-400D-AB5C-CE70357B3A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2752725"/>
            <a:ext cx="2514600"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Text Box 6">
            <a:extLst>
              <a:ext uri="{FF2B5EF4-FFF2-40B4-BE49-F238E27FC236}">
                <a16:creationId xmlns:a16="http://schemas.microsoft.com/office/drawing/2014/main" id="{49C1BDD8-51E3-ECF9-04DE-C2E2182447B9}"/>
              </a:ext>
            </a:extLst>
          </p:cNvPr>
          <p:cNvSpPr txBox="1">
            <a:spLocks noChangeArrowheads="1"/>
          </p:cNvSpPr>
          <p:nvPr/>
        </p:nvSpPr>
        <p:spPr bwMode="auto">
          <a:xfrm>
            <a:off x="7545388" y="696913"/>
            <a:ext cx="13684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0"/>
              </a:spcBef>
              <a:buFontTx/>
              <a:buNone/>
            </a:pPr>
            <a:r>
              <a:rPr kumimoji="1" lang="en-US" altLang="zh-CN" sz="2000">
                <a:solidFill>
                  <a:srgbClr val="663300"/>
                </a:solidFill>
                <a:latin typeface="Tahoma" panose="020B0604030504040204" pitchFamily="34" charset="0"/>
              </a:rPr>
              <a:t>8088CPU</a:t>
            </a:r>
          </a:p>
        </p:txBody>
      </p:sp>
      <p:sp>
        <p:nvSpPr>
          <p:cNvPr id="24583" name="Text Box 7">
            <a:extLst>
              <a:ext uri="{FF2B5EF4-FFF2-40B4-BE49-F238E27FC236}">
                <a16:creationId xmlns:a16="http://schemas.microsoft.com/office/drawing/2014/main" id="{AA967020-FA2E-37E8-6664-46011C13C1B6}"/>
              </a:ext>
            </a:extLst>
          </p:cNvPr>
          <p:cNvSpPr txBox="1">
            <a:spLocks noChangeArrowheads="1"/>
          </p:cNvSpPr>
          <p:nvPr/>
        </p:nvSpPr>
        <p:spPr bwMode="auto">
          <a:xfrm>
            <a:off x="7359650" y="4786313"/>
            <a:ext cx="1385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0"/>
              </a:spcBef>
              <a:buFontTx/>
              <a:buNone/>
            </a:pPr>
            <a:r>
              <a:rPr kumimoji="1" lang="en-US" altLang="zh-CN" sz="2000">
                <a:solidFill>
                  <a:srgbClr val="663300"/>
                </a:solidFill>
                <a:latin typeface="Tahoma" panose="020B0604030504040204" pitchFamily="34" charset="0"/>
              </a:rPr>
              <a:t>IBM PC</a:t>
            </a:r>
            <a:r>
              <a:rPr kumimoji="1" lang="zh-CN" altLang="en-US" sz="2000">
                <a:solidFill>
                  <a:srgbClr val="663300"/>
                </a:solidFill>
                <a:latin typeface="Tahoma" panose="020B0604030504040204" pitchFamily="34" charset="0"/>
              </a:rPr>
              <a:t>机</a:t>
            </a:r>
          </a:p>
        </p:txBody>
      </p:sp>
      <p:pic>
        <p:nvPicPr>
          <p:cNvPr id="24584" name="Picture 3" descr="i386-pga-package">
            <a:extLst>
              <a:ext uri="{FF2B5EF4-FFF2-40B4-BE49-F238E27FC236}">
                <a16:creationId xmlns:a16="http://schemas.microsoft.com/office/drawing/2014/main" id="{58F2E67B-924E-0818-C224-24138B7FC4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9038" y="5567363"/>
            <a:ext cx="15573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3D73ED50-0009-7407-E4CB-6EB1CC8790E3}"/>
              </a:ext>
            </a:extLst>
          </p:cNvPr>
          <p:cNvSpPr>
            <a:spLocks noGrp="1" noChangeArrowheads="1"/>
          </p:cNvSpPr>
          <p:nvPr>
            <p:ph type="title"/>
          </p:nvPr>
        </p:nvSpPr>
        <p:spPr>
          <a:xfrm>
            <a:off x="533400" y="609600"/>
            <a:ext cx="8001000" cy="762000"/>
          </a:xfrm>
        </p:spPr>
        <p:txBody>
          <a:bodyPr/>
          <a:lstStyle/>
          <a:p>
            <a:r>
              <a:rPr lang="en-US" altLang="zh-CN">
                <a:ea typeface="宋体" panose="02010600030101010101" pitchFamily="2" charset="-122"/>
              </a:rPr>
              <a:t>X86 family</a:t>
            </a:r>
          </a:p>
        </p:txBody>
      </p:sp>
      <p:sp>
        <p:nvSpPr>
          <p:cNvPr id="25602" name="Rectangle 3">
            <a:extLst>
              <a:ext uri="{FF2B5EF4-FFF2-40B4-BE49-F238E27FC236}">
                <a16:creationId xmlns:a16="http://schemas.microsoft.com/office/drawing/2014/main" id="{AFE48C2A-83A3-9CAF-6AAC-80C7123B0587}"/>
              </a:ext>
            </a:extLst>
          </p:cNvPr>
          <p:cNvSpPr>
            <a:spLocks noGrp="1" noChangeArrowheads="1"/>
          </p:cNvSpPr>
          <p:nvPr>
            <p:ph type="body" idx="1"/>
          </p:nvPr>
        </p:nvSpPr>
        <p:spPr>
          <a:xfrm>
            <a:off x="457200" y="1447800"/>
            <a:ext cx="8153400" cy="4572000"/>
          </a:xfrm>
        </p:spPr>
        <p:txBody>
          <a:bodyPr/>
          <a:lstStyle/>
          <a:p>
            <a:r>
              <a:rPr lang="en-US" altLang="zh-CN">
                <a:ea typeface="宋体" panose="02010600030101010101" pitchFamily="2" charset="-122"/>
              </a:rPr>
              <a:t>I486(1989, 1.9M)</a:t>
            </a:r>
          </a:p>
          <a:p>
            <a:pPr lvl="1"/>
            <a:r>
              <a:rPr lang="en-US" altLang="zh-CN">
                <a:ea typeface="宋体" panose="02010600030101010101" pitchFamily="2" charset="-122"/>
              </a:rPr>
              <a:t>Integrated the </a:t>
            </a:r>
            <a:r>
              <a:rPr lang="en-US" altLang="zh-CN">
                <a:solidFill>
                  <a:srgbClr val="FF0000"/>
                </a:solidFill>
                <a:ea typeface="宋体" panose="02010600030101010101" pitchFamily="2" charset="-122"/>
              </a:rPr>
              <a:t>floating-point</a:t>
            </a:r>
            <a:r>
              <a:rPr lang="en-US" altLang="zh-CN">
                <a:ea typeface="宋体" panose="02010600030101010101" pitchFamily="2" charset="-122"/>
              </a:rPr>
              <a:t> unit onto the processor chip</a:t>
            </a:r>
          </a:p>
          <a:p>
            <a:r>
              <a:rPr lang="en-US" altLang="zh-CN">
                <a:ea typeface="宋体" panose="02010600030101010101" pitchFamily="2" charset="-122"/>
              </a:rPr>
              <a:t>Pentium(1993, 3.1M)</a:t>
            </a:r>
          </a:p>
          <a:p>
            <a:pPr lvl="1"/>
            <a:r>
              <a:rPr lang="en-US" altLang="zh-CN">
                <a:ea typeface="宋体" panose="02010600030101010101" pitchFamily="2" charset="-122"/>
              </a:rPr>
              <a:t>Improved performance, added minor extensions</a:t>
            </a:r>
          </a:p>
          <a:p>
            <a:r>
              <a:rPr lang="en-US" altLang="zh-CN">
                <a:ea typeface="宋体" panose="02010600030101010101" pitchFamily="2" charset="-122"/>
              </a:rPr>
              <a:t>PentiumPro(1995, 5.5M)</a:t>
            </a:r>
          </a:p>
          <a:p>
            <a:pPr lvl="1"/>
            <a:r>
              <a:rPr lang="en-US" altLang="zh-CN">
                <a:ea typeface="宋体" panose="02010600030101010101" pitchFamily="2" charset="-122"/>
              </a:rPr>
              <a:t>P6 microarchitecture</a:t>
            </a:r>
          </a:p>
          <a:p>
            <a:pPr lvl="1"/>
            <a:r>
              <a:rPr lang="en-US" altLang="zh-CN">
                <a:ea typeface="宋体" panose="02010600030101010101" pitchFamily="2" charset="-122"/>
              </a:rPr>
              <a:t>Conditional mov</a:t>
            </a:r>
          </a:p>
          <a:p>
            <a:r>
              <a:rPr lang="en-US" altLang="zh-CN">
                <a:ea typeface="宋体" panose="02010600030101010101" pitchFamily="2" charset="-122"/>
              </a:rPr>
              <a:t>Pentium II(1997, 7M)</a:t>
            </a:r>
          </a:p>
          <a:p>
            <a:pPr lvl="1"/>
            <a:r>
              <a:rPr lang="en-US" altLang="zh-CN">
                <a:ea typeface="宋体" panose="02010600030101010101" pitchFamily="2" charset="-122"/>
              </a:rPr>
              <a:t>Continuation of the P6</a:t>
            </a:r>
          </a:p>
        </p:txBody>
      </p:sp>
      <p:sp>
        <p:nvSpPr>
          <p:cNvPr id="25603" name="灯片编号占位符 3">
            <a:extLst>
              <a:ext uri="{FF2B5EF4-FFF2-40B4-BE49-F238E27FC236}">
                <a16:creationId xmlns:a16="http://schemas.microsoft.com/office/drawing/2014/main" id="{F4A0B3A5-8FF6-C52A-6A56-D935E5AD57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448D89B3-0E87-6240-9FE1-BFEC383F2DD3}" type="slidenum">
              <a:rPr lang="zh-CN" altLang="en-US" sz="1400" smtClean="0">
                <a:latin typeface="Times New Roman" panose="02020603050405020304" pitchFamily="18" charset="0"/>
              </a:rPr>
              <a:pPr>
                <a:spcBef>
                  <a:spcPct val="0"/>
                </a:spcBef>
                <a:buFontTx/>
                <a:buNone/>
              </a:pPr>
              <a:t>8</a:t>
            </a:fld>
            <a:endParaRPr lang="en-US" altLang="zh-CN" sz="1400">
              <a:latin typeface="Times New Roman" panose="02020603050405020304" pitchFamily="18" charset="0"/>
            </a:endParaRPr>
          </a:p>
        </p:txBody>
      </p:sp>
      <p:pic>
        <p:nvPicPr>
          <p:cNvPr id="25604" name="Picture 4" descr="APU">
            <a:extLst>
              <a:ext uri="{FF2B5EF4-FFF2-40B4-BE49-F238E27FC236}">
                <a16:creationId xmlns:a16="http://schemas.microsoft.com/office/drawing/2014/main" id="{32FF1B6E-6C59-4294-751B-0ECBF3BD601C}"/>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38800" y="3733800"/>
            <a:ext cx="2065338" cy="210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0CE19A3A-3C51-D65B-DF3B-53E157B9DEF6}"/>
              </a:ext>
            </a:extLst>
          </p:cNvPr>
          <p:cNvSpPr>
            <a:spLocks noGrp="1" noChangeArrowheads="1"/>
          </p:cNvSpPr>
          <p:nvPr>
            <p:ph type="title"/>
          </p:nvPr>
        </p:nvSpPr>
        <p:spPr>
          <a:xfrm>
            <a:off x="533400" y="609600"/>
            <a:ext cx="7772400" cy="685800"/>
          </a:xfrm>
        </p:spPr>
        <p:txBody>
          <a:bodyPr/>
          <a:lstStyle/>
          <a:p>
            <a:r>
              <a:rPr lang="en-US" altLang="zh-CN">
                <a:ea typeface="宋体" panose="02010600030101010101" pitchFamily="2" charset="-122"/>
              </a:rPr>
              <a:t>X86 family</a:t>
            </a:r>
          </a:p>
        </p:txBody>
      </p:sp>
      <p:sp>
        <p:nvSpPr>
          <p:cNvPr id="26626" name="Rectangle 3">
            <a:extLst>
              <a:ext uri="{FF2B5EF4-FFF2-40B4-BE49-F238E27FC236}">
                <a16:creationId xmlns:a16="http://schemas.microsoft.com/office/drawing/2014/main" id="{15C54612-B2FC-90F1-4A2E-D62D1C32468D}"/>
              </a:ext>
            </a:extLst>
          </p:cNvPr>
          <p:cNvSpPr>
            <a:spLocks noGrp="1" noChangeArrowheads="1"/>
          </p:cNvSpPr>
          <p:nvPr>
            <p:ph type="body" idx="1"/>
          </p:nvPr>
        </p:nvSpPr>
        <p:spPr>
          <a:xfrm>
            <a:off x="457200" y="1447800"/>
            <a:ext cx="8153400" cy="4572000"/>
          </a:xfrm>
        </p:spPr>
        <p:txBody>
          <a:bodyPr/>
          <a:lstStyle/>
          <a:p>
            <a:r>
              <a:rPr lang="en-US" altLang="zh-CN">
                <a:ea typeface="宋体" panose="02010600030101010101" pitchFamily="2" charset="-122"/>
              </a:rPr>
              <a:t>Pentium III(1999, 8.2M)</a:t>
            </a:r>
          </a:p>
          <a:p>
            <a:pPr lvl="1"/>
            <a:r>
              <a:rPr lang="en-US" altLang="zh-CN">
                <a:ea typeface="宋体" panose="02010600030101010101" pitchFamily="2" charset="-122"/>
              </a:rPr>
              <a:t>New class of instructions for </a:t>
            </a:r>
            <a:r>
              <a:rPr lang="en-US" altLang="zh-CN">
                <a:solidFill>
                  <a:srgbClr val="FF0000"/>
                </a:solidFill>
                <a:ea typeface="宋体" panose="02010600030101010101" pitchFamily="2" charset="-122"/>
              </a:rPr>
              <a:t>manipulating vectors of floating-point</a:t>
            </a:r>
            <a:r>
              <a:rPr lang="en-US" altLang="zh-CN">
                <a:ea typeface="宋体" panose="02010600030101010101" pitchFamily="2" charset="-122"/>
              </a:rPr>
              <a:t> numbers(SSE, Stream SIMD Extension)</a:t>
            </a:r>
          </a:p>
          <a:p>
            <a:pPr lvl="1"/>
            <a:r>
              <a:rPr lang="en-US" altLang="zh-CN">
                <a:ea typeface="宋体" panose="02010600030101010101" pitchFamily="2" charset="-122"/>
              </a:rPr>
              <a:t>Later to 24M due to the incorporation of the </a:t>
            </a:r>
            <a:r>
              <a:rPr lang="en-US" altLang="zh-CN">
                <a:solidFill>
                  <a:srgbClr val="FF0000"/>
                </a:solidFill>
                <a:ea typeface="宋体" panose="02010600030101010101" pitchFamily="2" charset="-122"/>
              </a:rPr>
              <a:t>level-2 cache</a:t>
            </a:r>
          </a:p>
          <a:p>
            <a:r>
              <a:rPr lang="en-US" altLang="zh-CN">
                <a:ea typeface="宋体" panose="02010600030101010101" pitchFamily="2" charset="-122"/>
              </a:rPr>
              <a:t>Pentium 4(2001, 42M)</a:t>
            </a:r>
          </a:p>
          <a:p>
            <a:pPr lvl="1"/>
            <a:r>
              <a:rPr lang="en-US" altLang="zh-CN">
                <a:ea typeface="宋体" panose="02010600030101010101" pitchFamily="2" charset="-122"/>
              </a:rPr>
              <a:t>Netburst microarchitecture with high clock rate but high power consumption</a:t>
            </a:r>
          </a:p>
          <a:p>
            <a:pPr lvl="1"/>
            <a:r>
              <a:rPr lang="en-US" altLang="zh-CN">
                <a:ea typeface="宋体" panose="02010600030101010101" pitchFamily="2" charset="-122"/>
              </a:rPr>
              <a:t>SSE2 instructions, new data types (eg. Double precision)</a:t>
            </a:r>
          </a:p>
        </p:txBody>
      </p:sp>
      <p:sp>
        <p:nvSpPr>
          <p:cNvPr id="26627" name="灯片编号占位符 3">
            <a:extLst>
              <a:ext uri="{FF2B5EF4-FFF2-40B4-BE49-F238E27FC236}">
                <a16:creationId xmlns:a16="http://schemas.microsoft.com/office/drawing/2014/main" id="{34175A72-5841-DE49-3A2B-26739841F46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481A0F17-EA6F-AD44-B65E-60E21EBE7E38}" type="slidenum">
              <a:rPr lang="zh-CN" altLang="en-US" sz="1400" smtClean="0">
                <a:latin typeface="Times New Roman" panose="02020603050405020304" pitchFamily="18" charset="0"/>
              </a:rPr>
              <a:pPr>
                <a:spcBef>
                  <a:spcPct val="0"/>
                </a:spcBef>
                <a:buFontTx/>
                <a:buNone/>
              </a:pPr>
              <a:t>9</a:t>
            </a:fld>
            <a:endParaRPr lang="en-US" altLang="zh-CN" sz="1400">
              <a:latin typeface="Times New Roman" panose="02020603050405020304" pitchFamily="18" charset="0"/>
            </a:endParaRPr>
          </a:p>
        </p:txBody>
      </p:sp>
      <p:pic>
        <p:nvPicPr>
          <p:cNvPr id="26628" name="Picture 7" descr="p3">
            <a:extLst>
              <a:ext uri="{FF2B5EF4-FFF2-40B4-BE49-F238E27FC236}">
                <a16:creationId xmlns:a16="http://schemas.microsoft.com/office/drawing/2014/main" id="{643074C2-F186-040A-72AE-AA262390E1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180975"/>
            <a:ext cx="1211263"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5" descr="pentium4">
            <a:extLst>
              <a:ext uri="{FF2B5EF4-FFF2-40B4-BE49-F238E27FC236}">
                <a16:creationId xmlns:a16="http://schemas.microsoft.com/office/drawing/2014/main" id="{519A08A6-3F39-6A05-1669-53A9DCCB10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2175" y="5638800"/>
            <a:ext cx="19240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91B61226-4919-9FF8-C312-867F92194D83}"/>
              </a:ext>
            </a:extLst>
          </p:cNvPr>
          <p:cNvSpPr>
            <a:spLocks noGrp="1" noChangeArrowheads="1"/>
          </p:cNvSpPr>
          <p:nvPr>
            <p:ph type="title"/>
          </p:nvPr>
        </p:nvSpPr>
        <p:spPr>
          <a:xfrm>
            <a:off x="533400" y="609600"/>
            <a:ext cx="7772400" cy="685800"/>
          </a:xfrm>
        </p:spPr>
        <p:txBody>
          <a:bodyPr/>
          <a:lstStyle/>
          <a:p>
            <a:r>
              <a:rPr lang="en-US" altLang="zh-CN">
                <a:ea typeface="宋体" panose="02010600030101010101" pitchFamily="2" charset="-122"/>
              </a:rPr>
              <a:t>X86 family</a:t>
            </a:r>
          </a:p>
        </p:txBody>
      </p:sp>
      <p:sp>
        <p:nvSpPr>
          <p:cNvPr id="10243" name="Rectangle 3">
            <a:extLst>
              <a:ext uri="{FF2B5EF4-FFF2-40B4-BE49-F238E27FC236}">
                <a16:creationId xmlns:a16="http://schemas.microsoft.com/office/drawing/2014/main" id="{547E8C64-84B8-B2B6-6094-4D760B2BC49F}"/>
              </a:ext>
            </a:extLst>
          </p:cNvPr>
          <p:cNvSpPr>
            <a:spLocks noGrp="1" noChangeArrowheads="1"/>
          </p:cNvSpPr>
          <p:nvPr>
            <p:ph type="body" idx="1"/>
          </p:nvPr>
        </p:nvSpPr>
        <p:spPr>
          <a:xfrm>
            <a:off x="228600" y="1447800"/>
            <a:ext cx="8686800" cy="5029200"/>
          </a:xfrm>
        </p:spPr>
        <p:txBody>
          <a:bodyPr/>
          <a:lstStyle/>
          <a:p>
            <a:pPr>
              <a:defRPr/>
            </a:pPr>
            <a:r>
              <a:rPr lang="en-US" altLang="zh-CN" dirty="0"/>
              <a:t>Pentium 4E: (2004, 125M</a:t>
            </a:r>
            <a:r>
              <a:rPr lang="zh-CN" altLang="en-US" dirty="0"/>
              <a:t> </a:t>
            </a:r>
            <a:r>
              <a:rPr lang="en-US" altLang="zh-CN" dirty="0"/>
              <a:t>transistors). </a:t>
            </a:r>
          </a:p>
          <a:p>
            <a:pPr lvl="1">
              <a:defRPr/>
            </a:pPr>
            <a:r>
              <a:rPr lang="en-US" altLang="zh-CN" dirty="0">
                <a:ea typeface="+mn-ea"/>
                <a:cs typeface="+mn-cs"/>
              </a:rPr>
              <a:t>Added </a:t>
            </a:r>
            <a:r>
              <a:rPr lang="en-US" altLang="zh-CN" i="1" dirty="0" err="1">
                <a:solidFill>
                  <a:srgbClr val="FF0000"/>
                </a:solidFill>
                <a:ea typeface="+mn-ea"/>
                <a:cs typeface="+mn-cs"/>
              </a:rPr>
              <a:t>hyperthreading</a:t>
            </a:r>
            <a:endParaRPr lang="en-US" altLang="zh-CN" i="1" dirty="0">
              <a:solidFill>
                <a:srgbClr val="FF0000"/>
              </a:solidFill>
              <a:ea typeface="+mn-ea"/>
              <a:cs typeface="+mn-cs"/>
            </a:endParaRPr>
          </a:p>
          <a:p>
            <a:pPr lvl="2">
              <a:defRPr/>
            </a:pPr>
            <a:r>
              <a:rPr lang="en-US" altLang="zh-CN" sz="2400" dirty="0">
                <a:ea typeface="+mn-ea"/>
                <a:cs typeface="+mn-cs"/>
              </a:rPr>
              <a:t>run two programs simultaneously on a single processor</a:t>
            </a:r>
          </a:p>
          <a:p>
            <a:pPr lvl="1">
              <a:defRPr/>
            </a:pPr>
            <a:r>
              <a:rPr lang="en-US" altLang="zh-CN" dirty="0">
                <a:ea typeface="+mn-ea"/>
                <a:cs typeface="+mn-cs"/>
              </a:rPr>
              <a:t>EM64T, 64-bit extension to IA32 </a:t>
            </a:r>
          </a:p>
          <a:p>
            <a:pPr lvl="2">
              <a:defRPr/>
            </a:pPr>
            <a:r>
              <a:rPr lang="en-US" altLang="zh-CN" sz="2400" dirty="0">
                <a:ea typeface="+mn-ea"/>
                <a:cs typeface="+mn-cs"/>
              </a:rPr>
              <a:t>First developed by Advanced Micro Devices (AMD)</a:t>
            </a:r>
          </a:p>
          <a:p>
            <a:pPr lvl="2">
              <a:defRPr/>
            </a:pPr>
            <a:r>
              <a:rPr lang="en-US" altLang="zh-CN" sz="2400" dirty="0">
                <a:ea typeface="+mn-ea"/>
                <a:cs typeface="+mn-cs"/>
              </a:rPr>
              <a:t>x86-64</a:t>
            </a:r>
          </a:p>
          <a:p>
            <a:pPr>
              <a:defRPr/>
            </a:pPr>
            <a:r>
              <a:rPr lang="en-US" altLang="zh-CN" dirty="0"/>
              <a:t>Core 2: (2006, 291M</a:t>
            </a:r>
            <a:r>
              <a:rPr lang="zh-CN" altLang="en-US" dirty="0"/>
              <a:t> </a:t>
            </a:r>
            <a:r>
              <a:rPr lang="en-US" altLang="zh-CN" dirty="0"/>
              <a:t>transistors)</a:t>
            </a:r>
          </a:p>
          <a:p>
            <a:pPr lvl="1">
              <a:defRPr/>
            </a:pPr>
            <a:r>
              <a:rPr lang="en-US" altLang="zh-CN" dirty="0">
                <a:ea typeface="+mn-ea"/>
                <a:cs typeface="+mn-cs"/>
              </a:rPr>
              <a:t>back to a </a:t>
            </a:r>
            <a:r>
              <a:rPr lang="en-US" altLang="zh-CN" dirty="0" err="1">
                <a:ea typeface="+mn-ea"/>
                <a:cs typeface="+mn-cs"/>
              </a:rPr>
              <a:t>microarchitecture</a:t>
            </a:r>
            <a:r>
              <a:rPr lang="en-US" altLang="zh-CN" dirty="0">
                <a:ea typeface="+mn-ea"/>
                <a:cs typeface="+mn-cs"/>
              </a:rPr>
              <a:t> similar to P6</a:t>
            </a:r>
          </a:p>
          <a:p>
            <a:pPr lvl="1">
              <a:defRPr/>
            </a:pPr>
            <a:r>
              <a:rPr lang="en-US" altLang="zh-CN" dirty="0">
                <a:ea typeface="+mn-ea"/>
                <a:cs typeface="+mn-cs"/>
              </a:rPr>
              <a:t>multi-core (multiple processors a single chip)</a:t>
            </a:r>
          </a:p>
          <a:p>
            <a:pPr lvl="1">
              <a:defRPr/>
            </a:pPr>
            <a:r>
              <a:rPr lang="en-US" altLang="zh-CN" dirty="0">
                <a:ea typeface="+mn-ea"/>
                <a:cs typeface="+mn-cs"/>
              </a:rPr>
              <a:t>Did not support </a:t>
            </a:r>
            <a:r>
              <a:rPr lang="en-US" altLang="zh-CN" dirty="0" err="1">
                <a:ea typeface="+mn-ea"/>
                <a:cs typeface="+mn-cs"/>
              </a:rPr>
              <a:t>hyperthreading</a:t>
            </a:r>
            <a:endParaRPr lang="en-US" altLang="zh-CN" dirty="0">
              <a:ea typeface="+mn-ea"/>
              <a:cs typeface="+mn-cs"/>
            </a:endParaRPr>
          </a:p>
        </p:txBody>
      </p:sp>
      <p:sp>
        <p:nvSpPr>
          <p:cNvPr id="27651" name="灯片编号占位符 3">
            <a:extLst>
              <a:ext uri="{FF2B5EF4-FFF2-40B4-BE49-F238E27FC236}">
                <a16:creationId xmlns:a16="http://schemas.microsoft.com/office/drawing/2014/main" id="{E67A11B9-96A0-5BCD-A3F3-70995CA7C0C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BCD4C4C0-6311-EC41-811C-0F038B9EB3E9}" type="slidenum">
              <a:rPr lang="zh-CN" altLang="en-US" sz="1400" smtClean="0">
                <a:latin typeface="Times New Roman" panose="02020603050405020304" pitchFamily="18" charset="0"/>
              </a:rPr>
              <a:pPr>
                <a:spcBef>
                  <a:spcPct val="0"/>
                </a:spcBef>
                <a:buFontTx/>
                <a:buNone/>
              </a:pPr>
              <a:t>10</a:t>
            </a:fld>
            <a:endParaRPr lang="en-US" altLang="zh-CN" sz="140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2EEEB6FA-B9AD-25EB-436D-43F8E32D59B3}"/>
              </a:ext>
            </a:extLst>
          </p:cNvPr>
          <p:cNvSpPr>
            <a:spLocks noGrp="1" noChangeArrowheads="1"/>
          </p:cNvSpPr>
          <p:nvPr>
            <p:ph type="title"/>
          </p:nvPr>
        </p:nvSpPr>
        <p:spPr>
          <a:xfrm>
            <a:off x="533400" y="609600"/>
            <a:ext cx="7772400" cy="685800"/>
          </a:xfrm>
        </p:spPr>
        <p:txBody>
          <a:bodyPr/>
          <a:lstStyle/>
          <a:p>
            <a:r>
              <a:rPr lang="en-US" altLang="zh-CN">
                <a:ea typeface="宋体" panose="02010600030101010101" pitchFamily="2" charset="-122"/>
              </a:rPr>
              <a:t>X86 family</a:t>
            </a:r>
          </a:p>
        </p:txBody>
      </p:sp>
      <p:sp>
        <p:nvSpPr>
          <p:cNvPr id="10243" name="Rectangle 3">
            <a:extLst>
              <a:ext uri="{FF2B5EF4-FFF2-40B4-BE49-F238E27FC236}">
                <a16:creationId xmlns:a16="http://schemas.microsoft.com/office/drawing/2014/main" id="{4F25E899-9B4E-6DEA-7458-4D73BE5C3EF9}"/>
              </a:ext>
            </a:extLst>
          </p:cNvPr>
          <p:cNvSpPr>
            <a:spLocks noGrp="1" noChangeArrowheads="1"/>
          </p:cNvSpPr>
          <p:nvPr>
            <p:ph type="body" idx="1"/>
          </p:nvPr>
        </p:nvSpPr>
        <p:spPr>
          <a:xfrm>
            <a:off x="457200" y="1447800"/>
            <a:ext cx="8382000" cy="4572000"/>
          </a:xfrm>
        </p:spPr>
        <p:txBody>
          <a:bodyPr/>
          <a:lstStyle/>
          <a:p>
            <a:pPr>
              <a:defRPr/>
            </a:pPr>
            <a:r>
              <a:rPr lang="en-US" altLang="zh-CN" dirty="0"/>
              <a:t>Core i7: (2008, 781 M transistors). </a:t>
            </a:r>
          </a:p>
          <a:p>
            <a:pPr lvl="1">
              <a:defRPr/>
            </a:pPr>
            <a:r>
              <a:rPr lang="en-US" altLang="zh-CN" dirty="0">
                <a:ea typeface="+mn-ea"/>
                <a:cs typeface="+mn-cs"/>
              </a:rPr>
              <a:t>Incorporated </a:t>
            </a:r>
            <a:r>
              <a:rPr lang="en-US" altLang="zh-CN" dirty="0">
                <a:solidFill>
                  <a:srgbClr val="FF0000"/>
                </a:solidFill>
                <a:ea typeface="+mn-ea"/>
                <a:cs typeface="+mn-cs"/>
              </a:rPr>
              <a:t>both </a:t>
            </a:r>
            <a:r>
              <a:rPr lang="en-US" altLang="zh-CN" dirty="0" err="1">
                <a:solidFill>
                  <a:srgbClr val="FF0000"/>
                </a:solidFill>
                <a:ea typeface="+mn-ea"/>
                <a:cs typeface="+mn-cs"/>
              </a:rPr>
              <a:t>hyperthreading</a:t>
            </a:r>
            <a:r>
              <a:rPr lang="en-US" altLang="zh-CN" dirty="0">
                <a:solidFill>
                  <a:srgbClr val="FF0000"/>
                </a:solidFill>
                <a:ea typeface="+mn-ea"/>
                <a:cs typeface="+mn-cs"/>
              </a:rPr>
              <a:t> and multi-core</a:t>
            </a:r>
          </a:p>
          <a:p>
            <a:pPr lvl="1">
              <a:defRPr/>
            </a:pPr>
            <a:r>
              <a:rPr lang="en-US" altLang="zh-CN" dirty="0">
                <a:ea typeface="+mn-ea"/>
                <a:cs typeface="+mn-cs"/>
              </a:rPr>
              <a:t>the initial version supporting two executing programs on each core </a:t>
            </a:r>
          </a:p>
          <a:p>
            <a:pPr>
              <a:defRPr/>
            </a:pPr>
            <a:r>
              <a:rPr lang="en-US" altLang="zh-CN" dirty="0"/>
              <a:t>Core i7: (2012, 2.27B transistors, </a:t>
            </a:r>
          </a:p>
          <a:p>
            <a:pPr marL="0" indent="0">
              <a:buFontTx/>
              <a:buNone/>
              <a:defRPr/>
            </a:pPr>
            <a:r>
              <a:rPr lang="en-US" altLang="zh-CN" dirty="0"/>
              <a:t>		Sandy Bridge-EP)</a:t>
            </a:r>
          </a:p>
          <a:p>
            <a:pPr lvl="1">
              <a:defRPr/>
            </a:pPr>
            <a:r>
              <a:rPr lang="en-US" altLang="zh-CN" dirty="0">
                <a:ea typeface="+mn-ea"/>
                <a:cs typeface="+mn-cs"/>
              </a:rPr>
              <a:t>8 cores on each chip</a:t>
            </a:r>
          </a:p>
          <a:p>
            <a:pPr lvl="1">
              <a:defRPr/>
            </a:pPr>
            <a:r>
              <a:rPr lang="en-US" altLang="zh-CN" dirty="0">
                <a:ea typeface="+mn-ea"/>
                <a:cs typeface="+mn-cs"/>
              </a:rPr>
              <a:t>2.7G (3.3G)</a:t>
            </a:r>
          </a:p>
          <a:p>
            <a:pPr>
              <a:defRPr/>
            </a:pPr>
            <a:r>
              <a:rPr lang="en-US" altLang="zh-CN" dirty="0"/>
              <a:t>Core i7: (2015, 5.5B transistors, </a:t>
            </a:r>
            <a:r>
              <a:rPr lang="en-US" altLang="zh-CN" dirty="0" err="1"/>
              <a:t>Haswell</a:t>
            </a:r>
            <a:r>
              <a:rPr lang="en-US" altLang="zh-CN" dirty="0"/>
              <a:t>-EP)</a:t>
            </a:r>
          </a:p>
          <a:p>
            <a:pPr lvl="1">
              <a:defRPr/>
            </a:pPr>
            <a:r>
              <a:rPr lang="en-US" altLang="zh-CN" dirty="0"/>
              <a:t> 18-core Xeon</a:t>
            </a:r>
          </a:p>
        </p:txBody>
      </p:sp>
      <p:sp>
        <p:nvSpPr>
          <p:cNvPr id="28675" name="灯片编号占位符 3">
            <a:extLst>
              <a:ext uri="{FF2B5EF4-FFF2-40B4-BE49-F238E27FC236}">
                <a16:creationId xmlns:a16="http://schemas.microsoft.com/office/drawing/2014/main" id="{F94E0F3D-9E14-F7F7-E11B-1469739AEA8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1C029C56-6160-D74F-B554-FC6A4AFC8799}" type="slidenum">
              <a:rPr lang="zh-CN" altLang="en-US" sz="1400" smtClean="0">
                <a:latin typeface="Times New Roman" panose="02020603050405020304" pitchFamily="18" charset="0"/>
              </a:rPr>
              <a:pPr>
                <a:spcBef>
                  <a:spcPct val="0"/>
                </a:spcBef>
                <a:buFontTx/>
                <a:buNone/>
              </a:pPr>
              <a:t>11</a:t>
            </a:fld>
            <a:endParaRPr lang="en-US" altLang="zh-CN" sz="1400">
              <a:latin typeface="Times New Roman" panose="02020603050405020304" pitchFamily="18" charset="0"/>
            </a:endParaRPr>
          </a:p>
        </p:txBody>
      </p:sp>
      <p:pic>
        <p:nvPicPr>
          <p:cNvPr id="35845" name="Picture 3">
            <a:extLst>
              <a:ext uri="{FF2B5EF4-FFF2-40B4-BE49-F238E27FC236}">
                <a16:creationId xmlns:a16="http://schemas.microsoft.com/office/drawing/2014/main" id="{C524D255-AC07-1C24-CB33-119897EEB8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5450" y="457200"/>
            <a:ext cx="3333750" cy="231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8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7" name="Rectangle 1027">
            <a:extLst>
              <a:ext uri="{FF2B5EF4-FFF2-40B4-BE49-F238E27FC236}">
                <a16:creationId xmlns:a16="http://schemas.microsoft.com/office/drawing/2014/main" id="{03AFDA33-7806-2302-7E67-9B503D715170}"/>
              </a:ext>
            </a:extLst>
          </p:cNvPr>
          <p:cNvSpPr>
            <a:spLocks noGrp="1" noChangeArrowheads="1"/>
          </p:cNvSpPr>
          <p:nvPr>
            <p:ph type="body" idx="1"/>
          </p:nvPr>
        </p:nvSpPr>
        <p:spPr>
          <a:xfrm>
            <a:off x="304800" y="1600200"/>
            <a:ext cx="7896225" cy="4972050"/>
          </a:xfrm>
        </p:spPr>
        <p:txBody>
          <a:bodyPr/>
          <a:lstStyle/>
          <a:p>
            <a:pPr marL="160338" indent="-222250" defTabSz="895350">
              <a:tabLst>
                <a:tab pos="2349500" algn="l"/>
              </a:tabLst>
              <a:defRPr/>
            </a:pPr>
            <a:r>
              <a:rPr lang="en-US" dirty="0"/>
              <a:t>Core i7 Broadwell 2015</a:t>
            </a:r>
          </a:p>
          <a:p>
            <a:pPr marL="223838" indent="-223838" defTabSz="895350">
              <a:tabLst>
                <a:tab pos="2349500" algn="l"/>
              </a:tabLst>
              <a:defRPr/>
            </a:pPr>
            <a:r>
              <a:rPr lang="en-US" dirty="0"/>
              <a:t>Desktop Model</a:t>
            </a:r>
          </a:p>
          <a:p>
            <a:pPr marL="623888" lvl="1" indent="-223838" defTabSz="895350">
              <a:tabLst>
                <a:tab pos="2349500" algn="l"/>
              </a:tabLst>
              <a:defRPr/>
            </a:pPr>
            <a:r>
              <a:rPr lang="en-US" dirty="0"/>
              <a:t>4 cores</a:t>
            </a:r>
          </a:p>
          <a:p>
            <a:pPr marL="623888" lvl="1" indent="-223838" defTabSz="895350">
              <a:tabLst>
                <a:tab pos="2349500" algn="l"/>
              </a:tabLst>
              <a:defRPr/>
            </a:pPr>
            <a:r>
              <a:rPr lang="en-US" dirty="0"/>
              <a:t>Integrated graphics</a:t>
            </a:r>
          </a:p>
          <a:p>
            <a:pPr marL="623888" lvl="1" indent="-223838" defTabSz="895350">
              <a:tabLst>
                <a:tab pos="2349500" algn="l"/>
              </a:tabLst>
              <a:defRPr/>
            </a:pPr>
            <a:r>
              <a:rPr lang="en-US" dirty="0"/>
              <a:t>3.3-3.8 GHz</a:t>
            </a:r>
          </a:p>
          <a:p>
            <a:pPr marL="623888" lvl="1" indent="-223838" defTabSz="895350">
              <a:tabLst>
                <a:tab pos="2349500" algn="l"/>
              </a:tabLst>
              <a:defRPr/>
            </a:pPr>
            <a:r>
              <a:rPr lang="en-US" dirty="0"/>
              <a:t>65W</a:t>
            </a:r>
          </a:p>
          <a:p>
            <a:pPr marL="223838" indent="-223838" defTabSz="895350">
              <a:tabLst>
                <a:tab pos="2349500" algn="l"/>
              </a:tabLst>
              <a:defRPr/>
            </a:pPr>
            <a:r>
              <a:rPr lang="en-US" dirty="0"/>
              <a:t>Server Model</a:t>
            </a:r>
          </a:p>
          <a:p>
            <a:pPr marL="623888" lvl="1" indent="-223838" defTabSz="895350">
              <a:tabLst>
                <a:tab pos="2349500" algn="l"/>
              </a:tabLst>
              <a:defRPr/>
            </a:pPr>
            <a:r>
              <a:rPr lang="en-US" dirty="0"/>
              <a:t>8 cores</a:t>
            </a:r>
          </a:p>
          <a:p>
            <a:pPr marL="623888" lvl="1" indent="-223838" defTabSz="895350">
              <a:tabLst>
                <a:tab pos="2349500" algn="l"/>
              </a:tabLst>
              <a:defRPr/>
            </a:pPr>
            <a:r>
              <a:rPr lang="en-US" dirty="0"/>
              <a:t>Integrated I/O</a:t>
            </a:r>
          </a:p>
          <a:p>
            <a:pPr marL="623888" lvl="1" indent="-223838" defTabSz="895350">
              <a:tabLst>
                <a:tab pos="2349500" algn="l"/>
              </a:tabLst>
              <a:defRPr/>
            </a:pPr>
            <a:r>
              <a:rPr lang="en-US" dirty="0"/>
              <a:t>2-2.6 GHz</a:t>
            </a:r>
          </a:p>
          <a:p>
            <a:pPr marL="623888" lvl="1" indent="-223838" defTabSz="895350">
              <a:tabLst>
                <a:tab pos="2349500" algn="l"/>
              </a:tabLst>
              <a:defRPr/>
            </a:pPr>
            <a:r>
              <a:rPr lang="en-US" dirty="0"/>
              <a:t>45W</a:t>
            </a:r>
          </a:p>
        </p:txBody>
      </p:sp>
      <p:pic>
        <p:nvPicPr>
          <p:cNvPr id="29698" name="Picture 3">
            <a:extLst>
              <a:ext uri="{FF2B5EF4-FFF2-40B4-BE49-F238E27FC236}">
                <a16:creationId xmlns:a16="http://schemas.microsoft.com/office/drawing/2014/main" id="{60C76CA3-6490-7652-2BDD-FC21800494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2192338"/>
            <a:ext cx="5032375" cy="437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B57762CE-B0A2-9EF8-4127-B0EC06226515}"/>
              </a:ext>
            </a:extLst>
          </p:cNvPr>
          <p:cNvSpPr txBox="1">
            <a:spLocks noChangeArrowheads="1"/>
          </p:cNvSpPr>
          <p:nvPr/>
        </p:nvSpPr>
        <p:spPr bwMode="auto">
          <a:xfrm>
            <a:off x="533400" y="609600"/>
            <a:ext cx="7772400" cy="685800"/>
          </a:xfrm>
          <a:prstGeom prst="rect">
            <a:avLst/>
          </a:prstGeom>
          <a:noFill/>
          <a:ln>
            <a:noFill/>
          </a:ln>
        </p:spPr>
        <p:txBody>
          <a:bodyPr anchor="ctr"/>
          <a:lst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Comic Sans MS" pitchFamily="66" charset="0"/>
              </a:defRPr>
            </a:lvl2pPr>
            <a:lvl3pPr algn="l" rtl="0" eaLnBrk="0" fontAlgn="base" hangingPunct="0">
              <a:spcBef>
                <a:spcPct val="0"/>
              </a:spcBef>
              <a:spcAft>
                <a:spcPct val="0"/>
              </a:spcAft>
              <a:defRPr sz="2800" b="1">
                <a:solidFill>
                  <a:schemeClr val="tx2"/>
                </a:solidFill>
                <a:latin typeface="Comic Sans MS" pitchFamily="66" charset="0"/>
              </a:defRPr>
            </a:lvl3pPr>
            <a:lvl4pPr algn="l" rtl="0" eaLnBrk="0" fontAlgn="base" hangingPunct="0">
              <a:spcBef>
                <a:spcPct val="0"/>
              </a:spcBef>
              <a:spcAft>
                <a:spcPct val="0"/>
              </a:spcAft>
              <a:defRPr sz="2800" b="1">
                <a:solidFill>
                  <a:schemeClr val="tx2"/>
                </a:solidFill>
                <a:latin typeface="Comic Sans MS" pitchFamily="66" charset="0"/>
              </a:defRPr>
            </a:lvl4pPr>
            <a:lvl5pPr algn="l" rtl="0" eaLnBrk="0" fontAlgn="base" hangingPunct="0">
              <a:spcBef>
                <a:spcPct val="0"/>
              </a:spcBef>
              <a:spcAft>
                <a:spcPct val="0"/>
              </a:spcAft>
              <a:defRPr sz="2800" b="1">
                <a:solidFill>
                  <a:schemeClr val="tx2"/>
                </a:solidFill>
                <a:latin typeface="Comic Sans MS" pitchFamily="66" charset="0"/>
              </a:defRPr>
            </a:lvl5pPr>
            <a:lvl6pPr marL="457200" algn="l" rtl="0" eaLnBrk="0" fontAlgn="base" hangingPunct="0">
              <a:spcBef>
                <a:spcPct val="0"/>
              </a:spcBef>
              <a:spcAft>
                <a:spcPct val="0"/>
              </a:spcAft>
              <a:defRPr sz="2800" b="1">
                <a:solidFill>
                  <a:schemeClr val="tx2"/>
                </a:solidFill>
                <a:latin typeface="Comic Sans MS" pitchFamily="66" charset="0"/>
              </a:defRPr>
            </a:lvl6pPr>
            <a:lvl7pPr marL="914400" algn="l" rtl="0" eaLnBrk="0" fontAlgn="base" hangingPunct="0">
              <a:spcBef>
                <a:spcPct val="0"/>
              </a:spcBef>
              <a:spcAft>
                <a:spcPct val="0"/>
              </a:spcAft>
              <a:defRPr sz="2800" b="1">
                <a:solidFill>
                  <a:schemeClr val="tx2"/>
                </a:solidFill>
                <a:latin typeface="Comic Sans MS" pitchFamily="66" charset="0"/>
              </a:defRPr>
            </a:lvl7pPr>
            <a:lvl8pPr marL="1371600" algn="l" rtl="0" eaLnBrk="0" fontAlgn="base" hangingPunct="0">
              <a:spcBef>
                <a:spcPct val="0"/>
              </a:spcBef>
              <a:spcAft>
                <a:spcPct val="0"/>
              </a:spcAft>
              <a:defRPr sz="2800" b="1">
                <a:solidFill>
                  <a:schemeClr val="tx2"/>
                </a:solidFill>
                <a:latin typeface="Comic Sans MS" pitchFamily="66" charset="0"/>
              </a:defRPr>
            </a:lvl8pPr>
            <a:lvl9pPr marL="1828800" algn="l" rtl="0" eaLnBrk="0" fontAlgn="base" hangingPunct="0">
              <a:spcBef>
                <a:spcPct val="0"/>
              </a:spcBef>
              <a:spcAft>
                <a:spcPct val="0"/>
              </a:spcAft>
              <a:defRPr sz="2800" b="1">
                <a:solidFill>
                  <a:schemeClr val="tx2"/>
                </a:solidFill>
                <a:latin typeface="Comic Sans MS" pitchFamily="66" charset="0"/>
              </a:defRPr>
            </a:lvl9pPr>
          </a:lstStyle>
          <a:p>
            <a:pPr>
              <a:defRPr/>
            </a:pPr>
            <a:r>
              <a:rPr lang="en-US" altLang="zh-CN" kern="0">
                <a:ea typeface="宋体" charset="-122"/>
              </a:rPr>
              <a:t>X86 family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7B68D3E7-4FDF-EDB5-7639-AF45676FBCFD}"/>
              </a:ext>
            </a:extLst>
          </p:cNvPr>
          <p:cNvSpPr>
            <a:spLocks noGrp="1" noChangeArrowheads="1"/>
          </p:cNvSpPr>
          <p:nvPr>
            <p:ph type="title"/>
          </p:nvPr>
        </p:nvSpPr>
        <p:spPr>
          <a:xfrm>
            <a:off x="533400" y="609600"/>
            <a:ext cx="7772400" cy="685800"/>
          </a:xfrm>
        </p:spPr>
        <p:txBody>
          <a:bodyPr/>
          <a:lstStyle/>
          <a:p>
            <a:r>
              <a:rPr lang="en-US" altLang="zh-CN">
                <a:ea typeface="宋体" panose="02010600030101010101" pitchFamily="2" charset="-122"/>
              </a:rPr>
              <a:t>X86 family</a:t>
            </a:r>
          </a:p>
        </p:txBody>
      </p:sp>
      <p:sp>
        <p:nvSpPr>
          <p:cNvPr id="31746" name="Rectangle 3">
            <a:extLst>
              <a:ext uri="{FF2B5EF4-FFF2-40B4-BE49-F238E27FC236}">
                <a16:creationId xmlns:a16="http://schemas.microsoft.com/office/drawing/2014/main" id="{8762B79D-0E02-9CBC-7379-B15491FB7D1D}"/>
              </a:ext>
            </a:extLst>
          </p:cNvPr>
          <p:cNvSpPr>
            <a:spLocks noGrp="1" noChangeArrowheads="1"/>
          </p:cNvSpPr>
          <p:nvPr>
            <p:ph type="body" idx="1"/>
          </p:nvPr>
        </p:nvSpPr>
        <p:spPr>
          <a:xfrm>
            <a:off x="457200" y="1447800"/>
            <a:ext cx="7772400" cy="4648200"/>
          </a:xfrm>
        </p:spPr>
        <p:txBody>
          <a:bodyPr/>
          <a:lstStyle/>
          <a:p>
            <a:r>
              <a:rPr lang="en-US" altLang="zh-CN">
                <a:ea typeface="宋体" panose="02010600030101010101" pitchFamily="2" charset="-122"/>
              </a:rPr>
              <a:t>Advanced Micro Devices (AMD)</a:t>
            </a:r>
          </a:p>
          <a:p>
            <a:pPr lvl="1"/>
            <a:r>
              <a:rPr lang="en-US" altLang="zh-CN">
                <a:ea typeface="宋体" panose="02010600030101010101" pitchFamily="2" charset="-122"/>
              </a:rPr>
              <a:t>At beginning, </a:t>
            </a:r>
          </a:p>
          <a:p>
            <a:pPr lvl="2"/>
            <a:r>
              <a:rPr lang="en-US" altLang="zh-CN" sz="2400">
                <a:ea typeface="宋体" panose="02010600030101010101" pitchFamily="2" charset="-122"/>
              </a:rPr>
              <a:t>lagged just behind Intel in technology, </a:t>
            </a:r>
          </a:p>
          <a:p>
            <a:pPr lvl="2"/>
            <a:r>
              <a:rPr lang="en-US" altLang="zh-CN" sz="2400">
                <a:ea typeface="宋体" panose="02010600030101010101" pitchFamily="2" charset="-122"/>
              </a:rPr>
              <a:t>produced less expensive and lower performance processors</a:t>
            </a:r>
          </a:p>
          <a:p>
            <a:r>
              <a:rPr lang="en-US" altLang="zh-CN">
                <a:ea typeface="宋体" panose="02010600030101010101" pitchFamily="2" charset="-122"/>
              </a:rPr>
              <a:t>In 1999</a:t>
            </a:r>
          </a:p>
          <a:p>
            <a:pPr lvl="1"/>
            <a:r>
              <a:rPr lang="en-US" altLang="zh-CN">
                <a:ea typeface="宋体" panose="02010600030101010101" pitchFamily="2" charset="-122"/>
              </a:rPr>
              <a:t>First broke the 1-gigahertz clock-speed barrier</a:t>
            </a:r>
          </a:p>
          <a:p>
            <a:r>
              <a:rPr lang="en-US" altLang="zh-CN">
                <a:ea typeface="宋体" panose="02010600030101010101" pitchFamily="2" charset="-122"/>
              </a:rPr>
              <a:t>In 2002</a:t>
            </a:r>
          </a:p>
          <a:p>
            <a:pPr lvl="1"/>
            <a:r>
              <a:rPr lang="en-US" altLang="zh-CN">
                <a:ea typeface="宋体" panose="02010600030101010101" pitchFamily="2" charset="-122"/>
              </a:rPr>
              <a:t>Introduced x86-64</a:t>
            </a:r>
          </a:p>
          <a:p>
            <a:pPr lvl="1"/>
            <a:r>
              <a:rPr lang="en-US" altLang="zh-CN">
                <a:ea typeface="宋体" panose="02010600030101010101" pitchFamily="2" charset="-122"/>
              </a:rPr>
              <a:t>The widely adopted 64-bit extension to IA32</a:t>
            </a:r>
            <a:endParaRPr lang="en-US" altLang="zh-CN" sz="6200" b="1">
              <a:ea typeface="宋体" panose="02010600030101010101" pitchFamily="2" charset="-122"/>
            </a:endParaRPr>
          </a:p>
        </p:txBody>
      </p:sp>
      <p:sp>
        <p:nvSpPr>
          <p:cNvPr id="31747" name="灯片编号占位符 3">
            <a:extLst>
              <a:ext uri="{FF2B5EF4-FFF2-40B4-BE49-F238E27FC236}">
                <a16:creationId xmlns:a16="http://schemas.microsoft.com/office/drawing/2014/main" id="{6217640C-8F7A-14EC-36B1-82C69DCFB6A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52624A96-24E8-4A4A-AE1E-A1080186E5AB}" type="slidenum">
              <a:rPr lang="zh-CN" altLang="en-US" sz="1400" smtClean="0">
                <a:latin typeface="Times New Roman" panose="02020603050405020304" pitchFamily="18" charset="0"/>
              </a:rPr>
              <a:pPr>
                <a:spcBef>
                  <a:spcPct val="0"/>
                </a:spcBef>
                <a:buFontTx/>
                <a:buNone/>
              </a:pPr>
              <a:t>13</a:t>
            </a:fld>
            <a:endParaRPr lang="en-US" altLang="zh-CN" sz="1400">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71EFCB58-39B3-303B-3660-21BE5D70D475}"/>
              </a:ext>
            </a:extLst>
          </p:cNvPr>
          <p:cNvSpPr>
            <a:spLocks noGrp="1" noChangeArrowheads="1"/>
          </p:cNvSpPr>
          <p:nvPr>
            <p:ph type="title"/>
          </p:nvPr>
        </p:nvSpPr>
        <p:spPr>
          <a:xfrm>
            <a:off x="533400" y="609600"/>
            <a:ext cx="7772400" cy="685800"/>
          </a:xfrm>
        </p:spPr>
        <p:txBody>
          <a:bodyPr/>
          <a:lstStyle/>
          <a:p>
            <a:r>
              <a:rPr lang="en-US" altLang="zh-CN">
                <a:ea typeface="宋体" panose="02010600030101010101" pitchFamily="2" charset="-122"/>
              </a:rPr>
              <a:t>Moor’s Law</a:t>
            </a:r>
          </a:p>
        </p:txBody>
      </p:sp>
      <p:sp>
        <p:nvSpPr>
          <p:cNvPr id="32770" name="灯片编号占位符 3">
            <a:extLst>
              <a:ext uri="{FF2B5EF4-FFF2-40B4-BE49-F238E27FC236}">
                <a16:creationId xmlns:a16="http://schemas.microsoft.com/office/drawing/2014/main" id="{212FD53D-34C8-F0E2-B498-B7EE420BA1F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4A5BB77A-FCD8-014C-BE8F-4B80CD7C44EC}" type="slidenum">
              <a:rPr lang="zh-CN" altLang="en-US" sz="1400" smtClean="0">
                <a:latin typeface="Times New Roman" panose="02020603050405020304" pitchFamily="18" charset="0"/>
              </a:rPr>
              <a:pPr>
                <a:spcBef>
                  <a:spcPct val="0"/>
                </a:spcBef>
                <a:buFontTx/>
                <a:buNone/>
              </a:pPr>
              <a:t>14</a:t>
            </a:fld>
            <a:endParaRPr lang="en-US" altLang="zh-CN" sz="1400">
              <a:latin typeface="Times New Roman" panose="02020603050405020304" pitchFamily="18" charset="0"/>
            </a:endParaRPr>
          </a:p>
        </p:txBody>
      </p:sp>
      <p:pic>
        <p:nvPicPr>
          <p:cNvPr id="32771" name="Picture 2">
            <a:extLst>
              <a:ext uri="{FF2B5EF4-FFF2-40B4-BE49-F238E27FC236}">
                <a16:creationId xmlns:a16="http://schemas.microsoft.com/office/drawing/2014/main" id="{CBD4C25C-B521-19E4-0697-5A239A9DF4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47800"/>
            <a:ext cx="8553450"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a:extLst>
              <a:ext uri="{FF2B5EF4-FFF2-40B4-BE49-F238E27FC236}">
                <a16:creationId xmlns:a16="http://schemas.microsoft.com/office/drawing/2014/main" id="{FB5556BA-1306-0350-314D-393F6E5BFF06}"/>
              </a:ext>
            </a:extLst>
          </p:cNvPr>
          <p:cNvSpPr>
            <a:spLocks noGrp="1" noChangeArrowheads="1"/>
          </p:cNvSpPr>
          <p:nvPr>
            <p:ph type="title"/>
          </p:nvPr>
        </p:nvSpPr>
        <p:spPr/>
        <p:txBody>
          <a:bodyPr/>
          <a:lstStyle/>
          <a:p>
            <a:r>
              <a:rPr kumimoji="1" lang="zh-CN" altLang="en-US">
                <a:ea typeface="宋体" panose="02010600030101010101" pitchFamily="2" charset="-122"/>
              </a:rPr>
              <a:t>苹果</a:t>
            </a:r>
            <a:r>
              <a:rPr kumimoji="1" lang="en-US" altLang="zh-CN">
                <a:ea typeface="宋体" panose="02010600030101010101" pitchFamily="2" charset="-122"/>
              </a:rPr>
              <a:t>M1</a:t>
            </a:r>
            <a:r>
              <a:rPr kumimoji="1" lang="zh-CN" altLang="en-US">
                <a:ea typeface="宋体" panose="02010600030101010101" pitchFamily="2" charset="-122"/>
              </a:rPr>
              <a:t> </a:t>
            </a:r>
            <a:r>
              <a:rPr kumimoji="1" lang="en-US" altLang="zh-CN">
                <a:ea typeface="宋体" panose="02010600030101010101" pitchFamily="2" charset="-122"/>
              </a:rPr>
              <a:t>Pro</a:t>
            </a:r>
            <a:r>
              <a:rPr kumimoji="1" lang="zh-CN" altLang="en-US">
                <a:ea typeface="宋体" panose="02010600030101010101" pitchFamily="2" charset="-122"/>
              </a:rPr>
              <a:t>和</a:t>
            </a:r>
            <a:r>
              <a:rPr kumimoji="1" lang="en-US" altLang="zh-CN">
                <a:ea typeface="宋体" panose="02010600030101010101" pitchFamily="2" charset="-122"/>
              </a:rPr>
              <a:t>M1 Max</a:t>
            </a:r>
            <a:endParaRPr kumimoji="1" lang="zh-CN" altLang="en-US">
              <a:ea typeface="宋体" panose="02010600030101010101" pitchFamily="2" charset="-122"/>
            </a:endParaRPr>
          </a:p>
        </p:txBody>
      </p:sp>
      <p:sp>
        <p:nvSpPr>
          <p:cNvPr id="33794" name="内容占位符 2">
            <a:extLst>
              <a:ext uri="{FF2B5EF4-FFF2-40B4-BE49-F238E27FC236}">
                <a16:creationId xmlns:a16="http://schemas.microsoft.com/office/drawing/2014/main" id="{4B4A7EA5-5940-02CF-88AA-0FCD8B96F993}"/>
              </a:ext>
            </a:extLst>
          </p:cNvPr>
          <p:cNvSpPr>
            <a:spLocks noGrp="1" noChangeArrowheads="1"/>
          </p:cNvSpPr>
          <p:nvPr>
            <p:ph idx="1"/>
          </p:nvPr>
        </p:nvSpPr>
        <p:spPr/>
        <p:txBody>
          <a:bodyPr/>
          <a:lstStyle/>
          <a:p>
            <a:r>
              <a:rPr kumimoji="1" lang="en-US" altLang="zh-CN">
                <a:ea typeface="宋体" panose="02010600030101010101" pitchFamily="2" charset="-122"/>
              </a:rPr>
              <a:t>M1 Pro</a:t>
            </a:r>
          </a:p>
          <a:p>
            <a:pPr lvl="1"/>
            <a:r>
              <a:rPr kumimoji="1" lang="zh-CN" altLang="en-US">
                <a:ea typeface="宋体" panose="02010600030101010101" pitchFamily="2" charset="-122"/>
              </a:rPr>
              <a:t>内存带宽</a:t>
            </a:r>
            <a:r>
              <a:rPr kumimoji="1" lang="en-US" altLang="zh-CN">
                <a:ea typeface="宋体" panose="02010600030101010101" pitchFamily="2" charset="-122"/>
              </a:rPr>
              <a:t>200GB/s</a:t>
            </a:r>
          </a:p>
          <a:p>
            <a:pPr lvl="1"/>
            <a:r>
              <a:rPr kumimoji="1" lang="en-US" altLang="zh-CN">
                <a:ea typeface="宋体" panose="02010600030101010101" pitchFamily="2" charset="-122"/>
              </a:rPr>
              <a:t>337 </a:t>
            </a:r>
            <a:r>
              <a:rPr kumimoji="1" lang="zh-CN" altLang="en-US">
                <a:ea typeface="宋体" panose="02010600030101010101" pitchFamily="2" charset="-122"/>
              </a:rPr>
              <a:t>亿晶体管</a:t>
            </a:r>
            <a:endParaRPr kumimoji="1" lang="en-US" altLang="zh-CN">
              <a:ea typeface="宋体" panose="02010600030101010101" pitchFamily="2" charset="-122"/>
            </a:endParaRPr>
          </a:p>
          <a:p>
            <a:r>
              <a:rPr kumimoji="1" lang="en-US" altLang="zh-CN">
                <a:ea typeface="宋体" panose="02010600030101010101" pitchFamily="2" charset="-122"/>
              </a:rPr>
              <a:t>M1 Max</a:t>
            </a:r>
          </a:p>
          <a:p>
            <a:pPr lvl="1"/>
            <a:r>
              <a:rPr kumimoji="1" lang="zh-CN" altLang="en-US">
                <a:ea typeface="宋体" panose="02010600030101010101" pitchFamily="2" charset="-122"/>
              </a:rPr>
              <a:t>内存带宽</a:t>
            </a:r>
            <a:r>
              <a:rPr kumimoji="1" lang="en-US" altLang="zh-CN">
                <a:ea typeface="宋体" panose="02010600030101010101" pitchFamily="2" charset="-122"/>
              </a:rPr>
              <a:t>400GB/s</a:t>
            </a:r>
          </a:p>
          <a:p>
            <a:pPr lvl="1"/>
            <a:r>
              <a:rPr kumimoji="1" lang="en-US" altLang="zh-CN">
                <a:ea typeface="宋体" panose="02010600030101010101" pitchFamily="2" charset="-122"/>
              </a:rPr>
              <a:t>570 </a:t>
            </a:r>
            <a:r>
              <a:rPr kumimoji="1" lang="zh-CN" altLang="en-US">
                <a:ea typeface="宋体" panose="02010600030101010101" pitchFamily="2" charset="-122"/>
              </a:rPr>
              <a:t>亿晶体管</a:t>
            </a:r>
          </a:p>
        </p:txBody>
      </p:sp>
      <p:sp>
        <p:nvSpPr>
          <p:cNvPr id="33795" name="灯片编号占位符 3">
            <a:extLst>
              <a:ext uri="{FF2B5EF4-FFF2-40B4-BE49-F238E27FC236}">
                <a16:creationId xmlns:a16="http://schemas.microsoft.com/office/drawing/2014/main" id="{59EC4958-2023-3BD4-862C-ED452AE2B07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92CF608D-E9B6-174C-8FB4-AA13DF950917}" type="slidenum">
              <a:rPr lang="zh-CN" altLang="en-US" sz="1400" smtClean="0">
                <a:latin typeface="Times New Roman" panose="02020603050405020304" pitchFamily="18" charset="0"/>
              </a:rPr>
              <a:pPr>
                <a:spcBef>
                  <a:spcPct val="0"/>
                </a:spcBef>
                <a:buFontTx/>
                <a:buNone/>
              </a:pPr>
              <a:t>15</a:t>
            </a:fld>
            <a:endParaRPr lang="en-US" altLang="zh-CN" sz="1400">
              <a:latin typeface="Times New Roman" panose="02020603050405020304" pitchFamily="18" charset="0"/>
            </a:endParaRPr>
          </a:p>
        </p:txBody>
      </p:sp>
      <p:pic>
        <p:nvPicPr>
          <p:cNvPr id="33796" name="图片 7" descr="徽标&#10;&#10;中度可信度描述已自动生成">
            <a:extLst>
              <a:ext uri="{FF2B5EF4-FFF2-40B4-BE49-F238E27FC236}">
                <a16:creationId xmlns:a16="http://schemas.microsoft.com/office/drawing/2014/main" id="{0B5AFA02-6F84-6A64-B074-14FA6B1C91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9675" y="4419600"/>
            <a:ext cx="418465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6F542719-BE52-3E06-F3BA-2E0455777457}"/>
              </a:ext>
            </a:extLst>
          </p:cNvPr>
          <p:cNvSpPr>
            <a:spLocks noGrp="1" noChangeArrowheads="1"/>
          </p:cNvSpPr>
          <p:nvPr>
            <p:ph type="title"/>
          </p:nvPr>
        </p:nvSpPr>
        <p:spPr/>
        <p:txBody>
          <a:bodyPr/>
          <a:lstStyle/>
          <a:p>
            <a:r>
              <a:rPr lang="en-US" altLang="zh-CN">
                <a:ea typeface="宋体" panose="02010600030101010101" pitchFamily="2" charset="-122"/>
              </a:rPr>
              <a:t>Our Coverage</a:t>
            </a:r>
          </a:p>
        </p:txBody>
      </p:sp>
      <p:sp>
        <p:nvSpPr>
          <p:cNvPr id="34818" name="Rectangle 3">
            <a:extLst>
              <a:ext uri="{FF2B5EF4-FFF2-40B4-BE49-F238E27FC236}">
                <a16:creationId xmlns:a16="http://schemas.microsoft.com/office/drawing/2014/main" id="{CFDEFC03-027C-4B9D-5D3A-8A87F8670ACC}"/>
              </a:ext>
            </a:extLst>
          </p:cNvPr>
          <p:cNvSpPr>
            <a:spLocks noGrp="1" noChangeArrowheads="1"/>
          </p:cNvSpPr>
          <p:nvPr>
            <p:ph type="body" idx="1"/>
          </p:nvPr>
        </p:nvSpPr>
        <p:spPr/>
        <p:txBody>
          <a:bodyPr/>
          <a:lstStyle/>
          <a:p>
            <a:r>
              <a:rPr lang="en-US" altLang="zh-CN">
                <a:ea typeface="宋体" panose="02010600030101010101" pitchFamily="2" charset="-122"/>
              </a:rPr>
              <a:t>IA32</a:t>
            </a:r>
          </a:p>
          <a:p>
            <a:pPr lvl="1"/>
            <a:r>
              <a:rPr lang="en-US" altLang="zh-CN">
                <a:ea typeface="宋体" panose="02010600030101010101" pitchFamily="2" charset="-122"/>
              </a:rPr>
              <a:t>The traditional x86</a:t>
            </a:r>
          </a:p>
          <a:p>
            <a:pPr lvl="1"/>
            <a:r>
              <a:rPr lang="en-US" altLang="zh-CN">
                <a:latin typeface="Courier New" panose="02070309020205020404" pitchFamily="49" charset="0"/>
                <a:ea typeface="宋体" panose="02010600030101010101" pitchFamily="2" charset="-122"/>
                <a:cs typeface="Courier New" panose="02070309020205020404" pitchFamily="49" charset="0"/>
              </a:rPr>
              <a:t>shark&gt; gcc –m32 hello.c</a:t>
            </a:r>
            <a:endParaRPr lang="en-US" altLang="zh-CN">
              <a:ea typeface="宋体" panose="02010600030101010101" pitchFamily="2" charset="-122"/>
            </a:endParaRPr>
          </a:p>
          <a:p>
            <a:r>
              <a:rPr lang="en-US" altLang="zh-CN">
                <a:ea typeface="宋体" panose="02010600030101010101" pitchFamily="2" charset="-122"/>
              </a:rPr>
              <a:t>x86-64</a:t>
            </a:r>
          </a:p>
          <a:p>
            <a:pPr lvl="1"/>
            <a:r>
              <a:rPr lang="en-US" altLang="zh-CN">
                <a:ea typeface="宋体" panose="02010600030101010101" pitchFamily="2" charset="-122"/>
              </a:rPr>
              <a:t>The emerging standard</a:t>
            </a:r>
          </a:p>
          <a:p>
            <a:pPr lvl="1"/>
            <a:r>
              <a:rPr lang="en-US" altLang="zh-CN">
                <a:latin typeface="Courier New" panose="02070309020205020404" pitchFamily="49" charset="0"/>
                <a:ea typeface="宋体" panose="02010600030101010101" pitchFamily="2" charset="-122"/>
              </a:rPr>
              <a:t>shark&gt; gcc hello.c</a:t>
            </a:r>
          </a:p>
          <a:p>
            <a:pPr lvl="1"/>
            <a:r>
              <a:rPr lang="en-US" altLang="zh-CN">
                <a:latin typeface="Courier New" panose="02070309020205020404" pitchFamily="49" charset="0"/>
                <a:ea typeface="宋体" panose="02010600030101010101" pitchFamily="2" charset="-122"/>
              </a:rPr>
              <a:t>shark&gt; gcc –m64 hello.c</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2">
            <a:extLst>
              <a:ext uri="{FF2B5EF4-FFF2-40B4-BE49-F238E27FC236}">
                <a16:creationId xmlns:a16="http://schemas.microsoft.com/office/drawing/2014/main" id="{915A2DC2-E816-96E0-751C-646BDABE4CF7}"/>
              </a:ext>
            </a:extLst>
          </p:cNvPr>
          <p:cNvSpPr>
            <a:spLocks noGrp="1" noChangeArrowheads="1"/>
          </p:cNvSpPr>
          <p:nvPr>
            <p:ph type="title"/>
          </p:nvPr>
        </p:nvSpPr>
        <p:spPr>
          <a:xfrm>
            <a:off x="549275" y="447675"/>
            <a:ext cx="8045450" cy="485775"/>
          </a:xfrm>
        </p:spPr>
        <p:txBody>
          <a:bodyPr/>
          <a:lstStyle/>
          <a:p>
            <a:r>
              <a:rPr>
                <a:latin typeface="Huawei Sans"/>
                <a:ea typeface="方正兰亭黑简体"/>
                <a:cs typeface="方正兰亭黑简体"/>
              </a:rPr>
              <a:t>什么是芯片</a:t>
            </a:r>
          </a:p>
        </p:txBody>
      </p:sp>
      <p:pic>
        <p:nvPicPr>
          <p:cNvPr id="36866" name="图片 1">
            <a:extLst>
              <a:ext uri="{FF2B5EF4-FFF2-40B4-BE49-F238E27FC236}">
                <a16:creationId xmlns:a16="http://schemas.microsoft.com/office/drawing/2014/main" id="{8D4C25FC-7812-72A8-D8A1-B98DCD7C59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1550" y="3143250"/>
            <a:ext cx="1971675"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7" name="Picture 2" descr="https://upload.wikimedia.org/wikipedia/commons/thumb/7/72/Ohm%27s_Law_with_Voltage_source.svg/800px-Ohm%27s_Law_with_Voltage_source.svg.png">
            <a:extLst>
              <a:ext uri="{FF2B5EF4-FFF2-40B4-BE49-F238E27FC236}">
                <a16:creationId xmlns:a16="http://schemas.microsoft.com/office/drawing/2014/main" id="{4AFE5668-2DE6-5D3E-6BC9-DDA1B22D9A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313" y="2906713"/>
            <a:ext cx="2109787" cy="158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8" name="Picture 4" descr="https://upload.wikimedia.org/wikipedia/commons/d/d4/Etchedwafer.jpg">
            <a:extLst>
              <a:ext uri="{FF2B5EF4-FFF2-40B4-BE49-F238E27FC236}">
                <a16:creationId xmlns:a16="http://schemas.microsoft.com/office/drawing/2014/main" id="{25A2E8BD-807B-EB1D-B3DA-BD201C4132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6592" b="18500"/>
          <a:stretch>
            <a:fillRect/>
          </a:stretch>
        </p:blipFill>
        <p:spPr bwMode="auto">
          <a:xfrm>
            <a:off x="3671888" y="3074988"/>
            <a:ext cx="1446212"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文本框 3">
            <a:extLst>
              <a:ext uri="{FF2B5EF4-FFF2-40B4-BE49-F238E27FC236}">
                <a16:creationId xmlns:a16="http://schemas.microsoft.com/office/drawing/2014/main" id="{A3EC39FF-96B6-3C6F-5659-30617E7E65DD}"/>
              </a:ext>
            </a:extLst>
          </p:cNvPr>
          <p:cNvSpPr txBox="1">
            <a:spLocks noChangeArrowheads="1"/>
          </p:cNvSpPr>
          <p:nvPr/>
        </p:nvSpPr>
        <p:spPr bwMode="auto">
          <a:xfrm>
            <a:off x="4222750" y="4665663"/>
            <a:ext cx="4413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65852" tIns="32926" rIns="65852" bIns="32926" anchor="ct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200">
                <a:latin typeface="Huawei Sans"/>
                <a:ea typeface="方正兰亭黑简体"/>
                <a:cs typeface="方正兰亭黑简体"/>
              </a:rPr>
              <a:t>晶圆</a:t>
            </a:r>
          </a:p>
        </p:txBody>
      </p:sp>
      <p:sp>
        <p:nvSpPr>
          <p:cNvPr id="36870" name="文本框 7">
            <a:extLst>
              <a:ext uri="{FF2B5EF4-FFF2-40B4-BE49-F238E27FC236}">
                <a16:creationId xmlns:a16="http://schemas.microsoft.com/office/drawing/2014/main" id="{E5B72F03-94FA-7959-4030-772AB833232D}"/>
              </a:ext>
            </a:extLst>
          </p:cNvPr>
          <p:cNvSpPr txBox="1">
            <a:spLocks noChangeArrowheads="1"/>
          </p:cNvSpPr>
          <p:nvPr/>
        </p:nvSpPr>
        <p:spPr bwMode="auto">
          <a:xfrm>
            <a:off x="6888163" y="4665663"/>
            <a:ext cx="44132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65852" tIns="32926" rIns="65852" bIns="32926" anchor="ct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200">
                <a:latin typeface="Huawei Sans"/>
                <a:ea typeface="方正兰亭黑简体"/>
                <a:cs typeface="方正兰亭黑简体"/>
              </a:rPr>
              <a:t>芯片</a:t>
            </a:r>
          </a:p>
        </p:txBody>
      </p:sp>
      <p:sp>
        <p:nvSpPr>
          <p:cNvPr id="36871" name="文本框 8">
            <a:extLst>
              <a:ext uri="{FF2B5EF4-FFF2-40B4-BE49-F238E27FC236}">
                <a16:creationId xmlns:a16="http://schemas.microsoft.com/office/drawing/2014/main" id="{4F726EF6-F0CD-5948-22CF-774679215368}"/>
              </a:ext>
            </a:extLst>
          </p:cNvPr>
          <p:cNvSpPr txBox="1">
            <a:spLocks noChangeArrowheads="1"/>
          </p:cNvSpPr>
          <p:nvPr/>
        </p:nvSpPr>
        <p:spPr bwMode="auto">
          <a:xfrm>
            <a:off x="1703388" y="4665663"/>
            <a:ext cx="471487"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65852" tIns="32926" rIns="65852" bIns="32926" anchor="ct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200">
                <a:latin typeface="Huawei Sans"/>
                <a:ea typeface="方正兰亭黑简体"/>
                <a:cs typeface="方正兰亭黑简体"/>
              </a:rPr>
              <a:t>电路</a:t>
            </a:r>
          </a:p>
        </p:txBody>
      </p:sp>
      <p:sp>
        <p:nvSpPr>
          <p:cNvPr id="5" name="十字形 4">
            <a:extLst>
              <a:ext uri="{FF2B5EF4-FFF2-40B4-BE49-F238E27FC236}">
                <a16:creationId xmlns:a16="http://schemas.microsoft.com/office/drawing/2014/main" id="{897C7CFC-BFC8-C09C-0B93-4016A9430173}"/>
              </a:ext>
            </a:extLst>
          </p:cNvPr>
          <p:cNvSpPr/>
          <p:nvPr/>
        </p:nvSpPr>
        <p:spPr bwMode="auto">
          <a:xfrm>
            <a:off x="2959100" y="3494088"/>
            <a:ext cx="514350" cy="500062"/>
          </a:xfrm>
          <a:prstGeom prst="plus">
            <a:avLst>
              <a:gd name="adj" fmla="val 43695"/>
            </a:avLst>
          </a:prstGeom>
          <a:solidFill>
            <a:srgbClr val="15B0E8"/>
          </a:solidFill>
          <a:ln w="9525" cap="flat" cmpd="sng" algn="ctr">
            <a:solidFill>
              <a:schemeClr val="bg1"/>
            </a:solidFill>
            <a:prstDash val="solid"/>
            <a:round/>
            <a:headEnd type="none" w="med" len="med"/>
            <a:tailEnd type="none" w="med" len="med"/>
          </a:ln>
          <a:effectLst/>
        </p:spPr>
        <p:txBody>
          <a:bodyPr lIns="68580" tIns="34290" rIns="68580" bIns="34290"/>
          <a:lstStyle/>
          <a:p>
            <a:pPr defTabSz="685800" eaLnBrk="1" fontAlgn="t" hangingPunct="1">
              <a:defRPr/>
            </a:pPr>
            <a:endParaRPr lang="zh-CN" altLang="en-US" sz="750" b="0">
              <a:latin typeface="Huawei Sans" panose="020C0503030203020204" pitchFamily="34" charset="0"/>
              <a:ea typeface="方正兰亭黑简体" panose="02000000000000000000" pitchFamily="2" charset="-122"/>
            </a:endParaRPr>
          </a:p>
        </p:txBody>
      </p:sp>
      <p:sp>
        <p:nvSpPr>
          <p:cNvPr id="11" name="右箭头 10">
            <a:extLst>
              <a:ext uri="{FF2B5EF4-FFF2-40B4-BE49-F238E27FC236}">
                <a16:creationId xmlns:a16="http://schemas.microsoft.com/office/drawing/2014/main" id="{8F22E487-3946-DB4A-A0F9-8D125E0A6432}"/>
              </a:ext>
            </a:extLst>
          </p:cNvPr>
          <p:cNvSpPr/>
          <p:nvPr/>
        </p:nvSpPr>
        <p:spPr bwMode="auto">
          <a:xfrm>
            <a:off x="5510213" y="3576638"/>
            <a:ext cx="342900" cy="334962"/>
          </a:xfrm>
          <a:prstGeom prst="rightArrow">
            <a:avLst/>
          </a:prstGeom>
          <a:solidFill>
            <a:srgbClr val="15B0E8"/>
          </a:solidFill>
          <a:ln w="9525" cap="flat" cmpd="sng" algn="ctr">
            <a:solidFill>
              <a:schemeClr val="bg1"/>
            </a:solidFill>
            <a:prstDash val="solid"/>
            <a:round/>
            <a:headEnd type="none" w="med" len="med"/>
            <a:tailEnd type="none" w="med" len="med"/>
          </a:ln>
          <a:effectLst/>
        </p:spPr>
        <p:txBody>
          <a:bodyPr lIns="68580" tIns="34290" rIns="68580" bIns="34290"/>
          <a:lstStyle/>
          <a:p>
            <a:pPr defTabSz="685800" eaLnBrk="1" fontAlgn="t" hangingPunct="1">
              <a:defRPr/>
            </a:pPr>
            <a:endParaRPr lang="zh-CN" altLang="en-US" sz="750" b="0">
              <a:latin typeface="Huawei Sans" panose="020C0503030203020204" pitchFamily="34" charset="0"/>
              <a:ea typeface="方正兰亭黑简体" panose="02000000000000000000" pitchFamily="2" charset="-122"/>
            </a:endParaRPr>
          </a:p>
        </p:txBody>
      </p:sp>
      <p:sp>
        <p:nvSpPr>
          <p:cNvPr id="36874" name="文本框 5">
            <a:extLst>
              <a:ext uri="{FF2B5EF4-FFF2-40B4-BE49-F238E27FC236}">
                <a16:creationId xmlns:a16="http://schemas.microsoft.com/office/drawing/2014/main" id="{E4FAB0E3-6DDC-D768-598B-B6774E005899}"/>
              </a:ext>
            </a:extLst>
          </p:cNvPr>
          <p:cNvSpPr txBox="1">
            <a:spLocks noChangeArrowheads="1"/>
          </p:cNvSpPr>
          <p:nvPr/>
        </p:nvSpPr>
        <p:spPr bwMode="auto">
          <a:xfrm>
            <a:off x="549275" y="1754188"/>
            <a:ext cx="7889875"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15900" indent="-215900">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nSpc>
                <a:spcPts val="2250"/>
              </a:lnSpc>
              <a:spcBef>
                <a:spcPts val="450"/>
              </a:spcBef>
              <a:buSzPct val="50000"/>
              <a:buFont typeface="Wingdings" pitchFamily="2" charset="2"/>
              <a:buChar char="l"/>
            </a:pPr>
            <a:r>
              <a:rPr lang="zh-CN" altLang="en-US" sz="2000">
                <a:latin typeface="Huawei Sans"/>
                <a:ea typeface="方正兰亭黑简体"/>
                <a:cs typeface="方正兰亭黑简体"/>
              </a:rPr>
              <a:t>芯片 </a:t>
            </a:r>
            <a:r>
              <a:rPr lang="en-US" altLang="zh-CN" sz="2000">
                <a:latin typeface="Huawei Sans"/>
                <a:ea typeface="方正兰亭黑简体"/>
                <a:cs typeface="方正兰亭黑简体"/>
              </a:rPr>
              <a:t>(Chip) </a:t>
            </a:r>
            <a:r>
              <a:rPr lang="zh-CN" altLang="en-US" sz="2000">
                <a:latin typeface="Huawei Sans"/>
                <a:ea typeface="方正兰亭黑简体"/>
                <a:cs typeface="方正兰亭黑简体"/>
              </a:rPr>
              <a:t>是一种把电路（主要包括半导体设备，也包括被动组件等）小型化的方式，并制造在半导体晶圆表面上。</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2">
            <a:extLst>
              <a:ext uri="{FF2B5EF4-FFF2-40B4-BE49-F238E27FC236}">
                <a16:creationId xmlns:a16="http://schemas.microsoft.com/office/drawing/2014/main" id="{1FE6C805-FB36-9856-8F6A-3CBB12E97A63}"/>
              </a:ext>
            </a:extLst>
          </p:cNvPr>
          <p:cNvSpPr>
            <a:spLocks noGrp="1" noChangeArrowheads="1"/>
          </p:cNvSpPr>
          <p:nvPr>
            <p:ph type="title"/>
          </p:nvPr>
        </p:nvSpPr>
        <p:spPr>
          <a:xfrm>
            <a:off x="549275" y="447675"/>
            <a:ext cx="8045450" cy="485775"/>
          </a:xfrm>
        </p:spPr>
        <p:txBody>
          <a:bodyPr/>
          <a:lstStyle/>
          <a:p>
            <a:r>
              <a:rPr>
                <a:latin typeface="Huawei Sans"/>
                <a:ea typeface="方正兰亭黑简体"/>
                <a:cs typeface="方正兰亭黑简体"/>
              </a:rPr>
              <a:t>芯片是信息社会的基石 </a:t>
            </a:r>
          </a:p>
        </p:txBody>
      </p:sp>
      <p:sp>
        <p:nvSpPr>
          <p:cNvPr id="38914" name="Text Box 8">
            <a:extLst>
              <a:ext uri="{FF2B5EF4-FFF2-40B4-BE49-F238E27FC236}">
                <a16:creationId xmlns:a16="http://schemas.microsoft.com/office/drawing/2014/main" id="{C3D8D550-0EA7-3326-5BA3-E01E86FE9E64}"/>
              </a:ext>
            </a:extLst>
          </p:cNvPr>
          <p:cNvSpPr txBox="1">
            <a:spLocks noChangeArrowheads="1"/>
          </p:cNvSpPr>
          <p:nvPr/>
        </p:nvSpPr>
        <p:spPr bwMode="auto">
          <a:xfrm>
            <a:off x="6010275" y="3509963"/>
            <a:ext cx="8572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lang="zh-CN" altLang="en-US" sz="1400">
                <a:latin typeface="Huawei Sans"/>
                <a:ea typeface="方正兰亭黑简体"/>
                <a:cs typeface="方正兰亭黑简体"/>
              </a:rPr>
              <a:t>内存</a:t>
            </a:r>
          </a:p>
        </p:txBody>
      </p:sp>
      <p:pic>
        <p:nvPicPr>
          <p:cNvPr id="38915" name="Picture 4" descr="C:\Users\c00227478\AppData\Roaming\eSpace_Desktop\UserData\c00227478\imagefiles\A6B5073F-320B-4520-A72F-05DCC9040BA8.png">
            <a:extLst>
              <a:ext uri="{FF2B5EF4-FFF2-40B4-BE49-F238E27FC236}">
                <a16:creationId xmlns:a16="http://schemas.microsoft.com/office/drawing/2014/main" id="{DD22FF36-96A3-EECF-A899-BD275006FD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5438" y="3862388"/>
            <a:ext cx="1693862"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6" name="Picture 6">
            <a:extLst>
              <a:ext uri="{FF2B5EF4-FFF2-40B4-BE49-F238E27FC236}">
                <a16:creationId xmlns:a16="http://schemas.microsoft.com/office/drawing/2014/main" id="{7C0C78EA-6FA1-0B4B-CE92-604127A6B7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5188" y="3854450"/>
            <a:ext cx="1343025"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5">
            <a:extLst>
              <a:ext uri="{FF2B5EF4-FFF2-40B4-BE49-F238E27FC236}">
                <a16:creationId xmlns:a16="http://schemas.microsoft.com/office/drawing/2014/main" id="{6DA7C027-9069-6C90-AC41-311BCAB478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938" y="2403475"/>
            <a:ext cx="2976562" cy="212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18" name="矩形 1">
            <a:extLst>
              <a:ext uri="{FF2B5EF4-FFF2-40B4-BE49-F238E27FC236}">
                <a16:creationId xmlns:a16="http://schemas.microsoft.com/office/drawing/2014/main" id="{40C6F946-4A65-42CF-31BB-AA7319206D5B}"/>
              </a:ext>
            </a:extLst>
          </p:cNvPr>
          <p:cNvSpPr>
            <a:spLocks noChangeArrowheads="1"/>
          </p:cNvSpPr>
          <p:nvPr/>
        </p:nvSpPr>
        <p:spPr bwMode="auto">
          <a:xfrm>
            <a:off x="657225" y="1992313"/>
            <a:ext cx="33528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600">
                <a:latin typeface="Huawei Sans"/>
                <a:ea typeface="方正兰亭黑简体"/>
                <a:cs typeface="方正兰亭黑简体"/>
              </a:rPr>
              <a:t>世界第一台通用电子计算机</a:t>
            </a:r>
            <a:r>
              <a:rPr lang="en-US" altLang="zh-CN" sz="1600">
                <a:latin typeface="Huawei Sans"/>
                <a:ea typeface="方正兰亭黑简体"/>
                <a:cs typeface="方正兰亭黑简体"/>
              </a:rPr>
              <a:t>—ENIAC</a:t>
            </a:r>
          </a:p>
        </p:txBody>
      </p:sp>
      <p:sp>
        <p:nvSpPr>
          <p:cNvPr id="38919" name="矩形 2">
            <a:extLst>
              <a:ext uri="{FF2B5EF4-FFF2-40B4-BE49-F238E27FC236}">
                <a16:creationId xmlns:a16="http://schemas.microsoft.com/office/drawing/2014/main" id="{428B2B30-173A-93AD-AFD4-192F9B7A01E4}"/>
              </a:ext>
            </a:extLst>
          </p:cNvPr>
          <p:cNvSpPr>
            <a:spLocks noChangeArrowheads="1"/>
          </p:cNvSpPr>
          <p:nvPr/>
        </p:nvSpPr>
        <p:spPr bwMode="auto">
          <a:xfrm>
            <a:off x="657225" y="4630738"/>
            <a:ext cx="3201988"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nSpc>
                <a:spcPct val="110000"/>
              </a:lnSpc>
              <a:spcBef>
                <a:spcPct val="0"/>
              </a:spcBef>
              <a:buFontTx/>
              <a:buNone/>
            </a:pPr>
            <a:r>
              <a:rPr lang="en-US" altLang="zh-CN" sz="1600">
                <a:latin typeface="Huawei Sans"/>
                <a:ea typeface="方正兰亭黑简体"/>
                <a:cs typeface="方正兰亭黑简体"/>
              </a:rPr>
              <a:t>1946</a:t>
            </a:r>
            <a:r>
              <a:rPr lang="zh-CN" altLang="en-US" sz="1600">
                <a:latin typeface="Huawei Sans"/>
                <a:ea typeface="方正兰亭黑简体"/>
                <a:cs typeface="方正兰亭黑简体"/>
              </a:rPr>
              <a:t>年诞生，由</a:t>
            </a:r>
            <a:r>
              <a:rPr lang="en-US" altLang="zh-CN" sz="1600">
                <a:latin typeface="Huawei Sans"/>
                <a:ea typeface="方正兰亭黑简体"/>
                <a:cs typeface="方正兰亭黑简体"/>
              </a:rPr>
              <a:t>18,800</a:t>
            </a:r>
            <a:r>
              <a:rPr lang="zh-CN" altLang="en-US" sz="1600">
                <a:latin typeface="Huawei Sans"/>
                <a:ea typeface="方正兰亭黑简体"/>
                <a:cs typeface="方正兰亭黑简体"/>
              </a:rPr>
              <a:t>多个电子管组成，重量</a:t>
            </a:r>
            <a:r>
              <a:rPr lang="en-US" altLang="zh-CN" sz="1600">
                <a:latin typeface="Huawei Sans"/>
                <a:ea typeface="方正兰亭黑简体"/>
                <a:cs typeface="方正兰亭黑简体"/>
              </a:rPr>
              <a:t>30</a:t>
            </a:r>
            <a:r>
              <a:rPr lang="zh-CN" altLang="en-US" sz="1600">
                <a:latin typeface="Huawei Sans"/>
                <a:ea typeface="方正兰亭黑简体"/>
                <a:cs typeface="方正兰亭黑简体"/>
              </a:rPr>
              <a:t>多吨，占地面积</a:t>
            </a:r>
            <a:r>
              <a:rPr lang="en-US" altLang="zh-CN" sz="1600">
                <a:latin typeface="Huawei Sans"/>
                <a:ea typeface="方正兰亭黑简体"/>
                <a:cs typeface="方正兰亭黑简体"/>
              </a:rPr>
              <a:t>170</a:t>
            </a:r>
            <a:r>
              <a:rPr lang="zh-CN" altLang="en-US" sz="1600">
                <a:latin typeface="Huawei Sans"/>
                <a:ea typeface="方正兰亭黑简体"/>
                <a:cs typeface="方正兰亭黑简体"/>
              </a:rPr>
              <a:t>多平方米 。</a:t>
            </a:r>
          </a:p>
        </p:txBody>
      </p:sp>
      <p:sp>
        <p:nvSpPr>
          <p:cNvPr id="38920" name="右箭头 3">
            <a:extLst>
              <a:ext uri="{FF2B5EF4-FFF2-40B4-BE49-F238E27FC236}">
                <a16:creationId xmlns:a16="http://schemas.microsoft.com/office/drawing/2014/main" id="{5483F2B2-BF67-CF63-09D7-DDB073980DDE}"/>
              </a:ext>
            </a:extLst>
          </p:cNvPr>
          <p:cNvSpPr>
            <a:spLocks noChangeArrowheads="1"/>
          </p:cNvSpPr>
          <p:nvPr/>
        </p:nvSpPr>
        <p:spPr bwMode="auto">
          <a:xfrm>
            <a:off x="4041775" y="3500438"/>
            <a:ext cx="1498600" cy="328612"/>
          </a:xfrm>
          <a:prstGeom prst="rightArrow">
            <a:avLst>
              <a:gd name="adj1" fmla="val 50000"/>
              <a:gd name="adj2" fmla="val 49911"/>
            </a:avLst>
          </a:prstGeom>
          <a:solidFill>
            <a:srgbClr val="00B0F0"/>
          </a:solidFill>
          <a:ln w="22225" algn="ctr">
            <a:solidFill>
              <a:srgbClr val="15B0E8"/>
            </a:solidFill>
            <a:round/>
            <a:headEnd/>
            <a:tailEnd/>
          </a:ln>
        </p:spPr>
        <p:txBody>
          <a:bodyPr/>
          <a:lstStyle>
            <a:lvl1pPr defTabSz="912813">
              <a:spcBef>
                <a:spcPct val="20000"/>
              </a:spcBef>
              <a:buChar char="•"/>
              <a:defRPr sz="2800">
                <a:solidFill>
                  <a:schemeClr val="tx1"/>
                </a:solidFill>
                <a:latin typeface="Comic Sans MS" panose="030F0902030302020204" pitchFamily="66" charset="0"/>
              </a:defRPr>
            </a:lvl1pPr>
            <a:lvl2pPr marL="742950" indent="-285750" defTabSz="912813">
              <a:spcBef>
                <a:spcPct val="20000"/>
              </a:spcBef>
              <a:buChar char="–"/>
              <a:defRPr sz="2400">
                <a:solidFill>
                  <a:schemeClr val="tx1"/>
                </a:solidFill>
                <a:latin typeface="Comic Sans MS" panose="030F0902030302020204" pitchFamily="66" charset="0"/>
              </a:defRPr>
            </a:lvl2pPr>
            <a:lvl3pPr marL="1143000" indent="-228600" defTabSz="912813">
              <a:spcBef>
                <a:spcPct val="20000"/>
              </a:spcBef>
              <a:buChar char="•"/>
              <a:defRPr sz="2000">
                <a:solidFill>
                  <a:schemeClr val="tx1"/>
                </a:solidFill>
                <a:latin typeface="Comic Sans MS" panose="030F0902030302020204" pitchFamily="66" charset="0"/>
              </a:defRPr>
            </a:lvl3pPr>
            <a:lvl4pPr marL="1600200" indent="-228600" defTabSz="912813">
              <a:spcBef>
                <a:spcPct val="20000"/>
              </a:spcBef>
              <a:buChar char="–"/>
              <a:defRPr sz="2000">
                <a:solidFill>
                  <a:schemeClr val="tx1"/>
                </a:solidFill>
                <a:latin typeface="Comic Sans MS" panose="030F0902030302020204" pitchFamily="66" charset="0"/>
              </a:defRPr>
            </a:lvl4pPr>
            <a:lvl5pPr marL="2057400" indent="-228600" defTabSz="912813">
              <a:spcBef>
                <a:spcPct val="20000"/>
              </a:spcBef>
              <a:buChar char="»"/>
              <a:defRPr sz="2000">
                <a:solidFill>
                  <a:schemeClr val="tx1"/>
                </a:solidFill>
                <a:latin typeface="Comic Sans MS" panose="030F0902030302020204" pitchFamily="66" charset="0"/>
              </a:defRPr>
            </a:lvl5pPr>
            <a:lvl6pPr marL="25146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9128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Clr>
                <a:srgbClr val="CC9900"/>
              </a:buClr>
              <a:buFont typeface="Wingdings" pitchFamily="2" charset="2"/>
              <a:buChar char="n"/>
            </a:pPr>
            <a:endParaRPr lang="zh-CN" altLang="en-US" sz="1800">
              <a:latin typeface="Huawei Sans"/>
              <a:ea typeface="方正兰亭黑简体"/>
              <a:cs typeface="方正兰亭黑简体"/>
            </a:endParaRPr>
          </a:p>
        </p:txBody>
      </p:sp>
      <p:sp>
        <p:nvSpPr>
          <p:cNvPr id="38921" name="矩形 27">
            <a:extLst>
              <a:ext uri="{FF2B5EF4-FFF2-40B4-BE49-F238E27FC236}">
                <a16:creationId xmlns:a16="http://schemas.microsoft.com/office/drawing/2014/main" id="{654A57C1-BC44-AD96-F96A-3F8A37574640}"/>
              </a:ext>
            </a:extLst>
          </p:cNvPr>
          <p:cNvSpPr>
            <a:spLocks noChangeArrowheads="1"/>
          </p:cNvSpPr>
          <p:nvPr/>
        </p:nvSpPr>
        <p:spPr bwMode="auto">
          <a:xfrm>
            <a:off x="3873500" y="3167063"/>
            <a:ext cx="17240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500">
                <a:latin typeface="Huawei Sans"/>
                <a:ea typeface="方正兰亭黑简体"/>
                <a:cs typeface="方正兰亭黑简体"/>
              </a:rPr>
              <a:t>得益于芯片的发展</a:t>
            </a:r>
            <a:endParaRPr lang="en-US" altLang="zh-CN" sz="1500">
              <a:latin typeface="Huawei Sans"/>
              <a:ea typeface="方正兰亭黑简体"/>
              <a:cs typeface="方正兰亭黑简体"/>
            </a:endParaRPr>
          </a:p>
        </p:txBody>
      </p:sp>
      <p:sp>
        <p:nvSpPr>
          <p:cNvPr id="38922" name="矩形 28">
            <a:extLst>
              <a:ext uri="{FF2B5EF4-FFF2-40B4-BE49-F238E27FC236}">
                <a16:creationId xmlns:a16="http://schemas.microsoft.com/office/drawing/2014/main" id="{8FA94CF2-DD8C-835A-5AA0-D92FAA04A544}"/>
              </a:ext>
            </a:extLst>
          </p:cNvPr>
          <p:cNvSpPr>
            <a:spLocks noChangeArrowheads="1"/>
          </p:cNvSpPr>
          <p:nvPr/>
        </p:nvSpPr>
        <p:spPr bwMode="auto">
          <a:xfrm>
            <a:off x="3970338" y="3854450"/>
            <a:ext cx="153035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500">
                <a:latin typeface="Huawei Sans"/>
                <a:ea typeface="方正兰亭黑简体"/>
                <a:cs typeface="方正兰亭黑简体"/>
              </a:rPr>
              <a:t>小型化，高性能</a:t>
            </a:r>
            <a:endParaRPr lang="en-US" altLang="zh-CN" sz="1500">
              <a:latin typeface="Huawei Sans"/>
              <a:ea typeface="方正兰亭黑简体"/>
              <a:cs typeface="方正兰亭黑简体"/>
            </a:endParaRPr>
          </a:p>
        </p:txBody>
      </p:sp>
      <p:sp>
        <p:nvSpPr>
          <p:cNvPr id="38923" name="Text Box 8">
            <a:extLst>
              <a:ext uri="{FF2B5EF4-FFF2-40B4-BE49-F238E27FC236}">
                <a16:creationId xmlns:a16="http://schemas.microsoft.com/office/drawing/2014/main" id="{2173DB58-4D2C-B382-41CA-059DDA0BAEC5}"/>
              </a:ext>
            </a:extLst>
          </p:cNvPr>
          <p:cNvSpPr txBox="1">
            <a:spLocks noChangeArrowheads="1"/>
          </p:cNvSpPr>
          <p:nvPr/>
        </p:nvSpPr>
        <p:spPr bwMode="auto">
          <a:xfrm>
            <a:off x="7727950" y="3509963"/>
            <a:ext cx="5524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lang="zh-CN" altLang="en-US" sz="1400">
                <a:latin typeface="Huawei Sans"/>
                <a:ea typeface="方正兰亭黑简体"/>
                <a:cs typeface="方正兰亭黑简体"/>
              </a:rPr>
              <a:t>手机</a:t>
            </a:r>
          </a:p>
        </p:txBody>
      </p:sp>
      <p:sp>
        <p:nvSpPr>
          <p:cNvPr id="38924" name="Text Box 8">
            <a:extLst>
              <a:ext uri="{FF2B5EF4-FFF2-40B4-BE49-F238E27FC236}">
                <a16:creationId xmlns:a16="http://schemas.microsoft.com/office/drawing/2014/main" id="{4BF0720E-01DE-4B09-2F89-53E3C756899D}"/>
              </a:ext>
            </a:extLst>
          </p:cNvPr>
          <p:cNvSpPr txBox="1">
            <a:spLocks noChangeArrowheads="1"/>
          </p:cNvSpPr>
          <p:nvPr/>
        </p:nvSpPr>
        <p:spPr bwMode="auto">
          <a:xfrm>
            <a:off x="7500938" y="4999038"/>
            <a:ext cx="100647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lang="zh-CN" altLang="en-US" sz="1400">
                <a:latin typeface="Huawei Sans"/>
                <a:ea typeface="方正兰亭黑简体"/>
                <a:cs typeface="方正兰亭黑简体"/>
              </a:rPr>
              <a:t>数码相机  </a:t>
            </a:r>
          </a:p>
        </p:txBody>
      </p:sp>
      <p:sp>
        <p:nvSpPr>
          <p:cNvPr id="38925" name="Text Box 8">
            <a:extLst>
              <a:ext uri="{FF2B5EF4-FFF2-40B4-BE49-F238E27FC236}">
                <a16:creationId xmlns:a16="http://schemas.microsoft.com/office/drawing/2014/main" id="{BC1EC556-2B2E-219B-2AB3-430F808C81C6}"/>
              </a:ext>
            </a:extLst>
          </p:cNvPr>
          <p:cNvSpPr txBox="1">
            <a:spLocks noChangeArrowheads="1"/>
          </p:cNvSpPr>
          <p:nvPr/>
        </p:nvSpPr>
        <p:spPr bwMode="auto">
          <a:xfrm>
            <a:off x="5892800" y="4999038"/>
            <a:ext cx="719138"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lang="zh-CN" altLang="en-US" sz="1400">
                <a:latin typeface="Huawei Sans"/>
                <a:ea typeface="方正兰亭黑简体"/>
                <a:cs typeface="方正兰亭黑简体"/>
              </a:rPr>
              <a:t>计算机</a:t>
            </a:r>
          </a:p>
        </p:txBody>
      </p:sp>
      <p:pic>
        <p:nvPicPr>
          <p:cNvPr id="38926" name="图片 6">
            <a:extLst>
              <a:ext uri="{FF2B5EF4-FFF2-40B4-BE49-F238E27FC236}">
                <a16:creationId xmlns:a16="http://schemas.microsoft.com/office/drawing/2014/main" id="{9FF50EB2-FB69-5404-1731-3909139646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85986">
            <a:off x="5599113" y="2689225"/>
            <a:ext cx="1677987"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7" name="图片 5">
            <a:extLst>
              <a:ext uri="{FF2B5EF4-FFF2-40B4-BE49-F238E27FC236}">
                <a16:creationId xmlns:a16="http://schemas.microsoft.com/office/drawing/2014/main" id="{2F30F2D4-F0BF-F625-E9C6-5A0C80EAC55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86650" y="2009775"/>
            <a:ext cx="955675" cy="128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1" name="Picture 19" descr="http://component-solutions.tek.com/images/services/ic-packaging/design/ic-package-design.jpg">
            <a:extLst>
              <a:ext uri="{FF2B5EF4-FFF2-40B4-BE49-F238E27FC236}">
                <a16:creationId xmlns:a16="http://schemas.microsoft.com/office/drawing/2014/main" id="{55D83578-20A3-BBDD-0406-EDE58703FB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5713" y="1952625"/>
            <a:ext cx="205105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2" name="标题 2">
            <a:extLst>
              <a:ext uri="{FF2B5EF4-FFF2-40B4-BE49-F238E27FC236}">
                <a16:creationId xmlns:a16="http://schemas.microsoft.com/office/drawing/2014/main" id="{041CD7B0-97A7-D488-C371-945F4D8F717F}"/>
              </a:ext>
            </a:extLst>
          </p:cNvPr>
          <p:cNvSpPr>
            <a:spLocks noGrp="1" noChangeArrowheads="1"/>
          </p:cNvSpPr>
          <p:nvPr>
            <p:ph type="title"/>
          </p:nvPr>
        </p:nvSpPr>
        <p:spPr>
          <a:xfrm>
            <a:off x="549275" y="447675"/>
            <a:ext cx="8045450" cy="485775"/>
          </a:xfrm>
        </p:spPr>
        <p:txBody>
          <a:bodyPr/>
          <a:lstStyle/>
          <a:p>
            <a:r>
              <a:rPr>
                <a:latin typeface="Huawei Sans"/>
                <a:ea typeface="方正兰亭黑简体"/>
                <a:cs typeface="方正兰亭黑简体"/>
              </a:rPr>
              <a:t>芯片行业产业链</a:t>
            </a:r>
          </a:p>
        </p:txBody>
      </p:sp>
      <p:pic>
        <p:nvPicPr>
          <p:cNvPr id="40963" name="Picture 5" descr="CORE1">
            <a:extLst>
              <a:ext uri="{FF2B5EF4-FFF2-40B4-BE49-F238E27FC236}">
                <a16:creationId xmlns:a16="http://schemas.microsoft.com/office/drawing/2014/main" id="{F46B5F67-50C4-0AE1-E58D-3F13AC6724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863" y="2132013"/>
            <a:ext cx="1657350"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Text Box 6">
            <a:extLst>
              <a:ext uri="{FF2B5EF4-FFF2-40B4-BE49-F238E27FC236}">
                <a16:creationId xmlns:a16="http://schemas.microsoft.com/office/drawing/2014/main" id="{4B3E01B9-7464-C481-6F7D-6705C16B4AD5}"/>
              </a:ext>
            </a:extLst>
          </p:cNvPr>
          <p:cNvSpPr txBox="1">
            <a:spLocks noChangeArrowheads="1"/>
          </p:cNvSpPr>
          <p:nvPr/>
        </p:nvSpPr>
        <p:spPr bwMode="auto">
          <a:xfrm>
            <a:off x="1087438" y="3587750"/>
            <a:ext cx="1328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lang="zh-CN" altLang="en-US" sz="1800">
                <a:latin typeface="Huawei Sans"/>
                <a:ea typeface="方正兰亭黑简体"/>
                <a:cs typeface="方正兰亭黑简体"/>
              </a:rPr>
              <a:t>芯片设计</a:t>
            </a:r>
          </a:p>
        </p:txBody>
      </p:sp>
      <p:sp>
        <p:nvSpPr>
          <p:cNvPr id="40965" name="Text Box 8">
            <a:extLst>
              <a:ext uri="{FF2B5EF4-FFF2-40B4-BE49-F238E27FC236}">
                <a16:creationId xmlns:a16="http://schemas.microsoft.com/office/drawing/2014/main" id="{6B733C31-32F1-56B3-325E-9D8F75B5ECA0}"/>
              </a:ext>
            </a:extLst>
          </p:cNvPr>
          <p:cNvSpPr txBox="1">
            <a:spLocks noChangeArrowheads="1"/>
          </p:cNvSpPr>
          <p:nvPr/>
        </p:nvSpPr>
        <p:spPr bwMode="auto">
          <a:xfrm>
            <a:off x="3911600" y="3587750"/>
            <a:ext cx="1395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lang="zh-CN" altLang="en-US" sz="1800">
                <a:latin typeface="Huawei Sans"/>
                <a:ea typeface="方正兰亭黑简体"/>
                <a:cs typeface="方正兰亭黑简体"/>
              </a:rPr>
              <a:t>晶圆加工</a:t>
            </a:r>
          </a:p>
        </p:txBody>
      </p:sp>
      <p:sp>
        <p:nvSpPr>
          <p:cNvPr id="40966" name="Text Box 11">
            <a:extLst>
              <a:ext uri="{FF2B5EF4-FFF2-40B4-BE49-F238E27FC236}">
                <a16:creationId xmlns:a16="http://schemas.microsoft.com/office/drawing/2014/main" id="{AADB63C3-B4F9-0D39-8E4E-131C27586F01}"/>
              </a:ext>
            </a:extLst>
          </p:cNvPr>
          <p:cNvSpPr txBox="1">
            <a:spLocks noChangeArrowheads="1"/>
          </p:cNvSpPr>
          <p:nvPr/>
        </p:nvSpPr>
        <p:spPr bwMode="auto">
          <a:xfrm>
            <a:off x="6581775" y="3592513"/>
            <a:ext cx="19065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lang="zh-CN" altLang="en-US" sz="1800">
                <a:latin typeface="Huawei Sans"/>
                <a:ea typeface="方正兰亭黑简体"/>
                <a:cs typeface="方正兰亭黑简体"/>
              </a:rPr>
              <a:t>芯片封装测试</a:t>
            </a:r>
          </a:p>
        </p:txBody>
      </p:sp>
      <p:sp>
        <p:nvSpPr>
          <p:cNvPr id="40967" name="Line 13">
            <a:extLst>
              <a:ext uri="{FF2B5EF4-FFF2-40B4-BE49-F238E27FC236}">
                <a16:creationId xmlns:a16="http://schemas.microsoft.com/office/drawing/2014/main" id="{7E9F10AA-D334-6367-3106-02F098F8CC98}"/>
              </a:ext>
            </a:extLst>
          </p:cNvPr>
          <p:cNvSpPr>
            <a:spLocks noChangeShapeType="1"/>
          </p:cNvSpPr>
          <p:nvPr/>
        </p:nvSpPr>
        <p:spPr bwMode="auto">
          <a:xfrm>
            <a:off x="2449513" y="2717800"/>
            <a:ext cx="977900" cy="0"/>
          </a:xfrm>
          <a:prstGeom prst="line">
            <a:avLst/>
          </a:prstGeom>
          <a:noFill/>
          <a:ln w="38100">
            <a:solidFill>
              <a:srgbClr val="C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68" name="Line 14">
            <a:extLst>
              <a:ext uri="{FF2B5EF4-FFF2-40B4-BE49-F238E27FC236}">
                <a16:creationId xmlns:a16="http://schemas.microsoft.com/office/drawing/2014/main" id="{82C9B707-6219-6778-09A0-292F364E8847}"/>
              </a:ext>
            </a:extLst>
          </p:cNvPr>
          <p:cNvSpPr>
            <a:spLocks noChangeShapeType="1"/>
          </p:cNvSpPr>
          <p:nvPr/>
        </p:nvSpPr>
        <p:spPr bwMode="auto">
          <a:xfrm>
            <a:off x="5307013" y="2717800"/>
            <a:ext cx="1081087" cy="0"/>
          </a:xfrm>
          <a:prstGeom prst="line">
            <a:avLst/>
          </a:prstGeom>
          <a:noFill/>
          <a:ln w="38100">
            <a:solidFill>
              <a:srgbClr val="C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69" name="Text Box 17">
            <a:extLst>
              <a:ext uri="{FF2B5EF4-FFF2-40B4-BE49-F238E27FC236}">
                <a16:creationId xmlns:a16="http://schemas.microsoft.com/office/drawing/2014/main" id="{FBA4EE4F-549B-D875-44D7-F763FDD76033}"/>
              </a:ext>
            </a:extLst>
          </p:cNvPr>
          <p:cNvSpPr txBox="1">
            <a:spLocks noChangeArrowheads="1"/>
          </p:cNvSpPr>
          <p:nvPr/>
        </p:nvSpPr>
        <p:spPr bwMode="auto">
          <a:xfrm>
            <a:off x="655638" y="4059238"/>
            <a:ext cx="2189162"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lang="zh-CN" altLang="en-US" sz="1800">
                <a:latin typeface="Huawei Sans"/>
                <a:ea typeface="方正兰亭黑简体"/>
                <a:cs typeface="方正兰亭黑简体"/>
              </a:rPr>
              <a:t>集成电路设计涉及对电子器件和器件间互连线模型的创建。</a:t>
            </a:r>
            <a:endParaRPr lang="en-US" altLang="zh-CN" sz="1800">
              <a:latin typeface="Huawei Sans"/>
              <a:ea typeface="方正兰亭黑简体"/>
              <a:cs typeface="方正兰亭黑简体"/>
            </a:endParaRPr>
          </a:p>
        </p:txBody>
      </p:sp>
      <p:sp>
        <p:nvSpPr>
          <p:cNvPr id="40970" name="Text Box 18">
            <a:extLst>
              <a:ext uri="{FF2B5EF4-FFF2-40B4-BE49-F238E27FC236}">
                <a16:creationId xmlns:a16="http://schemas.microsoft.com/office/drawing/2014/main" id="{B23A7E3B-14C1-6BAE-8C14-F17B297D87E3}"/>
              </a:ext>
            </a:extLst>
          </p:cNvPr>
          <p:cNvSpPr txBox="1">
            <a:spLocks noChangeArrowheads="1"/>
          </p:cNvSpPr>
          <p:nvPr/>
        </p:nvSpPr>
        <p:spPr bwMode="auto">
          <a:xfrm>
            <a:off x="3427413" y="4056063"/>
            <a:ext cx="2328862"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lang="zh-CN" altLang="en-US" sz="1800">
                <a:latin typeface="Huawei Sans"/>
                <a:ea typeface="方正兰亭黑简体"/>
                <a:cs typeface="方正兰亭黑简体"/>
              </a:rPr>
              <a:t>晶圆加工是一系列化学处理步骤，使得电子电路逐渐形成在使用纯半导体材料制作的芯片上。</a:t>
            </a:r>
            <a:endParaRPr lang="en-US" altLang="zh-CN" sz="1800">
              <a:latin typeface="Huawei Sans"/>
              <a:ea typeface="方正兰亭黑简体"/>
              <a:cs typeface="方正兰亭黑简体"/>
            </a:endParaRPr>
          </a:p>
        </p:txBody>
      </p:sp>
      <p:sp>
        <p:nvSpPr>
          <p:cNvPr id="40971" name="Text Box 19">
            <a:extLst>
              <a:ext uri="{FF2B5EF4-FFF2-40B4-BE49-F238E27FC236}">
                <a16:creationId xmlns:a16="http://schemas.microsoft.com/office/drawing/2014/main" id="{2636247B-F70F-F45A-B200-7CE6FF8F475F}"/>
              </a:ext>
            </a:extLst>
          </p:cNvPr>
          <p:cNvSpPr txBox="1">
            <a:spLocks noChangeArrowheads="1"/>
          </p:cNvSpPr>
          <p:nvPr/>
        </p:nvSpPr>
        <p:spPr bwMode="auto">
          <a:xfrm>
            <a:off x="6265863" y="4056063"/>
            <a:ext cx="2262187"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lang="zh-CN" altLang="en-US" sz="1800">
                <a:latin typeface="Huawei Sans"/>
                <a:ea typeface="方正兰亭黑简体"/>
                <a:cs typeface="方正兰亭黑简体"/>
              </a:rPr>
              <a:t>封装是将器件的核心晶粒封装在一个支撑物之内的过程，这个封装可以防止物理损坏以及化学腐蚀，并提供对外连接的引脚，之后将进行集成电路性能测试。</a:t>
            </a:r>
            <a:endParaRPr lang="en-US" altLang="zh-CN" sz="1800">
              <a:latin typeface="Huawei Sans"/>
              <a:ea typeface="方正兰亭黑简体"/>
              <a:cs typeface="方正兰亭黑简体"/>
            </a:endParaRPr>
          </a:p>
        </p:txBody>
      </p:sp>
      <p:pic>
        <p:nvPicPr>
          <p:cNvPr id="40972" name="Picture 21" descr="http://www.altamicrotec.com/pic/IMG_0253.jpg">
            <a:extLst>
              <a:ext uri="{FF2B5EF4-FFF2-40B4-BE49-F238E27FC236}">
                <a16:creationId xmlns:a16="http://schemas.microsoft.com/office/drawing/2014/main" id="{2D11BD86-EEF9-258F-4C8B-B20FF8C0F3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40113" y="2032000"/>
            <a:ext cx="18669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5">
            <a:extLst>
              <a:ext uri="{FF2B5EF4-FFF2-40B4-BE49-F238E27FC236}">
                <a16:creationId xmlns:a16="http://schemas.microsoft.com/office/drawing/2014/main" id="{A25A3A51-C7CD-B2F3-8D38-7A38AF4389E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8D6B3552-39E5-9040-811D-F259986B11BF}" type="slidenum">
              <a:rPr lang="zh-CN" altLang="en-US" sz="1400" smtClean="0">
                <a:latin typeface="Times New Roman" panose="02020603050405020304" pitchFamily="18" charset="0"/>
              </a:rPr>
              <a:pPr>
                <a:spcBef>
                  <a:spcPct val="0"/>
                </a:spcBef>
                <a:buFontTx/>
                <a:buNone/>
              </a:pPr>
              <a:t>20</a:t>
            </a:fld>
            <a:endParaRPr lang="en-US" altLang="zh-CN" sz="1400">
              <a:latin typeface="Times New Roman" panose="02020603050405020304" pitchFamily="18" charset="0"/>
            </a:endParaRPr>
          </a:p>
        </p:txBody>
      </p:sp>
      <p:sp>
        <p:nvSpPr>
          <p:cNvPr id="43010" name="Rectangle 2">
            <a:extLst>
              <a:ext uri="{FF2B5EF4-FFF2-40B4-BE49-F238E27FC236}">
                <a16:creationId xmlns:a16="http://schemas.microsoft.com/office/drawing/2014/main" id="{7C911291-2BF7-ECC9-6BA6-57A313649517}"/>
              </a:ext>
            </a:extLst>
          </p:cNvPr>
          <p:cNvSpPr>
            <a:spLocks noGrp="1" noChangeArrowheads="1"/>
          </p:cNvSpPr>
          <p:nvPr>
            <p:ph type="title"/>
          </p:nvPr>
        </p:nvSpPr>
        <p:spPr/>
        <p:txBody>
          <a:bodyPr/>
          <a:lstStyle/>
          <a:p>
            <a:r>
              <a:rPr lang="en-US" altLang="zh-CN">
                <a:ea typeface="宋体" panose="02010600030101010101" pitchFamily="2" charset="-122"/>
              </a:rPr>
              <a:t>Outline</a:t>
            </a:r>
          </a:p>
        </p:txBody>
      </p:sp>
      <p:sp>
        <p:nvSpPr>
          <p:cNvPr id="43011" name="Rectangle 3">
            <a:extLst>
              <a:ext uri="{FF2B5EF4-FFF2-40B4-BE49-F238E27FC236}">
                <a16:creationId xmlns:a16="http://schemas.microsoft.com/office/drawing/2014/main" id="{1A40E71E-2844-D14C-57A2-A309D958AF86}"/>
              </a:ext>
            </a:extLst>
          </p:cNvPr>
          <p:cNvSpPr>
            <a:spLocks noGrp="1" noChangeArrowheads="1"/>
          </p:cNvSpPr>
          <p:nvPr>
            <p:ph type="body" idx="1"/>
          </p:nvPr>
        </p:nvSpPr>
        <p:spPr/>
        <p:txBody>
          <a:bodyPr/>
          <a:lstStyle/>
          <a:p>
            <a:r>
              <a:rPr lang="en-US" altLang="zh-CN" b="1">
                <a:ea typeface="宋体" panose="02010600030101010101" pitchFamily="2" charset="-122"/>
              </a:rPr>
              <a:t>CPU</a:t>
            </a:r>
            <a:r>
              <a:rPr lang="zh-CN" altLang="en-US" b="1">
                <a:ea typeface="宋体" panose="02010600030101010101" pitchFamily="2" charset="-122"/>
              </a:rPr>
              <a:t>发展</a:t>
            </a:r>
            <a:endParaRPr lang="en-US" altLang="zh-CN" b="1">
              <a:ea typeface="宋体" panose="02010600030101010101" pitchFamily="2" charset="-122"/>
            </a:endParaRPr>
          </a:p>
          <a:p>
            <a:r>
              <a:rPr kumimoji="1" lang="zh-CN" altLang="en-US" b="1">
                <a:solidFill>
                  <a:srgbClr val="C00000"/>
                </a:solidFill>
                <a:ea typeface="宋体" panose="02010600030101010101" pitchFamily="2" charset="-122"/>
              </a:rPr>
              <a:t>自下而上：构建计算机体系</a:t>
            </a:r>
            <a:endParaRPr lang="en-US" altLang="zh-CN" b="1">
              <a:solidFill>
                <a:srgbClr val="C00000"/>
              </a:solidFill>
              <a:ea typeface="宋体" panose="02010600030101010101" pitchFamily="2" charset="-122"/>
            </a:endParaRPr>
          </a:p>
          <a:p>
            <a:r>
              <a:rPr lang="en-US" altLang="zh-CN">
                <a:ea typeface="宋体" panose="02010600030101010101" pitchFamily="2" charset="-122"/>
              </a:rPr>
              <a:t>CPU Architecture</a:t>
            </a:r>
          </a:p>
          <a:p>
            <a:r>
              <a:rPr lang="en-US" altLang="zh-CN">
                <a:ea typeface="宋体" panose="02010600030101010101" pitchFamily="2" charset="-122"/>
              </a:rPr>
              <a:t>Memory and Registers</a:t>
            </a:r>
          </a:p>
          <a:p>
            <a:r>
              <a:rPr lang="zh-CN" altLang="en-US">
                <a:ea typeface="宋体" panose="02010600030101010101" pitchFamily="2" charset="-122"/>
              </a:rPr>
              <a:t>处理器架构实例：华为鲲鹏处理器</a:t>
            </a:r>
            <a:endParaRPr lang="en-US" altLang="zh-CN">
              <a:ea typeface="宋体" panose="02010600030101010101" pitchFamily="2" charset="-122"/>
            </a:endParaRPr>
          </a:p>
          <a:p>
            <a:pPr>
              <a:buFontTx/>
              <a:buNone/>
            </a:pPr>
            <a:endParaRPr lang="en-US" altLang="zh-CN">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1">
            <a:extLst>
              <a:ext uri="{FF2B5EF4-FFF2-40B4-BE49-F238E27FC236}">
                <a16:creationId xmlns:a16="http://schemas.microsoft.com/office/drawing/2014/main" id="{27746413-7BA1-7631-3EE7-A7FCB7A73F37}"/>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45058" name="内容占位符 2">
            <a:extLst>
              <a:ext uri="{FF2B5EF4-FFF2-40B4-BE49-F238E27FC236}">
                <a16:creationId xmlns:a16="http://schemas.microsoft.com/office/drawing/2014/main" id="{6D998D8E-846C-D91F-5BA4-68E0410C1975}"/>
              </a:ext>
            </a:extLst>
          </p:cNvPr>
          <p:cNvSpPr>
            <a:spLocks noGrp="1" noChangeArrowheads="1"/>
          </p:cNvSpPr>
          <p:nvPr>
            <p:ph idx="1"/>
          </p:nvPr>
        </p:nvSpPr>
        <p:spPr/>
        <p:txBody>
          <a:bodyPr/>
          <a:lstStyle/>
          <a:p>
            <a:r>
              <a:rPr kumimoji="1" lang="en-US" altLang="zh-CN" sz="2400">
                <a:latin typeface="Arial" panose="020B0604020202020204" pitchFamily="34" charset="0"/>
                <a:ea typeface="宋体" panose="02010600030101010101" pitchFamily="2" charset="-122"/>
                <a:cs typeface="Arial" panose="020B0604020202020204" pitchFamily="34" charset="0"/>
              </a:rPr>
              <a:t>1</a:t>
            </a:r>
            <a:r>
              <a:rPr kumimoji="1" lang="zh-CN" altLang="en-US" sz="2400">
                <a:latin typeface="Arial" panose="020B0604020202020204" pitchFamily="34" charset="0"/>
                <a:ea typeface="宋体" panose="02010600030101010101" pitchFamily="2" charset="-122"/>
                <a:cs typeface="Arial" panose="020B0604020202020204" pitchFamily="34" charset="0"/>
              </a:rPr>
              <a:t>）物理：</a:t>
            </a:r>
            <a:r>
              <a:rPr kumimoji="1" lang="en-US" altLang="zh-CN" sz="2400">
                <a:latin typeface="Arial" panose="020B0604020202020204" pitchFamily="34" charset="0"/>
                <a:ea typeface="宋体" panose="02010600030101010101" pitchFamily="2" charset="-122"/>
                <a:cs typeface="Arial" panose="020B0604020202020204" pitchFamily="34" charset="0"/>
              </a:rPr>
              <a:t>PN</a:t>
            </a:r>
            <a:r>
              <a:rPr kumimoji="1" lang="zh-CN" altLang="en-US" sz="2400">
                <a:latin typeface="Arial" panose="020B0604020202020204" pitchFamily="34" charset="0"/>
                <a:ea typeface="宋体" panose="02010600030101010101" pitchFamily="2" charset="-122"/>
                <a:cs typeface="Arial" panose="020B0604020202020204" pitchFamily="34" charset="0"/>
              </a:rPr>
              <a:t>结</a:t>
            </a:r>
            <a:r>
              <a:rPr kumimoji="1" lang="en-US" altLang="zh-CN" sz="2400">
                <a:latin typeface="Arial" panose="020B0604020202020204" pitchFamily="34" charset="0"/>
                <a:ea typeface="宋体" panose="02010600030101010101" pitchFamily="2" charset="-122"/>
                <a:cs typeface="Arial" panose="020B0604020202020204" pitchFamily="34" charset="0"/>
              </a:rPr>
              <a:t>-&gt;</a:t>
            </a:r>
            <a:r>
              <a:rPr kumimoji="1" lang="zh-CN" altLang="en-US" sz="2400">
                <a:latin typeface="Arial" panose="020B0604020202020204" pitchFamily="34" charset="0"/>
                <a:ea typeface="宋体" panose="02010600030101010101" pitchFamily="2" charset="-122"/>
                <a:cs typeface="Arial" panose="020B0604020202020204" pitchFamily="34" charset="0"/>
              </a:rPr>
              <a:t>门电路</a:t>
            </a:r>
            <a:endParaRPr kumimoji="1" lang="en-US" altLang="zh-CN" sz="2400">
              <a:latin typeface="Arial" panose="020B0604020202020204" pitchFamily="34" charset="0"/>
              <a:ea typeface="宋体" panose="02010600030101010101" pitchFamily="2" charset="-122"/>
              <a:cs typeface="Arial" panose="020B0604020202020204" pitchFamily="34" charset="0"/>
            </a:endParaRPr>
          </a:p>
          <a:p>
            <a:r>
              <a:rPr kumimoji="1" lang="en-US" altLang="zh-CN" sz="2400">
                <a:latin typeface="Arial" panose="020B0604020202020204" pitchFamily="34" charset="0"/>
                <a:ea typeface="宋体" panose="02010600030101010101" pitchFamily="2" charset="-122"/>
                <a:cs typeface="Arial" panose="020B0604020202020204" pitchFamily="34" charset="0"/>
              </a:rPr>
              <a:t>2</a:t>
            </a:r>
            <a:r>
              <a:rPr kumimoji="1" lang="zh-CN" altLang="en-US" sz="2400">
                <a:latin typeface="Arial" panose="020B0604020202020204" pitchFamily="34" charset="0"/>
                <a:ea typeface="宋体" panose="02010600030101010101" pitchFamily="2" charset="-122"/>
                <a:cs typeface="Arial" panose="020B0604020202020204" pitchFamily="34" charset="0"/>
              </a:rPr>
              <a:t>）数字电路：门电路</a:t>
            </a:r>
            <a:r>
              <a:rPr kumimoji="1" lang="en-US" altLang="zh-CN" sz="2400">
                <a:latin typeface="Arial" panose="020B0604020202020204" pitchFamily="34" charset="0"/>
                <a:ea typeface="宋体" panose="02010600030101010101" pitchFamily="2" charset="-122"/>
                <a:cs typeface="Arial" panose="020B0604020202020204" pitchFamily="34" charset="0"/>
              </a:rPr>
              <a:t>-&gt;</a:t>
            </a:r>
            <a:r>
              <a:rPr kumimoji="1" lang="zh-CN" altLang="en-US" sz="2400">
                <a:latin typeface="Arial" panose="020B0604020202020204" pitchFamily="34" charset="0"/>
                <a:ea typeface="宋体" panose="02010600030101010101" pitchFamily="2" charset="-122"/>
                <a:cs typeface="Arial" panose="020B0604020202020204" pitchFamily="34" charset="0"/>
              </a:rPr>
              <a:t>组合逻辑电路</a:t>
            </a:r>
            <a:r>
              <a:rPr kumimoji="1" lang="en-US" altLang="zh-CN" sz="2400">
                <a:latin typeface="Arial" panose="020B0604020202020204" pitchFamily="34" charset="0"/>
                <a:ea typeface="宋体" panose="02010600030101010101" pitchFamily="2" charset="-122"/>
                <a:cs typeface="Arial" panose="020B0604020202020204" pitchFamily="34" charset="0"/>
              </a:rPr>
              <a:t>/</a:t>
            </a:r>
            <a:r>
              <a:rPr kumimoji="1" lang="zh-CN" altLang="en-US" sz="2400">
                <a:latin typeface="Arial" panose="020B0604020202020204" pitchFamily="34" charset="0"/>
                <a:ea typeface="宋体" panose="02010600030101010101" pitchFamily="2" charset="-122"/>
                <a:cs typeface="Arial" panose="020B0604020202020204" pitchFamily="34" charset="0"/>
              </a:rPr>
              <a:t>时序逻辑电路（</a:t>
            </a:r>
            <a:r>
              <a:rPr kumimoji="1" lang="en-US" altLang="zh-CN" sz="2400">
                <a:latin typeface="Arial" panose="020B0604020202020204" pitchFamily="34" charset="0"/>
                <a:ea typeface="宋体" panose="02010600030101010101" pitchFamily="2" charset="-122"/>
                <a:cs typeface="Arial" panose="020B0604020202020204" pitchFamily="34" charset="0"/>
              </a:rPr>
              <a:t>CPU</a:t>
            </a:r>
            <a:r>
              <a:rPr kumimoji="1" lang="zh-CN" altLang="en-US" sz="2400">
                <a:latin typeface="Arial" panose="020B0604020202020204" pitchFamily="34" charset="0"/>
                <a:ea typeface="宋体" panose="02010600030101010101" pitchFamily="2" charset="-122"/>
                <a:cs typeface="Arial" panose="020B0604020202020204" pitchFamily="34" charset="0"/>
              </a:rPr>
              <a:t>、寄存器、控制器</a:t>
            </a:r>
            <a:r>
              <a:rPr kumimoji="1" lang="en-US" altLang="zh-CN" sz="2400">
                <a:latin typeface="Arial" panose="020B0604020202020204" pitchFamily="34" charset="0"/>
                <a:ea typeface="宋体" panose="02010600030101010101" pitchFamily="2" charset="-122"/>
                <a:cs typeface="Arial" panose="020B0604020202020204" pitchFamily="34" charset="0"/>
              </a:rPr>
              <a:t>…</a:t>
            </a:r>
            <a:r>
              <a:rPr kumimoji="1" lang="zh-CN" altLang="en-US" sz="2400">
                <a:latin typeface="Arial" panose="020B0604020202020204" pitchFamily="34" charset="0"/>
                <a:ea typeface="宋体" panose="02010600030101010101" pitchFamily="2" charset="-122"/>
                <a:cs typeface="Arial" panose="020B0604020202020204" pitchFamily="34" charset="0"/>
              </a:rPr>
              <a:t>）</a:t>
            </a:r>
            <a:endParaRPr kumimoji="1" lang="en-US" altLang="zh-CN" sz="2400">
              <a:latin typeface="Arial" panose="020B0604020202020204" pitchFamily="34" charset="0"/>
              <a:ea typeface="宋体" panose="02010600030101010101" pitchFamily="2" charset="-122"/>
              <a:cs typeface="Arial" panose="020B0604020202020204" pitchFamily="34" charset="0"/>
            </a:endParaRPr>
          </a:p>
          <a:p>
            <a:r>
              <a:rPr kumimoji="1" lang="en-US" altLang="zh-CN" sz="2400">
                <a:latin typeface="Arial" panose="020B0604020202020204" pitchFamily="34" charset="0"/>
                <a:ea typeface="宋体" panose="02010600030101010101" pitchFamily="2" charset="-122"/>
                <a:cs typeface="Arial" panose="020B0604020202020204" pitchFamily="34" charset="0"/>
              </a:rPr>
              <a:t>3</a:t>
            </a:r>
            <a:r>
              <a:rPr kumimoji="1" lang="zh-CN" altLang="en-US" sz="2400">
                <a:latin typeface="Arial" panose="020B0604020202020204" pitchFamily="34" charset="0"/>
                <a:ea typeface="宋体" panose="02010600030101010101" pitchFamily="2" charset="-122"/>
                <a:cs typeface="Arial" panose="020B0604020202020204" pitchFamily="34" charset="0"/>
              </a:rPr>
              <a:t>）抽象：冯诺伊曼体系结构</a:t>
            </a:r>
            <a:endParaRPr kumimoji="1" lang="en-US" altLang="zh-CN" sz="2400">
              <a:latin typeface="Arial" panose="020B0604020202020204" pitchFamily="34" charset="0"/>
              <a:ea typeface="宋体" panose="02010600030101010101" pitchFamily="2" charset="-122"/>
              <a:cs typeface="Arial" panose="020B0604020202020204" pitchFamily="34" charset="0"/>
            </a:endParaRPr>
          </a:p>
          <a:p>
            <a:r>
              <a:rPr kumimoji="1" lang="en-US" altLang="zh-CN" sz="2400">
                <a:latin typeface="Arial" panose="020B0604020202020204" pitchFamily="34" charset="0"/>
                <a:ea typeface="宋体" panose="02010600030101010101" pitchFamily="2" charset="-122"/>
                <a:cs typeface="Arial" panose="020B0604020202020204" pitchFamily="34" charset="0"/>
              </a:rPr>
              <a:t>4</a:t>
            </a:r>
            <a:r>
              <a:rPr kumimoji="1" lang="zh-CN" altLang="en-US" sz="2400">
                <a:latin typeface="Arial" panose="020B0604020202020204" pitchFamily="34" charset="0"/>
                <a:ea typeface="宋体" panose="02010600030101010101" pitchFamily="2" charset="-122"/>
                <a:cs typeface="Arial" panose="020B0604020202020204" pitchFamily="34" charset="0"/>
              </a:rPr>
              <a:t>）硬件接口：机器语言</a:t>
            </a:r>
            <a:r>
              <a:rPr kumimoji="1" lang="en-US" altLang="zh-CN" sz="2400">
                <a:latin typeface="Arial" panose="020B0604020202020204" pitchFamily="34" charset="0"/>
                <a:ea typeface="宋体" panose="02010600030101010101" pitchFamily="2" charset="-122"/>
                <a:cs typeface="Arial" panose="020B0604020202020204" pitchFamily="34" charset="0"/>
              </a:rPr>
              <a:t>/</a:t>
            </a:r>
            <a:r>
              <a:rPr kumimoji="1" lang="zh-CN" altLang="en-US" sz="2400">
                <a:latin typeface="Arial" panose="020B0604020202020204" pitchFamily="34" charset="0"/>
                <a:ea typeface="宋体" panose="02010600030101010101" pitchFamily="2" charset="-122"/>
                <a:cs typeface="Arial" panose="020B0604020202020204" pitchFamily="34" charset="0"/>
              </a:rPr>
              <a:t>指令集</a:t>
            </a:r>
            <a:endParaRPr kumimoji="1" lang="en-US" altLang="zh-CN" sz="2400">
              <a:latin typeface="Arial" panose="020B0604020202020204" pitchFamily="34" charset="0"/>
              <a:ea typeface="宋体" panose="02010600030101010101" pitchFamily="2" charset="-122"/>
              <a:cs typeface="Arial" panose="020B0604020202020204" pitchFamily="34" charset="0"/>
            </a:endParaRPr>
          </a:p>
          <a:p>
            <a:r>
              <a:rPr kumimoji="1" lang="en-US" altLang="zh-CN" sz="2400">
                <a:latin typeface="Arial" panose="020B0604020202020204" pitchFamily="34" charset="0"/>
                <a:ea typeface="宋体" panose="02010600030101010101" pitchFamily="2" charset="-122"/>
                <a:cs typeface="Arial" panose="020B0604020202020204" pitchFamily="34" charset="0"/>
              </a:rPr>
              <a:t>5</a:t>
            </a:r>
            <a:r>
              <a:rPr kumimoji="1" lang="zh-CN" altLang="en-US" sz="2400">
                <a:latin typeface="Arial" panose="020B0604020202020204" pitchFamily="34" charset="0"/>
                <a:ea typeface="宋体" panose="02010600030101010101" pitchFamily="2" charset="-122"/>
                <a:cs typeface="Arial" panose="020B0604020202020204" pitchFamily="34" charset="0"/>
              </a:rPr>
              <a:t>）软硬件分界面：汇编语言（汇编器）</a:t>
            </a:r>
          </a:p>
          <a:p>
            <a:r>
              <a:rPr kumimoji="1" lang="en-US" altLang="zh-CN" sz="2400">
                <a:solidFill>
                  <a:srgbClr val="7F7F7F"/>
                </a:solidFill>
                <a:latin typeface="Arial" panose="020B0604020202020204" pitchFamily="34" charset="0"/>
                <a:ea typeface="宋体" panose="02010600030101010101" pitchFamily="2" charset="-122"/>
                <a:cs typeface="Arial" panose="020B0604020202020204" pitchFamily="34" charset="0"/>
              </a:rPr>
              <a:t>6</a:t>
            </a:r>
            <a:r>
              <a:rPr kumimoji="1" lang="zh-CN" altLang="en-US" sz="2400">
                <a:solidFill>
                  <a:srgbClr val="7F7F7F"/>
                </a:solidFill>
                <a:latin typeface="Arial" panose="020B0604020202020204" pitchFamily="34" charset="0"/>
                <a:ea typeface="宋体" panose="02010600030101010101" pitchFamily="2" charset="-122"/>
                <a:cs typeface="Arial" panose="020B0604020202020204" pitchFamily="34" charset="0"/>
              </a:rPr>
              <a:t>）编译器：高级语言</a:t>
            </a:r>
            <a:r>
              <a:rPr kumimoji="1" lang="en-US" altLang="zh-CN" sz="2400">
                <a:solidFill>
                  <a:srgbClr val="7F7F7F"/>
                </a:solidFill>
                <a:latin typeface="Arial" panose="020B0604020202020204" pitchFamily="34" charset="0"/>
                <a:ea typeface="宋体" panose="02010600030101010101" pitchFamily="2" charset="-122"/>
                <a:cs typeface="Arial" panose="020B0604020202020204" pitchFamily="34" charset="0"/>
              </a:rPr>
              <a:t>-&gt;</a:t>
            </a:r>
            <a:r>
              <a:rPr kumimoji="1" lang="zh-CN" altLang="en-US" sz="2400">
                <a:solidFill>
                  <a:srgbClr val="7F7F7F"/>
                </a:solidFill>
                <a:latin typeface="Arial" panose="020B0604020202020204" pitchFamily="34" charset="0"/>
                <a:ea typeface="宋体" panose="02010600030101010101" pitchFamily="2" charset="-122"/>
                <a:cs typeface="Arial" panose="020B0604020202020204" pitchFamily="34" charset="0"/>
              </a:rPr>
              <a:t>汇编语言</a:t>
            </a:r>
            <a:endParaRPr kumimoji="1" lang="en-US" altLang="zh-CN" sz="2400">
              <a:solidFill>
                <a:srgbClr val="7F7F7F"/>
              </a:solidFill>
              <a:latin typeface="Arial" panose="020B0604020202020204" pitchFamily="34" charset="0"/>
              <a:ea typeface="宋体" panose="02010600030101010101" pitchFamily="2" charset="-122"/>
              <a:cs typeface="Arial" panose="020B0604020202020204" pitchFamily="34" charset="0"/>
            </a:endParaRPr>
          </a:p>
          <a:p>
            <a:r>
              <a:rPr kumimoji="1" lang="en-US" altLang="zh-CN" sz="2400">
                <a:solidFill>
                  <a:srgbClr val="7F7F7F"/>
                </a:solidFill>
                <a:latin typeface="Arial" panose="020B0604020202020204" pitchFamily="34" charset="0"/>
                <a:ea typeface="宋体" panose="02010600030101010101" pitchFamily="2" charset="-122"/>
                <a:cs typeface="Arial" panose="020B0604020202020204" pitchFamily="34" charset="0"/>
              </a:rPr>
              <a:t>7</a:t>
            </a:r>
            <a:r>
              <a:rPr kumimoji="1" lang="zh-CN" altLang="en-US" sz="2400">
                <a:solidFill>
                  <a:srgbClr val="7F7F7F"/>
                </a:solidFill>
                <a:latin typeface="Arial" panose="020B0604020202020204" pitchFamily="34" charset="0"/>
                <a:ea typeface="宋体" panose="02010600030101010101" pitchFamily="2" charset="-122"/>
                <a:cs typeface="Arial" panose="020B0604020202020204" pitchFamily="34" charset="0"/>
              </a:rPr>
              <a:t>）链接器：目标文件（机器代码序列）</a:t>
            </a:r>
            <a:r>
              <a:rPr kumimoji="1" lang="en-US" altLang="zh-CN" sz="2400">
                <a:solidFill>
                  <a:srgbClr val="7F7F7F"/>
                </a:solidFill>
                <a:latin typeface="Arial" panose="020B0604020202020204" pitchFamily="34" charset="0"/>
                <a:ea typeface="宋体" panose="02010600030101010101" pitchFamily="2" charset="-122"/>
                <a:cs typeface="Arial" panose="020B0604020202020204" pitchFamily="34" charset="0"/>
              </a:rPr>
              <a:t>-&gt;</a:t>
            </a:r>
            <a:r>
              <a:rPr kumimoji="1" lang="zh-CN" altLang="en-US" sz="2400">
                <a:solidFill>
                  <a:srgbClr val="7F7F7F"/>
                </a:solidFill>
                <a:latin typeface="Arial" panose="020B0604020202020204" pitchFamily="34" charset="0"/>
                <a:ea typeface="宋体" panose="02010600030101010101" pitchFamily="2" charset="-122"/>
                <a:cs typeface="Arial" panose="020B0604020202020204" pitchFamily="34" charset="0"/>
              </a:rPr>
              <a:t>可执行文件</a:t>
            </a:r>
            <a:endParaRPr kumimoji="1" lang="en-US" altLang="zh-CN" sz="2400">
              <a:solidFill>
                <a:srgbClr val="7F7F7F"/>
              </a:solidFill>
              <a:latin typeface="Arial" panose="020B0604020202020204" pitchFamily="34" charset="0"/>
              <a:ea typeface="宋体" panose="02010600030101010101" pitchFamily="2" charset="-122"/>
              <a:cs typeface="Arial" panose="020B0604020202020204" pitchFamily="34" charset="0"/>
            </a:endParaRPr>
          </a:p>
          <a:p>
            <a:r>
              <a:rPr kumimoji="1" lang="en-US" altLang="zh-CN" sz="2400">
                <a:solidFill>
                  <a:srgbClr val="7F7F7F"/>
                </a:solidFill>
                <a:latin typeface="Arial" panose="020B0604020202020204" pitchFamily="34" charset="0"/>
                <a:ea typeface="宋体" panose="02010600030101010101" pitchFamily="2" charset="-122"/>
                <a:cs typeface="Arial" panose="020B0604020202020204" pitchFamily="34" charset="0"/>
              </a:rPr>
              <a:t>8</a:t>
            </a:r>
            <a:r>
              <a:rPr kumimoji="1" lang="zh-CN" altLang="en-US" sz="2400">
                <a:solidFill>
                  <a:srgbClr val="7F7F7F"/>
                </a:solidFill>
                <a:latin typeface="Arial" panose="020B0604020202020204" pitchFamily="34" charset="0"/>
                <a:ea typeface="宋体" panose="02010600030101010101" pitchFamily="2" charset="-122"/>
                <a:cs typeface="Arial" panose="020B0604020202020204" pitchFamily="34" charset="0"/>
              </a:rPr>
              <a:t>）代码执行：程序</a:t>
            </a:r>
            <a:r>
              <a:rPr kumimoji="1" lang="en-US" altLang="zh-CN" sz="2400">
                <a:solidFill>
                  <a:srgbClr val="7F7F7F"/>
                </a:solidFill>
                <a:latin typeface="Arial" panose="020B0604020202020204" pitchFamily="34" charset="0"/>
                <a:ea typeface="宋体" panose="02010600030101010101" pitchFamily="2" charset="-122"/>
                <a:cs typeface="Arial" panose="020B0604020202020204" pitchFamily="34" charset="0"/>
              </a:rPr>
              <a:t>-&gt;</a:t>
            </a:r>
            <a:r>
              <a:rPr kumimoji="1" lang="zh-CN" altLang="en-US" sz="2400">
                <a:solidFill>
                  <a:srgbClr val="7F7F7F"/>
                </a:solidFill>
                <a:latin typeface="Arial" panose="020B0604020202020204" pitchFamily="34" charset="0"/>
                <a:ea typeface="宋体" panose="02010600030101010101" pitchFamily="2" charset="-122"/>
                <a:cs typeface="Arial" panose="020B0604020202020204" pitchFamily="34" charset="0"/>
              </a:rPr>
              <a:t>进程（加载器）</a:t>
            </a:r>
            <a:endParaRPr kumimoji="1" lang="en-US" altLang="zh-CN" sz="2400">
              <a:solidFill>
                <a:srgbClr val="7F7F7F"/>
              </a:solidFill>
              <a:latin typeface="Arial" panose="020B0604020202020204" pitchFamily="34" charset="0"/>
              <a:ea typeface="宋体" panose="02010600030101010101" pitchFamily="2" charset="-122"/>
              <a:cs typeface="Arial" panose="020B0604020202020204" pitchFamily="34" charset="0"/>
            </a:endParaRPr>
          </a:p>
          <a:p>
            <a:r>
              <a:rPr kumimoji="1" lang="en-US" altLang="zh-CN" sz="2400">
                <a:solidFill>
                  <a:srgbClr val="7F7F7F"/>
                </a:solidFill>
                <a:latin typeface="Arial" panose="020B0604020202020204" pitchFamily="34" charset="0"/>
                <a:ea typeface="宋体" panose="02010600030101010101" pitchFamily="2" charset="-122"/>
                <a:cs typeface="Arial" panose="020B0604020202020204" pitchFamily="34" charset="0"/>
              </a:rPr>
              <a:t>9</a:t>
            </a:r>
            <a:r>
              <a:rPr kumimoji="1" lang="zh-CN" altLang="en-US" sz="2400">
                <a:solidFill>
                  <a:srgbClr val="7F7F7F"/>
                </a:solidFill>
                <a:latin typeface="Arial" panose="020B0604020202020204" pitchFamily="34" charset="0"/>
                <a:ea typeface="宋体" panose="02010600030101010101" pitchFamily="2" charset="-122"/>
                <a:cs typeface="Arial" panose="020B0604020202020204" pitchFamily="34" charset="0"/>
              </a:rPr>
              <a:t>）进程空间：虚拟内存管理</a:t>
            </a:r>
            <a:endParaRPr kumimoji="1" lang="en-US" altLang="zh-CN" sz="2400">
              <a:solidFill>
                <a:srgbClr val="7F7F7F"/>
              </a:solidFill>
              <a:latin typeface="Arial" panose="020B0604020202020204" pitchFamily="34" charset="0"/>
              <a:ea typeface="宋体" panose="02010600030101010101" pitchFamily="2" charset="-122"/>
              <a:cs typeface="Arial" panose="020B0604020202020204" pitchFamily="34" charset="0"/>
            </a:endParaRPr>
          </a:p>
          <a:p>
            <a:endParaRPr kumimoji="1" lang="zh-CN" altLang="en-US" sz="2400">
              <a:ea typeface="宋体" panose="02010600030101010101" pitchFamily="2" charset="-122"/>
              <a:cs typeface="Arial" panose="020B0604020202020204" pitchFamily="34" charset="0"/>
            </a:endParaRPr>
          </a:p>
        </p:txBody>
      </p:sp>
      <p:sp>
        <p:nvSpPr>
          <p:cNvPr id="45059" name="灯片编号占位符 3">
            <a:extLst>
              <a:ext uri="{FF2B5EF4-FFF2-40B4-BE49-F238E27FC236}">
                <a16:creationId xmlns:a16="http://schemas.microsoft.com/office/drawing/2014/main" id="{67B224F3-A734-8F3C-33F6-F6E199B0224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E6DAA0DB-FD22-7345-B66C-FA4CC3102ABF}" type="slidenum">
              <a:rPr lang="zh-CN" altLang="en-US" sz="1400" smtClean="0">
                <a:latin typeface="Times New Roman" panose="02020603050405020304" pitchFamily="18" charset="0"/>
              </a:rPr>
              <a:pPr>
                <a:spcBef>
                  <a:spcPct val="0"/>
                </a:spcBef>
                <a:buFontTx/>
                <a:buNone/>
              </a:pPr>
              <a:t>21</a:t>
            </a:fld>
            <a:endParaRPr lang="en-US" altLang="zh-CN" sz="140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1">
            <a:extLst>
              <a:ext uri="{FF2B5EF4-FFF2-40B4-BE49-F238E27FC236}">
                <a16:creationId xmlns:a16="http://schemas.microsoft.com/office/drawing/2014/main" id="{12DEA72F-8245-2071-6828-98D4958CA175}"/>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46082" name="内容占位符 2">
            <a:extLst>
              <a:ext uri="{FF2B5EF4-FFF2-40B4-BE49-F238E27FC236}">
                <a16:creationId xmlns:a16="http://schemas.microsoft.com/office/drawing/2014/main" id="{7BD61EEF-139A-E67D-67E3-D611B9AB2C1C}"/>
              </a:ext>
            </a:extLst>
          </p:cNvPr>
          <p:cNvSpPr>
            <a:spLocks noGrp="1" noChangeArrowheads="1"/>
          </p:cNvSpPr>
          <p:nvPr>
            <p:ph idx="1"/>
          </p:nvPr>
        </p:nvSpPr>
        <p:spPr/>
        <p:txBody>
          <a:bodyPr/>
          <a:lstStyle/>
          <a:p>
            <a:r>
              <a:rPr kumimoji="1" lang="en-US" altLang="zh-CN" sz="2400">
                <a:latin typeface="Arial" panose="020B0604020202020204" pitchFamily="34" charset="0"/>
                <a:ea typeface="宋体" panose="02010600030101010101" pitchFamily="2" charset="-122"/>
                <a:cs typeface="Arial" panose="020B0604020202020204" pitchFamily="34" charset="0"/>
              </a:rPr>
              <a:t>1</a:t>
            </a:r>
            <a:r>
              <a:rPr kumimoji="1" lang="zh-CN" altLang="en-US" sz="2400">
                <a:latin typeface="Arial" panose="020B0604020202020204" pitchFamily="34" charset="0"/>
                <a:ea typeface="宋体" panose="02010600030101010101" pitchFamily="2" charset="-122"/>
                <a:cs typeface="Arial" panose="020B0604020202020204" pitchFamily="34" charset="0"/>
              </a:rPr>
              <a:t>）物理：</a:t>
            </a:r>
            <a:r>
              <a:rPr kumimoji="1" lang="en-US" altLang="zh-CN" sz="2400">
                <a:latin typeface="Arial" panose="020B0604020202020204" pitchFamily="34" charset="0"/>
                <a:ea typeface="宋体" panose="02010600030101010101" pitchFamily="2" charset="-122"/>
                <a:cs typeface="Arial" panose="020B0604020202020204" pitchFamily="34" charset="0"/>
              </a:rPr>
              <a:t>PN</a:t>
            </a:r>
            <a:r>
              <a:rPr kumimoji="1" lang="zh-CN" altLang="en-US" sz="2400">
                <a:latin typeface="Arial" panose="020B0604020202020204" pitchFamily="34" charset="0"/>
                <a:ea typeface="宋体" panose="02010600030101010101" pitchFamily="2" charset="-122"/>
                <a:cs typeface="Arial" panose="020B0604020202020204" pitchFamily="34" charset="0"/>
              </a:rPr>
              <a:t>结</a:t>
            </a:r>
            <a:r>
              <a:rPr kumimoji="1" lang="en-US" altLang="zh-CN" sz="2400">
                <a:latin typeface="Arial" panose="020B0604020202020204" pitchFamily="34" charset="0"/>
                <a:ea typeface="宋体" panose="02010600030101010101" pitchFamily="2" charset="-122"/>
                <a:cs typeface="Arial" panose="020B0604020202020204" pitchFamily="34" charset="0"/>
              </a:rPr>
              <a:t>-&gt;</a:t>
            </a:r>
            <a:r>
              <a:rPr kumimoji="1" lang="zh-CN" altLang="en-US" sz="2400">
                <a:latin typeface="Arial" panose="020B0604020202020204" pitchFamily="34" charset="0"/>
                <a:ea typeface="宋体" panose="02010600030101010101" pitchFamily="2" charset="-122"/>
                <a:cs typeface="Arial" panose="020B0604020202020204" pitchFamily="34" charset="0"/>
              </a:rPr>
              <a:t>二极管</a:t>
            </a:r>
            <a:r>
              <a:rPr kumimoji="1" lang="en-US" altLang="zh-CN" sz="2400">
                <a:latin typeface="Arial" panose="020B0604020202020204" pitchFamily="34" charset="0"/>
                <a:ea typeface="宋体" panose="02010600030101010101" pitchFamily="2" charset="-122"/>
                <a:cs typeface="Arial" panose="020B0604020202020204" pitchFamily="34" charset="0"/>
              </a:rPr>
              <a:t>-&gt;</a:t>
            </a:r>
            <a:r>
              <a:rPr kumimoji="1" lang="zh-CN" altLang="en-US" sz="2400">
                <a:latin typeface="Arial" panose="020B0604020202020204" pitchFamily="34" charset="0"/>
                <a:ea typeface="宋体" panose="02010600030101010101" pitchFamily="2" charset="-122"/>
                <a:cs typeface="Arial" panose="020B0604020202020204" pitchFamily="34" charset="0"/>
              </a:rPr>
              <a:t>门电路</a:t>
            </a:r>
            <a:endParaRPr kumimoji="1" lang="en-US" altLang="zh-CN" sz="2400">
              <a:latin typeface="Arial" panose="020B0604020202020204" pitchFamily="34" charset="0"/>
              <a:ea typeface="宋体" panose="02010600030101010101" pitchFamily="2" charset="-122"/>
              <a:cs typeface="Arial" panose="020B0604020202020204" pitchFamily="34" charset="0"/>
            </a:endParaRPr>
          </a:p>
          <a:p>
            <a:pPr lvl="1"/>
            <a:r>
              <a:rPr kumimoji="1" lang="en-US" altLang="zh-CN" sz="2200">
                <a:latin typeface="Arial" panose="020B0604020202020204" pitchFamily="34" charset="0"/>
                <a:ea typeface="宋体" panose="02010600030101010101" pitchFamily="2" charset="-122"/>
                <a:cs typeface="Arial" panose="020B0604020202020204" pitchFamily="34" charset="0"/>
              </a:rPr>
              <a:t>PN</a:t>
            </a:r>
            <a:r>
              <a:rPr kumimoji="1" lang="zh-CN" altLang="en-US" sz="2200">
                <a:latin typeface="Arial" panose="020B0604020202020204" pitchFamily="34" charset="0"/>
                <a:ea typeface="宋体" panose="02010600030101010101" pitchFamily="2" charset="-122"/>
                <a:cs typeface="Arial" panose="020B0604020202020204" pitchFamily="34" charset="0"/>
              </a:rPr>
              <a:t>结：</a:t>
            </a:r>
            <a:r>
              <a:rPr kumimoji="1" lang="en-US" altLang="zh-CN" sz="2200">
                <a:latin typeface="Arial" panose="020B0604020202020204" pitchFamily="34" charset="0"/>
                <a:ea typeface="宋体" panose="02010600030101010101" pitchFamily="2" charset="-122"/>
                <a:cs typeface="Arial" panose="020B0604020202020204" pitchFamily="34" charset="0"/>
              </a:rPr>
              <a:t>P</a:t>
            </a:r>
            <a:r>
              <a:rPr kumimoji="1" lang="zh-CN" altLang="en-US" sz="2200">
                <a:latin typeface="Arial" panose="020B0604020202020204" pitchFamily="34" charset="0"/>
                <a:ea typeface="宋体" panose="02010600030101010101" pitchFamily="2" charset="-122"/>
                <a:cs typeface="Arial" panose="020B0604020202020204" pitchFamily="34" charset="0"/>
              </a:rPr>
              <a:t>型半导体和</a:t>
            </a:r>
            <a:r>
              <a:rPr kumimoji="1" lang="en-US" altLang="zh-CN" sz="2200">
                <a:latin typeface="Arial" panose="020B0604020202020204" pitchFamily="34" charset="0"/>
                <a:ea typeface="宋体" panose="02010600030101010101" pitchFamily="2" charset="-122"/>
                <a:cs typeface="Arial" panose="020B0604020202020204" pitchFamily="34" charset="0"/>
              </a:rPr>
              <a:t>N</a:t>
            </a:r>
            <a:r>
              <a:rPr kumimoji="1" lang="zh-CN" altLang="en-US" sz="2200">
                <a:latin typeface="Arial" panose="020B0604020202020204" pitchFamily="34" charset="0"/>
                <a:ea typeface="宋体" panose="02010600030101010101" pitchFamily="2" charset="-122"/>
                <a:cs typeface="Arial" panose="020B0604020202020204" pitchFamily="34" charset="0"/>
              </a:rPr>
              <a:t>型半导体构成</a:t>
            </a:r>
            <a:endParaRPr kumimoji="1" lang="en-US" altLang="zh-CN" sz="2200">
              <a:latin typeface="Arial" panose="020B0604020202020204" pitchFamily="34" charset="0"/>
              <a:ea typeface="宋体" panose="02010600030101010101" pitchFamily="2" charset="-122"/>
              <a:cs typeface="Arial" panose="020B0604020202020204" pitchFamily="34" charset="0"/>
            </a:endParaRPr>
          </a:p>
          <a:p>
            <a:pPr lvl="2"/>
            <a:r>
              <a:rPr kumimoji="1" lang="zh-CN" altLang="en-US">
                <a:latin typeface="Arial" panose="020B0604020202020204" pitchFamily="34" charset="0"/>
                <a:ea typeface="宋体" panose="02010600030101010101" pitchFamily="2" charset="-122"/>
                <a:cs typeface="Arial" panose="020B0604020202020204" pitchFamily="34" charset="0"/>
              </a:rPr>
              <a:t>单向导电性</a:t>
            </a:r>
            <a:endParaRPr kumimoji="1" lang="en-US" altLang="zh-CN">
              <a:latin typeface="Arial" panose="020B0604020202020204" pitchFamily="34" charset="0"/>
              <a:ea typeface="宋体" panose="02010600030101010101" pitchFamily="2" charset="-122"/>
              <a:cs typeface="Arial" panose="020B0604020202020204" pitchFamily="34" charset="0"/>
            </a:endParaRPr>
          </a:p>
          <a:p>
            <a:pPr lvl="2"/>
            <a:r>
              <a:rPr kumimoji="1" lang="zh-CN" altLang="en-US">
                <a:latin typeface="Arial" panose="020B0604020202020204" pitchFamily="34" charset="0"/>
                <a:ea typeface="宋体" panose="02010600030101010101" pitchFamily="2" charset="-122"/>
                <a:cs typeface="Arial" panose="020B0604020202020204" pitchFamily="34" charset="0"/>
              </a:rPr>
              <a:t>加正向电压时</a:t>
            </a:r>
            <a:r>
              <a:rPr kumimoji="1" lang="en-US" altLang="zh-CN">
                <a:latin typeface="Arial" panose="020B0604020202020204" pitchFamily="34" charset="0"/>
                <a:ea typeface="宋体" panose="02010600030101010101" pitchFamily="2" charset="-122"/>
                <a:cs typeface="Arial" panose="020B0604020202020204" pitchFamily="34" charset="0"/>
              </a:rPr>
              <a:t>PN</a:t>
            </a:r>
            <a:r>
              <a:rPr kumimoji="1" lang="zh-CN" altLang="en-US">
                <a:latin typeface="Arial" panose="020B0604020202020204" pitchFamily="34" charset="0"/>
                <a:ea typeface="宋体" panose="02010600030101010101" pitchFamily="2" charset="-122"/>
                <a:cs typeface="Arial" panose="020B0604020202020204" pitchFamily="34" charset="0"/>
              </a:rPr>
              <a:t>结导通</a:t>
            </a:r>
            <a:endParaRPr kumimoji="1" lang="en-US" altLang="zh-CN">
              <a:latin typeface="Arial" panose="020B0604020202020204" pitchFamily="34" charset="0"/>
              <a:ea typeface="宋体" panose="02010600030101010101" pitchFamily="2" charset="-122"/>
              <a:cs typeface="Arial" panose="020B0604020202020204" pitchFamily="34" charset="0"/>
            </a:endParaRPr>
          </a:p>
          <a:p>
            <a:pPr lvl="2"/>
            <a:r>
              <a:rPr kumimoji="1" lang="zh-CN" altLang="en-US">
                <a:latin typeface="Arial" panose="020B0604020202020204" pitchFamily="34" charset="0"/>
                <a:ea typeface="宋体" panose="02010600030101010101" pitchFamily="2" charset="-122"/>
                <a:cs typeface="Arial" panose="020B0604020202020204" pitchFamily="34" charset="0"/>
              </a:rPr>
              <a:t>加反向电压时</a:t>
            </a:r>
            <a:r>
              <a:rPr kumimoji="1" lang="en-US" altLang="zh-CN">
                <a:latin typeface="Arial" panose="020B0604020202020204" pitchFamily="34" charset="0"/>
                <a:ea typeface="宋体" panose="02010600030101010101" pitchFamily="2" charset="-122"/>
                <a:cs typeface="Arial" panose="020B0604020202020204" pitchFamily="34" charset="0"/>
              </a:rPr>
              <a:t>PN</a:t>
            </a:r>
            <a:r>
              <a:rPr kumimoji="1" lang="zh-CN" altLang="en-US">
                <a:latin typeface="Arial" panose="020B0604020202020204" pitchFamily="34" charset="0"/>
                <a:ea typeface="宋体" panose="02010600030101010101" pitchFamily="2" charset="-122"/>
                <a:cs typeface="Arial" panose="020B0604020202020204" pitchFamily="34" charset="0"/>
              </a:rPr>
              <a:t>结截止</a:t>
            </a:r>
            <a:endParaRPr kumimoji="1" lang="en-US" altLang="zh-CN">
              <a:latin typeface="Arial" panose="020B0604020202020204" pitchFamily="34" charset="0"/>
              <a:ea typeface="宋体" panose="02010600030101010101" pitchFamily="2" charset="-122"/>
              <a:cs typeface="Arial" panose="020B0604020202020204" pitchFamily="34" charset="0"/>
            </a:endParaRPr>
          </a:p>
          <a:p>
            <a:endParaRPr kumimoji="1" lang="zh-CN" altLang="en-US" sz="2400">
              <a:latin typeface="Arial" panose="020B0604020202020204" pitchFamily="34" charset="0"/>
              <a:ea typeface="宋体" panose="02010600030101010101" pitchFamily="2" charset="-122"/>
              <a:cs typeface="Arial" panose="020B0604020202020204" pitchFamily="34" charset="0"/>
            </a:endParaRPr>
          </a:p>
          <a:p>
            <a:endParaRPr kumimoji="1" lang="zh-CN" altLang="en-US">
              <a:ea typeface="宋体" panose="02010600030101010101" pitchFamily="2" charset="-122"/>
            </a:endParaRPr>
          </a:p>
        </p:txBody>
      </p:sp>
      <p:sp>
        <p:nvSpPr>
          <p:cNvPr id="46083" name="灯片编号占位符 3">
            <a:extLst>
              <a:ext uri="{FF2B5EF4-FFF2-40B4-BE49-F238E27FC236}">
                <a16:creationId xmlns:a16="http://schemas.microsoft.com/office/drawing/2014/main" id="{F0EA4EE4-962D-93C0-AC48-76F6814B281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C306CE57-DCF3-F34F-A7F9-23B3A4ABF508}" type="slidenum">
              <a:rPr lang="zh-CN" altLang="en-US" sz="1400" smtClean="0">
                <a:latin typeface="Times New Roman" panose="02020603050405020304" pitchFamily="18" charset="0"/>
              </a:rPr>
              <a:pPr>
                <a:spcBef>
                  <a:spcPct val="0"/>
                </a:spcBef>
                <a:buFontTx/>
                <a:buNone/>
              </a:pPr>
              <a:t>22</a:t>
            </a:fld>
            <a:endParaRPr lang="en-US" altLang="zh-CN" sz="1400">
              <a:latin typeface="Times New Roman" panose="02020603050405020304" pitchFamily="18" charset="0"/>
            </a:endParaRPr>
          </a:p>
        </p:txBody>
      </p:sp>
      <p:sp>
        <p:nvSpPr>
          <p:cNvPr id="5" name="Line 2">
            <a:extLst>
              <a:ext uri="{FF2B5EF4-FFF2-40B4-BE49-F238E27FC236}">
                <a16:creationId xmlns:a16="http://schemas.microsoft.com/office/drawing/2014/main" id="{C85FFC4E-24FC-320E-1107-55DE97618235}"/>
              </a:ext>
            </a:extLst>
          </p:cNvPr>
          <p:cNvSpPr>
            <a:spLocks noChangeShapeType="1"/>
          </p:cNvSpPr>
          <p:nvPr/>
        </p:nvSpPr>
        <p:spPr bwMode="auto">
          <a:xfrm>
            <a:off x="1524000" y="4605338"/>
            <a:ext cx="609600" cy="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6" name="Line 3">
            <a:extLst>
              <a:ext uri="{FF2B5EF4-FFF2-40B4-BE49-F238E27FC236}">
                <a16:creationId xmlns:a16="http://schemas.microsoft.com/office/drawing/2014/main" id="{76241B26-C82E-3484-B751-D2D5656E5546}"/>
              </a:ext>
            </a:extLst>
          </p:cNvPr>
          <p:cNvSpPr>
            <a:spLocks noChangeShapeType="1"/>
          </p:cNvSpPr>
          <p:nvPr/>
        </p:nvSpPr>
        <p:spPr bwMode="auto">
          <a:xfrm>
            <a:off x="6172200" y="4605338"/>
            <a:ext cx="609600" cy="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7" name="Text Box 4">
            <a:extLst>
              <a:ext uri="{FF2B5EF4-FFF2-40B4-BE49-F238E27FC236}">
                <a16:creationId xmlns:a16="http://schemas.microsoft.com/office/drawing/2014/main" id="{252D7B6A-F5DA-1DB0-C4FB-884D083AD9BD}"/>
              </a:ext>
            </a:extLst>
          </p:cNvPr>
          <p:cNvSpPr txBox="1">
            <a:spLocks noChangeArrowheads="1"/>
          </p:cNvSpPr>
          <p:nvPr/>
        </p:nvSpPr>
        <p:spPr bwMode="auto">
          <a:xfrm>
            <a:off x="2133600" y="4130675"/>
            <a:ext cx="2057400" cy="1160463"/>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zh-CN" altLang="en-US" sz="2400">
                <a:latin typeface="Times New Roman" panose="02020603050405020304" pitchFamily="18" charset="0"/>
              </a:rPr>
              <a:t> </a:t>
            </a:r>
            <a:r>
              <a:rPr kumimoji="1" lang="en-US" altLang="zh-CN">
                <a:latin typeface="Times New Roman" panose="02020603050405020304" pitchFamily="18" charset="0"/>
              </a:rPr>
              <a:t>P                </a:t>
            </a:r>
          </a:p>
          <a:p>
            <a:pPr>
              <a:spcBef>
                <a:spcPct val="50000"/>
              </a:spcBef>
              <a:buFontTx/>
              <a:buNone/>
            </a:pPr>
            <a:endParaRPr kumimoji="1" lang="zh-CN" altLang="en-US">
              <a:latin typeface="Times New Roman" panose="02020603050405020304" pitchFamily="18" charset="0"/>
            </a:endParaRPr>
          </a:p>
        </p:txBody>
      </p:sp>
      <p:sp>
        <p:nvSpPr>
          <p:cNvPr id="8" name="Text Box 5">
            <a:extLst>
              <a:ext uri="{FF2B5EF4-FFF2-40B4-BE49-F238E27FC236}">
                <a16:creationId xmlns:a16="http://schemas.microsoft.com/office/drawing/2014/main" id="{8984300E-2333-8A34-3F9D-6952CA908C9F}"/>
              </a:ext>
            </a:extLst>
          </p:cNvPr>
          <p:cNvSpPr txBox="1">
            <a:spLocks noChangeArrowheads="1"/>
          </p:cNvSpPr>
          <p:nvPr/>
        </p:nvSpPr>
        <p:spPr bwMode="auto">
          <a:xfrm>
            <a:off x="4149725" y="4130675"/>
            <a:ext cx="2022475" cy="116046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zh-CN" altLang="en-US" sz="2400">
                <a:latin typeface="Times New Roman" panose="02020603050405020304" pitchFamily="18" charset="0"/>
              </a:rPr>
              <a:t>                      </a:t>
            </a:r>
            <a:r>
              <a:rPr kumimoji="1" lang="en-US" altLang="zh-CN">
                <a:latin typeface="Times New Roman" panose="02020603050405020304" pitchFamily="18" charset="0"/>
              </a:rPr>
              <a:t>N </a:t>
            </a:r>
          </a:p>
          <a:p>
            <a:pPr>
              <a:spcBef>
                <a:spcPct val="50000"/>
              </a:spcBef>
              <a:buFontTx/>
              <a:buNone/>
            </a:pPr>
            <a:endParaRPr kumimoji="1" lang="zh-CN" altLang="en-US">
              <a:latin typeface="Times New Roman" panose="02020603050405020304" pitchFamily="18" charset="0"/>
            </a:endParaRPr>
          </a:p>
        </p:txBody>
      </p:sp>
      <p:sp>
        <p:nvSpPr>
          <p:cNvPr id="9" name="Line 10">
            <a:extLst>
              <a:ext uri="{FF2B5EF4-FFF2-40B4-BE49-F238E27FC236}">
                <a16:creationId xmlns:a16="http://schemas.microsoft.com/office/drawing/2014/main" id="{54B3F72C-5484-BADF-EA9C-5ACF2850D24B}"/>
              </a:ext>
            </a:extLst>
          </p:cNvPr>
          <p:cNvSpPr>
            <a:spLocks noChangeShapeType="1"/>
          </p:cNvSpPr>
          <p:nvPr/>
        </p:nvSpPr>
        <p:spPr bwMode="auto">
          <a:xfrm flipV="1">
            <a:off x="3962400" y="4224338"/>
            <a:ext cx="1524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10" name="Line 11">
            <a:extLst>
              <a:ext uri="{FF2B5EF4-FFF2-40B4-BE49-F238E27FC236}">
                <a16:creationId xmlns:a16="http://schemas.microsoft.com/office/drawing/2014/main" id="{B13F90A0-4D0F-9A9E-EAC4-C5B2A2F08739}"/>
              </a:ext>
            </a:extLst>
          </p:cNvPr>
          <p:cNvSpPr>
            <a:spLocks noChangeShapeType="1"/>
          </p:cNvSpPr>
          <p:nvPr/>
        </p:nvSpPr>
        <p:spPr bwMode="auto">
          <a:xfrm flipV="1">
            <a:off x="3962400" y="4376738"/>
            <a:ext cx="1524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11" name="Line 12">
            <a:extLst>
              <a:ext uri="{FF2B5EF4-FFF2-40B4-BE49-F238E27FC236}">
                <a16:creationId xmlns:a16="http://schemas.microsoft.com/office/drawing/2014/main" id="{5161C45B-50BF-AFA1-D17C-09101369A415}"/>
              </a:ext>
            </a:extLst>
          </p:cNvPr>
          <p:cNvSpPr>
            <a:spLocks noChangeShapeType="1"/>
          </p:cNvSpPr>
          <p:nvPr/>
        </p:nvSpPr>
        <p:spPr bwMode="auto">
          <a:xfrm flipV="1">
            <a:off x="3962400" y="4529138"/>
            <a:ext cx="1524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12" name="Line 13">
            <a:extLst>
              <a:ext uri="{FF2B5EF4-FFF2-40B4-BE49-F238E27FC236}">
                <a16:creationId xmlns:a16="http://schemas.microsoft.com/office/drawing/2014/main" id="{0B8C14FE-696C-CF9B-1911-DC37752AD51E}"/>
              </a:ext>
            </a:extLst>
          </p:cNvPr>
          <p:cNvSpPr>
            <a:spLocks noChangeShapeType="1"/>
          </p:cNvSpPr>
          <p:nvPr/>
        </p:nvSpPr>
        <p:spPr bwMode="auto">
          <a:xfrm flipV="1">
            <a:off x="3962400" y="4681538"/>
            <a:ext cx="1524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13" name="Line 14">
            <a:extLst>
              <a:ext uri="{FF2B5EF4-FFF2-40B4-BE49-F238E27FC236}">
                <a16:creationId xmlns:a16="http://schemas.microsoft.com/office/drawing/2014/main" id="{814CB41B-F839-0C49-CC51-31FE6BE35846}"/>
              </a:ext>
            </a:extLst>
          </p:cNvPr>
          <p:cNvSpPr>
            <a:spLocks noChangeShapeType="1"/>
          </p:cNvSpPr>
          <p:nvPr/>
        </p:nvSpPr>
        <p:spPr bwMode="auto">
          <a:xfrm flipV="1">
            <a:off x="3962400" y="4833938"/>
            <a:ext cx="1524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14" name="Line 15">
            <a:extLst>
              <a:ext uri="{FF2B5EF4-FFF2-40B4-BE49-F238E27FC236}">
                <a16:creationId xmlns:a16="http://schemas.microsoft.com/office/drawing/2014/main" id="{6D23EBE5-C52D-CA29-56F8-B5244D7D5139}"/>
              </a:ext>
            </a:extLst>
          </p:cNvPr>
          <p:cNvSpPr>
            <a:spLocks noChangeShapeType="1"/>
          </p:cNvSpPr>
          <p:nvPr/>
        </p:nvSpPr>
        <p:spPr bwMode="auto">
          <a:xfrm flipV="1">
            <a:off x="3962400" y="4986338"/>
            <a:ext cx="1524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15" name="Line 16">
            <a:extLst>
              <a:ext uri="{FF2B5EF4-FFF2-40B4-BE49-F238E27FC236}">
                <a16:creationId xmlns:a16="http://schemas.microsoft.com/office/drawing/2014/main" id="{910A8B98-01F8-0AD4-5EF5-454C281C6504}"/>
              </a:ext>
            </a:extLst>
          </p:cNvPr>
          <p:cNvSpPr>
            <a:spLocks noChangeShapeType="1"/>
          </p:cNvSpPr>
          <p:nvPr/>
        </p:nvSpPr>
        <p:spPr bwMode="auto">
          <a:xfrm flipV="1">
            <a:off x="3962400" y="5138738"/>
            <a:ext cx="1524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16" name="Line 18">
            <a:extLst>
              <a:ext uri="{FF2B5EF4-FFF2-40B4-BE49-F238E27FC236}">
                <a16:creationId xmlns:a16="http://schemas.microsoft.com/office/drawing/2014/main" id="{2417C883-CA2A-D380-D407-09CEBF27A5B5}"/>
              </a:ext>
            </a:extLst>
          </p:cNvPr>
          <p:cNvSpPr>
            <a:spLocks noChangeShapeType="1"/>
          </p:cNvSpPr>
          <p:nvPr/>
        </p:nvSpPr>
        <p:spPr bwMode="auto">
          <a:xfrm>
            <a:off x="4191000" y="4224338"/>
            <a:ext cx="1524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17" name="Line 19">
            <a:extLst>
              <a:ext uri="{FF2B5EF4-FFF2-40B4-BE49-F238E27FC236}">
                <a16:creationId xmlns:a16="http://schemas.microsoft.com/office/drawing/2014/main" id="{9982945F-7D15-9A8B-B1AA-3FD28881AF02}"/>
              </a:ext>
            </a:extLst>
          </p:cNvPr>
          <p:cNvSpPr>
            <a:spLocks noChangeShapeType="1"/>
          </p:cNvSpPr>
          <p:nvPr/>
        </p:nvSpPr>
        <p:spPr bwMode="auto">
          <a:xfrm flipH="1">
            <a:off x="4267200" y="4148138"/>
            <a:ext cx="0" cy="152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18" name="Line 21">
            <a:extLst>
              <a:ext uri="{FF2B5EF4-FFF2-40B4-BE49-F238E27FC236}">
                <a16:creationId xmlns:a16="http://schemas.microsoft.com/office/drawing/2014/main" id="{331B6EF8-5908-6163-E4FD-FFCEB1215442}"/>
              </a:ext>
            </a:extLst>
          </p:cNvPr>
          <p:cNvSpPr>
            <a:spLocks noChangeShapeType="1"/>
          </p:cNvSpPr>
          <p:nvPr/>
        </p:nvSpPr>
        <p:spPr bwMode="auto">
          <a:xfrm>
            <a:off x="4191000" y="4376738"/>
            <a:ext cx="1524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19" name="Line 22">
            <a:extLst>
              <a:ext uri="{FF2B5EF4-FFF2-40B4-BE49-F238E27FC236}">
                <a16:creationId xmlns:a16="http://schemas.microsoft.com/office/drawing/2014/main" id="{9133BCDB-A36B-4F4A-4711-2C256EEF4064}"/>
              </a:ext>
            </a:extLst>
          </p:cNvPr>
          <p:cNvSpPr>
            <a:spLocks noChangeShapeType="1"/>
          </p:cNvSpPr>
          <p:nvPr/>
        </p:nvSpPr>
        <p:spPr bwMode="auto">
          <a:xfrm flipH="1">
            <a:off x="4267200" y="4300538"/>
            <a:ext cx="0" cy="152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20" name="Line 23">
            <a:extLst>
              <a:ext uri="{FF2B5EF4-FFF2-40B4-BE49-F238E27FC236}">
                <a16:creationId xmlns:a16="http://schemas.microsoft.com/office/drawing/2014/main" id="{5473FF63-A5B6-FF8C-3C8D-8899D274E48D}"/>
              </a:ext>
            </a:extLst>
          </p:cNvPr>
          <p:cNvSpPr>
            <a:spLocks noChangeShapeType="1"/>
          </p:cNvSpPr>
          <p:nvPr/>
        </p:nvSpPr>
        <p:spPr bwMode="auto">
          <a:xfrm>
            <a:off x="4191000" y="4529138"/>
            <a:ext cx="1524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21" name="Line 24">
            <a:extLst>
              <a:ext uri="{FF2B5EF4-FFF2-40B4-BE49-F238E27FC236}">
                <a16:creationId xmlns:a16="http://schemas.microsoft.com/office/drawing/2014/main" id="{B62F1A62-E483-6B36-F9EA-2D9A8832572E}"/>
              </a:ext>
            </a:extLst>
          </p:cNvPr>
          <p:cNvSpPr>
            <a:spLocks noChangeShapeType="1"/>
          </p:cNvSpPr>
          <p:nvPr/>
        </p:nvSpPr>
        <p:spPr bwMode="auto">
          <a:xfrm flipH="1">
            <a:off x="4267200" y="4452938"/>
            <a:ext cx="0" cy="152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22" name="Line 25">
            <a:extLst>
              <a:ext uri="{FF2B5EF4-FFF2-40B4-BE49-F238E27FC236}">
                <a16:creationId xmlns:a16="http://schemas.microsoft.com/office/drawing/2014/main" id="{6295E32C-8BEE-9F9B-8BEC-A94CB90502B7}"/>
              </a:ext>
            </a:extLst>
          </p:cNvPr>
          <p:cNvSpPr>
            <a:spLocks noChangeShapeType="1"/>
          </p:cNvSpPr>
          <p:nvPr/>
        </p:nvSpPr>
        <p:spPr bwMode="auto">
          <a:xfrm>
            <a:off x="4191000" y="4681538"/>
            <a:ext cx="1524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23" name="Line 26">
            <a:extLst>
              <a:ext uri="{FF2B5EF4-FFF2-40B4-BE49-F238E27FC236}">
                <a16:creationId xmlns:a16="http://schemas.microsoft.com/office/drawing/2014/main" id="{84C6F486-6708-C3F6-73D8-FC7BA1623574}"/>
              </a:ext>
            </a:extLst>
          </p:cNvPr>
          <p:cNvSpPr>
            <a:spLocks noChangeShapeType="1"/>
          </p:cNvSpPr>
          <p:nvPr/>
        </p:nvSpPr>
        <p:spPr bwMode="auto">
          <a:xfrm flipH="1">
            <a:off x="4267200" y="4605338"/>
            <a:ext cx="0" cy="152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24" name="Line 27">
            <a:extLst>
              <a:ext uri="{FF2B5EF4-FFF2-40B4-BE49-F238E27FC236}">
                <a16:creationId xmlns:a16="http://schemas.microsoft.com/office/drawing/2014/main" id="{3F8D2F9A-92D7-E3D6-5099-2877D58398BE}"/>
              </a:ext>
            </a:extLst>
          </p:cNvPr>
          <p:cNvSpPr>
            <a:spLocks noChangeShapeType="1"/>
          </p:cNvSpPr>
          <p:nvPr/>
        </p:nvSpPr>
        <p:spPr bwMode="auto">
          <a:xfrm>
            <a:off x="4191000" y="4833938"/>
            <a:ext cx="1524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25" name="Line 28">
            <a:extLst>
              <a:ext uri="{FF2B5EF4-FFF2-40B4-BE49-F238E27FC236}">
                <a16:creationId xmlns:a16="http://schemas.microsoft.com/office/drawing/2014/main" id="{C9DD1414-CF23-273B-A0DE-2960240DF3E7}"/>
              </a:ext>
            </a:extLst>
          </p:cNvPr>
          <p:cNvSpPr>
            <a:spLocks noChangeShapeType="1"/>
          </p:cNvSpPr>
          <p:nvPr/>
        </p:nvSpPr>
        <p:spPr bwMode="auto">
          <a:xfrm flipH="1">
            <a:off x="4267200" y="4757738"/>
            <a:ext cx="0" cy="152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26" name="Line 29">
            <a:extLst>
              <a:ext uri="{FF2B5EF4-FFF2-40B4-BE49-F238E27FC236}">
                <a16:creationId xmlns:a16="http://schemas.microsoft.com/office/drawing/2014/main" id="{9D4AAEC9-66DC-EFEE-986D-E0EA9BD21DAA}"/>
              </a:ext>
            </a:extLst>
          </p:cNvPr>
          <p:cNvSpPr>
            <a:spLocks noChangeShapeType="1"/>
          </p:cNvSpPr>
          <p:nvPr/>
        </p:nvSpPr>
        <p:spPr bwMode="auto">
          <a:xfrm>
            <a:off x="4191000" y="4986338"/>
            <a:ext cx="1524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27" name="Line 30">
            <a:extLst>
              <a:ext uri="{FF2B5EF4-FFF2-40B4-BE49-F238E27FC236}">
                <a16:creationId xmlns:a16="http://schemas.microsoft.com/office/drawing/2014/main" id="{80E250C8-F5B9-C5BF-DA2B-BA028D542FBB}"/>
              </a:ext>
            </a:extLst>
          </p:cNvPr>
          <p:cNvSpPr>
            <a:spLocks noChangeShapeType="1"/>
          </p:cNvSpPr>
          <p:nvPr/>
        </p:nvSpPr>
        <p:spPr bwMode="auto">
          <a:xfrm flipH="1">
            <a:off x="4267200" y="4910138"/>
            <a:ext cx="0" cy="152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28" name="Line 31">
            <a:extLst>
              <a:ext uri="{FF2B5EF4-FFF2-40B4-BE49-F238E27FC236}">
                <a16:creationId xmlns:a16="http://schemas.microsoft.com/office/drawing/2014/main" id="{14281DEC-5F5D-77D2-D163-69C2E1F1FFA2}"/>
              </a:ext>
            </a:extLst>
          </p:cNvPr>
          <p:cNvSpPr>
            <a:spLocks noChangeShapeType="1"/>
          </p:cNvSpPr>
          <p:nvPr/>
        </p:nvSpPr>
        <p:spPr bwMode="auto">
          <a:xfrm>
            <a:off x="4191000" y="5138738"/>
            <a:ext cx="1524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29" name="Line 32">
            <a:extLst>
              <a:ext uri="{FF2B5EF4-FFF2-40B4-BE49-F238E27FC236}">
                <a16:creationId xmlns:a16="http://schemas.microsoft.com/office/drawing/2014/main" id="{DFE26085-E15B-724C-C5FE-8F05ED41A5B5}"/>
              </a:ext>
            </a:extLst>
          </p:cNvPr>
          <p:cNvSpPr>
            <a:spLocks noChangeShapeType="1"/>
          </p:cNvSpPr>
          <p:nvPr/>
        </p:nvSpPr>
        <p:spPr bwMode="auto">
          <a:xfrm flipH="1">
            <a:off x="4267200" y="5062538"/>
            <a:ext cx="0" cy="15240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30" name="AutoShape 33">
            <a:extLst>
              <a:ext uri="{FF2B5EF4-FFF2-40B4-BE49-F238E27FC236}">
                <a16:creationId xmlns:a16="http://schemas.microsoft.com/office/drawing/2014/main" id="{235EFED1-0B30-5216-ABAB-B66D056FE948}"/>
              </a:ext>
            </a:extLst>
          </p:cNvPr>
          <p:cNvSpPr>
            <a:spLocks noChangeArrowheads="1"/>
          </p:cNvSpPr>
          <p:nvPr/>
        </p:nvSpPr>
        <p:spPr bwMode="auto">
          <a:xfrm>
            <a:off x="3962400" y="3919538"/>
            <a:ext cx="381000" cy="152400"/>
          </a:xfrm>
          <a:prstGeom prst="leftArrow">
            <a:avLst>
              <a:gd name="adj1" fmla="val 50000"/>
              <a:gd name="adj2" fmla="val 62500"/>
            </a:avLst>
          </a:prstGeom>
          <a:solidFill>
            <a:srgbClr val="CC3300"/>
          </a:solidFill>
          <a:ln w="9525">
            <a:solidFill>
              <a:srgbClr val="CC3300"/>
            </a:solidFill>
            <a:miter lim="800000"/>
            <a:headEnd/>
            <a:tailEnd/>
          </a:ln>
        </p:spPr>
        <p:txBody>
          <a:bodyPr wrap="none" lIns="0" tIns="46800" rIns="0" bIns="46800" anchor="ct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endParaRPr kumimoji="1" lang="zh-CN" altLang="en-US" sz="2400">
              <a:solidFill>
                <a:srgbClr val="CC3300"/>
              </a:solidFill>
              <a:latin typeface="Times New Roman" panose="02020603050405020304" pitchFamily="18" charset="0"/>
            </a:endParaRPr>
          </a:p>
        </p:txBody>
      </p:sp>
      <p:sp>
        <p:nvSpPr>
          <p:cNvPr id="31" name="Line 35">
            <a:extLst>
              <a:ext uri="{FF2B5EF4-FFF2-40B4-BE49-F238E27FC236}">
                <a16:creationId xmlns:a16="http://schemas.microsoft.com/office/drawing/2014/main" id="{9B88AEA7-0D59-BEC2-A2A2-C52FB04185DA}"/>
              </a:ext>
            </a:extLst>
          </p:cNvPr>
          <p:cNvSpPr>
            <a:spLocks noChangeShapeType="1"/>
          </p:cNvSpPr>
          <p:nvPr/>
        </p:nvSpPr>
        <p:spPr bwMode="auto">
          <a:xfrm>
            <a:off x="1524000" y="4605338"/>
            <a:ext cx="0" cy="76200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32" name="Line 36">
            <a:extLst>
              <a:ext uri="{FF2B5EF4-FFF2-40B4-BE49-F238E27FC236}">
                <a16:creationId xmlns:a16="http://schemas.microsoft.com/office/drawing/2014/main" id="{085B967E-EC51-C2F8-57AF-3466E038791F}"/>
              </a:ext>
            </a:extLst>
          </p:cNvPr>
          <p:cNvSpPr>
            <a:spLocks noChangeShapeType="1"/>
          </p:cNvSpPr>
          <p:nvPr/>
        </p:nvSpPr>
        <p:spPr bwMode="auto">
          <a:xfrm>
            <a:off x="1524000" y="5367338"/>
            <a:ext cx="5257800" cy="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33" name="Line 37">
            <a:extLst>
              <a:ext uri="{FF2B5EF4-FFF2-40B4-BE49-F238E27FC236}">
                <a16:creationId xmlns:a16="http://schemas.microsoft.com/office/drawing/2014/main" id="{D1DB3539-5057-33C7-A35E-6556A7100DBE}"/>
              </a:ext>
            </a:extLst>
          </p:cNvPr>
          <p:cNvSpPr>
            <a:spLocks noChangeShapeType="1"/>
          </p:cNvSpPr>
          <p:nvPr/>
        </p:nvSpPr>
        <p:spPr bwMode="auto">
          <a:xfrm flipV="1">
            <a:off x="6781800" y="4605338"/>
            <a:ext cx="0" cy="76200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34" name="Text Box 38">
            <a:extLst>
              <a:ext uri="{FF2B5EF4-FFF2-40B4-BE49-F238E27FC236}">
                <a16:creationId xmlns:a16="http://schemas.microsoft.com/office/drawing/2014/main" id="{0751D1DC-88A3-CEE1-265B-58CCF78B7A29}"/>
              </a:ext>
            </a:extLst>
          </p:cNvPr>
          <p:cNvSpPr txBox="1">
            <a:spLocks noChangeArrowheads="1"/>
          </p:cNvSpPr>
          <p:nvPr/>
        </p:nvSpPr>
        <p:spPr bwMode="auto">
          <a:xfrm>
            <a:off x="4495800" y="3811588"/>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zh-CN" altLang="en-US" sz="1600">
                <a:solidFill>
                  <a:srgbClr val="CC3300"/>
                </a:solidFill>
                <a:latin typeface="Times New Roman" panose="02020603050405020304" pitchFamily="18" charset="0"/>
              </a:rPr>
              <a:t>内电场</a:t>
            </a:r>
          </a:p>
        </p:txBody>
      </p:sp>
      <p:pic>
        <p:nvPicPr>
          <p:cNvPr id="35" name="Picture 2">
            <a:extLst>
              <a:ext uri="{FF2B5EF4-FFF2-40B4-BE49-F238E27FC236}">
                <a16:creationId xmlns:a16="http://schemas.microsoft.com/office/drawing/2014/main" id="{721E15D7-1A74-B7D8-6C71-F14E4481316D}"/>
              </a:ext>
            </a:extLst>
          </p:cNvPr>
          <p:cNvPicPr>
            <a:picLocks noChangeAspect="1" noChangeArrowheads="1"/>
          </p:cNvPicPr>
          <p:nvPr/>
        </p:nvPicPr>
        <p:blipFill>
          <a:blip r:embed="rId3"/>
          <a:srcRect/>
          <a:stretch>
            <a:fillRect/>
          </a:stretch>
        </p:blipFill>
        <p:spPr bwMode="auto">
          <a:xfrm>
            <a:off x="3316288" y="5622925"/>
            <a:ext cx="1749425" cy="604838"/>
          </a:xfrm>
          <a:prstGeom prst="rect">
            <a:avLst/>
          </a:prstGeom>
          <a:noFill/>
          <a:ln>
            <a:noFill/>
          </a:ln>
          <a:effectLst>
            <a:outerShdw blurRad="63500" dist="17961" dir="2700000" algn="ctr" rotWithShape="0">
              <a:srgbClr val="985021">
                <a:alpha val="74998"/>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LASER.WAV"/>
                                        </p:tgtEl>
                                      </p:cMediaNode>
                                    </p:audio>
                                  </p:sub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1+#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LASER.WAV"/>
                                        </p:tgtEl>
                                      </p:cMediaNode>
                                    </p:audio>
                                  </p:subTnLst>
                                </p:cTn>
                              </p:par>
                            </p:childTnLst>
                          </p:cTn>
                        </p:par>
                        <p:par>
                          <p:cTn id="14" fill="hold" nodeType="afterGroup">
                            <p:stCondLst>
                              <p:cond delay="1000"/>
                            </p:stCondLst>
                            <p:childTnLst>
                              <p:par>
                                <p:cTn id="15" presetID="1" presetClass="entr" presetSubtype="0" fill="hold" nodeType="afterEffect">
                                  <p:stCondLst>
                                    <p:cond delay="0"/>
                                  </p:stCondLst>
                                  <p:childTnLst>
                                    <p:set>
                                      <p:cBhvr>
                                        <p:cTn id="16" dur="1" fill="hold">
                                          <p:stCondLst>
                                            <p:cond delay="499"/>
                                          </p:stCondLst>
                                        </p:cTn>
                                        <p:tgtEl>
                                          <p:spTgt spid="10"/>
                                        </p:tgtEl>
                                        <p:attrNameLst>
                                          <p:attrName>style.visibility</p:attrName>
                                        </p:attrNameLst>
                                      </p:cBhvr>
                                      <p:to>
                                        <p:strVal val="visible"/>
                                      </p:to>
                                    </p:set>
                                  </p:childTnLst>
                                </p:cTn>
                              </p:par>
                            </p:childTnLst>
                          </p:cTn>
                        </p:par>
                        <p:par>
                          <p:cTn id="17" fill="hold" nodeType="afterGroup">
                            <p:stCondLst>
                              <p:cond delay="1500"/>
                            </p:stCondLst>
                            <p:childTnLst>
                              <p:par>
                                <p:cTn id="18" presetID="1" presetClass="entr" presetSubtype="0" fill="hold" nodeType="afterEffect">
                                  <p:stCondLst>
                                    <p:cond delay="0"/>
                                  </p:stCondLst>
                                  <p:childTnLst>
                                    <p:set>
                                      <p:cBhvr>
                                        <p:cTn id="19" dur="1" fill="hold">
                                          <p:stCondLst>
                                            <p:cond delay="499"/>
                                          </p:stCondLst>
                                        </p:cTn>
                                        <p:tgtEl>
                                          <p:spTgt spid="12"/>
                                        </p:tgtEl>
                                        <p:attrNameLst>
                                          <p:attrName>style.visibility</p:attrName>
                                        </p:attrNameLst>
                                      </p:cBhvr>
                                      <p:to>
                                        <p:strVal val="visible"/>
                                      </p:to>
                                    </p:set>
                                  </p:childTnLst>
                                </p:cTn>
                              </p:par>
                            </p:childTnLst>
                          </p:cTn>
                        </p:par>
                        <p:par>
                          <p:cTn id="20" fill="hold" nodeType="afterGroup">
                            <p:stCondLst>
                              <p:cond delay="2000"/>
                            </p:stCondLst>
                            <p:childTnLst>
                              <p:par>
                                <p:cTn id="21" presetID="1" presetClass="entr" presetSubtype="0" fill="hold" nodeType="afterEffect">
                                  <p:stCondLst>
                                    <p:cond delay="0"/>
                                  </p:stCondLst>
                                  <p:childTnLst>
                                    <p:set>
                                      <p:cBhvr>
                                        <p:cTn id="22" dur="1" fill="hold">
                                          <p:stCondLst>
                                            <p:cond delay="499"/>
                                          </p:stCondLst>
                                        </p:cTn>
                                        <p:tgtEl>
                                          <p:spTgt spid="14"/>
                                        </p:tgtEl>
                                        <p:attrNameLst>
                                          <p:attrName>style.visibility</p:attrName>
                                        </p:attrNameLst>
                                      </p:cBhvr>
                                      <p:to>
                                        <p:strVal val="visible"/>
                                      </p:to>
                                    </p:set>
                                  </p:childTnLst>
                                </p:cTn>
                              </p:par>
                            </p:childTnLst>
                          </p:cTn>
                        </p:par>
                        <p:par>
                          <p:cTn id="23" fill="hold" nodeType="afterGroup">
                            <p:stCondLst>
                              <p:cond delay="2500"/>
                            </p:stCondLst>
                            <p:childTnLst>
                              <p:par>
                                <p:cTn id="24" presetID="1" presetClass="entr" presetSubtype="0" fill="hold" nodeType="afterEffect">
                                  <p:stCondLst>
                                    <p:cond delay="0"/>
                                  </p:stCondLst>
                                  <p:childTnLst>
                                    <p:set>
                                      <p:cBhvr>
                                        <p:cTn id="25" dur="1" fill="hold">
                                          <p:stCondLst>
                                            <p:cond delay="499"/>
                                          </p:stCondLst>
                                        </p:cTn>
                                        <p:tgtEl>
                                          <p:spTgt spid="9"/>
                                        </p:tgtEl>
                                        <p:attrNameLst>
                                          <p:attrName>style.visibility</p:attrName>
                                        </p:attrNameLst>
                                      </p:cBhvr>
                                      <p:to>
                                        <p:strVal val="visible"/>
                                      </p:to>
                                    </p:set>
                                  </p:childTnLst>
                                </p:cTn>
                              </p:par>
                            </p:childTnLst>
                          </p:cTn>
                        </p:par>
                        <p:par>
                          <p:cTn id="26" fill="hold" nodeType="afterGroup">
                            <p:stCondLst>
                              <p:cond delay="3000"/>
                            </p:stCondLst>
                            <p:childTnLst>
                              <p:par>
                                <p:cTn id="27" presetID="1" presetClass="entr" presetSubtype="0" fill="hold" nodeType="afterEffect">
                                  <p:stCondLst>
                                    <p:cond delay="0"/>
                                  </p:stCondLst>
                                  <p:childTnLst>
                                    <p:set>
                                      <p:cBhvr>
                                        <p:cTn id="28" dur="1" fill="hold">
                                          <p:stCondLst>
                                            <p:cond delay="499"/>
                                          </p:stCondLst>
                                        </p:cTn>
                                        <p:tgtEl>
                                          <p:spTgt spid="11"/>
                                        </p:tgtEl>
                                        <p:attrNameLst>
                                          <p:attrName>style.visibility</p:attrName>
                                        </p:attrNameLst>
                                      </p:cBhvr>
                                      <p:to>
                                        <p:strVal val="visible"/>
                                      </p:to>
                                    </p:set>
                                  </p:childTnLst>
                                </p:cTn>
                              </p:par>
                            </p:childTnLst>
                          </p:cTn>
                        </p:par>
                        <p:par>
                          <p:cTn id="29" fill="hold" nodeType="afterGroup">
                            <p:stCondLst>
                              <p:cond delay="3500"/>
                            </p:stCondLst>
                            <p:childTnLst>
                              <p:par>
                                <p:cTn id="30" presetID="1" presetClass="entr" presetSubtype="0" fill="hold" nodeType="afterEffect">
                                  <p:stCondLst>
                                    <p:cond delay="0"/>
                                  </p:stCondLst>
                                  <p:childTnLst>
                                    <p:set>
                                      <p:cBhvr>
                                        <p:cTn id="31" dur="1" fill="hold">
                                          <p:stCondLst>
                                            <p:cond delay="499"/>
                                          </p:stCondLst>
                                        </p:cTn>
                                        <p:tgtEl>
                                          <p:spTgt spid="13"/>
                                        </p:tgtEl>
                                        <p:attrNameLst>
                                          <p:attrName>style.visibility</p:attrName>
                                        </p:attrNameLst>
                                      </p:cBhvr>
                                      <p:to>
                                        <p:strVal val="visible"/>
                                      </p:to>
                                    </p:set>
                                  </p:childTnLst>
                                </p:cTn>
                              </p:par>
                            </p:childTnLst>
                          </p:cTn>
                        </p:par>
                        <p:par>
                          <p:cTn id="32" fill="hold" nodeType="afterGroup">
                            <p:stCondLst>
                              <p:cond delay="4000"/>
                            </p:stCondLst>
                            <p:childTnLst>
                              <p:par>
                                <p:cTn id="33" presetID="1" presetClass="entr" presetSubtype="0" fill="hold" nodeType="afterEffect">
                                  <p:stCondLst>
                                    <p:cond delay="0"/>
                                  </p:stCondLst>
                                  <p:childTnLst>
                                    <p:set>
                                      <p:cBhvr>
                                        <p:cTn id="34" dur="1" fill="hold">
                                          <p:stCondLst>
                                            <p:cond delay="499"/>
                                          </p:stCondLst>
                                        </p:cTn>
                                        <p:tgtEl>
                                          <p:spTgt spid="15"/>
                                        </p:tgtEl>
                                        <p:attrNameLst>
                                          <p:attrName>style.visibility</p:attrName>
                                        </p:attrNameLst>
                                      </p:cBhvr>
                                      <p:to>
                                        <p:strVal val="visible"/>
                                      </p:to>
                                    </p:set>
                                  </p:childTnLst>
                                </p:cTn>
                              </p:par>
                            </p:childTnLst>
                          </p:cTn>
                        </p:par>
                        <p:par>
                          <p:cTn id="35" fill="hold" nodeType="afterGroup">
                            <p:stCondLst>
                              <p:cond delay="4500"/>
                            </p:stCondLst>
                            <p:childTnLst>
                              <p:par>
                                <p:cTn id="36" presetID="1" presetClass="entr" presetSubtype="0" fill="hold" nodeType="afterEffect">
                                  <p:stCondLst>
                                    <p:cond delay="0"/>
                                  </p:stCondLst>
                                  <p:childTnLst>
                                    <p:set>
                                      <p:cBhvr>
                                        <p:cTn id="37" dur="1" fill="hold">
                                          <p:stCondLst>
                                            <p:cond delay="499"/>
                                          </p:stCondLst>
                                        </p:cTn>
                                        <p:tgtEl>
                                          <p:spTgt spid="16"/>
                                        </p:tgtEl>
                                        <p:attrNameLst>
                                          <p:attrName>style.visibility</p:attrName>
                                        </p:attrNameLst>
                                      </p:cBhvr>
                                      <p:to>
                                        <p:strVal val="visible"/>
                                      </p:to>
                                    </p:set>
                                  </p:childTnLst>
                                </p:cTn>
                              </p:par>
                            </p:childTnLst>
                          </p:cTn>
                        </p:par>
                        <p:par>
                          <p:cTn id="38" fill="hold" nodeType="afterGroup">
                            <p:stCondLst>
                              <p:cond delay="5000"/>
                            </p:stCondLst>
                            <p:childTnLst>
                              <p:par>
                                <p:cTn id="39" presetID="1" presetClass="entr" presetSubtype="0" fill="hold" nodeType="afterEffect">
                                  <p:stCondLst>
                                    <p:cond delay="0"/>
                                  </p:stCondLst>
                                  <p:childTnLst>
                                    <p:set>
                                      <p:cBhvr>
                                        <p:cTn id="40" dur="1" fill="hold">
                                          <p:stCondLst>
                                            <p:cond delay="499"/>
                                          </p:stCondLst>
                                        </p:cTn>
                                        <p:tgtEl>
                                          <p:spTgt spid="18"/>
                                        </p:tgtEl>
                                        <p:attrNameLst>
                                          <p:attrName>style.visibility</p:attrName>
                                        </p:attrNameLst>
                                      </p:cBhvr>
                                      <p:to>
                                        <p:strVal val="visible"/>
                                      </p:to>
                                    </p:set>
                                  </p:childTnLst>
                                </p:cTn>
                              </p:par>
                            </p:childTnLst>
                          </p:cTn>
                        </p:par>
                        <p:par>
                          <p:cTn id="41" fill="hold" nodeType="afterGroup">
                            <p:stCondLst>
                              <p:cond delay="5500"/>
                            </p:stCondLst>
                            <p:childTnLst>
                              <p:par>
                                <p:cTn id="42" presetID="1" presetClass="entr" presetSubtype="0" fill="hold" nodeType="afterEffect">
                                  <p:stCondLst>
                                    <p:cond delay="0"/>
                                  </p:stCondLst>
                                  <p:childTnLst>
                                    <p:set>
                                      <p:cBhvr>
                                        <p:cTn id="43" dur="1" fill="hold">
                                          <p:stCondLst>
                                            <p:cond delay="499"/>
                                          </p:stCondLst>
                                        </p:cTn>
                                        <p:tgtEl>
                                          <p:spTgt spid="20"/>
                                        </p:tgtEl>
                                        <p:attrNameLst>
                                          <p:attrName>style.visibility</p:attrName>
                                        </p:attrNameLst>
                                      </p:cBhvr>
                                      <p:to>
                                        <p:strVal val="visible"/>
                                      </p:to>
                                    </p:set>
                                  </p:childTnLst>
                                </p:cTn>
                              </p:par>
                            </p:childTnLst>
                          </p:cTn>
                        </p:par>
                        <p:par>
                          <p:cTn id="44" fill="hold" nodeType="afterGroup">
                            <p:stCondLst>
                              <p:cond delay="6000"/>
                            </p:stCondLst>
                            <p:childTnLst>
                              <p:par>
                                <p:cTn id="45" presetID="1" presetClass="entr" presetSubtype="0" fill="hold" nodeType="afterEffect">
                                  <p:stCondLst>
                                    <p:cond delay="0"/>
                                  </p:stCondLst>
                                  <p:childTnLst>
                                    <p:set>
                                      <p:cBhvr>
                                        <p:cTn id="46" dur="1" fill="hold">
                                          <p:stCondLst>
                                            <p:cond delay="499"/>
                                          </p:stCondLst>
                                        </p:cTn>
                                        <p:tgtEl>
                                          <p:spTgt spid="22"/>
                                        </p:tgtEl>
                                        <p:attrNameLst>
                                          <p:attrName>style.visibility</p:attrName>
                                        </p:attrNameLst>
                                      </p:cBhvr>
                                      <p:to>
                                        <p:strVal val="visible"/>
                                      </p:to>
                                    </p:set>
                                  </p:childTnLst>
                                </p:cTn>
                              </p:par>
                            </p:childTnLst>
                          </p:cTn>
                        </p:par>
                        <p:par>
                          <p:cTn id="47" fill="hold" nodeType="afterGroup">
                            <p:stCondLst>
                              <p:cond delay="6500"/>
                            </p:stCondLst>
                            <p:childTnLst>
                              <p:par>
                                <p:cTn id="48" presetID="1" presetClass="entr" presetSubtype="0" fill="hold" nodeType="afterEffect">
                                  <p:stCondLst>
                                    <p:cond delay="0"/>
                                  </p:stCondLst>
                                  <p:childTnLst>
                                    <p:set>
                                      <p:cBhvr>
                                        <p:cTn id="49" dur="1" fill="hold">
                                          <p:stCondLst>
                                            <p:cond delay="499"/>
                                          </p:stCondLst>
                                        </p:cTn>
                                        <p:tgtEl>
                                          <p:spTgt spid="24"/>
                                        </p:tgtEl>
                                        <p:attrNameLst>
                                          <p:attrName>style.visibility</p:attrName>
                                        </p:attrNameLst>
                                      </p:cBhvr>
                                      <p:to>
                                        <p:strVal val="visible"/>
                                      </p:to>
                                    </p:set>
                                  </p:childTnLst>
                                </p:cTn>
                              </p:par>
                            </p:childTnLst>
                          </p:cTn>
                        </p:par>
                        <p:par>
                          <p:cTn id="50" fill="hold" nodeType="afterGroup">
                            <p:stCondLst>
                              <p:cond delay="7000"/>
                            </p:stCondLst>
                            <p:childTnLst>
                              <p:par>
                                <p:cTn id="51" presetID="1" presetClass="entr" presetSubtype="0" fill="hold" nodeType="afterEffect">
                                  <p:stCondLst>
                                    <p:cond delay="0"/>
                                  </p:stCondLst>
                                  <p:childTnLst>
                                    <p:set>
                                      <p:cBhvr>
                                        <p:cTn id="52" dur="1" fill="hold">
                                          <p:stCondLst>
                                            <p:cond delay="499"/>
                                          </p:stCondLst>
                                        </p:cTn>
                                        <p:tgtEl>
                                          <p:spTgt spid="26"/>
                                        </p:tgtEl>
                                        <p:attrNameLst>
                                          <p:attrName>style.visibility</p:attrName>
                                        </p:attrNameLst>
                                      </p:cBhvr>
                                      <p:to>
                                        <p:strVal val="visible"/>
                                      </p:to>
                                    </p:set>
                                  </p:childTnLst>
                                </p:cTn>
                              </p:par>
                            </p:childTnLst>
                          </p:cTn>
                        </p:par>
                        <p:par>
                          <p:cTn id="53" fill="hold" nodeType="afterGroup">
                            <p:stCondLst>
                              <p:cond delay="7500"/>
                            </p:stCondLst>
                            <p:childTnLst>
                              <p:par>
                                <p:cTn id="54" presetID="1" presetClass="entr" presetSubtype="0" fill="hold" nodeType="afterEffect">
                                  <p:stCondLst>
                                    <p:cond delay="0"/>
                                  </p:stCondLst>
                                  <p:childTnLst>
                                    <p:set>
                                      <p:cBhvr>
                                        <p:cTn id="55" dur="1" fill="hold">
                                          <p:stCondLst>
                                            <p:cond delay="499"/>
                                          </p:stCondLst>
                                        </p:cTn>
                                        <p:tgtEl>
                                          <p:spTgt spid="28"/>
                                        </p:tgtEl>
                                        <p:attrNameLst>
                                          <p:attrName>style.visibility</p:attrName>
                                        </p:attrNameLst>
                                      </p:cBhvr>
                                      <p:to>
                                        <p:strVal val="visible"/>
                                      </p:to>
                                    </p:set>
                                  </p:childTnLst>
                                </p:cTn>
                              </p:par>
                            </p:childTnLst>
                          </p:cTn>
                        </p:par>
                        <p:par>
                          <p:cTn id="56" fill="hold" nodeType="afterGroup">
                            <p:stCondLst>
                              <p:cond delay="8000"/>
                            </p:stCondLst>
                            <p:childTnLst>
                              <p:par>
                                <p:cTn id="57" presetID="1" presetClass="entr" presetSubtype="0" fill="hold" nodeType="afterEffect">
                                  <p:stCondLst>
                                    <p:cond delay="0"/>
                                  </p:stCondLst>
                                  <p:childTnLst>
                                    <p:set>
                                      <p:cBhvr>
                                        <p:cTn id="58" dur="1" fill="hold">
                                          <p:stCondLst>
                                            <p:cond delay="499"/>
                                          </p:stCondLst>
                                        </p:cTn>
                                        <p:tgtEl>
                                          <p:spTgt spid="17"/>
                                        </p:tgtEl>
                                        <p:attrNameLst>
                                          <p:attrName>style.visibility</p:attrName>
                                        </p:attrNameLst>
                                      </p:cBhvr>
                                      <p:to>
                                        <p:strVal val="visible"/>
                                      </p:to>
                                    </p:set>
                                  </p:childTnLst>
                                </p:cTn>
                              </p:par>
                            </p:childTnLst>
                          </p:cTn>
                        </p:par>
                        <p:par>
                          <p:cTn id="59" fill="hold" nodeType="afterGroup">
                            <p:stCondLst>
                              <p:cond delay="8500"/>
                            </p:stCondLst>
                            <p:childTnLst>
                              <p:par>
                                <p:cTn id="60" presetID="1" presetClass="entr" presetSubtype="0" fill="hold" nodeType="afterEffect">
                                  <p:stCondLst>
                                    <p:cond delay="0"/>
                                  </p:stCondLst>
                                  <p:childTnLst>
                                    <p:set>
                                      <p:cBhvr>
                                        <p:cTn id="61" dur="1" fill="hold">
                                          <p:stCondLst>
                                            <p:cond delay="499"/>
                                          </p:stCondLst>
                                        </p:cTn>
                                        <p:tgtEl>
                                          <p:spTgt spid="19"/>
                                        </p:tgtEl>
                                        <p:attrNameLst>
                                          <p:attrName>style.visibility</p:attrName>
                                        </p:attrNameLst>
                                      </p:cBhvr>
                                      <p:to>
                                        <p:strVal val="visible"/>
                                      </p:to>
                                    </p:set>
                                  </p:childTnLst>
                                </p:cTn>
                              </p:par>
                            </p:childTnLst>
                          </p:cTn>
                        </p:par>
                        <p:par>
                          <p:cTn id="62" fill="hold" nodeType="afterGroup">
                            <p:stCondLst>
                              <p:cond delay="9000"/>
                            </p:stCondLst>
                            <p:childTnLst>
                              <p:par>
                                <p:cTn id="63" presetID="1" presetClass="entr" presetSubtype="0" fill="hold" nodeType="afterEffect">
                                  <p:stCondLst>
                                    <p:cond delay="0"/>
                                  </p:stCondLst>
                                  <p:childTnLst>
                                    <p:set>
                                      <p:cBhvr>
                                        <p:cTn id="64" dur="1" fill="hold">
                                          <p:stCondLst>
                                            <p:cond delay="499"/>
                                          </p:stCondLst>
                                        </p:cTn>
                                        <p:tgtEl>
                                          <p:spTgt spid="21"/>
                                        </p:tgtEl>
                                        <p:attrNameLst>
                                          <p:attrName>style.visibility</p:attrName>
                                        </p:attrNameLst>
                                      </p:cBhvr>
                                      <p:to>
                                        <p:strVal val="visible"/>
                                      </p:to>
                                    </p:set>
                                  </p:childTnLst>
                                </p:cTn>
                              </p:par>
                            </p:childTnLst>
                          </p:cTn>
                        </p:par>
                        <p:par>
                          <p:cTn id="65" fill="hold" nodeType="afterGroup">
                            <p:stCondLst>
                              <p:cond delay="9500"/>
                            </p:stCondLst>
                            <p:childTnLst>
                              <p:par>
                                <p:cTn id="66" presetID="1" presetClass="entr" presetSubtype="0" fill="hold" nodeType="afterEffect">
                                  <p:stCondLst>
                                    <p:cond delay="0"/>
                                  </p:stCondLst>
                                  <p:childTnLst>
                                    <p:set>
                                      <p:cBhvr>
                                        <p:cTn id="67" dur="1" fill="hold">
                                          <p:stCondLst>
                                            <p:cond delay="499"/>
                                          </p:stCondLst>
                                        </p:cTn>
                                        <p:tgtEl>
                                          <p:spTgt spid="23"/>
                                        </p:tgtEl>
                                        <p:attrNameLst>
                                          <p:attrName>style.visibility</p:attrName>
                                        </p:attrNameLst>
                                      </p:cBhvr>
                                      <p:to>
                                        <p:strVal val="visible"/>
                                      </p:to>
                                    </p:set>
                                  </p:childTnLst>
                                </p:cTn>
                              </p:par>
                            </p:childTnLst>
                          </p:cTn>
                        </p:par>
                        <p:par>
                          <p:cTn id="68" fill="hold" nodeType="afterGroup">
                            <p:stCondLst>
                              <p:cond delay="10000"/>
                            </p:stCondLst>
                            <p:childTnLst>
                              <p:par>
                                <p:cTn id="69" presetID="1" presetClass="entr" presetSubtype="0" fill="hold" nodeType="afterEffect">
                                  <p:stCondLst>
                                    <p:cond delay="0"/>
                                  </p:stCondLst>
                                  <p:childTnLst>
                                    <p:set>
                                      <p:cBhvr>
                                        <p:cTn id="70" dur="1" fill="hold">
                                          <p:stCondLst>
                                            <p:cond delay="499"/>
                                          </p:stCondLst>
                                        </p:cTn>
                                        <p:tgtEl>
                                          <p:spTgt spid="25"/>
                                        </p:tgtEl>
                                        <p:attrNameLst>
                                          <p:attrName>style.visibility</p:attrName>
                                        </p:attrNameLst>
                                      </p:cBhvr>
                                      <p:to>
                                        <p:strVal val="visible"/>
                                      </p:to>
                                    </p:set>
                                  </p:childTnLst>
                                </p:cTn>
                              </p:par>
                            </p:childTnLst>
                          </p:cTn>
                        </p:par>
                        <p:par>
                          <p:cTn id="71" fill="hold" nodeType="afterGroup">
                            <p:stCondLst>
                              <p:cond delay="10500"/>
                            </p:stCondLst>
                            <p:childTnLst>
                              <p:par>
                                <p:cTn id="72" presetID="1" presetClass="entr" presetSubtype="0" fill="hold" nodeType="afterEffect">
                                  <p:stCondLst>
                                    <p:cond delay="0"/>
                                  </p:stCondLst>
                                  <p:childTnLst>
                                    <p:set>
                                      <p:cBhvr>
                                        <p:cTn id="73" dur="1" fill="hold">
                                          <p:stCondLst>
                                            <p:cond delay="499"/>
                                          </p:stCondLst>
                                        </p:cTn>
                                        <p:tgtEl>
                                          <p:spTgt spid="27"/>
                                        </p:tgtEl>
                                        <p:attrNameLst>
                                          <p:attrName>style.visibility</p:attrName>
                                        </p:attrNameLst>
                                      </p:cBhvr>
                                      <p:to>
                                        <p:strVal val="visible"/>
                                      </p:to>
                                    </p:set>
                                  </p:childTnLst>
                                </p:cTn>
                              </p:par>
                            </p:childTnLst>
                          </p:cTn>
                        </p:par>
                        <p:par>
                          <p:cTn id="74" fill="hold" nodeType="afterGroup">
                            <p:stCondLst>
                              <p:cond delay="11000"/>
                            </p:stCondLst>
                            <p:childTnLst>
                              <p:par>
                                <p:cTn id="75" presetID="1" presetClass="entr" presetSubtype="0" fill="hold" nodeType="afterEffect">
                                  <p:stCondLst>
                                    <p:cond delay="0"/>
                                  </p:stCondLst>
                                  <p:childTnLst>
                                    <p:set>
                                      <p:cBhvr>
                                        <p:cTn id="76" dur="1" fill="hold">
                                          <p:stCondLst>
                                            <p:cond delay="499"/>
                                          </p:stCondLst>
                                        </p:cTn>
                                        <p:tgtEl>
                                          <p:spTgt spid="29"/>
                                        </p:tgtEl>
                                        <p:attrNameLst>
                                          <p:attrName>style.visibility</p:attrName>
                                        </p:attrNameLst>
                                      </p:cBhvr>
                                      <p:to>
                                        <p:strVal val="visible"/>
                                      </p:to>
                                    </p:set>
                                  </p:childTnLst>
                                </p:cTn>
                              </p:par>
                            </p:childTnLst>
                          </p:cTn>
                        </p:par>
                        <p:par>
                          <p:cTn id="77" fill="hold" nodeType="afterGroup">
                            <p:stCondLst>
                              <p:cond delay="11500"/>
                            </p:stCondLst>
                            <p:childTnLst>
                              <p:par>
                                <p:cTn id="78" presetID="22" presetClass="entr" presetSubtype="2" fill="hold" nodeType="after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wipe(right)">
                                      <p:cBhvr>
                                        <p:cTn id="80" dur="500"/>
                                        <p:tgtEl>
                                          <p:spTgt spid="30"/>
                                        </p:tgtEl>
                                      </p:cBhvr>
                                    </p:animEffect>
                                  </p:childTnLst>
                                  <p:subTnLst>
                                    <p:audio>
                                      <p:cMediaNode>
                                        <p:cTn display="0" masterRel="sameClick">
                                          <p:stCondLst>
                                            <p:cond evt="begin" delay="0">
                                              <p:tn val="78"/>
                                            </p:cond>
                                          </p:stCondLst>
                                          <p:endCondLst>
                                            <p:cond evt="onStopAudio" delay="0">
                                              <p:tgtEl>
                                                <p:sldTgt/>
                                              </p:tgtEl>
                                            </p:cond>
                                          </p:endCondLst>
                                        </p:cTn>
                                        <p:tgtEl>
                                          <p:sndTgt r:embed="rId2" name="LASER.WAV"/>
                                        </p:tgtEl>
                                      </p:cMediaNode>
                                    </p:audio>
                                  </p:subTnLst>
                                </p:cTn>
                              </p:par>
                            </p:childTnLst>
                          </p:cTn>
                        </p:par>
                        <p:par>
                          <p:cTn id="81" fill="hold" nodeType="afterGroup">
                            <p:stCondLst>
                              <p:cond delay="12000"/>
                            </p:stCondLst>
                            <p:childTnLst>
                              <p:par>
                                <p:cTn id="82" presetID="9"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dissolve">
                                      <p:cBhvr>
                                        <p:cTn id="84" dur="500"/>
                                        <p:tgtEl>
                                          <p:spTgt spid="34"/>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2" fill="hold" nodeType="clickEffect">
                                  <p:stCondLst>
                                    <p:cond delay="0"/>
                                  </p:stCondLst>
                                  <p:childTnLst>
                                    <p:set>
                                      <p:cBhvr>
                                        <p:cTn id="88" dur="1" fill="hold">
                                          <p:stCondLst>
                                            <p:cond delay="0"/>
                                          </p:stCondLst>
                                        </p:cTn>
                                        <p:tgtEl>
                                          <p:spTgt spid="5"/>
                                        </p:tgtEl>
                                        <p:attrNameLst>
                                          <p:attrName>style.visibility</p:attrName>
                                        </p:attrNameLst>
                                      </p:cBhvr>
                                      <p:to>
                                        <p:strVal val="visible"/>
                                      </p:to>
                                    </p:set>
                                    <p:animEffect transition="in" filter="wipe(right)">
                                      <p:cBhvr>
                                        <p:cTn id="89" dur="500"/>
                                        <p:tgtEl>
                                          <p:spTgt spid="5"/>
                                        </p:tgtEl>
                                      </p:cBhvr>
                                    </p:animEffect>
                                  </p:childTnLst>
                                </p:cTn>
                              </p:par>
                            </p:childTnLst>
                          </p:cTn>
                        </p:par>
                        <p:par>
                          <p:cTn id="90" fill="hold" nodeType="afterGroup">
                            <p:stCondLst>
                              <p:cond delay="500"/>
                            </p:stCondLst>
                            <p:childTnLst>
                              <p:par>
                                <p:cTn id="91" presetID="22" presetClass="entr" presetSubtype="1" fill="hold" nodeType="after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wipe(up)">
                                      <p:cBhvr>
                                        <p:cTn id="93" dur="500"/>
                                        <p:tgtEl>
                                          <p:spTgt spid="31"/>
                                        </p:tgtEl>
                                      </p:cBhvr>
                                    </p:animEffect>
                                  </p:childTnLst>
                                </p:cTn>
                              </p:par>
                            </p:childTnLst>
                          </p:cTn>
                        </p:par>
                        <p:par>
                          <p:cTn id="94" fill="hold" nodeType="afterGroup">
                            <p:stCondLst>
                              <p:cond delay="1000"/>
                            </p:stCondLst>
                            <p:childTnLst>
                              <p:par>
                                <p:cTn id="95" presetID="22" presetClass="entr" presetSubtype="8" fill="hold" nodeType="after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wipe(left)">
                                      <p:cBhvr>
                                        <p:cTn id="97" dur="500"/>
                                        <p:tgtEl>
                                          <p:spTgt spid="32"/>
                                        </p:tgtEl>
                                      </p:cBhvr>
                                    </p:animEffect>
                                  </p:childTnLst>
                                </p:cTn>
                              </p:par>
                            </p:childTnLst>
                          </p:cTn>
                        </p:par>
                        <p:par>
                          <p:cTn id="98" fill="hold" nodeType="afterGroup">
                            <p:stCondLst>
                              <p:cond delay="1500"/>
                            </p:stCondLst>
                            <p:childTnLst>
                              <p:par>
                                <p:cTn id="99" presetID="22" presetClass="entr" presetSubtype="4" fill="hold" nodeType="after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wipe(down)">
                                      <p:cBhvr>
                                        <p:cTn id="101" dur="500"/>
                                        <p:tgtEl>
                                          <p:spTgt spid="33"/>
                                        </p:tgtEl>
                                      </p:cBhvr>
                                    </p:animEffect>
                                  </p:childTnLst>
                                </p:cTn>
                              </p:par>
                            </p:childTnLst>
                          </p:cTn>
                        </p:par>
                        <p:par>
                          <p:cTn id="102" fill="hold" nodeType="afterGroup">
                            <p:stCondLst>
                              <p:cond delay="2000"/>
                            </p:stCondLst>
                            <p:childTnLst>
                              <p:par>
                                <p:cTn id="103" presetID="22" presetClass="entr" presetSubtype="2" fill="hold" nodeType="afterEffect">
                                  <p:stCondLst>
                                    <p:cond delay="0"/>
                                  </p:stCondLst>
                                  <p:childTnLst>
                                    <p:set>
                                      <p:cBhvr>
                                        <p:cTn id="104" dur="1" fill="hold">
                                          <p:stCondLst>
                                            <p:cond delay="0"/>
                                          </p:stCondLst>
                                        </p:cTn>
                                        <p:tgtEl>
                                          <p:spTgt spid="6"/>
                                        </p:tgtEl>
                                        <p:attrNameLst>
                                          <p:attrName>style.visibility</p:attrName>
                                        </p:attrNameLst>
                                      </p:cBhvr>
                                      <p:to>
                                        <p:strVal val="visible"/>
                                      </p:to>
                                    </p:set>
                                    <p:animEffect transition="in" filter="wipe(right)">
                                      <p:cBhvr>
                                        <p:cTn id="10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8" grpId="0" animBg="1" autoUpdateAnimBg="0"/>
      <p:bldP spid="30" grpId="0" animBg="1"/>
      <p:bldP spid="34"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a:extLst>
              <a:ext uri="{FF2B5EF4-FFF2-40B4-BE49-F238E27FC236}">
                <a16:creationId xmlns:a16="http://schemas.microsoft.com/office/drawing/2014/main" id="{BA589C21-879B-9787-17CF-1EC57769B2DB}"/>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47106" name="灯片编号占位符 3">
            <a:extLst>
              <a:ext uri="{FF2B5EF4-FFF2-40B4-BE49-F238E27FC236}">
                <a16:creationId xmlns:a16="http://schemas.microsoft.com/office/drawing/2014/main" id="{ADDE8D9C-78A2-BC87-82F4-AAEA6F53B66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8CCD041A-32C1-BD42-91A3-30B775498BE4}" type="slidenum">
              <a:rPr lang="zh-CN" altLang="en-US" sz="1400" smtClean="0">
                <a:latin typeface="Times New Roman" panose="02020603050405020304" pitchFamily="18" charset="0"/>
              </a:rPr>
              <a:pPr>
                <a:spcBef>
                  <a:spcPct val="0"/>
                </a:spcBef>
                <a:buFontTx/>
                <a:buNone/>
              </a:pPr>
              <a:t>23</a:t>
            </a:fld>
            <a:endParaRPr lang="en-US" altLang="zh-CN" sz="1400">
              <a:latin typeface="Times New Roman" panose="02020603050405020304" pitchFamily="18" charset="0"/>
            </a:endParaRPr>
          </a:p>
        </p:txBody>
      </p:sp>
      <p:sp>
        <p:nvSpPr>
          <p:cNvPr id="5" name="Line 3">
            <a:extLst>
              <a:ext uri="{FF2B5EF4-FFF2-40B4-BE49-F238E27FC236}">
                <a16:creationId xmlns:a16="http://schemas.microsoft.com/office/drawing/2014/main" id="{BF2DFA02-2859-882F-9CCF-752896094491}"/>
              </a:ext>
            </a:extLst>
          </p:cNvPr>
          <p:cNvSpPr>
            <a:spLocks noChangeShapeType="1"/>
          </p:cNvSpPr>
          <p:nvPr/>
        </p:nvSpPr>
        <p:spPr bwMode="auto">
          <a:xfrm>
            <a:off x="1909763" y="3532188"/>
            <a:ext cx="609600" cy="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6" name="Line 4">
            <a:extLst>
              <a:ext uri="{FF2B5EF4-FFF2-40B4-BE49-F238E27FC236}">
                <a16:creationId xmlns:a16="http://schemas.microsoft.com/office/drawing/2014/main" id="{851AEDA3-F936-DD6C-3749-E2D23E8DE278}"/>
              </a:ext>
            </a:extLst>
          </p:cNvPr>
          <p:cNvSpPr>
            <a:spLocks noChangeShapeType="1"/>
          </p:cNvSpPr>
          <p:nvPr/>
        </p:nvSpPr>
        <p:spPr bwMode="auto">
          <a:xfrm>
            <a:off x="6557963" y="3532188"/>
            <a:ext cx="609600" cy="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7" name="AutoShape 5">
            <a:extLst>
              <a:ext uri="{FF2B5EF4-FFF2-40B4-BE49-F238E27FC236}">
                <a16:creationId xmlns:a16="http://schemas.microsoft.com/office/drawing/2014/main" id="{4D492618-A97D-5C10-F647-8E9F236F7B4C}"/>
              </a:ext>
            </a:extLst>
          </p:cNvPr>
          <p:cNvSpPr>
            <a:spLocks noChangeArrowheads="1"/>
          </p:cNvSpPr>
          <p:nvPr/>
        </p:nvSpPr>
        <p:spPr bwMode="auto">
          <a:xfrm>
            <a:off x="1757363" y="3514725"/>
            <a:ext cx="152400" cy="76200"/>
          </a:xfrm>
          <a:prstGeom prst="flowChartConnector">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lIns="0" tIns="46800" rIns="0" bIns="46800" anchor="ct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endParaRPr kumimoji="1" lang="zh-CN" altLang="en-US" sz="2400">
              <a:solidFill>
                <a:srgbClr val="CC3300"/>
              </a:solidFill>
              <a:latin typeface="Times New Roman" panose="02020603050405020304" pitchFamily="18" charset="0"/>
            </a:endParaRPr>
          </a:p>
        </p:txBody>
      </p:sp>
      <p:sp>
        <p:nvSpPr>
          <p:cNvPr id="8" name="AutoShape 6">
            <a:extLst>
              <a:ext uri="{FF2B5EF4-FFF2-40B4-BE49-F238E27FC236}">
                <a16:creationId xmlns:a16="http://schemas.microsoft.com/office/drawing/2014/main" id="{9C50E29B-F704-D2DC-AD6F-95378F509498}"/>
              </a:ext>
            </a:extLst>
          </p:cNvPr>
          <p:cNvSpPr>
            <a:spLocks noChangeArrowheads="1"/>
          </p:cNvSpPr>
          <p:nvPr/>
        </p:nvSpPr>
        <p:spPr bwMode="auto">
          <a:xfrm>
            <a:off x="7167563" y="3514725"/>
            <a:ext cx="152400" cy="76200"/>
          </a:xfrm>
          <a:prstGeom prst="flowChartConnector">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lIns="0" tIns="46800" rIns="0" bIns="46800" anchor="ct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endParaRPr kumimoji="1" lang="zh-CN" altLang="en-US" sz="2400">
              <a:solidFill>
                <a:srgbClr val="CC3300"/>
              </a:solidFill>
              <a:latin typeface="Times New Roman" panose="02020603050405020304" pitchFamily="18" charset="0"/>
            </a:endParaRPr>
          </a:p>
        </p:txBody>
      </p:sp>
      <p:sp>
        <p:nvSpPr>
          <p:cNvPr id="9" name="Text Box 7">
            <a:extLst>
              <a:ext uri="{FF2B5EF4-FFF2-40B4-BE49-F238E27FC236}">
                <a16:creationId xmlns:a16="http://schemas.microsoft.com/office/drawing/2014/main" id="{E714E86E-D916-F137-81AD-BC97023FCE77}"/>
              </a:ext>
            </a:extLst>
          </p:cNvPr>
          <p:cNvSpPr txBox="1">
            <a:spLocks noChangeArrowheads="1"/>
          </p:cNvSpPr>
          <p:nvPr/>
        </p:nvSpPr>
        <p:spPr bwMode="auto">
          <a:xfrm>
            <a:off x="2500313" y="2981325"/>
            <a:ext cx="2057400" cy="1160463"/>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2400">
                <a:latin typeface="Times New Roman" panose="02020603050405020304" pitchFamily="18" charset="0"/>
              </a:rPr>
              <a:t> </a:t>
            </a:r>
            <a:r>
              <a:rPr kumimoji="1" lang="en-US" altLang="zh-CN">
                <a:latin typeface="Times New Roman" panose="02020603050405020304" pitchFamily="18" charset="0"/>
              </a:rPr>
              <a:t>P                </a:t>
            </a:r>
          </a:p>
          <a:p>
            <a:pPr eaLnBrk="1" hangingPunct="1">
              <a:spcBef>
                <a:spcPct val="50000"/>
              </a:spcBef>
              <a:buFontTx/>
              <a:buNone/>
            </a:pPr>
            <a:endParaRPr kumimoji="1" lang="zh-CN" altLang="en-US">
              <a:latin typeface="Times New Roman" panose="02020603050405020304" pitchFamily="18" charset="0"/>
            </a:endParaRPr>
          </a:p>
        </p:txBody>
      </p:sp>
      <p:sp>
        <p:nvSpPr>
          <p:cNvPr id="10" name="Text Box 8">
            <a:extLst>
              <a:ext uri="{FF2B5EF4-FFF2-40B4-BE49-F238E27FC236}">
                <a16:creationId xmlns:a16="http://schemas.microsoft.com/office/drawing/2014/main" id="{0A1696BB-09A9-DB41-8FED-B5D9C326CE08}"/>
              </a:ext>
            </a:extLst>
          </p:cNvPr>
          <p:cNvSpPr txBox="1">
            <a:spLocks noChangeArrowheads="1"/>
          </p:cNvSpPr>
          <p:nvPr/>
        </p:nvSpPr>
        <p:spPr bwMode="auto">
          <a:xfrm>
            <a:off x="4557713" y="2981325"/>
            <a:ext cx="2022475" cy="116046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2400">
                <a:latin typeface="Times New Roman" panose="02020603050405020304" pitchFamily="18" charset="0"/>
              </a:rPr>
              <a:t>                      </a:t>
            </a:r>
            <a:r>
              <a:rPr kumimoji="1" lang="en-US" altLang="zh-CN">
                <a:latin typeface="Times New Roman" panose="02020603050405020304" pitchFamily="18" charset="0"/>
              </a:rPr>
              <a:t>N </a:t>
            </a:r>
          </a:p>
          <a:p>
            <a:pPr eaLnBrk="1" hangingPunct="1">
              <a:spcBef>
                <a:spcPct val="50000"/>
              </a:spcBef>
              <a:buFontTx/>
              <a:buNone/>
            </a:pPr>
            <a:endParaRPr kumimoji="1" lang="zh-CN" altLang="en-US">
              <a:latin typeface="Times New Roman" panose="02020603050405020304" pitchFamily="18" charset="0"/>
            </a:endParaRPr>
          </a:p>
        </p:txBody>
      </p:sp>
      <p:sp>
        <p:nvSpPr>
          <p:cNvPr id="47113" name="Line 9">
            <a:extLst>
              <a:ext uri="{FF2B5EF4-FFF2-40B4-BE49-F238E27FC236}">
                <a16:creationId xmlns:a16="http://schemas.microsoft.com/office/drawing/2014/main" id="{AE6AA0F9-8100-C1CC-3787-90B240F6C2A5}"/>
              </a:ext>
            </a:extLst>
          </p:cNvPr>
          <p:cNvSpPr>
            <a:spLocks noChangeShapeType="1"/>
          </p:cNvSpPr>
          <p:nvPr/>
        </p:nvSpPr>
        <p:spPr bwMode="auto">
          <a:xfrm flipV="1">
            <a:off x="4405313" y="3227388"/>
            <a:ext cx="1524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lIns="0" tIns="46800" rIns="0" bIns="46800">
            <a:spAutoFit/>
          </a:bodyPr>
          <a:lstStyle/>
          <a:p>
            <a:endParaRPr lang="zh-CN" altLang="en-US"/>
          </a:p>
        </p:txBody>
      </p:sp>
      <p:sp>
        <p:nvSpPr>
          <p:cNvPr id="47114" name="Line 10">
            <a:extLst>
              <a:ext uri="{FF2B5EF4-FFF2-40B4-BE49-F238E27FC236}">
                <a16:creationId xmlns:a16="http://schemas.microsoft.com/office/drawing/2014/main" id="{01E871D4-0FE5-7335-37F0-DDA710E7FA5E}"/>
              </a:ext>
            </a:extLst>
          </p:cNvPr>
          <p:cNvSpPr>
            <a:spLocks noChangeShapeType="1"/>
          </p:cNvSpPr>
          <p:nvPr/>
        </p:nvSpPr>
        <p:spPr bwMode="auto">
          <a:xfrm flipV="1">
            <a:off x="4405313" y="3227388"/>
            <a:ext cx="1524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lIns="0" tIns="46800" rIns="0" bIns="46800">
            <a:spAutoFit/>
          </a:bodyPr>
          <a:lstStyle/>
          <a:p>
            <a:endParaRPr lang="zh-CN" altLang="en-US"/>
          </a:p>
        </p:txBody>
      </p:sp>
      <p:sp>
        <p:nvSpPr>
          <p:cNvPr id="47115" name="Line 11">
            <a:extLst>
              <a:ext uri="{FF2B5EF4-FFF2-40B4-BE49-F238E27FC236}">
                <a16:creationId xmlns:a16="http://schemas.microsoft.com/office/drawing/2014/main" id="{CB91D5EC-FC8A-805D-3D5A-636272DE6E79}"/>
              </a:ext>
            </a:extLst>
          </p:cNvPr>
          <p:cNvSpPr>
            <a:spLocks noChangeShapeType="1"/>
          </p:cNvSpPr>
          <p:nvPr/>
        </p:nvSpPr>
        <p:spPr bwMode="auto">
          <a:xfrm flipV="1">
            <a:off x="4405313" y="3227388"/>
            <a:ext cx="1524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lIns="0" tIns="46800" rIns="0" bIns="46800">
            <a:spAutoFit/>
          </a:bodyPr>
          <a:lstStyle/>
          <a:p>
            <a:endParaRPr lang="zh-CN" altLang="en-US"/>
          </a:p>
        </p:txBody>
      </p:sp>
      <p:sp>
        <p:nvSpPr>
          <p:cNvPr id="47116" name="Line 12">
            <a:extLst>
              <a:ext uri="{FF2B5EF4-FFF2-40B4-BE49-F238E27FC236}">
                <a16:creationId xmlns:a16="http://schemas.microsoft.com/office/drawing/2014/main" id="{0A8F625A-D517-AB1C-BA32-4EF96D1CF1E8}"/>
              </a:ext>
            </a:extLst>
          </p:cNvPr>
          <p:cNvSpPr>
            <a:spLocks noChangeShapeType="1"/>
          </p:cNvSpPr>
          <p:nvPr/>
        </p:nvSpPr>
        <p:spPr bwMode="auto">
          <a:xfrm flipV="1">
            <a:off x="4405313" y="3227388"/>
            <a:ext cx="1524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lIns="0" tIns="46800" rIns="0" bIns="46800">
            <a:spAutoFit/>
          </a:bodyPr>
          <a:lstStyle/>
          <a:p>
            <a:endParaRPr lang="zh-CN" altLang="en-US"/>
          </a:p>
        </p:txBody>
      </p:sp>
      <p:sp>
        <p:nvSpPr>
          <p:cNvPr id="47117" name="Line 13">
            <a:extLst>
              <a:ext uri="{FF2B5EF4-FFF2-40B4-BE49-F238E27FC236}">
                <a16:creationId xmlns:a16="http://schemas.microsoft.com/office/drawing/2014/main" id="{80507841-2A28-40F9-4090-A5A7A4FDAF49}"/>
              </a:ext>
            </a:extLst>
          </p:cNvPr>
          <p:cNvSpPr>
            <a:spLocks noChangeShapeType="1"/>
          </p:cNvSpPr>
          <p:nvPr/>
        </p:nvSpPr>
        <p:spPr bwMode="auto">
          <a:xfrm flipV="1">
            <a:off x="4176713" y="3227388"/>
            <a:ext cx="1524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lIns="0" tIns="46800" rIns="0" bIns="46800">
            <a:spAutoFit/>
          </a:bodyPr>
          <a:lstStyle/>
          <a:p>
            <a:endParaRPr lang="zh-CN" altLang="en-US"/>
          </a:p>
        </p:txBody>
      </p:sp>
      <p:sp>
        <p:nvSpPr>
          <p:cNvPr id="16" name="Text Box 14">
            <a:extLst>
              <a:ext uri="{FF2B5EF4-FFF2-40B4-BE49-F238E27FC236}">
                <a16:creationId xmlns:a16="http://schemas.microsoft.com/office/drawing/2014/main" id="{6D49E475-1B5A-A4F8-E9C4-7590CFA87A6C}"/>
              </a:ext>
            </a:extLst>
          </p:cNvPr>
          <p:cNvSpPr txBox="1">
            <a:spLocks noChangeArrowheads="1"/>
          </p:cNvSpPr>
          <p:nvPr/>
        </p:nvSpPr>
        <p:spPr bwMode="auto">
          <a:xfrm>
            <a:off x="1509713" y="3235325"/>
            <a:ext cx="203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en-US" altLang="zh-CN">
                <a:solidFill>
                  <a:srgbClr val="CC3300"/>
                </a:solidFill>
                <a:latin typeface="Times New Roman" panose="02020603050405020304" pitchFamily="18" charset="0"/>
              </a:rPr>
              <a:t>+</a:t>
            </a:r>
          </a:p>
        </p:txBody>
      </p:sp>
      <p:sp>
        <p:nvSpPr>
          <p:cNvPr id="17" name="Text Box 15">
            <a:extLst>
              <a:ext uri="{FF2B5EF4-FFF2-40B4-BE49-F238E27FC236}">
                <a16:creationId xmlns:a16="http://schemas.microsoft.com/office/drawing/2014/main" id="{06D66501-A384-B957-F323-950CF3B572B1}"/>
              </a:ext>
            </a:extLst>
          </p:cNvPr>
          <p:cNvSpPr txBox="1">
            <a:spLocks noChangeArrowheads="1"/>
          </p:cNvSpPr>
          <p:nvPr/>
        </p:nvSpPr>
        <p:spPr bwMode="auto">
          <a:xfrm>
            <a:off x="7396163" y="3082925"/>
            <a:ext cx="438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en-US" altLang="zh-CN">
                <a:solidFill>
                  <a:srgbClr val="CC3300"/>
                </a:solidFill>
                <a:latin typeface="Times New Roman" panose="02020603050405020304" pitchFamily="18" charset="0"/>
              </a:rPr>
              <a:t>_</a:t>
            </a:r>
          </a:p>
        </p:txBody>
      </p:sp>
      <p:sp>
        <p:nvSpPr>
          <p:cNvPr id="18" name="Text Box 16">
            <a:extLst>
              <a:ext uri="{FF2B5EF4-FFF2-40B4-BE49-F238E27FC236}">
                <a16:creationId xmlns:a16="http://schemas.microsoft.com/office/drawing/2014/main" id="{A4B46BB3-EC56-859A-4FD0-822BFE43C423}"/>
              </a:ext>
            </a:extLst>
          </p:cNvPr>
          <p:cNvSpPr txBox="1">
            <a:spLocks noChangeArrowheads="1"/>
          </p:cNvSpPr>
          <p:nvPr/>
        </p:nvSpPr>
        <p:spPr bwMode="auto">
          <a:xfrm>
            <a:off x="152400" y="1905000"/>
            <a:ext cx="8763000" cy="771525"/>
          </a:xfrm>
          <a:prstGeom prst="rect">
            <a:avLst/>
          </a:prstGeom>
          <a:solidFill>
            <a:schemeClr val="accent3">
              <a:lumMod val="20000"/>
              <a:lumOff val="80000"/>
            </a:schemeClr>
          </a:solidFill>
          <a:ln>
            <a:noFill/>
          </a:ln>
        </p:spPr>
        <p:txBody>
          <a:bodyPr lIns="0" tIns="46800" rIns="0" bIns="46800">
            <a:spAutoFit/>
          </a:bodyPr>
          <a:lstStyle>
            <a:lvl1pPr eaLnBrk="0" hangingPunct="0">
              <a:defRPr kumimoji="1" sz="2400">
                <a:solidFill>
                  <a:schemeClr val="tx1"/>
                </a:solidFill>
                <a:latin typeface="Tahoma" charset="0"/>
                <a:ea typeface="宋体" charset="0"/>
                <a:cs typeface="宋体" charset="0"/>
              </a:defRPr>
            </a:lvl1pPr>
            <a:lvl2pPr marL="742950" indent="-285750" eaLnBrk="0" hangingPunct="0">
              <a:defRPr kumimoji="1" sz="2400">
                <a:solidFill>
                  <a:schemeClr val="tx1"/>
                </a:solidFill>
                <a:latin typeface="Tahoma" charset="0"/>
                <a:ea typeface="宋体" charset="0"/>
              </a:defRPr>
            </a:lvl2pPr>
            <a:lvl3pPr marL="1143000" indent="-228600" eaLnBrk="0" hangingPunct="0">
              <a:defRPr kumimoji="1" sz="2400">
                <a:solidFill>
                  <a:schemeClr val="tx1"/>
                </a:solidFill>
                <a:latin typeface="Tahoma" charset="0"/>
                <a:ea typeface="宋体" charset="0"/>
              </a:defRPr>
            </a:lvl3pPr>
            <a:lvl4pPr marL="1600200" indent="-228600" eaLnBrk="0" hangingPunct="0">
              <a:defRPr kumimoji="1" sz="2400">
                <a:solidFill>
                  <a:schemeClr val="tx1"/>
                </a:solidFill>
                <a:latin typeface="Tahoma" charset="0"/>
                <a:ea typeface="宋体" charset="0"/>
              </a:defRPr>
            </a:lvl4pPr>
            <a:lvl5pPr marL="2057400" indent="-228600" eaLnBrk="0" hangingPunct="0">
              <a:defRPr kumimoji="1" sz="2400">
                <a:solidFill>
                  <a:schemeClr val="tx1"/>
                </a:solidFill>
                <a:latin typeface="Tahoma" charset="0"/>
                <a:ea typeface="宋体" charset="0"/>
              </a:defRPr>
            </a:lvl5pPr>
            <a:lvl6pPr marL="2514600" indent="-228600" eaLnBrk="0" fontAlgn="base" hangingPunct="0">
              <a:spcBef>
                <a:spcPct val="0"/>
              </a:spcBef>
              <a:spcAft>
                <a:spcPct val="0"/>
              </a:spcAft>
              <a:defRPr kumimoji="1" sz="2400">
                <a:solidFill>
                  <a:schemeClr val="tx1"/>
                </a:solidFill>
                <a:latin typeface="Tahoma" charset="0"/>
                <a:ea typeface="宋体" charset="0"/>
              </a:defRPr>
            </a:lvl6pPr>
            <a:lvl7pPr marL="2971800" indent="-228600" eaLnBrk="0" fontAlgn="base" hangingPunct="0">
              <a:spcBef>
                <a:spcPct val="0"/>
              </a:spcBef>
              <a:spcAft>
                <a:spcPct val="0"/>
              </a:spcAft>
              <a:defRPr kumimoji="1" sz="2400">
                <a:solidFill>
                  <a:schemeClr val="tx1"/>
                </a:solidFill>
                <a:latin typeface="Tahoma" charset="0"/>
                <a:ea typeface="宋体" charset="0"/>
              </a:defRPr>
            </a:lvl7pPr>
            <a:lvl8pPr marL="3429000" indent="-228600" eaLnBrk="0" fontAlgn="base" hangingPunct="0">
              <a:spcBef>
                <a:spcPct val="0"/>
              </a:spcBef>
              <a:spcAft>
                <a:spcPct val="0"/>
              </a:spcAft>
              <a:defRPr kumimoji="1" sz="2400">
                <a:solidFill>
                  <a:schemeClr val="tx1"/>
                </a:solidFill>
                <a:latin typeface="Tahoma" charset="0"/>
                <a:ea typeface="宋体" charset="0"/>
              </a:defRPr>
            </a:lvl8pPr>
            <a:lvl9pPr marL="3886200" indent="-228600" eaLnBrk="0" fontAlgn="base" hangingPunct="0">
              <a:spcBef>
                <a:spcPct val="0"/>
              </a:spcBef>
              <a:spcAft>
                <a:spcPct val="0"/>
              </a:spcAft>
              <a:defRPr kumimoji="1" sz="2400">
                <a:solidFill>
                  <a:schemeClr val="tx1"/>
                </a:solidFill>
                <a:latin typeface="Tahoma" charset="0"/>
                <a:ea typeface="宋体" charset="0"/>
              </a:defRPr>
            </a:lvl9pPr>
          </a:lstStyle>
          <a:p>
            <a:pPr eaLnBrk="1" hangingPunct="1">
              <a:spcBef>
                <a:spcPct val="50000"/>
              </a:spcBef>
              <a:defRPr/>
            </a:pPr>
            <a:r>
              <a:rPr lang="zh-CN" altLang="en-US" dirty="0">
                <a:solidFill>
                  <a:schemeClr val="tx2"/>
                </a:solidFill>
                <a:latin typeface="Times New Roman" charset="0"/>
              </a:rPr>
              <a:t> </a:t>
            </a:r>
            <a:r>
              <a:rPr lang="zh-CN" altLang="en-US" sz="2000" dirty="0">
                <a:solidFill>
                  <a:srgbClr val="CC3300"/>
                </a:solidFill>
                <a:latin typeface="Times New Roman" charset="0"/>
              </a:rPr>
              <a:t>加正向电压时</a:t>
            </a:r>
            <a:r>
              <a:rPr lang="en-US" altLang="zh-CN" sz="2000" dirty="0">
                <a:solidFill>
                  <a:srgbClr val="CC3300"/>
                </a:solidFill>
                <a:latin typeface="Times New Roman" charset="0"/>
              </a:rPr>
              <a:t>PN</a:t>
            </a:r>
            <a:r>
              <a:rPr lang="zh-CN" altLang="en-US" sz="2000" dirty="0">
                <a:solidFill>
                  <a:srgbClr val="CC3300"/>
                </a:solidFill>
                <a:latin typeface="Times New Roman" charset="0"/>
              </a:rPr>
              <a:t>结导通：</a:t>
            </a:r>
            <a:r>
              <a:rPr lang="zh-CN" altLang="en-US" sz="2000" dirty="0">
                <a:solidFill>
                  <a:schemeClr val="tx2"/>
                </a:solidFill>
                <a:latin typeface="宋体" charset="0"/>
              </a:rPr>
              <a:t>加正向电压时，内外电场方向相反，阻挡层变窄，相当于</a:t>
            </a:r>
            <a:r>
              <a:rPr lang="en-US" altLang="zh-CN" sz="2000" dirty="0">
                <a:solidFill>
                  <a:schemeClr val="tx2"/>
                </a:solidFill>
                <a:latin typeface="宋体" charset="0"/>
              </a:rPr>
              <a:t>PN</a:t>
            </a:r>
            <a:r>
              <a:rPr lang="zh-CN" altLang="en-US" sz="2000" dirty="0">
                <a:solidFill>
                  <a:schemeClr val="tx2"/>
                </a:solidFill>
                <a:latin typeface="宋体" charset="0"/>
              </a:rPr>
              <a:t>结的电阻很小。因此加正向电压时，</a:t>
            </a:r>
            <a:r>
              <a:rPr lang="en-US" altLang="zh-CN" sz="2000" dirty="0">
                <a:solidFill>
                  <a:schemeClr val="tx2"/>
                </a:solidFill>
                <a:latin typeface="宋体" charset="0"/>
              </a:rPr>
              <a:t>PN</a:t>
            </a:r>
            <a:r>
              <a:rPr lang="zh-CN" altLang="en-US" sz="2000" dirty="0">
                <a:solidFill>
                  <a:schemeClr val="tx2"/>
                </a:solidFill>
                <a:latin typeface="宋体" charset="0"/>
              </a:rPr>
              <a:t>结导通。</a:t>
            </a:r>
          </a:p>
        </p:txBody>
      </p:sp>
      <p:sp>
        <p:nvSpPr>
          <p:cNvPr id="19" name="Text Box 17">
            <a:extLst>
              <a:ext uri="{FF2B5EF4-FFF2-40B4-BE49-F238E27FC236}">
                <a16:creationId xmlns:a16="http://schemas.microsoft.com/office/drawing/2014/main" id="{26634610-FF9A-3117-0EE4-E55CDD1F4C2D}"/>
              </a:ext>
            </a:extLst>
          </p:cNvPr>
          <p:cNvSpPr txBox="1">
            <a:spLocks noChangeArrowheads="1"/>
          </p:cNvSpPr>
          <p:nvPr/>
        </p:nvSpPr>
        <p:spPr bwMode="auto">
          <a:xfrm>
            <a:off x="152400" y="4352925"/>
            <a:ext cx="8763000" cy="709613"/>
          </a:xfrm>
          <a:prstGeom prst="rect">
            <a:avLst/>
          </a:prstGeom>
          <a:solidFill>
            <a:schemeClr val="accent3">
              <a:lumMod val="20000"/>
              <a:lumOff val="80000"/>
            </a:schemeClr>
          </a:solidFill>
          <a:ln>
            <a:noFill/>
          </a:ln>
        </p:spPr>
        <p:txBody>
          <a:bodyPr lIns="0" tIns="46800" rIns="0" bIns="46800">
            <a:spAutoFit/>
          </a:bodyPr>
          <a:lstStyle>
            <a:lvl1pPr eaLnBrk="0" hangingPunct="0">
              <a:defRPr kumimoji="1" sz="2400">
                <a:solidFill>
                  <a:schemeClr val="tx1"/>
                </a:solidFill>
                <a:latin typeface="Tahoma" charset="0"/>
                <a:ea typeface="宋体" charset="0"/>
                <a:cs typeface="宋体" charset="0"/>
              </a:defRPr>
            </a:lvl1pPr>
            <a:lvl2pPr marL="742950" indent="-285750" eaLnBrk="0" hangingPunct="0">
              <a:defRPr kumimoji="1" sz="2400">
                <a:solidFill>
                  <a:schemeClr val="tx1"/>
                </a:solidFill>
                <a:latin typeface="Tahoma" charset="0"/>
                <a:ea typeface="宋体" charset="0"/>
              </a:defRPr>
            </a:lvl2pPr>
            <a:lvl3pPr marL="1143000" indent="-228600" eaLnBrk="0" hangingPunct="0">
              <a:defRPr kumimoji="1" sz="2400">
                <a:solidFill>
                  <a:schemeClr val="tx1"/>
                </a:solidFill>
                <a:latin typeface="Tahoma" charset="0"/>
                <a:ea typeface="宋体" charset="0"/>
              </a:defRPr>
            </a:lvl3pPr>
            <a:lvl4pPr marL="1600200" indent="-228600" eaLnBrk="0" hangingPunct="0">
              <a:defRPr kumimoji="1" sz="2400">
                <a:solidFill>
                  <a:schemeClr val="tx1"/>
                </a:solidFill>
                <a:latin typeface="Tahoma" charset="0"/>
                <a:ea typeface="宋体" charset="0"/>
              </a:defRPr>
            </a:lvl4pPr>
            <a:lvl5pPr marL="2057400" indent="-228600" eaLnBrk="0" hangingPunct="0">
              <a:defRPr kumimoji="1" sz="2400">
                <a:solidFill>
                  <a:schemeClr val="tx1"/>
                </a:solidFill>
                <a:latin typeface="Tahoma" charset="0"/>
                <a:ea typeface="宋体" charset="0"/>
              </a:defRPr>
            </a:lvl5pPr>
            <a:lvl6pPr marL="2514600" indent="-228600" eaLnBrk="0" fontAlgn="base" hangingPunct="0">
              <a:spcBef>
                <a:spcPct val="0"/>
              </a:spcBef>
              <a:spcAft>
                <a:spcPct val="0"/>
              </a:spcAft>
              <a:defRPr kumimoji="1" sz="2400">
                <a:solidFill>
                  <a:schemeClr val="tx1"/>
                </a:solidFill>
                <a:latin typeface="Tahoma" charset="0"/>
                <a:ea typeface="宋体" charset="0"/>
              </a:defRPr>
            </a:lvl6pPr>
            <a:lvl7pPr marL="2971800" indent="-228600" eaLnBrk="0" fontAlgn="base" hangingPunct="0">
              <a:spcBef>
                <a:spcPct val="0"/>
              </a:spcBef>
              <a:spcAft>
                <a:spcPct val="0"/>
              </a:spcAft>
              <a:defRPr kumimoji="1" sz="2400">
                <a:solidFill>
                  <a:schemeClr val="tx1"/>
                </a:solidFill>
                <a:latin typeface="Tahoma" charset="0"/>
                <a:ea typeface="宋体" charset="0"/>
              </a:defRPr>
            </a:lvl7pPr>
            <a:lvl8pPr marL="3429000" indent="-228600" eaLnBrk="0" fontAlgn="base" hangingPunct="0">
              <a:spcBef>
                <a:spcPct val="0"/>
              </a:spcBef>
              <a:spcAft>
                <a:spcPct val="0"/>
              </a:spcAft>
              <a:defRPr kumimoji="1" sz="2400">
                <a:solidFill>
                  <a:schemeClr val="tx1"/>
                </a:solidFill>
                <a:latin typeface="Tahoma" charset="0"/>
                <a:ea typeface="宋体" charset="0"/>
              </a:defRPr>
            </a:lvl8pPr>
            <a:lvl9pPr marL="3886200" indent="-228600" eaLnBrk="0" fontAlgn="base" hangingPunct="0">
              <a:spcBef>
                <a:spcPct val="0"/>
              </a:spcBef>
              <a:spcAft>
                <a:spcPct val="0"/>
              </a:spcAft>
              <a:defRPr kumimoji="1" sz="2400">
                <a:solidFill>
                  <a:schemeClr val="tx1"/>
                </a:solidFill>
                <a:latin typeface="Tahoma" charset="0"/>
                <a:ea typeface="宋体" charset="0"/>
              </a:defRPr>
            </a:lvl9pPr>
          </a:lstStyle>
          <a:p>
            <a:pPr eaLnBrk="1" hangingPunct="1">
              <a:spcBef>
                <a:spcPct val="50000"/>
              </a:spcBef>
              <a:defRPr/>
            </a:pPr>
            <a:r>
              <a:rPr lang="zh-CN" altLang="en-US" sz="2000" dirty="0">
                <a:solidFill>
                  <a:srgbClr val="CC3300"/>
                </a:solidFill>
                <a:latin typeface="Times New Roman" charset="0"/>
              </a:rPr>
              <a:t>加反向电压时</a:t>
            </a:r>
            <a:r>
              <a:rPr lang="en-US" altLang="zh-CN" sz="2000" dirty="0">
                <a:solidFill>
                  <a:srgbClr val="CC3300"/>
                </a:solidFill>
                <a:latin typeface="Times New Roman" charset="0"/>
              </a:rPr>
              <a:t>PN</a:t>
            </a:r>
            <a:r>
              <a:rPr lang="zh-CN" altLang="en-US" sz="2000" dirty="0">
                <a:solidFill>
                  <a:srgbClr val="CC3300"/>
                </a:solidFill>
                <a:latin typeface="Times New Roman" charset="0"/>
              </a:rPr>
              <a:t>结截止：</a:t>
            </a:r>
            <a:r>
              <a:rPr lang="zh-CN" altLang="en-US" sz="2000" dirty="0">
                <a:solidFill>
                  <a:schemeClr val="tx2"/>
                </a:solidFill>
                <a:latin typeface="Times New Roman" charset="0"/>
              </a:rPr>
              <a:t>加反向电压时，</a:t>
            </a:r>
            <a:r>
              <a:rPr lang="zh-CN" altLang="en-US" sz="2000" dirty="0">
                <a:solidFill>
                  <a:schemeClr val="tx2"/>
                </a:solidFill>
                <a:latin typeface="宋体" charset="0"/>
              </a:rPr>
              <a:t>内外电场方向相同，阻挡层变宽，相当于</a:t>
            </a:r>
            <a:r>
              <a:rPr lang="en-US" altLang="zh-CN" sz="2000" dirty="0">
                <a:solidFill>
                  <a:schemeClr val="tx2"/>
                </a:solidFill>
                <a:latin typeface="宋体" charset="0"/>
              </a:rPr>
              <a:t>PN</a:t>
            </a:r>
            <a:r>
              <a:rPr lang="zh-CN" altLang="en-US" sz="2000" dirty="0">
                <a:solidFill>
                  <a:schemeClr val="tx2"/>
                </a:solidFill>
                <a:latin typeface="宋体" charset="0"/>
              </a:rPr>
              <a:t>结的电阻很大。因此加反向电压时，</a:t>
            </a:r>
            <a:r>
              <a:rPr lang="en-US" altLang="zh-CN" sz="2000" dirty="0">
                <a:solidFill>
                  <a:schemeClr val="tx2"/>
                </a:solidFill>
                <a:latin typeface="宋体" charset="0"/>
              </a:rPr>
              <a:t>PN</a:t>
            </a:r>
            <a:r>
              <a:rPr lang="zh-CN" altLang="en-US" sz="2000" dirty="0">
                <a:solidFill>
                  <a:schemeClr val="tx2"/>
                </a:solidFill>
                <a:latin typeface="宋体" charset="0"/>
              </a:rPr>
              <a:t>结截止。</a:t>
            </a:r>
            <a:endParaRPr lang="zh-CN" altLang="en-US" sz="2000" dirty="0">
              <a:solidFill>
                <a:schemeClr val="tx2"/>
              </a:solidFill>
              <a:latin typeface="Times New Roman" charset="0"/>
            </a:endParaRPr>
          </a:p>
        </p:txBody>
      </p:sp>
      <p:sp>
        <p:nvSpPr>
          <p:cNvPr id="20" name="Line 18">
            <a:extLst>
              <a:ext uri="{FF2B5EF4-FFF2-40B4-BE49-F238E27FC236}">
                <a16:creationId xmlns:a16="http://schemas.microsoft.com/office/drawing/2014/main" id="{06F5292D-AB07-3964-8B1A-7AD4BCC75D26}"/>
              </a:ext>
            </a:extLst>
          </p:cNvPr>
          <p:cNvSpPr>
            <a:spLocks noChangeShapeType="1"/>
          </p:cNvSpPr>
          <p:nvPr/>
        </p:nvSpPr>
        <p:spPr bwMode="auto">
          <a:xfrm>
            <a:off x="2052638" y="6018213"/>
            <a:ext cx="609600" cy="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21" name="AutoShape 19">
            <a:extLst>
              <a:ext uri="{FF2B5EF4-FFF2-40B4-BE49-F238E27FC236}">
                <a16:creationId xmlns:a16="http://schemas.microsoft.com/office/drawing/2014/main" id="{B577F5A3-8151-3C3F-DFFC-F30D88867827}"/>
              </a:ext>
            </a:extLst>
          </p:cNvPr>
          <p:cNvSpPr>
            <a:spLocks noChangeArrowheads="1"/>
          </p:cNvSpPr>
          <p:nvPr/>
        </p:nvSpPr>
        <p:spPr bwMode="auto">
          <a:xfrm>
            <a:off x="1900238" y="6000750"/>
            <a:ext cx="152400" cy="76200"/>
          </a:xfrm>
          <a:prstGeom prst="flowChartConnector">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lIns="0" tIns="46800" rIns="0" bIns="46800" anchor="ct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endParaRPr kumimoji="1" lang="zh-CN" altLang="en-US" sz="2400">
              <a:solidFill>
                <a:srgbClr val="CC3300"/>
              </a:solidFill>
              <a:latin typeface="Times New Roman" panose="02020603050405020304" pitchFamily="18" charset="0"/>
            </a:endParaRPr>
          </a:p>
        </p:txBody>
      </p:sp>
      <p:sp>
        <p:nvSpPr>
          <p:cNvPr id="22" name="AutoShape 20">
            <a:extLst>
              <a:ext uri="{FF2B5EF4-FFF2-40B4-BE49-F238E27FC236}">
                <a16:creationId xmlns:a16="http://schemas.microsoft.com/office/drawing/2014/main" id="{2C6065B5-A7FA-BEB7-192E-229EBE3AF156}"/>
              </a:ext>
            </a:extLst>
          </p:cNvPr>
          <p:cNvSpPr>
            <a:spLocks noChangeArrowheads="1"/>
          </p:cNvSpPr>
          <p:nvPr/>
        </p:nvSpPr>
        <p:spPr bwMode="auto">
          <a:xfrm>
            <a:off x="7310438" y="6000750"/>
            <a:ext cx="152400" cy="76200"/>
          </a:xfrm>
          <a:prstGeom prst="flowChartConnector">
            <a:avLst/>
          </a:prstGeom>
          <a:noFill/>
          <a:ln w="952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lIns="0" tIns="46800" rIns="0" bIns="46800" anchor="ct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endParaRPr kumimoji="1" lang="zh-CN" altLang="en-US" sz="2400">
              <a:solidFill>
                <a:srgbClr val="CC3300"/>
              </a:solidFill>
              <a:latin typeface="Times New Roman" panose="02020603050405020304" pitchFamily="18" charset="0"/>
            </a:endParaRPr>
          </a:p>
        </p:txBody>
      </p:sp>
      <p:sp>
        <p:nvSpPr>
          <p:cNvPr id="23" name="Text Box 21">
            <a:extLst>
              <a:ext uri="{FF2B5EF4-FFF2-40B4-BE49-F238E27FC236}">
                <a16:creationId xmlns:a16="http://schemas.microsoft.com/office/drawing/2014/main" id="{41117E81-9570-C758-9747-FB6E8CDA37A7}"/>
              </a:ext>
            </a:extLst>
          </p:cNvPr>
          <p:cNvSpPr txBox="1">
            <a:spLocks noChangeArrowheads="1"/>
          </p:cNvSpPr>
          <p:nvPr/>
        </p:nvSpPr>
        <p:spPr bwMode="auto">
          <a:xfrm>
            <a:off x="2643188" y="5467350"/>
            <a:ext cx="2057400" cy="1160463"/>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2400">
                <a:latin typeface="Times New Roman" panose="02020603050405020304" pitchFamily="18" charset="0"/>
              </a:rPr>
              <a:t> </a:t>
            </a:r>
            <a:r>
              <a:rPr kumimoji="1" lang="en-US" altLang="zh-CN">
                <a:latin typeface="Times New Roman" panose="02020603050405020304" pitchFamily="18" charset="0"/>
              </a:rPr>
              <a:t>P                </a:t>
            </a:r>
          </a:p>
          <a:p>
            <a:pPr eaLnBrk="1" hangingPunct="1">
              <a:spcBef>
                <a:spcPct val="50000"/>
              </a:spcBef>
              <a:buFontTx/>
              <a:buNone/>
            </a:pPr>
            <a:endParaRPr kumimoji="1" lang="zh-CN" altLang="en-US">
              <a:latin typeface="Times New Roman" panose="02020603050405020304" pitchFamily="18" charset="0"/>
            </a:endParaRPr>
          </a:p>
        </p:txBody>
      </p:sp>
      <p:sp>
        <p:nvSpPr>
          <p:cNvPr id="24" name="Text Box 22">
            <a:extLst>
              <a:ext uri="{FF2B5EF4-FFF2-40B4-BE49-F238E27FC236}">
                <a16:creationId xmlns:a16="http://schemas.microsoft.com/office/drawing/2014/main" id="{30765550-8890-4CB9-170A-FC801CF78463}"/>
              </a:ext>
            </a:extLst>
          </p:cNvPr>
          <p:cNvSpPr txBox="1">
            <a:spLocks noChangeArrowheads="1"/>
          </p:cNvSpPr>
          <p:nvPr/>
        </p:nvSpPr>
        <p:spPr bwMode="auto">
          <a:xfrm>
            <a:off x="4700588" y="5467350"/>
            <a:ext cx="2022475" cy="116046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2400">
                <a:latin typeface="Times New Roman" panose="02020603050405020304" pitchFamily="18" charset="0"/>
              </a:rPr>
              <a:t>                      </a:t>
            </a:r>
            <a:r>
              <a:rPr kumimoji="1" lang="en-US" altLang="zh-CN">
                <a:latin typeface="Times New Roman" panose="02020603050405020304" pitchFamily="18" charset="0"/>
              </a:rPr>
              <a:t>N </a:t>
            </a:r>
          </a:p>
          <a:p>
            <a:pPr eaLnBrk="1" hangingPunct="1">
              <a:spcBef>
                <a:spcPct val="50000"/>
              </a:spcBef>
              <a:buFontTx/>
              <a:buNone/>
            </a:pPr>
            <a:endParaRPr kumimoji="1" lang="zh-CN" altLang="en-US">
              <a:latin typeface="Times New Roman" panose="02020603050405020304" pitchFamily="18" charset="0"/>
            </a:endParaRPr>
          </a:p>
        </p:txBody>
      </p:sp>
      <p:sp>
        <p:nvSpPr>
          <p:cNvPr id="25" name="Text Box 23">
            <a:extLst>
              <a:ext uri="{FF2B5EF4-FFF2-40B4-BE49-F238E27FC236}">
                <a16:creationId xmlns:a16="http://schemas.microsoft.com/office/drawing/2014/main" id="{C3B37E84-1F83-644C-103E-7E8B46F09E74}"/>
              </a:ext>
            </a:extLst>
          </p:cNvPr>
          <p:cNvSpPr txBox="1">
            <a:spLocks noChangeArrowheads="1"/>
          </p:cNvSpPr>
          <p:nvPr/>
        </p:nvSpPr>
        <p:spPr bwMode="auto">
          <a:xfrm>
            <a:off x="7577138" y="5738813"/>
            <a:ext cx="203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en-US" altLang="zh-CN">
                <a:solidFill>
                  <a:srgbClr val="CC3300"/>
                </a:solidFill>
                <a:latin typeface="Times New Roman" panose="02020603050405020304" pitchFamily="18" charset="0"/>
              </a:rPr>
              <a:t>+</a:t>
            </a:r>
          </a:p>
        </p:txBody>
      </p:sp>
      <p:sp>
        <p:nvSpPr>
          <p:cNvPr id="26" name="Line 24">
            <a:extLst>
              <a:ext uri="{FF2B5EF4-FFF2-40B4-BE49-F238E27FC236}">
                <a16:creationId xmlns:a16="http://schemas.microsoft.com/office/drawing/2014/main" id="{CA31E4BB-7368-C4AD-C7F8-7E56ABFB6A2B}"/>
              </a:ext>
            </a:extLst>
          </p:cNvPr>
          <p:cNvSpPr>
            <a:spLocks noChangeShapeType="1"/>
          </p:cNvSpPr>
          <p:nvPr/>
        </p:nvSpPr>
        <p:spPr bwMode="auto">
          <a:xfrm>
            <a:off x="6700838" y="6018213"/>
            <a:ext cx="609600" cy="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lIns="0" tIns="46800" rIns="0" bIns="46800">
            <a:spAutoFit/>
          </a:bodyPr>
          <a:lstStyle/>
          <a:p>
            <a:endParaRPr lang="zh-CN" altLang="en-US"/>
          </a:p>
        </p:txBody>
      </p:sp>
      <p:sp>
        <p:nvSpPr>
          <p:cNvPr id="47129" name="Text Box 25">
            <a:extLst>
              <a:ext uri="{FF2B5EF4-FFF2-40B4-BE49-F238E27FC236}">
                <a16:creationId xmlns:a16="http://schemas.microsoft.com/office/drawing/2014/main" id="{D745F150-41B3-E225-B0F7-60296C409EC2}"/>
              </a:ext>
            </a:extLst>
          </p:cNvPr>
          <p:cNvSpPr txBox="1">
            <a:spLocks noChangeArrowheads="1"/>
          </p:cNvSpPr>
          <p:nvPr/>
        </p:nvSpPr>
        <p:spPr bwMode="auto">
          <a:xfrm>
            <a:off x="152400" y="1447800"/>
            <a:ext cx="883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endParaRPr kumimoji="1" lang="zh-CN" altLang="en-US" sz="2400">
              <a:solidFill>
                <a:srgbClr val="CC3300"/>
              </a:solidFill>
              <a:latin typeface="Times New Roman" panose="02020603050405020304" pitchFamily="18" charset="0"/>
            </a:endParaRPr>
          </a:p>
        </p:txBody>
      </p:sp>
      <p:sp>
        <p:nvSpPr>
          <p:cNvPr id="28" name="Text Box 26">
            <a:extLst>
              <a:ext uri="{FF2B5EF4-FFF2-40B4-BE49-F238E27FC236}">
                <a16:creationId xmlns:a16="http://schemas.microsoft.com/office/drawing/2014/main" id="{D5B54EA8-83A6-6732-0F66-A8D260F0DDA4}"/>
              </a:ext>
            </a:extLst>
          </p:cNvPr>
          <p:cNvSpPr txBox="1">
            <a:spLocks noChangeArrowheads="1"/>
          </p:cNvSpPr>
          <p:nvPr/>
        </p:nvSpPr>
        <p:spPr bwMode="auto">
          <a:xfrm>
            <a:off x="228600" y="1508125"/>
            <a:ext cx="891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2000">
                <a:latin typeface="Times New Roman" panose="02020603050405020304" pitchFamily="18" charset="0"/>
              </a:rPr>
              <a:t> 在</a:t>
            </a:r>
            <a:r>
              <a:rPr kumimoji="1" lang="en-US" altLang="zh-CN" sz="2000">
                <a:latin typeface="Times New Roman" panose="02020603050405020304" pitchFamily="18" charset="0"/>
              </a:rPr>
              <a:t>PN</a:t>
            </a:r>
            <a:r>
              <a:rPr kumimoji="1" lang="zh-CN" altLang="en-US" sz="2000">
                <a:latin typeface="Times New Roman" panose="02020603050405020304" pitchFamily="18" charset="0"/>
              </a:rPr>
              <a:t>结两端适当加以外部电压，就可以打破上述平衡，实现单向导电的目地。</a:t>
            </a:r>
          </a:p>
        </p:txBody>
      </p:sp>
      <p:sp>
        <p:nvSpPr>
          <p:cNvPr id="29" name="Line 27">
            <a:extLst>
              <a:ext uri="{FF2B5EF4-FFF2-40B4-BE49-F238E27FC236}">
                <a16:creationId xmlns:a16="http://schemas.microsoft.com/office/drawing/2014/main" id="{09FE0073-2F2C-B3B8-19E5-6C485C03CEBE}"/>
              </a:ext>
            </a:extLst>
          </p:cNvPr>
          <p:cNvSpPr>
            <a:spLocks noChangeShapeType="1"/>
          </p:cNvSpPr>
          <p:nvPr/>
        </p:nvSpPr>
        <p:spPr bwMode="auto">
          <a:xfrm>
            <a:off x="4405313" y="2981325"/>
            <a:ext cx="0" cy="1143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30" name="Line 28">
            <a:extLst>
              <a:ext uri="{FF2B5EF4-FFF2-40B4-BE49-F238E27FC236}">
                <a16:creationId xmlns:a16="http://schemas.microsoft.com/office/drawing/2014/main" id="{6DBEFFE4-4B09-8F73-4D64-3576E37366E1}"/>
              </a:ext>
            </a:extLst>
          </p:cNvPr>
          <p:cNvSpPr>
            <a:spLocks noChangeShapeType="1"/>
          </p:cNvSpPr>
          <p:nvPr/>
        </p:nvSpPr>
        <p:spPr bwMode="auto">
          <a:xfrm>
            <a:off x="4710113" y="2981325"/>
            <a:ext cx="0" cy="1143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31" name="Line 29">
            <a:extLst>
              <a:ext uri="{FF2B5EF4-FFF2-40B4-BE49-F238E27FC236}">
                <a16:creationId xmlns:a16="http://schemas.microsoft.com/office/drawing/2014/main" id="{A768933A-B5D4-A558-8505-77DCBAEFCF81}"/>
              </a:ext>
            </a:extLst>
          </p:cNvPr>
          <p:cNvSpPr>
            <a:spLocks noChangeShapeType="1"/>
          </p:cNvSpPr>
          <p:nvPr/>
        </p:nvSpPr>
        <p:spPr bwMode="auto">
          <a:xfrm flipH="1">
            <a:off x="4100513" y="3303588"/>
            <a:ext cx="914400" cy="0"/>
          </a:xfrm>
          <a:prstGeom prst="line">
            <a:avLst/>
          </a:prstGeom>
          <a:noFill/>
          <a:ln w="127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32" name="Line 30">
            <a:extLst>
              <a:ext uri="{FF2B5EF4-FFF2-40B4-BE49-F238E27FC236}">
                <a16:creationId xmlns:a16="http://schemas.microsoft.com/office/drawing/2014/main" id="{A47481D4-360E-D8BD-EA8A-2EC7AFF727AC}"/>
              </a:ext>
            </a:extLst>
          </p:cNvPr>
          <p:cNvSpPr>
            <a:spLocks noChangeShapeType="1"/>
          </p:cNvSpPr>
          <p:nvPr/>
        </p:nvSpPr>
        <p:spPr bwMode="auto">
          <a:xfrm>
            <a:off x="4100513" y="3743325"/>
            <a:ext cx="914400" cy="0"/>
          </a:xfrm>
          <a:prstGeom prst="line">
            <a:avLst/>
          </a:prstGeom>
          <a:noFill/>
          <a:ln w="127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33" name="Text Box 31">
            <a:extLst>
              <a:ext uri="{FF2B5EF4-FFF2-40B4-BE49-F238E27FC236}">
                <a16:creationId xmlns:a16="http://schemas.microsoft.com/office/drawing/2014/main" id="{9FB21CAA-E020-44EF-C102-974C2C26F180}"/>
              </a:ext>
            </a:extLst>
          </p:cNvPr>
          <p:cNvSpPr txBox="1">
            <a:spLocks noChangeArrowheads="1"/>
          </p:cNvSpPr>
          <p:nvPr/>
        </p:nvSpPr>
        <p:spPr bwMode="auto">
          <a:xfrm>
            <a:off x="5091113" y="3101975"/>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1600">
                <a:solidFill>
                  <a:srgbClr val="CC3300"/>
                </a:solidFill>
                <a:latin typeface="Times New Roman" panose="02020603050405020304" pitchFamily="18" charset="0"/>
              </a:rPr>
              <a:t>内电场</a:t>
            </a:r>
          </a:p>
        </p:txBody>
      </p:sp>
      <p:sp>
        <p:nvSpPr>
          <p:cNvPr id="34" name="Text Box 32">
            <a:extLst>
              <a:ext uri="{FF2B5EF4-FFF2-40B4-BE49-F238E27FC236}">
                <a16:creationId xmlns:a16="http://schemas.microsoft.com/office/drawing/2014/main" id="{6322C019-EAA6-68DF-F43D-BC1061773D1C}"/>
              </a:ext>
            </a:extLst>
          </p:cNvPr>
          <p:cNvSpPr txBox="1">
            <a:spLocks noChangeArrowheads="1"/>
          </p:cNvSpPr>
          <p:nvPr/>
        </p:nvSpPr>
        <p:spPr bwMode="auto">
          <a:xfrm>
            <a:off x="3414713" y="3559175"/>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1600">
                <a:solidFill>
                  <a:srgbClr val="CC3300"/>
                </a:solidFill>
                <a:latin typeface="Times New Roman" panose="02020603050405020304" pitchFamily="18" charset="0"/>
              </a:rPr>
              <a:t>外电场</a:t>
            </a:r>
          </a:p>
        </p:txBody>
      </p:sp>
      <p:sp>
        <p:nvSpPr>
          <p:cNvPr id="35" name="Line 33">
            <a:extLst>
              <a:ext uri="{FF2B5EF4-FFF2-40B4-BE49-F238E27FC236}">
                <a16:creationId xmlns:a16="http://schemas.microsoft.com/office/drawing/2014/main" id="{23878EFF-3DA4-06D4-83C0-FC14518AEBBD}"/>
              </a:ext>
            </a:extLst>
          </p:cNvPr>
          <p:cNvSpPr>
            <a:spLocks noChangeShapeType="1"/>
          </p:cNvSpPr>
          <p:nvPr/>
        </p:nvSpPr>
        <p:spPr bwMode="auto">
          <a:xfrm>
            <a:off x="4395788" y="5467350"/>
            <a:ext cx="0" cy="1143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36" name="Line 34">
            <a:extLst>
              <a:ext uri="{FF2B5EF4-FFF2-40B4-BE49-F238E27FC236}">
                <a16:creationId xmlns:a16="http://schemas.microsoft.com/office/drawing/2014/main" id="{5DE520E6-5A6C-01B0-796D-5EF166E23FD4}"/>
              </a:ext>
            </a:extLst>
          </p:cNvPr>
          <p:cNvSpPr>
            <a:spLocks noChangeShapeType="1"/>
          </p:cNvSpPr>
          <p:nvPr/>
        </p:nvSpPr>
        <p:spPr bwMode="auto">
          <a:xfrm>
            <a:off x="5005388" y="5467350"/>
            <a:ext cx="0" cy="1143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37" name="Line 35">
            <a:extLst>
              <a:ext uri="{FF2B5EF4-FFF2-40B4-BE49-F238E27FC236}">
                <a16:creationId xmlns:a16="http://schemas.microsoft.com/office/drawing/2014/main" id="{CB0FBAF8-679F-2C5A-C30D-9918AE338AA7}"/>
              </a:ext>
            </a:extLst>
          </p:cNvPr>
          <p:cNvSpPr>
            <a:spLocks noChangeShapeType="1"/>
          </p:cNvSpPr>
          <p:nvPr/>
        </p:nvSpPr>
        <p:spPr bwMode="auto">
          <a:xfrm flipH="1">
            <a:off x="4243388" y="5789613"/>
            <a:ext cx="914400" cy="0"/>
          </a:xfrm>
          <a:prstGeom prst="line">
            <a:avLst/>
          </a:prstGeom>
          <a:noFill/>
          <a:ln w="127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38" name="Text Box 36">
            <a:extLst>
              <a:ext uri="{FF2B5EF4-FFF2-40B4-BE49-F238E27FC236}">
                <a16:creationId xmlns:a16="http://schemas.microsoft.com/office/drawing/2014/main" id="{EF84101F-914A-C16E-D8AD-99A213F18716}"/>
              </a:ext>
            </a:extLst>
          </p:cNvPr>
          <p:cNvSpPr txBox="1">
            <a:spLocks noChangeArrowheads="1"/>
          </p:cNvSpPr>
          <p:nvPr/>
        </p:nvSpPr>
        <p:spPr bwMode="auto">
          <a:xfrm>
            <a:off x="5233988" y="5588000"/>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1600">
                <a:solidFill>
                  <a:srgbClr val="CC3300"/>
                </a:solidFill>
                <a:latin typeface="Times New Roman" panose="02020603050405020304" pitchFamily="18" charset="0"/>
              </a:rPr>
              <a:t>内电场</a:t>
            </a:r>
          </a:p>
        </p:txBody>
      </p:sp>
      <p:sp>
        <p:nvSpPr>
          <p:cNvPr id="39" name="Text Box 37">
            <a:extLst>
              <a:ext uri="{FF2B5EF4-FFF2-40B4-BE49-F238E27FC236}">
                <a16:creationId xmlns:a16="http://schemas.microsoft.com/office/drawing/2014/main" id="{67EE0FB3-6DF1-BC43-F8CD-8BA1CC17F3FD}"/>
              </a:ext>
            </a:extLst>
          </p:cNvPr>
          <p:cNvSpPr txBox="1">
            <a:spLocks noChangeArrowheads="1"/>
          </p:cNvSpPr>
          <p:nvPr/>
        </p:nvSpPr>
        <p:spPr bwMode="auto">
          <a:xfrm>
            <a:off x="3557588" y="6045200"/>
            <a:ext cx="609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1600">
                <a:solidFill>
                  <a:srgbClr val="CC3300"/>
                </a:solidFill>
                <a:latin typeface="Times New Roman" panose="02020603050405020304" pitchFamily="18" charset="0"/>
              </a:rPr>
              <a:t>外电场</a:t>
            </a:r>
          </a:p>
        </p:txBody>
      </p:sp>
      <p:sp>
        <p:nvSpPr>
          <p:cNvPr id="40" name="Line 38">
            <a:extLst>
              <a:ext uri="{FF2B5EF4-FFF2-40B4-BE49-F238E27FC236}">
                <a16:creationId xmlns:a16="http://schemas.microsoft.com/office/drawing/2014/main" id="{87682532-1CC7-9330-2798-B06D972A8AC4}"/>
              </a:ext>
            </a:extLst>
          </p:cNvPr>
          <p:cNvSpPr>
            <a:spLocks noChangeShapeType="1"/>
          </p:cNvSpPr>
          <p:nvPr/>
        </p:nvSpPr>
        <p:spPr bwMode="auto">
          <a:xfrm flipH="1">
            <a:off x="4243388" y="6229350"/>
            <a:ext cx="914400" cy="0"/>
          </a:xfrm>
          <a:prstGeom prst="line">
            <a:avLst/>
          </a:prstGeom>
          <a:noFill/>
          <a:ln w="12700">
            <a:solidFill>
              <a:srgbClr val="CC3300"/>
            </a:solidFill>
            <a:round/>
            <a:headEnd/>
            <a:tailEnd type="triangle" w="med" len="med"/>
          </a:ln>
          <a:extLst>
            <a:ext uri="{909E8E84-426E-40DD-AFC4-6F175D3DCCD1}">
              <a14:hiddenFill xmlns:a14="http://schemas.microsoft.com/office/drawing/2010/main">
                <a:noFill/>
              </a14:hiddenFill>
            </a:ext>
          </a:extLst>
        </p:spPr>
        <p:txBody>
          <a:bodyPr wrap="none" lIns="0" tIns="46800" rIns="0" bIns="46800">
            <a:spAutoFit/>
          </a:bodyPr>
          <a:lstStyle/>
          <a:p>
            <a:endParaRPr lang="zh-CN" altLang="en-US"/>
          </a:p>
        </p:txBody>
      </p:sp>
      <p:sp>
        <p:nvSpPr>
          <p:cNvPr id="41" name="Text Box 39">
            <a:extLst>
              <a:ext uri="{FF2B5EF4-FFF2-40B4-BE49-F238E27FC236}">
                <a16:creationId xmlns:a16="http://schemas.microsoft.com/office/drawing/2014/main" id="{778B71BE-BFD6-8794-8FE7-8ABF3D1F3628}"/>
              </a:ext>
            </a:extLst>
          </p:cNvPr>
          <p:cNvSpPr txBox="1">
            <a:spLocks noChangeArrowheads="1"/>
          </p:cNvSpPr>
          <p:nvPr/>
        </p:nvSpPr>
        <p:spPr bwMode="auto">
          <a:xfrm>
            <a:off x="1671638" y="5557838"/>
            <a:ext cx="285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46800" rIns="0" bIns="4680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en-US" altLang="zh-CN">
                <a:solidFill>
                  <a:srgbClr val="CC3300"/>
                </a:solidFill>
                <a:latin typeface="Times New Roman" panose="02020603050405020304" pitchFamily="18" charset="0"/>
              </a:rPr>
              <a:t>_</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slide(fromBottom)">
                                      <p:cBhvr>
                                        <p:cTn id="7" dur="500"/>
                                        <p:tgtEl>
                                          <p:spTgt spid="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par>
                          <p:cTn id="13" fill="hold" nodeType="afterGroup">
                            <p:stCondLst>
                              <p:cond delay="500"/>
                            </p:stCondLst>
                            <p:childTnLst>
                              <p:par>
                                <p:cTn id="14" presetID="12" presetClass="entr" presetSubtype="8"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slide(fromLeft)">
                                      <p:cBhvr>
                                        <p:cTn id="16" dur="500"/>
                                        <p:tgtEl>
                                          <p:spTgt spid="9"/>
                                        </p:tgtEl>
                                      </p:cBhvr>
                                    </p:animEffect>
                                  </p:childTnLst>
                                </p:cTn>
                              </p:par>
                            </p:childTnLst>
                          </p:cTn>
                        </p:par>
                        <p:par>
                          <p:cTn id="17" fill="hold" nodeType="afterGroup">
                            <p:stCondLst>
                              <p:cond delay="1000"/>
                            </p:stCondLst>
                            <p:childTnLst>
                              <p:par>
                                <p:cTn id="18" presetID="12" presetClass="entr" presetSubtype="2"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slide(fromRight)">
                                      <p:cBhvr>
                                        <p:cTn id="20" dur="500"/>
                                        <p:tgtEl>
                                          <p:spTgt spid="10"/>
                                        </p:tgtEl>
                                      </p:cBhvr>
                                    </p:animEffect>
                                  </p:childTnLst>
                                </p:cTn>
                              </p:par>
                            </p:childTnLst>
                          </p:cTn>
                        </p:par>
                        <p:par>
                          <p:cTn id="21" fill="hold" nodeType="afterGroup">
                            <p:stCondLst>
                              <p:cond delay="1500"/>
                            </p:stCondLst>
                            <p:childTnLst>
                              <p:par>
                                <p:cTn id="22" presetID="2" presetClass="entr" presetSubtype="8"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0-#ppt_w/2"/>
                                          </p:val>
                                        </p:tav>
                                        <p:tav tm="100000">
                                          <p:val>
                                            <p:strVal val="#ppt_x"/>
                                          </p:val>
                                        </p:tav>
                                      </p:tavLst>
                                    </p:anim>
                                    <p:anim calcmode="lin" valueType="num">
                                      <p:cBhvr additive="base">
                                        <p:cTn id="25" dur="500" fill="hold"/>
                                        <p:tgtEl>
                                          <p:spTgt spid="5"/>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2000"/>
                            </p:stCondLst>
                            <p:childTnLst>
                              <p:par>
                                <p:cTn id="27" presetID="5" presetClass="entr" presetSubtype="10"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checkerboard(across)">
                                      <p:cBhvr>
                                        <p:cTn id="29" dur="500"/>
                                        <p:tgtEl>
                                          <p:spTgt spid="7"/>
                                        </p:tgtEl>
                                      </p:cBhvr>
                                    </p:animEffect>
                                  </p:childTnLst>
                                </p:cTn>
                              </p:par>
                            </p:childTnLst>
                          </p:cTn>
                        </p:par>
                        <p:par>
                          <p:cTn id="30" fill="hold" nodeType="afterGroup">
                            <p:stCondLst>
                              <p:cond delay="2500"/>
                            </p:stCondLst>
                            <p:childTnLst>
                              <p:par>
                                <p:cTn id="31" presetID="2" presetClass="entr" presetSubtype="2" fill="hold" nodeType="after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1+#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childTnLst>
                          </p:cTn>
                        </p:par>
                        <p:par>
                          <p:cTn id="35" fill="hold" nodeType="afterGroup">
                            <p:stCondLst>
                              <p:cond delay="3000"/>
                            </p:stCondLst>
                            <p:childTnLst>
                              <p:par>
                                <p:cTn id="36" presetID="5" presetClass="entr" presetSubtype="10" fill="hold" nodeType="after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checkerboard(across)">
                                      <p:cBhvr>
                                        <p:cTn id="38" dur="500"/>
                                        <p:tgtEl>
                                          <p:spTgt spid="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4"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slide(fromBottom)">
                                      <p:cBhvr>
                                        <p:cTn id="43" dur="500"/>
                                        <p:tgtEl>
                                          <p:spTgt spid="16"/>
                                        </p:tgtEl>
                                      </p:cBhvr>
                                    </p:animEffect>
                                  </p:childTnLst>
                                </p:cTn>
                              </p:par>
                            </p:childTnLst>
                          </p:cTn>
                        </p:par>
                        <p:par>
                          <p:cTn id="44" fill="hold" nodeType="afterGroup">
                            <p:stCondLst>
                              <p:cond delay="500"/>
                            </p:stCondLst>
                            <p:childTnLst>
                              <p:par>
                                <p:cTn id="45" presetID="12" presetClass="entr" presetSubtype="4" fill="hold"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slide(fromBottom)">
                                      <p:cBhvr>
                                        <p:cTn id="47" dur="500"/>
                                        <p:tgtEl>
                                          <p:spTgt spid="1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2" fill="hold"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slide(fromRight)">
                                      <p:cBhvr>
                                        <p:cTn id="52" dur="500"/>
                                        <p:tgtEl>
                                          <p:spTgt spid="31"/>
                                        </p:tgtEl>
                                      </p:cBhvr>
                                    </p:animEffect>
                                  </p:childTnLst>
                                </p:cTn>
                              </p:par>
                            </p:childTnLst>
                          </p:cTn>
                        </p:par>
                        <p:par>
                          <p:cTn id="53" fill="hold" nodeType="afterGroup">
                            <p:stCondLst>
                              <p:cond delay="500"/>
                            </p:stCondLst>
                            <p:childTnLst>
                              <p:par>
                                <p:cTn id="54" presetID="12" presetClass="entr" presetSubtype="2" fill="hold" nodeType="after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slide(fromRight)">
                                      <p:cBhvr>
                                        <p:cTn id="56" dur="500"/>
                                        <p:tgtEl>
                                          <p:spTgt spid="33"/>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2" presetClass="entr" presetSubtype="8" fill="hold"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slide(fromLeft)">
                                      <p:cBhvr>
                                        <p:cTn id="61" dur="500"/>
                                        <p:tgtEl>
                                          <p:spTgt spid="32"/>
                                        </p:tgtEl>
                                      </p:cBhvr>
                                    </p:animEffect>
                                  </p:childTnLst>
                                </p:cTn>
                              </p:par>
                            </p:childTnLst>
                          </p:cTn>
                        </p:par>
                        <p:par>
                          <p:cTn id="62" fill="hold" nodeType="afterGroup">
                            <p:stCondLst>
                              <p:cond delay="500"/>
                            </p:stCondLst>
                            <p:childTnLst>
                              <p:par>
                                <p:cTn id="63" presetID="12" presetClass="entr" presetSubtype="8" fill="hold"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slide(fromLeft)">
                                      <p:cBhvr>
                                        <p:cTn id="65" dur="500"/>
                                        <p:tgtEl>
                                          <p:spTgt spid="3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2" presetClass="entr" presetSubtype="8" fill="hold" nodeType="click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slide(fromLeft)">
                                      <p:cBhvr>
                                        <p:cTn id="70" dur="500"/>
                                        <p:tgtEl>
                                          <p:spTgt spid="29"/>
                                        </p:tgtEl>
                                      </p:cBhvr>
                                    </p:animEffect>
                                  </p:childTnLst>
                                </p:cTn>
                              </p:par>
                            </p:childTnLst>
                          </p:cTn>
                        </p:par>
                        <p:par>
                          <p:cTn id="71" fill="hold" nodeType="afterGroup">
                            <p:stCondLst>
                              <p:cond delay="500"/>
                            </p:stCondLst>
                            <p:childTnLst>
                              <p:par>
                                <p:cTn id="72" presetID="12" presetClass="entr" presetSubtype="2" fill="hold" nodeType="after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slide(fromRight)">
                                      <p:cBhvr>
                                        <p:cTn id="74" dur="500"/>
                                        <p:tgtEl>
                                          <p:spTgt spid="30"/>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7" presetClass="entr" presetSubtype="10" fill="hold" nodeType="click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p:cTn id="79" dur="500" fill="hold"/>
                                        <p:tgtEl>
                                          <p:spTgt spid="19"/>
                                        </p:tgtEl>
                                        <p:attrNameLst>
                                          <p:attrName>ppt_w</p:attrName>
                                        </p:attrNameLst>
                                      </p:cBhvr>
                                      <p:tavLst>
                                        <p:tav tm="0">
                                          <p:val>
                                            <p:fltVal val="0"/>
                                          </p:val>
                                        </p:tav>
                                        <p:tav tm="100000">
                                          <p:val>
                                            <p:strVal val="#ppt_w"/>
                                          </p:val>
                                        </p:tav>
                                      </p:tavLst>
                                    </p:anim>
                                    <p:anim calcmode="lin" valueType="num">
                                      <p:cBhvr>
                                        <p:cTn id="80" dur="500" fill="hold"/>
                                        <p:tgtEl>
                                          <p:spTgt spid="1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par>
                          <p:cTn id="81" fill="hold" nodeType="afterGroup">
                            <p:stCondLst>
                              <p:cond delay="500"/>
                            </p:stCondLst>
                            <p:childTnLst>
                              <p:par>
                                <p:cTn id="82" presetID="12" presetClass="entr" presetSubtype="4" fill="hold" nodeType="after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slide(fromBottom)">
                                      <p:cBhvr>
                                        <p:cTn id="84" dur="500"/>
                                        <p:tgtEl>
                                          <p:spTgt spid="23"/>
                                        </p:tgtEl>
                                      </p:cBhvr>
                                    </p:animEffect>
                                  </p:childTnLst>
                                </p:cTn>
                              </p:par>
                            </p:childTnLst>
                          </p:cTn>
                        </p:par>
                        <p:par>
                          <p:cTn id="85" fill="hold" nodeType="afterGroup">
                            <p:stCondLst>
                              <p:cond delay="1000"/>
                            </p:stCondLst>
                            <p:childTnLst>
                              <p:par>
                                <p:cTn id="86" presetID="12" presetClass="entr" presetSubtype="2" fill="hold" nodeType="after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slide(fromRight)">
                                      <p:cBhvr>
                                        <p:cTn id="88" dur="500"/>
                                        <p:tgtEl>
                                          <p:spTgt spid="24"/>
                                        </p:tgtEl>
                                      </p:cBhvr>
                                    </p:animEffect>
                                  </p:childTnLst>
                                </p:cTn>
                              </p:par>
                            </p:childTnLst>
                          </p:cTn>
                        </p:par>
                        <p:par>
                          <p:cTn id="89" fill="hold" nodeType="afterGroup">
                            <p:stCondLst>
                              <p:cond delay="1500"/>
                            </p:stCondLst>
                            <p:childTnLst>
                              <p:par>
                                <p:cTn id="90" presetID="12" presetClass="entr" presetSubtype="4" fill="hold" nodeType="after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slide(fromBottom)">
                                      <p:cBhvr>
                                        <p:cTn id="92" dur="500"/>
                                        <p:tgtEl>
                                          <p:spTgt spid="20"/>
                                        </p:tgtEl>
                                      </p:cBhvr>
                                    </p:animEffect>
                                  </p:childTnLst>
                                </p:cTn>
                              </p:par>
                            </p:childTnLst>
                          </p:cTn>
                        </p:par>
                        <p:par>
                          <p:cTn id="93" fill="hold" nodeType="afterGroup">
                            <p:stCondLst>
                              <p:cond delay="2000"/>
                            </p:stCondLst>
                            <p:childTnLst>
                              <p:par>
                                <p:cTn id="94" presetID="12" presetClass="entr" presetSubtype="4" fill="hold" nodeType="afterEffect">
                                  <p:stCondLst>
                                    <p:cond delay="0"/>
                                  </p:stCondLst>
                                  <p:childTnLst>
                                    <p:set>
                                      <p:cBhvr>
                                        <p:cTn id="95" dur="1" fill="hold">
                                          <p:stCondLst>
                                            <p:cond delay="0"/>
                                          </p:stCondLst>
                                        </p:cTn>
                                        <p:tgtEl>
                                          <p:spTgt spid="21"/>
                                        </p:tgtEl>
                                        <p:attrNameLst>
                                          <p:attrName>style.visibility</p:attrName>
                                        </p:attrNameLst>
                                      </p:cBhvr>
                                      <p:to>
                                        <p:strVal val="visible"/>
                                      </p:to>
                                    </p:set>
                                    <p:animEffect transition="in" filter="slide(fromBottom)">
                                      <p:cBhvr>
                                        <p:cTn id="96" dur="500"/>
                                        <p:tgtEl>
                                          <p:spTgt spid="21"/>
                                        </p:tgtEl>
                                      </p:cBhvr>
                                    </p:animEffect>
                                  </p:childTnLst>
                                </p:cTn>
                              </p:par>
                            </p:childTnLst>
                          </p:cTn>
                        </p:par>
                        <p:par>
                          <p:cTn id="97" fill="hold" nodeType="afterGroup">
                            <p:stCondLst>
                              <p:cond delay="2500"/>
                            </p:stCondLst>
                            <p:childTnLst>
                              <p:par>
                                <p:cTn id="98" presetID="12" presetClass="entr" presetSubtype="4" fill="hold" nodeType="afterEffect">
                                  <p:stCondLst>
                                    <p:cond delay="0"/>
                                  </p:stCondLst>
                                  <p:childTnLst>
                                    <p:set>
                                      <p:cBhvr>
                                        <p:cTn id="99" dur="1" fill="hold">
                                          <p:stCondLst>
                                            <p:cond delay="0"/>
                                          </p:stCondLst>
                                        </p:cTn>
                                        <p:tgtEl>
                                          <p:spTgt spid="26"/>
                                        </p:tgtEl>
                                        <p:attrNameLst>
                                          <p:attrName>style.visibility</p:attrName>
                                        </p:attrNameLst>
                                      </p:cBhvr>
                                      <p:to>
                                        <p:strVal val="visible"/>
                                      </p:to>
                                    </p:set>
                                    <p:animEffect transition="in" filter="slide(fromBottom)">
                                      <p:cBhvr>
                                        <p:cTn id="100" dur="500"/>
                                        <p:tgtEl>
                                          <p:spTgt spid="26"/>
                                        </p:tgtEl>
                                      </p:cBhvr>
                                    </p:animEffect>
                                  </p:childTnLst>
                                </p:cTn>
                              </p:par>
                            </p:childTnLst>
                          </p:cTn>
                        </p:par>
                        <p:par>
                          <p:cTn id="101" fill="hold" nodeType="afterGroup">
                            <p:stCondLst>
                              <p:cond delay="3000"/>
                            </p:stCondLst>
                            <p:childTnLst>
                              <p:par>
                                <p:cTn id="102" presetID="12" presetClass="entr" presetSubtype="4" fill="hold" nodeType="afterEffect">
                                  <p:stCondLst>
                                    <p:cond delay="0"/>
                                  </p:stCondLst>
                                  <p:childTnLst>
                                    <p:set>
                                      <p:cBhvr>
                                        <p:cTn id="103" dur="1" fill="hold">
                                          <p:stCondLst>
                                            <p:cond delay="0"/>
                                          </p:stCondLst>
                                        </p:cTn>
                                        <p:tgtEl>
                                          <p:spTgt spid="22"/>
                                        </p:tgtEl>
                                        <p:attrNameLst>
                                          <p:attrName>style.visibility</p:attrName>
                                        </p:attrNameLst>
                                      </p:cBhvr>
                                      <p:to>
                                        <p:strVal val="visible"/>
                                      </p:to>
                                    </p:set>
                                    <p:animEffect transition="in" filter="slide(fromBottom)">
                                      <p:cBhvr>
                                        <p:cTn id="104" dur="500"/>
                                        <p:tgtEl>
                                          <p:spTgt spid="22"/>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2" presetClass="entr" presetSubtype="4" fill="hold" nodeType="clickEffect">
                                  <p:stCondLst>
                                    <p:cond delay="0"/>
                                  </p:stCondLst>
                                  <p:childTnLst>
                                    <p:set>
                                      <p:cBhvr>
                                        <p:cTn id="108" dur="1" fill="hold">
                                          <p:stCondLst>
                                            <p:cond delay="0"/>
                                          </p:stCondLst>
                                        </p:cTn>
                                        <p:tgtEl>
                                          <p:spTgt spid="25"/>
                                        </p:tgtEl>
                                        <p:attrNameLst>
                                          <p:attrName>style.visibility</p:attrName>
                                        </p:attrNameLst>
                                      </p:cBhvr>
                                      <p:to>
                                        <p:strVal val="visible"/>
                                      </p:to>
                                    </p:set>
                                    <p:animEffect transition="in" filter="slide(fromBottom)">
                                      <p:cBhvr>
                                        <p:cTn id="109" dur="500"/>
                                        <p:tgtEl>
                                          <p:spTgt spid="25"/>
                                        </p:tgtEl>
                                      </p:cBhvr>
                                    </p:animEffect>
                                  </p:childTnLst>
                                </p:cTn>
                              </p:par>
                            </p:childTnLst>
                          </p:cTn>
                        </p:par>
                        <p:par>
                          <p:cTn id="110" fill="hold" nodeType="afterGroup">
                            <p:stCondLst>
                              <p:cond delay="500"/>
                            </p:stCondLst>
                            <p:childTnLst>
                              <p:par>
                                <p:cTn id="111" presetID="12" presetClass="entr" presetSubtype="4" fill="hold" nodeType="after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slide(fromBottom)">
                                      <p:cBhvr>
                                        <p:cTn id="113" dur="500"/>
                                        <p:tgtEl>
                                          <p:spTgt spid="41"/>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2" presetClass="entr" presetSubtype="2" fill="hold" nodeType="clickEffect">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slide(fromRight)">
                                      <p:cBhvr>
                                        <p:cTn id="118" dur="500"/>
                                        <p:tgtEl>
                                          <p:spTgt spid="37"/>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2" presetClass="entr" presetSubtype="2" fill="hold" nodeType="clickEffect">
                                  <p:stCondLst>
                                    <p:cond delay="0"/>
                                  </p:stCondLst>
                                  <p:childTnLst>
                                    <p:set>
                                      <p:cBhvr>
                                        <p:cTn id="122" dur="1" fill="hold">
                                          <p:stCondLst>
                                            <p:cond delay="0"/>
                                          </p:stCondLst>
                                        </p:cTn>
                                        <p:tgtEl>
                                          <p:spTgt spid="38"/>
                                        </p:tgtEl>
                                        <p:attrNameLst>
                                          <p:attrName>style.visibility</p:attrName>
                                        </p:attrNameLst>
                                      </p:cBhvr>
                                      <p:to>
                                        <p:strVal val="visible"/>
                                      </p:to>
                                    </p:set>
                                    <p:animEffect transition="in" filter="slide(fromRight)">
                                      <p:cBhvr>
                                        <p:cTn id="123" dur="500"/>
                                        <p:tgtEl>
                                          <p:spTgt spid="38"/>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2" presetClass="entr" presetSubtype="8" fill="hold" nodeType="clickEffect">
                                  <p:stCondLst>
                                    <p:cond delay="0"/>
                                  </p:stCondLst>
                                  <p:childTnLst>
                                    <p:set>
                                      <p:cBhvr>
                                        <p:cTn id="127" dur="1" fill="hold">
                                          <p:stCondLst>
                                            <p:cond delay="0"/>
                                          </p:stCondLst>
                                        </p:cTn>
                                        <p:tgtEl>
                                          <p:spTgt spid="40"/>
                                        </p:tgtEl>
                                        <p:attrNameLst>
                                          <p:attrName>style.visibility</p:attrName>
                                        </p:attrNameLst>
                                      </p:cBhvr>
                                      <p:to>
                                        <p:strVal val="visible"/>
                                      </p:to>
                                    </p:set>
                                    <p:animEffect transition="in" filter="slide(fromLeft)">
                                      <p:cBhvr>
                                        <p:cTn id="128" dur="500"/>
                                        <p:tgtEl>
                                          <p:spTgt spid="40"/>
                                        </p:tgtEl>
                                      </p:cBhvr>
                                    </p:animEffect>
                                  </p:childTnLst>
                                </p:cTn>
                              </p:par>
                            </p:childTnLst>
                          </p:cTn>
                        </p:par>
                        <p:par>
                          <p:cTn id="129" fill="hold" nodeType="afterGroup">
                            <p:stCondLst>
                              <p:cond delay="500"/>
                            </p:stCondLst>
                            <p:childTnLst>
                              <p:par>
                                <p:cTn id="130" presetID="12" presetClass="entr" presetSubtype="8" fill="hold" nodeType="afterEffect">
                                  <p:stCondLst>
                                    <p:cond delay="0"/>
                                  </p:stCondLst>
                                  <p:childTnLst>
                                    <p:set>
                                      <p:cBhvr>
                                        <p:cTn id="131" dur="1" fill="hold">
                                          <p:stCondLst>
                                            <p:cond delay="0"/>
                                          </p:stCondLst>
                                        </p:cTn>
                                        <p:tgtEl>
                                          <p:spTgt spid="39"/>
                                        </p:tgtEl>
                                        <p:attrNameLst>
                                          <p:attrName>style.visibility</p:attrName>
                                        </p:attrNameLst>
                                      </p:cBhvr>
                                      <p:to>
                                        <p:strVal val="visible"/>
                                      </p:to>
                                    </p:set>
                                    <p:animEffect transition="in" filter="slide(fromLeft)">
                                      <p:cBhvr>
                                        <p:cTn id="132" dur="500"/>
                                        <p:tgtEl>
                                          <p:spTgt spid="39"/>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2" presetClass="entr" presetSubtype="8" fill="hold" nodeType="clickEffect">
                                  <p:stCondLst>
                                    <p:cond delay="0"/>
                                  </p:stCondLst>
                                  <p:childTnLst>
                                    <p:set>
                                      <p:cBhvr>
                                        <p:cTn id="136" dur="1" fill="hold">
                                          <p:stCondLst>
                                            <p:cond delay="0"/>
                                          </p:stCondLst>
                                        </p:cTn>
                                        <p:tgtEl>
                                          <p:spTgt spid="35"/>
                                        </p:tgtEl>
                                        <p:attrNameLst>
                                          <p:attrName>style.visibility</p:attrName>
                                        </p:attrNameLst>
                                      </p:cBhvr>
                                      <p:to>
                                        <p:strVal val="visible"/>
                                      </p:to>
                                    </p:set>
                                    <p:animEffect transition="in" filter="slide(fromLeft)">
                                      <p:cBhvr>
                                        <p:cTn id="137" dur="500"/>
                                        <p:tgtEl>
                                          <p:spTgt spid="35"/>
                                        </p:tgtEl>
                                      </p:cBhvr>
                                    </p:animEffect>
                                  </p:childTnLst>
                                </p:cTn>
                              </p:par>
                            </p:childTnLst>
                          </p:cTn>
                        </p:par>
                        <p:par>
                          <p:cTn id="138" fill="hold" nodeType="afterGroup">
                            <p:stCondLst>
                              <p:cond delay="500"/>
                            </p:stCondLst>
                            <p:childTnLst>
                              <p:par>
                                <p:cTn id="139" presetID="12" presetClass="entr" presetSubtype="2" fill="hold" nodeType="afterEffect">
                                  <p:stCondLst>
                                    <p:cond delay="0"/>
                                  </p:stCondLst>
                                  <p:childTnLst>
                                    <p:set>
                                      <p:cBhvr>
                                        <p:cTn id="140" dur="1" fill="hold">
                                          <p:stCondLst>
                                            <p:cond delay="0"/>
                                          </p:stCondLst>
                                        </p:cTn>
                                        <p:tgtEl>
                                          <p:spTgt spid="36"/>
                                        </p:tgtEl>
                                        <p:attrNameLst>
                                          <p:attrName>style.visibility</p:attrName>
                                        </p:attrNameLst>
                                      </p:cBhvr>
                                      <p:to>
                                        <p:strVal val="visible"/>
                                      </p:to>
                                    </p:set>
                                    <p:animEffect transition="in" filter="slide(fromRight)">
                                      <p:cBhvr>
                                        <p:cTn id="14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autoUpdateAnimBg="0"/>
      <p:bldP spid="10" grpId="0" animBg="1" autoUpdateAnimBg="0"/>
      <p:bldP spid="16" grpId="0" autoUpdateAnimBg="0"/>
      <p:bldP spid="17" grpId="0" autoUpdateAnimBg="0"/>
      <p:bldP spid="18" grpId="0" animBg="1" autoUpdateAnimBg="0"/>
      <p:bldP spid="19" grpId="0" animBg="1" autoUpdateAnimBg="0"/>
      <p:bldP spid="21" grpId="0" animBg="1"/>
      <p:bldP spid="22" grpId="0" animBg="1"/>
      <p:bldP spid="23" grpId="0" animBg="1" autoUpdateAnimBg="0"/>
      <p:bldP spid="24" grpId="0" animBg="1" autoUpdateAnimBg="0"/>
      <p:bldP spid="25" grpId="0" autoUpdateAnimBg="0"/>
      <p:bldP spid="28" grpId="0" autoUpdateAnimBg="0"/>
      <p:bldP spid="33" grpId="0" autoUpdateAnimBg="0"/>
      <p:bldP spid="34" grpId="0" autoUpdateAnimBg="0"/>
      <p:bldP spid="38" grpId="0" autoUpdateAnimBg="0"/>
      <p:bldP spid="39" grpId="0" autoUpdateAnimBg="0"/>
      <p:bldP spid="41"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a:extLst>
              <a:ext uri="{FF2B5EF4-FFF2-40B4-BE49-F238E27FC236}">
                <a16:creationId xmlns:a16="http://schemas.microsoft.com/office/drawing/2014/main" id="{BA1BF010-A104-C3D6-69F2-F18DBA9BEEEB}"/>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48130" name="内容占位符 2">
            <a:extLst>
              <a:ext uri="{FF2B5EF4-FFF2-40B4-BE49-F238E27FC236}">
                <a16:creationId xmlns:a16="http://schemas.microsoft.com/office/drawing/2014/main" id="{F6EE69A3-2F50-83C1-E377-9FC89B18ED71}"/>
              </a:ext>
            </a:extLst>
          </p:cNvPr>
          <p:cNvSpPr>
            <a:spLocks noGrp="1" noChangeArrowheads="1"/>
          </p:cNvSpPr>
          <p:nvPr>
            <p:ph idx="1"/>
          </p:nvPr>
        </p:nvSpPr>
        <p:spPr/>
        <p:txBody>
          <a:bodyPr/>
          <a:lstStyle/>
          <a:p>
            <a:r>
              <a:rPr kumimoji="1" lang="en-US" altLang="zh-CN" sz="2400">
                <a:latin typeface="Arial" panose="020B0604020202020204" pitchFamily="34" charset="0"/>
                <a:ea typeface="宋体" panose="02010600030101010101" pitchFamily="2" charset="-122"/>
                <a:cs typeface="Arial" panose="020B0604020202020204" pitchFamily="34" charset="0"/>
              </a:rPr>
              <a:t>1</a:t>
            </a:r>
            <a:r>
              <a:rPr kumimoji="1" lang="zh-CN" altLang="en-US" sz="2400">
                <a:latin typeface="Arial" panose="020B0604020202020204" pitchFamily="34" charset="0"/>
                <a:ea typeface="宋体" panose="02010600030101010101" pitchFamily="2" charset="-122"/>
                <a:cs typeface="Arial" panose="020B0604020202020204" pitchFamily="34" charset="0"/>
              </a:rPr>
              <a:t>）物理：</a:t>
            </a:r>
            <a:r>
              <a:rPr kumimoji="1" lang="en-US" altLang="zh-CN" sz="2400">
                <a:latin typeface="Arial" panose="020B0604020202020204" pitchFamily="34" charset="0"/>
                <a:ea typeface="宋体" panose="02010600030101010101" pitchFamily="2" charset="-122"/>
                <a:cs typeface="Arial" panose="020B0604020202020204" pitchFamily="34" charset="0"/>
              </a:rPr>
              <a:t>PN</a:t>
            </a:r>
            <a:r>
              <a:rPr kumimoji="1" lang="zh-CN" altLang="en-US" sz="2400">
                <a:latin typeface="Arial" panose="020B0604020202020204" pitchFamily="34" charset="0"/>
                <a:ea typeface="宋体" panose="02010600030101010101" pitchFamily="2" charset="-122"/>
                <a:cs typeface="Arial" panose="020B0604020202020204" pitchFamily="34" charset="0"/>
              </a:rPr>
              <a:t>结</a:t>
            </a:r>
            <a:r>
              <a:rPr kumimoji="1" lang="en-US" altLang="zh-CN" sz="2400">
                <a:latin typeface="Arial" panose="020B0604020202020204" pitchFamily="34" charset="0"/>
                <a:ea typeface="宋体" panose="02010600030101010101" pitchFamily="2" charset="-122"/>
                <a:cs typeface="Arial" panose="020B0604020202020204" pitchFamily="34" charset="0"/>
              </a:rPr>
              <a:t>-&gt;</a:t>
            </a:r>
            <a:r>
              <a:rPr kumimoji="1" lang="zh-CN" altLang="en-US" sz="2400">
                <a:latin typeface="Arial" panose="020B0604020202020204" pitchFamily="34" charset="0"/>
                <a:ea typeface="宋体" panose="02010600030101010101" pitchFamily="2" charset="-122"/>
                <a:cs typeface="Arial" panose="020B0604020202020204" pitchFamily="34" charset="0"/>
              </a:rPr>
              <a:t>二极管（一种晶体管）</a:t>
            </a:r>
            <a:r>
              <a:rPr kumimoji="1" lang="en-US" altLang="zh-CN" sz="2400">
                <a:latin typeface="Arial" panose="020B0604020202020204" pitchFamily="34" charset="0"/>
                <a:ea typeface="宋体" panose="02010600030101010101" pitchFamily="2" charset="-122"/>
                <a:cs typeface="Arial" panose="020B0604020202020204" pitchFamily="34" charset="0"/>
              </a:rPr>
              <a:t>-&gt;</a:t>
            </a:r>
            <a:r>
              <a:rPr kumimoji="1" lang="zh-CN" altLang="en-US" sz="2400">
                <a:latin typeface="Arial" panose="020B0604020202020204" pitchFamily="34" charset="0"/>
                <a:ea typeface="宋体" panose="02010600030101010101" pitchFamily="2" charset="-122"/>
                <a:cs typeface="Arial" panose="020B0604020202020204" pitchFamily="34" charset="0"/>
              </a:rPr>
              <a:t>门电路</a:t>
            </a:r>
            <a:endParaRPr kumimoji="1" lang="en-US" altLang="zh-CN" sz="2400">
              <a:latin typeface="Arial" panose="020B0604020202020204" pitchFamily="34" charset="0"/>
              <a:ea typeface="宋体" panose="02010600030101010101" pitchFamily="2" charset="-122"/>
              <a:cs typeface="Arial" panose="020B0604020202020204" pitchFamily="34" charset="0"/>
            </a:endParaRPr>
          </a:p>
          <a:p>
            <a:pPr lvl="1"/>
            <a:r>
              <a:rPr kumimoji="1" lang="zh-CN" altLang="en-US" sz="2200">
                <a:latin typeface="Arial" panose="020B0604020202020204" pitchFamily="34" charset="0"/>
                <a:ea typeface="宋体" panose="02010600030101010101" pitchFamily="2" charset="-122"/>
                <a:cs typeface="Arial" panose="020B0604020202020204" pitchFamily="34" charset="0"/>
              </a:rPr>
              <a:t>与门（逻辑运算）</a:t>
            </a:r>
            <a:endParaRPr kumimoji="1" lang="en-US" altLang="zh-CN" sz="2200">
              <a:latin typeface="Arial" panose="020B0604020202020204" pitchFamily="34" charset="0"/>
              <a:ea typeface="宋体" panose="02010600030101010101" pitchFamily="2" charset="-122"/>
              <a:cs typeface="Arial" panose="020B0604020202020204" pitchFamily="34" charset="0"/>
            </a:endParaRPr>
          </a:p>
          <a:p>
            <a:endParaRPr kumimoji="1" lang="en-US" altLang="zh-CN" sz="2400">
              <a:ea typeface="宋体" panose="02010600030101010101" pitchFamily="2" charset="-122"/>
              <a:cs typeface="Arial" panose="020B0604020202020204" pitchFamily="34" charset="0"/>
            </a:endParaRPr>
          </a:p>
          <a:p>
            <a:endParaRPr kumimoji="1" lang="en-US" altLang="zh-CN" sz="2400">
              <a:ea typeface="宋体" panose="02010600030101010101" pitchFamily="2" charset="-122"/>
              <a:cs typeface="Arial" panose="020B0604020202020204" pitchFamily="34" charset="0"/>
            </a:endParaRPr>
          </a:p>
          <a:p>
            <a:endParaRPr kumimoji="1" lang="zh-CN" altLang="en-US" sz="2400">
              <a:ea typeface="宋体" panose="02010600030101010101" pitchFamily="2" charset="-122"/>
              <a:cs typeface="Arial" panose="020B0604020202020204" pitchFamily="34" charset="0"/>
            </a:endParaRPr>
          </a:p>
          <a:p>
            <a:endParaRPr kumimoji="1" lang="zh-CN" altLang="en-US">
              <a:ea typeface="宋体" panose="02010600030101010101" pitchFamily="2" charset="-122"/>
              <a:cs typeface="Arial" panose="020B0604020202020204" pitchFamily="34" charset="0"/>
            </a:endParaRPr>
          </a:p>
        </p:txBody>
      </p:sp>
      <p:sp>
        <p:nvSpPr>
          <p:cNvPr id="48131" name="灯片编号占位符 3">
            <a:extLst>
              <a:ext uri="{FF2B5EF4-FFF2-40B4-BE49-F238E27FC236}">
                <a16:creationId xmlns:a16="http://schemas.microsoft.com/office/drawing/2014/main" id="{15EEDA7D-DD27-F177-9394-E5B43CD9CE9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DC967149-20B8-F247-BCD9-BE481322A0F1}" type="slidenum">
              <a:rPr lang="zh-CN" altLang="en-US" sz="1400" smtClean="0">
                <a:latin typeface="Times New Roman" panose="02020603050405020304" pitchFamily="18" charset="0"/>
              </a:rPr>
              <a:pPr>
                <a:spcBef>
                  <a:spcPct val="0"/>
                </a:spcBef>
                <a:buFontTx/>
                <a:buNone/>
              </a:pPr>
              <a:t>24</a:t>
            </a:fld>
            <a:endParaRPr lang="en-US" altLang="zh-CN" sz="1400">
              <a:latin typeface="Times New Roman" panose="02020603050405020304" pitchFamily="18" charset="0"/>
            </a:endParaRPr>
          </a:p>
        </p:txBody>
      </p:sp>
      <p:graphicFrame>
        <p:nvGraphicFramePr>
          <p:cNvPr id="6" name="Object 2">
            <a:extLst>
              <a:ext uri="{FF2B5EF4-FFF2-40B4-BE49-F238E27FC236}">
                <a16:creationId xmlns:a16="http://schemas.microsoft.com/office/drawing/2014/main" id="{E76D6233-EA35-52DA-F65F-0D74E423096F}"/>
              </a:ext>
            </a:extLst>
          </p:cNvPr>
          <p:cNvGraphicFramePr>
            <a:graphicFrameLocks noChangeAspect="1"/>
          </p:cNvGraphicFramePr>
          <p:nvPr/>
        </p:nvGraphicFramePr>
        <p:xfrm>
          <a:off x="304800" y="3449638"/>
          <a:ext cx="4038600" cy="2514600"/>
        </p:xfrm>
        <a:graphic>
          <a:graphicData uri="http://schemas.openxmlformats.org/presentationml/2006/ole">
            <mc:AlternateContent xmlns:mc="http://schemas.openxmlformats.org/markup-compatibility/2006">
              <mc:Choice xmlns:v="urn:schemas-microsoft-com:vml" Requires="v">
                <p:oleObj name="Picture" r:id="rId3" imgW="1752600" imgH="965200" progId="Word.Picture.8">
                  <p:embed/>
                </p:oleObj>
              </mc:Choice>
              <mc:Fallback>
                <p:oleObj name="Picture" r:id="rId3" imgW="1752600" imgH="965200" progId="Word.Picture.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449638"/>
                        <a:ext cx="4038600" cy="2514600"/>
                      </a:xfrm>
                      <a:prstGeom prst="rect">
                        <a:avLst/>
                      </a:prstGeom>
                      <a:solidFill>
                        <a:srgbClr val="D9FFE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5">
            <a:extLst>
              <a:ext uri="{FF2B5EF4-FFF2-40B4-BE49-F238E27FC236}">
                <a16:creationId xmlns:a16="http://schemas.microsoft.com/office/drawing/2014/main" id="{260F2017-3CC8-F081-D15A-608328C2E707}"/>
              </a:ext>
            </a:extLst>
          </p:cNvPr>
          <p:cNvGraphicFramePr>
            <a:graphicFrameLocks noChangeAspect="1"/>
          </p:cNvGraphicFramePr>
          <p:nvPr/>
        </p:nvGraphicFramePr>
        <p:xfrm>
          <a:off x="4724400" y="3429000"/>
          <a:ext cx="3962400" cy="2611438"/>
        </p:xfrm>
        <a:graphic>
          <a:graphicData uri="http://schemas.openxmlformats.org/presentationml/2006/ole">
            <mc:AlternateContent xmlns:mc="http://schemas.openxmlformats.org/markup-compatibility/2006">
              <mc:Choice xmlns:v="urn:schemas-microsoft-com:vml" Requires="v">
                <p:oleObj r:id="rId5" imgW="1193800" imgH="1130300" progId="Word.Document.8">
                  <p:embed/>
                </p:oleObj>
              </mc:Choice>
              <mc:Fallback>
                <p:oleObj r:id="rId5" imgW="1193800" imgH="1130300" progId="Word.Document.8">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r="10204" b="14706"/>
                      <a:stretch>
                        <a:fillRect/>
                      </a:stretch>
                    </p:blipFill>
                    <p:spPr bwMode="auto">
                      <a:xfrm>
                        <a:off x="4724400" y="3429000"/>
                        <a:ext cx="3962400" cy="261143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8" name="Text Box 7">
            <a:extLst>
              <a:ext uri="{FF2B5EF4-FFF2-40B4-BE49-F238E27FC236}">
                <a16:creationId xmlns:a16="http://schemas.microsoft.com/office/drawing/2014/main" id="{0EE50217-68DD-0046-4061-7283B7C23813}"/>
              </a:ext>
            </a:extLst>
          </p:cNvPr>
          <p:cNvSpPr txBox="1">
            <a:spLocks noChangeArrowheads="1"/>
          </p:cNvSpPr>
          <p:nvPr/>
        </p:nvSpPr>
        <p:spPr bwMode="auto">
          <a:xfrm>
            <a:off x="7658100" y="2736850"/>
            <a:ext cx="1295400" cy="5794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en-US" altLang="zh-CN" sz="3200">
                <a:latin typeface="Times New Roman" panose="02020603050405020304" pitchFamily="18" charset="0"/>
              </a:rPr>
              <a:t>Y=AB</a:t>
            </a:r>
            <a:endParaRPr kumimoji="1" lang="en-US" altLang="zh-CN"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out)">
                                      <p:cBhvr>
                                        <p:cTn id="7" dur="500"/>
                                        <p:tgtEl>
                                          <p:spTgt spid="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out)">
                                      <p:cBhvr>
                                        <p:cTn id="17" dur="500"/>
                                        <p:tgtEl>
                                          <p:spTgt spid="8"/>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a:extLst>
              <a:ext uri="{FF2B5EF4-FFF2-40B4-BE49-F238E27FC236}">
                <a16:creationId xmlns:a16="http://schemas.microsoft.com/office/drawing/2014/main" id="{24DA26DA-0BA0-5A88-5D13-674149AE7839}"/>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49154" name="内容占位符 2">
            <a:extLst>
              <a:ext uri="{FF2B5EF4-FFF2-40B4-BE49-F238E27FC236}">
                <a16:creationId xmlns:a16="http://schemas.microsoft.com/office/drawing/2014/main" id="{E4698FD4-21FE-C8DF-AE5A-8BFE405C0784}"/>
              </a:ext>
            </a:extLst>
          </p:cNvPr>
          <p:cNvSpPr>
            <a:spLocks noGrp="1" noChangeArrowheads="1"/>
          </p:cNvSpPr>
          <p:nvPr>
            <p:ph idx="1"/>
          </p:nvPr>
        </p:nvSpPr>
        <p:spPr/>
        <p:txBody>
          <a:bodyPr/>
          <a:lstStyle/>
          <a:p>
            <a:r>
              <a:rPr kumimoji="1" lang="en-US" altLang="zh-CN" sz="2400">
                <a:latin typeface="Arial" panose="020B0604020202020204" pitchFamily="34" charset="0"/>
                <a:ea typeface="宋体" panose="02010600030101010101" pitchFamily="2" charset="-122"/>
                <a:cs typeface="Arial" panose="020B0604020202020204" pitchFamily="34" charset="0"/>
              </a:rPr>
              <a:t>1</a:t>
            </a:r>
            <a:r>
              <a:rPr kumimoji="1" lang="zh-CN" altLang="en-US" sz="2400">
                <a:latin typeface="Arial" panose="020B0604020202020204" pitchFamily="34" charset="0"/>
                <a:ea typeface="宋体" panose="02010600030101010101" pitchFamily="2" charset="-122"/>
                <a:cs typeface="Arial" panose="020B0604020202020204" pitchFamily="34" charset="0"/>
              </a:rPr>
              <a:t>）物理：</a:t>
            </a:r>
            <a:r>
              <a:rPr kumimoji="1" lang="en-US" altLang="zh-CN" sz="2400">
                <a:latin typeface="Arial" panose="020B0604020202020204" pitchFamily="34" charset="0"/>
                <a:ea typeface="宋体" panose="02010600030101010101" pitchFamily="2" charset="-122"/>
                <a:cs typeface="Arial" panose="020B0604020202020204" pitchFamily="34" charset="0"/>
              </a:rPr>
              <a:t>PN</a:t>
            </a:r>
            <a:r>
              <a:rPr kumimoji="1" lang="zh-CN" altLang="en-US" sz="2400">
                <a:latin typeface="Arial" panose="020B0604020202020204" pitchFamily="34" charset="0"/>
                <a:ea typeface="宋体" panose="02010600030101010101" pitchFamily="2" charset="-122"/>
                <a:cs typeface="Arial" panose="020B0604020202020204" pitchFamily="34" charset="0"/>
              </a:rPr>
              <a:t>结</a:t>
            </a:r>
            <a:r>
              <a:rPr kumimoji="1" lang="en-US" altLang="zh-CN" sz="2400">
                <a:latin typeface="Arial" panose="020B0604020202020204" pitchFamily="34" charset="0"/>
                <a:ea typeface="宋体" panose="02010600030101010101" pitchFamily="2" charset="-122"/>
                <a:cs typeface="Arial" panose="020B0604020202020204" pitchFamily="34" charset="0"/>
              </a:rPr>
              <a:t>-&gt;</a:t>
            </a:r>
            <a:r>
              <a:rPr kumimoji="1" lang="zh-CN" altLang="en-US" sz="2400">
                <a:latin typeface="Arial" panose="020B0604020202020204" pitchFamily="34" charset="0"/>
                <a:ea typeface="宋体" panose="02010600030101010101" pitchFamily="2" charset="-122"/>
                <a:cs typeface="Arial" panose="020B0604020202020204" pitchFamily="34" charset="0"/>
              </a:rPr>
              <a:t>二极管</a:t>
            </a:r>
            <a:r>
              <a:rPr kumimoji="1" lang="en-US" altLang="zh-CN" sz="2400">
                <a:latin typeface="Arial" panose="020B0604020202020204" pitchFamily="34" charset="0"/>
                <a:ea typeface="宋体" panose="02010600030101010101" pitchFamily="2" charset="-122"/>
                <a:cs typeface="Arial" panose="020B0604020202020204" pitchFamily="34" charset="0"/>
              </a:rPr>
              <a:t>-&gt;</a:t>
            </a:r>
            <a:r>
              <a:rPr kumimoji="1" lang="zh-CN" altLang="en-US" sz="2400">
                <a:latin typeface="Arial" panose="020B0604020202020204" pitchFamily="34" charset="0"/>
                <a:ea typeface="宋体" panose="02010600030101010101" pitchFamily="2" charset="-122"/>
                <a:cs typeface="Arial" panose="020B0604020202020204" pitchFamily="34" charset="0"/>
              </a:rPr>
              <a:t>门电路</a:t>
            </a:r>
            <a:endParaRPr kumimoji="1" lang="en-US" altLang="zh-CN" sz="2400">
              <a:latin typeface="Arial" panose="020B0604020202020204" pitchFamily="34" charset="0"/>
              <a:ea typeface="宋体" panose="02010600030101010101" pitchFamily="2" charset="-122"/>
              <a:cs typeface="Arial" panose="020B0604020202020204" pitchFamily="34" charset="0"/>
            </a:endParaRPr>
          </a:p>
          <a:p>
            <a:pPr lvl="1"/>
            <a:r>
              <a:rPr kumimoji="1" lang="zh-CN" altLang="en-US" sz="2200">
                <a:latin typeface="Arial" panose="020B0604020202020204" pitchFamily="34" charset="0"/>
                <a:ea typeface="宋体" panose="02010600030101010101" pitchFamily="2" charset="-122"/>
                <a:cs typeface="Arial" panose="020B0604020202020204" pitchFamily="34" charset="0"/>
              </a:rPr>
              <a:t>与门（逻辑运算）</a:t>
            </a:r>
            <a:endParaRPr kumimoji="1" lang="en-US" altLang="zh-CN" sz="2200">
              <a:latin typeface="Arial" panose="020B0604020202020204" pitchFamily="34" charset="0"/>
              <a:ea typeface="宋体" panose="02010600030101010101" pitchFamily="2" charset="-122"/>
              <a:cs typeface="Arial" panose="020B0604020202020204" pitchFamily="34" charset="0"/>
            </a:endParaRPr>
          </a:p>
          <a:p>
            <a:endParaRPr kumimoji="1" lang="en-US" altLang="zh-CN" sz="2400">
              <a:ea typeface="宋体" panose="02010600030101010101" pitchFamily="2" charset="-122"/>
              <a:cs typeface="Arial" panose="020B0604020202020204" pitchFamily="34" charset="0"/>
            </a:endParaRPr>
          </a:p>
          <a:p>
            <a:endParaRPr kumimoji="1" lang="en-US" altLang="zh-CN" sz="2400">
              <a:ea typeface="宋体" panose="02010600030101010101" pitchFamily="2" charset="-122"/>
              <a:cs typeface="Arial" panose="020B0604020202020204" pitchFamily="34" charset="0"/>
            </a:endParaRPr>
          </a:p>
          <a:p>
            <a:endParaRPr kumimoji="1" lang="zh-CN" altLang="en-US" sz="2400">
              <a:ea typeface="宋体" panose="02010600030101010101" pitchFamily="2" charset="-122"/>
              <a:cs typeface="Arial" panose="020B0604020202020204" pitchFamily="34" charset="0"/>
            </a:endParaRPr>
          </a:p>
          <a:p>
            <a:endParaRPr kumimoji="1" lang="zh-CN" altLang="en-US">
              <a:ea typeface="宋体" panose="02010600030101010101" pitchFamily="2" charset="-122"/>
              <a:cs typeface="Arial" panose="020B0604020202020204" pitchFamily="34" charset="0"/>
            </a:endParaRPr>
          </a:p>
        </p:txBody>
      </p:sp>
      <p:sp>
        <p:nvSpPr>
          <p:cNvPr id="49155" name="灯片编号占位符 3">
            <a:extLst>
              <a:ext uri="{FF2B5EF4-FFF2-40B4-BE49-F238E27FC236}">
                <a16:creationId xmlns:a16="http://schemas.microsoft.com/office/drawing/2014/main" id="{6B781FB6-5561-C97A-7718-AE4330CFE7D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0EDC9F06-BFA1-1942-B3EF-31747CD69AA5}" type="slidenum">
              <a:rPr lang="zh-CN" altLang="en-US" sz="1400" smtClean="0">
                <a:latin typeface="Times New Roman" panose="02020603050405020304" pitchFamily="18" charset="0"/>
              </a:rPr>
              <a:pPr>
                <a:spcBef>
                  <a:spcPct val="0"/>
                </a:spcBef>
                <a:buFontTx/>
                <a:buNone/>
              </a:pPr>
              <a:t>25</a:t>
            </a:fld>
            <a:endParaRPr lang="en-US" altLang="zh-CN" sz="1400">
              <a:latin typeface="Times New Roman" panose="02020603050405020304" pitchFamily="18" charset="0"/>
            </a:endParaRPr>
          </a:p>
        </p:txBody>
      </p:sp>
      <p:graphicFrame>
        <p:nvGraphicFramePr>
          <p:cNvPr id="5" name="Object 2">
            <a:extLst>
              <a:ext uri="{FF2B5EF4-FFF2-40B4-BE49-F238E27FC236}">
                <a16:creationId xmlns:a16="http://schemas.microsoft.com/office/drawing/2014/main" id="{2AF22E1A-0D2F-68EA-3227-E8D78F135AEE}"/>
              </a:ext>
            </a:extLst>
          </p:cNvPr>
          <p:cNvGraphicFramePr>
            <a:graphicFrameLocks noChangeAspect="1"/>
          </p:cNvGraphicFramePr>
          <p:nvPr/>
        </p:nvGraphicFramePr>
        <p:xfrm>
          <a:off x="280988" y="3355975"/>
          <a:ext cx="4800600" cy="2895600"/>
        </p:xfrm>
        <a:graphic>
          <a:graphicData uri="http://schemas.openxmlformats.org/presentationml/2006/ole">
            <mc:AlternateContent xmlns:mc="http://schemas.openxmlformats.org/markup-compatibility/2006">
              <mc:Choice xmlns:v="urn:schemas-microsoft-com:vml" Requires="v">
                <p:oleObj r:id="rId3" imgW="1663700" imgH="1054100" progId="Word.Picture.8">
                  <p:embed/>
                </p:oleObj>
              </mc:Choice>
              <mc:Fallback>
                <p:oleObj r:id="rId3" imgW="1663700" imgH="1054100" progId="Word.Picture.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988" y="3355975"/>
                        <a:ext cx="4800600" cy="2895600"/>
                      </a:xfrm>
                      <a:prstGeom prst="rect">
                        <a:avLst/>
                      </a:prstGeom>
                      <a:solidFill>
                        <a:srgbClr val="D9FFE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a:extLst>
              <a:ext uri="{FF2B5EF4-FFF2-40B4-BE49-F238E27FC236}">
                <a16:creationId xmlns:a16="http://schemas.microsoft.com/office/drawing/2014/main" id="{785E209C-BFA6-A116-0AA7-2D10AD8BFADC}"/>
              </a:ext>
            </a:extLst>
          </p:cNvPr>
          <p:cNvGraphicFramePr>
            <a:graphicFrameLocks noChangeAspect="1"/>
          </p:cNvGraphicFramePr>
          <p:nvPr/>
        </p:nvGraphicFramePr>
        <p:xfrm>
          <a:off x="5767388" y="3355975"/>
          <a:ext cx="2971800" cy="2873375"/>
        </p:xfrm>
        <a:graphic>
          <a:graphicData uri="http://schemas.openxmlformats.org/presentationml/2006/ole">
            <mc:AlternateContent xmlns:mc="http://schemas.openxmlformats.org/markup-compatibility/2006">
              <mc:Choice xmlns:v="urn:schemas-microsoft-com:vml" Requires="v">
                <p:oleObj r:id="rId5" imgW="1193800" imgH="1130300" progId="Word.Document.8">
                  <p:embed/>
                </p:oleObj>
              </mc:Choice>
              <mc:Fallback>
                <p:oleObj r:id="rId5" imgW="1193800" imgH="1130300" progId="Word.Document.8">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l="2998" r="35974" b="16049"/>
                      <a:stretch>
                        <a:fillRect/>
                      </a:stretch>
                    </p:blipFill>
                    <p:spPr bwMode="auto">
                      <a:xfrm>
                        <a:off x="5767388" y="3355975"/>
                        <a:ext cx="2971800" cy="2873375"/>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 name="Text Box 7">
            <a:extLst>
              <a:ext uri="{FF2B5EF4-FFF2-40B4-BE49-F238E27FC236}">
                <a16:creationId xmlns:a16="http://schemas.microsoft.com/office/drawing/2014/main" id="{714BEB4D-6D13-B2BB-DDEE-A5D6824AB33E}"/>
              </a:ext>
            </a:extLst>
          </p:cNvPr>
          <p:cNvSpPr txBox="1">
            <a:spLocks noChangeArrowheads="1"/>
          </p:cNvSpPr>
          <p:nvPr/>
        </p:nvSpPr>
        <p:spPr bwMode="auto">
          <a:xfrm>
            <a:off x="7138988" y="2663825"/>
            <a:ext cx="1447800" cy="5794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en-US" altLang="zh-CN" sz="3200">
                <a:latin typeface="Times New Roman" panose="02020603050405020304" pitchFamily="18" charset="0"/>
              </a:rPr>
              <a:t>Y=A+B</a:t>
            </a:r>
            <a:endParaRPr kumimoji="1" lang="en-US" altLang="zh-CN" sz="2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out)">
                                      <p:cBhvr>
                                        <p:cTn id="7" dur="5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out)">
                                      <p:cBhvr>
                                        <p:cTn id="17" dur="500"/>
                                        <p:tgtEl>
                                          <p:spTgt spid="7"/>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
            <a:extLst>
              <a:ext uri="{FF2B5EF4-FFF2-40B4-BE49-F238E27FC236}">
                <a16:creationId xmlns:a16="http://schemas.microsoft.com/office/drawing/2014/main" id="{6EABC6FE-CFD6-96F5-7F50-93E9D2CDA125}"/>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50178" name="内容占位符 2">
            <a:extLst>
              <a:ext uri="{FF2B5EF4-FFF2-40B4-BE49-F238E27FC236}">
                <a16:creationId xmlns:a16="http://schemas.microsoft.com/office/drawing/2014/main" id="{EC8D4BCC-A27F-2C8D-4BC0-DF01DFD9F9E7}"/>
              </a:ext>
            </a:extLst>
          </p:cNvPr>
          <p:cNvSpPr>
            <a:spLocks noGrp="1" noChangeArrowheads="1"/>
          </p:cNvSpPr>
          <p:nvPr>
            <p:ph idx="1"/>
          </p:nvPr>
        </p:nvSpPr>
        <p:spPr>
          <a:xfrm>
            <a:off x="457200" y="1600200"/>
            <a:ext cx="4419600" cy="4419600"/>
          </a:xfrm>
        </p:spPr>
        <p:txBody>
          <a:bodyPr/>
          <a:lstStyle/>
          <a:p>
            <a:r>
              <a:rPr kumimoji="1" lang="en-US" altLang="zh-CN" sz="2400">
                <a:latin typeface="Arial" panose="020B0604020202020204" pitchFamily="34" charset="0"/>
                <a:ea typeface="宋体" panose="02010600030101010101" pitchFamily="2" charset="-122"/>
                <a:cs typeface="Arial" panose="020B0604020202020204" pitchFamily="34" charset="0"/>
              </a:rPr>
              <a:t>2</a:t>
            </a:r>
            <a:r>
              <a:rPr kumimoji="1" lang="zh-CN" altLang="en-US" sz="2400">
                <a:latin typeface="Arial" panose="020B0604020202020204" pitchFamily="34" charset="0"/>
                <a:ea typeface="宋体" panose="02010600030101010101" pitchFamily="2" charset="-122"/>
                <a:cs typeface="Arial" panose="020B0604020202020204" pitchFamily="34" charset="0"/>
              </a:rPr>
              <a:t>）数字电路：门电路</a:t>
            </a:r>
            <a:r>
              <a:rPr kumimoji="1" lang="en-US" altLang="zh-CN" sz="2400">
                <a:latin typeface="Arial" panose="020B0604020202020204" pitchFamily="34" charset="0"/>
                <a:ea typeface="宋体" panose="02010600030101010101" pitchFamily="2" charset="-122"/>
                <a:cs typeface="Arial" panose="020B0604020202020204" pitchFamily="34" charset="0"/>
              </a:rPr>
              <a:t>-&gt;</a:t>
            </a:r>
            <a:r>
              <a:rPr kumimoji="1" lang="zh-CN" altLang="en-US" sz="2400">
                <a:latin typeface="Arial" panose="020B0604020202020204" pitchFamily="34" charset="0"/>
                <a:ea typeface="宋体" panose="02010600030101010101" pitchFamily="2" charset="-122"/>
                <a:cs typeface="Arial" panose="020B0604020202020204" pitchFamily="34" charset="0"/>
              </a:rPr>
              <a:t>组合逻辑电路</a:t>
            </a:r>
            <a:r>
              <a:rPr kumimoji="1" lang="en-US" altLang="zh-CN" sz="2400">
                <a:latin typeface="Arial" panose="020B0604020202020204" pitchFamily="34" charset="0"/>
                <a:ea typeface="宋体" panose="02010600030101010101" pitchFamily="2" charset="-122"/>
                <a:cs typeface="Arial" panose="020B0604020202020204" pitchFamily="34" charset="0"/>
              </a:rPr>
              <a:t>/</a:t>
            </a:r>
            <a:r>
              <a:rPr kumimoji="1" lang="zh-CN" altLang="en-US" sz="2400">
                <a:latin typeface="Arial" panose="020B0604020202020204" pitchFamily="34" charset="0"/>
                <a:ea typeface="宋体" panose="02010600030101010101" pitchFamily="2" charset="-122"/>
                <a:cs typeface="Arial" panose="020B0604020202020204" pitchFamily="34" charset="0"/>
              </a:rPr>
              <a:t>时序逻辑电路（</a:t>
            </a:r>
            <a:r>
              <a:rPr kumimoji="1" lang="en-US" altLang="zh-CN" sz="2400">
                <a:latin typeface="Arial" panose="020B0604020202020204" pitchFamily="34" charset="0"/>
                <a:ea typeface="宋体" panose="02010600030101010101" pitchFamily="2" charset="-122"/>
                <a:cs typeface="Arial" panose="020B0604020202020204" pitchFamily="34" charset="0"/>
              </a:rPr>
              <a:t>CPU</a:t>
            </a:r>
            <a:r>
              <a:rPr kumimoji="1" lang="zh-CN" altLang="en-US" sz="2400">
                <a:latin typeface="Arial" panose="020B0604020202020204" pitchFamily="34" charset="0"/>
                <a:ea typeface="宋体" panose="02010600030101010101" pitchFamily="2" charset="-122"/>
                <a:cs typeface="Arial" panose="020B0604020202020204" pitchFamily="34" charset="0"/>
              </a:rPr>
              <a:t>、寄存器、控制器</a:t>
            </a:r>
            <a:r>
              <a:rPr kumimoji="1" lang="en-US" altLang="zh-CN" sz="2400">
                <a:latin typeface="Arial" panose="020B0604020202020204" pitchFamily="34" charset="0"/>
                <a:ea typeface="宋体" panose="02010600030101010101" pitchFamily="2" charset="-122"/>
                <a:cs typeface="Arial" panose="020B0604020202020204" pitchFamily="34" charset="0"/>
              </a:rPr>
              <a:t>…</a:t>
            </a:r>
            <a:r>
              <a:rPr kumimoji="1" lang="zh-CN" altLang="en-US" sz="2400">
                <a:latin typeface="Arial" panose="020B0604020202020204" pitchFamily="34" charset="0"/>
                <a:ea typeface="宋体" panose="02010600030101010101" pitchFamily="2" charset="-122"/>
                <a:cs typeface="Arial" panose="020B0604020202020204" pitchFamily="34" charset="0"/>
              </a:rPr>
              <a:t>）</a:t>
            </a:r>
            <a:endParaRPr kumimoji="1" lang="en-US" altLang="zh-CN" sz="2400">
              <a:latin typeface="Arial" panose="020B0604020202020204" pitchFamily="34" charset="0"/>
              <a:ea typeface="宋体" panose="02010600030101010101" pitchFamily="2" charset="-122"/>
              <a:cs typeface="Arial" panose="020B0604020202020204" pitchFamily="34" charset="0"/>
            </a:endParaRPr>
          </a:p>
          <a:p>
            <a:pPr lvl="1"/>
            <a:r>
              <a:rPr kumimoji="1" lang="zh-CN" altLang="en-US" sz="2200">
                <a:latin typeface="Arial" panose="020B0604020202020204" pitchFamily="34" charset="0"/>
                <a:ea typeface="宋体" panose="02010600030101010101" pitchFamily="2" charset="-122"/>
                <a:cs typeface="Arial" panose="020B0604020202020204" pitchFamily="34" charset="0"/>
              </a:rPr>
              <a:t>组合逻辑电路：</a:t>
            </a:r>
            <a:endParaRPr kumimoji="1" lang="en-US" altLang="zh-CN" sz="2200">
              <a:latin typeface="Arial" panose="020B0604020202020204" pitchFamily="34" charset="0"/>
              <a:ea typeface="宋体" panose="02010600030101010101" pitchFamily="2" charset="-122"/>
              <a:cs typeface="Arial" panose="020B0604020202020204" pitchFamily="34" charset="0"/>
            </a:endParaRPr>
          </a:p>
          <a:p>
            <a:pPr lvl="2"/>
            <a:r>
              <a:rPr kumimoji="1" lang="zh-CN" altLang="en-US">
                <a:latin typeface="Arial" panose="020B0604020202020204" pitchFamily="34" charset="0"/>
                <a:ea typeface="宋体" panose="02010600030101010101" pitchFamily="2" charset="-122"/>
                <a:cs typeface="Arial" panose="020B0604020202020204" pitchFamily="34" charset="0"/>
              </a:rPr>
              <a:t>加法器、</a:t>
            </a:r>
            <a:r>
              <a:rPr kumimoji="1" lang="en-US" altLang="zh-CN">
                <a:latin typeface="Arial" panose="020B0604020202020204" pitchFamily="34" charset="0"/>
                <a:ea typeface="宋体" panose="02010600030101010101" pitchFamily="2" charset="-122"/>
                <a:cs typeface="Arial" panose="020B0604020202020204" pitchFamily="34" charset="0"/>
              </a:rPr>
              <a:t>ALU</a:t>
            </a:r>
            <a:r>
              <a:rPr kumimoji="1" lang="zh-CN" altLang="en-US">
                <a:latin typeface="Arial" panose="020B0604020202020204" pitchFamily="34" charset="0"/>
                <a:ea typeface="宋体" panose="02010600030101010101" pitchFamily="2" charset="-122"/>
                <a:cs typeface="Arial" panose="020B0604020202020204" pitchFamily="34" charset="0"/>
              </a:rPr>
              <a:t>、译码器</a:t>
            </a:r>
            <a:endParaRPr kumimoji="1" lang="en-US" altLang="zh-CN">
              <a:latin typeface="Arial" panose="020B0604020202020204" pitchFamily="34" charset="0"/>
              <a:ea typeface="宋体" panose="02010600030101010101" pitchFamily="2" charset="-122"/>
              <a:cs typeface="Arial" panose="020B0604020202020204" pitchFamily="34" charset="0"/>
            </a:endParaRPr>
          </a:p>
          <a:p>
            <a:pPr lvl="1"/>
            <a:r>
              <a:rPr kumimoji="1" lang="zh-CN" altLang="en-US" sz="2200">
                <a:latin typeface="Arial" panose="020B0604020202020204" pitchFamily="34" charset="0"/>
                <a:ea typeface="宋体" panose="02010600030101010101" pitchFamily="2" charset="-122"/>
                <a:cs typeface="Arial" panose="020B0604020202020204" pitchFamily="34" charset="0"/>
              </a:rPr>
              <a:t>时序逻辑电路</a:t>
            </a:r>
            <a:endParaRPr kumimoji="1" lang="en-US" altLang="zh-CN" sz="2200">
              <a:latin typeface="Arial" panose="020B0604020202020204" pitchFamily="34" charset="0"/>
              <a:ea typeface="宋体" panose="02010600030101010101" pitchFamily="2" charset="-122"/>
              <a:cs typeface="Arial" panose="020B0604020202020204" pitchFamily="34" charset="0"/>
            </a:endParaRPr>
          </a:p>
          <a:p>
            <a:pPr lvl="2"/>
            <a:r>
              <a:rPr kumimoji="1" lang="zh-CN" altLang="en-US">
                <a:latin typeface="Arial" panose="020B0604020202020204" pitchFamily="34" charset="0"/>
                <a:ea typeface="宋体" panose="02010600030101010101" pitchFamily="2" charset="-122"/>
                <a:cs typeface="Arial" panose="020B0604020202020204" pitchFamily="34" charset="0"/>
              </a:rPr>
              <a:t>寄存器、计数器</a:t>
            </a:r>
            <a:endParaRPr kumimoji="1" lang="en-US" altLang="zh-CN" sz="2400">
              <a:latin typeface="Arial" panose="020B0604020202020204" pitchFamily="34" charset="0"/>
              <a:ea typeface="宋体" panose="02010600030101010101" pitchFamily="2" charset="-122"/>
              <a:cs typeface="Arial" panose="020B0604020202020204" pitchFamily="34" charset="0"/>
            </a:endParaRPr>
          </a:p>
          <a:p>
            <a:endParaRPr kumimoji="1" lang="zh-CN" altLang="en-US">
              <a:ea typeface="宋体" panose="02010600030101010101" pitchFamily="2" charset="-122"/>
            </a:endParaRPr>
          </a:p>
        </p:txBody>
      </p:sp>
      <p:sp>
        <p:nvSpPr>
          <p:cNvPr id="50179" name="灯片编号占位符 3">
            <a:extLst>
              <a:ext uri="{FF2B5EF4-FFF2-40B4-BE49-F238E27FC236}">
                <a16:creationId xmlns:a16="http://schemas.microsoft.com/office/drawing/2014/main" id="{D7A63BBB-9344-A70F-2AD6-D40D31319B9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61E96991-B7E2-D244-8012-46F8F4EFFFA9}" type="slidenum">
              <a:rPr lang="zh-CN" altLang="en-US" sz="1400" smtClean="0">
                <a:latin typeface="Times New Roman" panose="02020603050405020304" pitchFamily="18" charset="0"/>
              </a:rPr>
              <a:pPr>
                <a:spcBef>
                  <a:spcPct val="0"/>
                </a:spcBef>
                <a:buFontTx/>
                <a:buNone/>
              </a:pPr>
              <a:t>26</a:t>
            </a:fld>
            <a:endParaRPr lang="en-US" altLang="zh-CN" sz="1400">
              <a:latin typeface="Times New Roman" panose="02020603050405020304" pitchFamily="18" charset="0"/>
            </a:endParaRPr>
          </a:p>
        </p:txBody>
      </p:sp>
      <p:sp>
        <p:nvSpPr>
          <p:cNvPr id="50180" name="矩形 4">
            <a:extLst>
              <a:ext uri="{FF2B5EF4-FFF2-40B4-BE49-F238E27FC236}">
                <a16:creationId xmlns:a16="http://schemas.microsoft.com/office/drawing/2014/main" id="{613C7BA1-7693-8379-4B4B-3BFF4DF62485}"/>
              </a:ext>
            </a:extLst>
          </p:cNvPr>
          <p:cNvSpPr>
            <a:spLocks noChangeArrowheads="1"/>
          </p:cNvSpPr>
          <p:nvPr/>
        </p:nvSpPr>
        <p:spPr bwMode="auto">
          <a:xfrm>
            <a:off x="4930775" y="1625600"/>
            <a:ext cx="4060825"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93675">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just">
              <a:spcBef>
                <a:spcPct val="0"/>
              </a:spcBef>
              <a:buFontTx/>
              <a:buNone/>
            </a:pPr>
            <a:r>
              <a:rPr lang="zh-CN" altLang="en-US" sz="2000">
                <a:latin typeface="宋体" panose="02010600030101010101" pitchFamily="2" charset="-122"/>
              </a:rPr>
              <a:t>半加器：</a:t>
            </a:r>
          </a:p>
          <a:p>
            <a:pPr algn="just">
              <a:spcBef>
                <a:spcPct val="0"/>
              </a:spcBef>
              <a:buFontTx/>
              <a:buNone/>
            </a:pPr>
            <a:r>
              <a:rPr lang="zh-CN" altLang="en-US" sz="2000">
                <a:latin typeface="宋体" panose="02010600030101010101" pitchFamily="2" charset="-122"/>
              </a:rPr>
              <a:t>不考虑进位输入时，两数码</a:t>
            </a:r>
            <a:r>
              <a:rPr lang="en-US" altLang="zh-CN" sz="2000">
                <a:latin typeface="宋体" panose="02010600030101010101" pitchFamily="2" charset="-122"/>
              </a:rPr>
              <a:t>Xn</a:t>
            </a:r>
            <a:r>
              <a:rPr lang="zh-CN" altLang="en-US" sz="2000">
                <a:latin typeface="宋体" panose="02010600030101010101" pitchFamily="2" charset="-122"/>
              </a:rPr>
              <a:t>，</a:t>
            </a:r>
            <a:r>
              <a:rPr lang="en-US" altLang="zh-CN" sz="2000">
                <a:latin typeface="宋体" panose="02010600030101010101" pitchFamily="2" charset="-122"/>
              </a:rPr>
              <a:t>Yn</a:t>
            </a:r>
            <a:r>
              <a:rPr lang="zh-CN" altLang="en-US" sz="2000">
                <a:latin typeface="宋体" panose="02010600030101010101" pitchFamily="2" charset="-122"/>
              </a:rPr>
              <a:t>相加称为半加</a:t>
            </a:r>
            <a:endParaRPr lang="en-US" altLang="zh-CN" sz="2000">
              <a:latin typeface="宋体" panose="02010600030101010101" pitchFamily="2" charset="-122"/>
            </a:endParaRPr>
          </a:p>
          <a:p>
            <a:pPr algn="just">
              <a:spcBef>
                <a:spcPct val="0"/>
              </a:spcBef>
              <a:buFontTx/>
              <a:buNone/>
            </a:pPr>
            <a:endParaRPr lang="en-US" altLang="zh-CN" sz="2000">
              <a:latin typeface="宋体" panose="02010600030101010101" pitchFamily="2" charset="-122"/>
            </a:endParaRPr>
          </a:p>
          <a:p>
            <a:pPr algn="just">
              <a:spcBef>
                <a:spcPct val="0"/>
              </a:spcBef>
              <a:buFontTx/>
              <a:buNone/>
            </a:pPr>
            <a:r>
              <a:rPr lang="en-US" altLang="zh-CN" sz="2000">
                <a:latin typeface="宋体" panose="02010600030101010101" pitchFamily="2" charset="-122"/>
              </a:rPr>
              <a:t>Hn: </a:t>
            </a:r>
            <a:r>
              <a:rPr lang="zh-CN" altLang="en-US" sz="2000">
                <a:latin typeface="宋体" panose="02010600030101010101" pitchFamily="2" charset="-122"/>
              </a:rPr>
              <a:t>本位二进制值</a:t>
            </a:r>
            <a:endParaRPr lang="en-US" altLang="zh-CN" sz="2000">
              <a:latin typeface="宋体" panose="02010600030101010101" pitchFamily="2" charset="-122"/>
            </a:endParaRPr>
          </a:p>
          <a:p>
            <a:pPr algn="just">
              <a:spcBef>
                <a:spcPct val="0"/>
              </a:spcBef>
              <a:buFontTx/>
              <a:buNone/>
            </a:pPr>
            <a:r>
              <a:rPr lang="en-US" altLang="zh-CN" sz="2000">
                <a:latin typeface="宋体" panose="02010600030101010101" pitchFamily="2" charset="-122"/>
              </a:rPr>
              <a:t>Cn: </a:t>
            </a:r>
            <a:r>
              <a:rPr lang="zh-CN" altLang="en-US" sz="2000">
                <a:latin typeface="宋体" panose="02010600030101010101" pitchFamily="2" charset="-122"/>
              </a:rPr>
              <a:t>想更高位的进位</a:t>
            </a:r>
            <a:endParaRPr lang="en-US" altLang="zh-CN" sz="2000">
              <a:latin typeface="宋体" panose="02010600030101010101" pitchFamily="2" charset="-122"/>
            </a:endParaRPr>
          </a:p>
          <a:p>
            <a:pPr algn="just">
              <a:spcBef>
                <a:spcPct val="0"/>
              </a:spcBef>
              <a:buFontTx/>
              <a:buNone/>
            </a:pPr>
            <a:r>
              <a:rPr lang="en-US" altLang="zh-CN" sz="2000">
                <a:latin typeface="宋体" panose="02010600030101010101" pitchFamily="2" charset="-122"/>
              </a:rPr>
              <a:t>Hn = Xn</a:t>
            </a:r>
            <a:r>
              <a:rPr lang="en-US" altLang="zh-CN" sz="2000">
                <a:latin typeface="Times New Roman" panose="02020603050405020304" pitchFamily="18" charset="0"/>
              </a:rPr>
              <a:t>·</a:t>
            </a:r>
            <a:r>
              <a:rPr lang="en-US" altLang="zh-CN" sz="2000">
                <a:latin typeface="宋体" panose="02010600030101010101" pitchFamily="2" charset="-122"/>
              </a:rPr>
              <a:t>Yn + Xn</a:t>
            </a:r>
            <a:r>
              <a:rPr lang="en-US" altLang="zh-CN" sz="2000">
                <a:latin typeface="Times New Roman" panose="02020603050405020304" pitchFamily="18" charset="0"/>
              </a:rPr>
              <a:t>·</a:t>
            </a:r>
            <a:r>
              <a:rPr lang="en-US" altLang="zh-CN" sz="2000">
                <a:latin typeface="宋体" panose="02010600030101010101" pitchFamily="2" charset="-122"/>
              </a:rPr>
              <a:t>Yn = Xn ⊕ Yn</a:t>
            </a:r>
          </a:p>
          <a:p>
            <a:pPr algn="just">
              <a:spcBef>
                <a:spcPct val="0"/>
              </a:spcBef>
              <a:buFontTx/>
              <a:buNone/>
            </a:pPr>
            <a:r>
              <a:rPr lang="en-US" altLang="zh-CN" sz="2000">
                <a:latin typeface="宋体" panose="02010600030101010101" pitchFamily="2" charset="-122"/>
              </a:rPr>
              <a:t>Cn = Xn</a:t>
            </a:r>
            <a:r>
              <a:rPr lang="en-US" altLang="zh-CN" sz="2000">
                <a:latin typeface="Times New Roman" panose="02020603050405020304" pitchFamily="18" charset="0"/>
              </a:rPr>
              <a:t>·</a:t>
            </a:r>
            <a:r>
              <a:rPr lang="en-US" altLang="zh-CN" sz="2000">
                <a:latin typeface="宋体" panose="02010600030101010101" pitchFamily="2" charset="-122"/>
              </a:rPr>
              <a:t>Yn </a:t>
            </a:r>
            <a:endParaRPr lang="zh-CN" altLang="en-US" sz="2000">
              <a:latin typeface="宋体" panose="02010600030101010101" pitchFamily="2" charset="-122"/>
            </a:endParaRPr>
          </a:p>
        </p:txBody>
      </p:sp>
      <p:graphicFrame>
        <p:nvGraphicFramePr>
          <p:cNvPr id="6" name="Group 40">
            <a:extLst>
              <a:ext uri="{FF2B5EF4-FFF2-40B4-BE49-F238E27FC236}">
                <a16:creationId xmlns:a16="http://schemas.microsoft.com/office/drawing/2014/main" id="{BE3C5F14-20B1-BAB3-AFEF-F32B02E02450}"/>
              </a:ext>
            </a:extLst>
          </p:cNvPr>
          <p:cNvGraphicFramePr>
            <a:graphicFrameLocks noGrp="1"/>
          </p:cNvGraphicFramePr>
          <p:nvPr/>
        </p:nvGraphicFramePr>
        <p:xfrm>
          <a:off x="1631950" y="4800600"/>
          <a:ext cx="2362200" cy="1570038"/>
        </p:xfrm>
        <a:graphic>
          <a:graphicData uri="http://schemas.openxmlformats.org/drawingml/2006/table">
            <a:tbl>
              <a:tblPr/>
              <a:tblGrid>
                <a:gridCol w="1295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38107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Tahoma" pitchFamily="34" charset="0"/>
                          <a:ea typeface="宋体" pitchFamily="2" charset="-122"/>
                        </a:rPr>
                        <a:t>  </a:t>
                      </a:r>
                      <a:r>
                        <a:rPr kumimoji="1" lang="en-US" altLang="zh-CN" sz="1800" b="1" i="0" u="none" strike="noStrike" cap="none" normalizeH="0" baseline="0" dirty="0" err="1">
                          <a:ln>
                            <a:noFill/>
                          </a:ln>
                          <a:solidFill>
                            <a:schemeClr val="tx1"/>
                          </a:solidFill>
                          <a:effectLst/>
                          <a:latin typeface="Tahoma" pitchFamily="34" charset="0"/>
                          <a:ea typeface="宋体" pitchFamily="2" charset="-122"/>
                        </a:rPr>
                        <a:t>Xn</a:t>
                      </a:r>
                      <a:r>
                        <a:rPr kumimoji="1" lang="en-US" altLang="zh-CN" sz="1800" b="1" i="0" u="none" strike="noStrike" cap="none" normalizeH="0" baseline="0" dirty="0">
                          <a:ln>
                            <a:noFill/>
                          </a:ln>
                          <a:solidFill>
                            <a:schemeClr val="tx1"/>
                          </a:solidFill>
                          <a:effectLst/>
                          <a:latin typeface="Tahoma" pitchFamily="34" charset="0"/>
                          <a:ea typeface="宋体" pitchFamily="2" charset="-122"/>
                        </a:rPr>
                        <a:t>   </a:t>
                      </a:r>
                      <a:r>
                        <a:rPr kumimoji="1" lang="en-US" altLang="zh-CN" sz="1800" b="1" i="0" u="none" strike="noStrike" cap="none" normalizeH="0" baseline="0" dirty="0" err="1">
                          <a:ln>
                            <a:noFill/>
                          </a:ln>
                          <a:solidFill>
                            <a:schemeClr val="tx1"/>
                          </a:solidFill>
                          <a:effectLst/>
                          <a:latin typeface="Tahoma" pitchFamily="34" charset="0"/>
                          <a:ea typeface="宋体" pitchFamily="2" charset="-122"/>
                        </a:rPr>
                        <a:t>Yn</a:t>
                      </a:r>
                      <a:endParaRPr kumimoji="1" lang="en-US" altLang="zh-CN" sz="1800" b="1" i="0" u="none" strike="noStrike" cap="none" normalizeH="0" baseline="0" dirty="0">
                        <a:ln>
                          <a:noFill/>
                        </a:ln>
                        <a:solidFill>
                          <a:schemeClr val="tx1"/>
                        </a:solidFill>
                        <a:effectLst/>
                        <a:latin typeface="Tahoma" pitchFamily="34" charset="0"/>
                        <a:ea typeface="宋体" pitchFamily="2" charset="-122"/>
                      </a:endParaRPr>
                    </a:p>
                  </a:txBody>
                  <a:tcPr marT="45729" marB="4572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1" i="0" u="none" strike="noStrike" cap="none" normalizeH="0" baseline="0">
                          <a:ln>
                            <a:noFill/>
                          </a:ln>
                          <a:solidFill>
                            <a:schemeClr val="tx1"/>
                          </a:solidFill>
                          <a:effectLst/>
                          <a:latin typeface="Tahoma" pitchFamily="34" charset="0"/>
                          <a:ea typeface="宋体" pitchFamily="2" charset="-122"/>
                        </a:rPr>
                        <a:t>Hn  Cn</a:t>
                      </a:r>
                    </a:p>
                  </a:txBody>
                  <a:tcPr marT="45729" marB="4572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88961">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a:ln>
                            <a:noFill/>
                          </a:ln>
                          <a:solidFill>
                            <a:schemeClr val="tx1"/>
                          </a:solidFill>
                          <a:effectLst/>
                          <a:latin typeface="Tahoma" pitchFamily="34" charset="0"/>
                          <a:ea typeface="宋体" pitchFamily="2" charset="-122"/>
                        </a:rPr>
                        <a:t>   0     0</a:t>
                      </a: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a:ln>
                            <a:noFill/>
                          </a:ln>
                          <a:solidFill>
                            <a:schemeClr val="tx1"/>
                          </a:solidFill>
                          <a:effectLst/>
                          <a:latin typeface="Tahoma" pitchFamily="34" charset="0"/>
                          <a:ea typeface="宋体" pitchFamily="2" charset="-122"/>
                        </a:rPr>
                        <a:t>   0     1</a:t>
                      </a: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a:ln>
                            <a:noFill/>
                          </a:ln>
                          <a:solidFill>
                            <a:schemeClr val="tx1"/>
                          </a:solidFill>
                          <a:effectLst/>
                          <a:latin typeface="Tahoma" pitchFamily="34" charset="0"/>
                          <a:ea typeface="宋体" pitchFamily="2" charset="-122"/>
                        </a:rPr>
                        <a:t>   1     0</a:t>
                      </a: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a:ln>
                            <a:noFill/>
                          </a:ln>
                          <a:solidFill>
                            <a:schemeClr val="tx1"/>
                          </a:solidFill>
                          <a:effectLst/>
                          <a:latin typeface="Tahoma" pitchFamily="34" charset="0"/>
                          <a:ea typeface="宋体" pitchFamily="2" charset="-122"/>
                        </a:rPr>
                        <a:t>   1     1</a:t>
                      </a:r>
                    </a:p>
                  </a:txBody>
                  <a:tcPr marT="45729" marB="45729"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Tahoma" pitchFamily="34" charset="0"/>
                          <a:ea typeface="宋体" pitchFamily="2" charset="-122"/>
                        </a:rPr>
                        <a:t> 0     0</a:t>
                      </a: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Tahoma" pitchFamily="34" charset="0"/>
                          <a:ea typeface="宋体" pitchFamily="2" charset="-122"/>
                        </a:rPr>
                        <a:t> 1     0</a:t>
                      </a: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Tahoma" pitchFamily="34" charset="0"/>
                          <a:ea typeface="宋体" pitchFamily="2" charset="-122"/>
                        </a:rPr>
                        <a:t> 1     0</a:t>
                      </a:r>
                    </a:p>
                    <a:p>
                      <a:pPr marL="0" marR="0" lvl="0" indent="0" algn="l" defTabSz="914400" rtl="0" eaLnBrk="1" fontAlgn="base" latinLnBrk="0" hangingPunct="1">
                        <a:lnSpc>
                          <a:spcPct val="10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Tahoma" pitchFamily="34" charset="0"/>
                          <a:ea typeface="宋体" pitchFamily="2" charset="-122"/>
                        </a:rPr>
                        <a:t> 0     1 </a:t>
                      </a:r>
                    </a:p>
                  </a:txBody>
                  <a:tcPr marT="45729" marB="45729"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0192" name="AutoShape 41">
            <a:extLst>
              <a:ext uri="{FF2B5EF4-FFF2-40B4-BE49-F238E27FC236}">
                <a16:creationId xmlns:a16="http://schemas.microsoft.com/office/drawing/2014/main" id="{9DFC4156-FCAB-597B-49C0-9EE3837FF889}"/>
              </a:ext>
            </a:extLst>
          </p:cNvPr>
          <p:cNvSpPr>
            <a:spLocks noChangeArrowheads="1"/>
          </p:cNvSpPr>
          <p:nvPr/>
        </p:nvSpPr>
        <p:spPr bwMode="auto">
          <a:xfrm rot="10800000">
            <a:off x="6467475" y="5064125"/>
            <a:ext cx="504825" cy="360363"/>
          </a:xfrm>
          <a:prstGeom prst="flowChartOnlineStorag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0"/>
              </a:spcBef>
              <a:buFontTx/>
              <a:buNone/>
            </a:pPr>
            <a:endParaRPr kumimoji="1" lang="zh-CN" altLang="en-US" sz="2400">
              <a:latin typeface="Tahoma" panose="020B0604030504040204" pitchFamily="34" charset="0"/>
            </a:endParaRPr>
          </a:p>
        </p:txBody>
      </p:sp>
      <p:sp>
        <p:nvSpPr>
          <p:cNvPr id="50193" name="Arc 42">
            <a:extLst>
              <a:ext uri="{FF2B5EF4-FFF2-40B4-BE49-F238E27FC236}">
                <a16:creationId xmlns:a16="http://schemas.microsoft.com/office/drawing/2014/main" id="{D23845B5-C1C7-971C-2235-BC6C0703A71C}"/>
              </a:ext>
            </a:extLst>
          </p:cNvPr>
          <p:cNvSpPr>
            <a:spLocks/>
          </p:cNvSpPr>
          <p:nvPr/>
        </p:nvSpPr>
        <p:spPr bwMode="auto">
          <a:xfrm flipH="1">
            <a:off x="6180138" y="5064125"/>
            <a:ext cx="287337" cy="339725"/>
          </a:xfrm>
          <a:custGeom>
            <a:avLst/>
            <a:gdLst>
              <a:gd name="T0" fmla="*/ 2147483646 w 21600"/>
              <a:gd name="T1" fmla="*/ 2147483646 h 28332"/>
              <a:gd name="T2" fmla="*/ 2147483646 w 21600"/>
              <a:gd name="T3" fmla="*/ 0 h 28332"/>
              <a:gd name="T4" fmla="*/ 2147483646 w 21600"/>
              <a:gd name="T5" fmla="*/ 2147483646 h 28332"/>
              <a:gd name="T6" fmla="*/ 0 60000 65536"/>
              <a:gd name="T7" fmla="*/ 0 60000 65536"/>
              <a:gd name="T8" fmla="*/ 0 60000 65536"/>
              <a:gd name="T9" fmla="*/ 0 w 21600"/>
              <a:gd name="T10" fmla="*/ 0 h 28332"/>
              <a:gd name="T11" fmla="*/ 21600 w 21600"/>
              <a:gd name="T12" fmla="*/ 28332 h 28332"/>
            </a:gdLst>
            <a:ahLst/>
            <a:cxnLst>
              <a:cxn ang="T6">
                <a:pos x="T0" y="T1"/>
              </a:cxn>
              <a:cxn ang="T7">
                <a:pos x="T2" y="T3"/>
              </a:cxn>
              <a:cxn ang="T8">
                <a:pos x="T4" y="T5"/>
              </a:cxn>
            </a:cxnLst>
            <a:rect l="T9" t="T10" r="T11" b="T12"/>
            <a:pathLst>
              <a:path w="21600" h="28332" fill="none" extrusionOk="0">
                <a:moveTo>
                  <a:pt x="6499" y="28332"/>
                </a:moveTo>
                <a:cubicBezTo>
                  <a:pt x="2343" y="24268"/>
                  <a:pt x="0" y="18700"/>
                  <a:pt x="0" y="12887"/>
                </a:cubicBezTo>
                <a:cubicBezTo>
                  <a:pt x="-1" y="8244"/>
                  <a:pt x="1495" y="3725"/>
                  <a:pt x="4265" y="-1"/>
                </a:cubicBezTo>
              </a:path>
              <a:path w="21600" h="28332" stroke="0" extrusionOk="0">
                <a:moveTo>
                  <a:pt x="6499" y="28332"/>
                </a:moveTo>
                <a:cubicBezTo>
                  <a:pt x="2343" y="24268"/>
                  <a:pt x="0" y="18700"/>
                  <a:pt x="0" y="12887"/>
                </a:cubicBezTo>
                <a:cubicBezTo>
                  <a:pt x="-1" y="8244"/>
                  <a:pt x="1495" y="3725"/>
                  <a:pt x="4265" y="-1"/>
                </a:cubicBezTo>
                <a:lnTo>
                  <a:pt x="21600" y="12887"/>
                </a:lnTo>
                <a:lnTo>
                  <a:pt x="6499" y="28332"/>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0194" name="Line 43">
            <a:extLst>
              <a:ext uri="{FF2B5EF4-FFF2-40B4-BE49-F238E27FC236}">
                <a16:creationId xmlns:a16="http://schemas.microsoft.com/office/drawing/2014/main" id="{420FA7A2-FDF0-D567-E094-52E241C8C7A5}"/>
              </a:ext>
            </a:extLst>
          </p:cNvPr>
          <p:cNvSpPr>
            <a:spLocks noChangeShapeType="1"/>
          </p:cNvSpPr>
          <p:nvPr/>
        </p:nvSpPr>
        <p:spPr bwMode="auto">
          <a:xfrm>
            <a:off x="5748338" y="5137150"/>
            <a:ext cx="79216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195" name="Line 44">
            <a:extLst>
              <a:ext uri="{FF2B5EF4-FFF2-40B4-BE49-F238E27FC236}">
                <a16:creationId xmlns:a16="http://schemas.microsoft.com/office/drawing/2014/main" id="{54DC0EE0-C8F5-2AA0-17DE-28B881F23578}"/>
              </a:ext>
            </a:extLst>
          </p:cNvPr>
          <p:cNvSpPr>
            <a:spLocks noChangeShapeType="1"/>
          </p:cNvSpPr>
          <p:nvPr/>
        </p:nvSpPr>
        <p:spPr bwMode="auto">
          <a:xfrm>
            <a:off x="5748338" y="5353050"/>
            <a:ext cx="79216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196" name="Line 45">
            <a:extLst>
              <a:ext uri="{FF2B5EF4-FFF2-40B4-BE49-F238E27FC236}">
                <a16:creationId xmlns:a16="http://schemas.microsoft.com/office/drawing/2014/main" id="{DFC4556B-E1B1-EA22-9AC1-152A266B3A22}"/>
              </a:ext>
            </a:extLst>
          </p:cNvPr>
          <p:cNvSpPr>
            <a:spLocks noChangeShapeType="1"/>
          </p:cNvSpPr>
          <p:nvPr/>
        </p:nvSpPr>
        <p:spPr bwMode="auto">
          <a:xfrm>
            <a:off x="6972300" y="5208588"/>
            <a:ext cx="50323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0197" name="Text Box 46">
            <a:extLst>
              <a:ext uri="{FF2B5EF4-FFF2-40B4-BE49-F238E27FC236}">
                <a16:creationId xmlns:a16="http://schemas.microsoft.com/office/drawing/2014/main" id="{46B66274-37DB-82A6-0420-453981801F56}"/>
              </a:ext>
            </a:extLst>
          </p:cNvPr>
          <p:cNvSpPr txBox="1">
            <a:spLocks noChangeArrowheads="1"/>
          </p:cNvSpPr>
          <p:nvPr/>
        </p:nvSpPr>
        <p:spPr bwMode="auto">
          <a:xfrm>
            <a:off x="5387975" y="4848225"/>
            <a:ext cx="647700"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en-US" altLang="zh-CN" sz="1600">
                <a:latin typeface="Tahoma" panose="020B0604030504040204" pitchFamily="34" charset="0"/>
              </a:rPr>
              <a:t>Xn</a:t>
            </a:r>
          </a:p>
          <a:p>
            <a:pPr eaLnBrk="1" hangingPunct="1">
              <a:spcBef>
                <a:spcPct val="50000"/>
              </a:spcBef>
              <a:buFontTx/>
              <a:buNone/>
            </a:pPr>
            <a:r>
              <a:rPr kumimoji="1" lang="en-US" altLang="zh-CN" sz="1600">
                <a:latin typeface="Tahoma" panose="020B0604030504040204" pitchFamily="34" charset="0"/>
              </a:rPr>
              <a:t>Yn</a:t>
            </a:r>
          </a:p>
        </p:txBody>
      </p:sp>
      <p:sp>
        <p:nvSpPr>
          <p:cNvPr id="50198" name="Text Box 47">
            <a:extLst>
              <a:ext uri="{FF2B5EF4-FFF2-40B4-BE49-F238E27FC236}">
                <a16:creationId xmlns:a16="http://schemas.microsoft.com/office/drawing/2014/main" id="{CACB517F-7CC1-EDEF-FE29-C1B28310A140}"/>
              </a:ext>
            </a:extLst>
          </p:cNvPr>
          <p:cNvSpPr txBox="1">
            <a:spLocks noChangeArrowheads="1"/>
          </p:cNvSpPr>
          <p:nvPr/>
        </p:nvSpPr>
        <p:spPr bwMode="auto">
          <a:xfrm>
            <a:off x="7188200" y="4919663"/>
            <a:ext cx="647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en-US" altLang="zh-CN" sz="1600">
                <a:latin typeface="Tahoma" panose="020B0604030504040204" pitchFamily="34" charset="0"/>
              </a:rPr>
              <a:t>Hn</a:t>
            </a:r>
          </a:p>
        </p:txBody>
      </p:sp>
      <p:sp>
        <p:nvSpPr>
          <p:cNvPr id="50199" name="AutoShape 48">
            <a:extLst>
              <a:ext uri="{FF2B5EF4-FFF2-40B4-BE49-F238E27FC236}">
                <a16:creationId xmlns:a16="http://schemas.microsoft.com/office/drawing/2014/main" id="{63AFEC95-9B06-E5A5-1D46-3351CCFBA37A}"/>
              </a:ext>
            </a:extLst>
          </p:cNvPr>
          <p:cNvSpPr>
            <a:spLocks noChangeArrowheads="1"/>
          </p:cNvSpPr>
          <p:nvPr/>
        </p:nvSpPr>
        <p:spPr bwMode="auto">
          <a:xfrm>
            <a:off x="6467475" y="5711825"/>
            <a:ext cx="503238" cy="288925"/>
          </a:xfrm>
          <a:prstGeom prst="flowChartDelay">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0"/>
              </a:spcBef>
              <a:buFontTx/>
              <a:buNone/>
            </a:pPr>
            <a:endParaRPr kumimoji="1" lang="zh-CN" altLang="en-US" sz="2400">
              <a:latin typeface="Tahoma" panose="020B0604030504040204" pitchFamily="34" charset="0"/>
            </a:endParaRPr>
          </a:p>
        </p:txBody>
      </p:sp>
      <p:sp>
        <p:nvSpPr>
          <p:cNvPr id="50200" name="Line 49">
            <a:extLst>
              <a:ext uri="{FF2B5EF4-FFF2-40B4-BE49-F238E27FC236}">
                <a16:creationId xmlns:a16="http://schemas.microsoft.com/office/drawing/2014/main" id="{E4BC706D-B0E4-A046-3423-DB2314064341}"/>
              </a:ext>
            </a:extLst>
          </p:cNvPr>
          <p:cNvSpPr>
            <a:spLocks noChangeShapeType="1"/>
          </p:cNvSpPr>
          <p:nvPr/>
        </p:nvSpPr>
        <p:spPr bwMode="auto">
          <a:xfrm>
            <a:off x="6251575" y="5784850"/>
            <a:ext cx="2159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201" name="Line 50">
            <a:extLst>
              <a:ext uri="{FF2B5EF4-FFF2-40B4-BE49-F238E27FC236}">
                <a16:creationId xmlns:a16="http://schemas.microsoft.com/office/drawing/2014/main" id="{0081BF16-6B9D-5047-A207-209AD097F954}"/>
              </a:ext>
            </a:extLst>
          </p:cNvPr>
          <p:cNvSpPr>
            <a:spLocks noChangeShapeType="1"/>
          </p:cNvSpPr>
          <p:nvPr/>
        </p:nvSpPr>
        <p:spPr bwMode="auto">
          <a:xfrm>
            <a:off x="5964238" y="5929313"/>
            <a:ext cx="503237"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0202" name="Line 51">
            <a:extLst>
              <a:ext uri="{FF2B5EF4-FFF2-40B4-BE49-F238E27FC236}">
                <a16:creationId xmlns:a16="http://schemas.microsoft.com/office/drawing/2014/main" id="{B9BE876F-7475-646F-1104-E82EE6BA119E}"/>
              </a:ext>
            </a:extLst>
          </p:cNvPr>
          <p:cNvSpPr>
            <a:spLocks noChangeShapeType="1"/>
          </p:cNvSpPr>
          <p:nvPr/>
        </p:nvSpPr>
        <p:spPr bwMode="auto">
          <a:xfrm flipV="1">
            <a:off x="6251575" y="5137150"/>
            <a:ext cx="0" cy="647700"/>
          </a:xfrm>
          <a:prstGeom prst="line">
            <a:avLst/>
          </a:prstGeom>
          <a:noFill/>
          <a:ln w="9525">
            <a:solidFill>
              <a:schemeClr val="tx1"/>
            </a:solidFill>
            <a:miter lim="800000"/>
            <a:headEnd/>
            <a:tailEnd type="oval"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0203" name="Line 52">
            <a:extLst>
              <a:ext uri="{FF2B5EF4-FFF2-40B4-BE49-F238E27FC236}">
                <a16:creationId xmlns:a16="http://schemas.microsoft.com/office/drawing/2014/main" id="{2376BE2C-0B2C-6F4B-13EE-773F118205AC}"/>
              </a:ext>
            </a:extLst>
          </p:cNvPr>
          <p:cNvSpPr>
            <a:spLocks noChangeShapeType="1"/>
          </p:cNvSpPr>
          <p:nvPr/>
        </p:nvSpPr>
        <p:spPr bwMode="auto">
          <a:xfrm flipV="1">
            <a:off x="5964238" y="5353050"/>
            <a:ext cx="0" cy="574675"/>
          </a:xfrm>
          <a:prstGeom prst="line">
            <a:avLst/>
          </a:prstGeom>
          <a:noFill/>
          <a:ln w="9525">
            <a:solidFill>
              <a:schemeClr val="tx1"/>
            </a:solidFill>
            <a:miter lim="800000"/>
            <a:headEnd/>
            <a:tailEnd type="oval"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0204" name="Line 53">
            <a:extLst>
              <a:ext uri="{FF2B5EF4-FFF2-40B4-BE49-F238E27FC236}">
                <a16:creationId xmlns:a16="http://schemas.microsoft.com/office/drawing/2014/main" id="{160048C8-012A-183E-DD69-122805AD86D8}"/>
              </a:ext>
            </a:extLst>
          </p:cNvPr>
          <p:cNvSpPr>
            <a:spLocks noChangeShapeType="1"/>
          </p:cNvSpPr>
          <p:nvPr/>
        </p:nvSpPr>
        <p:spPr bwMode="auto">
          <a:xfrm>
            <a:off x="6972300" y="5856288"/>
            <a:ext cx="50323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0205" name="Text Box 54">
            <a:extLst>
              <a:ext uri="{FF2B5EF4-FFF2-40B4-BE49-F238E27FC236}">
                <a16:creationId xmlns:a16="http://schemas.microsoft.com/office/drawing/2014/main" id="{59482863-6FDF-E672-50B0-3CAEA74BFB7E}"/>
              </a:ext>
            </a:extLst>
          </p:cNvPr>
          <p:cNvSpPr txBox="1">
            <a:spLocks noChangeArrowheads="1"/>
          </p:cNvSpPr>
          <p:nvPr/>
        </p:nvSpPr>
        <p:spPr bwMode="auto">
          <a:xfrm>
            <a:off x="7188200" y="5495925"/>
            <a:ext cx="647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en-US" altLang="zh-CN" sz="1600">
                <a:latin typeface="Tahoma" panose="020B0604030504040204" pitchFamily="34" charset="0"/>
              </a:rPr>
              <a:t>Cn</a:t>
            </a:r>
          </a:p>
        </p:txBody>
      </p:sp>
      <p:cxnSp>
        <p:nvCxnSpPr>
          <p:cNvPr id="50206" name="直线连接符 22">
            <a:extLst>
              <a:ext uri="{FF2B5EF4-FFF2-40B4-BE49-F238E27FC236}">
                <a16:creationId xmlns:a16="http://schemas.microsoft.com/office/drawing/2014/main" id="{71422B5D-F8B4-DA71-7810-AA2B15423D7E}"/>
              </a:ext>
            </a:extLst>
          </p:cNvPr>
          <p:cNvCxnSpPr>
            <a:cxnSpLocks noChangeShapeType="1"/>
          </p:cNvCxnSpPr>
          <p:nvPr/>
        </p:nvCxnSpPr>
        <p:spPr bwMode="auto">
          <a:xfrm>
            <a:off x="6180138" y="3505200"/>
            <a:ext cx="2159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0207" name="直线连接符 23">
            <a:extLst>
              <a:ext uri="{FF2B5EF4-FFF2-40B4-BE49-F238E27FC236}">
                <a16:creationId xmlns:a16="http://schemas.microsoft.com/office/drawing/2014/main" id="{5EF87806-048C-CF2D-F39D-6874D6B82633}"/>
              </a:ext>
            </a:extLst>
          </p:cNvPr>
          <p:cNvCxnSpPr>
            <a:cxnSpLocks noChangeShapeType="1"/>
          </p:cNvCxnSpPr>
          <p:nvPr/>
        </p:nvCxnSpPr>
        <p:spPr bwMode="auto">
          <a:xfrm>
            <a:off x="6794500" y="3505200"/>
            <a:ext cx="2159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a:extLst>
              <a:ext uri="{FF2B5EF4-FFF2-40B4-BE49-F238E27FC236}">
                <a16:creationId xmlns:a16="http://schemas.microsoft.com/office/drawing/2014/main" id="{4A7953B1-9ABB-43CE-0324-85255905E007}"/>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51202" name="内容占位符 2">
            <a:extLst>
              <a:ext uri="{FF2B5EF4-FFF2-40B4-BE49-F238E27FC236}">
                <a16:creationId xmlns:a16="http://schemas.microsoft.com/office/drawing/2014/main" id="{2BB713BA-E3DD-849C-2A46-DBFBC886EF14}"/>
              </a:ext>
            </a:extLst>
          </p:cNvPr>
          <p:cNvSpPr>
            <a:spLocks noGrp="1" noChangeArrowheads="1"/>
          </p:cNvSpPr>
          <p:nvPr>
            <p:ph idx="1"/>
          </p:nvPr>
        </p:nvSpPr>
        <p:spPr>
          <a:xfrm>
            <a:off x="457200" y="1600200"/>
            <a:ext cx="4038600" cy="4419600"/>
          </a:xfrm>
        </p:spPr>
        <p:txBody>
          <a:bodyPr/>
          <a:lstStyle/>
          <a:p>
            <a:r>
              <a:rPr kumimoji="1" lang="en-US" altLang="zh-CN" sz="2400">
                <a:latin typeface="Arial" panose="020B0604020202020204" pitchFamily="34" charset="0"/>
                <a:ea typeface="宋体" panose="02010600030101010101" pitchFamily="2" charset="-122"/>
                <a:cs typeface="Arial" panose="020B0604020202020204" pitchFamily="34" charset="0"/>
              </a:rPr>
              <a:t>2</a:t>
            </a:r>
            <a:r>
              <a:rPr kumimoji="1" lang="zh-CN" altLang="en-US" sz="2400">
                <a:latin typeface="Arial" panose="020B0604020202020204" pitchFamily="34" charset="0"/>
                <a:ea typeface="宋体" panose="02010600030101010101" pitchFamily="2" charset="-122"/>
                <a:cs typeface="Arial" panose="020B0604020202020204" pitchFamily="34" charset="0"/>
              </a:rPr>
              <a:t>）数字电路：门电路</a:t>
            </a:r>
            <a:r>
              <a:rPr kumimoji="1" lang="en-US" altLang="zh-CN" sz="2400">
                <a:latin typeface="Arial" panose="020B0604020202020204" pitchFamily="34" charset="0"/>
                <a:ea typeface="宋体" panose="02010600030101010101" pitchFamily="2" charset="-122"/>
                <a:cs typeface="Arial" panose="020B0604020202020204" pitchFamily="34" charset="0"/>
              </a:rPr>
              <a:t>-&gt;</a:t>
            </a:r>
            <a:r>
              <a:rPr kumimoji="1" lang="zh-CN" altLang="en-US" sz="2400">
                <a:latin typeface="Arial" panose="020B0604020202020204" pitchFamily="34" charset="0"/>
                <a:ea typeface="宋体" panose="02010600030101010101" pitchFamily="2" charset="-122"/>
                <a:cs typeface="Arial" panose="020B0604020202020204" pitchFamily="34" charset="0"/>
              </a:rPr>
              <a:t>组合逻辑电路</a:t>
            </a:r>
            <a:r>
              <a:rPr kumimoji="1" lang="en-US" altLang="zh-CN" sz="2400">
                <a:latin typeface="Arial" panose="020B0604020202020204" pitchFamily="34" charset="0"/>
                <a:ea typeface="宋体" panose="02010600030101010101" pitchFamily="2" charset="-122"/>
                <a:cs typeface="Arial" panose="020B0604020202020204" pitchFamily="34" charset="0"/>
              </a:rPr>
              <a:t>/</a:t>
            </a:r>
            <a:r>
              <a:rPr kumimoji="1" lang="zh-CN" altLang="en-US" sz="2400">
                <a:latin typeface="Arial" panose="020B0604020202020204" pitchFamily="34" charset="0"/>
                <a:ea typeface="宋体" panose="02010600030101010101" pitchFamily="2" charset="-122"/>
                <a:cs typeface="Arial" panose="020B0604020202020204" pitchFamily="34" charset="0"/>
              </a:rPr>
              <a:t>时序逻辑电路（</a:t>
            </a:r>
            <a:r>
              <a:rPr kumimoji="1" lang="en-US" altLang="zh-CN" sz="2400">
                <a:latin typeface="Arial" panose="020B0604020202020204" pitchFamily="34" charset="0"/>
                <a:ea typeface="宋体" panose="02010600030101010101" pitchFamily="2" charset="-122"/>
                <a:cs typeface="Arial" panose="020B0604020202020204" pitchFamily="34" charset="0"/>
              </a:rPr>
              <a:t>CPU</a:t>
            </a:r>
            <a:r>
              <a:rPr kumimoji="1" lang="zh-CN" altLang="en-US" sz="2400">
                <a:latin typeface="Arial" panose="020B0604020202020204" pitchFamily="34" charset="0"/>
                <a:ea typeface="宋体" panose="02010600030101010101" pitchFamily="2" charset="-122"/>
                <a:cs typeface="Arial" panose="020B0604020202020204" pitchFamily="34" charset="0"/>
              </a:rPr>
              <a:t>、寄存器、控制器</a:t>
            </a:r>
            <a:r>
              <a:rPr kumimoji="1" lang="en-US" altLang="zh-CN" sz="2400">
                <a:latin typeface="Arial" panose="020B0604020202020204" pitchFamily="34" charset="0"/>
                <a:ea typeface="宋体" panose="02010600030101010101" pitchFamily="2" charset="-122"/>
                <a:cs typeface="Arial" panose="020B0604020202020204" pitchFamily="34" charset="0"/>
              </a:rPr>
              <a:t>…</a:t>
            </a:r>
            <a:r>
              <a:rPr kumimoji="1" lang="zh-CN" altLang="en-US" sz="2400">
                <a:latin typeface="Arial" panose="020B0604020202020204" pitchFamily="34" charset="0"/>
                <a:ea typeface="宋体" panose="02010600030101010101" pitchFamily="2" charset="-122"/>
                <a:cs typeface="Arial" panose="020B0604020202020204" pitchFamily="34" charset="0"/>
              </a:rPr>
              <a:t>）</a:t>
            </a:r>
            <a:endParaRPr kumimoji="1" lang="en-US" altLang="zh-CN" sz="2400">
              <a:latin typeface="Arial" panose="020B0604020202020204" pitchFamily="34" charset="0"/>
              <a:ea typeface="宋体" panose="02010600030101010101" pitchFamily="2" charset="-122"/>
              <a:cs typeface="Arial" panose="020B0604020202020204" pitchFamily="34" charset="0"/>
            </a:endParaRPr>
          </a:p>
          <a:p>
            <a:pPr lvl="1"/>
            <a:r>
              <a:rPr kumimoji="1" lang="zh-CN" altLang="en-US" sz="2200">
                <a:latin typeface="Arial" panose="020B0604020202020204" pitchFamily="34" charset="0"/>
                <a:ea typeface="宋体" panose="02010600030101010101" pitchFamily="2" charset="-122"/>
                <a:cs typeface="Arial" panose="020B0604020202020204" pitchFamily="34" charset="0"/>
              </a:rPr>
              <a:t>时序逻辑电路举例：用与非门构造</a:t>
            </a:r>
            <a:r>
              <a:rPr kumimoji="1" lang="en-US" altLang="zh-CN" sz="2200">
                <a:latin typeface="Arial" panose="020B0604020202020204" pitchFamily="34" charset="0"/>
                <a:ea typeface="宋体" panose="02010600030101010101" pitchFamily="2" charset="-122"/>
                <a:cs typeface="Arial" panose="020B0604020202020204" pitchFamily="34" charset="0"/>
              </a:rPr>
              <a:t>RS</a:t>
            </a:r>
            <a:r>
              <a:rPr kumimoji="1" lang="zh-CN" altLang="en-US" sz="2200">
                <a:latin typeface="Arial" panose="020B0604020202020204" pitchFamily="34" charset="0"/>
                <a:ea typeface="宋体" panose="02010600030101010101" pitchFamily="2" charset="-122"/>
                <a:cs typeface="Arial" panose="020B0604020202020204" pitchFamily="34" charset="0"/>
              </a:rPr>
              <a:t>触发器</a:t>
            </a:r>
            <a:endParaRPr kumimoji="1" lang="en-US" altLang="zh-CN" sz="2200">
              <a:latin typeface="Arial" panose="020B0604020202020204" pitchFamily="34" charset="0"/>
              <a:ea typeface="宋体" panose="02010600030101010101" pitchFamily="2" charset="-122"/>
              <a:cs typeface="Arial" panose="020B0604020202020204" pitchFamily="34" charset="0"/>
            </a:endParaRPr>
          </a:p>
          <a:p>
            <a:pPr lvl="1"/>
            <a:r>
              <a:rPr kumimoji="1" lang="zh-CN" altLang="en-US" sz="2200">
                <a:latin typeface="Arial" panose="020B0604020202020204" pitchFamily="34" charset="0"/>
                <a:ea typeface="宋体" panose="02010600030101010101" pitchFamily="2" charset="-122"/>
                <a:cs typeface="Arial" panose="020B0604020202020204" pitchFamily="34" charset="0"/>
              </a:rPr>
              <a:t>具有记忆功能</a:t>
            </a:r>
            <a:endParaRPr kumimoji="1" lang="en-US" altLang="zh-CN" sz="2200">
              <a:latin typeface="Arial" panose="020B0604020202020204" pitchFamily="34" charset="0"/>
              <a:ea typeface="宋体" panose="02010600030101010101" pitchFamily="2" charset="-122"/>
              <a:cs typeface="Arial" panose="020B0604020202020204" pitchFamily="34" charset="0"/>
            </a:endParaRPr>
          </a:p>
          <a:p>
            <a:pPr lvl="2"/>
            <a:r>
              <a:rPr kumimoji="1" lang="zh-CN" altLang="en-US" sz="1800">
                <a:latin typeface="Arial" panose="020B0604020202020204" pitchFamily="34" charset="0"/>
                <a:ea typeface="宋体" panose="02010600030101010101" pitchFamily="2" charset="-122"/>
                <a:cs typeface="Arial" panose="020B0604020202020204" pitchFamily="34" charset="0"/>
              </a:rPr>
              <a:t>不断点的前提下</a:t>
            </a:r>
            <a:endParaRPr kumimoji="1" lang="en-US" altLang="zh-CN" sz="1800">
              <a:latin typeface="Arial" panose="020B0604020202020204" pitchFamily="34" charset="0"/>
              <a:ea typeface="宋体" panose="02010600030101010101" pitchFamily="2" charset="-122"/>
              <a:cs typeface="Arial" panose="020B0604020202020204" pitchFamily="34" charset="0"/>
            </a:endParaRPr>
          </a:p>
          <a:p>
            <a:endParaRPr kumimoji="1" lang="zh-CN" altLang="en-US" sz="2400">
              <a:ea typeface="宋体" panose="02010600030101010101" pitchFamily="2" charset="-122"/>
            </a:endParaRPr>
          </a:p>
          <a:p>
            <a:endParaRPr kumimoji="1" lang="zh-CN" altLang="en-US">
              <a:ea typeface="宋体" panose="02010600030101010101" pitchFamily="2" charset="-122"/>
            </a:endParaRPr>
          </a:p>
        </p:txBody>
      </p:sp>
      <p:sp>
        <p:nvSpPr>
          <p:cNvPr id="51203" name="灯片编号占位符 3">
            <a:extLst>
              <a:ext uri="{FF2B5EF4-FFF2-40B4-BE49-F238E27FC236}">
                <a16:creationId xmlns:a16="http://schemas.microsoft.com/office/drawing/2014/main" id="{D0A6D02E-3995-EB00-50A5-98A05092D7A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092E026D-A6BA-1040-A3B8-51ED0461088E}" type="slidenum">
              <a:rPr lang="zh-CN" altLang="en-US" sz="1400" smtClean="0">
                <a:latin typeface="Times New Roman" panose="02020603050405020304" pitchFamily="18" charset="0"/>
              </a:rPr>
              <a:pPr>
                <a:spcBef>
                  <a:spcPct val="0"/>
                </a:spcBef>
                <a:buFontTx/>
                <a:buNone/>
              </a:pPr>
              <a:t>27</a:t>
            </a:fld>
            <a:endParaRPr lang="en-US" altLang="zh-CN" sz="1400">
              <a:latin typeface="Times New Roman" panose="02020603050405020304" pitchFamily="18" charset="0"/>
            </a:endParaRPr>
          </a:p>
        </p:txBody>
      </p:sp>
      <p:grpSp>
        <p:nvGrpSpPr>
          <p:cNvPr id="51204" name="Group 14">
            <a:extLst>
              <a:ext uri="{FF2B5EF4-FFF2-40B4-BE49-F238E27FC236}">
                <a16:creationId xmlns:a16="http://schemas.microsoft.com/office/drawing/2014/main" id="{1416E21E-D150-4DA4-9CA0-63449095F1F4}"/>
              </a:ext>
            </a:extLst>
          </p:cNvPr>
          <p:cNvGrpSpPr>
            <a:grpSpLocks/>
          </p:cNvGrpSpPr>
          <p:nvPr/>
        </p:nvGrpSpPr>
        <p:grpSpPr bwMode="auto">
          <a:xfrm>
            <a:off x="4572000" y="1909763"/>
            <a:ext cx="4130675" cy="1200150"/>
            <a:chOff x="1983" y="416"/>
            <a:chExt cx="2602" cy="756"/>
          </a:xfrm>
        </p:grpSpPr>
        <p:sp>
          <p:nvSpPr>
            <p:cNvPr id="51206" name="Text Box 9">
              <a:extLst>
                <a:ext uri="{FF2B5EF4-FFF2-40B4-BE49-F238E27FC236}">
                  <a16:creationId xmlns:a16="http://schemas.microsoft.com/office/drawing/2014/main" id="{C2173B2C-6472-0EB6-4EB4-58E78C232861}"/>
                </a:ext>
              </a:extLst>
            </p:cNvPr>
            <p:cNvSpPr txBox="1">
              <a:spLocks noChangeArrowheads="1"/>
            </p:cNvSpPr>
            <p:nvPr/>
          </p:nvSpPr>
          <p:spPr bwMode="auto">
            <a:xfrm>
              <a:off x="1983" y="416"/>
              <a:ext cx="2602"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zh-CN" altLang="en-US" sz="2400">
                  <a:latin typeface="Tahoma" panose="020B0604030504040204" pitchFamily="34" charset="0"/>
                </a:rPr>
                <a:t>信号输出端，</a:t>
              </a:r>
              <a:r>
                <a:rPr kumimoji="1" lang="en-US" altLang="zh-CN" sz="2400">
                  <a:latin typeface="Tahoma" panose="020B0604030504040204" pitchFamily="34" charset="0"/>
                </a:rPr>
                <a:t>Q=0</a:t>
              </a:r>
              <a:r>
                <a:rPr kumimoji="1" lang="zh-CN" altLang="en-US" sz="2400">
                  <a:latin typeface="Tahoma" panose="020B0604030504040204" pitchFamily="34" charset="0"/>
                </a:rPr>
                <a:t>、</a:t>
              </a:r>
              <a:r>
                <a:rPr kumimoji="1" lang="en-US" altLang="zh-CN" sz="2400">
                  <a:latin typeface="Tahoma" panose="020B0604030504040204" pitchFamily="34" charset="0"/>
                </a:rPr>
                <a:t>Q=1</a:t>
              </a:r>
              <a:r>
                <a:rPr kumimoji="1" lang="zh-CN" altLang="en-US" sz="2400">
                  <a:latin typeface="Tahoma" panose="020B0604030504040204" pitchFamily="34" charset="0"/>
                </a:rPr>
                <a:t>的状态称</a:t>
              </a:r>
              <a:r>
                <a:rPr kumimoji="1" lang="en-US" altLang="zh-CN" sz="2400">
                  <a:latin typeface="Tahoma" panose="020B0604030504040204" pitchFamily="34" charset="0"/>
                </a:rPr>
                <a:t>0</a:t>
              </a:r>
              <a:r>
                <a:rPr kumimoji="1" lang="zh-CN" altLang="en-US" sz="2400">
                  <a:latin typeface="Tahoma" panose="020B0604030504040204" pitchFamily="34" charset="0"/>
                </a:rPr>
                <a:t>状态，</a:t>
              </a:r>
              <a:r>
                <a:rPr kumimoji="1" lang="en-US" altLang="zh-CN" sz="2400">
                  <a:latin typeface="Tahoma" panose="020B0604030504040204" pitchFamily="34" charset="0"/>
                </a:rPr>
                <a:t>Q=1</a:t>
              </a:r>
              <a:r>
                <a:rPr kumimoji="1" lang="zh-CN" altLang="en-US" sz="2400">
                  <a:latin typeface="Tahoma" panose="020B0604030504040204" pitchFamily="34" charset="0"/>
                </a:rPr>
                <a:t>、</a:t>
              </a:r>
              <a:r>
                <a:rPr kumimoji="1" lang="en-US" altLang="zh-CN" sz="2400">
                  <a:latin typeface="Tahoma" panose="020B0604030504040204" pitchFamily="34" charset="0"/>
                </a:rPr>
                <a:t>Q=0</a:t>
              </a:r>
              <a:r>
                <a:rPr kumimoji="1" lang="zh-CN" altLang="en-US" sz="2400">
                  <a:latin typeface="Tahoma" panose="020B0604030504040204" pitchFamily="34" charset="0"/>
                </a:rPr>
                <a:t>的状态称</a:t>
              </a:r>
              <a:r>
                <a:rPr kumimoji="1" lang="en-US" altLang="zh-CN" sz="2400">
                  <a:latin typeface="Tahoma" panose="020B0604030504040204" pitchFamily="34" charset="0"/>
                </a:rPr>
                <a:t>1</a:t>
              </a:r>
              <a:r>
                <a:rPr kumimoji="1" lang="zh-CN" altLang="en-US" sz="2400">
                  <a:latin typeface="Tahoma" panose="020B0604030504040204" pitchFamily="34" charset="0"/>
                </a:rPr>
                <a:t>状态</a:t>
              </a:r>
            </a:p>
          </p:txBody>
        </p:sp>
        <p:sp>
          <p:nvSpPr>
            <p:cNvPr id="51207" name="Line 12">
              <a:extLst>
                <a:ext uri="{FF2B5EF4-FFF2-40B4-BE49-F238E27FC236}">
                  <a16:creationId xmlns:a16="http://schemas.microsoft.com/office/drawing/2014/main" id="{4E05542C-B653-375D-2301-FB94E85D1B60}"/>
                </a:ext>
              </a:extLst>
            </p:cNvPr>
            <p:cNvSpPr>
              <a:spLocks noChangeShapeType="1"/>
            </p:cNvSpPr>
            <p:nvPr/>
          </p:nvSpPr>
          <p:spPr bwMode="auto">
            <a:xfrm>
              <a:off x="3855" y="461"/>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08" name="Line 13">
              <a:extLst>
                <a:ext uri="{FF2B5EF4-FFF2-40B4-BE49-F238E27FC236}">
                  <a16:creationId xmlns:a16="http://schemas.microsoft.com/office/drawing/2014/main" id="{F349147F-56A1-4E9B-8E08-C2E9EACF84F2}"/>
                </a:ext>
              </a:extLst>
            </p:cNvPr>
            <p:cNvSpPr>
              <a:spLocks noChangeShapeType="1"/>
            </p:cNvSpPr>
            <p:nvPr/>
          </p:nvSpPr>
          <p:spPr bwMode="auto">
            <a:xfrm>
              <a:off x="3958" y="701"/>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pic>
        <p:nvPicPr>
          <p:cNvPr id="51205" name="图片 2" descr="手机屏幕截图&#10;&#10;中度可信度描述已自动生成">
            <a:extLst>
              <a:ext uri="{FF2B5EF4-FFF2-40B4-BE49-F238E27FC236}">
                <a16:creationId xmlns:a16="http://schemas.microsoft.com/office/drawing/2014/main" id="{1C62AE67-023C-F5B1-350D-586D816624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3397250"/>
            <a:ext cx="4348163"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a:extLst>
              <a:ext uri="{FF2B5EF4-FFF2-40B4-BE49-F238E27FC236}">
                <a16:creationId xmlns:a16="http://schemas.microsoft.com/office/drawing/2014/main" id="{E17E287D-1FA0-25F4-0524-4BD1AFE25BE5}"/>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52226" name="灯片编号占位符 3">
            <a:extLst>
              <a:ext uri="{FF2B5EF4-FFF2-40B4-BE49-F238E27FC236}">
                <a16:creationId xmlns:a16="http://schemas.microsoft.com/office/drawing/2014/main" id="{3CFB520B-E639-4423-31FB-6E44FDF5CB9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8ACD4552-4EC0-184E-8A24-4BD03BC75C09}" type="slidenum">
              <a:rPr lang="zh-CN" altLang="en-US" sz="1400" smtClean="0">
                <a:latin typeface="Times New Roman" panose="02020603050405020304" pitchFamily="18" charset="0"/>
              </a:rPr>
              <a:pPr>
                <a:spcBef>
                  <a:spcPct val="0"/>
                </a:spcBef>
                <a:buFontTx/>
                <a:buNone/>
              </a:pPr>
              <a:t>28</a:t>
            </a:fld>
            <a:endParaRPr lang="en-US" altLang="zh-CN" sz="1400">
              <a:latin typeface="Times New Roman" panose="02020603050405020304" pitchFamily="18" charset="0"/>
            </a:endParaRPr>
          </a:p>
        </p:txBody>
      </p:sp>
      <p:grpSp>
        <p:nvGrpSpPr>
          <p:cNvPr id="52227" name="Group 42">
            <a:extLst>
              <a:ext uri="{FF2B5EF4-FFF2-40B4-BE49-F238E27FC236}">
                <a16:creationId xmlns:a16="http://schemas.microsoft.com/office/drawing/2014/main" id="{2CCD5ADF-6DB3-EAEA-5FE6-92950D166EAE}"/>
              </a:ext>
            </a:extLst>
          </p:cNvPr>
          <p:cNvGrpSpPr>
            <a:grpSpLocks/>
          </p:cNvGrpSpPr>
          <p:nvPr/>
        </p:nvGrpSpPr>
        <p:grpSpPr bwMode="auto">
          <a:xfrm>
            <a:off x="150813" y="1960563"/>
            <a:ext cx="4267200" cy="3835400"/>
            <a:chOff x="48" y="576"/>
            <a:chExt cx="2688" cy="2416"/>
          </a:xfrm>
        </p:grpSpPr>
        <p:graphicFrame>
          <p:nvGraphicFramePr>
            <p:cNvPr id="52241" name="Object 3">
              <a:extLst>
                <a:ext uri="{FF2B5EF4-FFF2-40B4-BE49-F238E27FC236}">
                  <a16:creationId xmlns:a16="http://schemas.microsoft.com/office/drawing/2014/main" id="{D3B2D59A-DC49-8D9B-CB22-06F8DA419CBC}"/>
                </a:ext>
              </a:extLst>
            </p:cNvPr>
            <p:cNvGraphicFramePr>
              <a:graphicFrameLocks noChangeAspect="1"/>
            </p:cNvGraphicFramePr>
            <p:nvPr/>
          </p:nvGraphicFramePr>
          <p:xfrm>
            <a:off x="48" y="576"/>
            <a:ext cx="2688" cy="2416"/>
          </p:xfrm>
          <a:graphic>
            <a:graphicData uri="http://schemas.openxmlformats.org/presentationml/2006/ole">
              <mc:AlternateContent xmlns:mc="http://schemas.openxmlformats.org/markup-compatibility/2006">
                <mc:Choice xmlns:v="urn:schemas-microsoft-com:vml" Requires="v">
                  <p:oleObj name="图片" r:id="rId2" imgW="1536700" imgH="1193800" progId="Word.Picture.8">
                    <p:embed/>
                  </p:oleObj>
                </mc:Choice>
                <mc:Fallback>
                  <p:oleObj name="图片" r:id="rId2" imgW="1536700" imgH="1193800" progId="Word.Picture.8">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 y="576"/>
                          <a:ext cx="2688" cy="2416"/>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2242" name="Line 33">
              <a:extLst>
                <a:ext uri="{FF2B5EF4-FFF2-40B4-BE49-F238E27FC236}">
                  <a16:creationId xmlns:a16="http://schemas.microsoft.com/office/drawing/2014/main" id="{394915D0-F149-7B20-509C-85C4996C8319}"/>
                </a:ext>
              </a:extLst>
            </p:cNvPr>
            <p:cNvSpPr>
              <a:spLocks noChangeShapeType="1"/>
            </p:cNvSpPr>
            <p:nvPr/>
          </p:nvSpPr>
          <p:spPr bwMode="auto">
            <a:xfrm>
              <a:off x="2352" y="2090"/>
              <a:ext cx="0" cy="528"/>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3" name="Line 34">
              <a:extLst>
                <a:ext uri="{FF2B5EF4-FFF2-40B4-BE49-F238E27FC236}">
                  <a16:creationId xmlns:a16="http://schemas.microsoft.com/office/drawing/2014/main" id="{A5D585DE-4624-1DB8-6E89-7D1DF5827B2D}"/>
                </a:ext>
              </a:extLst>
            </p:cNvPr>
            <p:cNvSpPr>
              <a:spLocks noChangeShapeType="1"/>
            </p:cNvSpPr>
            <p:nvPr/>
          </p:nvSpPr>
          <p:spPr bwMode="auto">
            <a:xfrm>
              <a:off x="432" y="997"/>
              <a:ext cx="0" cy="432"/>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4" name="Line 35">
              <a:extLst>
                <a:ext uri="{FF2B5EF4-FFF2-40B4-BE49-F238E27FC236}">
                  <a16:creationId xmlns:a16="http://schemas.microsoft.com/office/drawing/2014/main" id="{95E448DB-F35A-BE2C-8A50-2769E1614DC9}"/>
                </a:ext>
              </a:extLst>
            </p:cNvPr>
            <p:cNvSpPr>
              <a:spLocks noChangeShapeType="1"/>
            </p:cNvSpPr>
            <p:nvPr/>
          </p:nvSpPr>
          <p:spPr bwMode="auto">
            <a:xfrm>
              <a:off x="240" y="2090"/>
              <a:ext cx="0" cy="528"/>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5" name="Line 36">
              <a:extLst>
                <a:ext uri="{FF2B5EF4-FFF2-40B4-BE49-F238E27FC236}">
                  <a16:creationId xmlns:a16="http://schemas.microsoft.com/office/drawing/2014/main" id="{71BC63B1-911D-BA4F-122E-DF8C631EF40C}"/>
                </a:ext>
              </a:extLst>
            </p:cNvPr>
            <p:cNvSpPr>
              <a:spLocks noChangeShapeType="1"/>
            </p:cNvSpPr>
            <p:nvPr/>
          </p:nvSpPr>
          <p:spPr bwMode="auto">
            <a:xfrm>
              <a:off x="2160" y="997"/>
              <a:ext cx="0" cy="432"/>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6" name="Freeform 37">
              <a:extLst>
                <a:ext uri="{FF2B5EF4-FFF2-40B4-BE49-F238E27FC236}">
                  <a16:creationId xmlns:a16="http://schemas.microsoft.com/office/drawing/2014/main" id="{82E61C51-BB69-FE53-9E89-2DC91F250D4D}"/>
                </a:ext>
              </a:extLst>
            </p:cNvPr>
            <p:cNvSpPr>
              <a:spLocks/>
            </p:cNvSpPr>
            <p:nvPr/>
          </p:nvSpPr>
          <p:spPr bwMode="auto">
            <a:xfrm>
              <a:off x="624" y="1296"/>
              <a:ext cx="1536" cy="1008"/>
            </a:xfrm>
            <a:custGeom>
              <a:avLst/>
              <a:gdLst>
                <a:gd name="T0" fmla="*/ 0 w 1536"/>
                <a:gd name="T1" fmla="*/ 2217 h 960"/>
                <a:gd name="T2" fmla="*/ 0 w 1536"/>
                <a:gd name="T3" fmla="*/ 2946 h 960"/>
                <a:gd name="T4" fmla="*/ 384 w 1536"/>
                <a:gd name="T5" fmla="*/ 2946 h 960"/>
                <a:gd name="T6" fmla="*/ 960 w 1536"/>
                <a:gd name="T7" fmla="*/ 0 h 960"/>
                <a:gd name="T8" fmla="*/ 1536 w 1536"/>
                <a:gd name="T9" fmla="*/ 0 h 960"/>
                <a:gd name="T10" fmla="*/ 0 60000 65536"/>
                <a:gd name="T11" fmla="*/ 0 60000 65536"/>
                <a:gd name="T12" fmla="*/ 0 60000 65536"/>
                <a:gd name="T13" fmla="*/ 0 60000 65536"/>
                <a:gd name="T14" fmla="*/ 0 60000 65536"/>
                <a:gd name="T15" fmla="*/ 0 w 1536"/>
                <a:gd name="T16" fmla="*/ 0 h 960"/>
                <a:gd name="T17" fmla="*/ 1536 w 1536"/>
                <a:gd name="T18" fmla="*/ 960 h 960"/>
              </a:gdLst>
              <a:ahLst/>
              <a:cxnLst>
                <a:cxn ang="T10">
                  <a:pos x="T0" y="T1"/>
                </a:cxn>
                <a:cxn ang="T11">
                  <a:pos x="T2" y="T3"/>
                </a:cxn>
                <a:cxn ang="T12">
                  <a:pos x="T4" y="T5"/>
                </a:cxn>
                <a:cxn ang="T13">
                  <a:pos x="T6" y="T7"/>
                </a:cxn>
                <a:cxn ang="T14">
                  <a:pos x="T8" y="T9"/>
                </a:cxn>
              </a:cxnLst>
              <a:rect l="T15" t="T16" r="T17" b="T18"/>
              <a:pathLst>
                <a:path w="1536" h="960">
                  <a:moveTo>
                    <a:pt x="0" y="720"/>
                  </a:moveTo>
                  <a:lnTo>
                    <a:pt x="0" y="960"/>
                  </a:lnTo>
                  <a:lnTo>
                    <a:pt x="384" y="960"/>
                  </a:lnTo>
                  <a:lnTo>
                    <a:pt x="960" y="0"/>
                  </a:lnTo>
                  <a:lnTo>
                    <a:pt x="1536" y="0"/>
                  </a:lnTo>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247" name="Rectangle 41">
              <a:extLst>
                <a:ext uri="{FF2B5EF4-FFF2-40B4-BE49-F238E27FC236}">
                  <a16:creationId xmlns:a16="http://schemas.microsoft.com/office/drawing/2014/main" id="{F127C4C5-46FF-DF59-338C-33880CDA4971}"/>
                </a:ext>
              </a:extLst>
            </p:cNvPr>
            <p:cNvSpPr>
              <a:spLocks noChangeArrowheads="1"/>
            </p:cNvSpPr>
            <p:nvPr/>
          </p:nvSpPr>
          <p:spPr bwMode="auto">
            <a:xfrm>
              <a:off x="487" y="2038"/>
              <a:ext cx="240"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endParaRPr kumimoji="1" lang="zh-CN" altLang="en-US" sz="2400">
                <a:latin typeface="Tahoma" panose="020B0604030504040204" pitchFamily="34" charset="0"/>
              </a:endParaRPr>
            </a:p>
          </p:txBody>
        </p:sp>
      </p:grpSp>
      <p:grpSp>
        <p:nvGrpSpPr>
          <p:cNvPr id="52228" name="Group 17">
            <a:extLst>
              <a:ext uri="{FF2B5EF4-FFF2-40B4-BE49-F238E27FC236}">
                <a16:creationId xmlns:a16="http://schemas.microsoft.com/office/drawing/2014/main" id="{0A4E15C9-E478-0EDA-D93D-88C2391DFBA8}"/>
              </a:ext>
            </a:extLst>
          </p:cNvPr>
          <p:cNvGrpSpPr>
            <a:grpSpLocks/>
          </p:cNvGrpSpPr>
          <p:nvPr/>
        </p:nvGrpSpPr>
        <p:grpSpPr bwMode="auto">
          <a:xfrm>
            <a:off x="4572000" y="1963738"/>
            <a:ext cx="4568825" cy="3862387"/>
            <a:chOff x="2833" y="578"/>
            <a:chExt cx="2878" cy="2433"/>
          </a:xfrm>
        </p:grpSpPr>
        <p:graphicFrame>
          <p:nvGraphicFramePr>
            <p:cNvPr id="52235" name="Object 2">
              <a:extLst>
                <a:ext uri="{FF2B5EF4-FFF2-40B4-BE49-F238E27FC236}">
                  <a16:creationId xmlns:a16="http://schemas.microsoft.com/office/drawing/2014/main" id="{13DE02D4-31A6-1143-DF7E-1135439F9EE2}"/>
                </a:ext>
              </a:extLst>
            </p:cNvPr>
            <p:cNvGraphicFramePr>
              <a:graphicFrameLocks noChangeAspect="1"/>
            </p:cNvGraphicFramePr>
            <p:nvPr/>
          </p:nvGraphicFramePr>
          <p:xfrm>
            <a:off x="2833" y="578"/>
            <a:ext cx="2878" cy="2433"/>
          </p:xfrm>
          <a:graphic>
            <a:graphicData uri="http://schemas.openxmlformats.org/presentationml/2006/ole">
              <mc:AlternateContent xmlns:mc="http://schemas.openxmlformats.org/markup-compatibility/2006">
                <mc:Choice xmlns:v="urn:schemas-microsoft-com:vml" Requires="v">
                  <p:oleObj name="Document" r:id="rId4" imgW="4724400" imgH="3873500" progId="Word.Document.8">
                    <p:embed/>
                  </p:oleObj>
                </mc:Choice>
                <mc:Fallback>
                  <p:oleObj name="Document" r:id="rId4" imgW="4724400" imgH="3873500" progId="Word.Document.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l="39467" t="14479" r="39262" b="57408"/>
                        <a:stretch>
                          <a:fillRect/>
                        </a:stretch>
                      </p:blipFill>
                      <p:spPr bwMode="auto">
                        <a:xfrm>
                          <a:off x="2833" y="578"/>
                          <a:ext cx="2878" cy="2433"/>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52236" name="Group 15">
              <a:extLst>
                <a:ext uri="{FF2B5EF4-FFF2-40B4-BE49-F238E27FC236}">
                  <a16:creationId xmlns:a16="http://schemas.microsoft.com/office/drawing/2014/main" id="{A8633B30-4EF8-4A2B-DFE3-9EFEE2D5CFAA}"/>
                </a:ext>
              </a:extLst>
            </p:cNvPr>
            <p:cNvGrpSpPr>
              <a:grpSpLocks/>
            </p:cNvGrpSpPr>
            <p:nvPr/>
          </p:nvGrpSpPr>
          <p:grpSpPr bwMode="auto">
            <a:xfrm>
              <a:off x="3120" y="720"/>
              <a:ext cx="960" cy="368"/>
              <a:chOff x="3120" y="720"/>
              <a:chExt cx="960" cy="368"/>
            </a:xfrm>
          </p:grpSpPr>
          <p:sp>
            <p:nvSpPr>
              <p:cNvPr id="52238" name="Text Box 12">
                <a:extLst>
                  <a:ext uri="{FF2B5EF4-FFF2-40B4-BE49-F238E27FC236}">
                    <a16:creationId xmlns:a16="http://schemas.microsoft.com/office/drawing/2014/main" id="{9314E562-3E40-F378-5F16-63CAD0D8F3C2}"/>
                  </a:ext>
                </a:extLst>
              </p:cNvPr>
              <p:cNvSpPr txBox="1">
                <a:spLocks noChangeArrowheads="1"/>
              </p:cNvSpPr>
              <p:nvPr/>
            </p:nvSpPr>
            <p:spPr bwMode="auto">
              <a:xfrm>
                <a:off x="3120" y="720"/>
                <a:ext cx="96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en-US" altLang="zh-CN" sz="3200">
                    <a:latin typeface="Tahoma" panose="020B0604030504040204" pitchFamily="34" charset="0"/>
                  </a:rPr>
                  <a:t>R      S</a:t>
                </a:r>
                <a:endParaRPr kumimoji="1" lang="en-US" altLang="zh-CN" sz="2400">
                  <a:latin typeface="Tahoma" panose="020B0604030504040204" pitchFamily="34" charset="0"/>
                </a:endParaRPr>
              </a:p>
            </p:txBody>
          </p:sp>
          <p:sp>
            <p:nvSpPr>
              <p:cNvPr id="52239" name="Line 13">
                <a:extLst>
                  <a:ext uri="{FF2B5EF4-FFF2-40B4-BE49-F238E27FC236}">
                    <a16:creationId xmlns:a16="http://schemas.microsoft.com/office/drawing/2014/main" id="{46509A47-F0AA-7E64-825F-72981CD295D3}"/>
                  </a:ext>
                </a:extLst>
              </p:cNvPr>
              <p:cNvSpPr>
                <a:spLocks noChangeShapeType="1"/>
              </p:cNvSpPr>
              <p:nvPr/>
            </p:nvSpPr>
            <p:spPr bwMode="auto">
              <a:xfrm>
                <a:off x="3168" y="779"/>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0" name="Line 14">
                <a:extLst>
                  <a:ext uri="{FF2B5EF4-FFF2-40B4-BE49-F238E27FC236}">
                    <a16:creationId xmlns:a16="http://schemas.microsoft.com/office/drawing/2014/main" id="{51AF1E6C-688F-8860-FAED-DB7F0B23B9D8}"/>
                  </a:ext>
                </a:extLst>
              </p:cNvPr>
              <p:cNvSpPr>
                <a:spLocks noChangeShapeType="1"/>
              </p:cNvSpPr>
              <p:nvPr/>
            </p:nvSpPr>
            <p:spPr bwMode="auto">
              <a:xfrm>
                <a:off x="3862" y="783"/>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2237" name="Text Box 16">
              <a:extLst>
                <a:ext uri="{FF2B5EF4-FFF2-40B4-BE49-F238E27FC236}">
                  <a16:creationId xmlns:a16="http://schemas.microsoft.com/office/drawing/2014/main" id="{5F1C624C-81A3-032C-992D-BFFB1A79C59F}"/>
                </a:ext>
              </a:extLst>
            </p:cNvPr>
            <p:cNvSpPr txBox="1">
              <a:spLocks noChangeArrowheads="1"/>
            </p:cNvSpPr>
            <p:nvPr/>
          </p:nvSpPr>
          <p:spPr bwMode="auto">
            <a:xfrm>
              <a:off x="4848" y="672"/>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en-US" altLang="zh-CN" sz="3200">
                  <a:latin typeface="Tahoma" panose="020B0604030504040204" pitchFamily="34" charset="0"/>
                </a:rPr>
                <a:t>Q</a:t>
              </a:r>
              <a:endParaRPr kumimoji="1" lang="en-US" altLang="zh-CN" sz="2400">
                <a:latin typeface="Tahoma" panose="020B0604030504040204" pitchFamily="34" charset="0"/>
              </a:endParaRPr>
            </a:p>
          </p:txBody>
        </p:sp>
      </p:grpSp>
      <p:sp>
        <p:nvSpPr>
          <p:cNvPr id="52229" name="Text Box 18">
            <a:extLst>
              <a:ext uri="{FF2B5EF4-FFF2-40B4-BE49-F238E27FC236}">
                <a16:creationId xmlns:a16="http://schemas.microsoft.com/office/drawing/2014/main" id="{FE7C4742-B39F-BE3B-06B9-63F34D029DC8}"/>
              </a:ext>
            </a:extLst>
          </p:cNvPr>
          <p:cNvSpPr txBox="1">
            <a:spLocks noChangeArrowheads="1"/>
          </p:cNvSpPr>
          <p:nvPr/>
        </p:nvSpPr>
        <p:spPr bwMode="auto">
          <a:xfrm>
            <a:off x="684213" y="5160963"/>
            <a:ext cx="609600" cy="61753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1</a:t>
            </a:r>
            <a:endParaRPr kumimoji="1" lang="en-US" altLang="zh-CN" sz="3200">
              <a:latin typeface="Tahoma" panose="020B0604030504040204" pitchFamily="34" charset="0"/>
            </a:endParaRPr>
          </a:p>
        </p:txBody>
      </p:sp>
      <p:sp>
        <p:nvSpPr>
          <p:cNvPr id="52230" name="Text Box 19">
            <a:extLst>
              <a:ext uri="{FF2B5EF4-FFF2-40B4-BE49-F238E27FC236}">
                <a16:creationId xmlns:a16="http://schemas.microsoft.com/office/drawing/2014/main" id="{1D4C496A-D75C-ADB1-BDE9-F27AFB4C3D4E}"/>
              </a:ext>
            </a:extLst>
          </p:cNvPr>
          <p:cNvSpPr txBox="1">
            <a:spLocks noChangeArrowheads="1"/>
          </p:cNvSpPr>
          <p:nvPr/>
        </p:nvSpPr>
        <p:spPr bwMode="auto">
          <a:xfrm>
            <a:off x="2894013" y="5153025"/>
            <a:ext cx="609600" cy="617538"/>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chemeClr val="accent2"/>
                </a:solidFill>
                <a:latin typeface="Tahoma" panose="020B0604030504040204" pitchFamily="34" charset="0"/>
              </a:rPr>
              <a:t>0</a:t>
            </a:r>
          </a:p>
        </p:txBody>
      </p:sp>
      <p:sp>
        <p:nvSpPr>
          <p:cNvPr id="52231" name="Text Box 20">
            <a:extLst>
              <a:ext uri="{FF2B5EF4-FFF2-40B4-BE49-F238E27FC236}">
                <a16:creationId xmlns:a16="http://schemas.microsoft.com/office/drawing/2014/main" id="{BF1D1ED5-1F4A-B3EC-3D30-1D16465DB9CD}"/>
              </a:ext>
            </a:extLst>
          </p:cNvPr>
          <p:cNvSpPr txBox="1">
            <a:spLocks noChangeArrowheads="1"/>
          </p:cNvSpPr>
          <p:nvPr/>
        </p:nvSpPr>
        <p:spPr bwMode="auto">
          <a:xfrm>
            <a:off x="989013" y="2181225"/>
            <a:ext cx="609600" cy="617538"/>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chemeClr val="accent2"/>
                </a:solidFill>
                <a:latin typeface="Tahoma" panose="020B0604030504040204" pitchFamily="34" charset="0"/>
              </a:rPr>
              <a:t>0</a:t>
            </a:r>
          </a:p>
        </p:txBody>
      </p:sp>
      <p:sp>
        <p:nvSpPr>
          <p:cNvPr id="52232" name="Text Box 21">
            <a:extLst>
              <a:ext uri="{FF2B5EF4-FFF2-40B4-BE49-F238E27FC236}">
                <a16:creationId xmlns:a16="http://schemas.microsoft.com/office/drawing/2014/main" id="{85999FB9-54F4-34B4-F646-BA8BB61212AE}"/>
              </a:ext>
            </a:extLst>
          </p:cNvPr>
          <p:cNvSpPr txBox="1">
            <a:spLocks noChangeArrowheads="1"/>
          </p:cNvSpPr>
          <p:nvPr/>
        </p:nvSpPr>
        <p:spPr bwMode="auto">
          <a:xfrm>
            <a:off x="2665413" y="2181225"/>
            <a:ext cx="609600" cy="617538"/>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1</a:t>
            </a:r>
            <a:endParaRPr kumimoji="1" lang="en-US" altLang="zh-CN" sz="3200">
              <a:latin typeface="Tahoma" panose="020B0604030504040204" pitchFamily="34" charset="0"/>
            </a:endParaRPr>
          </a:p>
        </p:txBody>
      </p:sp>
      <p:sp>
        <p:nvSpPr>
          <p:cNvPr id="52233" name="Text Box 22">
            <a:extLst>
              <a:ext uri="{FF2B5EF4-FFF2-40B4-BE49-F238E27FC236}">
                <a16:creationId xmlns:a16="http://schemas.microsoft.com/office/drawing/2014/main" id="{63CA911F-88F7-4C6D-F295-0BFBA9BD413C}"/>
              </a:ext>
            </a:extLst>
          </p:cNvPr>
          <p:cNvSpPr txBox="1">
            <a:spLocks noChangeArrowheads="1"/>
          </p:cNvSpPr>
          <p:nvPr/>
        </p:nvSpPr>
        <p:spPr bwMode="auto">
          <a:xfrm>
            <a:off x="4932363" y="2832100"/>
            <a:ext cx="1828800" cy="617538"/>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6600"/>
                </a:solidFill>
                <a:latin typeface="Tahoma" panose="020B0604030504040204" pitchFamily="34" charset="0"/>
              </a:rPr>
              <a:t>0 </a:t>
            </a:r>
            <a:r>
              <a:rPr kumimoji="1" lang="en-US" altLang="zh-CN" sz="3200">
                <a:latin typeface="Tahoma" panose="020B0604030504040204" pitchFamily="34" charset="0"/>
              </a:rPr>
              <a:t>      </a:t>
            </a:r>
            <a:r>
              <a:rPr kumimoji="1" lang="en-US" altLang="zh-CN" sz="3200">
                <a:solidFill>
                  <a:srgbClr val="CC3300"/>
                </a:solidFill>
                <a:latin typeface="Tahoma" panose="020B0604030504040204" pitchFamily="34" charset="0"/>
              </a:rPr>
              <a:t>1</a:t>
            </a:r>
            <a:endParaRPr kumimoji="1" lang="en-US" altLang="zh-CN" sz="3200">
              <a:latin typeface="Tahoma" panose="020B0604030504040204" pitchFamily="34" charset="0"/>
            </a:endParaRPr>
          </a:p>
        </p:txBody>
      </p:sp>
      <p:sp>
        <p:nvSpPr>
          <p:cNvPr id="52234" name="Text Box 23">
            <a:extLst>
              <a:ext uri="{FF2B5EF4-FFF2-40B4-BE49-F238E27FC236}">
                <a16:creationId xmlns:a16="http://schemas.microsoft.com/office/drawing/2014/main" id="{B14B46F8-EB57-6CBE-A74C-1E2603141F53}"/>
              </a:ext>
            </a:extLst>
          </p:cNvPr>
          <p:cNvSpPr txBox="1">
            <a:spLocks noChangeArrowheads="1"/>
          </p:cNvSpPr>
          <p:nvPr/>
        </p:nvSpPr>
        <p:spPr bwMode="auto">
          <a:xfrm>
            <a:off x="7694613" y="2857500"/>
            <a:ext cx="609600" cy="617538"/>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0</a:t>
            </a:r>
            <a:endParaRPr kumimoji="1" lang="en-US" altLang="zh-CN" sz="3200">
              <a:latin typeface="Tahoma" panose="020B060403050404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a:extLst>
              <a:ext uri="{FF2B5EF4-FFF2-40B4-BE49-F238E27FC236}">
                <a16:creationId xmlns:a16="http://schemas.microsoft.com/office/drawing/2014/main" id="{416653B6-75D5-5040-C34A-096483886124}"/>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53250" name="灯片编号占位符 3">
            <a:extLst>
              <a:ext uri="{FF2B5EF4-FFF2-40B4-BE49-F238E27FC236}">
                <a16:creationId xmlns:a16="http://schemas.microsoft.com/office/drawing/2014/main" id="{B970F56F-A36A-E2BC-2291-03E84004610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9E7D5686-D28C-554C-A229-A12A8873C05A}" type="slidenum">
              <a:rPr lang="zh-CN" altLang="en-US" sz="1400" smtClean="0">
                <a:latin typeface="Times New Roman" panose="02020603050405020304" pitchFamily="18" charset="0"/>
              </a:rPr>
              <a:pPr>
                <a:spcBef>
                  <a:spcPct val="0"/>
                </a:spcBef>
                <a:buFontTx/>
                <a:buNone/>
              </a:pPr>
              <a:t>29</a:t>
            </a:fld>
            <a:endParaRPr lang="en-US" altLang="zh-CN" sz="1400">
              <a:latin typeface="Times New Roman" panose="02020603050405020304" pitchFamily="18" charset="0"/>
            </a:endParaRPr>
          </a:p>
        </p:txBody>
      </p:sp>
      <p:graphicFrame>
        <p:nvGraphicFramePr>
          <p:cNvPr id="53251" name="Object 2">
            <a:extLst>
              <a:ext uri="{FF2B5EF4-FFF2-40B4-BE49-F238E27FC236}">
                <a16:creationId xmlns:a16="http://schemas.microsoft.com/office/drawing/2014/main" id="{442F0AC5-805D-F9A9-CA70-F9AAAF20D3C0}"/>
              </a:ext>
            </a:extLst>
          </p:cNvPr>
          <p:cNvGraphicFramePr>
            <a:graphicFrameLocks noChangeAspect="1"/>
          </p:cNvGraphicFramePr>
          <p:nvPr/>
        </p:nvGraphicFramePr>
        <p:xfrm>
          <a:off x="-7938" y="2057400"/>
          <a:ext cx="4267201" cy="3835400"/>
        </p:xfrm>
        <a:graphic>
          <a:graphicData uri="http://schemas.openxmlformats.org/presentationml/2006/ole">
            <mc:AlternateContent xmlns:mc="http://schemas.openxmlformats.org/markup-compatibility/2006">
              <mc:Choice xmlns:v="urn:schemas-microsoft-com:vml" Requires="v">
                <p:oleObj name="图片" r:id="rId2" imgW="1536700" imgH="1193800" progId="Word.Picture.8">
                  <p:embed/>
                </p:oleObj>
              </mc:Choice>
              <mc:Fallback>
                <p:oleObj name="图片" r:id="rId2" imgW="1536700" imgH="1193800" progId="Word.Picture.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8" y="2057400"/>
                        <a:ext cx="4267201" cy="3835400"/>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3252" name="Text Box 10">
            <a:extLst>
              <a:ext uri="{FF2B5EF4-FFF2-40B4-BE49-F238E27FC236}">
                <a16:creationId xmlns:a16="http://schemas.microsoft.com/office/drawing/2014/main" id="{9F75402B-6F6F-2BB0-F54B-896058859EFE}"/>
              </a:ext>
            </a:extLst>
          </p:cNvPr>
          <p:cNvSpPr txBox="1">
            <a:spLocks noChangeArrowheads="1"/>
          </p:cNvSpPr>
          <p:nvPr/>
        </p:nvSpPr>
        <p:spPr bwMode="auto">
          <a:xfrm>
            <a:off x="525463" y="5257800"/>
            <a:ext cx="609600" cy="617538"/>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chemeClr val="accent2"/>
                </a:solidFill>
                <a:latin typeface="Tahoma" panose="020B0604030504040204" pitchFamily="34" charset="0"/>
              </a:rPr>
              <a:t>0</a:t>
            </a:r>
          </a:p>
        </p:txBody>
      </p:sp>
      <p:sp>
        <p:nvSpPr>
          <p:cNvPr id="53253" name="Text Box 11">
            <a:extLst>
              <a:ext uri="{FF2B5EF4-FFF2-40B4-BE49-F238E27FC236}">
                <a16:creationId xmlns:a16="http://schemas.microsoft.com/office/drawing/2014/main" id="{6EA0BB0D-5BE9-CFED-5938-080B6D05EE87}"/>
              </a:ext>
            </a:extLst>
          </p:cNvPr>
          <p:cNvSpPr txBox="1">
            <a:spLocks noChangeArrowheads="1"/>
          </p:cNvSpPr>
          <p:nvPr/>
        </p:nvSpPr>
        <p:spPr bwMode="auto">
          <a:xfrm>
            <a:off x="2735263" y="5249863"/>
            <a:ext cx="609600" cy="61753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1</a:t>
            </a:r>
            <a:endParaRPr kumimoji="1" lang="en-US" altLang="zh-CN" sz="3200">
              <a:latin typeface="Tahoma" panose="020B0604030504040204" pitchFamily="34" charset="0"/>
            </a:endParaRPr>
          </a:p>
        </p:txBody>
      </p:sp>
      <p:sp>
        <p:nvSpPr>
          <p:cNvPr id="53254" name="Text Box 12">
            <a:extLst>
              <a:ext uri="{FF2B5EF4-FFF2-40B4-BE49-F238E27FC236}">
                <a16:creationId xmlns:a16="http://schemas.microsoft.com/office/drawing/2014/main" id="{C5113C34-9EFF-0FB1-F75D-7D3A98633F2F}"/>
              </a:ext>
            </a:extLst>
          </p:cNvPr>
          <p:cNvSpPr txBox="1">
            <a:spLocks noChangeArrowheads="1"/>
          </p:cNvSpPr>
          <p:nvPr/>
        </p:nvSpPr>
        <p:spPr bwMode="auto">
          <a:xfrm>
            <a:off x="830263" y="2278063"/>
            <a:ext cx="609600" cy="61753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1</a:t>
            </a:r>
            <a:endParaRPr kumimoji="1" lang="en-US" altLang="zh-CN" sz="3200">
              <a:latin typeface="Tahoma" panose="020B0604030504040204" pitchFamily="34" charset="0"/>
            </a:endParaRPr>
          </a:p>
        </p:txBody>
      </p:sp>
      <p:sp>
        <p:nvSpPr>
          <p:cNvPr id="53255" name="Text Box 13">
            <a:extLst>
              <a:ext uri="{FF2B5EF4-FFF2-40B4-BE49-F238E27FC236}">
                <a16:creationId xmlns:a16="http://schemas.microsoft.com/office/drawing/2014/main" id="{C2575306-65AA-62DF-5DB1-5D0E0C7B9B55}"/>
              </a:ext>
            </a:extLst>
          </p:cNvPr>
          <p:cNvSpPr txBox="1">
            <a:spLocks noChangeArrowheads="1"/>
          </p:cNvSpPr>
          <p:nvPr/>
        </p:nvSpPr>
        <p:spPr bwMode="auto">
          <a:xfrm>
            <a:off x="2506663" y="2278063"/>
            <a:ext cx="609600" cy="617537"/>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chemeClr val="accent2"/>
                </a:solidFill>
                <a:latin typeface="Tahoma" panose="020B0604030504040204" pitchFamily="34" charset="0"/>
              </a:rPr>
              <a:t>0</a:t>
            </a:r>
          </a:p>
        </p:txBody>
      </p:sp>
      <p:grpSp>
        <p:nvGrpSpPr>
          <p:cNvPr id="53256" name="Group 28">
            <a:extLst>
              <a:ext uri="{FF2B5EF4-FFF2-40B4-BE49-F238E27FC236}">
                <a16:creationId xmlns:a16="http://schemas.microsoft.com/office/drawing/2014/main" id="{BE5A91A7-09ED-BB09-3796-A93DEE671250}"/>
              </a:ext>
            </a:extLst>
          </p:cNvPr>
          <p:cNvGrpSpPr>
            <a:grpSpLocks/>
          </p:cNvGrpSpPr>
          <p:nvPr/>
        </p:nvGrpSpPr>
        <p:grpSpPr bwMode="auto">
          <a:xfrm>
            <a:off x="4413250" y="2060575"/>
            <a:ext cx="4568825" cy="3862388"/>
            <a:chOff x="2833" y="386"/>
            <a:chExt cx="2878" cy="2433"/>
          </a:xfrm>
        </p:grpSpPr>
        <p:grpSp>
          <p:nvGrpSpPr>
            <p:cNvPr id="53264" name="Group 3">
              <a:extLst>
                <a:ext uri="{FF2B5EF4-FFF2-40B4-BE49-F238E27FC236}">
                  <a16:creationId xmlns:a16="http://schemas.microsoft.com/office/drawing/2014/main" id="{D03A5CE2-E45A-E17C-8EB4-C12897BB35AD}"/>
                </a:ext>
              </a:extLst>
            </p:cNvPr>
            <p:cNvGrpSpPr>
              <a:grpSpLocks/>
            </p:cNvGrpSpPr>
            <p:nvPr/>
          </p:nvGrpSpPr>
          <p:grpSpPr bwMode="auto">
            <a:xfrm>
              <a:off x="2833" y="386"/>
              <a:ext cx="2878" cy="2433"/>
              <a:chOff x="2833" y="578"/>
              <a:chExt cx="2878" cy="2433"/>
            </a:xfrm>
          </p:grpSpPr>
          <p:graphicFrame>
            <p:nvGraphicFramePr>
              <p:cNvPr id="53267" name="Object 3">
                <a:extLst>
                  <a:ext uri="{FF2B5EF4-FFF2-40B4-BE49-F238E27FC236}">
                    <a16:creationId xmlns:a16="http://schemas.microsoft.com/office/drawing/2014/main" id="{1E7F1D25-9089-448A-8F50-78B0236620DB}"/>
                  </a:ext>
                </a:extLst>
              </p:cNvPr>
              <p:cNvGraphicFramePr>
                <a:graphicFrameLocks noChangeAspect="1"/>
              </p:cNvGraphicFramePr>
              <p:nvPr/>
            </p:nvGraphicFramePr>
            <p:xfrm>
              <a:off x="2833" y="578"/>
              <a:ext cx="2878" cy="2433"/>
            </p:xfrm>
            <a:graphic>
              <a:graphicData uri="http://schemas.openxmlformats.org/presentationml/2006/ole">
                <mc:AlternateContent xmlns:mc="http://schemas.openxmlformats.org/markup-compatibility/2006">
                  <mc:Choice xmlns:v="urn:schemas-microsoft-com:vml" Requires="v">
                    <p:oleObj name="文档" r:id="rId4" imgW="4394200" imgH="3708400" progId="Word.Document.8">
                      <p:embed/>
                    </p:oleObj>
                  </mc:Choice>
                  <mc:Fallback>
                    <p:oleObj name="文档" r:id="rId4" imgW="4394200" imgH="3708400" progId="Word.Documen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39467" t="14479" r="39262" b="57408"/>
                          <a:stretch>
                            <a:fillRect/>
                          </a:stretch>
                        </p:blipFill>
                        <p:spPr bwMode="auto">
                          <a:xfrm>
                            <a:off x="2833" y="578"/>
                            <a:ext cx="2878" cy="2433"/>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53268" name="Group 5">
                <a:extLst>
                  <a:ext uri="{FF2B5EF4-FFF2-40B4-BE49-F238E27FC236}">
                    <a16:creationId xmlns:a16="http://schemas.microsoft.com/office/drawing/2014/main" id="{2604CECF-96A8-122D-44CB-CCE3EAA116B4}"/>
                  </a:ext>
                </a:extLst>
              </p:cNvPr>
              <p:cNvGrpSpPr>
                <a:grpSpLocks/>
              </p:cNvGrpSpPr>
              <p:nvPr/>
            </p:nvGrpSpPr>
            <p:grpSpPr bwMode="auto">
              <a:xfrm>
                <a:off x="3120" y="720"/>
                <a:ext cx="960" cy="368"/>
                <a:chOff x="3120" y="720"/>
                <a:chExt cx="960" cy="368"/>
              </a:xfrm>
            </p:grpSpPr>
            <p:sp>
              <p:nvSpPr>
                <p:cNvPr id="53270" name="Text Box 6">
                  <a:extLst>
                    <a:ext uri="{FF2B5EF4-FFF2-40B4-BE49-F238E27FC236}">
                      <a16:creationId xmlns:a16="http://schemas.microsoft.com/office/drawing/2014/main" id="{F17036B0-7D5C-CBC5-E5ED-C5DEEA49621E}"/>
                    </a:ext>
                  </a:extLst>
                </p:cNvPr>
                <p:cNvSpPr txBox="1">
                  <a:spLocks noChangeArrowheads="1"/>
                </p:cNvSpPr>
                <p:nvPr/>
              </p:nvSpPr>
              <p:spPr bwMode="auto">
                <a:xfrm>
                  <a:off x="3120" y="720"/>
                  <a:ext cx="96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en-US" altLang="zh-CN" sz="3200">
                      <a:latin typeface="Tahoma" panose="020B0604030504040204" pitchFamily="34" charset="0"/>
                    </a:rPr>
                    <a:t>R      S</a:t>
                  </a:r>
                  <a:endParaRPr kumimoji="1" lang="en-US" altLang="zh-CN" sz="2400">
                    <a:latin typeface="Tahoma" panose="020B0604030504040204" pitchFamily="34" charset="0"/>
                  </a:endParaRPr>
                </a:p>
              </p:txBody>
            </p:sp>
            <p:sp>
              <p:nvSpPr>
                <p:cNvPr id="53271" name="Line 7">
                  <a:extLst>
                    <a:ext uri="{FF2B5EF4-FFF2-40B4-BE49-F238E27FC236}">
                      <a16:creationId xmlns:a16="http://schemas.microsoft.com/office/drawing/2014/main" id="{C54CE5EF-A85B-02E1-6DF3-C5849ACDEE6B}"/>
                    </a:ext>
                  </a:extLst>
                </p:cNvPr>
                <p:cNvSpPr>
                  <a:spLocks noChangeShapeType="1"/>
                </p:cNvSpPr>
                <p:nvPr/>
              </p:nvSpPr>
              <p:spPr bwMode="auto">
                <a:xfrm>
                  <a:off x="3168" y="779"/>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2" name="Line 8">
                  <a:extLst>
                    <a:ext uri="{FF2B5EF4-FFF2-40B4-BE49-F238E27FC236}">
                      <a16:creationId xmlns:a16="http://schemas.microsoft.com/office/drawing/2014/main" id="{6E420572-B92E-A2D4-8453-2959BBEE35E3}"/>
                    </a:ext>
                  </a:extLst>
                </p:cNvPr>
                <p:cNvSpPr>
                  <a:spLocks noChangeShapeType="1"/>
                </p:cNvSpPr>
                <p:nvPr/>
              </p:nvSpPr>
              <p:spPr bwMode="auto">
                <a:xfrm>
                  <a:off x="3862" y="783"/>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3269" name="Text Box 9">
                <a:extLst>
                  <a:ext uri="{FF2B5EF4-FFF2-40B4-BE49-F238E27FC236}">
                    <a16:creationId xmlns:a16="http://schemas.microsoft.com/office/drawing/2014/main" id="{A19AC987-CE18-C281-630F-F1041F57109C}"/>
                  </a:ext>
                </a:extLst>
              </p:cNvPr>
              <p:cNvSpPr txBox="1">
                <a:spLocks noChangeArrowheads="1"/>
              </p:cNvSpPr>
              <p:nvPr/>
            </p:nvSpPr>
            <p:spPr bwMode="auto">
              <a:xfrm>
                <a:off x="4848" y="672"/>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en-US" altLang="zh-CN" sz="3200">
                    <a:latin typeface="Tahoma" panose="020B0604030504040204" pitchFamily="34" charset="0"/>
                  </a:rPr>
                  <a:t>Q</a:t>
                </a:r>
                <a:endParaRPr kumimoji="1" lang="en-US" altLang="zh-CN" sz="2400">
                  <a:latin typeface="Tahoma" panose="020B0604030504040204" pitchFamily="34" charset="0"/>
                </a:endParaRPr>
              </a:p>
            </p:txBody>
          </p:sp>
        </p:grpSp>
        <p:sp>
          <p:nvSpPr>
            <p:cNvPr id="53265" name="Text Box 14">
              <a:extLst>
                <a:ext uri="{FF2B5EF4-FFF2-40B4-BE49-F238E27FC236}">
                  <a16:creationId xmlns:a16="http://schemas.microsoft.com/office/drawing/2014/main" id="{20FA6E3F-74C7-8E73-6DF2-D009B4644373}"/>
                </a:ext>
              </a:extLst>
            </p:cNvPr>
            <p:cNvSpPr txBox="1">
              <a:spLocks noChangeArrowheads="1"/>
            </p:cNvSpPr>
            <p:nvPr/>
          </p:nvSpPr>
          <p:spPr bwMode="auto">
            <a:xfrm>
              <a:off x="3024" y="959"/>
              <a:ext cx="115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latin typeface="Tahoma" panose="020B0604030504040204" pitchFamily="34" charset="0"/>
                </a:rPr>
                <a:t>0         1</a:t>
              </a:r>
            </a:p>
          </p:txBody>
        </p:sp>
        <p:sp>
          <p:nvSpPr>
            <p:cNvPr id="53266" name="Text Box 15">
              <a:extLst>
                <a:ext uri="{FF2B5EF4-FFF2-40B4-BE49-F238E27FC236}">
                  <a16:creationId xmlns:a16="http://schemas.microsoft.com/office/drawing/2014/main" id="{4F3DD14F-E362-FC5D-2E01-B49403CD7F70}"/>
                </a:ext>
              </a:extLst>
            </p:cNvPr>
            <p:cNvSpPr txBox="1">
              <a:spLocks noChangeArrowheads="1"/>
            </p:cNvSpPr>
            <p:nvPr/>
          </p:nvSpPr>
          <p:spPr bwMode="auto">
            <a:xfrm>
              <a:off x="4800" y="953"/>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latin typeface="Tahoma" panose="020B0604030504040204" pitchFamily="34" charset="0"/>
                </a:rPr>
                <a:t>0</a:t>
              </a:r>
            </a:p>
          </p:txBody>
        </p:sp>
      </p:grpSp>
      <p:sp>
        <p:nvSpPr>
          <p:cNvPr id="53257" name="Text Box 25">
            <a:extLst>
              <a:ext uri="{FF2B5EF4-FFF2-40B4-BE49-F238E27FC236}">
                <a16:creationId xmlns:a16="http://schemas.microsoft.com/office/drawing/2014/main" id="{1B0D7753-9EEF-4831-E0EB-CCC4B0FBD428}"/>
              </a:ext>
            </a:extLst>
          </p:cNvPr>
          <p:cNvSpPr txBox="1">
            <a:spLocks noChangeArrowheads="1"/>
          </p:cNvSpPr>
          <p:nvPr/>
        </p:nvSpPr>
        <p:spPr bwMode="auto">
          <a:xfrm>
            <a:off x="4716463" y="3684588"/>
            <a:ext cx="1828800" cy="61753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1</a:t>
            </a:r>
            <a:r>
              <a:rPr kumimoji="1" lang="en-US" altLang="zh-CN" sz="3200">
                <a:latin typeface="Tahoma" panose="020B0604030504040204" pitchFamily="34" charset="0"/>
              </a:rPr>
              <a:t>         </a:t>
            </a:r>
            <a:r>
              <a:rPr kumimoji="1" lang="en-US" altLang="zh-CN" sz="3200">
                <a:solidFill>
                  <a:srgbClr val="CC3300"/>
                </a:solidFill>
                <a:latin typeface="Tahoma" panose="020B0604030504040204" pitchFamily="34" charset="0"/>
              </a:rPr>
              <a:t>0</a:t>
            </a:r>
            <a:endParaRPr kumimoji="1" lang="en-US" altLang="zh-CN" sz="3200">
              <a:latin typeface="Tahoma" panose="020B0604030504040204" pitchFamily="34" charset="0"/>
            </a:endParaRPr>
          </a:p>
        </p:txBody>
      </p:sp>
      <p:sp>
        <p:nvSpPr>
          <p:cNvPr id="53258" name="Text Box 26">
            <a:extLst>
              <a:ext uri="{FF2B5EF4-FFF2-40B4-BE49-F238E27FC236}">
                <a16:creationId xmlns:a16="http://schemas.microsoft.com/office/drawing/2014/main" id="{D27FB3EC-9257-3964-7066-DFAC248A591F}"/>
              </a:ext>
            </a:extLst>
          </p:cNvPr>
          <p:cNvSpPr txBox="1">
            <a:spLocks noChangeArrowheads="1"/>
          </p:cNvSpPr>
          <p:nvPr/>
        </p:nvSpPr>
        <p:spPr bwMode="auto">
          <a:xfrm>
            <a:off x="7535863" y="3675063"/>
            <a:ext cx="609600" cy="61753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1</a:t>
            </a:r>
            <a:endParaRPr kumimoji="1" lang="en-US" altLang="zh-CN" sz="3200">
              <a:latin typeface="Tahoma" panose="020B0604030504040204" pitchFamily="34" charset="0"/>
            </a:endParaRPr>
          </a:p>
        </p:txBody>
      </p:sp>
      <p:sp>
        <p:nvSpPr>
          <p:cNvPr id="53259" name="Line 29">
            <a:extLst>
              <a:ext uri="{FF2B5EF4-FFF2-40B4-BE49-F238E27FC236}">
                <a16:creationId xmlns:a16="http://schemas.microsoft.com/office/drawing/2014/main" id="{85B217DA-7175-10D8-E92D-601C0DD4BA39}"/>
              </a:ext>
            </a:extLst>
          </p:cNvPr>
          <p:cNvSpPr>
            <a:spLocks noChangeShapeType="1"/>
          </p:cNvSpPr>
          <p:nvPr/>
        </p:nvSpPr>
        <p:spPr bwMode="auto">
          <a:xfrm>
            <a:off x="3649663" y="4495800"/>
            <a:ext cx="0" cy="7620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0" name="Line 30">
            <a:extLst>
              <a:ext uri="{FF2B5EF4-FFF2-40B4-BE49-F238E27FC236}">
                <a16:creationId xmlns:a16="http://schemas.microsoft.com/office/drawing/2014/main" id="{DDB33380-FF1F-63B2-7E0B-BD40D859F61B}"/>
              </a:ext>
            </a:extLst>
          </p:cNvPr>
          <p:cNvSpPr>
            <a:spLocks noChangeShapeType="1"/>
          </p:cNvSpPr>
          <p:nvPr/>
        </p:nvSpPr>
        <p:spPr bwMode="auto">
          <a:xfrm>
            <a:off x="601663" y="2743200"/>
            <a:ext cx="0" cy="668338"/>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1" name="Line 31">
            <a:extLst>
              <a:ext uri="{FF2B5EF4-FFF2-40B4-BE49-F238E27FC236}">
                <a16:creationId xmlns:a16="http://schemas.microsoft.com/office/drawing/2014/main" id="{41D8526A-2FC9-6546-D0D0-592C2E332D03}"/>
              </a:ext>
            </a:extLst>
          </p:cNvPr>
          <p:cNvSpPr>
            <a:spLocks noChangeShapeType="1"/>
          </p:cNvSpPr>
          <p:nvPr/>
        </p:nvSpPr>
        <p:spPr bwMode="auto">
          <a:xfrm>
            <a:off x="3344863" y="2743200"/>
            <a:ext cx="0" cy="668338"/>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2" name="Line 32">
            <a:extLst>
              <a:ext uri="{FF2B5EF4-FFF2-40B4-BE49-F238E27FC236}">
                <a16:creationId xmlns:a16="http://schemas.microsoft.com/office/drawing/2014/main" id="{7E2CB53D-DF9A-E65F-0CC9-EB2599C10B87}"/>
              </a:ext>
            </a:extLst>
          </p:cNvPr>
          <p:cNvSpPr>
            <a:spLocks noChangeShapeType="1"/>
          </p:cNvSpPr>
          <p:nvPr/>
        </p:nvSpPr>
        <p:spPr bwMode="auto">
          <a:xfrm>
            <a:off x="296863" y="4495800"/>
            <a:ext cx="0" cy="7620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3" name="Freeform 33">
            <a:extLst>
              <a:ext uri="{FF2B5EF4-FFF2-40B4-BE49-F238E27FC236}">
                <a16:creationId xmlns:a16="http://schemas.microsoft.com/office/drawing/2014/main" id="{812C347C-7512-3208-E14B-1FEC8D749232}"/>
              </a:ext>
            </a:extLst>
          </p:cNvPr>
          <p:cNvSpPr>
            <a:spLocks/>
          </p:cNvSpPr>
          <p:nvPr/>
        </p:nvSpPr>
        <p:spPr bwMode="auto">
          <a:xfrm>
            <a:off x="601663" y="3241675"/>
            <a:ext cx="2438400" cy="1524000"/>
          </a:xfrm>
          <a:custGeom>
            <a:avLst/>
            <a:gdLst>
              <a:gd name="T0" fmla="*/ 0 w 1536"/>
              <a:gd name="T1" fmla="*/ 0 h 1008"/>
              <a:gd name="T2" fmla="*/ 2147483646 w 1536"/>
              <a:gd name="T3" fmla="*/ 0 h 1008"/>
              <a:gd name="T4" fmla="*/ 2147483646 w 1536"/>
              <a:gd name="T5" fmla="*/ 2147483646 h 1008"/>
              <a:gd name="T6" fmla="*/ 2147483646 w 1536"/>
              <a:gd name="T7" fmla="*/ 2147483646 h 1008"/>
              <a:gd name="T8" fmla="*/ 2147483646 w 1536"/>
              <a:gd name="T9" fmla="*/ 2147483646 h 1008"/>
              <a:gd name="T10" fmla="*/ 0 60000 65536"/>
              <a:gd name="T11" fmla="*/ 0 60000 65536"/>
              <a:gd name="T12" fmla="*/ 0 60000 65536"/>
              <a:gd name="T13" fmla="*/ 0 60000 65536"/>
              <a:gd name="T14" fmla="*/ 0 60000 65536"/>
              <a:gd name="T15" fmla="*/ 0 w 1536"/>
              <a:gd name="T16" fmla="*/ 0 h 1008"/>
              <a:gd name="T17" fmla="*/ 1536 w 1536"/>
              <a:gd name="T18" fmla="*/ 1008 h 1008"/>
            </a:gdLst>
            <a:ahLst/>
            <a:cxnLst>
              <a:cxn ang="T10">
                <a:pos x="T0" y="T1"/>
              </a:cxn>
              <a:cxn ang="T11">
                <a:pos x="T2" y="T3"/>
              </a:cxn>
              <a:cxn ang="T12">
                <a:pos x="T4" y="T5"/>
              </a:cxn>
              <a:cxn ang="T13">
                <a:pos x="T6" y="T7"/>
              </a:cxn>
              <a:cxn ang="T14">
                <a:pos x="T8" y="T9"/>
              </a:cxn>
            </a:cxnLst>
            <a:rect l="T15" t="T16" r="T17" b="T18"/>
            <a:pathLst>
              <a:path w="1536" h="1008">
                <a:moveTo>
                  <a:pt x="0" y="0"/>
                </a:moveTo>
                <a:lnTo>
                  <a:pt x="576" y="0"/>
                </a:lnTo>
                <a:lnTo>
                  <a:pt x="1152" y="1008"/>
                </a:lnTo>
                <a:lnTo>
                  <a:pt x="1536" y="1008"/>
                </a:lnTo>
                <a:lnTo>
                  <a:pt x="1536" y="816"/>
                </a:lnTo>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1">
            <a:extLst>
              <a:ext uri="{FF2B5EF4-FFF2-40B4-BE49-F238E27FC236}">
                <a16:creationId xmlns:a16="http://schemas.microsoft.com/office/drawing/2014/main" id="{EFF11130-16C5-2C2C-788F-20707E708E53}"/>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54274" name="灯片编号占位符 3">
            <a:extLst>
              <a:ext uri="{FF2B5EF4-FFF2-40B4-BE49-F238E27FC236}">
                <a16:creationId xmlns:a16="http://schemas.microsoft.com/office/drawing/2014/main" id="{FE458AB9-00BB-816F-3463-B2332DDE04B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128DF786-392E-C945-8AFD-95BFBB6C9653}" type="slidenum">
              <a:rPr lang="zh-CN" altLang="en-US" sz="1400" smtClean="0">
                <a:latin typeface="Times New Roman" panose="02020603050405020304" pitchFamily="18" charset="0"/>
              </a:rPr>
              <a:pPr>
                <a:spcBef>
                  <a:spcPct val="0"/>
                </a:spcBef>
                <a:buFontTx/>
                <a:buNone/>
              </a:pPr>
              <a:t>30</a:t>
            </a:fld>
            <a:endParaRPr lang="en-US" altLang="zh-CN" sz="1400">
              <a:latin typeface="Times New Roman" panose="02020603050405020304" pitchFamily="18" charset="0"/>
            </a:endParaRPr>
          </a:p>
        </p:txBody>
      </p:sp>
      <p:graphicFrame>
        <p:nvGraphicFramePr>
          <p:cNvPr id="54275" name="Object 2">
            <a:extLst>
              <a:ext uri="{FF2B5EF4-FFF2-40B4-BE49-F238E27FC236}">
                <a16:creationId xmlns:a16="http://schemas.microsoft.com/office/drawing/2014/main" id="{354989EC-D736-622C-F3F2-E1682D801528}"/>
              </a:ext>
            </a:extLst>
          </p:cNvPr>
          <p:cNvGraphicFramePr>
            <a:graphicFrameLocks noChangeAspect="1"/>
          </p:cNvGraphicFramePr>
          <p:nvPr/>
        </p:nvGraphicFramePr>
        <p:xfrm>
          <a:off x="0" y="2057400"/>
          <a:ext cx="4267200" cy="3835400"/>
        </p:xfrm>
        <a:graphic>
          <a:graphicData uri="http://schemas.openxmlformats.org/presentationml/2006/ole">
            <mc:AlternateContent xmlns:mc="http://schemas.openxmlformats.org/markup-compatibility/2006">
              <mc:Choice xmlns:v="urn:schemas-microsoft-com:vml" Requires="v">
                <p:oleObj name="图片" r:id="rId2" imgW="1536700" imgH="1193800" progId="Word.Picture.8">
                  <p:embed/>
                </p:oleObj>
              </mc:Choice>
              <mc:Fallback>
                <p:oleObj name="图片" r:id="rId2" imgW="1536700" imgH="1193800" progId="Word.Picture.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057400"/>
                        <a:ext cx="4267200" cy="3835400"/>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4276" name="Text Box 3">
            <a:extLst>
              <a:ext uri="{FF2B5EF4-FFF2-40B4-BE49-F238E27FC236}">
                <a16:creationId xmlns:a16="http://schemas.microsoft.com/office/drawing/2014/main" id="{CA586B58-040C-063D-B8A4-184E96C2A700}"/>
              </a:ext>
            </a:extLst>
          </p:cNvPr>
          <p:cNvSpPr txBox="1">
            <a:spLocks noChangeArrowheads="1"/>
          </p:cNvSpPr>
          <p:nvPr/>
        </p:nvSpPr>
        <p:spPr bwMode="auto">
          <a:xfrm>
            <a:off x="533400" y="5257800"/>
            <a:ext cx="609600" cy="617538"/>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1</a:t>
            </a:r>
            <a:endParaRPr kumimoji="1" lang="en-US" altLang="zh-CN" sz="3200">
              <a:latin typeface="Tahoma" panose="020B0604030504040204" pitchFamily="34" charset="0"/>
            </a:endParaRPr>
          </a:p>
        </p:txBody>
      </p:sp>
      <p:sp>
        <p:nvSpPr>
          <p:cNvPr id="54277" name="Text Box 4">
            <a:extLst>
              <a:ext uri="{FF2B5EF4-FFF2-40B4-BE49-F238E27FC236}">
                <a16:creationId xmlns:a16="http://schemas.microsoft.com/office/drawing/2014/main" id="{F4EBC163-8647-8049-7988-396F05D3A7E8}"/>
              </a:ext>
            </a:extLst>
          </p:cNvPr>
          <p:cNvSpPr txBox="1">
            <a:spLocks noChangeArrowheads="1"/>
          </p:cNvSpPr>
          <p:nvPr/>
        </p:nvSpPr>
        <p:spPr bwMode="auto">
          <a:xfrm>
            <a:off x="2743200" y="5249863"/>
            <a:ext cx="609600" cy="61753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1</a:t>
            </a:r>
            <a:endParaRPr kumimoji="1" lang="en-US" altLang="zh-CN" sz="3200">
              <a:latin typeface="Tahoma" panose="020B0604030504040204" pitchFamily="34" charset="0"/>
            </a:endParaRPr>
          </a:p>
        </p:txBody>
      </p:sp>
      <p:grpSp>
        <p:nvGrpSpPr>
          <p:cNvPr id="54278" name="Group 38">
            <a:extLst>
              <a:ext uri="{FF2B5EF4-FFF2-40B4-BE49-F238E27FC236}">
                <a16:creationId xmlns:a16="http://schemas.microsoft.com/office/drawing/2014/main" id="{C9DD29C7-DFE7-E84D-CF56-A7BD0E5BD6D9}"/>
              </a:ext>
            </a:extLst>
          </p:cNvPr>
          <p:cNvGrpSpPr>
            <a:grpSpLocks/>
          </p:cNvGrpSpPr>
          <p:nvPr/>
        </p:nvGrpSpPr>
        <p:grpSpPr bwMode="auto">
          <a:xfrm>
            <a:off x="4421188" y="2060575"/>
            <a:ext cx="4568825" cy="3862388"/>
            <a:chOff x="2833" y="386"/>
            <a:chExt cx="2878" cy="2433"/>
          </a:xfrm>
        </p:grpSpPr>
        <p:grpSp>
          <p:nvGrpSpPr>
            <p:cNvPr id="54289" name="Group 7">
              <a:extLst>
                <a:ext uri="{FF2B5EF4-FFF2-40B4-BE49-F238E27FC236}">
                  <a16:creationId xmlns:a16="http://schemas.microsoft.com/office/drawing/2014/main" id="{C1FD5A8D-9A19-2428-381D-DD94DF0257E1}"/>
                </a:ext>
              </a:extLst>
            </p:cNvPr>
            <p:cNvGrpSpPr>
              <a:grpSpLocks/>
            </p:cNvGrpSpPr>
            <p:nvPr/>
          </p:nvGrpSpPr>
          <p:grpSpPr bwMode="auto">
            <a:xfrm>
              <a:off x="2833" y="386"/>
              <a:ext cx="2878" cy="2433"/>
              <a:chOff x="2833" y="386"/>
              <a:chExt cx="2878" cy="2433"/>
            </a:xfrm>
          </p:grpSpPr>
          <p:grpSp>
            <p:nvGrpSpPr>
              <p:cNvPr id="54292" name="Group 8">
                <a:extLst>
                  <a:ext uri="{FF2B5EF4-FFF2-40B4-BE49-F238E27FC236}">
                    <a16:creationId xmlns:a16="http://schemas.microsoft.com/office/drawing/2014/main" id="{A06D3BF5-2C9C-2F7D-5520-1C267AE2F7D8}"/>
                  </a:ext>
                </a:extLst>
              </p:cNvPr>
              <p:cNvGrpSpPr>
                <a:grpSpLocks/>
              </p:cNvGrpSpPr>
              <p:nvPr/>
            </p:nvGrpSpPr>
            <p:grpSpPr bwMode="auto">
              <a:xfrm>
                <a:off x="2833" y="386"/>
                <a:ext cx="2878" cy="2433"/>
                <a:chOff x="2833" y="578"/>
                <a:chExt cx="2878" cy="2433"/>
              </a:xfrm>
            </p:grpSpPr>
            <p:graphicFrame>
              <p:nvGraphicFramePr>
                <p:cNvPr id="54295" name="Object 3">
                  <a:extLst>
                    <a:ext uri="{FF2B5EF4-FFF2-40B4-BE49-F238E27FC236}">
                      <a16:creationId xmlns:a16="http://schemas.microsoft.com/office/drawing/2014/main" id="{741B1A33-9D30-5246-E869-E4F4D1855EFD}"/>
                    </a:ext>
                  </a:extLst>
                </p:cNvPr>
                <p:cNvGraphicFramePr>
                  <a:graphicFrameLocks noChangeAspect="1"/>
                </p:cNvGraphicFramePr>
                <p:nvPr/>
              </p:nvGraphicFramePr>
              <p:xfrm>
                <a:off x="2833" y="578"/>
                <a:ext cx="2878" cy="2433"/>
              </p:xfrm>
              <a:graphic>
                <a:graphicData uri="http://schemas.openxmlformats.org/presentationml/2006/ole">
                  <mc:AlternateContent xmlns:mc="http://schemas.openxmlformats.org/markup-compatibility/2006">
                    <mc:Choice xmlns:v="urn:schemas-microsoft-com:vml" Requires="v">
                      <p:oleObj name="文档" r:id="rId4" imgW="4394200" imgH="3708400" progId="Word.Document.8">
                        <p:embed/>
                      </p:oleObj>
                    </mc:Choice>
                    <mc:Fallback>
                      <p:oleObj name="文档" r:id="rId4" imgW="4394200" imgH="3708400" progId="Word.Documen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39467" t="14479" r="39262" b="57408"/>
                            <a:stretch>
                              <a:fillRect/>
                            </a:stretch>
                          </p:blipFill>
                          <p:spPr bwMode="auto">
                            <a:xfrm>
                              <a:off x="2833" y="578"/>
                              <a:ext cx="2878" cy="2433"/>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54296" name="Group 10">
                  <a:extLst>
                    <a:ext uri="{FF2B5EF4-FFF2-40B4-BE49-F238E27FC236}">
                      <a16:creationId xmlns:a16="http://schemas.microsoft.com/office/drawing/2014/main" id="{C61F9F02-120E-F79C-9E5D-930BB6C0AF0C}"/>
                    </a:ext>
                  </a:extLst>
                </p:cNvPr>
                <p:cNvGrpSpPr>
                  <a:grpSpLocks/>
                </p:cNvGrpSpPr>
                <p:nvPr/>
              </p:nvGrpSpPr>
              <p:grpSpPr bwMode="auto">
                <a:xfrm>
                  <a:off x="3120" y="720"/>
                  <a:ext cx="960" cy="368"/>
                  <a:chOff x="3120" y="720"/>
                  <a:chExt cx="960" cy="368"/>
                </a:xfrm>
              </p:grpSpPr>
              <p:sp>
                <p:nvSpPr>
                  <p:cNvPr id="54298" name="Text Box 11">
                    <a:extLst>
                      <a:ext uri="{FF2B5EF4-FFF2-40B4-BE49-F238E27FC236}">
                        <a16:creationId xmlns:a16="http://schemas.microsoft.com/office/drawing/2014/main" id="{A2C9A639-9D87-C68F-79CA-988281DD0D3F}"/>
                      </a:ext>
                    </a:extLst>
                  </p:cNvPr>
                  <p:cNvSpPr txBox="1">
                    <a:spLocks noChangeArrowheads="1"/>
                  </p:cNvSpPr>
                  <p:nvPr/>
                </p:nvSpPr>
                <p:spPr bwMode="auto">
                  <a:xfrm>
                    <a:off x="3120" y="720"/>
                    <a:ext cx="96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en-US" altLang="zh-CN" sz="3200">
                        <a:latin typeface="Tahoma" panose="020B0604030504040204" pitchFamily="34" charset="0"/>
                      </a:rPr>
                      <a:t>R      S</a:t>
                    </a:r>
                    <a:endParaRPr kumimoji="1" lang="en-US" altLang="zh-CN" sz="2400">
                      <a:latin typeface="Tahoma" panose="020B0604030504040204" pitchFamily="34" charset="0"/>
                    </a:endParaRPr>
                  </a:p>
                </p:txBody>
              </p:sp>
              <p:sp>
                <p:nvSpPr>
                  <p:cNvPr id="54299" name="Line 12">
                    <a:extLst>
                      <a:ext uri="{FF2B5EF4-FFF2-40B4-BE49-F238E27FC236}">
                        <a16:creationId xmlns:a16="http://schemas.microsoft.com/office/drawing/2014/main" id="{C3F84EDD-7945-834D-82BF-1D471D45F840}"/>
                      </a:ext>
                    </a:extLst>
                  </p:cNvPr>
                  <p:cNvSpPr>
                    <a:spLocks noChangeShapeType="1"/>
                  </p:cNvSpPr>
                  <p:nvPr/>
                </p:nvSpPr>
                <p:spPr bwMode="auto">
                  <a:xfrm>
                    <a:off x="3168" y="779"/>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300" name="Line 13">
                    <a:extLst>
                      <a:ext uri="{FF2B5EF4-FFF2-40B4-BE49-F238E27FC236}">
                        <a16:creationId xmlns:a16="http://schemas.microsoft.com/office/drawing/2014/main" id="{FAD8E5D7-748A-0984-3C0E-F704C88F82AE}"/>
                      </a:ext>
                    </a:extLst>
                  </p:cNvPr>
                  <p:cNvSpPr>
                    <a:spLocks noChangeShapeType="1"/>
                  </p:cNvSpPr>
                  <p:nvPr/>
                </p:nvSpPr>
                <p:spPr bwMode="auto">
                  <a:xfrm>
                    <a:off x="3862" y="783"/>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4297" name="Text Box 14">
                  <a:extLst>
                    <a:ext uri="{FF2B5EF4-FFF2-40B4-BE49-F238E27FC236}">
                      <a16:creationId xmlns:a16="http://schemas.microsoft.com/office/drawing/2014/main" id="{B9085681-C8AD-22E5-8507-FBC785658EC0}"/>
                    </a:ext>
                  </a:extLst>
                </p:cNvPr>
                <p:cNvSpPr txBox="1">
                  <a:spLocks noChangeArrowheads="1"/>
                </p:cNvSpPr>
                <p:nvPr/>
              </p:nvSpPr>
              <p:spPr bwMode="auto">
                <a:xfrm>
                  <a:off x="4848" y="672"/>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en-US" altLang="zh-CN" sz="3200">
                      <a:latin typeface="Tahoma" panose="020B0604030504040204" pitchFamily="34" charset="0"/>
                    </a:rPr>
                    <a:t>Q</a:t>
                  </a:r>
                  <a:endParaRPr kumimoji="1" lang="en-US" altLang="zh-CN" sz="2400">
                    <a:latin typeface="Tahoma" panose="020B0604030504040204" pitchFamily="34" charset="0"/>
                  </a:endParaRPr>
                </a:p>
              </p:txBody>
            </p:sp>
          </p:grpSp>
          <p:sp>
            <p:nvSpPr>
              <p:cNvPr id="54293" name="Text Box 15">
                <a:extLst>
                  <a:ext uri="{FF2B5EF4-FFF2-40B4-BE49-F238E27FC236}">
                    <a16:creationId xmlns:a16="http://schemas.microsoft.com/office/drawing/2014/main" id="{0C07251E-CBD8-5333-452E-DBB1B3209778}"/>
                  </a:ext>
                </a:extLst>
              </p:cNvPr>
              <p:cNvSpPr txBox="1">
                <a:spLocks noChangeArrowheads="1"/>
              </p:cNvSpPr>
              <p:nvPr/>
            </p:nvSpPr>
            <p:spPr bwMode="auto">
              <a:xfrm>
                <a:off x="3024" y="959"/>
                <a:ext cx="115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latin typeface="Tahoma" panose="020B0604030504040204" pitchFamily="34" charset="0"/>
                  </a:rPr>
                  <a:t>0         1</a:t>
                </a:r>
              </a:p>
            </p:txBody>
          </p:sp>
          <p:sp>
            <p:nvSpPr>
              <p:cNvPr id="54294" name="Text Box 16">
                <a:extLst>
                  <a:ext uri="{FF2B5EF4-FFF2-40B4-BE49-F238E27FC236}">
                    <a16:creationId xmlns:a16="http://schemas.microsoft.com/office/drawing/2014/main" id="{CAE60261-19AB-236A-0D9A-3A74A91F1FD0}"/>
                  </a:ext>
                </a:extLst>
              </p:cNvPr>
              <p:cNvSpPr txBox="1">
                <a:spLocks noChangeArrowheads="1"/>
              </p:cNvSpPr>
              <p:nvPr/>
            </p:nvSpPr>
            <p:spPr bwMode="auto">
              <a:xfrm>
                <a:off x="4800" y="953"/>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latin typeface="Tahoma" panose="020B0604030504040204" pitchFamily="34" charset="0"/>
                  </a:rPr>
                  <a:t>0</a:t>
                </a:r>
              </a:p>
            </p:txBody>
          </p:sp>
        </p:grpSp>
        <p:sp>
          <p:nvSpPr>
            <p:cNvPr id="54290" name="Text Box 26">
              <a:extLst>
                <a:ext uri="{FF2B5EF4-FFF2-40B4-BE49-F238E27FC236}">
                  <a16:creationId xmlns:a16="http://schemas.microsoft.com/office/drawing/2014/main" id="{ACAE822B-C94C-953C-8A9B-ECEF863C4BDB}"/>
                </a:ext>
              </a:extLst>
            </p:cNvPr>
            <p:cNvSpPr txBox="1">
              <a:spLocks noChangeArrowheads="1"/>
            </p:cNvSpPr>
            <p:nvPr/>
          </p:nvSpPr>
          <p:spPr bwMode="auto">
            <a:xfrm>
              <a:off x="3024" y="1409"/>
              <a:ext cx="115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latin typeface="Tahoma" panose="020B0604030504040204" pitchFamily="34" charset="0"/>
                </a:rPr>
                <a:t>1         0</a:t>
              </a:r>
            </a:p>
          </p:txBody>
        </p:sp>
        <p:sp>
          <p:nvSpPr>
            <p:cNvPr id="54291" name="Text Box 27">
              <a:extLst>
                <a:ext uri="{FF2B5EF4-FFF2-40B4-BE49-F238E27FC236}">
                  <a16:creationId xmlns:a16="http://schemas.microsoft.com/office/drawing/2014/main" id="{D9F98678-CC37-6D4B-B90A-786EC0DC0781}"/>
                </a:ext>
              </a:extLst>
            </p:cNvPr>
            <p:cNvSpPr txBox="1">
              <a:spLocks noChangeArrowheads="1"/>
            </p:cNvSpPr>
            <p:nvPr/>
          </p:nvSpPr>
          <p:spPr bwMode="auto">
            <a:xfrm>
              <a:off x="4800" y="1403"/>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latin typeface="Tahoma" panose="020B0604030504040204" pitchFamily="34" charset="0"/>
                </a:rPr>
                <a:t>1</a:t>
              </a:r>
            </a:p>
          </p:txBody>
        </p:sp>
      </p:grpSp>
      <p:sp>
        <p:nvSpPr>
          <p:cNvPr id="54279" name="Line 28">
            <a:extLst>
              <a:ext uri="{FF2B5EF4-FFF2-40B4-BE49-F238E27FC236}">
                <a16:creationId xmlns:a16="http://schemas.microsoft.com/office/drawing/2014/main" id="{A4D1144A-5CBA-A658-13D9-965D1EA751A0}"/>
              </a:ext>
            </a:extLst>
          </p:cNvPr>
          <p:cNvSpPr>
            <a:spLocks noChangeShapeType="1"/>
          </p:cNvSpPr>
          <p:nvPr/>
        </p:nvSpPr>
        <p:spPr bwMode="auto">
          <a:xfrm>
            <a:off x="3657600" y="4495800"/>
            <a:ext cx="0" cy="7620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0" name="Line 29">
            <a:extLst>
              <a:ext uri="{FF2B5EF4-FFF2-40B4-BE49-F238E27FC236}">
                <a16:creationId xmlns:a16="http://schemas.microsoft.com/office/drawing/2014/main" id="{29FA41A4-3F14-AA46-42A3-F852CCC1A176}"/>
              </a:ext>
            </a:extLst>
          </p:cNvPr>
          <p:cNvSpPr>
            <a:spLocks noChangeShapeType="1"/>
          </p:cNvSpPr>
          <p:nvPr/>
        </p:nvSpPr>
        <p:spPr bwMode="auto">
          <a:xfrm>
            <a:off x="3352800" y="2743200"/>
            <a:ext cx="0" cy="668338"/>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1" name="Line 30">
            <a:extLst>
              <a:ext uri="{FF2B5EF4-FFF2-40B4-BE49-F238E27FC236}">
                <a16:creationId xmlns:a16="http://schemas.microsoft.com/office/drawing/2014/main" id="{2F265030-1BCA-B5CD-6597-6953EBE2A038}"/>
              </a:ext>
            </a:extLst>
          </p:cNvPr>
          <p:cNvSpPr>
            <a:spLocks noChangeShapeType="1"/>
          </p:cNvSpPr>
          <p:nvPr/>
        </p:nvSpPr>
        <p:spPr bwMode="auto">
          <a:xfrm>
            <a:off x="609600" y="2743200"/>
            <a:ext cx="0" cy="668338"/>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2" name="Line 31">
            <a:extLst>
              <a:ext uri="{FF2B5EF4-FFF2-40B4-BE49-F238E27FC236}">
                <a16:creationId xmlns:a16="http://schemas.microsoft.com/office/drawing/2014/main" id="{EEBD7D8F-35E1-7DB1-B886-357FF366EE36}"/>
              </a:ext>
            </a:extLst>
          </p:cNvPr>
          <p:cNvSpPr>
            <a:spLocks noChangeShapeType="1"/>
          </p:cNvSpPr>
          <p:nvPr/>
        </p:nvSpPr>
        <p:spPr bwMode="auto">
          <a:xfrm>
            <a:off x="304800" y="4495800"/>
            <a:ext cx="0" cy="7620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3" name="Freeform 32">
            <a:extLst>
              <a:ext uri="{FF2B5EF4-FFF2-40B4-BE49-F238E27FC236}">
                <a16:creationId xmlns:a16="http://schemas.microsoft.com/office/drawing/2014/main" id="{3C65AC6E-4923-6B4B-F387-EC23DD565B2C}"/>
              </a:ext>
            </a:extLst>
          </p:cNvPr>
          <p:cNvSpPr>
            <a:spLocks/>
          </p:cNvSpPr>
          <p:nvPr/>
        </p:nvSpPr>
        <p:spPr bwMode="auto">
          <a:xfrm>
            <a:off x="609600" y="3241675"/>
            <a:ext cx="2438400" cy="1524000"/>
          </a:xfrm>
          <a:custGeom>
            <a:avLst/>
            <a:gdLst>
              <a:gd name="T0" fmla="*/ 0 w 1536"/>
              <a:gd name="T1" fmla="*/ 0 h 1008"/>
              <a:gd name="T2" fmla="*/ 2147483646 w 1536"/>
              <a:gd name="T3" fmla="*/ 0 h 1008"/>
              <a:gd name="T4" fmla="*/ 2147483646 w 1536"/>
              <a:gd name="T5" fmla="*/ 2147483646 h 1008"/>
              <a:gd name="T6" fmla="*/ 2147483646 w 1536"/>
              <a:gd name="T7" fmla="*/ 2147483646 h 1008"/>
              <a:gd name="T8" fmla="*/ 2147483646 w 1536"/>
              <a:gd name="T9" fmla="*/ 2147483646 h 1008"/>
              <a:gd name="T10" fmla="*/ 0 60000 65536"/>
              <a:gd name="T11" fmla="*/ 0 60000 65536"/>
              <a:gd name="T12" fmla="*/ 0 60000 65536"/>
              <a:gd name="T13" fmla="*/ 0 60000 65536"/>
              <a:gd name="T14" fmla="*/ 0 60000 65536"/>
              <a:gd name="T15" fmla="*/ 0 w 1536"/>
              <a:gd name="T16" fmla="*/ 0 h 1008"/>
              <a:gd name="T17" fmla="*/ 1536 w 1536"/>
              <a:gd name="T18" fmla="*/ 1008 h 1008"/>
            </a:gdLst>
            <a:ahLst/>
            <a:cxnLst>
              <a:cxn ang="T10">
                <a:pos x="T0" y="T1"/>
              </a:cxn>
              <a:cxn ang="T11">
                <a:pos x="T2" y="T3"/>
              </a:cxn>
              <a:cxn ang="T12">
                <a:pos x="T4" y="T5"/>
              </a:cxn>
              <a:cxn ang="T13">
                <a:pos x="T6" y="T7"/>
              </a:cxn>
              <a:cxn ang="T14">
                <a:pos x="T8" y="T9"/>
              </a:cxn>
            </a:cxnLst>
            <a:rect l="T15" t="T16" r="T17" b="T18"/>
            <a:pathLst>
              <a:path w="1536" h="1008">
                <a:moveTo>
                  <a:pt x="0" y="0"/>
                </a:moveTo>
                <a:lnTo>
                  <a:pt x="576" y="0"/>
                </a:lnTo>
                <a:lnTo>
                  <a:pt x="1152" y="1008"/>
                </a:lnTo>
                <a:lnTo>
                  <a:pt x="1536" y="1008"/>
                </a:lnTo>
                <a:lnTo>
                  <a:pt x="1536" y="816"/>
                </a:lnTo>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284" name="Text Box 34">
            <a:extLst>
              <a:ext uri="{FF2B5EF4-FFF2-40B4-BE49-F238E27FC236}">
                <a16:creationId xmlns:a16="http://schemas.microsoft.com/office/drawing/2014/main" id="{594A4686-D01D-5021-AD9F-695C6F5F3F76}"/>
              </a:ext>
            </a:extLst>
          </p:cNvPr>
          <p:cNvSpPr txBox="1">
            <a:spLocks noChangeArrowheads="1"/>
          </p:cNvSpPr>
          <p:nvPr/>
        </p:nvSpPr>
        <p:spPr bwMode="auto">
          <a:xfrm>
            <a:off x="4724400" y="4446588"/>
            <a:ext cx="1828800" cy="61753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1</a:t>
            </a:r>
            <a:r>
              <a:rPr kumimoji="1" lang="en-US" altLang="zh-CN" sz="3200">
                <a:latin typeface="Tahoma" panose="020B0604030504040204" pitchFamily="34" charset="0"/>
              </a:rPr>
              <a:t>         </a:t>
            </a:r>
            <a:r>
              <a:rPr kumimoji="1" lang="en-US" altLang="zh-CN" sz="3200">
                <a:solidFill>
                  <a:srgbClr val="CC3300"/>
                </a:solidFill>
                <a:latin typeface="Tahoma" panose="020B0604030504040204" pitchFamily="34" charset="0"/>
              </a:rPr>
              <a:t>1</a:t>
            </a:r>
            <a:endParaRPr kumimoji="1" lang="en-US" altLang="zh-CN" sz="3200">
              <a:latin typeface="Tahoma" panose="020B0604030504040204" pitchFamily="34" charset="0"/>
            </a:endParaRPr>
          </a:p>
        </p:txBody>
      </p:sp>
      <p:sp>
        <p:nvSpPr>
          <p:cNvPr id="54285" name="Text Box 35">
            <a:extLst>
              <a:ext uri="{FF2B5EF4-FFF2-40B4-BE49-F238E27FC236}">
                <a16:creationId xmlns:a16="http://schemas.microsoft.com/office/drawing/2014/main" id="{86BADC7D-5861-4202-CF64-A0718FD5912C}"/>
              </a:ext>
            </a:extLst>
          </p:cNvPr>
          <p:cNvSpPr txBox="1">
            <a:spLocks noChangeArrowheads="1"/>
          </p:cNvSpPr>
          <p:nvPr/>
        </p:nvSpPr>
        <p:spPr bwMode="auto">
          <a:xfrm>
            <a:off x="7239000" y="4437063"/>
            <a:ext cx="1219200" cy="61753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zh-CN" altLang="en-US" sz="3200">
                <a:solidFill>
                  <a:srgbClr val="CC3300"/>
                </a:solidFill>
                <a:latin typeface="Tahoma" panose="020B0604030504040204" pitchFamily="34" charset="0"/>
              </a:rPr>
              <a:t>不变</a:t>
            </a:r>
            <a:endParaRPr kumimoji="1" lang="zh-CN" altLang="en-US" sz="3200">
              <a:latin typeface="Tahoma" panose="020B0604030504040204" pitchFamily="34" charset="0"/>
            </a:endParaRPr>
          </a:p>
        </p:txBody>
      </p:sp>
      <p:sp>
        <p:nvSpPr>
          <p:cNvPr id="54286" name="Text Box 36">
            <a:extLst>
              <a:ext uri="{FF2B5EF4-FFF2-40B4-BE49-F238E27FC236}">
                <a16:creationId xmlns:a16="http://schemas.microsoft.com/office/drawing/2014/main" id="{20F2DA68-A0DF-392C-3435-8285D0CB5680}"/>
              </a:ext>
            </a:extLst>
          </p:cNvPr>
          <p:cNvSpPr txBox="1">
            <a:spLocks noChangeArrowheads="1"/>
          </p:cNvSpPr>
          <p:nvPr/>
        </p:nvSpPr>
        <p:spPr bwMode="auto">
          <a:xfrm>
            <a:off x="2514600" y="2286000"/>
            <a:ext cx="609600" cy="584200"/>
          </a:xfrm>
          <a:prstGeom prst="rect">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FF3300"/>
                </a:solidFill>
                <a:latin typeface="Tahoma" panose="020B0604030504040204" pitchFamily="34" charset="0"/>
              </a:rPr>
              <a:t>Q</a:t>
            </a:r>
          </a:p>
        </p:txBody>
      </p:sp>
      <p:sp>
        <p:nvSpPr>
          <p:cNvPr id="54287" name="Text Box 37">
            <a:extLst>
              <a:ext uri="{FF2B5EF4-FFF2-40B4-BE49-F238E27FC236}">
                <a16:creationId xmlns:a16="http://schemas.microsoft.com/office/drawing/2014/main" id="{F192C472-5721-978C-1EB7-0868AE8DD2AE}"/>
              </a:ext>
            </a:extLst>
          </p:cNvPr>
          <p:cNvSpPr txBox="1">
            <a:spLocks noChangeArrowheads="1"/>
          </p:cNvSpPr>
          <p:nvPr/>
        </p:nvSpPr>
        <p:spPr bwMode="auto">
          <a:xfrm>
            <a:off x="838200" y="2286000"/>
            <a:ext cx="609600" cy="584200"/>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chemeClr val="accent2"/>
                </a:solidFill>
                <a:latin typeface="Tahoma" panose="020B0604030504040204" pitchFamily="34" charset="0"/>
              </a:rPr>
              <a:t>Q</a:t>
            </a:r>
          </a:p>
        </p:txBody>
      </p:sp>
      <p:sp>
        <p:nvSpPr>
          <p:cNvPr id="54288" name="Line 12">
            <a:extLst>
              <a:ext uri="{FF2B5EF4-FFF2-40B4-BE49-F238E27FC236}">
                <a16:creationId xmlns:a16="http://schemas.microsoft.com/office/drawing/2014/main" id="{433EE5FD-A8F8-9F9A-8E54-113909DB1FC7}"/>
              </a:ext>
            </a:extLst>
          </p:cNvPr>
          <p:cNvSpPr>
            <a:spLocks noChangeShapeType="1"/>
          </p:cNvSpPr>
          <p:nvPr/>
        </p:nvSpPr>
        <p:spPr bwMode="auto">
          <a:xfrm>
            <a:off x="2701925" y="2406650"/>
            <a:ext cx="2286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1">
            <a:extLst>
              <a:ext uri="{FF2B5EF4-FFF2-40B4-BE49-F238E27FC236}">
                <a16:creationId xmlns:a16="http://schemas.microsoft.com/office/drawing/2014/main" id="{3A5C20AB-371B-E4ED-C98A-906D27DAAB8C}"/>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55298" name="灯片编号占位符 3">
            <a:extLst>
              <a:ext uri="{FF2B5EF4-FFF2-40B4-BE49-F238E27FC236}">
                <a16:creationId xmlns:a16="http://schemas.microsoft.com/office/drawing/2014/main" id="{874ED052-7E16-B39A-7700-B2F2091BB04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7D167CE5-BF84-4342-ACB8-F05FFAF44A32}" type="slidenum">
              <a:rPr lang="zh-CN" altLang="en-US" sz="1400" smtClean="0">
                <a:latin typeface="Times New Roman" panose="02020603050405020304" pitchFamily="18" charset="0"/>
              </a:rPr>
              <a:pPr>
                <a:spcBef>
                  <a:spcPct val="0"/>
                </a:spcBef>
                <a:buFontTx/>
                <a:buNone/>
              </a:pPr>
              <a:t>31</a:t>
            </a:fld>
            <a:endParaRPr lang="en-US" altLang="zh-CN" sz="1400">
              <a:latin typeface="Times New Roman" panose="02020603050405020304" pitchFamily="18" charset="0"/>
            </a:endParaRPr>
          </a:p>
        </p:txBody>
      </p:sp>
      <p:graphicFrame>
        <p:nvGraphicFramePr>
          <p:cNvPr id="55299" name="Object 2">
            <a:extLst>
              <a:ext uri="{FF2B5EF4-FFF2-40B4-BE49-F238E27FC236}">
                <a16:creationId xmlns:a16="http://schemas.microsoft.com/office/drawing/2014/main" id="{0BF0639E-9B7A-6661-C912-54589A2741AB}"/>
              </a:ext>
            </a:extLst>
          </p:cNvPr>
          <p:cNvGraphicFramePr>
            <a:graphicFrameLocks noChangeAspect="1"/>
          </p:cNvGraphicFramePr>
          <p:nvPr/>
        </p:nvGraphicFramePr>
        <p:xfrm>
          <a:off x="173038" y="2133600"/>
          <a:ext cx="4267200" cy="3835400"/>
        </p:xfrm>
        <a:graphic>
          <a:graphicData uri="http://schemas.openxmlformats.org/presentationml/2006/ole">
            <mc:AlternateContent xmlns:mc="http://schemas.openxmlformats.org/markup-compatibility/2006">
              <mc:Choice xmlns:v="urn:schemas-microsoft-com:vml" Requires="v">
                <p:oleObj name="图片" r:id="rId2" imgW="1536700" imgH="1193800" progId="Word.Picture.8">
                  <p:embed/>
                </p:oleObj>
              </mc:Choice>
              <mc:Fallback>
                <p:oleObj name="图片" r:id="rId2" imgW="1536700" imgH="1193800" progId="Word.Picture.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038" y="2133600"/>
                        <a:ext cx="4267200" cy="3835400"/>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5300" name="Text Box 3">
            <a:extLst>
              <a:ext uri="{FF2B5EF4-FFF2-40B4-BE49-F238E27FC236}">
                <a16:creationId xmlns:a16="http://schemas.microsoft.com/office/drawing/2014/main" id="{6CDA35AA-D697-B66D-7A18-8477BE41FFE0}"/>
              </a:ext>
            </a:extLst>
          </p:cNvPr>
          <p:cNvSpPr txBox="1">
            <a:spLocks noChangeArrowheads="1"/>
          </p:cNvSpPr>
          <p:nvPr/>
        </p:nvSpPr>
        <p:spPr bwMode="auto">
          <a:xfrm>
            <a:off x="706438" y="5334000"/>
            <a:ext cx="609600" cy="617538"/>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0</a:t>
            </a:r>
            <a:endParaRPr kumimoji="1" lang="en-US" altLang="zh-CN" sz="3200">
              <a:latin typeface="Tahoma" panose="020B0604030504040204" pitchFamily="34" charset="0"/>
            </a:endParaRPr>
          </a:p>
        </p:txBody>
      </p:sp>
      <p:sp>
        <p:nvSpPr>
          <p:cNvPr id="55301" name="Text Box 4">
            <a:extLst>
              <a:ext uri="{FF2B5EF4-FFF2-40B4-BE49-F238E27FC236}">
                <a16:creationId xmlns:a16="http://schemas.microsoft.com/office/drawing/2014/main" id="{FCA6E064-51C1-A16F-A85A-FF42F7495A2C}"/>
              </a:ext>
            </a:extLst>
          </p:cNvPr>
          <p:cNvSpPr txBox="1">
            <a:spLocks noChangeArrowheads="1"/>
          </p:cNvSpPr>
          <p:nvPr/>
        </p:nvSpPr>
        <p:spPr bwMode="auto">
          <a:xfrm>
            <a:off x="2916238" y="5326063"/>
            <a:ext cx="609600" cy="61753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0</a:t>
            </a:r>
            <a:endParaRPr kumimoji="1" lang="en-US" altLang="zh-CN" sz="3200">
              <a:latin typeface="Tahoma" panose="020B0604030504040204" pitchFamily="34" charset="0"/>
            </a:endParaRPr>
          </a:p>
        </p:txBody>
      </p:sp>
      <p:sp>
        <p:nvSpPr>
          <p:cNvPr id="55302" name="Text Box 5">
            <a:extLst>
              <a:ext uri="{FF2B5EF4-FFF2-40B4-BE49-F238E27FC236}">
                <a16:creationId xmlns:a16="http://schemas.microsoft.com/office/drawing/2014/main" id="{E8276EE8-04EC-23E1-6723-621D7E6DC12C}"/>
              </a:ext>
            </a:extLst>
          </p:cNvPr>
          <p:cNvSpPr txBox="1">
            <a:spLocks noChangeArrowheads="1"/>
          </p:cNvSpPr>
          <p:nvPr/>
        </p:nvSpPr>
        <p:spPr bwMode="auto">
          <a:xfrm>
            <a:off x="1011238" y="2354263"/>
            <a:ext cx="609600" cy="61753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1</a:t>
            </a:r>
            <a:endParaRPr kumimoji="1" lang="en-US" altLang="zh-CN" sz="3200">
              <a:latin typeface="Tahoma" panose="020B0604030504040204" pitchFamily="34" charset="0"/>
            </a:endParaRPr>
          </a:p>
        </p:txBody>
      </p:sp>
      <p:sp>
        <p:nvSpPr>
          <p:cNvPr id="55303" name="Text Box 6">
            <a:extLst>
              <a:ext uri="{FF2B5EF4-FFF2-40B4-BE49-F238E27FC236}">
                <a16:creationId xmlns:a16="http://schemas.microsoft.com/office/drawing/2014/main" id="{121D25A3-2087-1EBA-3615-C872D6E706CF}"/>
              </a:ext>
            </a:extLst>
          </p:cNvPr>
          <p:cNvSpPr txBox="1">
            <a:spLocks noChangeArrowheads="1"/>
          </p:cNvSpPr>
          <p:nvPr/>
        </p:nvSpPr>
        <p:spPr bwMode="auto">
          <a:xfrm>
            <a:off x="2687638" y="2354263"/>
            <a:ext cx="609600" cy="61753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1</a:t>
            </a:r>
            <a:endParaRPr kumimoji="1" lang="en-US" altLang="zh-CN" sz="3200">
              <a:latin typeface="Tahoma" panose="020B0604030504040204" pitchFamily="34" charset="0"/>
            </a:endParaRPr>
          </a:p>
        </p:txBody>
      </p:sp>
      <p:sp>
        <p:nvSpPr>
          <p:cNvPr id="55304" name="Line 24">
            <a:extLst>
              <a:ext uri="{FF2B5EF4-FFF2-40B4-BE49-F238E27FC236}">
                <a16:creationId xmlns:a16="http://schemas.microsoft.com/office/drawing/2014/main" id="{60369570-DCD9-317D-3DE2-113033B66F90}"/>
              </a:ext>
            </a:extLst>
          </p:cNvPr>
          <p:cNvSpPr>
            <a:spLocks noChangeShapeType="1"/>
          </p:cNvSpPr>
          <p:nvPr/>
        </p:nvSpPr>
        <p:spPr bwMode="auto">
          <a:xfrm>
            <a:off x="3830638" y="4572000"/>
            <a:ext cx="0" cy="7620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5" name="Line 25">
            <a:extLst>
              <a:ext uri="{FF2B5EF4-FFF2-40B4-BE49-F238E27FC236}">
                <a16:creationId xmlns:a16="http://schemas.microsoft.com/office/drawing/2014/main" id="{C2BB9702-556A-1666-AB5B-C5AA1AE58FF6}"/>
              </a:ext>
            </a:extLst>
          </p:cNvPr>
          <p:cNvSpPr>
            <a:spLocks noChangeShapeType="1"/>
          </p:cNvSpPr>
          <p:nvPr/>
        </p:nvSpPr>
        <p:spPr bwMode="auto">
          <a:xfrm>
            <a:off x="782638" y="2819400"/>
            <a:ext cx="0" cy="668338"/>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6" name="Line 26">
            <a:extLst>
              <a:ext uri="{FF2B5EF4-FFF2-40B4-BE49-F238E27FC236}">
                <a16:creationId xmlns:a16="http://schemas.microsoft.com/office/drawing/2014/main" id="{0A9E9EFE-35D6-FD9C-6F14-7F71D56DB079}"/>
              </a:ext>
            </a:extLst>
          </p:cNvPr>
          <p:cNvSpPr>
            <a:spLocks noChangeShapeType="1"/>
          </p:cNvSpPr>
          <p:nvPr/>
        </p:nvSpPr>
        <p:spPr bwMode="auto">
          <a:xfrm>
            <a:off x="3525838" y="2819400"/>
            <a:ext cx="0" cy="668338"/>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7" name="Line 27">
            <a:extLst>
              <a:ext uri="{FF2B5EF4-FFF2-40B4-BE49-F238E27FC236}">
                <a16:creationId xmlns:a16="http://schemas.microsoft.com/office/drawing/2014/main" id="{FF4F1A2D-71EB-862C-7567-A54F0C959645}"/>
              </a:ext>
            </a:extLst>
          </p:cNvPr>
          <p:cNvSpPr>
            <a:spLocks noChangeShapeType="1"/>
          </p:cNvSpPr>
          <p:nvPr/>
        </p:nvSpPr>
        <p:spPr bwMode="auto">
          <a:xfrm>
            <a:off x="477838" y="4572000"/>
            <a:ext cx="0" cy="7620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8" name="Freeform 28">
            <a:extLst>
              <a:ext uri="{FF2B5EF4-FFF2-40B4-BE49-F238E27FC236}">
                <a16:creationId xmlns:a16="http://schemas.microsoft.com/office/drawing/2014/main" id="{86E62ADB-2C83-DE3D-009D-D9536B192676}"/>
              </a:ext>
            </a:extLst>
          </p:cNvPr>
          <p:cNvSpPr>
            <a:spLocks/>
          </p:cNvSpPr>
          <p:nvPr/>
        </p:nvSpPr>
        <p:spPr bwMode="auto">
          <a:xfrm>
            <a:off x="782638" y="3317875"/>
            <a:ext cx="2438400" cy="1524000"/>
          </a:xfrm>
          <a:custGeom>
            <a:avLst/>
            <a:gdLst>
              <a:gd name="T0" fmla="*/ 0 w 1536"/>
              <a:gd name="T1" fmla="*/ 0 h 1008"/>
              <a:gd name="T2" fmla="*/ 2147483646 w 1536"/>
              <a:gd name="T3" fmla="*/ 0 h 1008"/>
              <a:gd name="T4" fmla="*/ 2147483646 w 1536"/>
              <a:gd name="T5" fmla="*/ 2147483646 h 1008"/>
              <a:gd name="T6" fmla="*/ 2147483646 w 1536"/>
              <a:gd name="T7" fmla="*/ 2147483646 h 1008"/>
              <a:gd name="T8" fmla="*/ 2147483646 w 1536"/>
              <a:gd name="T9" fmla="*/ 2147483646 h 1008"/>
              <a:gd name="T10" fmla="*/ 0 60000 65536"/>
              <a:gd name="T11" fmla="*/ 0 60000 65536"/>
              <a:gd name="T12" fmla="*/ 0 60000 65536"/>
              <a:gd name="T13" fmla="*/ 0 60000 65536"/>
              <a:gd name="T14" fmla="*/ 0 60000 65536"/>
              <a:gd name="T15" fmla="*/ 0 w 1536"/>
              <a:gd name="T16" fmla="*/ 0 h 1008"/>
              <a:gd name="T17" fmla="*/ 1536 w 1536"/>
              <a:gd name="T18" fmla="*/ 1008 h 1008"/>
            </a:gdLst>
            <a:ahLst/>
            <a:cxnLst>
              <a:cxn ang="T10">
                <a:pos x="T0" y="T1"/>
              </a:cxn>
              <a:cxn ang="T11">
                <a:pos x="T2" y="T3"/>
              </a:cxn>
              <a:cxn ang="T12">
                <a:pos x="T4" y="T5"/>
              </a:cxn>
              <a:cxn ang="T13">
                <a:pos x="T6" y="T7"/>
              </a:cxn>
              <a:cxn ang="T14">
                <a:pos x="T8" y="T9"/>
              </a:cxn>
            </a:cxnLst>
            <a:rect l="T15" t="T16" r="T17" b="T18"/>
            <a:pathLst>
              <a:path w="1536" h="1008">
                <a:moveTo>
                  <a:pt x="0" y="0"/>
                </a:moveTo>
                <a:lnTo>
                  <a:pt x="576" y="0"/>
                </a:lnTo>
                <a:lnTo>
                  <a:pt x="1152" y="1008"/>
                </a:lnTo>
                <a:lnTo>
                  <a:pt x="1536" y="1008"/>
                </a:lnTo>
                <a:lnTo>
                  <a:pt x="1536" y="816"/>
                </a:lnTo>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55309" name="Group 35">
            <a:extLst>
              <a:ext uri="{FF2B5EF4-FFF2-40B4-BE49-F238E27FC236}">
                <a16:creationId xmlns:a16="http://schemas.microsoft.com/office/drawing/2014/main" id="{969E8461-8148-FB7B-D3D1-9CE972E15C85}"/>
              </a:ext>
            </a:extLst>
          </p:cNvPr>
          <p:cNvGrpSpPr>
            <a:grpSpLocks/>
          </p:cNvGrpSpPr>
          <p:nvPr/>
        </p:nvGrpSpPr>
        <p:grpSpPr bwMode="auto">
          <a:xfrm>
            <a:off x="4594225" y="2136775"/>
            <a:ext cx="4568825" cy="3862388"/>
            <a:chOff x="2833" y="386"/>
            <a:chExt cx="2878" cy="2433"/>
          </a:xfrm>
        </p:grpSpPr>
        <p:grpSp>
          <p:nvGrpSpPr>
            <p:cNvPr id="55313" name="Group 11">
              <a:extLst>
                <a:ext uri="{FF2B5EF4-FFF2-40B4-BE49-F238E27FC236}">
                  <a16:creationId xmlns:a16="http://schemas.microsoft.com/office/drawing/2014/main" id="{8D31889C-9144-4B3A-D827-EFE9CF87673E}"/>
                </a:ext>
              </a:extLst>
            </p:cNvPr>
            <p:cNvGrpSpPr>
              <a:grpSpLocks/>
            </p:cNvGrpSpPr>
            <p:nvPr/>
          </p:nvGrpSpPr>
          <p:grpSpPr bwMode="auto">
            <a:xfrm>
              <a:off x="2833" y="386"/>
              <a:ext cx="2878" cy="2433"/>
              <a:chOff x="2833" y="386"/>
              <a:chExt cx="2878" cy="2433"/>
            </a:xfrm>
          </p:grpSpPr>
          <p:grpSp>
            <p:nvGrpSpPr>
              <p:cNvPr id="55316" name="Group 12">
                <a:extLst>
                  <a:ext uri="{FF2B5EF4-FFF2-40B4-BE49-F238E27FC236}">
                    <a16:creationId xmlns:a16="http://schemas.microsoft.com/office/drawing/2014/main" id="{2333C00F-8E37-7E9A-4011-9DEE8F0C9D92}"/>
                  </a:ext>
                </a:extLst>
              </p:cNvPr>
              <p:cNvGrpSpPr>
                <a:grpSpLocks/>
              </p:cNvGrpSpPr>
              <p:nvPr/>
            </p:nvGrpSpPr>
            <p:grpSpPr bwMode="auto">
              <a:xfrm>
                <a:off x="2833" y="386"/>
                <a:ext cx="2878" cy="2433"/>
                <a:chOff x="2833" y="386"/>
                <a:chExt cx="2878" cy="2433"/>
              </a:xfrm>
            </p:grpSpPr>
            <p:grpSp>
              <p:nvGrpSpPr>
                <p:cNvPr id="55319" name="Group 13">
                  <a:extLst>
                    <a:ext uri="{FF2B5EF4-FFF2-40B4-BE49-F238E27FC236}">
                      <a16:creationId xmlns:a16="http://schemas.microsoft.com/office/drawing/2014/main" id="{E3B71560-A626-1043-C766-7C98DC4E7B63}"/>
                    </a:ext>
                  </a:extLst>
                </p:cNvPr>
                <p:cNvGrpSpPr>
                  <a:grpSpLocks/>
                </p:cNvGrpSpPr>
                <p:nvPr/>
              </p:nvGrpSpPr>
              <p:grpSpPr bwMode="auto">
                <a:xfrm>
                  <a:off x="2833" y="386"/>
                  <a:ext cx="2878" cy="2433"/>
                  <a:chOff x="2833" y="578"/>
                  <a:chExt cx="2878" cy="2433"/>
                </a:xfrm>
              </p:grpSpPr>
              <p:graphicFrame>
                <p:nvGraphicFramePr>
                  <p:cNvPr id="55322" name="Object 3">
                    <a:extLst>
                      <a:ext uri="{FF2B5EF4-FFF2-40B4-BE49-F238E27FC236}">
                        <a16:creationId xmlns:a16="http://schemas.microsoft.com/office/drawing/2014/main" id="{C69CD9F1-011B-D07D-374C-B4B2F4FB728D}"/>
                      </a:ext>
                    </a:extLst>
                  </p:cNvPr>
                  <p:cNvGraphicFramePr>
                    <a:graphicFrameLocks noChangeAspect="1"/>
                  </p:cNvGraphicFramePr>
                  <p:nvPr/>
                </p:nvGraphicFramePr>
                <p:xfrm>
                  <a:off x="2833" y="578"/>
                  <a:ext cx="2878" cy="2433"/>
                </p:xfrm>
                <a:graphic>
                  <a:graphicData uri="http://schemas.openxmlformats.org/presentationml/2006/ole">
                    <mc:AlternateContent xmlns:mc="http://schemas.openxmlformats.org/markup-compatibility/2006">
                      <mc:Choice xmlns:v="urn:schemas-microsoft-com:vml" Requires="v">
                        <p:oleObj name="文档" r:id="rId4" imgW="4394200" imgH="3708400" progId="Word.Document.8">
                          <p:embed/>
                        </p:oleObj>
                      </mc:Choice>
                      <mc:Fallback>
                        <p:oleObj name="文档" r:id="rId4" imgW="4394200" imgH="3708400" progId="Word.Documen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39467" t="14479" r="39262" b="57408"/>
                              <a:stretch>
                                <a:fillRect/>
                              </a:stretch>
                            </p:blipFill>
                            <p:spPr bwMode="auto">
                              <a:xfrm>
                                <a:off x="2833" y="578"/>
                                <a:ext cx="2878" cy="2433"/>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55323" name="Group 15">
                    <a:extLst>
                      <a:ext uri="{FF2B5EF4-FFF2-40B4-BE49-F238E27FC236}">
                        <a16:creationId xmlns:a16="http://schemas.microsoft.com/office/drawing/2014/main" id="{03A92EA9-ECA6-8918-7395-814E04FE3BD9}"/>
                      </a:ext>
                    </a:extLst>
                  </p:cNvPr>
                  <p:cNvGrpSpPr>
                    <a:grpSpLocks/>
                  </p:cNvGrpSpPr>
                  <p:nvPr/>
                </p:nvGrpSpPr>
                <p:grpSpPr bwMode="auto">
                  <a:xfrm>
                    <a:off x="3120" y="720"/>
                    <a:ext cx="960" cy="368"/>
                    <a:chOff x="3120" y="720"/>
                    <a:chExt cx="960" cy="368"/>
                  </a:xfrm>
                </p:grpSpPr>
                <p:sp>
                  <p:nvSpPr>
                    <p:cNvPr id="55325" name="Text Box 16">
                      <a:extLst>
                        <a:ext uri="{FF2B5EF4-FFF2-40B4-BE49-F238E27FC236}">
                          <a16:creationId xmlns:a16="http://schemas.microsoft.com/office/drawing/2014/main" id="{410946E1-0B6E-3BD3-DAEB-C294BB9226EA}"/>
                        </a:ext>
                      </a:extLst>
                    </p:cNvPr>
                    <p:cNvSpPr txBox="1">
                      <a:spLocks noChangeArrowheads="1"/>
                    </p:cNvSpPr>
                    <p:nvPr/>
                  </p:nvSpPr>
                  <p:spPr bwMode="auto">
                    <a:xfrm>
                      <a:off x="3120" y="720"/>
                      <a:ext cx="96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en-US" altLang="zh-CN" sz="3200">
                          <a:latin typeface="Tahoma" panose="020B0604030504040204" pitchFamily="34" charset="0"/>
                        </a:rPr>
                        <a:t>R      S</a:t>
                      </a:r>
                      <a:endParaRPr kumimoji="1" lang="en-US" altLang="zh-CN" sz="2400">
                        <a:latin typeface="Tahoma" panose="020B0604030504040204" pitchFamily="34" charset="0"/>
                      </a:endParaRPr>
                    </a:p>
                  </p:txBody>
                </p:sp>
                <p:sp>
                  <p:nvSpPr>
                    <p:cNvPr id="55326" name="Line 17">
                      <a:extLst>
                        <a:ext uri="{FF2B5EF4-FFF2-40B4-BE49-F238E27FC236}">
                          <a16:creationId xmlns:a16="http://schemas.microsoft.com/office/drawing/2014/main" id="{AFBEF964-8DF1-743E-A38F-931BF27DDFAB}"/>
                        </a:ext>
                      </a:extLst>
                    </p:cNvPr>
                    <p:cNvSpPr>
                      <a:spLocks noChangeShapeType="1"/>
                    </p:cNvSpPr>
                    <p:nvPr/>
                  </p:nvSpPr>
                  <p:spPr bwMode="auto">
                    <a:xfrm>
                      <a:off x="3168" y="779"/>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7" name="Line 18">
                      <a:extLst>
                        <a:ext uri="{FF2B5EF4-FFF2-40B4-BE49-F238E27FC236}">
                          <a16:creationId xmlns:a16="http://schemas.microsoft.com/office/drawing/2014/main" id="{FF7F1AAA-A6C3-1DB1-6A4F-12C7C6D7CEBE}"/>
                        </a:ext>
                      </a:extLst>
                    </p:cNvPr>
                    <p:cNvSpPr>
                      <a:spLocks noChangeShapeType="1"/>
                    </p:cNvSpPr>
                    <p:nvPr/>
                  </p:nvSpPr>
                  <p:spPr bwMode="auto">
                    <a:xfrm>
                      <a:off x="3862" y="783"/>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5324" name="Text Box 19">
                    <a:extLst>
                      <a:ext uri="{FF2B5EF4-FFF2-40B4-BE49-F238E27FC236}">
                        <a16:creationId xmlns:a16="http://schemas.microsoft.com/office/drawing/2014/main" id="{C284EF42-18D6-7428-0F87-A3995493F23E}"/>
                      </a:ext>
                    </a:extLst>
                  </p:cNvPr>
                  <p:cNvSpPr txBox="1">
                    <a:spLocks noChangeArrowheads="1"/>
                  </p:cNvSpPr>
                  <p:nvPr/>
                </p:nvSpPr>
                <p:spPr bwMode="auto">
                  <a:xfrm>
                    <a:off x="4848" y="672"/>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en-US" altLang="zh-CN" sz="3200">
                        <a:latin typeface="Tahoma" panose="020B0604030504040204" pitchFamily="34" charset="0"/>
                      </a:rPr>
                      <a:t>Q</a:t>
                    </a:r>
                    <a:endParaRPr kumimoji="1" lang="en-US" altLang="zh-CN" sz="2400">
                      <a:latin typeface="Tahoma" panose="020B0604030504040204" pitchFamily="34" charset="0"/>
                    </a:endParaRPr>
                  </a:p>
                </p:txBody>
              </p:sp>
            </p:grpSp>
            <p:sp>
              <p:nvSpPr>
                <p:cNvPr id="55320" name="Text Box 20">
                  <a:extLst>
                    <a:ext uri="{FF2B5EF4-FFF2-40B4-BE49-F238E27FC236}">
                      <a16:creationId xmlns:a16="http://schemas.microsoft.com/office/drawing/2014/main" id="{D01BB300-705C-04F4-CE18-BB28F0D9B49B}"/>
                    </a:ext>
                  </a:extLst>
                </p:cNvPr>
                <p:cNvSpPr txBox="1">
                  <a:spLocks noChangeArrowheads="1"/>
                </p:cNvSpPr>
                <p:nvPr/>
              </p:nvSpPr>
              <p:spPr bwMode="auto">
                <a:xfrm>
                  <a:off x="3024" y="959"/>
                  <a:ext cx="115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latin typeface="Tahoma" panose="020B0604030504040204" pitchFamily="34" charset="0"/>
                    </a:rPr>
                    <a:t>0         1</a:t>
                  </a:r>
                </a:p>
              </p:txBody>
            </p:sp>
            <p:sp>
              <p:nvSpPr>
                <p:cNvPr id="55321" name="Text Box 21">
                  <a:extLst>
                    <a:ext uri="{FF2B5EF4-FFF2-40B4-BE49-F238E27FC236}">
                      <a16:creationId xmlns:a16="http://schemas.microsoft.com/office/drawing/2014/main" id="{AF355B93-7E22-C093-FFD7-FD6B8F519A71}"/>
                    </a:ext>
                  </a:extLst>
                </p:cNvPr>
                <p:cNvSpPr txBox="1">
                  <a:spLocks noChangeArrowheads="1"/>
                </p:cNvSpPr>
                <p:nvPr/>
              </p:nvSpPr>
              <p:spPr bwMode="auto">
                <a:xfrm>
                  <a:off x="4800" y="953"/>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latin typeface="Tahoma" panose="020B0604030504040204" pitchFamily="34" charset="0"/>
                    </a:rPr>
                    <a:t>0</a:t>
                  </a:r>
                </a:p>
              </p:txBody>
            </p:sp>
          </p:grpSp>
          <p:sp>
            <p:nvSpPr>
              <p:cNvPr id="55317" name="Text Box 22">
                <a:extLst>
                  <a:ext uri="{FF2B5EF4-FFF2-40B4-BE49-F238E27FC236}">
                    <a16:creationId xmlns:a16="http://schemas.microsoft.com/office/drawing/2014/main" id="{CE7B7A87-03EB-6BA7-06EC-1D5545B149A0}"/>
                  </a:ext>
                </a:extLst>
              </p:cNvPr>
              <p:cNvSpPr txBox="1">
                <a:spLocks noChangeArrowheads="1"/>
              </p:cNvSpPr>
              <p:nvPr/>
            </p:nvSpPr>
            <p:spPr bwMode="auto">
              <a:xfrm>
                <a:off x="3024" y="1409"/>
                <a:ext cx="115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latin typeface="Tahoma" panose="020B0604030504040204" pitchFamily="34" charset="0"/>
                  </a:rPr>
                  <a:t>1         0</a:t>
                </a:r>
              </a:p>
            </p:txBody>
          </p:sp>
          <p:sp>
            <p:nvSpPr>
              <p:cNvPr id="55318" name="Text Box 23">
                <a:extLst>
                  <a:ext uri="{FF2B5EF4-FFF2-40B4-BE49-F238E27FC236}">
                    <a16:creationId xmlns:a16="http://schemas.microsoft.com/office/drawing/2014/main" id="{2C259D95-C271-109D-CC33-E9D58E2D3234}"/>
                  </a:ext>
                </a:extLst>
              </p:cNvPr>
              <p:cNvSpPr txBox="1">
                <a:spLocks noChangeArrowheads="1"/>
              </p:cNvSpPr>
              <p:nvPr/>
            </p:nvSpPr>
            <p:spPr bwMode="auto">
              <a:xfrm>
                <a:off x="4800" y="1403"/>
                <a:ext cx="38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latin typeface="Tahoma" panose="020B0604030504040204" pitchFamily="34" charset="0"/>
                  </a:rPr>
                  <a:t>1</a:t>
                </a:r>
              </a:p>
            </p:txBody>
          </p:sp>
        </p:grpSp>
        <p:sp>
          <p:nvSpPr>
            <p:cNvPr id="55314" name="Text Box 29">
              <a:extLst>
                <a:ext uri="{FF2B5EF4-FFF2-40B4-BE49-F238E27FC236}">
                  <a16:creationId xmlns:a16="http://schemas.microsoft.com/office/drawing/2014/main" id="{D261E244-5C18-5EAC-184E-2E4CB01DF26D}"/>
                </a:ext>
              </a:extLst>
            </p:cNvPr>
            <p:cNvSpPr txBox="1">
              <a:spLocks noChangeArrowheads="1"/>
            </p:cNvSpPr>
            <p:nvPr/>
          </p:nvSpPr>
          <p:spPr bwMode="auto">
            <a:xfrm>
              <a:off x="3024" y="1889"/>
              <a:ext cx="115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latin typeface="Tahoma" panose="020B0604030504040204" pitchFamily="34" charset="0"/>
                </a:rPr>
                <a:t>1         1</a:t>
              </a:r>
            </a:p>
          </p:txBody>
        </p:sp>
        <p:sp>
          <p:nvSpPr>
            <p:cNvPr id="55315" name="Text Box 30">
              <a:extLst>
                <a:ext uri="{FF2B5EF4-FFF2-40B4-BE49-F238E27FC236}">
                  <a16:creationId xmlns:a16="http://schemas.microsoft.com/office/drawing/2014/main" id="{5C1753FC-1227-20C4-20DA-7B626AF71968}"/>
                </a:ext>
              </a:extLst>
            </p:cNvPr>
            <p:cNvSpPr txBox="1">
              <a:spLocks noChangeArrowheads="1"/>
            </p:cNvSpPr>
            <p:nvPr/>
          </p:nvSpPr>
          <p:spPr bwMode="auto">
            <a:xfrm>
              <a:off x="4608" y="1883"/>
              <a:ext cx="76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zh-CN" altLang="en-US" sz="3200">
                  <a:latin typeface="Tahoma" panose="020B0604030504040204" pitchFamily="34" charset="0"/>
                </a:rPr>
                <a:t>不变</a:t>
              </a:r>
            </a:p>
          </p:txBody>
        </p:sp>
      </p:grpSp>
      <p:sp>
        <p:nvSpPr>
          <p:cNvPr id="55310" name="Text Box 33">
            <a:extLst>
              <a:ext uri="{FF2B5EF4-FFF2-40B4-BE49-F238E27FC236}">
                <a16:creationId xmlns:a16="http://schemas.microsoft.com/office/drawing/2014/main" id="{1CE6E351-0A6A-DFCD-F759-EA9BAE7B37E7}"/>
              </a:ext>
            </a:extLst>
          </p:cNvPr>
          <p:cNvSpPr txBox="1">
            <a:spLocks noChangeArrowheads="1"/>
          </p:cNvSpPr>
          <p:nvPr/>
        </p:nvSpPr>
        <p:spPr bwMode="auto">
          <a:xfrm>
            <a:off x="4921250" y="5249863"/>
            <a:ext cx="1828800" cy="61753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en-US" altLang="zh-CN" sz="3200">
                <a:solidFill>
                  <a:srgbClr val="CC3300"/>
                </a:solidFill>
                <a:latin typeface="Tahoma" panose="020B0604030504040204" pitchFamily="34" charset="0"/>
              </a:rPr>
              <a:t>0</a:t>
            </a:r>
            <a:r>
              <a:rPr kumimoji="1" lang="en-US" altLang="zh-CN" sz="3200">
                <a:latin typeface="Tahoma" panose="020B0604030504040204" pitchFamily="34" charset="0"/>
              </a:rPr>
              <a:t>         </a:t>
            </a:r>
            <a:r>
              <a:rPr kumimoji="1" lang="en-US" altLang="zh-CN" sz="3200">
                <a:solidFill>
                  <a:srgbClr val="CC3300"/>
                </a:solidFill>
                <a:latin typeface="Tahoma" panose="020B0604030504040204" pitchFamily="34" charset="0"/>
              </a:rPr>
              <a:t>0</a:t>
            </a:r>
            <a:endParaRPr kumimoji="1" lang="en-US" altLang="zh-CN" sz="3200">
              <a:latin typeface="Tahoma" panose="020B0604030504040204" pitchFamily="34" charset="0"/>
            </a:endParaRPr>
          </a:p>
        </p:txBody>
      </p:sp>
      <p:sp>
        <p:nvSpPr>
          <p:cNvPr id="55311" name="Text Box 34">
            <a:extLst>
              <a:ext uri="{FF2B5EF4-FFF2-40B4-BE49-F238E27FC236}">
                <a16:creationId xmlns:a16="http://schemas.microsoft.com/office/drawing/2014/main" id="{5BD05410-170B-43B4-62C1-F3F3D4EEB121}"/>
              </a:ext>
            </a:extLst>
          </p:cNvPr>
          <p:cNvSpPr txBox="1">
            <a:spLocks noChangeArrowheads="1"/>
          </p:cNvSpPr>
          <p:nvPr/>
        </p:nvSpPr>
        <p:spPr bwMode="auto">
          <a:xfrm>
            <a:off x="7435850" y="5240338"/>
            <a:ext cx="1219200" cy="617537"/>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kumimoji="1" lang="zh-CN" altLang="en-US" sz="3200">
                <a:solidFill>
                  <a:srgbClr val="CC3300"/>
                </a:solidFill>
                <a:latin typeface="Tahoma" panose="020B0604030504040204" pitchFamily="34" charset="0"/>
              </a:rPr>
              <a:t>不定</a:t>
            </a:r>
            <a:endParaRPr kumimoji="1" lang="zh-CN" altLang="en-US" sz="3200">
              <a:latin typeface="Tahoma" panose="020B0604030504040204" pitchFamily="34" charset="0"/>
            </a:endParaRPr>
          </a:p>
        </p:txBody>
      </p:sp>
      <p:sp>
        <p:nvSpPr>
          <p:cNvPr id="33" name="Text Box 36">
            <a:extLst>
              <a:ext uri="{FF2B5EF4-FFF2-40B4-BE49-F238E27FC236}">
                <a16:creationId xmlns:a16="http://schemas.microsoft.com/office/drawing/2014/main" id="{657AD8E8-0B4D-0800-D875-24D80217A455}"/>
              </a:ext>
            </a:extLst>
          </p:cNvPr>
          <p:cNvSpPr txBox="1">
            <a:spLocks noChangeArrowheads="1"/>
          </p:cNvSpPr>
          <p:nvPr/>
        </p:nvSpPr>
        <p:spPr bwMode="auto">
          <a:xfrm>
            <a:off x="1925638" y="1905000"/>
            <a:ext cx="838200" cy="1311275"/>
          </a:xfrm>
          <a:prstGeom prst="rect">
            <a:avLst/>
          </a:prstGeom>
          <a:noFill/>
          <a:ln w="9525">
            <a:noFill/>
            <a:miter lim="800000"/>
            <a:headEnd/>
            <a:tailEnd/>
          </a:ln>
          <a:effectLst/>
        </p:spPr>
        <p:txBody>
          <a:bodyPr>
            <a:spAutoFit/>
          </a:bodyPr>
          <a:lstStyle/>
          <a:p>
            <a:pPr algn="ctr">
              <a:spcBef>
                <a:spcPct val="50000"/>
              </a:spcBef>
              <a:defRPr/>
            </a:pPr>
            <a:r>
              <a:rPr lang="zh-CN" altLang="en-US" sz="8000">
                <a:effectLst>
                  <a:outerShdw blurRad="38100" dist="38100" dir="2700000" algn="tl">
                    <a:srgbClr val="FFFFFF"/>
                  </a:outerShdw>
                </a:effectLst>
              </a:rPr>
              <a:t>？</a:t>
            </a:r>
            <a:endParaRPr lang="zh-CN" altLang="en-US" sz="4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1" name="图片 2" descr="表格&#10;&#10;描述已自动生成">
            <a:extLst>
              <a:ext uri="{FF2B5EF4-FFF2-40B4-BE49-F238E27FC236}">
                <a16:creationId xmlns:a16="http://schemas.microsoft.com/office/drawing/2014/main" id="{7E8E99F7-54E6-293D-C6FF-E1EDC6393F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9900" y="1592263"/>
            <a:ext cx="5257800" cy="509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2" name="标题 1">
            <a:extLst>
              <a:ext uri="{FF2B5EF4-FFF2-40B4-BE49-F238E27FC236}">
                <a16:creationId xmlns:a16="http://schemas.microsoft.com/office/drawing/2014/main" id="{6793AE49-AB03-233E-EA4A-AF874DE18BCB}"/>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56323" name="灯片编号占位符 3">
            <a:extLst>
              <a:ext uri="{FF2B5EF4-FFF2-40B4-BE49-F238E27FC236}">
                <a16:creationId xmlns:a16="http://schemas.microsoft.com/office/drawing/2014/main" id="{D2AB6860-96A0-D1A3-3C98-A0C6F5693C9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905E2B4A-4DE9-0649-A428-AEBC824E24E7}" type="slidenum">
              <a:rPr lang="zh-CN" altLang="en-US" sz="1400" smtClean="0">
                <a:latin typeface="Times New Roman" panose="02020603050405020304" pitchFamily="18" charset="0"/>
              </a:rPr>
              <a:pPr>
                <a:spcBef>
                  <a:spcPct val="0"/>
                </a:spcBef>
                <a:buFontTx/>
                <a:buNone/>
              </a:pPr>
              <a:t>32</a:t>
            </a:fld>
            <a:endParaRPr lang="en-US" altLang="zh-CN" sz="1400">
              <a:latin typeface="Times New Roman" panose="02020603050405020304" pitchFamily="18" charset="0"/>
            </a:endParaRPr>
          </a:p>
        </p:txBody>
      </p:sp>
      <p:sp>
        <p:nvSpPr>
          <p:cNvPr id="56324" name="Text Box 6">
            <a:extLst>
              <a:ext uri="{FF2B5EF4-FFF2-40B4-BE49-F238E27FC236}">
                <a16:creationId xmlns:a16="http://schemas.microsoft.com/office/drawing/2014/main" id="{E44DEA8A-FCE1-1DE0-3416-26D4A3653E85}"/>
              </a:ext>
            </a:extLst>
          </p:cNvPr>
          <p:cNvSpPr txBox="1">
            <a:spLocks noChangeArrowheads="1"/>
          </p:cNvSpPr>
          <p:nvPr/>
        </p:nvSpPr>
        <p:spPr bwMode="auto">
          <a:xfrm>
            <a:off x="533400" y="1706563"/>
            <a:ext cx="914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zh-CN" altLang="en-US" sz="2400">
                <a:latin typeface="Tahoma" panose="020B0604030504040204" pitchFamily="34" charset="0"/>
              </a:rPr>
              <a:t>现态：触发器接收输入信号之前的状态，也就是触发器原来的稳定状态。</a:t>
            </a:r>
          </a:p>
        </p:txBody>
      </p:sp>
      <p:sp>
        <p:nvSpPr>
          <p:cNvPr id="56325" name="Text Box 7">
            <a:extLst>
              <a:ext uri="{FF2B5EF4-FFF2-40B4-BE49-F238E27FC236}">
                <a16:creationId xmlns:a16="http://schemas.microsoft.com/office/drawing/2014/main" id="{FCB68BED-E76C-7C95-FE59-8C0D4827E970}"/>
              </a:ext>
            </a:extLst>
          </p:cNvPr>
          <p:cNvSpPr txBox="1">
            <a:spLocks noChangeArrowheads="1"/>
          </p:cNvSpPr>
          <p:nvPr/>
        </p:nvSpPr>
        <p:spPr bwMode="auto">
          <a:xfrm>
            <a:off x="7772400" y="1706563"/>
            <a:ext cx="914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50000"/>
              </a:spcBef>
              <a:buFontTx/>
              <a:buNone/>
            </a:pPr>
            <a:r>
              <a:rPr kumimoji="1" lang="zh-CN" altLang="en-US" sz="2400">
                <a:latin typeface="Tahoma" panose="020B0604030504040204" pitchFamily="34" charset="0"/>
              </a:rPr>
              <a:t>次态：触发器接收输入信号之后所处的新的稳定状态。</a:t>
            </a:r>
          </a:p>
        </p:txBody>
      </p:sp>
      <p:grpSp>
        <p:nvGrpSpPr>
          <p:cNvPr id="56326" name="Group 10">
            <a:extLst>
              <a:ext uri="{FF2B5EF4-FFF2-40B4-BE49-F238E27FC236}">
                <a16:creationId xmlns:a16="http://schemas.microsoft.com/office/drawing/2014/main" id="{DFAA94BC-310A-0009-D19C-291DB532A571}"/>
              </a:ext>
            </a:extLst>
          </p:cNvPr>
          <p:cNvGrpSpPr>
            <a:grpSpLocks/>
          </p:cNvGrpSpPr>
          <p:nvPr/>
        </p:nvGrpSpPr>
        <p:grpSpPr bwMode="auto">
          <a:xfrm>
            <a:off x="1295400" y="1477963"/>
            <a:ext cx="2133600" cy="1066800"/>
            <a:chOff x="816" y="528"/>
            <a:chExt cx="1344" cy="672"/>
          </a:xfrm>
        </p:grpSpPr>
        <p:sp>
          <p:nvSpPr>
            <p:cNvPr id="56330" name="Oval 4">
              <a:extLst>
                <a:ext uri="{FF2B5EF4-FFF2-40B4-BE49-F238E27FC236}">
                  <a16:creationId xmlns:a16="http://schemas.microsoft.com/office/drawing/2014/main" id="{578439DD-31BE-E02C-E17D-9860977AEFC8}"/>
                </a:ext>
              </a:extLst>
            </p:cNvPr>
            <p:cNvSpPr>
              <a:spLocks noChangeArrowheads="1"/>
            </p:cNvSpPr>
            <p:nvPr/>
          </p:nvSpPr>
          <p:spPr bwMode="auto">
            <a:xfrm>
              <a:off x="1728" y="672"/>
              <a:ext cx="432" cy="528"/>
            </a:xfrm>
            <a:prstGeom prst="ellipse">
              <a:avLst/>
            </a:pr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endParaRPr kumimoji="1" lang="zh-CN" altLang="en-US" sz="2400">
                <a:latin typeface="Tahoma" panose="020B0604030504040204" pitchFamily="34" charset="0"/>
              </a:endParaRPr>
            </a:p>
          </p:txBody>
        </p:sp>
        <p:sp>
          <p:nvSpPr>
            <p:cNvPr id="56331" name="Freeform 8">
              <a:extLst>
                <a:ext uri="{FF2B5EF4-FFF2-40B4-BE49-F238E27FC236}">
                  <a16:creationId xmlns:a16="http://schemas.microsoft.com/office/drawing/2014/main" id="{016D43FD-DF40-E167-124D-5F126B2B5347}"/>
                </a:ext>
              </a:extLst>
            </p:cNvPr>
            <p:cNvSpPr>
              <a:spLocks/>
            </p:cNvSpPr>
            <p:nvPr/>
          </p:nvSpPr>
          <p:spPr bwMode="auto">
            <a:xfrm>
              <a:off x="816" y="528"/>
              <a:ext cx="1056" cy="144"/>
            </a:xfrm>
            <a:custGeom>
              <a:avLst/>
              <a:gdLst>
                <a:gd name="T0" fmla="*/ 1056 w 1056"/>
                <a:gd name="T1" fmla="*/ 1 h 240"/>
                <a:gd name="T2" fmla="*/ 624 w 1056"/>
                <a:gd name="T3" fmla="*/ 0 h 240"/>
                <a:gd name="T4" fmla="*/ 0 w 1056"/>
                <a:gd name="T5" fmla="*/ 1 h 240"/>
                <a:gd name="T6" fmla="*/ 0 60000 65536"/>
                <a:gd name="T7" fmla="*/ 0 60000 65536"/>
                <a:gd name="T8" fmla="*/ 0 60000 65536"/>
                <a:gd name="T9" fmla="*/ 0 w 1056"/>
                <a:gd name="T10" fmla="*/ 0 h 240"/>
                <a:gd name="T11" fmla="*/ 1056 w 1056"/>
                <a:gd name="T12" fmla="*/ 240 h 240"/>
              </a:gdLst>
              <a:ahLst/>
              <a:cxnLst>
                <a:cxn ang="T6">
                  <a:pos x="T0" y="T1"/>
                </a:cxn>
                <a:cxn ang="T7">
                  <a:pos x="T2" y="T3"/>
                </a:cxn>
                <a:cxn ang="T8">
                  <a:pos x="T4" y="T5"/>
                </a:cxn>
              </a:cxnLst>
              <a:rect l="T9" t="T10" r="T11" b="T12"/>
              <a:pathLst>
                <a:path w="1056" h="240">
                  <a:moveTo>
                    <a:pt x="1056" y="240"/>
                  </a:moveTo>
                  <a:cubicBezTo>
                    <a:pt x="928" y="120"/>
                    <a:pt x="800" y="0"/>
                    <a:pt x="624" y="0"/>
                  </a:cubicBezTo>
                  <a:cubicBezTo>
                    <a:pt x="448" y="0"/>
                    <a:pt x="224" y="120"/>
                    <a:pt x="0" y="240"/>
                  </a:cubicBezTo>
                </a:path>
              </a:pathLst>
            </a:custGeom>
            <a:noFill/>
            <a:ln w="38100">
              <a:solidFill>
                <a:schemeClr val="accent2"/>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56327" name="Group 11">
            <a:extLst>
              <a:ext uri="{FF2B5EF4-FFF2-40B4-BE49-F238E27FC236}">
                <a16:creationId xmlns:a16="http://schemas.microsoft.com/office/drawing/2014/main" id="{7072570B-E504-00CC-BC34-6CDD281B5222}"/>
              </a:ext>
            </a:extLst>
          </p:cNvPr>
          <p:cNvGrpSpPr>
            <a:grpSpLocks/>
          </p:cNvGrpSpPr>
          <p:nvPr/>
        </p:nvGrpSpPr>
        <p:grpSpPr bwMode="auto">
          <a:xfrm>
            <a:off x="3657600" y="1477963"/>
            <a:ext cx="4648200" cy="990600"/>
            <a:chOff x="2304" y="528"/>
            <a:chExt cx="2928" cy="624"/>
          </a:xfrm>
        </p:grpSpPr>
        <p:sp>
          <p:nvSpPr>
            <p:cNvPr id="56328" name="Oval 5">
              <a:extLst>
                <a:ext uri="{FF2B5EF4-FFF2-40B4-BE49-F238E27FC236}">
                  <a16:creationId xmlns:a16="http://schemas.microsoft.com/office/drawing/2014/main" id="{E3BB50ED-AB04-49F7-685E-3DFC8F24527C}"/>
                </a:ext>
              </a:extLst>
            </p:cNvPr>
            <p:cNvSpPr>
              <a:spLocks noChangeArrowheads="1"/>
            </p:cNvSpPr>
            <p:nvPr/>
          </p:nvSpPr>
          <p:spPr bwMode="auto">
            <a:xfrm>
              <a:off x="2304" y="624"/>
              <a:ext cx="864" cy="528"/>
            </a:xfrm>
            <a:prstGeom prst="ellipse">
              <a:avLst/>
            </a:pr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endParaRPr kumimoji="1" lang="zh-CN" altLang="en-US" sz="2400">
                <a:latin typeface="Tahoma" panose="020B0604030504040204" pitchFamily="34" charset="0"/>
              </a:endParaRPr>
            </a:p>
          </p:txBody>
        </p:sp>
        <p:sp>
          <p:nvSpPr>
            <p:cNvPr id="56329" name="Freeform 9">
              <a:extLst>
                <a:ext uri="{FF2B5EF4-FFF2-40B4-BE49-F238E27FC236}">
                  <a16:creationId xmlns:a16="http://schemas.microsoft.com/office/drawing/2014/main" id="{78F88781-7A70-A26F-D888-CFC4D2EFA0FE}"/>
                </a:ext>
              </a:extLst>
            </p:cNvPr>
            <p:cNvSpPr>
              <a:spLocks/>
            </p:cNvSpPr>
            <p:nvPr/>
          </p:nvSpPr>
          <p:spPr bwMode="auto">
            <a:xfrm>
              <a:off x="3072" y="528"/>
              <a:ext cx="2160" cy="192"/>
            </a:xfrm>
            <a:custGeom>
              <a:avLst/>
              <a:gdLst>
                <a:gd name="T0" fmla="*/ 0 w 2160"/>
                <a:gd name="T1" fmla="*/ 192 h 192"/>
                <a:gd name="T2" fmla="*/ 960 w 2160"/>
                <a:gd name="T3" fmla="*/ 0 h 192"/>
                <a:gd name="T4" fmla="*/ 2160 w 2160"/>
                <a:gd name="T5" fmla="*/ 192 h 192"/>
                <a:gd name="T6" fmla="*/ 0 60000 65536"/>
                <a:gd name="T7" fmla="*/ 0 60000 65536"/>
                <a:gd name="T8" fmla="*/ 0 60000 65536"/>
                <a:gd name="T9" fmla="*/ 0 w 2160"/>
                <a:gd name="T10" fmla="*/ 0 h 192"/>
                <a:gd name="T11" fmla="*/ 2160 w 2160"/>
                <a:gd name="T12" fmla="*/ 192 h 192"/>
              </a:gdLst>
              <a:ahLst/>
              <a:cxnLst>
                <a:cxn ang="T6">
                  <a:pos x="T0" y="T1"/>
                </a:cxn>
                <a:cxn ang="T7">
                  <a:pos x="T2" y="T3"/>
                </a:cxn>
                <a:cxn ang="T8">
                  <a:pos x="T4" y="T5"/>
                </a:cxn>
              </a:cxnLst>
              <a:rect l="T9" t="T10" r="T11" b="T12"/>
              <a:pathLst>
                <a:path w="2160" h="192">
                  <a:moveTo>
                    <a:pt x="0" y="192"/>
                  </a:moveTo>
                  <a:cubicBezTo>
                    <a:pt x="300" y="96"/>
                    <a:pt x="600" y="0"/>
                    <a:pt x="960" y="0"/>
                  </a:cubicBezTo>
                  <a:cubicBezTo>
                    <a:pt x="1320" y="0"/>
                    <a:pt x="1740" y="96"/>
                    <a:pt x="2160" y="192"/>
                  </a:cubicBezTo>
                </a:path>
              </a:pathLst>
            </a:custGeom>
            <a:noFill/>
            <a:ln w="38100">
              <a:solidFill>
                <a:srgbClr val="CC33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a:extLst>
              <a:ext uri="{FF2B5EF4-FFF2-40B4-BE49-F238E27FC236}">
                <a16:creationId xmlns:a16="http://schemas.microsoft.com/office/drawing/2014/main" id="{3753B543-02EE-AE95-E5BF-95DEE050A1ED}"/>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57346" name="灯片编号占位符 3">
            <a:extLst>
              <a:ext uri="{FF2B5EF4-FFF2-40B4-BE49-F238E27FC236}">
                <a16:creationId xmlns:a16="http://schemas.microsoft.com/office/drawing/2014/main" id="{8ED1C2DA-FB74-DE45-F826-2C35657E0E1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64BF252A-ADBA-B54A-A583-AFD2EC247AF2}" type="slidenum">
              <a:rPr lang="zh-CN" altLang="en-US" sz="1400" smtClean="0">
                <a:latin typeface="Times New Roman" panose="02020603050405020304" pitchFamily="18" charset="0"/>
              </a:rPr>
              <a:pPr>
                <a:spcBef>
                  <a:spcPct val="0"/>
                </a:spcBef>
                <a:buFontTx/>
                <a:buNone/>
              </a:pPr>
              <a:t>33</a:t>
            </a:fld>
            <a:endParaRPr lang="en-US" altLang="zh-CN" sz="1400">
              <a:latin typeface="Times New Roman" panose="02020603050405020304" pitchFamily="18" charset="0"/>
            </a:endParaRPr>
          </a:p>
        </p:txBody>
      </p:sp>
      <p:sp>
        <p:nvSpPr>
          <p:cNvPr id="57347" name="内容占位符 2">
            <a:extLst>
              <a:ext uri="{FF2B5EF4-FFF2-40B4-BE49-F238E27FC236}">
                <a16:creationId xmlns:a16="http://schemas.microsoft.com/office/drawing/2014/main" id="{E6D16BBF-AB06-814D-9AE1-7B76EEBB5A75}"/>
              </a:ext>
            </a:extLst>
          </p:cNvPr>
          <p:cNvSpPr>
            <a:spLocks noGrp="1" noChangeArrowheads="1"/>
          </p:cNvSpPr>
          <p:nvPr>
            <p:ph idx="1"/>
          </p:nvPr>
        </p:nvSpPr>
        <p:spPr>
          <a:xfrm>
            <a:off x="26988" y="2108200"/>
            <a:ext cx="5756275" cy="3311525"/>
          </a:xfrm>
        </p:spPr>
        <p:txBody>
          <a:bodyPr/>
          <a:lstStyle/>
          <a:p>
            <a:pPr>
              <a:lnSpc>
                <a:spcPct val="90000"/>
              </a:lnSpc>
            </a:pPr>
            <a:r>
              <a:rPr lang="en-US" altLang="zh-CN" sz="2400">
                <a:latin typeface="Arial" panose="020B0604020202020204" pitchFamily="34" charset="0"/>
                <a:ea typeface="宋体" panose="02010600030101010101" pitchFamily="2" charset="-122"/>
                <a:cs typeface="Arial" panose="020B0604020202020204" pitchFamily="34" charset="0"/>
              </a:rPr>
              <a:t>1949</a:t>
            </a:r>
            <a:r>
              <a:rPr lang="zh-CN" altLang="en-US" sz="2400">
                <a:latin typeface="Arial" panose="020B0604020202020204" pitchFamily="34" charset="0"/>
                <a:ea typeface="宋体" panose="02010600030101010101" pitchFamily="2" charset="-122"/>
                <a:cs typeface="Arial" panose="020B0604020202020204" pitchFamily="34" charset="0"/>
              </a:rPr>
              <a:t>年在英国剑桥大学，计算机先驱</a:t>
            </a:r>
            <a:r>
              <a:rPr lang="en-US" altLang="zh-CN" sz="2400">
                <a:latin typeface="Arial" panose="020B0604020202020204" pitchFamily="34" charset="0"/>
                <a:ea typeface="宋体" panose="02010600030101010101" pitchFamily="2" charset="-122"/>
                <a:cs typeface="Arial" panose="020B0604020202020204" pitchFamily="34" charset="0"/>
              </a:rPr>
              <a:t>Maurice Wilkes</a:t>
            </a:r>
            <a:r>
              <a:rPr lang="zh-CN" altLang="en-US" sz="2400">
                <a:latin typeface="Arial" panose="020B0604020202020204" pitchFamily="34" charset="0"/>
                <a:ea typeface="宋体" panose="02010600030101010101" pitchFamily="2" charset="-122"/>
                <a:cs typeface="Arial" panose="020B0604020202020204" pitchFamily="34" charset="0"/>
              </a:rPr>
              <a:t>与</a:t>
            </a:r>
            <a:r>
              <a:rPr lang="en-US" altLang="zh-CN" sz="2400">
                <a:latin typeface="Arial" panose="020B0604020202020204" pitchFamily="34" charset="0"/>
                <a:ea typeface="宋体" panose="02010600030101010101" pitchFamily="2" charset="-122"/>
                <a:cs typeface="Arial" panose="020B0604020202020204" pitchFamily="34" charset="0"/>
              </a:rPr>
              <a:t>EDSAC</a:t>
            </a:r>
            <a:r>
              <a:rPr lang="zh-CN" altLang="en-US" sz="2400">
                <a:latin typeface="Arial" panose="020B0604020202020204" pitchFamily="34" charset="0"/>
                <a:ea typeface="宋体" panose="02010600030101010101" pitchFamily="2" charset="-122"/>
                <a:cs typeface="Arial" panose="020B0604020202020204" pitchFamily="34" charset="0"/>
              </a:rPr>
              <a:t>计算机内存的合影</a:t>
            </a:r>
            <a:endParaRPr lang="en-US" altLang="zh-CN" sz="2400">
              <a:latin typeface="Arial" panose="020B0604020202020204" pitchFamily="34" charset="0"/>
              <a:ea typeface="宋体" panose="02010600030101010101" pitchFamily="2" charset="-122"/>
              <a:cs typeface="Arial" panose="020B0604020202020204" pitchFamily="34" charset="0"/>
            </a:endParaRPr>
          </a:p>
          <a:p>
            <a:pPr>
              <a:lnSpc>
                <a:spcPct val="90000"/>
              </a:lnSpc>
            </a:pPr>
            <a:r>
              <a:rPr lang="zh-CN" altLang="en-US" sz="2400">
                <a:ea typeface="宋体" panose="02010600030101010101" pitchFamily="2" charset="-122"/>
                <a:cs typeface="Arial" panose="020B0604020202020204" pitchFamily="34" charset="0"/>
              </a:rPr>
              <a:t>图中内存叫做</a:t>
            </a:r>
            <a:r>
              <a:rPr lang="zh-CN" altLang="en-US" sz="2400" b="1">
                <a:ea typeface="宋体" panose="02010600030101010101" pitchFamily="2" charset="-122"/>
                <a:cs typeface="Arial" panose="020B0604020202020204" pitchFamily="34" charset="0"/>
              </a:rPr>
              <a:t>汞延迟线内存</a:t>
            </a:r>
            <a:endParaRPr lang="en-US" altLang="zh-CN" sz="2400">
              <a:ea typeface="宋体" panose="02010600030101010101" pitchFamily="2" charset="-122"/>
              <a:cs typeface="Arial" panose="020B0604020202020204" pitchFamily="34" charset="0"/>
            </a:endParaRPr>
          </a:p>
          <a:p>
            <a:pPr lvl="1">
              <a:lnSpc>
                <a:spcPct val="90000"/>
              </a:lnSpc>
            </a:pPr>
            <a:r>
              <a:rPr lang="zh-CN" altLang="en-US" sz="2000">
                <a:ea typeface="宋体" panose="02010600030101010101" pitchFamily="2" charset="-122"/>
                <a:cs typeface="Arial" panose="020B0604020202020204" pitchFamily="34" charset="0"/>
              </a:rPr>
              <a:t>需要依赖比光速慢很多的音速实现存储功能</a:t>
            </a:r>
            <a:endParaRPr lang="en-US" altLang="zh-CN" sz="2000">
              <a:ea typeface="宋体" panose="02010600030101010101" pitchFamily="2" charset="-122"/>
              <a:cs typeface="Arial" panose="020B0604020202020204" pitchFamily="34" charset="0"/>
            </a:endParaRPr>
          </a:p>
          <a:p>
            <a:pPr lvl="1">
              <a:lnSpc>
                <a:spcPct val="90000"/>
              </a:lnSpc>
            </a:pPr>
            <a:r>
              <a:rPr lang="zh-CN" altLang="en-US" sz="2000">
                <a:ea typeface="宋体" panose="02010600030101010101" pitchFamily="2" charset="-122"/>
                <a:cs typeface="Arial" panose="020B0604020202020204" pitchFamily="34" charset="0"/>
              </a:rPr>
              <a:t>在玻璃管的一端是扬声器，另一端则是麦克风。输入的数据脉冲会被转换成声音，然后借助汞传递到玻璃管的另一头，并被重新转换为电信号脉冲，进行整理，然后重新转换并通过环路发送出去。</a:t>
            </a:r>
            <a:r>
              <a:rPr lang="zh-CN" altLang="zh-CN" sz="2000">
                <a:ea typeface="宋体" panose="02010600030101010101" pitchFamily="2" charset="-122"/>
                <a:cs typeface="Arial" panose="020B0604020202020204" pitchFamily="34" charset="0"/>
              </a:rPr>
              <a:t> </a:t>
            </a:r>
            <a:endParaRPr lang="zh-CN" altLang="en-US" sz="2000">
              <a:ea typeface="宋体" panose="02010600030101010101" pitchFamily="2" charset="-122"/>
              <a:cs typeface="Arial" panose="020B0604020202020204" pitchFamily="34" charset="0"/>
            </a:endParaRPr>
          </a:p>
          <a:p>
            <a:pPr>
              <a:lnSpc>
                <a:spcPct val="90000"/>
              </a:lnSpc>
            </a:pPr>
            <a:endParaRPr kumimoji="1" lang="zh-CN" altLang="en-US" sz="2400">
              <a:latin typeface="Arial" panose="020B0604020202020204" pitchFamily="34" charset="0"/>
              <a:ea typeface="宋体" panose="02010600030101010101" pitchFamily="2" charset="-122"/>
              <a:cs typeface="Arial" panose="020B0604020202020204" pitchFamily="34" charset="0"/>
            </a:endParaRPr>
          </a:p>
        </p:txBody>
      </p:sp>
      <p:pic>
        <p:nvPicPr>
          <p:cNvPr id="57348" name="图片 5">
            <a:extLst>
              <a:ext uri="{FF2B5EF4-FFF2-40B4-BE49-F238E27FC236}">
                <a16:creationId xmlns:a16="http://schemas.microsoft.com/office/drawing/2014/main" id="{2B48C4B5-590A-AB3B-90EC-3BF7E59FDC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838" y="1905000"/>
            <a:ext cx="3132137"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a:extLst>
              <a:ext uri="{FF2B5EF4-FFF2-40B4-BE49-F238E27FC236}">
                <a16:creationId xmlns:a16="http://schemas.microsoft.com/office/drawing/2014/main" id="{8153FF98-0727-4678-F22A-92838CFB38E2}"/>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58370" name="内容占位符 2">
            <a:extLst>
              <a:ext uri="{FF2B5EF4-FFF2-40B4-BE49-F238E27FC236}">
                <a16:creationId xmlns:a16="http://schemas.microsoft.com/office/drawing/2014/main" id="{0BBC50C3-F746-E9C0-C049-9221E752AF3A}"/>
              </a:ext>
            </a:extLst>
          </p:cNvPr>
          <p:cNvSpPr>
            <a:spLocks noGrp="1" noChangeArrowheads="1"/>
          </p:cNvSpPr>
          <p:nvPr>
            <p:ph idx="1"/>
          </p:nvPr>
        </p:nvSpPr>
        <p:spPr/>
        <p:txBody>
          <a:bodyPr/>
          <a:lstStyle/>
          <a:p>
            <a:r>
              <a:rPr kumimoji="1" lang="zh-CN" altLang="en-US">
                <a:ea typeface="宋体" panose="02010600030101010101" pitchFamily="2" charset="-122"/>
              </a:rPr>
              <a:t>外存的存储原理</a:t>
            </a:r>
            <a:endParaRPr kumimoji="1" lang="en-US" altLang="zh-CN">
              <a:ea typeface="宋体" panose="02010600030101010101" pitchFamily="2" charset="-122"/>
            </a:endParaRPr>
          </a:p>
          <a:p>
            <a:pPr lvl="1"/>
            <a:r>
              <a:rPr kumimoji="1" lang="zh-CN" altLang="en-US">
                <a:ea typeface="宋体" panose="02010600030101010101" pitchFamily="2" charset="-122"/>
              </a:rPr>
              <a:t>磁盘</a:t>
            </a:r>
            <a:endParaRPr kumimoji="1" lang="en-US" altLang="zh-CN">
              <a:ea typeface="宋体" panose="02010600030101010101" pitchFamily="2" charset="-122"/>
            </a:endParaRPr>
          </a:p>
          <a:p>
            <a:pPr lvl="2"/>
            <a:r>
              <a:rPr kumimoji="1" lang="zh-CN" altLang="en-US">
                <a:ea typeface="宋体" panose="02010600030101010101" pitchFamily="2" charset="-122"/>
              </a:rPr>
              <a:t>磁化方向</a:t>
            </a:r>
            <a:r>
              <a:rPr kumimoji="1" lang="en-US" altLang="zh-CN">
                <a:ea typeface="宋体" panose="02010600030101010101" pitchFamily="2" charset="-122"/>
              </a:rPr>
              <a:t>-&gt;</a:t>
            </a:r>
            <a:r>
              <a:rPr kumimoji="1" lang="zh-CN" altLang="en-US">
                <a:ea typeface="宋体" panose="02010600030101010101" pitchFamily="2" charset="-122"/>
              </a:rPr>
              <a:t>感应电流</a:t>
            </a:r>
            <a:endParaRPr kumimoji="1" lang="en-US" altLang="zh-CN">
              <a:ea typeface="宋体" panose="02010600030101010101" pitchFamily="2" charset="-122"/>
            </a:endParaRPr>
          </a:p>
          <a:p>
            <a:pPr lvl="1"/>
            <a:r>
              <a:rPr kumimoji="1" lang="zh-CN" altLang="en-US">
                <a:ea typeface="宋体" panose="02010600030101010101" pitchFamily="2" charset="-122"/>
              </a:rPr>
              <a:t>闪存（</a:t>
            </a:r>
            <a:r>
              <a:rPr kumimoji="1" lang="en-US" altLang="zh-CN">
                <a:ea typeface="宋体" panose="02010600030101010101" pitchFamily="2" charset="-122"/>
              </a:rPr>
              <a:t>Flash</a:t>
            </a:r>
            <a:r>
              <a:rPr kumimoji="1" lang="zh-CN" altLang="en-US">
                <a:ea typeface="宋体" panose="02010600030101010101" pitchFamily="2" charset="-122"/>
              </a:rPr>
              <a:t>）</a:t>
            </a:r>
            <a:endParaRPr kumimoji="1" lang="en-US" altLang="zh-CN">
              <a:ea typeface="宋体" panose="02010600030101010101" pitchFamily="2" charset="-122"/>
            </a:endParaRPr>
          </a:p>
          <a:p>
            <a:pPr lvl="2"/>
            <a:r>
              <a:rPr kumimoji="1" lang="zh-CN" altLang="en-US">
                <a:ea typeface="宋体" panose="02010600030101010101" pitchFamily="2" charset="-122"/>
              </a:rPr>
              <a:t>是否捕获</a:t>
            </a:r>
            <a:r>
              <a:rPr kumimoji="1" lang="en-US" altLang="zh-CN">
                <a:ea typeface="宋体" panose="02010600030101010101" pitchFamily="2" charset="-122"/>
              </a:rPr>
              <a:t>/</a:t>
            </a:r>
            <a:r>
              <a:rPr kumimoji="1" lang="zh-CN" altLang="en-US">
                <a:ea typeface="宋体" panose="02010600030101010101" pitchFamily="2" charset="-122"/>
              </a:rPr>
              <a:t>捕获多少电子</a:t>
            </a:r>
            <a:r>
              <a:rPr kumimoji="1" lang="en-US" altLang="zh-CN">
                <a:ea typeface="宋体" panose="02010600030101010101" pitchFamily="2" charset="-122"/>
              </a:rPr>
              <a:t>-&gt;</a:t>
            </a:r>
            <a:r>
              <a:rPr kumimoji="1" lang="zh-CN" altLang="en-US">
                <a:ea typeface="宋体" panose="02010600030101010101" pitchFamily="2" charset="-122"/>
              </a:rPr>
              <a:t>电阻</a:t>
            </a:r>
            <a:r>
              <a:rPr kumimoji="1" lang="en-US" altLang="zh-CN">
                <a:ea typeface="宋体" panose="02010600030101010101" pitchFamily="2" charset="-122"/>
              </a:rPr>
              <a:t>/</a:t>
            </a:r>
            <a:r>
              <a:rPr kumimoji="1" lang="zh-CN" altLang="en-US">
                <a:ea typeface="宋体" panose="02010600030101010101" pitchFamily="2" charset="-122"/>
              </a:rPr>
              <a:t>电流</a:t>
            </a:r>
            <a:endParaRPr kumimoji="1" lang="en-US" altLang="zh-CN">
              <a:ea typeface="宋体" panose="02010600030101010101" pitchFamily="2" charset="-122"/>
            </a:endParaRPr>
          </a:p>
          <a:p>
            <a:pPr lvl="1"/>
            <a:r>
              <a:rPr kumimoji="1" lang="zh-CN" altLang="en-US">
                <a:ea typeface="宋体" panose="02010600030101010101" pitchFamily="2" charset="-122"/>
              </a:rPr>
              <a:t>相变存储器（</a:t>
            </a:r>
            <a:r>
              <a:rPr kumimoji="1" lang="en-US" altLang="zh-CN">
                <a:ea typeface="宋体" panose="02010600030101010101" pitchFamily="2" charset="-122"/>
              </a:rPr>
              <a:t>PCM</a:t>
            </a:r>
            <a:r>
              <a:rPr kumimoji="1" lang="zh-CN" altLang="en-US">
                <a:ea typeface="宋体" panose="02010600030101010101" pitchFamily="2" charset="-122"/>
              </a:rPr>
              <a:t>）</a:t>
            </a:r>
            <a:endParaRPr kumimoji="1" lang="en-US" altLang="zh-CN">
              <a:ea typeface="宋体" panose="02010600030101010101" pitchFamily="2" charset="-122"/>
            </a:endParaRPr>
          </a:p>
          <a:p>
            <a:pPr lvl="2"/>
            <a:r>
              <a:rPr kumimoji="1" lang="zh-CN" altLang="en-US">
                <a:ea typeface="宋体" panose="02010600030101010101" pitchFamily="2" charset="-122"/>
              </a:rPr>
              <a:t>加热温度</a:t>
            </a:r>
            <a:r>
              <a:rPr kumimoji="1" lang="en-US" altLang="zh-CN">
                <a:ea typeface="宋体" panose="02010600030101010101" pitchFamily="2" charset="-122"/>
              </a:rPr>
              <a:t>-&gt;</a:t>
            </a:r>
            <a:r>
              <a:rPr kumimoji="1" lang="zh-CN" altLang="en-US">
                <a:ea typeface="宋体" panose="02010600030101010101" pitchFamily="2" charset="-122"/>
              </a:rPr>
              <a:t>结晶状态</a:t>
            </a:r>
            <a:r>
              <a:rPr kumimoji="1" lang="en-US" altLang="zh-CN">
                <a:ea typeface="宋体" panose="02010600030101010101" pitchFamily="2" charset="-122"/>
              </a:rPr>
              <a:t>-&gt;</a:t>
            </a:r>
            <a:r>
              <a:rPr kumimoji="1" lang="zh-CN" altLang="en-US">
                <a:ea typeface="宋体" panose="02010600030101010101" pitchFamily="2" charset="-122"/>
              </a:rPr>
              <a:t>电阻</a:t>
            </a:r>
            <a:endParaRPr kumimoji="1" lang="en-US" altLang="zh-CN">
              <a:ea typeface="宋体" panose="02010600030101010101" pitchFamily="2" charset="-122"/>
            </a:endParaRPr>
          </a:p>
          <a:p>
            <a:pPr lvl="1"/>
            <a:r>
              <a:rPr kumimoji="1" lang="en-US" altLang="zh-CN">
                <a:ea typeface="宋体" panose="02010600030101010101" pitchFamily="2" charset="-122"/>
              </a:rPr>
              <a:t>MTT-MRAM</a:t>
            </a:r>
          </a:p>
          <a:p>
            <a:pPr lvl="2"/>
            <a:r>
              <a:rPr kumimoji="1" lang="zh-CN" altLang="en-US">
                <a:ea typeface="宋体" panose="02010600030101010101" pitchFamily="2" charset="-122"/>
              </a:rPr>
              <a:t>电子自旋</a:t>
            </a:r>
            <a:endParaRPr kumimoji="1" lang="en-US" altLang="zh-CN">
              <a:ea typeface="宋体" panose="02010600030101010101" pitchFamily="2" charset="-122"/>
            </a:endParaRPr>
          </a:p>
        </p:txBody>
      </p:sp>
      <p:sp>
        <p:nvSpPr>
          <p:cNvPr id="58371" name="灯片编号占位符 3">
            <a:extLst>
              <a:ext uri="{FF2B5EF4-FFF2-40B4-BE49-F238E27FC236}">
                <a16:creationId xmlns:a16="http://schemas.microsoft.com/office/drawing/2014/main" id="{6BCBEEA8-DF51-88F5-6140-49601F7F6B5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40CD4030-9D50-D84E-982A-532776CE7FB6}" type="slidenum">
              <a:rPr lang="zh-CN" altLang="en-US" sz="1400" smtClean="0">
                <a:latin typeface="Times New Roman" panose="02020603050405020304" pitchFamily="18" charset="0"/>
              </a:rPr>
              <a:pPr>
                <a:spcBef>
                  <a:spcPct val="0"/>
                </a:spcBef>
                <a:buFontTx/>
                <a:buNone/>
              </a:pPr>
              <a:t>34</a:t>
            </a:fld>
            <a:endParaRPr lang="en-US" altLang="zh-CN" sz="1400">
              <a:latin typeface="Times New Roman" panose="02020603050405020304" pitchFamily="18" charset="0"/>
            </a:endParaRPr>
          </a:p>
        </p:txBody>
      </p:sp>
      <p:pic>
        <p:nvPicPr>
          <p:cNvPr id="58372" name="图片 3">
            <a:extLst>
              <a:ext uri="{FF2B5EF4-FFF2-40B4-BE49-F238E27FC236}">
                <a16:creationId xmlns:a16="http://schemas.microsoft.com/office/drawing/2014/main" id="{C54CE413-C905-1314-ECE1-0F3C914E67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379413"/>
            <a:ext cx="1730375"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文本框 6">
            <a:extLst>
              <a:ext uri="{FF2B5EF4-FFF2-40B4-BE49-F238E27FC236}">
                <a16:creationId xmlns:a16="http://schemas.microsoft.com/office/drawing/2014/main" id="{634E9DC4-2FFF-B97B-C5BD-3AC05957EEA0}"/>
              </a:ext>
            </a:extLst>
          </p:cNvPr>
          <p:cNvSpPr txBox="1">
            <a:spLocks noChangeArrowheads="1"/>
          </p:cNvSpPr>
          <p:nvPr/>
        </p:nvSpPr>
        <p:spPr bwMode="auto">
          <a:xfrm>
            <a:off x="7219950" y="374650"/>
            <a:ext cx="2019300"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2000"/>
              <a:t>世界上第</a:t>
            </a:r>
            <a:r>
              <a:rPr lang="en-US" altLang="zh-CN" sz="2000"/>
              <a:t>1</a:t>
            </a:r>
            <a:r>
              <a:rPr lang="zh-CN" altLang="en-US" sz="2000"/>
              <a:t>块硬盘诞生于</a:t>
            </a:r>
            <a:r>
              <a:rPr lang="en-US" altLang="zh-CN" sz="2000"/>
              <a:t>1956</a:t>
            </a:r>
            <a:r>
              <a:rPr lang="zh-CN" altLang="en-US" sz="2000"/>
              <a:t>年：</a:t>
            </a:r>
            <a:r>
              <a:rPr lang="en-US" altLang="zh-CN" sz="2000"/>
              <a:t>IBM</a:t>
            </a:r>
            <a:r>
              <a:rPr lang="zh-CN" altLang="en-US" sz="2000"/>
              <a:t>公司的</a:t>
            </a:r>
            <a:r>
              <a:rPr lang="en-US" altLang="zh-CN" sz="2000"/>
              <a:t>305 RAMAC</a:t>
            </a:r>
            <a:endParaRPr lang="zh-CN" altLang="en-US" sz="2000"/>
          </a:p>
        </p:txBody>
      </p:sp>
      <p:pic>
        <p:nvPicPr>
          <p:cNvPr id="58374" name="图片 3">
            <a:extLst>
              <a:ext uri="{FF2B5EF4-FFF2-40B4-BE49-F238E27FC236}">
                <a16:creationId xmlns:a16="http://schemas.microsoft.com/office/drawing/2014/main" id="{077F2361-45F4-BC98-0B06-D7D69886AC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9450" y="1871663"/>
            <a:ext cx="2058988"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5" name="图片 3">
            <a:extLst>
              <a:ext uri="{FF2B5EF4-FFF2-40B4-BE49-F238E27FC236}">
                <a16:creationId xmlns:a16="http://schemas.microsoft.com/office/drawing/2014/main" id="{41D4E6C6-8A8A-FE4F-3C81-7E21F65A8C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7075" y="3195638"/>
            <a:ext cx="24225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6" name="图片 4">
            <a:extLst>
              <a:ext uri="{FF2B5EF4-FFF2-40B4-BE49-F238E27FC236}">
                <a16:creationId xmlns:a16="http://schemas.microsoft.com/office/drawing/2014/main" id="{F37DDFBF-A3F7-E11B-8A3A-089935B8AC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9363" y="4565650"/>
            <a:ext cx="2562225"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7" name="图片 10">
            <a:extLst>
              <a:ext uri="{FF2B5EF4-FFF2-40B4-BE49-F238E27FC236}">
                <a16:creationId xmlns:a16="http://schemas.microsoft.com/office/drawing/2014/main" id="{B9BDAE5D-9A85-F1E7-FB4A-C7BB8C846CC6}"/>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914400" y="5368925"/>
            <a:ext cx="3133725" cy="133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8" name="图片 11">
            <a:extLst>
              <a:ext uri="{FF2B5EF4-FFF2-40B4-BE49-F238E27FC236}">
                <a16:creationId xmlns:a16="http://schemas.microsoft.com/office/drawing/2014/main" id="{AD58EE6E-B00F-ADCE-C02A-320A41E8254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357938" y="4860925"/>
            <a:ext cx="2693987"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1">
            <a:extLst>
              <a:ext uri="{FF2B5EF4-FFF2-40B4-BE49-F238E27FC236}">
                <a16:creationId xmlns:a16="http://schemas.microsoft.com/office/drawing/2014/main" id="{2097A6CE-C454-5909-2056-62F3D09DB8BF}"/>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5" name="内容占位符 2">
            <a:extLst>
              <a:ext uri="{FF2B5EF4-FFF2-40B4-BE49-F238E27FC236}">
                <a16:creationId xmlns:a16="http://schemas.microsoft.com/office/drawing/2014/main" id="{762D7EDD-4F45-A93C-3609-6BE93EAE8930}"/>
              </a:ext>
            </a:extLst>
          </p:cNvPr>
          <p:cNvSpPr txBox="1">
            <a:spLocks/>
          </p:cNvSpPr>
          <p:nvPr/>
        </p:nvSpPr>
        <p:spPr bwMode="auto">
          <a:xfrm>
            <a:off x="50800" y="1725613"/>
            <a:ext cx="10396538" cy="3311525"/>
          </a:xfrm>
          <a:prstGeom prst="rect">
            <a:avLst/>
          </a:prstGeom>
          <a:noFill/>
          <a:ln>
            <a:noFill/>
          </a:ln>
        </p:spPr>
        <p:txBody>
          <a:bodyPr>
            <a:normAutofit/>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defRPr/>
            </a:pPr>
            <a:r>
              <a:rPr kumimoji="1" lang="en-US" altLang="zh-CN" sz="2400" b="0" kern="0" dirty="0">
                <a:latin typeface="Arial" panose="020B0604020202020204" pitchFamily="34" charset="0"/>
                <a:cs typeface="Arial" panose="020B0604020202020204" pitchFamily="34" charset="0"/>
              </a:rPr>
              <a:t>3</a:t>
            </a:r>
            <a:r>
              <a:rPr kumimoji="1" lang="zh-CN" altLang="en-US" sz="2400" b="0" kern="0" dirty="0">
                <a:latin typeface="Arial" panose="020B0604020202020204" pitchFamily="34" charset="0"/>
                <a:cs typeface="Arial" panose="020B0604020202020204" pitchFamily="34" charset="0"/>
              </a:rPr>
              <a:t>）抽象：冯诺伊曼体系结构</a:t>
            </a:r>
            <a:endParaRPr kumimoji="1" lang="en-US" altLang="zh-CN" sz="2400" b="0" kern="0" dirty="0">
              <a:latin typeface="Arial" panose="020B0604020202020204" pitchFamily="34" charset="0"/>
              <a:cs typeface="Arial" panose="020B0604020202020204" pitchFamily="34" charset="0"/>
            </a:endParaRPr>
          </a:p>
          <a:p>
            <a:pPr>
              <a:defRPr/>
            </a:pPr>
            <a:endParaRPr kumimoji="1" lang="en-US" altLang="zh-CN" sz="2400" b="0" kern="0" dirty="0">
              <a:latin typeface="Arial" panose="020B0604020202020204" pitchFamily="34" charset="0"/>
              <a:cs typeface="Arial" panose="020B0604020202020204" pitchFamily="34" charset="0"/>
            </a:endParaRPr>
          </a:p>
          <a:p>
            <a:pPr>
              <a:defRPr/>
            </a:pPr>
            <a:endParaRPr kumimoji="1" lang="en-US" altLang="zh-CN" sz="2400" b="0" kern="0" dirty="0">
              <a:latin typeface="Arial" panose="020B0604020202020204" pitchFamily="34" charset="0"/>
              <a:cs typeface="Arial" panose="020B0604020202020204" pitchFamily="34" charset="0"/>
            </a:endParaRPr>
          </a:p>
          <a:p>
            <a:pPr>
              <a:defRPr/>
            </a:pPr>
            <a:endParaRPr kumimoji="1" lang="en-US" altLang="zh-CN" sz="2400" b="0" kern="0" dirty="0">
              <a:latin typeface="Arial" panose="020B0604020202020204" pitchFamily="34" charset="0"/>
              <a:cs typeface="Arial" panose="020B0604020202020204" pitchFamily="34" charset="0"/>
            </a:endParaRPr>
          </a:p>
          <a:p>
            <a:pPr>
              <a:defRPr/>
            </a:pPr>
            <a:endParaRPr kumimoji="1" lang="en-US" altLang="zh-CN" sz="2400" b="0" kern="0" dirty="0">
              <a:latin typeface="Arial" panose="020B0604020202020204" pitchFamily="34" charset="0"/>
              <a:cs typeface="Arial" panose="020B0604020202020204" pitchFamily="34" charset="0"/>
            </a:endParaRPr>
          </a:p>
          <a:p>
            <a:pPr>
              <a:defRPr/>
            </a:pPr>
            <a:endParaRPr kumimoji="1" lang="zh-CN" altLang="en-US" sz="2400" b="0" kern="0" dirty="0"/>
          </a:p>
        </p:txBody>
      </p:sp>
      <p:pic>
        <p:nvPicPr>
          <p:cNvPr id="59395" name="内容占位符 5" descr="00adf41633c29317962b43a4.jpg">
            <a:extLst>
              <a:ext uri="{FF2B5EF4-FFF2-40B4-BE49-F238E27FC236}">
                <a16:creationId xmlns:a16="http://schemas.microsoft.com/office/drawing/2014/main" id="{BAD5B1E4-15AC-6593-6333-D0D84E3C78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429000"/>
            <a:ext cx="1919288" cy="244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标题 1">
            <a:extLst>
              <a:ext uri="{FF2B5EF4-FFF2-40B4-BE49-F238E27FC236}">
                <a16:creationId xmlns:a16="http://schemas.microsoft.com/office/drawing/2014/main" id="{9AE1D0D0-3014-8537-62D4-77EA35209E3A}"/>
              </a:ext>
            </a:extLst>
          </p:cNvPr>
          <p:cNvSpPr txBox="1">
            <a:spLocks noChangeArrowheads="1"/>
          </p:cNvSpPr>
          <p:nvPr/>
        </p:nvSpPr>
        <p:spPr bwMode="auto">
          <a:xfrm>
            <a:off x="157163" y="5886450"/>
            <a:ext cx="287972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400">
                <a:latin typeface="Huawei Sans"/>
                <a:ea typeface="方正兰亭黑简体"/>
                <a:cs typeface="方正兰亭黑简体"/>
              </a:rPr>
              <a:t>计算机之父</a:t>
            </a:r>
            <a:r>
              <a:rPr lang="en-US" altLang="zh-CN" sz="1400">
                <a:latin typeface="Huawei Sans"/>
                <a:ea typeface="方正兰亭黑简体"/>
                <a:cs typeface="方正兰亭黑简体"/>
              </a:rPr>
              <a:t>——</a:t>
            </a:r>
            <a:r>
              <a:rPr lang="zh-CN" altLang="en-US" sz="1400">
                <a:latin typeface="Huawei Sans"/>
                <a:ea typeface="方正兰亭黑简体"/>
                <a:cs typeface="方正兰亭黑简体"/>
              </a:rPr>
              <a:t>约翰</a:t>
            </a:r>
            <a:r>
              <a:rPr lang="en-US" altLang="zh-CN" sz="1400">
                <a:latin typeface="Huawei Sans"/>
                <a:ea typeface="方正兰亭黑简体"/>
                <a:cs typeface="方正兰亭黑简体"/>
                <a:sym typeface="Wingdings" pitchFamily="2" charset="2"/>
              </a:rPr>
              <a:t>·</a:t>
            </a:r>
            <a:r>
              <a:rPr lang="zh-CN" altLang="en-US" sz="1400">
                <a:latin typeface="Huawei Sans"/>
                <a:ea typeface="方正兰亭黑简体"/>
                <a:cs typeface="方正兰亭黑简体"/>
              </a:rPr>
              <a:t>冯</a:t>
            </a:r>
            <a:r>
              <a:rPr lang="en-US" altLang="zh-CN" sz="1400">
                <a:latin typeface="Huawei Sans"/>
                <a:ea typeface="方正兰亭黑简体"/>
                <a:cs typeface="方正兰亭黑简体"/>
                <a:sym typeface="Wingdings" pitchFamily="2" charset="2"/>
              </a:rPr>
              <a:t>·</a:t>
            </a:r>
            <a:r>
              <a:rPr lang="zh-CN" altLang="en-US" sz="1400">
                <a:latin typeface="Huawei Sans"/>
                <a:ea typeface="方正兰亭黑简体"/>
                <a:cs typeface="方正兰亭黑简体"/>
              </a:rPr>
              <a:t>诺依曼</a:t>
            </a:r>
          </a:p>
        </p:txBody>
      </p:sp>
      <p:sp>
        <p:nvSpPr>
          <p:cNvPr id="59397" name="矩形 3">
            <a:extLst>
              <a:ext uri="{FF2B5EF4-FFF2-40B4-BE49-F238E27FC236}">
                <a16:creationId xmlns:a16="http://schemas.microsoft.com/office/drawing/2014/main" id="{C9FF2CEA-C927-F13A-8D6B-0E616E3E070E}"/>
              </a:ext>
            </a:extLst>
          </p:cNvPr>
          <p:cNvSpPr>
            <a:spLocks noChangeArrowheads="1"/>
          </p:cNvSpPr>
          <p:nvPr/>
        </p:nvSpPr>
        <p:spPr bwMode="auto">
          <a:xfrm>
            <a:off x="5086350" y="3176588"/>
            <a:ext cx="1187450" cy="504825"/>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zh-CN" altLang="en-US" sz="1600" b="0">
                <a:latin typeface="Huawei Sans"/>
                <a:ea typeface="方正兰亭黑简体"/>
                <a:cs typeface="方正兰亭黑简体"/>
              </a:rPr>
              <a:t>运算器</a:t>
            </a:r>
          </a:p>
        </p:txBody>
      </p:sp>
      <p:sp>
        <p:nvSpPr>
          <p:cNvPr id="59398" name="矩形 5">
            <a:extLst>
              <a:ext uri="{FF2B5EF4-FFF2-40B4-BE49-F238E27FC236}">
                <a16:creationId xmlns:a16="http://schemas.microsoft.com/office/drawing/2014/main" id="{FC4F995F-9963-7F95-37A8-B9471178D7F6}"/>
              </a:ext>
            </a:extLst>
          </p:cNvPr>
          <p:cNvSpPr>
            <a:spLocks noChangeArrowheads="1"/>
          </p:cNvSpPr>
          <p:nvPr/>
        </p:nvSpPr>
        <p:spPr bwMode="auto">
          <a:xfrm>
            <a:off x="5086350" y="4306888"/>
            <a:ext cx="1187450" cy="503237"/>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zh-CN" altLang="en-US" sz="1600">
                <a:latin typeface="Huawei Sans"/>
                <a:ea typeface="方正兰亭黑简体"/>
                <a:cs typeface="方正兰亭黑简体"/>
              </a:rPr>
              <a:t>存储</a:t>
            </a:r>
            <a:r>
              <a:rPr lang="zh-CN" altLang="en-US" sz="1600" b="0">
                <a:latin typeface="Huawei Sans"/>
                <a:ea typeface="方正兰亭黑简体"/>
                <a:cs typeface="方正兰亭黑简体"/>
              </a:rPr>
              <a:t>器</a:t>
            </a:r>
          </a:p>
        </p:txBody>
      </p:sp>
      <p:sp>
        <p:nvSpPr>
          <p:cNvPr id="59399" name="矩形 9">
            <a:extLst>
              <a:ext uri="{FF2B5EF4-FFF2-40B4-BE49-F238E27FC236}">
                <a16:creationId xmlns:a16="http://schemas.microsoft.com/office/drawing/2014/main" id="{996802CE-946B-8C5F-210A-EAC0184B6CBE}"/>
              </a:ext>
            </a:extLst>
          </p:cNvPr>
          <p:cNvSpPr>
            <a:spLocks noChangeArrowheads="1"/>
          </p:cNvSpPr>
          <p:nvPr/>
        </p:nvSpPr>
        <p:spPr bwMode="auto">
          <a:xfrm>
            <a:off x="5086350" y="5407025"/>
            <a:ext cx="1187450" cy="504825"/>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zh-CN" altLang="en-US" sz="1600">
                <a:latin typeface="Huawei Sans"/>
                <a:ea typeface="方正兰亭黑简体"/>
                <a:cs typeface="方正兰亭黑简体"/>
              </a:rPr>
              <a:t>控制</a:t>
            </a:r>
            <a:r>
              <a:rPr lang="zh-CN" altLang="en-US" sz="1600" b="0">
                <a:latin typeface="Huawei Sans"/>
                <a:ea typeface="方正兰亭黑简体"/>
                <a:cs typeface="方正兰亭黑简体"/>
              </a:rPr>
              <a:t>器</a:t>
            </a:r>
          </a:p>
        </p:txBody>
      </p:sp>
      <p:sp>
        <p:nvSpPr>
          <p:cNvPr id="59400" name="矩形 11">
            <a:extLst>
              <a:ext uri="{FF2B5EF4-FFF2-40B4-BE49-F238E27FC236}">
                <a16:creationId xmlns:a16="http://schemas.microsoft.com/office/drawing/2014/main" id="{90CF0E58-585B-601F-4AD3-D1D74420DA02}"/>
              </a:ext>
            </a:extLst>
          </p:cNvPr>
          <p:cNvSpPr>
            <a:spLocks noChangeArrowheads="1"/>
          </p:cNvSpPr>
          <p:nvPr/>
        </p:nvSpPr>
        <p:spPr bwMode="auto">
          <a:xfrm>
            <a:off x="2773363" y="4298950"/>
            <a:ext cx="1189037" cy="504825"/>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zh-CN" altLang="en-US" sz="1600">
                <a:latin typeface="Huawei Sans"/>
                <a:ea typeface="方正兰亭黑简体"/>
                <a:cs typeface="方正兰亭黑简体"/>
              </a:rPr>
              <a:t>输入设备</a:t>
            </a:r>
            <a:endParaRPr lang="zh-CN" altLang="en-US" sz="1600" b="0">
              <a:latin typeface="Huawei Sans"/>
              <a:ea typeface="方正兰亭黑简体"/>
              <a:cs typeface="方正兰亭黑简体"/>
            </a:endParaRPr>
          </a:p>
        </p:txBody>
      </p:sp>
      <p:sp>
        <p:nvSpPr>
          <p:cNvPr id="59401" name="矩形 12">
            <a:extLst>
              <a:ext uri="{FF2B5EF4-FFF2-40B4-BE49-F238E27FC236}">
                <a16:creationId xmlns:a16="http://schemas.microsoft.com/office/drawing/2014/main" id="{3C7DE5ED-5833-C30C-C287-91111DF097EA}"/>
              </a:ext>
            </a:extLst>
          </p:cNvPr>
          <p:cNvSpPr>
            <a:spLocks noChangeArrowheads="1"/>
          </p:cNvSpPr>
          <p:nvPr/>
        </p:nvSpPr>
        <p:spPr bwMode="auto">
          <a:xfrm>
            <a:off x="7399338" y="4298950"/>
            <a:ext cx="1189037" cy="504825"/>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zh-CN" altLang="en-US" sz="1600">
                <a:latin typeface="Huawei Sans"/>
                <a:ea typeface="方正兰亭黑简体"/>
                <a:cs typeface="方正兰亭黑简体"/>
              </a:rPr>
              <a:t>输出设备</a:t>
            </a:r>
            <a:endParaRPr lang="zh-CN" altLang="en-US" sz="1600" b="0">
              <a:latin typeface="Huawei Sans"/>
              <a:ea typeface="方正兰亭黑简体"/>
              <a:cs typeface="方正兰亭黑简体"/>
            </a:endParaRPr>
          </a:p>
        </p:txBody>
      </p:sp>
      <p:sp>
        <p:nvSpPr>
          <p:cNvPr id="59402" name="右箭头 13">
            <a:extLst>
              <a:ext uri="{FF2B5EF4-FFF2-40B4-BE49-F238E27FC236}">
                <a16:creationId xmlns:a16="http://schemas.microsoft.com/office/drawing/2014/main" id="{06E6580B-F98D-1F23-95CC-26C7F4A511F2}"/>
              </a:ext>
            </a:extLst>
          </p:cNvPr>
          <p:cNvSpPr>
            <a:spLocks noChangeArrowheads="1"/>
          </p:cNvSpPr>
          <p:nvPr/>
        </p:nvSpPr>
        <p:spPr bwMode="auto">
          <a:xfrm>
            <a:off x="3960813" y="4483100"/>
            <a:ext cx="1125537" cy="150813"/>
          </a:xfrm>
          <a:prstGeom prst="rightArrow">
            <a:avLst>
              <a:gd name="adj1" fmla="val 50000"/>
              <a:gd name="adj2" fmla="val 4972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fontAlgn="t" hangingPunct="1">
              <a:spcBef>
                <a:spcPct val="0"/>
              </a:spcBef>
              <a:buFontTx/>
              <a:buNone/>
            </a:pPr>
            <a:endParaRPr lang="zh-CN" altLang="en-US" sz="1600" b="0">
              <a:latin typeface="Huawei Sans"/>
              <a:ea typeface="方正兰亭黑简体"/>
              <a:cs typeface="方正兰亭黑简体"/>
            </a:endParaRPr>
          </a:p>
        </p:txBody>
      </p:sp>
      <p:sp>
        <p:nvSpPr>
          <p:cNvPr id="59403" name="右箭头 14">
            <a:extLst>
              <a:ext uri="{FF2B5EF4-FFF2-40B4-BE49-F238E27FC236}">
                <a16:creationId xmlns:a16="http://schemas.microsoft.com/office/drawing/2014/main" id="{A4E3FABF-0791-7B38-F282-CD7A6DABBC03}"/>
              </a:ext>
            </a:extLst>
          </p:cNvPr>
          <p:cNvSpPr>
            <a:spLocks noChangeArrowheads="1"/>
          </p:cNvSpPr>
          <p:nvPr/>
        </p:nvSpPr>
        <p:spPr bwMode="auto">
          <a:xfrm>
            <a:off x="6275388" y="4483100"/>
            <a:ext cx="1123950" cy="150813"/>
          </a:xfrm>
          <a:prstGeom prst="rightArrow">
            <a:avLst>
              <a:gd name="adj1" fmla="val 50000"/>
              <a:gd name="adj2" fmla="val 4965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fontAlgn="t" hangingPunct="1">
              <a:spcBef>
                <a:spcPct val="0"/>
              </a:spcBef>
              <a:buFontTx/>
              <a:buNone/>
            </a:pPr>
            <a:endParaRPr lang="zh-CN" altLang="en-US" sz="1600" b="0">
              <a:latin typeface="Huawei Sans"/>
              <a:ea typeface="方正兰亭黑简体"/>
              <a:cs typeface="方正兰亭黑简体"/>
            </a:endParaRPr>
          </a:p>
        </p:txBody>
      </p:sp>
      <p:sp>
        <p:nvSpPr>
          <p:cNvPr id="59404" name="右箭头 15">
            <a:extLst>
              <a:ext uri="{FF2B5EF4-FFF2-40B4-BE49-F238E27FC236}">
                <a16:creationId xmlns:a16="http://schemas.microsoft.com/office/drawing/2014/main" id="{90BCCFC6-6E89-415B-1165-02DE44A0B7D6}"/>
              </a:ext>
            </a:extLst>
          </p:cNvPr>
          <p:cNvSpPr>
            <a:spLocks noChangeArrowheads="1"/>
          </p:cNvSpPr>
          <p:nvPr/>
        </p:nvSpPr>
        <p:spPr bwMode="auto">
          <a:xfrm rot="5400000">
            <a:off x="5199063" y="3908425"/>
            <a:ext cx="617538" cy="179387"/>
          </a:xfrm>
          <a:prstGeom prst="rightArrow">
            <a:avLst>
              <a:gd name="adj1" fmla="val 50000"/>
              <a:gd name="adj2" fmla="val 50139"/>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fontAlgn="t" hangingPunct="1">
              <a:spcBef>
                <a:spcPct val="0"/>
              </a:spcBef>
              <a:buFontTx/>
              <a:buNone/>
            </a:pPr>
            <a:endParaRPr lang="zh-CN" altLang="en-US" sz="1600" b="0">
              <a:latin typeface="Huawei Sans"/>
              <a:ea typeface="方正兰亭黑简体"/>
              <a:cs typeface="方正兰亭黑简体"/>
            </a:endParaRPr>
          </a:p>
        </p:txBody>
      </p:sp>
      <p:sp>
        <p:nvSpPr>
          <p:cNvPr id="59405" name="右箭头 16">
            <a:extLst>
              <a:ext uri="{FF2B5EF4-FFF2-40B4-BE49-F238E27FC236}">
                <a16:creationId xmlns:a16="http://schemas.microsoft.com/office/drawing/2014/main" id="{6ABDF1B0-6F5B-D990-A059-61E1954B7CC9}"/>
              </a:ext>
            </a:extLst>
          </p:cNvPr>
          <p:cNvSpPr>
            <a:spLocks noChangeArrowheads="1"/>
          </p:cNvSpPr>
          <p:nvPr/>
        </p:nvSpPr>
        <p:spPr bwMode="auto">
          <a:xfrm rot="5400000">
            <a:off x="5546725" y="5008563"/>
            <a:ext cx="600075" cy="196850"/>
          </a:xfrm>
          <a:prstGeom prst="rightArrow">
            <a:avLst>
              <a:gd name="adj1" fmla="val 50000"/>
              <a:gd name="adj2" fmla="val 50284"/>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fontAlgn="t" hangingPunct="1">
              <a:spcBef>
                <a:spcPct val="0"/>
              </a:spcBef>
              <a:buFontTx/>
              <a:buNone/>
            </a:pPr>
            <a:endParaRPr lang="zh-CN" altLang="en-US" sz="1600" b="0">
              <a:latin typeface="Huawei Sans"/>
              <a:ea typeface="方正兰亭黑简体"/>
              <a:cs typeface="方正兰亭黑简体"/>
            </a:endParaRPr>
          </a:p>
        </p:txBody>
      </p:sp>
      <p:sp>
        <p:nvSpPr>
          <p:cNvPr id="59406" name="右箭头 17">
            <a:extLst>
              <a:ext uri="{FF2B5EF4-FFF2-40B4-BE49-F238E27FC236}">
                <a16:creationId xmlns:a16="http://schemas.microsoft.com/office/drawing/2014/main" id="{1F02D7DC-A399-2989-C1DD-C6750DAC7783}"/>
              </a:ext>
            </a:extLst>
          </p:cNvPr>
          <p:cNvSpPr>
            <a:spLocks noChangeArrowheads="1"/>
          </p:cNvSpPr>
          <p:nvPr/>
        </p:nvSpPr>
        <p:spPr bwMode="auto">
          <a:xfrm rot="-5400000">
            <a:off x="5528469" y="3899694"/>
            <a:ext cx="617537" cy="180975"/>
          </a:xfrm>
          <a:prstGeom prst="rightArrow">
            <a:avLst>
              <a:gd name="adj1" fmla="val 50000"/>
              <a:gd name="adj2" fmla="val 49699"/>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fontAlgn="t" hangingPunct="1">
              <a:spcBef>
                <a:spcPct val="0"/>
              </a:spcBef>
              <a:buFontTx/>
              <a:buNone/>
            </a:pPr>
            <a:endParaRPr lang="zh-CN" altLang="en-US" sz="1600" b="0">
              <a:latin typeface="Huawei Sans"/>
              <a:ea typeface="方正兰亭黑简体"/>
              <a:cs typeface="方正兰亭黑简体"/>
            </a:endParaRPr>
          </a:p>
        </p:txBody>
      </p:sp>
      <p:cxnSp>
        <p:nvCxnSpPr>
          <p:cNvPr id="59407" name="直接箭头连接符 19">
            <a:extLst>
              <a:ext uri="{FF2B5EF4-FFF2-40B4-BE49-F238E27FC236}">
                <a16:creationId xmlns:a16="http://schemas.microsoft.com/office/drawing/2014/main" id="{24F9E1EB-CF04-006C-B46E-F876D7F50A1D}"/>
              </a:ext>
            </a:extLst>
          </p:cNvPr>
          <p:cNvCxnSpPr>
            <a:cxnSpLocks noChangeShapeType="1"/>
          </p:cNvCxnSpPr>
          <p:nvPr/>
        </p:nvCxnSpPr>
        <p:spPr bwMode="auto">
          <a:xfrm flipV="1">
            <a:off x="5554663" y="4810125"/>
            <a:ext cx="0" cy="5969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08" name="肘形连接符 19">
            <a:extLst>
              <a:ext uri="{FF2B5EF4-FFF2-40B4-BE49-F238E27FC236}">
                <a16:creationId xmlns:a16="http://schemas.microsoft.com/office/drawing/2014/main" id="{8D57CB83-D7E6-0606-4F78-DCF75C56B566}"/>
              </a:ext>
            </a:extLst>
          </p:cNvPr>
          <p:cNvCxnSpPr>
            <a:cxnSpLocks noChangeShapeType="1"/>
            <a:endCxn id="59397" idx="1"/>
          </p:cNvCxnSpPr>
          <p:nvPr/>
        </p:nvCxnSpPr>
        <p:spPr bwMode="auto">
          <a:xfrm rot="16200000" flipV="1">
            <a:off x="4245769" y="4269581"/>
            <a:ext cx="1978025" cy="296863"/>
          </a:xfrm>
          <a:prstGeom prst="bentConnector4">
            <a:avLst>
              <a:gd name="adj1" fmla="val 19134"/>
              <a:gd name="adj2" fmla="val 176963"/>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09" name="肘形连接符 20">
            <a:extLst>
              <a:ext uri="{FF2B5EF4-FFF2-40B4-BE49-F238E27FC236}">
                <a16:creationId xmlns:a16="http://schemas.microsoft.com/office/drawing/2014/main" id="{CAC5DE6B-23DC-2979-8604-77F96BD54CF5}"/>
              </a:ext>
            </a:extLst>
          </p:cNvPr>
          <p:cNvCxnSpPr>
            <a:cxnSpLocks noChangeShapeType="1"/>
            <a:stCxn id="59399" idx="1"/>
            <a:endCxn id="59400" idx="2"/>
          </p:cNvCxnSpPr>
          <p:nvPr/>
        </p:nvCxnSpPr>
        <p:spPr bwMode="auto">
          <a:xfrm rot="10800000">
            <a:off x="3367088" y="4803775"/>
            <a:ext cx="1719262" cy="855663"/>
          </a:xfrm>
          <a:prstGeom prst="bentConnector2">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9410" name="肘形连接符 21">
            <a:extLst>
              <a:ext uri="{FF2B5EF4-FFF2-40B4-BE49-F238E27FC236}">
                <a16:creationId xmlns:a16="http://schemas.microsoft.com/office/drawing/2014/main" id="{382A5847-1D47-4EC1-7C41-519FCDD7C470}"/>
              </a:ext>
            </a:extLst>
          </p:cNvPr>
          <p:cNvCxnSpPr>
            <a:cxnSpLocks noChangeShapeType="1"/>
            <a:stCxn id="59399" idx="3"/>
            <a:endCxn id="59401" idx="2"/>
          </p:cNvCxnSpPr>
          <p:nvPr/>
        </p:nvCxnSpPr>
        <p:spPr bwMode="auto">
          <a:xfrm flipV="1">
            <a:off x="6273800" y="4803775"/>
            <a:ext cx="1719263" cy="855663"/>
          </a:xfrm>
          <a:prstGeom prst="bentConnector2">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9411" name="右箭头 22">
            <a:extLst>
              <a:ext uri="{FF2B5EF4-FFF2-40B4-BE49-F238E27FC236}">
                <a16:creationId xmlns:a16="http://schemas.microsoft.com/office/drawing/2014/main" id="{518B0B24-3C3C-0499-3E33-8D5D49C6EB61}"/>
              </a:ext>
            </a:extLst>
          </p:cNvPr>
          <p:cNvSpPr>
            <a:spLocks noChangeArrowheads="1"/>
          </p:cNvSpPr>
          <p:nvPr/>
        </p:nvSpPr>
        <p:spPr bwMode="auto">
          <a:xfrm>
            <a:off x="6148388" y="2006600"/>
            <a:ext cx="1123950" cy="149225"/>
          </a:xfrm>
          <a:prstGeom prst="rightArrow">
            <a:avLst>
              <a:gd name="adj1" fmla="val 50000"/>
              <a:gd name="adj2" fmla="val 50178"/>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fontAlgn="t" hangingPunct="1">
              <a:spcBef>
                <a:spcPct val="0"/>
              </a:spcBef>
              <a:buFontTx/>
              <a:buNone/>
            </a:pPr>
            <a:endParaRPr lang="zh-CN" altLang="en-US" sz="1600" b="0">
              <a:latin typeface="Huawei Sans"/>
              <a:ea typeface="方正兰亭黑简体"/>
              <a:cs typeface="方正兰亭黑简体"/>
            </a:endParaRPr>
          </a:p>
        </p:txBody>
      </p:sp>
      <p:cxnSp>
        <p:nvCxnSpPr>
          <p:cNvPr id="59412" name="直接箭头连接符 82">
            <a:extLst>
              <a:ext uri="{FF2B5EF4-FFF2-40B4-BE49-F238E27FC236}">
                <a16:creationId xmlns:a16="http://schemas.microsoft.com/office/drawing/2014/main" id="{D588F8FA-EA90-A04D-5F27-571F606478FA}"/>
              </a:ext>
            </a:extLst>
          </p:cNvPr>
          <p:cNvCxnSpPr>
            <a:cxnSpLocks noChangeShapeType="1"/>
          </p:cNvCxnSpPr>
          <p:nvPr/>
        </p:nvCxnSpPr>
        <p:spPr bwMode="auto">
          <a:xfrm flipV="1">
            <a:off x="6148388" y="2493963"/>
            <a:ext cx="1123950"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9413" name="文本框 24">
            <a:extLst>
              <a:ext uri="{FF2B5EF4-FFF2-40B4-BE49-F238E27FC236}">
                <a16:creationId xmlns:a16="http://schemas.microsoft.com/office/drawing/2014/main" id="{ED189AB3-57E0-4161-84AF-FA791F7C7DE1}"/>
              </a:ext>
            </a:extLst>
          </p:cNvPr>
          <p:cNvSpPr txBox="1">
            <a:spLocks noChangeArrowheads="1"/>
          </p:cNvSpPr>
          <p:nvPr/>
        </p:nvSpPr>
        <p:spPr bwMode="auto">
          <a:xfrm>
            <a:off x="7399338" y="1912938"/>
            <a:ext cx="1044575" cy="33496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87802" tIns="43901" rIns="87802" bIns="43901" anchor="ct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600">
                <a:latin typeface="Huawei Sans"/>
                <a:ea typeface="方正兰亭黑简体"/>
                <a:cs typeface="方正兰亭黑简体"/>
              </a:rPr>
              <a:t>数据流</a:t>
            </a:r>
          </a:p>
        </p:txBody>
      </p:sp>
      <p:sp>
        <p:nvSpPr>
          <p:cNvPr id="59414" name="文本框 25">
            <a:extLst>
              <a:ext uri="{FF2B5EF4-FFF2-40B4-BE49-F238E27FC236}">
                <a16:creationId xmlns:a16="http://schemas.microsoft.com/office/drawing/2014/main" id="{9A098463-7B19-7CB8-F2D7-0B672D3B1271}"/>
              </a:ext>
            </a:extLst>
          </p:cNvPr>
          <p:cNvSpPr txBox="1">
            <a:spLocks noChangeArrowheads="1"/>
          </p:cNvSpPr>
          <p:nvPr/>
        </p:nvSpPr>
        <p:spPr bwMode="auto">
          <a:xfrm>
            <a:off x="7399338" y="2327275"/>
            <a:ext cx="1044575" cy="33496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87802" tIns="43901" rIns="87802" bIns="43901" anchor="ct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600">
                <a:latin typeface="Huawei Sans"/>
                <a:ea typeface="方正兰亭黑简体"/>
                <a:cs typeface="方正兰亭黑简体"/>
              </a:rPr>
              <a:t>控制流</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
            <a:extLst>
              <a:ext uri="{FF2B5EF4-FFF2-40B4-BE49-F238E27FC236}">
                <a16:creationId xmlns:a16="http://schemas.microsoft.com/office/drawing/2014/main" id="{B5B49AEE-0551-BFCA-B581-9EE34F0E3F17}"/>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60418" name="内容占位符 2">
            <a:extLst>
              <a:ext uri="{FF2B5EF4-FFF2-40B4-BE49-F238E27FC236}">
                <a16:creationId xmlns:a16="http://schemas.microsoft.com/office/drawing/2014/main" id="{D560E81D-FEB6-B5E0-01C9-A5B7A751DFDB}"/>
              </a:ext>
            </a:extLst>
          </p:cNvPr>
          <p:cNvSpPr txBox="1">
            <a:spLocks noChangeArrowheads="1"/>
          </p:cNvSpPr>
          <p:nvPr/>
        </p:nvSpPr>
        <p:spPr bwMode="auto">
          <a:xfrm>
            <a:off x="50800" y="1725613"/>
            <a:ext cx="8331200"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r>
              <a:rPr kumimoji="1" lang="zh-CN" altLang="en-US" sz="2400" b="0">
                <a:latin typeface="Arial" panose="020B0604020202020204" pitchFamily="34" charset="0"/>
                <a:cs typeface="Arial" panose="020B0604020202020204" pitchFamily="34" charset="0"/>
              </a:rPr>
              <a:t>哈佛结构</a:t>
            </a:r>
            <a:endParaRPr kumimoji="1" lang="en-US" altLang="zh-CN" sz="2400" b="0">
              <a:latin typeface="Arial" panose="020B0604020202020204" pitchFamily="34" charset="0"/>
              <a:cs typeface="Arial" panose="020B0604020202020204" pitchFamily="34" charset="0"/>
            </a:endParaRPr>
          </a:p>
          <a:p>
            <a:pPr lvl="1"/>
            <a:r>
              <a:rPr lang="zh-CN" altLang="en-US" sz="2000" b="0">
                <a:latin typeface="Huawei Sans"/>
                <a:cs typeface="Arial" panose="020B0604020202020204" pitchFamily="34" charset="0"/>
              </a:rPr>
              <a:t>哈佛结构是一种将程序指令存储和数据存储分开的存储器结构，它的主要特点是将程序和数据存储在不同的存储空间中，即程序存储器和数据存储器是两个独立的存储器，每个存储器独立编址、独立访问，目的是为了减轻程序运行时的访存瓶颈。</a:t>
            </a:r>
            <a:r>
              <a:rPr lang="zh-CN" altLang="en-US" sz="2000">
                <a:latin typeface="Huawei Sans"/>
                <a:cs typeface="Arial" panose="020B0604020202020204" pitchFamily="34" charset="0"/>
              </a:rPr>
              <a:t>哈佛架构的中央处理器典型代表</a:t>
            </a:r>
            <a:r>
              <a:rPr lang="en-US" altLang="zh-CN" sz="2000">
                <a:latin typeface="Huawei Sans"/>
                <a:cs typeface="Arial" panose="020B0604020202020204" pitchFamily="34" charset="0"/>
              </a:rPr>
              <a:t>ARM9/10</a:t>
            </a:r>
            <a:r>
              <a:rPr lang="zh-CN" altLang="en-US" sz="2000">
                <a:latin typeface="Huawei Sans"/>
                <a:cs typeface="Arial" panose="020B0604020202020204" pitchFamily="34" charset="0"/>
              </a:rPr>
              <a:t>及后续</a:t>
            </a:r>
            <a:r>
              <a:rPr lang="en-US" altLang="zh-CN" sz="2000">
                <a:latin typeface="Huawei Sans"/>
                <a:cs typeface="Arial" panose="020B0604020202020204" pitchFamily="34" charset="0"/>
              </a:rPr>
              <a:t>ARMv8</a:t>
            </a:r>
            <a:r>
              <a:rPr lang="zh-CN" altLang="en-US" sz="2000">
                <a:latin typeface="Huawei Sans"/>
                <a:cs typeface="Arial" panose="020B0604020202020204" pitchFamily="34" charset="0"/>
              </a:rPr>
              <a:t>的处理器，例如：华为鲲鹏</a:t>
            </a:r>
            <a:r>
              <a:rPr lang="en-US" altLang="zh-CN" sz="2000">
                <a:latin typeface="Huawei Sans"/>
                <a:cs typeface="Arial" panose="020B0604020202020204" pitchFamily="34" charset="0"/>
              </a:rPr>
              <a:t>920</a:t>
            </a:r>
            <a:r>
              <a:rPr lang="zh-CN" altLang="en-US" sz="2000">
                <a:latin typeface="Huawei Sans"/>
                <a:cs typeface="Arial" panose="020B0604020202020204" pitchFamily="34" charset="0"/>
              </a:rPr>
              <a:t>处理器。</a:t>
            </a:r>
          </a:p>
          <a:p>
            <a:endParaRPr kumimoji="1" lang="en-US" altLang="zh-CN" sz="2400" b="0">
              <a:latin typeface="Arial" panose="020B0604020202020204" pitchFamily="34" charset="0"/>
              <a:cs typeface="Arial" panose="020B0604020202020204" pitchFamily="34" charset="0"/>
            </a:endParaRPr>
          </a:p>
          <a:p>
            <a:endParaRPr kumimoji="1" lang="en-US" altLang="zh-CN" sz="2400" b="0">
              <a:latin typeface="Arial" panose="020B0604020202020204" pitchFamily="34" charset="0"/>
              <a:cs typeface="Arial" panose="020B0604020202020204" pitchFamily="34" charset="0"/>
            </a:endParaRPr>
          </a:p>
          <a:p>
            <a:endParaRPr kumimoji="1" lang="en-US" altLang="zh-CN" sz="2400" b="0">
              <a:latin typeface="Arial" panose="020B0604020202020204" pitchFamily="34" charset="0"/>
              <a:cs typeface="Arial" panose="020B0604020202020204" pitchFamily="34" charset="0"/>
            </a:endParaRPr>
          </a:p>
          <a:p>
            <a:endParaRPr kumimoji="1" lang="en-US" altLang="zh-CN" sz="2400" b="0">
              <a:latin typeface="Arial" panose="020B0604020202020204" pitchFamily="34" charset="0"/>
              <a:cs typeface="Arial" panose="020B0604020202020204" pitchFamily="34" charset="0"/>
            </a:endParaRPr>
          </a:p>
          <a:p>
            <a:endParaRPr kumimoji="1" lang="en-US" altLang="zh-CN" sz="2400" b="0">
              <a:latin typeface="Arial" panose="020B0604020202020204" pitchFamily="34" charset="0"/>
              <a:cs typeface="Arial" panose="020B0604020202020204" pitchFamily="34" charset="0"/>
            </a:endParaRPr>
          </a:p>
          <a:p>
            <a:endParaRPr kumimoji="1" lang="zh-CN" altLang="en-US" sz="2400" b="0">
              <a:cs typeface="Arial" panose="020B0604020202020204" pitchFamily="34" charset="0"/>
            </a:endParaRPr>
          </a:p>
        </p:txBody>
      </p:sp>
      <p:pic>
        <p:nvPicPr>
          <p:cNvPr id="60419" name="图片 6">
            <a:extLst>
              <a:ext uri="{FF2B5EF4-FFF2-40B4-BE49-F238E27FC236}">
                <a16:creationId xmlns:a16="http://schemas.microsoft.com/office/drawing/2014/main" id="{61E5C962-2258-231A-1EEC-9CB12A0E77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786188"/>
            <a:ext cx="5232400" cy="307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1">
            <a:extLst>
              <a:ext uri="{FF2B5EF4-FFF2-40B4-BE49-F238E27FC236}">
                <a16:creationId xmlns:a16="http://schemas.microsoft.com/office/drawing/2014/main" id="{7E964720-DD4F-F20D-023E-2EEBD9D4DF06}"/>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61442" name="内容占位符 2">
            <a:extLst>
              <a:ext uri="{FF2B5EF4-FFF2-40B4-BE49-F238E27FC236}">
                <a16:creationId xmlns:a16="http://schemas.microsoft.com/office/drawing/2014/main" id="{80CD9B49-4264-65CA-A25E-57E06EC1A56B}"/>
              </a:ext>
            </a:extLst>
          </p:cNvPr>
          <p:cNvSpPr>
            <a:spLocks noGrp="1" noChangeArrowheads="1"/>
          </p:cNvSpPr>
          <p:nvPr>
            <p:ph idx="1"/>
          </p:nvPr>
        </p:nvSpPr>
        <p:spPr/>
        <p:txBody>
          <a:bodyPr/>
          <a:lstStyle/>
          <a:p>
            <a:pPr marL="287338" indent="-287338">
              <a:lnSpc>
                <a:spcPts val="3000"/>
              </a:lnSpc>
              <a:spcBef>
                <a:spcPts val="600"/>
              </a:spcBef>
              <a:buSzPct val="50000"/>
              <a:buFont typeface="Wingdings" pitchFamily="2" charset="2"/>
              <a:buChar char="l"/>
            </a:pPr>
            <a:r>
              <a:rPr lang="zh-CN" altLang="en-US" sz="2100">
                <a:latin typeface="Huawei Sans"/>
                <a:ea typeface="方正兰亭黑简体"/>
                <a:cs typeface="方正兰亭黑简体"/>
              </a:rPr>
              <a:t>中央处理器 （</a:t>
            </a:r>
            <a:r>
              <a:rPr lang="en-US" altLang="zh-CN" sz="2100">
                <a:latin typeface="Huawei Sans"/>
                <a:ea typeface="方正兰亭黑简体"/>
                <a:cs typeface="方正兰亭黑简体"/>
              </a:rPr>
              <a:t>Central Processing Unit</a:t>
            </a:r>
            <a:r>
              <a:rPr lang="zh-CN" altLang="en-US" sz="2100">
                <a:latin typeface="Huawei Sans"/>
                <a:ea typeface="方正兰亭黑简体"/>
                <a:cs typeface="方正兰亭黑简体"/>
              </a:rPr>
              <a:t>，</a:t>
            </a:r>
            <a:r>
              <a:rPr lang="en-US" altLang="zh-CN" sz="2100">
                <a:latin typeface="Huawei Sans"/>
                <a:ea typeface="方正兰亭黑简体"/>
                <a:cs typeface="方正兰亭黑简体"/>
              </a:rPr>
              <a:t>CPU</a:t>
            </a:r>
            <a:r>
              <a:rPr lang="zh-CN" altLang="en-US" sz="2100">
                <a:latin typeface="Huawei Sans"/>
                <a:ea typeface="方正兰亭黑简体"/>
                <a:cs typeface="方正兰亭黑简体"/>
              </a:rPr>
              <a:t>）是计算机的主要设备之一，功能主要是解释计算机指令以及处理计算机软件中的数据；</a:t>
            </a:r>
            <a:endParaRPr lang="en-US" altLang="zh-CN" sz="2100">
              <a:latin typeface="Huawei Sans"/>
              <a:ea typeface="方正兰亭黑简体"/>
              <a:cs typeface="方正兰亭黑简体"/>
            </a:endParaRPr>
          </a:p>
          <a:p>
            <a:pPr marL="287338" indent="-287338">
              <a:lnSpc>
                <a:spcPts val="3000"/>
              </a:lnSpc>
              <a:spcBef>
                <a:spcPts val="600"/>
              </a:spcBef>
              <a:buSzPct val="50000"/>
              <a:buFont typeface="Wingdings" pitchFamily="2" charset="2"/>
              <a:buChar char="l"/>
            </a:pPr>
            <a:r>
              <a:rPr lang="zh-CN" altLang="en-US" sz="2100">
                <a:latin typeface="Huawei Sans"/>
                <a:ea typeface="方正兰亭黑简体"/>
                <a:cs typeface="方正兰亭黑简体"/>
              </a:rPr>
              <a:t>中央处理器主要包括</a:t>
            </a:r>
            <a:r>
              <a:rPr lang="zh-CN" altLang="en-US" sz="2100">
                <a:solidFill>
                  <a:srgbClr val="FF0000"/>
                </a:solidFill>
                <a:latin typeface="Huawei Sans"/>
                <a:ea typeface="方正兰亭黑简体"/>
                <a:cs typeface="方正兰亭黑简体"/>
              </a:rPr>
              <a:t>控制器</a:t>
            </a:r>
            <a:r>
              <a:rPr lang="zh-CN" altLang="en-US" sz="2100">
                <a:latin typeface="Huawei Sans"/>
                <a:ea typeface="方正兰亭黑简体"/>
                <a:cs typeface="方正兰亭黑简体"/>
              </a:rPr>
              <a:t>，</a:t>
            </a:r>
            <a:r>
              <a:rPr lang="zh-CN" altLang="en-US" sz="2100">
                <a:solidFill>
                  <a:srgbClr val="FF0000"/>
                </a:solidFill>
                <a:latin typeface="Huawei Sans"/>
                <a:ea typeface="方正兰亭黑简体"/>
                <a:cs typeface="方正兰亭黑简体"/>
              </a:rPr>
              <a:t>运算器</a:t>
            </a:r>
            <a:r>
              <a:rPr lang="zh-CN" altLang="en-US" sz="2100">
                <a:latin typeface="Huawei Sans"/>
                <a:ea typeface="方正兰亭黑简体"/>
                <a:cs typeface="方正兰亭黑简体"/>
              </a:rPr>
              <a:t>，高速缓冲存储器（</a:t>
            </a:r>
            <a:r>
              <a:rPr lang="en-US" altLang="zh-CN" sz="2100">
                <a:solidFill>
                  <a:srgbClr val="FF0000"/>
                </a:solidFill>
                <a:latin typeface="Huawei Sans"/>
                <a:ea typeface="方正兰亭黑简体"/>
                <a:cs typeface="方正兰亭黑简体"/>
              </a:rPr>
              <a:t>Cache</a:t>
            </a:r>
            <a:r>
              <a:rPr lang="zh-CN" altLang="en-US" sz="2100">
                <a:latin typeface="Huawei Sans"/>
                <a:ea typeface="方正兰亭黑简体"/>
                <a:cs typeface="方正兰亭黑简体"/>
              </a:rPr>
              <a:t>）及实现它们之间联系的数据、控制及状态的总线；</a:t>
            </a:r>
          </a:p>
          <a:p>
            <a:pPr marL="287338" indent="-287338">
              <a:lnSpc>
                <a:spcPts val="3000"/>
              </a:lnSpc>
              <a:spcBef>
                <a:spcPts val="600"/>
              </a:spcBef>
              <a:buSzPct val="50000"/>
              <a:buFont typeface="Wingdings" pitchFamily="2" charset="2"/>
              <a:buChar char="l"/>
            </a:pPr>
            <a:r>
              <a:rPr lang="zh-CN" altLang="en-US" sz="2100">
                <a:latin typeface="Huawei Sans"/>
                <a:ea typeface="方正兰亭黑简体"/>
                <a:cs typeface="方正兰亭黑简体"/>
              </a:rPr>
              <a:t>它与主存（</a:t>
            </a:r>
            <a:r>
              <a:rPr lang="en-US" altLang="zh-CN" sz="2100">
                <a:latin typeface="Huawei Sans"/>
                <a:ea typeface="方正兰亭黑简体"/>
                <a:cs typeface="方正兰亭黑简体"/>
              </a:rPr>
              <a:t>Memory</a:t>
            </a:r>
            <a:r>
              <a:rPr lang="zh-CN" altLang="en-US" sz="2100">
                <a:latin typeface="Huawei Sans"/>
                <a:ea typeface="方正兰亭黑简体"/>
                <a:cs typeface="方正兰亭黑简体"/>
              </a:rPr>
              <a:t>）和输入</a:t>
            </a:r>
            <a:r>
              <a:rPr lang="en-US" altLang="zh-CN" sz="2100">
                <a:latin typeface="Huawei Sans"/>
                <a:ea typeface="方正兰亭黑简体"/>
                <a:cs typeface="方正兰亭黑简体"/>
              </a:rPr>
              <a:t>/</a:t>
            </a:r>
            <a:r>
              <a:rPr lang="zh-CN" altLang="en-US" sz="2100">
                <a:latin typeface="Huawei Sans"/>
                <a:ea typeface="方正兰亭黑简体"/>
                <a:cs typeface="方正兰亭黑简体"/>
              </a:rPr>
              <a:t>输出设备合称为电子计算机三大核心部件。</a:t>
            </a:r>
          </a:p>
          <a:p>
            <a:pPr marL="287338" indent="-287338"/>
            <a:endParaRPr kumimoji="1" lang="zh-CN" altLang="en-US" sz="2400">
              <a:ea typeface="宋体" panose="02010600030101010101" pitchFamily="2" charset="-122"/>
            </a:endParaRPr>
          </a:p>
        </p:txBody>
      </p:sp>
      <p:sp>
        <p:nvSpPr>
          <p:cNvPr id="61443" name="灯片编号占位符 3">
            <a:extLst>
              <a:ext uri="{FF2B5EF4-FFF2-40B4-BE49-F238E27FC236}">
                <a16:creationId xmlns:a16="http://schemas.microsoft.com/office/drawing/2014/main" id="{6607D681-2F81-80BE-93B1-77294A634BD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8C55C462-4B47-1E48-BD92-D0821ADDE0FB}" type="slidenum">
              <a:rPr lang="zh-CN" altLang="en-US" sz="1400" smtClean="0">
                <a:latin typeface="Times New Roman" panose="02020603050405020304" pitchFamily="18" charset="0"/>
              </a:rPr>
              <a:pPr>
                <a:spcBef>
                  <a:spcPct val="0"/>
                </a:spcBef>
                <a:buFontTx/>
                <a:buNone/>
              </a:pPr>
              <a:t>37</a:t>
            </a:fld>
            <a:endParaRPr lang="en-US" altLang="zh-CN" sz="1400">
              <a:latin typeface="Times New Roman" panose="02020603050405020304" pitchFamily="18" charset="0"/>
            </a:endParaRPr>
          </a:p>
        </p:txBody>
      </p:sp>
      <p:pic>
        <p:nvPicPr>
          <p:cNvPr id="61444" name="图片 5" descr="图示&#10;&#10;中度可信度描述已自动生成">
            <a:extLst>
              <a:ext uri="{FF2B5EF4-FFF2-40B4-BE49-F238E27FC236}">
                <a16:creationId xmlns:a16="http://schemas.microsoft.com/office/drawing/2014/main" id="{A28743F0-E251-6580-58CD-72C53CAFB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163" y="4191000"/>
            <a:ext cx="857567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
            <a:extLst>
              <a:ext uri="{FF2B5EF4-FFF2-40B4-BE49-F238E27FC236}">
                <a16:creationId xmlns:a16="http://schemas.microsoft.com/office/drawing/2014/main" id="{4B7BB8CC-A7BB-FACE-722A-3672BE8274EE}"/>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62466" name="内容占位符 2">
            <a:extLst>
              <a:ext uri="{FF2B5EF4-FFF2-40B4-BE49-F238E27FC236}">
                <a16:creationId xmlns:a16="http://schemas.microsoft.com/office/drawing/2014/main" id="{9CE85CDA-9741-74E1-E860-06FB8DB02B4B}"/>
              </a:ext>
            </a:extLst>
          </p:cNvPr>
          <p:cNvSpPr>
            <a:spLocks noGrp="1" noChangeArrowheads="1"/>
          </p:cNvSpPr>
          <p:nvPr>
            <p:ph idx="1"/>
          </p:nvPr>
        </p:nvSpPr>
        <p:spPr>
          <a:xfrm>
            <a:off x="457200" y="1600200"/>
            <a:ext cx="3733800" cy="4419600"/>
          </a:xfrm>
        </p:spPr>
        <p:txBody>
          <a:bodyPr/>
          <a:lstStyle/>
          <a:p>
            <a:r>
              <a:rPr kumimoji="1" lang="zh-CN" altLang="en-US" sz="2400">
                <a:latin typeface="Arial" panose="020B0604020202020204" pitchFamily="34" charset="0"/>
                <a:ea typeface="宋体" panose="02010600030101010101" pitchFamily="2" charset="-122"/>
                <a:cs typeface="Arial" panose="020B0604020202020204" pitchFamily="34" charset="0"/>
              </a:rPr>
              <a:t>运算器、控制器（寄存器、</a:t>
            </a:r>
            <a:r>
              <a:rPr kumimoji="1" lang="en-US" altLang="zh-CN" sz="2400">
                <a:latin typeface="Arial" panose="020B0604020202020204" pitchFamily="34" charset="0"/>
                <a:ea typeface="宋体" panose="02010600030101010101" pitchFamily="2" charset="-122"/>
                <a:cs typeface="Arial" panose="020B0604020202020204" pitchFamily="34" charset="0"/>
              </a:rPr>
              <a:t>Cache</a:t>
            </a:r>
            <a:r>
              <a:rPr kumimoji="1" lang="zh-CN" altLang="en-US" sz="2400">
                <a:latin typeface="Arial" panose="020B0604020202020204" pitchFamily="34" charset="0"/>
                <a:ea typeface="宋体" panose="02010600030101010101" pitchFamily="2" charset="-122"/>
                <a:cs typeface="Arial" panose="020B0604020202020204" pitchFamily="34" charset="0"/>
              </a:rPr>
              <a:t>）</a:t>
            </a:r>
            <a:r>
              <a:rPr kumimoji="1" lang="en-US" altLang="zh-CN" sz="2400">
                <a:latin typeface="Arial" panose="020B0604020202020204" pitchFamily="34" charset="0"/>
                <a:ea typeface="宋体" panose="02010600030101010101" pitchFamily="2" charset="-122"/>
                <a:cs typeface="Arial" panose="020B0604020202020204" pitchFamily="34" charset="0"/>
              </a:rPr>
              <a:t>-&gt;CPU</a:t>
            </a:r>
          </a:p>
          <a:p>
            <a:r>
              <a:rPr kumimoji="1" lang="zh-CN" altLang="en-US" sz="2400">
                <a:latin typeface="Arial" panose="020B0604020202020204" pitchFamily="34" charset="0"/>
                <a:ea typeface="宋体" panose="02010600030101010101" pitchFamily="2" charset="-122"/>
                <a:cs typeface="Arial" panose="020B0604020202020204" pitchFamily="34" charset="0"/>
              </a:rPr>
              <a:t>存储器</a:t>
            </a:r>
            <a:r>
              <a:rPr kumimoji="1" lang="en-US" altLang="zh-CN" sz="2400">
                <a:latin typeface="Arial" panose="020B0604020202020204" pitchFamily="34" charset="0"/>
                <a:ea typeface="宋体" panose="02010600030101010101" pitchFamily="2" charset="-122"/>
                <a:cs typeface="Arial" panose="020B0604020202020204" pitchFamily="34" charset="0"/>
              </a:rPr>
              <a:t>-&gt;</a:t>
            </a:r>
            <a:r>
              <a:rPr kumimoji="1" lang="zh-CN" altLang="en-US" sz="2400">
                <a:latin typeface="Arial" panose="020B0604020202020204" pitchFamily="34" charset="0"/>
                <a:ea typeface="宋体" panose="02010600030101010101" pitchFamily="2" charset="-122"/>
                <a:cs typeface="Arial" panose="020B0604020202020204" pitchFamily="34" charset="0"/>
              </a:rPr>
              <a:t>内存</a:t>
            </a:r>
            <a:endParaRPr kumimoji="1" lang="en-US" altLang="zh-CN" sz="2400">
              <a:latin typeface="Arial" panose="020B0604020202020204" pitchFamily="34" charset="0"/>
              <a:ea typeface="宋体" panose="02010600030101010101" pitchFamily="2" charset="-122"/>
              <a:cs typeface="Arial" panose="020B0604020202020204" pitchFamily="34" charset="0"/>
            </a:endParaRPr>
          </a:p>
          <a:p>
            <a:r>
              <a:rPr kumimoji="1" lang="zh-CN" altLang="en-US" sz="2400">
                <a:latin typeface="Arial" panose="020B0604020202020204" pitchFamily="34" charset="0"/>
                <a:ea typeface="宋体" panose="02010600030101010101" pitchFamily="2" charset="-122"/>
                <a:cs typeface="Arial" panose="020B0604020202020204" pitchFamily="34" charset="0"/>
              </a:rPr>
              <a:t>输入输出设备</a:t>
            </a:r>
            <a:r>
              <a:rPr kumimoji="1" lang="en-US" altLang="zh-CN" sz="2400">
                <a:latin typeface="Arial" panose="020B0604020202020204" pitchFamily="34" charset="0"/>
                <a:ea typeface="宋体" panose="02010600030101010101" pitchFamily="2" charset="-122"/>
                <a:cs typeface="Arial" panose="020B0604020202020204" pitchFamily="34" charset="0"/>
              </a:rPr>
              <a:t>-&gt;</a:t>
            </a:r>
            <a:r>
              <a:rPr kumimoji="1" lang="zh-CN" altLang="en-US" sz="2400">
                <a:latin typeface="Arial" panose="020B0604020202020204" pitchFamily="34" charset="0"/>
                <a:ea typeface="宋体" panose="02010600030101010101" pitchFamily="2" charset="-122"/>
                <a:cs typeface="Arial" panose="020B0604020202020204" pitchFamily="34" charset="0"/>
              </a:rPr>
              <a:t>磁盘、显示器、打印机、键盘鼠标、</a:t>
            </a:r>
            <a:r>
              <a:rPr kumimoji="1" lang="en-US" altLang="zh-CN" sz="2400">
                <a:latin typeface="Arial" panose="020B0604020202020204" pitchFamily="34" charset="0"/>
                <a:ea typeface="宋体" panose="02010600030101010101" pitchFamily="2" charset="-122"/>
                <a:cs typeface="Arial" panose="020B0604020202020204" pitchFamily="34" charset="0"/>
              </a:rPr>
              <a:t>…</a:t>
            </a:r>
          </a:p>
          <a:p>
            <a:endParaRPr kumimoji="1" lang="en-US" altLang="zh-CN" sz="2400">
              <a:latin typeface="Arial" panose="020B0604020202020204" pitchFamily="34" charset="0"/>
              <a:ea typeface="宋体" panose="02010600030101010101" pitchFamily="2" charset="-122"/>
              <a:cs typeface="Arial" panose="020B0604020202020204" pitchFamily="34" charset="0"/>
            </a:endParaRPr>
          </a:p>
          <a:p>
            <a:endParaRPr kumimoji="1" lang="en-US" altLang="zh-CN" sz="2400">
              <a:latin typeface="Arial" panose="020B0604020202020204" pitchFamily="34" charset="0"/>
              <a:ea typeface="宋体" panose="02010600030101010101" pitchFamily="2" charset="-122"/>
              <a:cs typeface="Arial" panose="020B0604020202020204" pitchFamily="34" charset="0"/>
            </a:endParaRPr>
          </a:p>
          <a:p>
            <a:endParaRPr kumimoji="1" lang="en-US" altLang="zh-CN" sz="2400">
              <a:latin typeface="Arial" panose="020B0604020202020204" pitchFamily="34" charset="0"/>
              <a:ea typeface="宋体" panose="02010600030101010101" pitchFamily="2" charset="-122"/>
              <a:cs typeface="Arial" panose="020B0604020202020204" pitchFamily="34" charset="0"/>
            </a:endParaRPr>
          </a:p>
          <a:p>
            <a:endParaRPr kumimoji="1" lang="zh-CN" altLang="en-US" sz="2400">
              <a:ea typeface="宋体" panose="02010600030101010101" pitchFamily="2" charset="-122"/>
              <a:cs typeface="Arial" panose="020B0604020202020204" pitchFamily="34" charset="0"/>
            </a:endParaRPr>
          </a:p>
        </p:txBody>
      </p:sp>
      <p:sp>
        <p:nvSpPr>
          <p:cNvPr id="62467" name="灯片编号占位符 3">
            <a:extLst>
              <a:ext uri="{FF2B5EF4-FFF2-40B4-BE49-F238E27FC236}">
                <a16:creationId xmlns:a16="http://schemas.microsoft.com/office/drawing/2014/main" id="{E4A22EB7-ABB6-14A4-3CFF-85303C8BB84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90D1FA03-20F3-1049-A4AB-765C550B4BC6}" type="slidenum">
              <a:rPr lang="zh-CN" altLang="en-US" sz="1400" smtClean="0">
                <a:latin typeface="Times New Roman" panose="02020603050405020304" pitchFamily="18" charset="0"/>
              </a:rPr>
              <a:pPr>
                <a:spcBef>
                  <a:spcPct val="0"/>
                </a:spcBef>
                <a:buFontTx/>
                <a:buNone/>
              </a:pPr>
              <a:t>38</a:t>
            </a:fld>
            <a:endParaRPr lang="en-US" altLang="zh-CN" sz="1400">
              <a:latin typeface="Times New Roman" panose="02020603050405020304" pitchFamily="18" charset="0"/>
            </a:endParaRPr>
          </a:p>
        </p:txBody>
      </p:sp>
      <p:pic>
        <p:nvPicPr>
          <p:cNvPr id="62468" name="Picture 2">
            <a:extLst>
              <a:ext uri="{FF2B5EF4-FFF2-40B4-BE49-F238E27FC236}">
                <a16:creationId xmlns:a16="http://schemas.microsoft.com/office/drawing/2014/main" id="{97FB20C8-5383-FE16-2B48-21DBDE9A3A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6050" y="1752600"/>
            <a:ext cx="5172075" cy="387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9" name="图片 3">
            <a:extLst>
              <a:ext uri="{FF2B5EF4-FFF2-40B4-BE49-F238E27FC236}">
                <a16:creationId xmlns:a16="http://schemas.microsoft.com/office/drawing/2014/main" id="{7057619F-928F-BBFF-EF14-0C0ABD3E55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01" t="2428" r="7762" b="7452"/>
          <a:stretch>
            <a:fillRect/>
          </a:stretch>
        </p:blipFill>
        <p:spPr bwMode="auto">
          <a:xfrm>
            <a:off x="9525" y="4279900"/>
            <a:ext cx="4433888"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1">
            <a:extLst>
              <a:ext uri="{FF2B5EF4-FFF2-40B4-BE49-F238E27FC236}">
                <a16:creationId xmlns:a16="http://schemas.microsoft.com/office/drawing/2014/main" id="{4434B1FE-CA9A-B802-B6B6-768086428309}"/>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63490" name="内容占位符 2">
            <a:extLst>
              <a:ext uri="{FF2B5EF4-FFF2-40B4-BE49-F238E27FC236}">
                <a16:creationId xmlns:a16="http://schemas.microsoft.com/office/drawing/2014/main" id="{D5D7D2B3-9357-3EA0-F8D1-DC7A2D5F0187}"/>
              </a:ext>
            </a:extLst>
          </p:cNvPr>
          <p:cNvSpPr>
            <a:spLocks noGrp="1" noChangeArrowheads="1"/>
          </p:cNvSpPr>
          <p:nvPr>
            <p:ph idx="1"/>
          </p:nvPr>
        </p:nvSpPr>
        <p:spPr>
          <a:xfrm>
            <a:off x="0" y="1600200"/>
            <a:ext cx="4495800" cy="4419600"/>
          </a:xfrm>
        </p:spPr>
        <p:txBody>
          <a:bodyPr/>
          <a:lstStyle/>
          <a:p>
            <a:r>
              <a:rPr kumimoji="1" lang="en-US" altLang="zh-CN" sz="2400">
                <a:latin typeface="Arial" panose="020B0604020202020204" pitchFamily="34" charset="0"/>
                <a:ea typeface="宋体" panose="02010600030101010101" pitchFamily="2" charset="-122"/>
                <a:cs typeface="Arial" panose="020B0604020202020204" pitchFamily="34" charset="0"/>
              </a:rPr>
              <a:t>CPU</a:t>
            </a:r>
            <a:r>
              <a:rPr kumimoji="1" lang="zh-CN" altLang="en-US" sz="2400">
                <a:latin typeface="Arial" panose="020B0604020202020204" pitchFamily="34" charset="0"/>
                <a:ea typeface="宋体" panose="02010600030101010101" pitchFamily="2" charset="-122"/>
                <a:cs typeface="Arial" panose="020B0604020202020204" pitchFamily="34" charset="0"/>
              </a:rPr>
              <a:t>设计</a:t>
            </a:r>
            <a:endParaRPr kumimoji="1" lang="en-US" altLang="zh-CN" sz="2400">
              <a:latin typeface="Arial" panose="020B0604020202020204" pitchFamily="34" charset="0"/>
              <a:ea typeface="宋体" panose="02010600030101010101" pitchFamily="2" charset="-122"/>
              <a:cs typeface="Arial" panose="020B0604020202020204" pitchFamily="34" charset="0"/>
            </a:endParaRPr>
          </a:p>
          <a:p>
            <a:pPr lvl="1"/>
            <a:r>
              <a:rPr kumimoji="1" lang="zh-CN" altLang="en-US" sz="2000">
                <a:latin typeface="Arial" panose="020B0604020202020204" pitchFamily="34" charset="0"/>
                <a:ea typeface="宋体" panose="02010600030101010101" pitchFamily="2" charset="-122"/>
                <a:cs typeface="Arial" panose="020B0604020202020204" pitchFamily="34" charset="0"/>
              </a:rPr>
              <a:t>出口：指令集（机器语言），如加法、乘法、跳转、过程调用等</a:t>
            </a:r>
            <a:endParaRPr kumimoji="1" lang="en-US" altLang="zh-CN" sz="2000">
              <a:latin typeface="Arial" panose="020B0604020202020204" pitchFamily="34" charset="0"/>
              <a:ea typeface="宋体" panose="02010600030101010101" pitchFamily="2" charset="-122"/>
              <a:cs typeface="Arial" panose="020B0604020202020204" pitchFamily="34" charset="0"/>
            </a:endParaRPr>
          </a:p>
          <a:p>
            <a:pPr lvl="1"/>
            <a:r>
              <a:rPr kumimoji="1" lang="zh-CN" altLang="en-US" sz="2000">
                <a:latin typeface="Arial" panose="020B0604020202020204" pitchFamily="34" charset="0"/>
                <a:ea typeface="宋体" panose="02010600030101010101" pitchFamily="2" charset="-122"/>
                <a:cs typeface="Arial" panose="020B0604020202020204" pitchFamily="34" charset="0"/>
              </a:rPr>
              <a:t>运算器（</a:t>
            </a:r>
            <a:r>
              <a:rPr kumimoji="1" lang="en-US" altLang="zh-CN" sz="2000">
                <a:latin typeface="Arial" panose="020B0604020202020204" pitchFamily="34" charset="0"/>
                <a:ea typeface="宋体" panose="02010600030101010101" pitchFamily="2" charset="-122"/>
                <a:cs typeface="Arial" panose="020B0604020202020204" pitchFamily="34" charset="0"/>
              </a:rPr>
              <a:t>ALU</a:t>
            </a:r>
            <a:r>
              <a:rPr kumimoji="1" lang="zh-CN" altLang="en-US" sz="2000">
                <a:latin typeface="Arial" panose="020B0604020202020204" pitchFamily="34" charset="0"/>
                <a:ea typeface="宋体" panose="02010600030101010101" pitchFamily="2" charset="-122"/>
                <a:cs typeface="Arial" panose="020B0604020202020204" pitchFamily="34" charset="0"/>
              </a:rPr>
              <a:t>）</a:t>
            </a:r>
            <a:endParaRPr kumimoji="1" lang="en-US" altLang="zh-CN" sz="2000">
              <a:latin typeface="Arial" panose="020B0604020202020204" pitchFamily="34" charset="0"/>
              <a:ea typeface="宋体" panose="02010600030101010101" pitchFamily="2" charset="-122"/>
              <a:cs typeface="Arial" panose="020B0604020202020204" pitchFamily="34" charset="0"/>
            </a:endParaRPr>
          </a:p>
          <a:p>
            <a:pPr lvl="2"/>
            <a:r>
              <a:rPr kumimoji="1" lang="zh-CN" altLang="en-US" sz="1800">
                <a:latin typeface="Arial" panose="020B0604020202020204" pitchFamily="34" charset="0"/>
                <a:ea typeface="宋体" panose="02010600030101010101" pitchFamily="2" charset="-122"/>
                <a:cs typeface="Arial" panose="020B0604020202020204" pitchFamily="34" charset="0"/>
              </a:rPr>
              <a:t>组合逻辑电路，进行各种计算</a:t>
            </a:r>
            <a:endParaRPr kumimoji="1" lang="en-US" altLang="zh-CN" sz="1800">
              <a:latin typeface="Arial" panose="020B0604020202020204" pitchFamily="34" charset="0"/>
              <a:ea typeface="宋体" panose="02010600030101010101" pitchFamily="2" charset="-122"/>
              <a:cs typeface="Arial" panose="020B0604020202020204" pitchFamily="34" charset="0"/>
            </a:endParaRPr>
          </a:p>
          <a:p>
            <a:pPr lvl="1"/>
            <a:r>
              <a:rPr kumimoji="1" lang="zh-CN" altLang="en-US" sz="2000">
                <a:solidFill>
                  <a:srgbClr val="C00000"/>
                </a:solidFill>
                <a:latin typeface="Arial" panose="020B0604020202020204" pitchFamily="34" charset="0"/>
                <a:ea typeface="宋体" panose="02010600030101010101" pitchFamily="2" charset="-122"/>
                <a:cs typeface="Arial" panose="020B0604020202020204" pitchFamily="34" charset="0"/>
              </a:rPr>
              <a:t>控制器</a:t>
            </a:r>
            <a:endParaRPr kumimoji="1" lang="en-US" altLang="zh-CN" sz="2000">
              <a:solidFill>
                <a:srgbClr val="C00000"/>
              </a:solidFill>
              <a:latin typeface="Arial" panose="020B0604020202020204" pitchFamily="34" charset="0"/>
              <a:ea typeface="宋体" panose="02010600030101010101" pitchFamily="2" charset="-122"/>
              <a:cs typeface="Arial" panose="020B0604020202020204" pitchFamily="34" charset="0"/>
            </a:endParaRPr>
          </a:p>
          <a:p>
            <a:pPr lvl="2"/>
            <a:r>
              <a:rPr kumimoji="1" lang="zh-CN" altLang="en-US" sz="1800">
                <a:latin typeface="Arial" panose="020B0604020202020204" pitchFamily="34" charset="0"/>
                <a:ea typeface="宋体" panose="02010600030101010101" pitchFamily="2" charset="-122"/>
                <a:cs typeface="Arial" panose="020B0604020202020204" pitchFamily="34" charset="0"/>
              </a:rPr>
              <a:t>输入：当前指令、指令阶段</a:t>
            </a:r>
            <a:endParaRPr kumimoji="1" lang="en-US" altLang="zh-CN" sz="1800">
              <a:latin typeface="Arial" panose="020B0604020202020204" pitchFamily="34" charset="0"/>
              <a:ea typeface="宋体" panose="02010600030101010101" pitchFamily="2" charset="-122"/>
              <a:cs typeface="Arial" panose="020B0604020202020204" pitchFamily="34" charset="0"/>
            </a:endParaRPr>
          </a:p>
          <a:p>
            <a:pPr lvl="2"/>
            <a:r>
              <a:rPr kumimoji="1" lang="zh-CN" altLang="en-US" sz="1800">
                <a:latin typeface="Arial" panose="020B0604020202020204" pitchFamily="34" charset="0"/>
                <a:ea typeface="宋体" panose="02010600030101010101" pitchFamily="2" charset="-122"/>
                <a:cs typeface="Arial" panose="020B0604020202020204" pitchFamily="34" charset="0"/>
              </a:rPr>
              <a:t>输出：所有器件的控制信号</a:t>
            </a:r>
            <a:endParaRPr kumimoji="1" lang="en-US" altLang="zh-CN" sz="1800">
              <a:latin typeface="Arial" panose="020B0604020202020204" pitchFamily="34" charset="0"/>
              <a:ea typeface="宋体" panose="02010600030101010101" pitchFamily="2" charset="-122"/>
              <a:cs typeface="Arial" panose="020B0604020202020204" pitchFamily="34" charset="0"/>
            </a:endParaRPr>
          </a:p>
          <a:p>
            <a:pPr lvl="1"/>
            <a:r>
              <a:rPr kumimoji="1" lang="zh-CN" altLang="en-US" sz="2000">
                <a:latin typeface="Arial" panose="020B0604020202020204" pitchFamily="34" charset="0"/>
                <a:ea typeface="宋体" panose="02010600030101010101" pitchFamily="2" charset="-122"/>
                <a:cs typeface="Arial" panose="020B0604020202020204" pitchFamily="34" charset="0"/>
              </a:rPr>
              <a:t>寄存器</a:t>
            </a:r>
            <a:endParaRPr kumimoji="1" lang="en-US" altLang="zh-CN" sz="2000">
              <a:latin typeface="Arial" panose="020B0604020202020204" pitchFamily="34" charset="0"/>
              <a:ea typeface="宋体" panose="02010600030101010101" pitchFamily="2" charset="-122"/>
              <a:cs typeface="Arial" panose="020B0604020202020204" pitchFamily="34" charset="0"/>
            </a:endParaRPr>
          </a:p>
          <a:p>
            <a:pPr lvl="2"/>
            <a:r>
              <a:rPr kumimoji="1" lang="zh-CN" altLang="en-US" sz="1800">
                <a:latin typeface="Arial" panose="020B0604020202020204" pitchFamily="34" charset="0"/>
                <a:ea typeface="宋体" panose="02010600030101010101" pitchFamily="2" charset="-122"/>
                <a:cs typeface="Arial" panose="020B0604020202020204" pitchFamily="34" charset="0"/>
              </a:rPr>
              <a:t>少量临时存储器件，寄存器 快于 </a:t>
            </a:r>
            <a:r>
              <a:rPr kumimoji="1" lang="en-US" altLang="zh-CN" sz="1800">
                <a:latin typeface="Arial" panose="020B0604020202020204" pitchFamily="34" charset="0"/>
                <a:ea typeface="宋体" panose="02010600030101010101" pitchFamily="2" charset="-122"/>
                <a:cs typeface="Arial" panose="020B0604020202020204" pitchFamily="34" charset="0"/>
              </a:rPr>
              <a:t>Cache </a:t>
            </a:r>
            <a:r>
              <a:rPr kumimoji="1" lang="zh-CN" altLang="en-US" sz="1800">
                <a:latin typeface="Arial" panose="020B0604020202020204" pitchFamily="34" charset="0"/>
                <a:ea typeface="宋体" panose="02010600030101010101" pitchFamily="2" charset="-122"/>
                <a:cs typeface="Arial" panose="020B0604020202020204" pitchFamily="34" charset="0"/>
              </a:rPr>
              <a:t>快于 内存</a:t>
            </a:r>
            <a:endParaRPr kumimoji="1" lang="en-US" altLang="zh-CN" sz="1800">
              <a:latin typeface="Arial" panose="020B0604020202020204" pitchFamily="34" charset="0"/>
              <a:ea typeface="宋体" panose="02010600030101010101" pitchFamily="2" charset="-122"/>
              <a:cs typeface="Arial" panose="020B0604020202020204" pitchFamily="34" charset="0"/>
            </a:endParaRPr>
          </a:p>
          <a:p>
            <a:pPr lvl="2"/>
            <a:r>
              <a:rPr kumimoji="1" lang="zh-CN" altLang="en-US" sz="1800">
                <a:latin typeface="Arial" panose="020B0604020202020204" pitchFamily="34" charset="0"/>
                <a:ea typeface="宋体" panose="02010600030101010101" pitchFamily="2" charset="-122"/>
                <a:cs typeface="Arial" panose="020B0604020202020204" pitchFamily="34" charset="0"/>
              </a:rPr>
              <a:t>时序逻辑电路，具有记忆功能</a:t>
            </a:r>
          </a:p>
          <a:p>
            <a:endParaRPr kumimoji="1" lang="zh-CN" altLang="en-US" sz="2400">
              <a:ea typeface="宋体" panose="02010600030101010101" pitchFamily="2" charset="-122"/>
            </a:endParaRPr>
          </a:p>
        </p:txBody>
      </p:sp>
      <p:sp>
        <p:nvSpPr>
          <p:cNvPr id="63491" name="灯片编号占位符 3">
            <a:extLst>
              <a:ext uri="{FF2B5EF4-FFF2-40B4-BE49-F238E27FC236}">
                <a16:creationId xmlns:a16="http://schemas.microsoft.com/office/drawing/2014/main" id="{11B1E8F1-CD46-79D8-4925-3F1D6FD72ED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CC5646BF-063A-D147-A134-618E5C4A3632}" type="slidenum">
              <a:rPr lang="zh-CN" altLang="en-US" sz="1400" smtClean="0">
                <a:latin typeface="Times New Roman" panose="02020603050405020304" pitchFamily="18" charset="0"/>
              </a:rPr>
              <a:pPr>
                <a:spcBef>
                  <a:spcPct val="0"/>
                </a:spcBef>
                <a:buFontTx/>
                <a:buNone/>
              </a:pPr>
              <a:t>39</a:t>
            </a:fld>
            <a:endParaRPr lang="en-US" altLang="zh-CN" sz="1400">
              <a:latin typeface="Times New Roman" panose="02020603050405020304" pitchFamily="18" charset="0"/>
            </a:endParaRPr>
          </a:p>
        </p:txBody>
      </p:sp>
      <p:pic>
        <p:nvPicPr>
          <p:cNvPr id="63492" name="内容占位符 3" descr="屏幕快照 2017-08-28 下午4.41.29.png">
            <a:extLst>
              <a:ext uri="{FF2B5EF4-FFF2-40B4-BE49-F238E27FC236}">
                <a16:creationId xmlns:a16="http://schemas.microsoft.com/office/drawing/2014/main" id="{5402AC75-3A0C-2BE8-89D4-96B037BC80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536" r="-11536"/>
          <a:stretch>
            <a:fillRect/>
          </a:stretch>
        </p:blipFill>
        <p:spPr bwMode="auto">
          <a:xfrm>
            <a:off x="3810000" y="2590800"/>
            <a:ext cx="5873750" cy="310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a:extLst>
              <a:ext uri="{FF2B5EF4-FFF2-40B4-BE49-F238E27FC236}">
                <a16:creationId xmlns:a16="http://schemas.microsoft.com/office/drawing/2014/main" id="{04B098E3-BD28-B4EF-CB34-633D5F1D589A}"/>
              </a:ext>
            </a:extLst>
          </p:cNvPr>
          <p:cNvSpPr>
            <a:spLocks noGrp="1" noChangeArrowheads="1"/>
          </p:cNvSpPr>
          <p:nvPr>
            <p:ph type="title"/>
          </p:nvPr>
        </p:nvSpPr>
        <p:spPr/>
        <p:txBody>
          <a:bodyPr/>
          <a:lstStyle/>
          <a:p>
            <a:r>
              <a:rPr kumimoji="1" lang="zh-CN" altLang="en-US">
                <a:ea typeface="宋体" panose="02010600030101010101" pitchFamily="2" charset="-122"/>
              </a:rPr>
              <a:t>自下而上：构建计算机体系</a:t>
            </a:r>
          </a:p>
        </p:txBody>
      </p:sp>
      <p:sp>
        <p:nvSpPr>
          <p:cNvPr id="64514" name="内容占位符 2">
            <a:extLst>
              <a:ext uri="{FF2B5EF4-FFF2-40B4-BE49-F238E27FC236}">
                <a16:creationId xmlns:a16="http://schemas.microsoft.com/office/drawing/2014/main" id="{13FD8C70-FF97-5DC2-0478-730912AED98E}"/>
              </a:ext>
            </a:extLst>
          </p:cNvPr>
          <p:cNvSpPr>
            <a:spLocks noGrp="1" noChangeArrowheads="1"/>
          </p:cNvSpPr>
          <p:nvPr>
            <p:ph idx="1"/>
          </p:nvPr>
        </p:nvSpPr>
        <p:spPr>
          <a:xfrm>
            <a:off x="-17463" y="1738313"/>
            <a:ext cx="4208463" cy="4419600"/>
          </a:xfrm>
        </p:spPr>
        <p:txBody>
          <a:bodyPr/>
          <a:lstStyle/>
          <a:p>
            <a:r>
              <a:rPr kumimoji="1" lang="en-US" altLang="zh-CN" sz="2400">
                <a:latin typeface="Arial" panose="020B0604020202020204" pitchFamily="34" charset="0"/>
                <a:ea typeface="宋体" panose="02010600030101010101" pitchFamily="2" charset="-122"/>
                <a:cs typeface="Arial" panose="020B0604020202020204" pitchFamily="34" charset="0"/>
              </a:rPr>
              <a:t>CPU</a:t>
            </a:r>
            <a:r>
              <a:rPr kumimoji="1" lang="zh-CN" altLang="en-US" sz="2400">
                <a:latin typeface="Arial" panose="020B0604020202020204" pitchFamily="34" charset="0"/>
                <a:ea typeface="宋体" panose="02010600030101010101" pitchFamily="2" charset="-122"/>
                <a:cs typeface="Arial" panose="020B0604020202020204" pitchFamily="34" charset="0"/>
              </a:rPr>
              <a:t>工作流程</a:t>
            </a:r>
            <a:endParaRPr kumimoji="1" lang="en-US" altLang="zh-CN" sz="2400">
              <a:latin typeface="Arial" panose="020B0604020202020204" pitchFamily="34" charset="0"/>
              <a:ea typeface="宋体" panose="02010600030101010101" pitchFamily="2" charset="-122"/>
              <a:cs typeface="Arial" panose="020B0604020202020204" pitchFamily="34" charset="0"/>
            </a:endParaRPr>
          </a:p>
          <a:p>
            <a:pPr marL="457200" lvl="1" indent="0">
              <a:buFontTx/>
              <a:buNone/>
            </a:pPr>
            <a:r>
              <a:rPr kumimoji="1" lang="en-US" altLang="zh-CN" sz="2000">
                <a:latin typeface="Arial" panose="020B0604020202020204" pitchFamily="34" charset="0"/>
                <a:ea typeface="宋体" panose="02010600030101010101" pitchFamily="2" charset="-122"/>
                <a:cs typeface="Arial" panose="020B0604020202020204" pitchFamily="34" charset="0"/>
              </a:rPr>
              <a:t>While (1) {</a:t>
            </a:r>
          </a:p>
          <a:p>
            <a:pPr marL="914400" lvl="2" indent="0">
              <a:buFontTx/>
              <a:buNone/>
            </a:pPr>
            <a:r>
              <a:rPr kumimoji="1" lang="en-US" altLang="zh-CN" sz="1800">
                <a:latin typeface="Arial" panose="020B0604020202020204" pitchFamily="34" charset="0"/>
                <a:ea typeface="宋体" panose="02010600030101010101" pitchFamily="2" charset="-122"/>
                <a:cs typeface="Arial" panose="020B0604020202020204" pitchFamily="34" charset="0"/>
              </a:rPr>
              <a:t>Fetch_an_instruction();</a:t>
            </a:r>
          </a:p>
          <a:p>
            <a:pPr marL="914400" lvl="2" indent="0">
              <a:buFontTx/>
              <a:buNone/>
            </a:pPr>
            <a:r>
              <a:rPr kumimoji="1" lang="en-US" altLang="zh-CN" sz="1800">
                <a:latin typeface="Arial" panose="020B0604020202020204" pitchFamily="34" charset="0"/>
                <a:ea typeface="宋体" panose="02010600030101010101" pitchFamily="2" charset="-122"/>
                <a:cs typeface="Arial" panose="020B0604020202020204" pitchFamily="34" charset="0"/>
              </a:rPr>
              <a:t>Understand_the_instruction();</a:t>
            </a:r>
          </a:p>
          <a:p>
            <a:pPr marL="914400" lvl="2" indent="0">
              <a:buFontTx/>
              <a:buNone/>
            </a:pPr>
            <a:r>
              <a:rPr kumimoji="1" lang="en-US" altLang="zh-CN" sz="1800">
                <a:latin typeface="Arial" panose="020B0604020202020204" pitchFamily="34" charset="0"/>
                <a:ea typeface="宋体" panose="02010600030101010101" pitchFamily="2" charset="-122"/>
                <a:cs typeface="Arial" panose="020B0604020202020204" pitchFamily="34" charset="0"/>
              </a:rPr>
              <a:t>Execute_the_instruction();</a:t>
            </a:r>
          </a:p>
          <a:p>
            <a:pPr marL="457200" lvl="1" indent="0">
              <a:buFontTx/>
              <a:buNone/>
            </a:pPr>
            <a:r>
              <a:rPr kumimoji="1" lang="en-US" altLang="zh-CN" sz="2000">
                <a:latin typeface="Arial" panose="020B0604020202020204" pitchFamily="34" charset="0"/>
                <a:ea typeface="宋体" panose="02010600030101010101" pitchFamily="2" charset="-122"/>
                <a:cs typeface="Arial" panose="020B0604020202020204" pitchFamily="34" charset="0"/>
              </a:rPr>
              <a:t>}</a:t>
            </a:r>
          </a:p>
          <a:p>
            <a:pPr marL="457200" lvl="1" indent="0"/>
            <a:r>
              <a:rPr kumimoji="1" lang="en-US" altLang="zh-CN" sz="2000">
                <a:latin typeface="Arial" panose="020B0604020202020204" pitchFamily="34" charset="0"/>
                <a:ea typeface="宋体" panose="02010600030101010101" pitchFamily="2" charset="-122"/>
                <a:cs typeface="Arial" panose="020B0604020202020204" pitchFamily="34" charset="0"/>
              </a:rPr>
              <a:t>Instructions:</a:t>
            </a:r>
          </a:p>
          <a:p>
            <a:pPr marL="914400" lvl="2" indent="0"/>
            <a:r>
              <a:rPr kumimoji="1" lang="zh-CN" altLang="en-US" sz="1800">
                <a:latin typeface="Arial" panose="020B0604020202020204" pitchFamily="34" charset="0"/>
                <a:ea typeface="宋体" panose="02010600030101010101" pitchFamily="2" charset="-122"/>
                <a:cs typeface="Arial" panose="020B0604020202020204" pitchFamily="34" charset="0"/>
              </a:rPr>
              <a:t>移动数据</a:t>
            </a:r>
            <a:r>
              <a:rPr kumimoji="1" lang="en-US" altLang="zh-CN" sz="1800">
                <a:latin typeface="Arial" panose="020B0604020202020204" pitchFamily="34" charset="0"/>
                <a:ea typeface="宋体" panose="02010600030101010101" pitchFamily="2" charset="-122"/>
                <a:cs typeface="Arial" panose="020B0604020202020204" pitchFamily="34" charset="0"/>
              </a:rPr>
              <a:t>(among register, memory, and I/O)</a:t>
            </a:r>
          </a:p>
          <a:p>
            <a:pPr marL="914400" lvl="2" indent="0"/>
            <a:r>
              <a:rPr kumimoji="1" lang="zh-CN" altLang="en-US" sz="1800">
                <a:latin typeface="Arial" panose="020B0604020202020204" pitchFamily="34" charset="0"/>
                <a:ea typeface="宋体" panose="02010600030101010101" pitchFamily="2" charset="-122"/>
                <a:cs typeface="Arial" panose="020B0604020202020204" pitchFamily="34" charset="0"/>
              </a:rPr>
              <a:t>算数、逻辑、位运算</a:t>
            </a:r>
            <a:endParaRPr kumimoji="1" lang="en-US" altLang="zh-CN" sz="1800">
              <a:latin typeface="Arial" panose="020B0604020202020204" pitchFamily="34" charset="0"/>
              <a:ea typeface="宋体" panose="02010600030101010101" pitchFamily="2" charset="-122"/>
              <a:cs typeface="Arial" panose="020B0604020202020204" pitchFamily="34" charset="0"/>
            </a:endParaRPr>
          </a:p>
          <a:p>
            <a:pPr marL="914400" lvl="2" indent="0"/>
            <a:r>
              <a:rPr kumimoji="1" lang="zh-CN" altLang="en-US" sz="1800">
                <a:latin typeface="Arial" panose="020B0604020202020204" pitchFamily="34" charset="0"/>
                <a:ea typeface="宋体" panose="02010600030101010101" pitchFamily="2" charset="-122"/>
                <a:cs typeface="Arial" panose="020B0604020202020204" pitchFamily="34" charset="0"/>
              </a:rPr>
              <a:t>跳转类（指令跳转，函数调用等）</a:t>
            </a:r>
            <a:endParaRPr kumimoji="1" lang="en-US" altLang="zh-CN" sz="1800">
              <a:latin typeface="Arial" panose="020B0604020202020204" pitchFamily="34" charset="0"/>
              <a:ea typeface="宋体" panose="02010600030101010101" pitchFamily="2" charset="-122"/>
              <a:cs typeface="Arial" panose="020B0604020202020204" pitchFamily="34" charset="0"/>
            </a:endParaRPr>
          </a:p>
          <a:p>
            <a:endParaRPr kumimoji="1" lang="zh-CN" altLang="en-US" sz="2400">
              <a:ea typeface="宋体" panose="02010600030101010101" pitchFamily="2" charset="-122"/>
            </a:endParaRPr>
          </a:p>
        </p:txBody>
      </p:sp>
      <p:sp>
        <p:nvSpPr>
          <p:cNvPr id="64515" name="灯片编号占位符 3">
            <a:extLst>
              <a:ext uri="{FF2B5EF4-FFF2-40B4-BE49-F238E27FC236}">
                <a16:creationId xmlns:a16="http://schemas.microsoft.com/office/drawing/2014/main" id="{308C258B-5FFF-B77F-2DE8-ADF1DE214A1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A8BD9C28-6699-CC4D-9761-3D0D0ED59B66}" type="slidenum">
              <a:rPr lang="zh-CN" altLang="en-US" sz="1400" smtClean="0">
                <a:latin typeface="Times New Roman" panose="02020603050405020304" pitchFamily="18" charset="0"/>
              </a:rPr>
              <a:pPr>
                <a:spcBef>
                  <a:spcPct val="0"/>
                </a:spcBef>
                <a:buFontTx/>
                <a:buNone/>
              </a:pPr>
              <a:t>40</a:t>
            </a:fld>
            <a:endParaRPr lang="en-US" altLang="zh-CN" sz="1400">
              <a:latin typeface="Times New Roman" panose="02020603050405020304" pitchFamily="18" charset="0"/>
            </a:endParaRPr>
          </a:p>
        </p:txBody>
      </p:sp>
      <p:pic>
        <p:nvPicPr>
          <p:cNvPr id="64516" name="Picture 4" descr="img1-6">
            <a:extLst>
              <a:ext uri="{FF2B5EF4-FFF2-40B4-BE49-F238E27FC236}">
                <a16:creationId xmlns:a16="http://schemas.microsoft.com/office/drawing/2014/main" id="{FD9A636B-F207-9016-9561-CC56874571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1763" y="2286000"/>
            <a:ext cx="5202237"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文本框 6">
            <a:extLst>
              <a:ext uri="{FF2B5EF4-FFF2-40B4-BE49-F238E27FC236}">
                <a16:creationId xmlns:a16="http://schemas.microsoft.com/office/drawing/2014/main" id="{CADAD219-B86D-5458-5948-C17D09A8603B}"/>
              </a:ext>
            </a:extLst>
          </p:cNvPr>
          <p:cNvSpPr txBox="1">
            <a:spLocks noChangeArrowheads="1"/>
          </p:cNvSpPr>
          <p:nvPr/>
        </p:nvSpPr>
        <p:spPr bwMode="auto">
          <a:xfrm>
            <a:off x="5105400" y="1811338"/>
            <a:ext cx="4625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000"/>
              <a:t>Intel 8086</a:t>
            </a:r>
            <a:r>
              <a:rPr lang="zh-CN" altLang="en-US" sz="2000"/>
              <a:t>处理器的结构</a:t>
            </a:r>
            <a:endParaRPr lang="en-US" altLang="zh-CN" sz="2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4">
            <a:extLst>
              <a:ext uri="{FF2B5EF4-FFF2-40B4-BE49-F238E27FC236}">
                <a16:creationId xmlns:a16="http://schemas.microsoft.com/office/drawing/2014/main" id="{7D3F5AD0-FB21-9BE1-3C43-65910BE8E660}"/>
              </a:ext>
            </a:extLst>
          </p:cNvPr>
          <p:cNvSpPr>
            <a:spLocks noChangeArrowheads="1"/>
          </p:cNvSpPr>
          <p:nvPr/>
        </p:nvSpPr>
        <p:spPr bwMode="auto">
          <a:xfrm>
            <a:off x="212725" y="2819400"/>
            <a:ext cx="3322638" cy="1814513"/>
          </a:xfrm>
          <a:prstGeom prst="rect">
            <a:avLst/>
          </a:prstGeom>
          <a:solidFill>
            <a:srgbClr val="F6F5BD"/>
          </a:solidFill>
          <a:ln w="12700">
            <a:solidFill>
              <a:schemeClr val="tx1"/>
            </a:solidFill>
            <a:miter lim="800000"/>
            <a:headEnd/>
            <a:tailEnd/>
          </a:ln>
        </p:spPr>
        <p:txBody>
          <a:bodyPr lIns="90487" tIns="44450" rIns="90487" bIns="44450">
            <a:spAutoFit/>
          </a:bodyPr>
          <a:lstStyle>
            <a:lvl1pPr>
              <a:spcBef>
                <a:spcPct val="20000"/>
              </a:spcBef>
              <a:buChar char="•"/>
              <a:tabLst>
                <a:tab pos="457200" algn="l"/>
                <a:tab pos="1485900" algn="l"/>
              </a:tabLst>
              <a:defRPr sz="2800">
                <a:solidFill>
                  <a:schemeClr val="tx1"/>
                </a:solidFill>
                <a:latin typeface="Comic Sans MS" panose="030F0902030302020204" pitchFamily="66" charset="0"/>
              </a:defRPr>
            </a:lvl1pPr>
            <a:lvl2pPr marL="742950" indent="-285750">
              <a:spcBef>
                <a:spcPct val="20000"/>
              </a:spcBef>
              <a:buChar char="–"/>
              <a:tabLst>
                <a:tab pos="457200" algn="l"/>
                <a:tab pos="1485900" algn="l"/>
              </a:tabLst>
              <a:defRPr sz="2400">
                <a:solidFill>
                  <a:schemeClr val="tx1"/>
                </a:solidFill>
                <a:latin typeface="Comic Sans MS" panose="030F0902030302020204" pitchFamily="66" charset="0"/>
              </a:defRPr>
            </a:lvl2pPr>
            <a:lvl3pPr marL="1143000" indent="-228600">
              <a:spcBef>
                <a:spcPct val="20000"/>
              </a:spcBef>
              <a:buChar char="•"/>
              <a:tabLst>
                <a:tab pos="457200" algn="l"/>
                <a:tab pos="1485900" algn="l"/>
              </a:tabLst>
              <a:defRPr sz="2000">
                <a:solidFill>
                  <a:schemeClr val="tx1"/>
                </a:solidFill>
                <a:latin typeface="Comic Sans MS" panose="030F0902030302020204" pitchFamily="66" charset="0"/>
              </a:defRPr>
            </a:lvl3pPr>
            <a:lvl4pPr marL="1600200" indent="-228600">
              <a:spcBef>
                <a:spcPct val="20000"/>
              </a:spcBef>
              <a:buChar char="–"/>
              <a:tabLst>
                <a:tab pos="457200" algn="l"/>
                <a:tab pos="1485900" algn="l"/>
              </a:tabLst>
              <a:defRPr sz="2000">
                <a:solidFill>
                  <a:schemeClr val="tx1"/>
                </a:solidFill>
                <a:latin typeface="Comic Sans MS" panose="030F0902030302020204" pitchFamily="66" charset="0"/>
              </a:defRPr>
            </a:lvl4pPr>
            <a:lvl5pPr marL="2057400" indent="-228600">
              <a:spcBef>
                <a:spcPct val="20000"/>
              </a:spcBef>
              <a:buChar char="»"/>
              <a:tabLst>
                <a:tab pos="457200" algn="l"/>
                <a:tab pos="1485900" algn="l"/>
              </a:tabLst>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tabLst>
                <a:tab pos="457200" algn="l"/>
                <a:tab pos="1485900" algn="l"/>
              </a:tabLst>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tabLst>
                <a:tab pos="457200" algn="l"/>
                <a:tab pos="1485900" algn="l"/>
              </a:tabLst>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tabLst>
                <a:tab pos="457200" algn="l"/>
                <a:tab pos="1485900" algn="l"/>
              </a:tabLst>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tabLst>
                <a:tab pos="457200" algn="l"/>
                <a:tab pos="1485900" algn="l"/>
              </a:tabLst>
              <a:defRPr sz="2000">
                <a:solidFill>
                  <a:schemeClr val="tx1"/>
                </a:solidFill>
                <a:latin typeface="Comic Sans MS" panose="030F0902030302020204" pitchFamily="66" charset="0"/>
              </a:defRPr>
            </a:lvl9pPr>
          </a:lstStyle>
          <a:p>
            <a:pPr>
              <a:spcBef>
                <a:spcPct val="0"/>
              </a:spcBef>
              <a:buFontTx/>
              <a:buNone/>
            </a:pPr>
            <a:r>
              <a:rPr lang="en-US" altLang="zh-CN" sz="1400">
                <a:latin typeface="Courier New" panose="02070309020205020404" pitchFamily="49" charset="0"/>
              </a:rPr>
              <a:t>long plus(long x, long y); </a:t>
            </a:r>
          </a:p>
          <a:p>
            <a:pPr>
              <a:spcBef>
                <a:spcPct val="0"/>
              </a:spcBef>
              <a:buFontTx/>
              <a:buNone/>
            </a:pPr>
            <a:endParaRPr lang="en-US" altLang="zh-CN" sz="1400">
              <a:latin typeface="Courier New" panose="02070309020205020404" pitchFamily="49" charset="0"/>
            </a:endParaRPr>
          </a:p>
          <a:p>
            <a:pPr>
              <a:spcBef>
                <a:spcPct val="0"/>
              </a:spcBef>
              <a:buFontTx/>
              <a:buNone/>
            </a:pPr>
            <a:r>
              <a:rPr lang="en-US" altLang="zh-CN" sz="1400">
                <a:latin typeface="Courier New" panose="02070309020205020404" pitchFamily="49" charset="0"/>
              </a:rPr>
              <a:t>void sumstore(long x, long y, </a:t>
            </a:r>
          </a:p>
          <a:p>
            <a:pPr>
              <a:spcBef>
                <a:spcPct val="0"/>
              </a:spcBef>
              <a:buFontTx/>
              <a:buNone/>
            </a:pPr>
            <a:r>
              <a:rPr lang="en-US" altLang="zh-CN" sz="1400">
                <a:latin typeface="Courier New" panose="02070309020205020404" pitchFamily="49" charset="0"/>
              </a:rPr>
              <a:t>              long *dest)</a:t>
            </a:r>
          </a:p>
          <a:p>
            <a:pPr>
              <a:spcBef>
                <a:spcPct val="0"/>
              </a:spcBef>
              <a:buFontTx/>
              <a:buNone/>
            </a:pPr>
            <a:r>
              <a:rPr lang="en-US" altLang="zh-CN" sz="1400">
                <a:latin typeface="Courier New" panose="02070309020205020404" pitchFamily="49" charset="0"/>
              </a:rPr>
              <a:t>{</a:t>
            </a:r>
          </a:p>
          <a:p>
            <a:pPr>
              <a:spcBef>
                <a:spcPct val="0"/>
              </a:spcBef>
              <a:buFontTx/>
              <a:buNone/>
            </a:pPr>
            <a:r>
              <a:rPr lang="en-US" altLang="zh-CN" sz="1400">
                <a:latin typeface="Courier New" panose="02070309020205020404" pitchFamily="49" charset="0"/>
              </a:rPr>
              <a:t>    long t = plus(x, y);</a:t>
            </a:r>
          </a:p>
          <a:p>
            <a:pPr>
              <a:spcBef>
                <a:spcPct val="0"/>
              </a:spcBef>
              <a:buFontTx/>
              <a:buNone/>
            </a:pPr>
            <a:r>
              <a:rPr lang="en-US" altLang="zh-CN" sz="1400">
                <a:latin typeface="Courier New" panose="02070309020205020404" pitchFamily="49" charset="0"/>
              </a:rPr>
              <a:t>    *dest = t;</a:t>
            </a:r>
          </a:p>
          <a:p>
            <a:pPr>
              <a:spcBef>
                <a:spcPct val="0"/>
              </a:spcBef>
              <a:buFontTx/>
              <a:buNone/>
            </a:pPr>
            <a:r>
              <a:rPr lang="en-US" altLang="zh-CN" sz="1400">
                <a:latin typeface="Courier New" panose="02070309020205020404" pitchFamily="49" charset="0"/>
              </a:rPr>
              <a:t>}</a:t>
            </a:r>
          </a:p>
        </p:txBody>
      </p:sp>
      <p:sp>
        <p:nvSpPr>
          <p:cNvPr id="65538" name="标题 1">
            <a:extLst>
              <a:ext uri="{FF2B5EF4-FFF2-40B4-BE49-F238E27FC236}">
                <a16:creationId xmlns:a16="http://schemas.microsoft.com/office/drawing/2014/main" id="{9DB21828-1618-0F2A-C4EC-CD8E256A007C}"/>
              </a:ext>
            </a:extLst>
          </p:cNvPr>
          <p:cNvSpPr>
            <a:spLocks noGrp="1" noChangeArrowheads="1"/>
          </p:cNvSpPr>
          <p:nvPr>
            <p:ph type="title"/>
          </p:nvPr>
        </p:nvSpPr>
        <p:spPr/>
        <p:txBody>
          <a:bodyPr/>
          <a:lstStyle/>
          <a:p>
            <a:r>
              <a:rPr kumimoji="1" lang="zh-CN" altLang="en-US" dirty="0">
                <a:ea typeface="宋体" panose="02010600030101010101" pitchFamily="2" charset="-122"/>
              </a:rPr>
              <a:t>自下而上：构建计算机体系</a:t>
            </a:r>
          </a:p>
        </p:txBody>
      </p:sp>
      <p:sp>
        <p:nvSpPr>
          <p:cNvPr id="65539" name="内容占位符 2">
            <a:extLst>
              <a:ext uri="{FF2B5EF4-FFF2-40B4-BE49-F238E27FC236}">
                <a16:creationId xmlns:a16="http://schemas.microsoft.com/office/drawing/2014/main" id="{789BA026-4A1D-92DB-B7FD-93C4314323FA}"/>
              </a:ext>
            </a:extLst>
          </p:cNvPr>
          <p:cNvSpPr>
            <a:spLocks noGrp="1" noChangeArrowheads="1"/>
          </p:cNvSpPr>
          <p:nvPr>
            <p:ph idx="1"/>
          </p:nvPr>
        </p:nvSpPr>
        <p:spPr>
          <a:xfrm>
            <a:off x="457200" y="1600200"/>
            <a:ext cx="8305800" cy="1295400"/>
          </a:xfrm>
        </p:spPr>
        <p:txBody>
          <a:bodyPr/>
          <a:lstStyle/>
          <a:p>
            <a:r>
              <a:rPr kumimoji="1" lang="en-US" altLang="zh-CN" sz="2400" dirty="0">
                <a:latin typeface="Arial" panose="020B0604020202020204" pitchFamily="34" charset="0"/>
                <a:ea typeface="宋体" panose="02010600030101010101" pitchFamily="2" charset="-122"/>
                <a:cs typeface="Arial" panose="020B0604020202020204" pitchFamily="34" charset="0"/>
              </a:rPr>
              <a:t>4</a:t>
            </a:r>
            <a:r>
              <a:rPr kumimoji="1" lang="zh-CN" altLang="en-US" sz="2400" dirty="0">
                <a:latin typeface="Arial" panose="020B0604020202020204" pitchFamily="34" charset="0"/>
                <a:ea typeface="宋体" panose="02010600030101010101" pitchFamily="2" charset="-122"/>
                <a:cs typeface="Arial" panose="020B0604020202020204" pitchFamily="34" charset="0"/>
              </a:rPr>
              <a:t>）硬件接口：机器语言</a:t>
            </a:r>
            <a:r>
              <a:rPr kumimoji="1" lang="en-US" altLang="zh-CN" sz="2400" dirty="0">
                <a:latin typeface="Arial" panose="020B0604020202020204" pitchFamily="34" charset="0"/>
                <a:ea typeface="宋体" panose="02010600030101010101" pitchFamily="2" charset="-122"/>
                <a:cs typeface="Arial" panose="020B0604020202020204" pitchFamily="34" charset="0"/>
              </a:rPr>
              <a:t>/</a:t>
            </a:r>
            <a:r>
              <a:rPr kumimoji="1" lang="zh-CN" altLang="en-US" sz="2400" dirty="0">
                <a:latin typeface="Arial" panose="020B0604020202020204" pitchFamily="34" charset="0"/>
                <a:ea typeface="宋体" panose="02010600030101010101" pitchFamily="2" charset="-122"/>
                <a:cs typeface="Arial" panose="020B0604020202020204" pitchFamily="34" charset="0"/>
              </a:rPr>
              <a:t>指令集</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r>
              <a:rPr kumimoji="1" lang="en-US" altLang="zh-CN" sz="2400" dirty="0">
                <a:latin typeface="Arial" panose="020B0604020202020204" pitchFamily="34" charset="0"/>
                <a:ea typeface="宋体" panose="02010600030101010101" pitchFamily="2" charset="-122"/>
                <a:cs typeface="Arial" panose="020B0604020202020204" pitchFamily="34" charset="0"/>
              </a:rPr>
              <a:t>5</a:t>
            </a:r>
            <a:r>
              <a:rPr kumimoji="1" lang="zh-CN" altLang="en-US" sz="2400" dirty="0">
                <a:latin typeface="Arial" panose="020B0604020202020204" pitchFamily="34" charset="0"/>
                <a:ea typeface="宋体" panose="02010600030101010101" pitchFamily="2" charset="-122"/>
                <a:cs typeface="Arial" panose="020B0604020202020204" pitchFamily="34" charset="0"/>
              </a:rPr>
              <a:t>）软硬件分界面：汇编语言（汇编器）</a:t>
            </a:r>
          </a:p>
          <a:p>
            <a:endParaRPr kumimoji="1" lang="en-US" altLang="zh-CN" sz="2400" dirty="0">
              <a:ea typeface="宋体" panose="02010600030101010101" pitchFamily="2" charset="-122"/>
              <a:cs typeface="Arial" panose="020B0604020202020204" pitchFamily="34" charset="0"/>
            </a:endParaRPr>
          </a:p>
          <a:p>
            <a:endParaRPr kumimoji="1" lang="en-US" altLang="zh-CN" sz="2400" dirty="0">
              <a:ea typeface="宋体" panose="02010600030101010101" pitchFamily="2" charset="-122"/>
              <a:cs typeface="Arial" panose="020B0604020202020204" pitchFamily="34" charset="0"/>
            </a:endParaRPr>
          </a:p>
          <a:p>
            <a:endParaRPr kumimoji="1" lang="en-US" altLang="zh-CN" sz="2400" dirty="0">
              <a:ea typeface="宋体" panose="02010600030101010101" pitchFamily="2" charset="-122"/>
              <a:cs typeface="Arial" panose="020B0604020202020204" pitchFamily="34" charset="0"/>
            </a:endParaRPr>
          </a:p>
          <a:p>
            <a:endParaRPr kumimoji="1" lang="en-US" altLang="zh-CN" sz="2400" dirty="0">
              <a:ea typeface="宋体" panose="02010600030101010101" pitchFamily="2" charset="-122"/>
              <a:cs typeface="Arial" panose="020B0604020202020204" pitchFamily="34" charset="0"/>
            </a:endParaRPr>
          </a:p>
          <a:p>
            <a:endParaRPr kumimoji="1" lang="zh-CN" altLang="en-US" sz="2400" dirty="0">
              <a:ea typeface="宋体" panose="02010600030101010101" pitchFamily="2" charset="-122"/>
              <a:cs typeface="Arial" panose="020B0604020202020204" pitchFamily="34" charset="0"/>
            </a:endParaRPr>
          </a:p>
          <a:p>
            <a:endParaRPr kumimoji="1" lang="zh-CN" altLang="en-US" sz="2400" dirty="0">
              <a:ea typeface="宋体" panose="02010600030101010101" pitchFamily="2" charset="-122"/>
              <a:cs typeface="Arial" panose="020B0604020202020204" pitchFamily="34" charset="0"/>
            </a:endParaRPr>
          </a:p>
        </p:txBody>
      </p:sp>
      <p:sp>
        <p:nvSpPr>
          <p:cNvPr id="65540" name="灯片编号占位符 3">
            <a:extLst>
              <a:ext uri="{FF2B5EF4-FFF2-40B4-BE49-F238E27FC236}">
                <a16:creationId xmlns:a16="http://schemas.microsoft.com/office/drawing/2014/main" id="{A3FF4FFB-51B1-220C-2309-BD6CEEDEBD0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D4A0A929-4B97-C945-B151-975C5913FA8A}" type="slidenum">
              <a:rPr lang="zh-CN" altLang="en-US" sz="1400" smtClean="0">
                <a:latin typeface="Times New Roman" panose="02020603050405020304" pitchFamily="18" charset="0"/>
              </a:rPr>
              <a:pPr>
                <a:spcBef>
                  <a:spcPct val="0"/>
                </a:spcBef>
                <a:buFontTx/>
                <a:buNone/>
              </a:pPr>
              <a:t>41</a:t>
            </a:fld>
            <a:endParaRPr lang="en-US" altLang="zh-CN" sz="1400">
              <a:latin typeface="Times New Roman" panose="02020603050405020304" pitchFamily="18" charset="0"/>
            </a:endParaRPr>
          </a:p>
        </p:txBody>
      </p:sp>
      <p:sp>
        <p:nvSpPr>
          <p:cNvPr id="65541" name="Rectangle 3">
            <a:extLst>
              <a:ext uri="{FF2B5EF4-FFF2-40B4-BE49-F238E27FC236}">
                <a16:creationId xmlns:a16="http://schemas.microsoft.com/office/drawing/2014/main" id="{C9886D46-9AA8-308A-CCF4-0F10E3301B32}"/>
              </a:ext>
            </a:extLst>
          </p:cNvPr>
          <p:cNvSpPr>
            <a:spLocks noChangeArrowheads="1"/>
          </p:cNvSpPr>
          <p:nvPr/>
        </p:nvSpPr>
        <p:spPr bwMode="auto">
          <a:xfrm>
            <a:off x="2895600" y="4148138"/>
            <a:ext cx="6019800" cy="2058987"/>
          </a:xfrm>
          <a:prstGeom prst="rect">
            <a:avLst/>
          </a:prstGeom>
          <a:solidFill>
            <a:srgbClr val="F6F5BD"/>
          </a:solidFill>
          <a:ln w="12700">
            <a:solidFill>
              <a:schemeClr val="tx1"/>
            </a:solidFill>
            <a:miter lim="800000"/>
            <a:headEnd/>
            <a:tailEnd/>
          </a:ln>
        </p:spPr>
        <p:txBody>
          <a:bodyPr lIns="90487" tIns="44450" rIns="90487" bIns="44450">
            <a:spAutoFit/>
          </a:bodyPr>
          <a:lstStyle>
            <a:lvl1pPr>
              <a:spcBef>
                <a:spcPct val="20000"/>
              </a:spcBef>
              <a:buChar char="•"/>
              <a:tabLst>
                <a:tab pos="457200" algn="l"/>
                <a:tab pos="1485900" algn="l"/>
              </a:tabLst>
              <a:defRPr sz="2800">
                <a:solidFill>
                  <a:schemeClr val="tx1"/>
                </a:solidFill>
                <a:latin typeface="Comic Sans MS" panose="030F0902030302020204" pitchFamily="66" charset="0"/>
              </a:defRPr>
            </a:lvl1pPr>
            <a:lvl2pPr marL="742950" indent="-285750">
              <a:spcBef>
                <a:spcPct val="20000"/>
              </a:spcBef>
              <a:buChar char="–"/>
              <a:tabLst>
                <a:tab pos="457200" algn="l"/>
                <a:tab pos="1485900" algn="l"/>
              </a:tabLst>
              <a:defRPr sz="2400">
                <a:solidFill>
                  <a:schemeClr val="tx1"/>
                </a:solidFill>
                <a:latin typeface="Comic Sans MS" panose="030F0902030302020204" pitchFamily="66" charset="0"/>
              </a:defRPr>
            </a:lvl2pPr>
            <a:lvl3pPr marL="1143000" indent="-228600">
              <a:spcBef>
                <a:spcPct val="20000"/>
              </a:spcBef>
              <a:buChar char="•"/>
              <a:tabLst>
                <a:tab pos="457200" algn="l"/>
                <a:tab pos="1485900" algn="l"/>
              </a:tabLst>
              <a:defRPr sz="2000">
                <a:solidFill>
                  <a:schemeClr val="tx1"/>
                </a:solidFill>
                <a:latin typeface="Comic Sans MS" panose="030F0902030302020204" pitchFamily="66" charset="0"/>
              </a:defRPr>
            </a:lvl3pPr>
            <a:lvl4pPr marL="1600200" indent="-228600">
              <a:spcBef>
                <a:spcPct val="20000"/>
              </a:spcBef>
              <a:buChar char="–"/>
              <a:tabLst>
                <a:tab pos="457200" algn="l"/>
                <a:tab pos="1485900" algn="l"/>
              </a:tabLst>
              <a:defRPr sz="2000">
                <a:solidFill>
                  <a:schemeClr val="tx1"/>
                </a:solidFill>
                <a:latin typeface="Comic Sans MS" panose="030F0902030302020204" pitchFamily="66" charset="0"/>
              </a:defRPr>
            </a:lvl4pPr>
            <a:lvl5pPr marL="2057400" indent="-228600">
              <a:spcBef>
                <a:spcPct val="20000"/>
              </a:spcBef>
              <a:buChar char="»"/>
              <a:tabLst>
                <a:tab pos="457200" algn="l"/>
                <a:tab pos="1485900" algn="l"/>
              </a:tabLst>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tabLst>
                <a:tab pos="457200" algn="l"/>
                <a:tab pos="1485900" algn="l"/>
              </a:tabLst>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tabLst>
                <a:tab pos="457200" algn="l"/>
                <a:tab pos="1485900" algn="l"/>
              </a:tabLst>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tabLst>
                <a:tab pos="457200" algn="l"/>
                <a:tab pos="1485900" algn="l"/>
              </a:tabLst>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tabLst>
                <a:tab pos="457200" algn="l"/>
                <a:tab pos="1485900" algn="l"/>
              </a:tabLst>
              <a:defRPr sz="2000">
                <a:solidFill>
                  <a:schemeClr val="tx1"/>
                </a:solidFill>
                <a:latin typeface="Comic Sans MS" panose="030F0902030302020204" pitchFamily="66" charset="0"/>
              </a:defRPr>
            </a:lvl9pPr>
          </a:lstStyle>
          <a:p>
            <a:pPr>
              <a:spcBef>
                <a:spcPct val="0"/>
              </a:spcBef>
              <a:buFontTx/>
              <a:buNone/>
            </a:pPr>
            <a:r>
              <a:rPr lang="en-US" altLang="zh-CN" sz="1600">
                <a:latin typeface="Courier New" panose="02070309020205020404" pitchFamily="49" charset="0"/>
              </a:rPr>
              <a:t>0000000000400595 &lt;sumstore&gt;:</a:t>
            </a:r>
          </a:p>
          <a:p>
            <a:pPr>
              <a:spcBef>
                <a:spcPct val="0"/>
              </a:spcBef>
              <a:buFontTx/>
              <a:buNone/>
            </a:pPr>
            <a:r>
              <a:rPr lang="en-US" altLang="zh-CN" sz="1600">
                <a:latin typeface="Courier New" panose="02070309020205020404" pitchFamily="49" charset="0"/>
              </a:rPr>
              <a:t>  400595:  53               push   %rbx</a:t>
            </a:r>
          </a:p>
          <a:p>
            <a:pPr>
              <a:spcBef>
                <a:spcPct val="0"/>
              </a:spcBef>
              <a:buFontTx/>
              <a:buNone/>
            </a:pPr>
            <a:r>
              <a:rPr lang="en-US" altLang="zh-CN" sz="1600">
                <a:latin typeface="Courier New" panose="02070309020205020404" pitchFamily="49" charset="0"/>
              </a:rPr>
              <a:t>  400596:  48 89 d3         mov    %rdx,%rbx</a:t>
            </a:r>
          </a:p>
          <a:p>
            <a:pPr>
              <a:spcBef>
                <a:spcPct val="0"/>
              </a:spcBef>
              <a:buFontTx/>
              <a:buNone/>
            </a:pPr>
            <a:r>
              <a:rPr lang="en-US" altLang="zh-CN" sz="1600">
                <a:latin typeface="Courier New" panose="02070309020205020404" pitchFamily="49" charset="0"/>
              </a:rPr>
              <a:t>  400599:  e8 f2 ff ff ff   callq  400590 &lt;plus&gt;</a:t>
            </a:r>
          </a:p>
          <a:p>
            <a:pPr>
              <a:spcBef>
                <a:spcPct val="0"/>
              </a:spcBef>
              <a:buFontTx/>
              <a:buNone/>
            </a:pPr>
            <a:r>
              <a:rPr lang="en-US" altLang="zh-CN" sz="1600">
                <a:latin typeface="Courier New" panose="02070309020205020404" pitchFamily="49" charset="0"/>
              </a:rPr>
              <a:t>  40059e:  48 89 03         mov    %rax,(%rbx)</a:t>
            </a:r>
          </a:p>
          <a:p>
            <a:pPr>
              <a:spcBef>
                <a:spcPct val="0"/>
              </a:spcBef>
              <a:buFontTx/>
              <a:buNone/>
            </a:pPr>
            <a:r>
              <a:rPr lang="en-US" altLang="zh-CN" sz="1600">
                <a:latin typeface="Courier New" panose="02070309020205020404" pitchFamily="49" charset="0"/>
              </a:rPr>
              <a:t>  4005a1:  5b               pop    %rbx</a:t>
            </a:r>
          </a:p>
          <a:p>
            <a:pPr>
              <a:spcBef>
                <a:spcPct val="0"/>
              </a:spcBef>
              <a:buFontTx/>
              <a:buNone/>
            </a:pPr>
            <a:r>
              <a:rPr lang="en-US" altLang="zh-CN" sz="1600">
                <a:latin typeface="Courier New" panose="02070309020205020404" pitchFamily="49" charset="0"/>
              </a:rPr>
              <a:t>  4005a2:  c3               retq</a:t>
            </a:r>
          </a:p>
        </p:txBody>
      </p:sp>
      <p:sp>
        <p:nvSpPr>
          <p:cNvPr id="65542" name="矩形 6">
            <a:extLst>
              <a:ext uri="{FF2B5EF4-FFF2-40B4-BE49-F238E27FC236}">
                <a16:creationId xmlns:a16="http://schemas.microsoft.com/office/drawing/2014/main" id="{BDC3C5B0-7C8D-7078-DF77-177E65E95260}"/>
              </a:ext>
            </a:extLst>
          </p:cNvPr>
          <p:cNvSpPr>
            <a:spLocks noChangeArrowheads="1"/>
          </p:cNvSpPr>
          <p:nvPr/>
        </p:nvSpPr>
        <p:spPr bwMode="auto">
          <a:xfrm>
            <a:off x="-322263" y="6249988"/>
            <a:ext cx="49323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902030302020204" pitchFamily="66" charset="0"/>
              </a:defRPr>
            </a:lvl1pPr>
            <a:lvl2pPr>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lvl="1">
              <a:spcBef>
                <a:spcPct val="50000"/>
              </a:spcBef>
              <a:buFontTx/>
              <a:buNone/>
            </a:pPr>
            <a:r>
              <a:rPr lang="en-US" altLang="zh-CN" sz="1600">
                <a:latin typeface="Courier New" panose="02070309020205020404" pitchFamily="49" charset="0"/>
              </a:rPr>
              <a:t>gcc –Og –S sum.c</a:t>
            </a:r>
            <a:r>
              <a:rPr lang="zh-CN" altLang="en-US" sz="1600">
                <a:latin typeface="Courier New" panose="02070309020205020404" pitchFamily="49" charset="0"/>
              </a:rPr>
              <a:t>  生成汇编源文件</a:t>
            </a:r>
            <a:r>
              <a:rPr lang="en-US" altLang="zh-CN" sz="1600">
                <a:latin typeface="Courier New" panose="02070309020205020404" pitchFamily="49" charset="0"/>
              </a:rPr>
              <a:t>sum.s</a:t>
            </a:r>
          </a:p>
        </p:txBody>
      </p:sp>
      <p:sp>
        <p:nvSpPr>
          <p:cNvPr id="65543" name="矩形 7">
            <a:extLst>
              <a:ext uri="{FF2B5EF4-FFF2-40B4-BE49-F238E27FC236}">
                <a16:creationId xmlns:a16="http://schemas.microsoft.com/office/drawing/2014/main" id="{EEC9E0DE-F2D5-36F8-F2A4-AAE5D9998B1A}"/>
              </a:ext>
            </a:extLst>
          </p:cNvPr>
          <p:cNvSpPr>
            <a:spLocks noChangeArrowheads="1"/>
          </p:cNvSpPr>
          <p:nvPr/>
        </p:nvSpPr>
        <p:spPr bwMode="auto">
          <a:xfrm>
            <a:off x="4966768" y="2980163"/>
            <a:ext cx="4216219"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2800">
                <a:solidFill>
                  <a:schemeClr val="tx1"/>
                </a:solidFill>
                <a:latin typeface="Comic Sans MS" panose="030F0902030302020204" pitchFamily="66" charset="0"/>
              </a:defRPr>
            </a:lvl1pPr>
            <a:lvl2pPr>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lvl="1">
              <a:spcBef>
                <a:spcPct val="0"/>
              </a:spcBef>
              <a:buFont typeface="Wingdings" pitchFamily="2" charset="2"/>
              <a:buNone/>
            </a:pPr>
            <a:r>
              <a:rPr lang="zh-CN" altLang="en-US" sz="1600" dirty="0">
                <a:latin typeface="Courier New" panose="02070309020205020404" pitchFamily="49" charset="0"/>
              </a:rPr>
              <a:t>反汇编：</a:t>
            </a:r>
            <a:r>
              <a:rPr lang="en-US" altLang="zh-CN" sz="1600" dirty="0" err="1">
                <a:latin typeface="Courier New" panose="02070309020205020404" pitchFamily="49" charset="0"/>
              </a:rPr>
              <a:t>objdump</a:t>
            </a:r>
            <a:r>
              <a:rPr lang="en-US" altLang="zh-CN" sz="1600" dirty="0">
                <a:latin typeface="Courier New" panose="02070309020205020404" pitchFamily="49" charset="0"/>
              </a:rPr>
              <a:t> –d sum</a:t>
            </a:r>
          </a:p>
          <a:p>
            <a:pPr lvl="1">
              <a:spcBef>
                <a:spcPct val="0"/>
              </a:spcBef>
              <a:buFont typeface="Wingdings" pitchFamily="2" charset="2"/>
              <a:buNone/>
            </a:pPr>
            <a:r>
              <a:rPr lang="zh-CN" altLang="en-US" sz="1600" dirty="0">
                <a:latin typeface="Courier New" panose="02070309020205020404" pitchFamily="49" charset="0"/>
              </a:rPr>
              <a:t>机器码（可执行文件）转换为机器语言</a:t>
            </a:r>
            <a:endParaRPr lang="en-US" altLang="zh-CN" sz="1600" dirty="0">
              <a:latin typeface="Courier New" panose="02070309020205020404" pitchFamily="49" charset="0"/>
            </a:endParaRPr>
          </a:p>
          <a:p>
            <a:pPr lvl="1">
              <a:spcBef>
                <a:spcPct val="0"/>
              </a:spcBef>
              <a:buFont typeface="Wingdings" pitchFamily="2" charset="2"/>
              <a:buNone/>
            </a:pPr>
            <a:r>
              <a:rPr lang="zh-CN" altLang="en-US" sz="1600" dirty="0">
                <a:latin typeface="Courier New" panose="02070309020205020404" pitchFamily="49" charset="0"/>
              </a:rPr>
              <a:t>汇编：机器语言转换为机器码</a:t>
            </a:r>
            <a:endParaRPr lang="en-US" altLang="zh-CN" sz="1600" dirty="0">
              <a:latin typeface="Courier New" panose="02070309020205020404" pitchFamily="49" charset="0"/>
            </a:endParaRPr>
          </a:p>
          <a:p>
            <a:pPr lvl="1">
              <a:spcBef>
                <a:spcPct val="0"/>
              </a:spcBef>
              <a:buFont typeface="Wingdings" pitchFamily="2" charset="2"/>
              <a:buNone/>
            </a:pPr>
            <a:r>
              <a:rPr lang="zh-CN" altLang="en-US" sz="1600" dirty="0">
                <a:latin typeface="Courier New" panose="02070309020205020404" pitchFamily="49" charset="0"/>
              </a:rPr>
              <a:t>左边是机器码，右边是汇编代码</a:t>
            </a:r>
            <a:endParaRPr lang="en-US" altLang="zh-CN" sz="1600" dirty="0">
              <a:latin typeface="Courier New" panose="02070309020205020404" pitchFamily="49" charset="0"/>
            </a:endParaRPr>
          </a:p>
        </p:txBody>
      </p:sp>
      <p:sp>
        <p:nvSpPr>
          <p:cNvPr id="2" name="文本框 1">
            <a:extLst>
              <a:ext uri="{FF2B5EF4-FFF2-40B4-BE49-F238E27FC236}">
                <a16:creationId xmlns:a16="http://schemas.microsoft.com/office/drawing/2014/main" id="{6C39CDF1-44F9-A4A6-12F3-0F46BE9C2219}"/>
              </a:ext>
            </a:extLst>
          </p:cNvPr>
          <p:cNvSpPr txBox="1"/>
          <p:nvPr/>
        </p:nvSpPr>
        <p:spPr>
          <a:xfrm>
            <a:off x="5741458" y="411238"/>
            <a:ext cx="3021542" cy="2092881"/>
          </a:xfrm>
          <a:prstGeom prst="rect">
            <a:avLst/>
          </a:prstGeom>
          <a:noFill/>
        </p:spPr>
        <p:txBody>
          <a:bodyPr wrap="square" rtlCol="0">
            <a:spAutoFit/>
          </a:bodyPr>
          <a:lstStyle/>
          <a:p>
            <a:r>
              <a:rPr lang="en-US" altLang="zh-CN" sz="1000" dirty="0">
                <a:solidFill>
                  <a:srgbClr val="0E0E0E"/>
                </a:solidFill>
                <a:effectLst/>
                <a:latin typeface="Times New Roman" panose="02020603050405020304" pitchFamily="18" charset="0"/>
              </a:rPr>
              <a:t>1. </a:t>
            </a:r>
            <a:r>
              <a:rPr lang="zh-CN" altLang="en-US" sz="1000" b="1" dirty="0">
                <a:solidFill>
                  <a:srgbClr val="0E0E0E"/>
                </a:solidFill>
                <a:effectLst/>
                <a:latin typeface=".SF NS"/>
              </a:rPr>
              <a:t>源代码 → 汇编代码（编译器）</a:t>
            </a:r>
            <a:endParaRPr lang="zh-CN" altLang="en-US" sz="1000" dirty="0">
              <a:solidFill>
                <a:srgbClr val="0E0E0E"/>
              </a:solidFill>
              <a:effectLst/>
              <a:latin typeface=".SF NS"/>
            </a:endParaRPr>
          </a:p>
          <a:p>
            <a:r>
              <a:rPr lang="en-US" altLang="zh-CN" sz="1000" dirty="0">
                <a:solidFill>
                  <a:srgbClr val="0E0E0E"/>
                </a:solidFill>
                <a:effectLst/>
                <a:latin typeface=".SF NS"/>
              </a:rPr>
              <a:t>• </a:t>
            </a:r>
            <a:r>
              <a:rPr lang="zh-CN" altLang="en-US" sz="1000" dirty="0">
                <a:solidFill>
                  <a:srgbClr val="0E0E0E"/>
                </a:solidFill>
                <a:effectLst/>
                <a:latin typeface=".SF NS"/>
              </a:rPr>
              <a:t>编译器将高级语言源代码（如 </a:t>
            </a:r>
            <a:r>
              <a:rPr lang="en-US" altLang="zh-CN" sz="1000" dirty="0">
                <a:solidFill>
                  <a:srgbClr val="0E0E0E"/>
                </a:solidFill>
                <a:effectLst/>
                <a:latin typeface=".SF NS"/>
              </a:rPr>
              <a:t>C</a:t>
            </a:r>
            <a:r>
              <a:rPr lang="zh-CN" altLang="en-US" sz="1000" dirty="0">
                <a:solidFill>
                  <a:srgbClr val="0E0E0E"/>
                </a:solidFill>
                <a:effectLst/>
                <a:latin typeface=".SF NS"/>
              </a:rPr>
              <a:t>）转换为汇编代码。这是一个面向处理器架构的可读格式，使用助记符表示指令。</a:t>
            </a:r>
          </a:p>
          <a:p>
            <a:r>
              <a:rPr lang="en-US" altLang="zh-CN" sz="1000" dirty="0">
                <a:solidFill>
                  <a:srgbClr val="0E0E0E"/>
                </a:solidFill>
                <a:effectLst/>
                <a:latin typeface="Times New Roman" panose="02020603050405020304" pitchFamily="18" charset="0"/>
              </a:rPr>
              <a:t>2. </a:t>
            </a:r>
            <a:r>
              <a:rPr lang="zh-CN" altLang="en-US" sz="1000" b="1" dirty="0">
                <a:solidFill>
                  <a:srgbClr val="0E0E0E"/>
                </a:solidFill>
                <a:effectLst/>
                <a:latin typeface=".SF NS"/>
              </a:rPr>
              <a:t>汇编代码 → 机器码（汇编器）</a:t>
            </a:r>
            <a:endParaRPr lang="zh-CN" altLang="en-US" sz="1000" dirty="0">
              <a:solidFill>
                <a:srgbClr val="0E0E0E"/>
              </a:solidFill>
              <a:effectLst/>
              <a:latin typeface=".SF NS"/>
            </a:endParaRPr>
          </a:p>
          <a:p>
            <a:r>
              <a:rPr lang="en-US" altLang="zh-CN" sz="1000" dirty="0">
                <a:solidFill>
                  <a:srgbClr val="0E0E0E"/>
                </a:solidFill>
                <a:effectLst/>
                <a:latin typeface=".SF NS"/>
              </a:rPr>
              <a:t>• </a:t>
            </a:r>
            <a:r>
              <a:rPr lang="zh-CN" altLang="en-US" sz="1000" dirty="0">
                <a:solidFill>
                  <a:srgbClr val="0E0E0E"/>
                </a:solidFill>
                <a:effectLst/>
                <a:latin typeface=".SF NS"/>
              </a:rPr>
              <a:t>汇编器将汇编代码翻译为机器码（二进制指令），每条汇编指令对应一个或多个二进制机器码指令。</a:t>
            </a:r>
          </a:p>
          <a:p>
            <a:r>
              <a:rPr lang="en-US" altLang="zh-CN" sz="1000" dirty="0">
                <a:solidFill>
                  <a:srgbClr val="0E0E0E"/>
                </a:solidFill>
                <a:effectLst/>
                <a:latin typeface="Times New Roman" panose="02020603050405020304" pitchFamily="18" charset="0"/>
              </a:rPr>
              <a:t>3. </a:t>
            </a:r>
            <a:r>
              <a:rPr lang="zh-CN" altLang="en-US" sz="1000" b="1" dirty="0">
                <a:solidFill>
                  <a:srgbClr val="0E0E0E"/>
                </a:solidFill>
                <a:effectLst/>
                <a:latin typeface=".SF NS"/>
              </a:rPr>
              <a:t>机器码 → 可执行文件（链接器）</a:t>
            </a:r>
            <a:endParaRPr lang="zh-CN" altLang="en-US" sz="1000" dirty="0">
              <a:solidFill>
                <a:srgbClr val="0E0E0E"/>
              </a:solidFill>
              <a:effectLst/>
              <a:latin typeface=".SF NS"/>
            </a:endParaRPr>
          </a:p>
          <a:p>
            <a:r>
              <a:rPr lang="en-US" altLang="zh-CN" sz="1000" dirty="0">
                <a:solidFill>
                  <a:srgbClr val="0E0E0E"/>
                </a:solidFill>
                <a:effectLst/>
                <a:latin typeface=".SF NS"/>
              </a:rPr>
              <a:t>• </a:t>
            </a:r>
            <a:r>
              <a:rPr lang="zh-CN" altLang="en-US" sz="1000" dirty="0">
                <a:solidFill>
                  <a:srgbClr val="0E0E0E"/>
                </a:solidFill>
                <a:effectLst/>
                <a:latin typeface=".SF NS"/>
              </a:rPr>
              <a:t>链接器将机器码和库结合在一起，生成最终的可执行文件。可执行文件包含机器指令、数据、符号表等，能直接在操作系统上运行。</a:t>
            </a:r>
          </a:p>
          <a:p>
            <a:endParaRPr kumimoji="1" lang="zh-CN" alt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5">
            <a:extLst>
              <a:ext uri="{FF2B5EF4-FFF2-40B4-BE49-F238E27FC236}">
                <a16:creationId xmlns:a16="http://schemas.microsoft.com/office/drawing/2014/main" id="{8C70B4BC-8D9C-8744-2348-C7F074A168E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98E057AC-8A13-B248-ABB1-5467C7516E31}" type="slidenum">
              <a:rPr lang="zh-CN" altLang="en-US" sz="1400" smtClean="0">
                <a:latin typeface="Times New Roman" panose="02020603050405020304" pitchFamily="18" charset="0"/>
              </a:rPr>
              <a:pPr>
                <a:spcBef>
                  <a:spcPct val="0"/>
                </a:spcBef>
                <a:buFontTx/>
                <a:buNone/>
              </a:pPr>
              <a:t>42</a:t>
            </a:fld>
            <a:endParaRPr lang="en-US" altLang="zh-CN" sz="1400">
              <a:latin typeface="Times New Roman" panose="02020603050405020304" pitchFamily="18" charset="0"/>
            </a:endParaRPr>
          </a:p>
        </p:txBody>
      </p:sp>
      <p:sp>
        <p:nvSpPr>
          <p:cNvPr id="66562" name="Rectangle 2">
            <a:extLst>
              <a:ext uri="{FF2B5EF4-FFF2-40B4-BE49-F238E27FC236}">
                <a16:creationId xmlns:a16="http://schemas.microsoft.com/office/drawing/2014/main" id="{3DB6769B-FF3E-F470-18EF-1F970374D422}"/>
              </a:ext>
            </a:extLst>
          </p:cNvPr>
          <p:cNvSpPr>
            <a:spLocks noGrp="1" noChangeArrowheads="1"/>
          </p:cNvSpPr>
          <p:nvPr>
            <p:ph type="title"/>
          </p:nvPr>
        </p:nvSpPr>
        <p:spPr/>
        <p:txBody>
          <a:bodyPr/>
          <a:lstStyle/>
          <a:p>
            <a:r>
              <a:rPr lang="en-US" altLang="zh-CN">
                <a:ea typeface="宋体" panose="02010600030101010101" pitchFamily="2" charset="-122"/>
              </a:rPr>
              <a:t>Outline</a:t>
            </a:r>
          </a:p>
        </p:txBody>
      </p:sp>
      <p:sp>
        <p:nvSpPr>
          <p:cNvPr id="66563" name="Rectangle 3">
            <a:extLst>
              <a:ext uri="{FF2B5EF4-FFF2-40B4-BE49-F238E27FC236}">
                <a16:creationId xmlns:a16="http://schemas.microsoft.com/office/drawing/2014/main" id="{DAF1D177-258C-639D-4F70-70372A7AA51A}"/>
              </a:ext>
            </a:extLst>
          </p:cNvPr>
          <p:cNvSpPr>
            <a:spLocks noGrp="1" noChangeArrowheads="1"/>
          </p:cNvSpPr>
          <p:nvPr>
            <p:ph type="body" idx="1"/>
          </p:nvPr>
        </p:nvSpPr>
        <p:spPr/>
        <p:txBody>
          <a:bodyPr/>
          <a:lstStyle/>
          <a:p>
            <a:r>
              <a:rPr kumimoji="1" lang="en-US" altLang="zh-CN">
                <a:ea typeface="宋体" panose="02010600030101010101" pitchFamily="2" charset="-122"/>
              </a:rPr>
              <a:t>CPU</a:t>
            </a:r>
            <a:r>
              <a:rPr kumimoji="1" lang="zh-CN" altLang="en-US">
                <a:ea typeface="宋体" panose="02010600030101010101" pitchFamily="2" charset="-122"/>
              </a:rPr>
              <a:t>发展</a:t>
            </a:r>
            <a:endParaRPr kumimoji="1" lang="en-US" altLang="zh-CN">
              <a:ea typeface="宋体" panose="02010600030101010101" pitchFamily="2" charset="-122"/>
            </a:endParaRPr>
          </a:p>
          <a:p>
            <a:r>
              <a:rPr kumimoji="1" lang="zh-CN" altLang="en-US">
                <a:ea typeface="宋体" panose="02010600030101010101" pitchFamily="2" charset="-122"/>
              </a:rPr>
              <a:t>自下而上：构建计算机体系</a:t>
            </a:r>
            <a:endParaRPr lang="en-US" altLang="zh-CN">
              <a:ea typeface="宋体" panose="02010600030101010101" pitchFamily="2" charset="-122"/>
            </a:endParaRPr>
          </a:p>
          <a:p>
            <a:r>
              <a:rPr lang="en-US" altLang="zh-CN" b="1">
                <a:solidFill>
                  <a:srgbClr val="C00000"/>
                </a:solidFill>
                <a:ea typeface="宋体" panose="02010600030101010101" pitchFamily="2" charset="-122"/>
              </a:rPr>
              <a:t>CPU Architecture</a:t>
            </a:r>
          </a:p>
          <a:p>
            <a:r>
              <a:rPr lang="en-US" altLang="zh-CN">
                <a:ea typeface="宋体" panose="02010600030101010101" pitchFamily="2" charset="-122"/>
              </a:rPr>
              <a:t>Memory and Registers</a:t>
            </a:r>
          </a:p>
          <a:p>
            <a:r>
              <a:rPr lang="zh-CN" altLang="en-US">
                <a:ea typeface="宋体" panose="02010600030101010101" pitchFamily="2" charset="-122"/>
              </a:rPr>
              <a:t>处理器架构实例：华为鲲鹏处理器</a:t>
            </a:r>
            <a:endParaRPr lang="en-US" altLang="zh-CN">
              <a:ea typeface="宋体" panose="02010600030101010101" pitchFamily="2" charset="-122"/>
            </a:endParaRPr>
          </a:p>
          <a:p>
            <a:pPr>
              <a:buFontTx/>
              <a:buNone/>
            </a:pPr>
            <a:endParaRPr lang="en-US" altLang="zh-CN">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a:extLst>
              <a:ext uri="{FF2B5EF4-FFF2-40B4-BE49-F238E27FC236}">
                <a16:creationId xmlns:a16="http://schemas.microsoft.com/office/drawing/2014/main" id="{5F171513-083F-9198-E84F-BA2BFC4CB1CB}"/>
              </a:ext>
            </a:extLst>
          </p:cNvPr>
          <p:cNvSpPr>
            <a:spLocks noGrp="1" noChangeArrowheads="1"/>
          </p:cNvSpPr>
          <p:nvPr>
            <p:ph type="title"/>
          </p:nvPr>
        </p:nvSpPr>
        <p:spPr>
          <a:xfrm>
            <a:off x="549275" y="447675"/>
            <a:ext cx="8045450" cy="485775"/>
          </a:xfrm>
        </p:spPr>
        <p:txBody>
          <a:bodyPr/>
          <a:lstStyle/>
          <a:p>
            <a:r>
              <a:rPr>
                <a:latin typeface="Huawei Sans"/>
                <a:ea typeface="方正兰亭黑简体"/>
                <a:cs typeface="方正兰亭黑简体"/>
              </a:rPr>
              <a:t>指令集：</a:t>
            </a:r>
            <a:r>
              <a:rPr lang="en-US" altLang="zh-CN">
                <a:latin typeface="Huawei Sans"/>
                <a:ea typeface="方正兰亭黑简体"/>
                <a:cs typeface="方正兰亭黑简体"/>
              </a:rPr>
              <a:t>RISC vs CISC</a:t>
            </a:r>
            <a:endParaRPr>
              <a:latin typeface="Huawei Sans"/>
              <a:ea typeface="方正兰亭黑简体"/>
              <a:cs typeface="方正兰亭黑简体"/>
            </a:endParaRPr>
          </a:p>
        </p:txBody>
      </p:sp>
      <p:sp>
        <p:nvSpPr>
          <p:cNvPr id="3" name="内容占位符 2">
            <a:extLst>
              <a:ext uri="{FF2B5EF4-FFF2-40B4-BE49-F238E27FC236}">
                <a16:creationId xmlns:a16="http://schemas.microsoft.com/office/drawing/2014/main" id="{447B8938-C967-00C4-332C-064A2EA769FF}"/>
              </a:ext>
            </a:extLst>
          </p:cNvPr>
          <p:cNvSpPr>
            <a:spLocks noGrp="1"/>
          </p:cNvSpPr>
          <p:nvPr>
            <p:ph type="body" sz="quarter" idx="10"/>
          </p:nvPr>
        </p:nvSpPr>
        <p:spPr>
          <a:xfrm>
            <a:off x="549275" y="1643063"/>
            <a:ext cx="8012113" cy="3967162"/>
          </a:xfrm>
        </p:spPr>
        <p:txBody>
          <a:bodyPr/>
          <a:lstStyle/>
          <a:p>
            <a:pPr marL="216000" indent="-216000" defTabSz="601266" fontAlgn="base">
              <a:spcBef>
                <a:spcPts val="450"/>
              </a:spcBef>
              <a:buSzPct val="60000"/>
              <a:defRPr/>
            </a:pPr>
            <a:r>
              <a:rPr lang="en-US" altLang="zh-CN" sz="1650" dirty="0">
                <a:solidFill>
                  <a:srgbClr val="000000"/>
                </a:solidFill>
                <a:cs typeface="+mn-cs"/>
              </a:rPr>
              <a:t>ARM</a:t>
            </a:r>
            <a:r>
              <a:rPr lang="zh-CN" altLang="en-US" sz="1650" dirty="0">
                <a:solidFill>
                  <a:srgbClr val="000000"/>
                </a:solidFill>
                <a:cs typeface="+mn-cs"/>
              </a:rPr>
              <a:t>：使用精简指令集（</a:t>
            </a:r>
            <a:r>
              <a:rPr lang="en-US" altLang="zh-CN" sz="1650" dirty="0">
                <a:solidFill>
                  <a:srgbClr val="000000"/>
                </a:solidFill>
                <a:cs typeface="+mn-cs"/>
              </a:rPr>
              <a:t>RISC</a:t>
            </a:r>
            <a:r>
              <a:rPr lang="zh-CN" altLang="en-US" sz="1650" dirty="0">
                <a:solidFill>
                  <a:srgbClr val="000000"/>
                </a:solidFill>
                <a:cs typeface="+mn-cs"/>
              </a:rPr>
              <a:t>），大幅简化架构，仅保留所需要的指令，可以让整个处理器更为简化，拥有小体积、高效能的特性。</a:t>
            </a:r>
            <a:r>
              <a:rPr lang="en-US" altLang="zh-CN" sz="1650" dirty="0">
                <a:solidFill>
                  <a:srgbClr val="000000"/>
                </a:solidFill>
                <a:cs typeface="+mn-cs"/>
              </a:rPr>
              <a:t>ARMv8</a:t>
            </a:r>
            <a:r>
              <a:rPr lang="zh-CN" altLang="en-US" sz="1650" dirty="0">
                <a:solidFill>
                  <a:srgbClr val="000000"/>
                </a:solidFill>
                <a:cs typeface="+mn-cs"/>
              </a:rPr>
              <a:t>架构支持</a:t>
            </a:r>
            <a:r>
              <a:rPr lang="en-US" altLang="zh-CN" sz="1650" dirty="0">
                <a:solidFill>
                  <a:srgbClr val="000000"/>
                </a:solidFill>
                <a:cs typeface="+mn-cs"/>
              </a:rPr>
              <a:t>64</a:t>
            </a:r>
            <a:r>
              <a:rPr lang="zh-CN" altLang="en-US" sz="1650" dirty="0">
                <a:solidFill>
                  <a:srgbClr val="000000"/>
                </a:solidFill>
                <a:cs typeface="+mn-cs"/>
              </a:rPr>
              <a:t>位操作，指令</a:t>
            </a:r>
            <a:r>
              <a:rPr lang="en-US" altLang="zh-CN" sz="1650" dirty="0">
                <a:solidFill>
                  <a:srgbClr val="000000"/>
                </a:solidFill>
                <a:cs typeface="+mn-cs"/>
              </a:rPr>
              <a:t>32</a:t>
            </a:r>
            <a:r>
              <a:rPr lang="zh-CN" altLang="en-US" sz="1650" dirty="0">
                <a:solidFill>
                  <a:srgbClr val="000000"/>
                </a:solidFill>
                <a:cs typeface="+mn-cs"/>
              </a:rPr>
              <a:t>位，寄存器</a:t>
            </a:r>
            <a:r>
              <a:rPr lang="en-US" altLang="zh-CN" sz="1650" dirty="0">
                <a:solidFill>
                  <a:srgbClr val="000000"/>
                </a:solidFill>
                <a:cs typeface="+mn-cs"/>
              </a:rPr>
              <a:t>64</a:t>
            </a:r>
            <a:r>
              <a:rPr lang="zh-CN" altLang="en-US" sz="1650" dirty="0">
                <a:solidFill>
                  <a:srgbClr val="000000"/>
                </a:solidFill>
                <a:cs typeface="+mn-cs"/>
              </a:rPr>
              <a:t>位，寻址能力</a:t>
            </a:r>
            <a:r>
              <a:rPr lang="en-US" altLang="zh-CN" sz="1650" dirty="0">
                <a:solidFill>
                  <a:srgbClr val="000000"/>
                </a:solidFill>
                <a:cs typeface="+mn-cs"/>
              </a:rPr>
              <a:t>64</a:t>
            </a:r>
            <a:r>
              <a:rPr lang="zh-CN" altLang="en-US" sz="1650" dirty="0">
                <a:solidFill>
                  <a:srgbClr val="000000"/>
                </a:solidFill>
                <a:cs typeface="+mn-cs"/>
              </a:rPr>
              <a:t>位。</a:t>
            </a:r>
            <a:r>
              <a:rPr lang="zh-CN" altLang="en-US" sz="1650" dirty="0">
                <a:solidFill>
                  <a:srgbClr val="000000"/>
                </a:solidFill>
              </a:rPr>
              <a:t>指令集使用</a:t>
            </a:r>
            <a:r>
              <a:rPr lang="en-US" altLang="zh-CN" sz="1650" dirty="0">
                <a:solidFill>
                  <a:srgbClr val="000000"/>
                </a:solidFill>
              </a:rPr>
              <a:t>NEON</a:t>
            </a:r>
            <a:r>
              <a:rPr lang="zh-CN" altLang="en-US" sz="1650" dirty="0">
                <a:solidFill>
                  <a:srgbClr val="000000"/>
                </a:solidFill>
              </a:rPr>
              <a:t>扩展结构。</a:t>
            </a:r>
            <a:endParaRPr lang="en-US" altLang="zh-CN" sz="1650" dirty="0">
              <a:solidFill>
                <a:srgbClr val="000000"/>
              </a:solidFill>
              <a:cs typeface="+mn-cs"/>
            </a:endParaRPr>
          </a:p>
          <a:p>
            <a:pPr marL="216000" indent="-216000" defTabSz="601266" fontAlgn="base">
              <a:spcBef>
                <a:spcPts val="450"/>
              </a:spcBef>
              <a:buSzPct val="60000"/>
              <a:defRPr/>
            </a:pPr>
            <a:r>
              <a:rPr lang="en-US" altLang="zh-CN" sz="1650" dirty="0">
                <a:solidFill>
                  <a:srgbClr val="000000"/>
                </a:solidFill>
                <a:cs typeface="+mn-cs"/>
                <a:sym typeface="Wingdings" pitchFamily="2" charset="2"/>
              </a:rPr>
              <a:t>X86</a:t>
            </a:r>
            <a:r>
              <a:rPr lang="zh-CN" altLang="en-US" sz="1650" dirty="0">
                <a:solidFill>
                  <a:srgbClr val="000000"/>
                </a:solidFill>
                <a:cs typeface="+mn-cs"/>
                <a:sym typeface="Wingdings" pitchFamily="2" charset="2"/>
              </a:rPr>
              <a:t>：使用复杂指令集（</a:t>
            </a:r>
            <a:r>
              <a:rPr lang="en-US" altLang="zh-CN" sz="1650" dirty="0">
                <a:solidFill>
                  <a:srgbClr val="000000"/>
                </a:solidFill>
                <a:cs typeface="+mn-cs"/>
                <a:sym typeface="Wingdings" pitchFamily="2" charset="2"/>
              </a:rPr>
              <a:t>CISC)</a:t>
            </a:r>
            <a:r>
              <a:rPr lang="zh-CN" altLang="en-US" sz="1650" dirty="0">
                <a:solidFill>
                  <a:srgbClr val="000000"/>
                </a:solidFill>
                <a:cs typeface="+mn-cs"/>
                <a:sym typeface="Wingdings" pitchFamily="2" charset="2"/>
              </a:rPr>
              <a:t>，</a:t>
            </a:r>
            <a:r>
              <a:rPr lang="zh-CN" altLang="en-US" sz="1650" dirty="0">
                <a:solidFill>
                  <a:srgbClr val="000000"/>
                </a:solidFill>
                <a:cs typeface="+mn-cs"/>
              </a:rPr>
              <a:t>以增加处理器本身复杂度为代价，换取更高的性能。</a:t>
            </a:r>
            <a:r>
              <a:rPr lang="en-US" altLang="zh-CN" sz="1650" dirty="0">
                <a:solidFill>
                  <a:srgbClr val="000000"/>
                </a:solidFill>
                <a:cs typeface="+mn-cs"/>
              </a:rPr>
              <a:t>X86</a:t>
            </a:r>
            <a:r>
              <a:rPr lang="zh-CN" altLang="en-US" sz="1650" dirty="0">
                <a:solidFill>
                  <a:srgbClr val="000000"/>
                </a:solidFill>
                <a:cs typeface="+mn-cs"/>
              </a:rPr>
              <a:t>指令集从</a:t>
            </a:r>
            <a:r>
              <a:rPr lang="en-US" altLang="zh-CN" sz="1650" dirty="0">
                <a:solidFill>
                  <a:srgbClr val="000000"/>
                </a:solidFill>
                <a:cs typeface="+mn-cs"/>
              </a:rPr>
              <a:t>MMX</a:t>
            </a:r>
            <a:r>
              <a:rPr lang="zh-CN" altLang="en-US" sz="1650" dirty="0">
                <a:solidFill>
                  <a:srgbClr val="000000"/>
                </a:solidFill>
                <a:cs typeface="+mn-cs"/>
              </a:rPr>
              <a:t>，发展到了</a:t>
            </a:r>
            <a:r>
              <a:rPr lang="en-US" altLang="zh-CN" sz="1650" dirty="0">
                <a:solidFill>
                  <a:srgbClr val="000000"/>
                </a:solidFill>
                <a:cs typeface="+mn-cs"/>
              </a:rPr>
              <a:t>SSE</a:t>
            </a:r>
            <a:r>
              <a:rPr lang="zh-CN" altLang="en-US" sz="1650" dirty="0">
                <a:solidFill>
                  <a:srgbClr val="000000"/>
                </a:solidFill>
                <a:cs typeface="+mn-cs"/>
              </a:rPr>
              <a:t>，</a:t>
            </a:r>
            <a:r>
              <a:rPr lang="en-US" altLang="zh-CN" sz="1650" dirty="0">
                <a:solidFill>
                  <a:srgbClr val="000000"/>
                </a:solidFill>
                <a:cs typeface="+mn-cs"/>
              </a:rPr>
              <a:t>AVX</a:t>
            </a:r>
            <a:r>
              <a:rPr lang="zh-CN" altLang="en-US" sz="1650" dirty="0">
                <a:solidFill>
                  <a:srgbClr val="000000"/>
                </a:solidFill>
                <a:cs typeface="+mn-cs"/>
              </a:rPr>
              <a:t>。</a:t>
            </a:r>
          </a:p>
        </p:txBody>
      </p:sp>
      <p:pic>
        <p:nvPicPr>
          <p:cNvPr id="68611" name="Picture 3">
            <a:extLst>
              <a:ext uri="{FF2B5EF4-FFF2-40B4-BE49-F238E27FC236}">
                <a16:creationId xmlns:a16="http://schemas.microsoft.com/office/drawing/2014/main" id="{F750ACE0-4B28-2E4B-C566-A84C57D55F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638" y="3559175"/>
            <a:ext cx="3527425"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13">
            <a:extLst>
              <a:ext uri="{FF2B5EF4-FFF2-40B4-BE49-F238E27FC236}">
                <a16:creationId xmlns:a16="http://schemas.microsoft.com/office/drawing/2014/main" id="{5721AB1D-77F0-A1DE-80D1-134509AB3D21}"/>
              </a:ext>
            </a:extLst>
          </p:cNvPr>
          <p:cNvSpPr txBox="1"/>
          <p:nvPr/>
        </p:nvSpPr>
        <p:spPr>
          <a:xfrm>
            <a:off x="4238625" y="3559175"/>
            <a:ext cx="4376738" cy="2003425"/>
          </a:xfrm>
          <a:prstGeom prst="rect">
            <a:avLst/>
          </a:prstGeom>
          <a:noFill/>
        </p:spPr>
        <p:txBody>
          <a:bodyPr>
            <a:spAutoFit/>
          </a:bodyPr>
          <a:lstStyle/>
          <a:p>
            <a:pPr>
              <a:lnSpc>
                <a:spcPts val="1500"/>
              </a:lnSpc>
              <a:defRPr/>
            </a:pPr>
            <a:r>
              <a:rPr lang="en-US" altLang="zh-CN" sz="1349" dirty="0">
                <a:latin typeface="Huawei Sans" panose="020C0503030203020204" pitchFamily="34" charset="0"/>
                <a:ea typeface="方正兰亭黑简体" panose="02000000000000000000" pitchFamily="2" charset="-122"/>
              </a:rPr>
              <a:t>ARMv8</a:t>
            </a:r>
            <a:r>
              <a:rPr lang="zh-CN" altLang="en-US" sz="1349" dirty="0">
                <a:latin typeface="Huawei Sans" panose="020C0503030203020204" pitchFamily="34" charset="0"/>
                <a:ea typeface="方正兰亭黑简体" panose="02000000000000000000" pitchFamily="2" charset="-122"/>
              </a:rPr>
              <a:t>架构的特点：</a:t>
            </a:r>
          </a:p>
          <a:p>
            <a:pPr marL="214313" indent="-214313">
              <a:lnSpc>
                <a:spcPts val="1500"/>
              </a:lnSpc>
              <a:buSzPct val="60000"/>
              <a:buFont typeface="Wingdings" panose="05000000000000000000" pitchFamily="2" charset="2"/>
              <a:buChar char="l"/>
              <a:defRPr/>
            </a:pPr>
            <a:r>
              <a:rPr lang="en-US" altLang="zh-CN" sz="1050" dirty="0">
                <a:latin typeface="Huawei Sans" panose="020C0503030203020204" pitchFamily="34" charset="0"/>
                <a:ea typeface="方正兰亭黑简体" panose="02000000000000000000" pitchFamily="2" charset="-122"/>
              </a:rPr>
              <a:t>31</a:t>
            </a:r>
            <a:r>
              <a:rPr lang="zh-CN" altLang="en-US" sz="1050" dirty="0">
                <a:latin typeface="Huawei Sans" panose="020C0503030203020204" pitchFamily="34" charset="0"/>
                <a:ea typeface="方正兰亭黑简体" panose="02000000000000000000" pitchFamily="2" charset="-122"/>
              </a:rPr>
              <a:t>个</a:t>
            </a:r>
            <a:r>
              <a:rPr lang="en-US" altLang="zh-CN" sz="1050" dirty="0">
                <a:latin typeface="Huawei Sans" panose="020C0503030203020204" pitchFamily="34" charset="0"/>
                <a:ea typeface="方正兰亭黑简体" panose="02000000000000000000" pitchFamily="2" charset="-122"/>
              </a:rPr>
              <a:t>64</a:t>
            </a:r>
            <a:r>
              <a:rPr lang="zh-CN" altLang="en-US" sz="1050" dirty="0">
                <a:latin typeface="Huawei Sans" panose="020C0503030203020204" pitchFamily="34" charset="0"/>
                <a:ea typeface="方正兰亭黑简体" panose="02000000000000000000" pitchFamily="2" charset="-122"/>
              </a:rPr>
              <a:t>位通用寄存器，原来架构只有</a:t>
            </a:r>
            <a:r>
              <a:rPr lang="en-US" altLang="zh-CN" sz="1050" dirty="0">
                <a:latin typeface="Huawei Sans" panose="020C0503030203020204" pitchFamily="34" charset="0"/>
                <a:ea typeface="方正兰亭黑简体" panose="02000000000000000000" pitchFamily="2" charset="-122"/>
              </a:rPr>
              <a:t>15</a:t>
            </a:r>
            <a:r>
              <a:rPr lang="zh-CN" altLang="en-US" sz="1050" dirty="0">
                <a:latin typeface="Huawei Sans" panose="020C0503030203020204" pitchFamily="34" charset="0"/>
                <a:ea typeface="方正兰亭黑简体" panose="02000000000000000000" pitchFamily="2" charset="-122"/>
              </a:rPr>
              <a:t>个通用寄存器；</a:t>
            </a:r>
            <a:endParaRPr lang="en-US" altLang="zh-CN" sz="1050" dirty="0">
              <a:latin typeface="Huawei Sans" panose="020C0503030203020204" pitchFamily="34" charset="0"/>
              <a:ea typeface="方正兰亭黑简体" panose="02000000000000000000" pitchFamily="2" charset="-122"/>
            </a:endParaRPr>
          </a:p>
          <a:p>
            <a:pPr marL="214313" indent="-214313">
              <a:lnSpc>
                <a:spcPts val="1500"/>
              </a:lnSpc>
              <a:buSzPct val="60000"/>
              <a:buFont typeface="Wingdings" panose="05000000000000000000" pitchFamily="2" charset="2"/>
              <a:buChar char="l"/>
              <a:defRPr/>
            </a:pPr>
            <a:r>
              <a:rPr lang="zh-CN" altLang="en-US" sz="1050" dirty="0">
                <a:latin typeface="Huawei Sans" panose="020C0503030203020204" pitchFamily="34" charset="0"/>
                <a:ea typeface="方正兰亭黑简体" panose="02000000000000000000" pitchFamily="2" charset="-122"/>
              </a:rPr>
              <a:t>新指令集支持</a:t>
            </a:r>
            <a:r>
              <a:rPr lang="en-US" altLang="zh-CN" sz="1050" dirty="0">
                <a:latin typeface="Huawei Sans" panose="020C0503030203020204" pitchFamily="34" charset="0"/>
                <a:ea typeface="方正兰亭黑简体" panose="02000000000000000000" pitchFamily="2" charset="-122"/>
              </a:rPr>
              <a:t>64</a:t>
            </a:r>
            <a:r>
              <a:rPr lang="zh-CN" altLang="en-US" sz="1050" dirty="0">
                <a:latin typeface="Huawei Sans" panose="020C0503030203020204" pitchFamily="34" charset="0"/>
                <a:ea typeface="方正兰亭黑简体" panose="02000000000000000000" pitchFamily="2" charset="-122"/>
              </a:rPr>
              <a:t>位运算，指令中的寄存器编码由</a:t>
            </a:r>
            <a:r>
              <a:rPr lang="en-US" altLang="zh-CN" sz="1050" dirty="0">
                <a:latin typeface="Huawei Sans" panose="020C0503030203020204" pitchFamily="34" charset="0"/>
                <a:ea typeface="方正兰亭黑简体" panose="02000000000000000000" pitchFamily="2" charset="-122"/>
              </a:rPr>
              <a:t>4</a:t>
            </a:r>
            <a:r>
              <a:rPr lang="zh-CN" altLang="en-US" sz="1050" dirty="0">
                <a:latin typeface="Huawei Sans" panose="020C0503030203020204" pitchFamily="34" charset="0"/>
                <a:ea typeface="方正兰亭黑简体" panose="02000000000000000000" pitchFamily="2" charset="-122"/>
              </a:rPr>
              <a:t>位扩充到</a:t>
            </a:r>
            <a:r>
              <a:rPr lang="en-US" altLang="zh-CN" sz="1050" dirty="0">
                <a:latin typeface="Huawei Sans" panose="020C0503030203020204" pitchFamily="34" charset="0"/>
                <a:ea typeface="方正兰亭黑简体" panose="02000000000000000000" pitchFamily="2" charset="-122"/>
              </a:rPr>
              <a:t>5</a:t>
            </a:r>
            <a:r>
              <a:rPr lang="zh-CN" altLang="en-US" sz="1050" dirty="0">
                <a:latin typeface="Huawei Sans" panose="020C0503030203020204" pitchFamily="34" charset="0"/>
                <a:ea typeface="方正兰亭黑简体" panose="02000000000000000000" pitchFamily="2" charset="-122"/>
              </a:rPr>
              <a:t>位；</a:t>
            </a:r>
          </a:p>
          <a:p>
            <a:pPr marL="214313" indent="-214313">
              <a:lnSpc>
                <a:spcPts val="1500"/>
              </a:lnSpc>
              <a:buSzPct val="60000"/>
              <a:buFont typeface="Wingdings" panose="05000000000000000000" pitchFamily="2" charset="2"/>
              <a:buChar char="l"/>
              <a:defRPr/>
            </a:pPr>
            <a:r>
              <a:rPr lang="zh-CN" altLang="en-US" sz="1050" dirty="0">
                <a:latin typeface="Huawei Sans" panose="020C0503030203020204" pitchFamily="34" charset="0"/>
                <a:ea typeface="方正兰亭黑简体" panose="02000000000000000000" pitchFamily="2" charset="-122"/>
              </a:rPr>
              <a:t>新指令集仍然是</a:t>
            </a:r>
            <a:r>
              <a:rPr lang="en-US" altLang="zh-CN" sz="1050" dirty="0">
                <a:latin typeface="Huawei Sans" panose="020C0503030203020204" pitchFamily="34" charset="0"/>
                <a:ea typeface="方正兰亭黑简体" panose="02000000000000000000" pitchFamily="2" charset="-122"/>
              </a:rPr>
              <a:t>32</a:t>
            </a:r>
            <a:r>
              <a:rPr lang="zh-CN" altLang="en-US" sz="1050" dirty="0">
                <a:latin typeface="Huawei Sans" panose="020C0503030203020204" pitchFamily="34" charset="0"/>
                <a:ea typeface="方正兰亭黑简体" panose="02000000000000000000" pitchFamily="2" charset="-122"/>
              </a:rPr>
              <a:t>位，减少了条件执行指令，条件执行指令的</a:t>
            </a:r>
            <a:r>
              <a:rPr lang="en-US" altLang="zh-CN" sz="1050" dirty="0">
                <a:latin typeface="Huawei Sans" panose="020C0503030203020204" pitchFamily="34" charset="0"/>
                <a:ea typeface="方正兰亭黑简体" panose="02000000000000000000" pitchFamily="2" charset="-122"/>
              </a:rPr>
              <a:t>4</a:t>
            </a:r>
            <a:r>
              <a:rPr lang="zh-CN" altLang="en-US" sz="1050" dirty="0">
                <a:latin typeface="Huawei Sans" panose="020C0503030203020204" pitchFamily="34" charset="0"/>
                <a:ea typeface="方正兰亭黑简体" panose="02000000000000000000" pitchFamily="2" charset="-122"/>
              </a:rPr>
              <a:t>位编码释放出来用于寄存器编码；</a:t>
            </a:r>
          </a:p>
          <a:p>
            <a:pPr marL="214313" indent="-214313">
              <a:lnSpc>
                <a:spcPts val="1500"/>
              </a:lnSpc>
              <a:buSzPct val="60000"/>
              <a:buFont typeface="Wingdings" panose="05000000000000000000" pitchFamily="2" charset="2"/>
              <a:buChar char="l"/>
              <a:defRPr/>
            </a:pPr>
            <a:r>
              <a:rPr lang="zh-CN" altLang="en-US" sz="1050" dirty="0">
                <a:latin typeface="Huawei Sans" panose="020C0503030203020204" pitchFamily="34" charset="0"/>
                <a:ea typeface="方正兰亭黑简体" panose="02000000000000000000" pitchFamily="2" charset="-122"/>
              </a:rPr>
              <a:t>堆栈指针</a:t>
            </a:r>
            <a:r>
              <a:rPr lang="en-US" altLang="zh-CN" sz="1050" dirty="0">
                <a:latin typeface="Huawei Sans" panose="020C0503030203020204" pitchFamily="34" charset="0"/>
                <a:ea typeface="方正兰亭黑简体" panose="02000000000000000000" pitchFamily="2" charset="-122"/>
              </a:rPr>
              <a:t>SP</a:t>
            </a:r>
            <a:r>
              <a:rPr lang="zh-CN" altLang="en-US" sz="1050" dirty="0">
                <a:latin typeface="Huawei Sans" panose="020C0503030203020204" pitchFamily="34" charset="0"/>
                <a:ea typeface="方正兰亭黑简体" panose="02000000000000000000" pitchFamily="2" charset="-122"/>
              </a:rPr>
              <a:t>和程序指针</a:t>
            </a:r>
            <a:r>
              <a:rPr lang="en-US" altLang="zh-CN" sz="1050" dirty="0">
                <a:latin typeface="Huawei Sans" panose="020C0503030203020204" pitchFamily="34" charset="0"/>
                <a:ea typeface="方正兰亭黑简体" panose="02000000000000000000" pitchFamily="2" charset="-122"/>
              </a:rPr>
              <a:t>PC</a:t>
            </a:r>
            <a:r>
              <a:rPr lang="zh-CN" altLang="en-US" sz="1050" dirty="0">
                <a:latin typeface="Huawei Sans" panose="020C0503030203020204" pitchFamily="34" charset="0"/>
                <a:ea typeface="方正兰亭黑简体" panose="02000000000000000000" pitchFamily="2" charset="-122"/>
              </a:rPr>
              <a:t>都不再是通用寄存器了，同时推出了零值寄存器（类似</a:t>
            </a:r>
            <a:r>
              <a:rPr lang="en-US" altLang="zh-CN" sz="1050" dirty="0">
                <a:latin typeface="Huawei Sans" panose="020C0503030203020204" pitchFamily="34" charset="0"/>
                <a:ea typeface="方正兰亭黑简体" panose="02000000000000000000" pitchFamily="2" charset="-122"/>
              </a:rPr>
              <a:t>PowerPC</a:t>
            </a:r>
            <a:r>
              <a:rPr lang="zh-CN" altLang="en-US" sz="1050" dirty="0">
                <a:latin typeface="Huawei Sans" panose="020C0503030203020204" pitchFamily="34" charset="0"/>
                <a:ea typeface="方正兰亭黑简体" panose="02000000000000000000" pitchFamily="2" charset="-122"/>
              </a:rPr>
              <a:t>的</a:t>
            </a:r>
            <a:r>
              <a:rPr lang="en-US" altLang="zh-CN" sz="1050" dirty="0">
                <a:latin typeface="Huawei Sans" panose="020C0503030203020204" pitchFamily="34" charset="0"/>
                <a:ea typeface="方正兰亭黑简体" panose="02000000000000000000" pitchFamily="2" charset="-122"/>
              </a:rPr>
              <a:t>r0</a:t>
            </a:r>
            <a:r>
              <a:rPr lang="zh-CN" altLang="en-US" sz="1050" dirty="0">
                <a:latin typeface="Huawei Sans" panose="020C0503030203020204" pitchFamily="34" charset="0"/>
                <a:ea typeface="方正兰亭黑简体" panose="02000000000000000000" pitchFamily="2" charset="-122"/>
              </a:rPr>
              <a:t>）；</a:t>
            </a:r>
          </a:p>
          <a:p>
            <a:pPr marL="214313" indent="-214313">
              <a:lnSpc>
                <a:spcPts val="1500"/>
              </a:lnSpc>
              <a:buSzPct val="60000"/>
              <a:buFont typeface="Wingdings" panose="05000000000000000000" pitchFamily="2" charset="2"/>
              <a:buChar char="l"/>
              <a:defRPr/>
            </a:pPr>
            <a:r>
              <a:rPr lang="en-US" altLang="zh-CN" sz="1050" dirty="0">
                <a:latin typeface="Huawei Sans" panose="020C0503030203020204" pitchFamily="34" charset="0"/>
                <a:ea typeface="方正兰亭黑简体" panose="02000000000000000000" pitchFamily="2" charset="-122"/>
              </a:rPr>
              <a:t>A64</a:t>
            </a:r>
            <a:r>
              <a:rPr lang="zh-CN" altLang="en-US" sz="1050" dirty="0">
                <a:latin typeface="Huawei Sans" panose="020C0503030203020204" pitchFamily="34" charset="0"/>
                <a:ea typeface="方正兰亭黑简体" panose="02000000000000000000" pitchFamily="2" charset="-122"/>
              </a:rPr>
              <a:t>与</a:t>
            </a:r>
            <a:r>
              <a:rPr lang="en-US" altLang="zh-CN" sz="1050" dirty="0">
                <a:latin typeface="Huawei Sans" panose="020C0503030203020204" pitchFamily="34" charset="0"/>
                <a:ea typeface="方正兰亭黑简体" panose="02000000000000000000" pitchFamily="2" charset="-122"/>
              </a:rPr>
              <a:t>A32</a:t>
            </a:r>
            <a:r>
              <a:rPr lang="zh-CN" altLang="en-US" sz="1050" dirty="0">
                <a:latin typeface="Huawei Sans" panose="020C0503030203020204" pitchFamily="34" charset="0"/>
                <a:ea typeface="方正兰亭黑简体" panose="02000000000000000000" pitchFamily="2" charset="-122"/>
              </a:rPr>
              <a:t>的高级</a:t>
            </a:r>
            <a:r>
              <a:rPr lang="en-US" altLang="zh-CN" sz="1050" dirty="0">
                <a:latin typeface="Huawei Sans" panose="020C0503030203020204" pitchFamily="34" charset="0"/>
                <a:ea typeface="方正兰亭黑简体" panose="02000000000000000000" pitchFamily="2" charset="-122"/>
              </a:rPr>
              <a:t>SIMD</a:t>
            </a:r>
            <a:r>
              <a:rPr lang="zh-CN" altLang="en-US" sz="1050" dirty="0">
                <a:latin typeface="Huawei Sans" panose="020C0503030203020204" pitchFamily="34" charset="0"/>
                <a:ea typeface="方正兰亭黑简体" panose="02000000000000000000" pitchFamily="2" charset="-122"/>
              </a:rPr>
              <a:t>和</a:t>
            </a:r>
            <a:r>
              <a:rPr lang="en-US" altLang="zh-CN" sz="1050" dirty="0">
                <a:latin typeface="Huawei Sans" panose="020C0503030203020204" pitchFamily="34" charset="0"/>
                <a:ea typeface="方正兰亭黑简体" panose="02000000000000000000" pitchFamily="2" charset="-122"/>
              </a:rPr>
              <a:t>FP</a:t>
            </a:r>
            <a:r>
              <a:rPr lang="zh-CN" altLang="en-US" sz="1050" dirty="0">
                <a:latin typeface="Huawei Sans" panose="020C0503030203020204" pitchFamily="34" charset="0"/>
                <a:ea typeface="方正兰亭黑简体" panose="02000000000000000000" pitchFamily="2" charset="-122"/>
              </a:rPr>
              <a:t>相同；</a:t>
            </a:r>
          </a:p>
          <a:p>
            <a:pPr marL="214313" indent="-214313">
              <a:lnSpc>
                <a:spcPts val="1500"/>
              </a:lnSpc>
              <a:buSzPct val="60000"/>
              <a:buFont typeface="Wingdings" panose="05000000000000000000" pitchFamily="2" charset="2"/>
              <a:buChar char="l"/>
              <a:defRPr/>
            </a:pPr>
            <a:r>
              <a:rPr lang="zh-CN" altLang="en-US" sz="1050" dirty="0">
                <a:latin typeface="Huawei Sans" panose="020C0503030203020204" pitchFamily="34" charset="0"/>
                <a:ea typeface="方正兰亭黑简体" panose="02000000000000000000" pitchFamily="2" charset="-122"/>
              </a:rPr>
              <a:t>高级</a:t>
            </a:r>
            <a:r>
              <a:rPr lang="en-US" altLang="zh-CN" sz="1050" dirty="0">
                <a:latin typeface="Huawei Sans" panose="020C0503030203020204" pitchFamily="34" charset="0"/>
                <a:ea typeface="方正兰亭黑简体" panose="02000000000000000000" pitchFamily="2" charset="-122"/>
              </a:rPr>
              <a:t>SIMD</a:t>
            </a:r>
            <a:r>
              <a:rPr lang="zh-CN" altLang="en-US" sz="1050" dirty="0">
                <a:latin typeface="Huawei Sans" panose="020C0503030203020204" pitchFamily="34" charset="0"/>
                <a:ea typeface="方正兰亭黑简体" panose="02000000000000000000" pitchFamily="2" charset="-122"/>
              </a:rPr>
              <a:t>与</a:t>
            </a:r>
            <a:r>
              <a:rPr lang="en-US" altLang="zh-CN" sz="1050" dirty="0">
                <a:latin typeface="Huawei Sans" panose="020C0503030203020204" pitchFamily="34" charset="0"/>
                <a:ea typeface="方正兰亭黑简体" panose="02000000000000000000" pitchFamily="2" charset="-122"/>
              </a:rPr>
              <a:t>VFP</a:t>
            </a:r>
            <a:r>
              <a:rPr lang="zh-CN" altLang="en-US" sz="1050" dirty="0">
                <a:latin typeface="Huawei Sans" panose="020C0503030203020204" pitchFamily="34" charset="0"/>
                <a:ea typeface="方正兰亭黑简体" panose="02000000000000000000" pitchFamily="2" charset="-122"/>
              </a:rPr>
              <a:t>共享浮点寄存器，支持</a:t>
            </a:r>
            <a:r>
              <a:rPr lang="en-US" altLang="zh-CN" sz="1050" dirty="0">
                <a:latin typeface="Huawei Sans" panose="020C0503030203020204" pitchFamily="34" charset="0"/>
                <a:ea typeface="方正兰亭黑简体" panose="02000000000000000000" pitchFamily="2" charset="-122"/>
              </a:rPr>
              <a:t>128</a:t>
            </a:r>
            <a:r>
              <a:rPr lang="zh-CN" altLang="en-US" sz="1050" dirty="0">
                <a:latin typeface="Huawei Sans" panose="020C0503030203020204" pitchFamily="34" charset="0"/>
                <a:ea typeface="方正兰亭黑简体" panose="02000000000000000000" pitchFamily="2" charset="-122"/>
              </a:rPr>
              <a:t>位宽的</a:t>
            </a:r>
            <a:r>
              <a:rPr lang="en-US" altLang="zh-CN" sz="1050" dirty="0">
                <a:latin typeface="Huawei Sans" panose="020C0503030203020204" pitchFamily="34" charset="0"/>
                <a:ea typeface="方正兰亭黑简体" panose="02000000000000000000" pitchFamily="2" charset="-122"/>
              </a:rPr>
              <a:t>vector</a:t>
            </a:r>
            <a:r>
              <a:rPr lang="zh-CN" altLang="en-US" sz="1050" dirty="0">
                <a:latin typeface="Huawei Sans" panose="020C0503030203020204" pitchFamily="34" charset="0"/>
                <a:ea typeface="方正兰亭黑简体" panose="02000000000000000000" pitchFamily="2" charset="-122"/>
              </a:rPr>
              <a:t>；</a:t>
            </a:r>
            <a:endParaRPr lang="en-US" altLang="zh-CN" sz="1050" dirty="0">
              <a:latin typeface="Huawei Sans" panose="020C0503030203020204" pitchFamily="34" charset="0"/>
              <a:ea typeface="方正兰亭黑简体" panose="02000000000000000000" pitchFamily="2" charset="-122"/>
            </a:endParaRPr>
          </a:p>
          <a:p>
            <a:pPr marL="214313" indent="-214313">
              <a:lnSpc>
                <a:spcPts val="1500"/>
              </a:lnSpc>
              <a:buSzPct val="60000"/>
              <a:buFont typeface="Wingdings" panose="05000000000000000000" pitchFamily="2" charset="2"/>
              <a:buChar char="l"/>
              <a:defRPr/>
            </a:pPr>
            <a:r>
              <a:rPr lang="zh-CN" altLang="en-US" sz="1050" dirty="0">
                <a:latin typeface="Huawei Sans" panose="020C0503030203020204" pitchFamily="34" charset="0"/>
                <a:ea typeface="方正兰亭黑简体" panose="02000000000000000000" pitchFamily="2" charset="-122"/>
              </a:rPr>
              <a:t>新增加解密指令。</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a:extLst>
              <a:ext uri="{FF2B5EF4-FFF2-40B4-BE49-F238E27FC236}">
                <a16:creationId xmlns:a16="http://schemas.microsoft.com/office/drawing/2014/main" id="{2431DDCA-B548-3232-FF7B-DA85C044B691}"/>
              </a:ext>
            </a:extLst>
          </p:cNvPr>
          <p:cNvSpPr>
            <a:spLocks noGrp="1" noChangeArrowheads="1"/>
          </p:cNvSpPr>
          <p:nvPr>
            <p:ph type="title"/>
          </p:nvPr>
        </p:nvSpPr>
        <p:spPr>
          <a:xfrm>
            <a:off x="549275" y="447675"/>
            <a:ext cx="8045450" cy="485775"/>
          </a:xfrm>
        </p:spPr>
        <p:txBody>
          <a:bodyPr/>
          <a:lstStyle/>
          <a:p>
            <a:r>
              <a:rPr lang="en-US" altLang="zh-CN">
                <a:latin typeface="Huawei Sans"/>
                <a:ea typeface="方正兰亭黑简体"/>
                <a:cs typeface="方正兰亭黑简体"/>
              </a:rPr>
              <a:t>ARM</a:t>
            </a:r>
            <a:r>
              <a:rPr>
                <a:latin typeface="Huawei Sans"/>
                <a:ea typeface="方正兰亭黑简体"/>
                <a:cs typeface="方正兰亭黑简体"/>
              </a:rPr>
              <a:t>与</a:t>
            </a:r>
            <a:r>
              <a:rPr lang="en-US" altLang="zh-CN">
                <a:latin typeface="Huawei Sans"/>
                <a:ea typeface="方正兰亭黑简体"/>
                <a:cs typeface="方正兰亭黑简体"/>
              </a:rPr>
              <a:t>X86</a:t>
            </a:r>
            <a:r>
              <a:rPr>
                <a:latin typeface="Huawei Sans"/>
                <a:ea typeface="方正兰亭黑简体"/>
                <a:cs typeface="方正兰亭黑简体"/>
              </a:rPr>
              <a:t>架构关键差别：</a:t>
            </a:r>
            <a:r>
              <a:rPr lang="en-US" altLang="zh-CN">
                <a:latin typeface="Huawei Sans"/>
                <a:ea typeface="方正兰亭黑简体"/>
                <a:cs typeface="方正兰亭黑简体"/>
              </a:rPr>
              <a:t>RISC</a:t>
            </a:r>
            <a:r>
              <a:rPr>
                <a:latin typeface="Huawei Sans"/>
                <a:ea typeface="方正兰亭黑简体"/>
                <a:cs typeface="方正兰亭黑简体"/>
              </a:rPr>
              <a:t>与</a:t>
            </a:r>
            <a:r>
              <a:rPr lang="en-US" altLang="zh-CN">
                <a:latin typeface="Huawei Sans"/>
                <a:ea typeface="方正兰亭黑简体"/>
                <a:cs typeface="方正兰亭黑简体"/>
              </a:rPr>
              <a:t>CISC</a:t>
            </a:r>
            <a:r>
              <a:rPr>
                <a:latin typeface="Huawei Sans"/>
                <a:ea typeface="方正兰亭黑简体"/>
                <a:cs typeface="方正兰亭黑简体"/>
              </a:rPr>
              <a:t>指令集的差异</a:t>
            </a:r>
          </a:p>
        </p:txBody>
      </p:sp>
      <p:sp>
        <p:nvSpPr>
          <p:cNvPr id="42" name="矩形 41">
            <a:extLst>
              <a:ext uri="{FF2B5EF4-FFF2-40B4-BE49-F238E27FC236}">
                <a16:creationId xmlns:a16="http://schemas.microsoft.com/office/drawing/2014/main" id="{6AFD946A-520F-271F-FD7E-FE72E2744080}"/>
              </a:ext>
            </a:extLst>
          </p:cNvPr>
          <p:cNvSpPr/>
          <p:nvPr/>
        </p:nvSpPr>
        <p:spPr>
          <a:xfrm>
            <a:off x="692150" y="1984375"/>
            <a:ext cx="7727950" cy="1873250"/>
          </a:xfrm>
          <a:prstGeom prst="rect">
            <a:avLst/>
          </a:prstGeom>
          <a:solidFill>
            <a:srgbClr val="FFFFFF">
              <a:lumMod val="95000"/>
            </a:srgbClr>
          </a:solidFill>
          <a:ln w="12700" cap="flat" cmpd="sng" algn="ctr">
            <a:noFill/>
            <a:prstDash val="solid"/>
            <a:miter lim="800000"/>
          </a:ln>
          <a:effectLst/>
        </p:spPr>
        <p:txBody>
          <a:bodyPr anchor="ctr"/>
          <a:lstStyle/>
          <a:p>
            <a:pPr algn="ctr" defTabSz="685800" eaLnBrk="1" fontAlgn="auto" hangingPunct="1">
              <a:spcBef>
                <a:spcPts val="0"/>
              </a:spcBef>
              <a:spcAft>
                <a:spcPts val="0"/>
              </a:spcAft>
              <a:defRPr/>
            </a:pPr>
            <a:endParaRPr lang="zh-CN" altLang="en-US" sz="1350" b="0" kern="0">
              <a:solidFill>
                <a:srgbClr val="666666"/>
              </a:solidFill>
              <a:latin typeface="Huawei Sans" panose="020C0503030203020204" pitchFamily="34" charset="0"/>
              <a:ea typeface="方正兰亭黑简体" panose="02000000000000000000" pitchFamily="2" charset="-122"/>
            </a:endParaRPr>
          </a:p>
        </p:txBody>
      </p:sp>
      <p:sp>
        <p:nvSpPr>
          <p:cNvPr id="43" name="矩形 42">
            <a:extLst>
              <a:ext uri="{FF2B5EF4-FFF2-40B4-BE49-F238E27FC236}">
                <a16:creationId xmlns:a16="http://schemas.microsoft.com/office/drawing/2014/main" id="{A3A1860C-37DA-1512-316A-B24FD895D59E}"/>
              </a:ext>
            </a:extLst>
          </p:cNvPr>
          <p:cNvSpPr/>
          <p:nvPr/>
        </p:nvSpPr>
        <p:spPr>
          <a:xfrm>
            <a:off x="2671763" y="1862138"/>
            <a:ext cx="1985962" cy="346075"/>
          </a:xfrm>
          <a:prstGeom prst="rect">
            <a:avLst/>
          </a:prstGeom>
          <a:solidFill>
            <a:srgbClr val="C7000B"/>
          </a:solidFill>
          <a:ln w="12700" cap="flat" cmpd="sng" algn="ctr">
            <a:noFill/>
            <a:prstDash val="solid"/>
            <a:miter lim="800000"/>
          </a:ln>
          <a:effectLst/>
        </p:spPr>
        <p:txBody>
          <a:bodyPr anchor="ctr"/>
          <a:lstStyle/>
          <a:p>
            <a:pPr algn="ctr" defTabSz="685800" eaLnBrk="1" fontAlgn="auto" hangingPunct="1">
              <a:spcBef>
                <a:spcPts val="0"/>
              </a:spcBef>
              <a:spcAft>
                <a:spcPts val="0"/>
              </a:spcAft>
              <a:defRPr/>
            </a:pPr>
            <a:endParaRPr lang="zh-CN" altLang="en-US" sz="1350" b="0" kern="0">
              <a:solidFill>
                <a:srgbClr val="C00000"/>
              </a:solidFill>
              <a:latin typeface="Huawei Sans" panose="020C0503030203020204" pitchFamily="34" charset="0"/>
              <a:ea typeface="方正兰亭黑简体" panose="02000000000000000000" pitchFamily="2" charset="-122"/>
            </a:endParaRPr>
          </a:p>
        </p:txBody>
      </p:sp>
      <p:sp>
        <p:nvSpPr>
          <p:cNvPr id="44" name="矩形 43">
            <a:extLst>
              <a:ext uri="{FF2B5EF4-FFF2-40B4-BE49-F238E27FC236}">
                <a16:creationId xmlns:a16="http://schemas.microsoft.com/office/drawing/2014/main" id="{E37C691A-F1BE-15FD-1F36-B0621EDC9D11}"/>
              </a:ext>
            </a:extLst>
          </p:cNvPr>
          <p:cNvSpPr/>
          <p:nvPr/>
        </p:nvSpPr>
        <p:spPr>
          <a:xfrm>
            <a:off x="6037263" y="1857375"/>
            <a:ext cx="1943100" cy="346075"/>
          </a:xfrm>
          <a:prstGeom prst="rect">
            <a:avLst/>
          </a:prstGeom>
          <a:solidFill>
            <a:srgbClr val="C7000B"/>
          </a:solidFill>
          <a:ln w="12700" cap="flat" cmpd="sng" algn="ctr">
            <a:noFill/>
            <a:prstDash val="solid"/>
            <a:miter lim="800000"/>
          </a:ln>
          <a:effectLst/>
        </p:spPr>
        <p:txBody>
          <a:bodyPr anchor="ctr"/>
          <a:lstStyle/>
          <a:p>
            <a:pPr algn="ctr" defTabSz="685800" eaLnBrk="1" fontAlgn="auto" hangingPunct="1">
              <a:spcBef>
                <a:spcPts val="0"/>
              </a:spcBef>
              <a:spcAft>
                <a:spcPts val="0"/>
              </a:spcAft>
              <a:defRPr/>
            </a:pPr>
            <a:endParaRPr lang="zh-CN" altLang="en-US" sz="1350" b="0" kern="0">
              <a:solidFill>
                <a:srgbClr val="C00000"/>
              </a:solidFill>
              <a:latin typeface="Huawei Sans" panose="020C0503030203020204" pitchFamily="34" charset="0"/>
              <a:ea typeface="方正兰亭黑简体" panose="02000000000000000000" pitchFamily="2" charset="-122"/>
            </a:endParaRPr>
          </a:p>
        </p:txBody>
      </p:sp>
      <p:sp>
        <p:nvSpPr>
          <p:cNvPr id="70661" name="矩形 44">
            <a:extLst>
              <a:ext uri="{FF2B5EF4-FFF2-40B4-BE49-F238E27FC236}">
                <a16:creationId xmlns:a16="http://schemas.microsoft.com/office/drawing/2014/main" id="{36901D09-273B-9DEB-F705-09DF2751859B}"/>
              </a:ext>
            </a:extLst>
          </p:cNvPr>
          <p:cNvSpPr>
            <a:spLocks noChangeArrowheads="1"/>
          </p:cNvSpPr>
          <p:nvPr/>
        </p:nvSpPr>
        <p:spPr bwMode="auto">
          <a:xfrm>
            <a:off x="2654300" y="1903413"/>
            <a:ext cx="20224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89000">
              <a:spcBef>
                <a:spcPct val="20000"/>
              </a:spcBef>
              <a:buChar char="•"/>
              <a:defRPr sz="2800">
                <a:solidFill>
                  <a:schemeClr val="tx1"/>
                </a:solidFill>
                <a:latin typeface="Comic Sans MS" panose="030F0902030302020204" pitchFamily="66" charset="0"/>
              </a:defRPr>
            </a:lvl1pPr>
            <a:lvl2pPr marL="742950" indent="-285750" defTabSz="889000">
              <a:spcBef>
                <a:spcPct val="20000"/>
              </a:spcBef>
              <a:buChar char="–"/>
              <a:defRPr sz="2400">
                <a:solidFill>
                  <a:schemeClr val="tx1"/>
                </a:solidFill>
                <a:latin typeface="Comic Sans MS" panose="030F0902030302020204" pitchFamily="66" charset="0"/>
              </a:defRPr>
            </a:lvl2pPr>
            <a:lvl3pPr marL="1143000" indent="-228600" defTabSz="889000">
              <a:spcBef>
                <a:spcPct val="20000"/>
              </a:spcBef>
              <a:buChar char="•"/>
              <a:defRPr sz="2000">
                <a:solidFill>
                  <a:schemeClr val="tx1"/>
                </a:solidFill>
                <a:latin typeface="Comic Sans MS" panose="030F0902030302020204" pitchFamily="66" charset="0"/>
              </a:defRPr>
            </a:lvl3pPr>
            <a:lvl4pPr marL="1600200" indent="-228600" defTabSz="889000">
              <a:spcBef>
                <a:spcPct val="20000"/>
              </a:spcBef>
              <a:buChar char="–"/>
              <a:defRPr sz="2000">
                <a:solidFill>
                  <a:schemeClr val="tx1"/>
                </a:solidFill>
                <a:latin typeface="Comic Sans MS" panose="030F0902030302020204" pitchFamily="66" charset="0"/>
              </a:defRPr>
            </a:lvl4pPr>
            <a:lvl5pPr marL="2057400" indent="-228600" defTabSz="889000">
              <a:spcBef>
                <a:spcPct val="20000"/>
              </a:spcBef>
              <a:buChar char="»"/>
              <a:defRPr sz="2000">
                <a:solidFill>
                  <a:schemeClr val="tx1"/>
                </a:solidFill>
                <a:latin typeface="Comic Sans MS" panose="030F0902030302020204" pitchFamily="66" charset="0"/>
              </a:defRPr>
            </a:lvl5pPr>
            <a:lvl6pPr marL="2514600" indent="-228600" defTabSz="8890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8890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8890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8890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1200">
                <a:solidFill>
                  <a:srgbClr val="FFFFFF"/>
                </a:solidFill>
                <a:latin typeface="Huawei Sans"/>
                <a:ea typeface="方正兰亭黑简体"/>
                <a:cs typeface="方正兰亭黑简体"/>
              </a:rPr>
              <a:t>RISC</a:t>
            </a:r>
            <a:r>
              <a:rPr lang="zh-CN" altLang="en-US" sz="1200">
                <a:solidFill>
                  <a:srgbClr val="FFFFFF"/>
                </a:solidFill>
                <a:latin typeface="Huawei Sans"/>
                <a:ea typeface="方正兰亭黑简体"/>
                <a:cs typeface="方正兰亭黑简体"/>
              </a:rPr>
              <a:t>简单指令集（</a:t>
            </a:r>
            <a:r>
              <a:rPr lang="en-US" altLang="zh-CN" sz="1200">
                <a:solidFill>
                  <a:srgbClr val="FFFFFF"/>
                </a:solidFill>
                <a:latin typeface="Huawei Sans"/>
                <a:ea typeface="方正兰亭黑简体"/>
                <a:cs typeface="方正兰亭黑简体"/>
              </a:rPr>
              <a:t>ARM</a:t>
            </a:r>
            <a:r>
              <a:rPr lang="zh-CN" altLang="en-US" sz="1200">
                <a:solidFill>
                  <a:srgbClr val="FFFFFF"/>
                </a:solidFill>
                <a:latin typeface="Huawei Sans"/>
                <a:ea typeface="方正兰亭黑简体"/>
                <a:cs typeface="方正兰亭黑简体"/>
              </a:rPr>
              <a:t>）</a:t>
            </a:r>
          </a:p>
        </p:txBody>
      </p:sp>
      <p:sp>
        <p:nvSpPr>
          <p:cNvPr id="70662" name="矩形 45">
            <a:extLst>
              <a:ext uri="{FF2B5EF4-FFF2-40B4-BE49-F238E27FC236}">
                <a16:creationId xmlns:a16="http://schemas.microsoft.com/office/drawing/2014/main" id="{440B9B19-172B-5293-F4E4-2B0400D40044}"/>
              </a:ext>
            </a:extLst>
          </p:cNvPr>
          <p:cNvSpPr>
            <a:spLocks noChangeArrowheads="1"/>
          </p:cNvSpPr>
          <p:nvPr/>
        </p:nvSpPr>
        <p:spPr bwMode="auto">
          <a:xfrm>
            <a:off x="6043613" y="1903413"/>
            <a:ext cx="20081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89000">
              <a:spcBef>
                <a:spcPct val="20000"/>
              </a:spcBef>
              <a:buChar char="•"/>
              <a:defRPr sz="2800">
                <a:solidFill>
                  <a:schemeClr val="tx1"/>
                </a:solidFill>
                <a:latin typeface="Comic Sans MS" panose="030F0902030302020204" pitchFamily="66" charset="0"/>
              </a:defRPr>
            </a:lvl1pPr>
            <a:lvl2pPr marL="742950" indent="-285750" defTabSz="889000">
              <a:spcBef>
                <a:spcPct val="20000"/>
              </a:spcBef>
              <a:buChar char="–"/>
              <a:defRPr sz="2400">
                <a:solidFill>
                  <a:schemeClr val="tx1"/>
                </a:solidFill>
                <a:latin typeface="Comic Sans MS" panose="030F0902030302020204" pitchFamily="66" charset="0"/>
              </a:defRPr>
            </a:lvl2pPr>
            <a:lvl3pPr marL="1143000" indent="-228600" defTabSz="889000">
              <a:spcBef>
                <a:spcPct val="20000"/>
              </a:spcBef>
              <a:buChar char="•"/>
              <a:defRPr sz="2000">
                <a:solidFill>
                  <a:schemeClr val="tx1"/>
                </a:solidFill>
                <a:latin typeface="Comic Sans MS" panose="030F0902030302020204" pitchFamily="66" charset="0"/>
              </a:defRPr>
            </a:lvl3pPr>
            <a:lvl4pPr marL="1600200" indent="-228600" defTabSz="889000">
              <a:spcBef>
                <a:spcPct val="20000"/>
              </a:spcBef>
              <a:buChar char="–"/>
              <a:defRPr sz="2000">
                <a:solidFill>
                  <a:schemeClr val="tx1"/>
                </a:solidFill>
                <a:latin typeface="Comic Sans MS" panose="030F0902030302020204" pitchFamily="66" charset="0"/>
              </a:defRPr>
            </a:lvl4pPr>
            <a:lvl5pPr marL="2057400" indent="-228600" defTabSz="889000">
              <a:spcBef>
                <a:spcPct val="20000"/>
              </a:spcBef>
              <a:buChar char="»"/>
              <a:defRPr sz="2000">
                <a:solidFill>
                  <a:schemeClr val="tx1"/>
                </a:solidFill>
                <a:latin typeface="Comic Sans MS" panose="030F0902030302020204" pitchFamily="66" charset="0"/>
              </a:defRPr>
            </a:lvl5pPr>
            <a:lvl6pPr marL="2514600" indent="-228600" defTabSz="8890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8890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8890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8890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1200">
                <a:solidFill>
                  <a:srgbClr val="FFFFFF"/>
                </a:solidFill>
                <a:latin typeface="Huawei Sans"/>
                <a:ea typeface="方正兰亭黑简体"/>
                <a:cs typeface="方正兰亭黑简体"/>
              </a:rPr>
              <a:t>CISC</a:t>
            </a:r>
            <a:r>
              <a:rPr lang="zh-CN" altLang="en-US" sz="1200">
                <a:solidFill>
                  <a:srgbClr val="FFFFFF"/>
                </a:solidFill>
                <a:latin typeface="Huawei Sans"/>
                <a:ea typeface="方正兰亭黑简体"/>
                <a:cs typeface="方正兰亭黑简体"/>
              </a:rPr>
              <a:t>复杂指令集（</a:t>
            </a:r>
            <a:r>
              <a:rPr lang="en-US" altLang="zh-CN" sz="1200">
                <a:solidFill>
                  <a:srgbClr val="FFFFFF"/>
                </a:solidFill>
                <a:latin typeface="Huawei Sans"/>
                <a:ea typeface="方正兰亭黑简体"/>
                <a:cs typeface="方正兰亭黑简体"/>
              </a:rPr>
              <a:t>X86</a:t>
            </a:r>
            <a:r>
              <a:rPr lang="zh-CN" altLang="en-US" sz="1200">
                <a:solidFill>
                  <a:srgbClr val="FFFFFF"/>
                </a:solidFill>
                <a:latin typeface="Huawei Sans"/>
                <a:ea typeface="方正兰亭黑简体"/>
                <a:cs typeface="方正兰亭黑简体"/>
              </a:rPr>
              <a:t>）</a:t>
            </a:r>
          </a:p>
        </p:txBody>
      </p:sp>
      <p:sp>
        <p:nvSpPr>
          <p:cNvPr id="70663" name="文本框 46">
            <a:extLst>
              <a:ext uri="{FF2B5EF4-FFF2-40B4-BE49-F238E27FC236}">
                <a16:creationId xmlns:a16="http://schemas.microsoft.com/office/drawing/2014/main" id="{BD50A0E3-FD93-2186-7AB6-48AFC8C351F7}"/>
              </a:ext>
            </a:extLst>
          </p:cNvPr>
          <p:cNvSpPr txBox="1">
            <a:spLocks noChangeArrowheads="1"/>
          </p:cNvSpPr>
          <p:nvPr/>
        </p:nvSpPr>
        <p:spPr bwMode="auto">
          <a:xfrm>
            <a:off x="874713" y="2338388"/>
            <a:ext cx="1146175"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nSpc>
                <a:spcPts val="2575"/>
              </a:lnSpc>
              <a:spcBef>
                <a:spcPct val="0"/>
              </a:spcBef>
              <a:buFontTx/>
              <a:buNone/>
            </a:pPr>
            <a:r>
              <a:rPr lang="zh-CN" altLang="en-US" sz="1500">
                <a:solidFill>
                  <a:srgbClr val="C7000B"/>
                </a:solidFill>
                <a:latin typeface="Huawei Sans"/>
                <a:ea typeface="方正兰亭黑简体"/>
                <a:cs typeface="方正兰亭黑简体"/>
              </a:rPr>
              <a:t>吃饭的例子</a:t>
            </a:r>
          </a:p>
        </p:txBody>
      </p:sp>
      <p:sp>
        <p:nvSpPr>
          <p:cNvPr id="70664" name="文本框 47">
            <a:extLst>
              <a:ext uri="{FF2B5EF4-FFF2-40B4-BE49-F238E27FC236}">
                <a16:creationId xmlns:a16="http://schemas.microsoft.com/office/drawing/2014/main" id="{C366CF36-6391-36EE-3CD9-BF695FF8B1E9}"/>
              </a:ext>
            </a:extLst>
          </p:cNvPr>
          <p:cNvSpPr txBox="1">
            <a:spLocks noChangeArrowheads="1"/>
          </p:cNvSpPr>
          <p:nvPr/>
        </p:nvSpPr>
        <p:spPr bwMode="auto">
          <a:xfrm>
            <a:off x="892175" y="3005138"/>
            <a:ext cx="760413"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nSpc>
                <a:spcPts val="2575"/>
              </a:lnSpc>
              <a:spcBef>
                <a:spcPct val="0"/>
              </a:spcBef>
              <a:buFontTx/>
              <a:buNone/>
            </a:pPr>
            <a:r>
              <a:rPr lang="zh-CN" altLang="en-US" sz="1500">
                <a:solidFill>
                  <a:srgbClr val="C7000B"/>
                </a:solidFill>
                <a:latin typeface="Huawei Sans"/>
                <a:ea typeface="方正兰亭黑简体"/>
                <a:cs typeface="方正兰亭黑简体"/>
              </a:rPr>
              <a:t>优劣势</a:t>
            </a:r>
          </a:p>
        </p:txBody>
      </p:sp>
      <p:sp>
        <p:nvSpPr>
          <p:cNvPr id="49" name="矩形 48">
            <a:extLst>
              <a:ext uri="{FF2B5EF4-FFF2-40B4-BE49-F238E27FC236}">
                <a16:creationId xmlns:a16="http://schemas.microsoft.com/office/drawing/2014/main" id="{2DDB87C9-A884-22EF-1F68-56556101E1B0}"/>
              </a:ext>
            </a:extLst>
          </p:cNvPr>
          <p:cNvSpPr/>
          <p:nvPr/>
        </p:nvSpPr>
        <p:spPr>
          <a:xfrm>
            <a:off x="6610350" y="2320925"/>
            <a:ext cx="838200" cy="382588"/>
          </a:xfrm>
          <a:prstGeom prst="rect">
            <a:avLst/>
          </a:prstGeom>
        </p:spPr>
        <p:txBody>
          <a:bodyPr wrap="none">
            <a:spAutoFit/>
          </a:bodyPr>
          <a:lstStyle/>
          <a:p>
            <a:pPr>
              <a:lnSpc>
                <a:spcPts val="2580"/>
              </a:lnSpc>
              <a:defRPr/>
            </a:pPr>
            <a:r>
              <a:rPr lang="zh-CN" altLang="en-US" sz="1200" kern="0" dirty="0">
                <a:solidFill>
                  <a:srgbClr val="1D1D1A"/>
                </a:solidFill>
                <a:latin typeface="Huawei Sans" panose="020C0503030203020204" pitchFamily="34" charset="0"/>
                <a:ea typeface="方正兰亭黑简体" panose="02000000000000000000" pitchFamily="2" charset="-122"/>
              </a:rPr>
              <a:t>指令</a:t>
            </a:r>
            <a:r>
              <a:rPr lang="en-US" altLang="zh-CN" sz="1200" kern="0" dirty="0">
                <a:solidFill>
                  <a:srgbClr val="1D1D1A"/>
                </a:solidFill>
                <a:latin typeface="Huawei Sans" panose="020C0503030203020204" pitchFamily="34" charset="0"/>
                <a:ea typeface="方正兰亭黑简体" panose="02000000000000000000" pitchFamily="2" charset="-122"/>
              </a:rPr>
              <a:t>: </a:t>
            </a:r>
            <a:r>
              <a:rPr lang="zh-CN" altLang="en-US" sz="1050" kern="0" dirty="0">
                <a:solidFill>
                  <a:srgbClr val="1D1D1A"/>
                </a:solidFill>
                <a:latin typeface="Huawei Sans" panose="020C0503030203020204" pitchFamily="34" charset="0"/>
                <a:ea typeface="方正兰亭黑简体" panose="02000000000000000000" pitchFamily="2" charset="-122"/>
              </a:rPr>
              <a:t>吃饭</a:t>
            </a:r>
            <a:endParaRPr lang="en-US" altLang="zh-CN" sz="1050" kern="0" dirty="0">
              <a:solidFill>
                <a:srgbClr val="1D1D1A"/>
              </a:solidFill>
              <a:latin typeface="Huawei Sans" panose="020C0503030203020204" pitchFamily="34" charset="0"/>
              <a:ea typeface="方正兰亭黑简体" panose="02000000000000000000" pitchFamily="2" charset="-122"/>
            </a:endParaRPr>
          </a:p>
        </p:txBody>
      </p:sp>
      <p:sp>
        <p:nvSpPr>
          <p:cNvPr id="50" name="矩形 49">
            <a:extLst>
              <a:ext uri="{FF2B5EF4-FFF2-40B4-BE49-F238E27FC236}">
                <a16:creationId xmlns:a16="http://schemas.microsoft.com/office/drawing/2014/main" id="{FB8E8BCB-13F5-8DEE-984C-FF8637737330}"/>
              </a:ext>
            </a:extLst>
          </p:cNvPr>
          <p:cNvSpPr/>
          <p:nvPr/>
        </p:nvSpPr>
        <p:spPr>
          <a:xfrm>
            <a:off x="2238375" y="2419350"/>
            <a:ext cx="3211513" cy="276225"/>
          </a:xfrm>
          <a:prstGeom prst="rect">
            <a:avLst/>
          </a:prstGeom>
        </p:spPr>
        <p:txBody>
          <a:bodyPr>
            <a:spAutoFit/>
          </a:bodyPr>
          <a:lstStyle/>
          <a:p>
            <a:pPr>
              <a:defRPr/>
            </a:pPr>
            <a:r>
              <a:rPr lang="zh-CN" altLang="en-US" sz="1200" kern="0" dirty="0">
                <a:solidFill>
                  <a:srgbClr val="1D1D1A"/>
                </a:solidFill>
                <a:latin typeface="Huawei Sans" panose="020C0503030203020204" pitchFamily="34" charset="0"/>
                <a:ea typeface="方正兰亭黑简体" panose="02000000000000000000" pitchFamily="2" charset="-122"/>
              </a:rPr>
              <a:t>指令：</a:t>
            </a:r>
            <a:r>
              <a:rPr lang="zh-CN" altLang="en-US" sz="1050" kern="0" dirty="0">
                <a:solidFill>
                  <a:srgbClr val="1D1D1A"/>
                </a:solidFill>
                <a:latin typeface="Huawei Sans" panose="020C0503030203020204" pitchFamily="34" charset="0"/>
                <a:ea typeface="方正兰亭黑简体" panose="02000000000000000000" pitchFamily="2" charset="-122"/>
              </a:rPr>
              <a:t>拿勺子</a:t>
            </a:r>
            <a:r>
              <a:rPr lang="en-US" altLang="zh-CN" sz="1050" kern="0" dirty="0">
                <a:solidFill>
                  <a:srgbClr val="1D1D1A"/>
                </a:solidFill>
                <a:latin typeface="Huawei Sans" panose="020C0503030203020204" pitchFamily="34" charset="0"/>
                <a:ea typeface="方正兰亭黑简体" panose="02000000000000000000" pitchFamily="2" charset="-122"/>
              </a:rPr>
              <a:t>-&gt;</a:t>
            </a:r>
            <a:r>
              <a:rPr lang="zh-CN" altLang="en-US" sz="1050" kern="0" dirty="0">
                <a:solidFill>
                  <a:srgbClr val="1D1D1A"/>
                </a:solidFill>
                <a:latin typeface="Huawei Sans" panose="020C0503030203020204" pitchFamily="34" charset="0"/>
                <a:ea typeface="方正兰亭黑简体" panose="02000000000000000000" pitchFamily="2" charset="-122"/>
              </a:rPr>
              <a:t>舀起一勺饭</a:t>
            </a:r>
            <a:r>
              <a:rPr lang="en-US" altLang="zh-CN" sz="1050" kern="0" dirty="0">
                <a:solidFill>
                  <a:srgbClr val="1D1D1A"/>
                </a:solidFill>
                <a:latin typeface="Huawei Sans" panose="020C0503030203020204" pitchFamily="34" charset="0"/>
                <a:ea typeface="方正兰亭黑简体" panose="02000000000000000000" pitchFamily="2" charset="-122"/>
              </a:rPr>
              <a:t>-&gt;</a:t>
            </a:r>
            <a:r>
              <a:rPr lang="zh-CN" altLang="en-US" sz="1050" kern="0" dirty="0">
                <a:solidFill>
                  <a:srgbClr val="1D1D1A"/>
                </a:solidFill>
                <a:latin typeface="Huawei Sans" panose="020C0503030203020204" pitchFamily="34" charset="0"/>
                <a:ea typeface="方正兰亭黑简体" panose="02000000000000000000" pitchFamily="2" charset="-122"/>
              </a:rPr>
              <a:t>送到嘴里</a:t>
            </a:r>
            <a:r>
              <a:rPr lang="en-US" altLang="zh-CN" sz="1050" kern="0" dirty="0">
                <a:solidFill>
                  <a:srgbClr val="1D1D1A"/>
                </a:solidFill>
                <a:latin typeface="Huawei Sans" panose="020C0503030203020204" pitchFamily="34" charset="0"/>
                <a:ea typeface="方正兰亭黑简体" panose="02000000000000000000" pitchFamily="2" charset="-122"/>
              </a:rPr>
              <a:t>-&gt;</a:t>
            </a:r>
            <a:r>
              <a:rPr lang="zh-CN" altLang="en-US" sz="1050" kern="0" dirty="0">
                <a:solidFill>
                  <a:srgbClr val="1D1D1A"/>
                </a:solidFill>
                <a:latin typeface="Huawei Sans" panose="020C0503030203020204" pitchFamily="34" charset="0"/>
                <a:ea typeface="方正兰亭黑简体" panose="02000000000000000000" pitchFamily="2" charset="-122"/>
              </a:rPr>
              <a:t>咽下去</a:t>
            </a:r>
            <a:endParaRPr lang="en-US" altLang="zh-CN" sz="1050" kern="0" dirty="0">
              <a:solidFill>
                <a:srgbClr val="1D1D1A"/>
              </a:solidFill>
              <a:latin typeface="Huawei Sans" panose="020C0503030203020204" pitchFamily="34" charset="0"/>
              <a:ea typeface="方正兰亭黑简体" panose="02000000000000000000" pitchFamily="2" charset="-122"/>
            </a:endParaRPr>
          </a:p>
        </p:txBody>
      </p:sp>
      <p:sp>
        <p:nvSpPr>
          <p:cNvPr id="51" name="矩形 50">
            <a:extLst>
              <a:ext uri="{FF2B5EF4-FFF2-40B4-BE49-F238E27FC236}">
                <a16:creationId xmlns:a16="http://schemas.microsoft.com/office/drawing/2014/main" id="{06FDEF1E-2B44-82C6-F219-59D0703E2EF0}"/>
              </a:ext>
            </a:extLst>
          </p:cNvPr>
          <p:cNvSpPr/>
          <p:nvPr/>
        </p:nvSpPr>
        <p:spPr>
          <a:xfrm>
            <a:off x="5986463" y="2895600"/>
            <a:ext cx="2433637" cy="739775"/>
          </a:xfrm>
          <a:prstGeom prst="rect">
            <a:avLst/>
          </a:prstGeom>
        </p:spPr>
        <p:txBody>
          <a:bodyPr>
            <a:spAutoFit/>
          </a:bodyPr>
          <a:lstStyle/>
          <a:p>
            <a:pPr>
              <a:defRPr/>
            </a:pPr>
            <a:r>
              <a:rPr lang="zh-CN" altLang="en-US" sz="1050" dirty="0">
                <a:solidFill>
                  <a:srgbClr val="1D1D1A"/>
                </a:solidFill>
                <a:latin typeface="Huawei Sans" panose="020C0503030203020204" pitchFamily="34" charset="0"/>
                <a:ea typeface="方正兰亭黑简体" panose="02000000000000000000" pitchFamily="2" charset="-122"/>
              </a:rPr>
              <a:t>指令简单，不需要下达太多指令</a:t>
            </a:r>
            <a:endParaRPr lang="en-US" altLang="zh-CN" sz="1050" dirty="0">
              <a:solidFill>
                <a:srgbClr val="1D1D1A"/>
              </a:solidFill>
              <a:latin typeface="Huawei Sans" panose="020C0503030203020204" pitchFamily="34" charset="0"/>
              <a:ea typeface="方正兰亭黑简体" panose="02000000000000000000" pitchFamily="2" charset="-122"/>
            </a:endParaRPr>
          </a:p>
          <a:p>
            <a:pPr>
              <a:defRPr/>
            </a:pPr>
            <a:r>
              <a:rPr lang="zh-CN" altLang="en-US" sz="1050" dirty="0">
                <a:solidFill>
                  <a:srgbClr val="1D1D1A"/>
                </a:solidFill>
                <a:latin typeface="Huawei Sans" panose="020C0503030203020204" pitchFamily="34" charset="0"/>
                <a:ea typeface="方正兰亭黑简体" panose="02000000000000000000" pitchFamily="2" charset="-122"/>
              </a:rPr>
              <a:t>指令动作复杂，速度慢；设计复杂，且流水中很多操作浪费</a:t>
            </a:r>
            <a:endParaRPr lang="en-US" altLang="zh-CN" sz="1050" dirty="0">
              <a:solidFill>
                <a:srgbClr val="1D1D1A"/>
              </a:solidFill>
              <a:latin typeface="Huawei Sans" panose="020C0503030203020204" pitchFamily="34" charset="0"/>
              <a:ea typeface="方正兰亭黑简体" panose="02000000000000000000" pitchFamily="2" charset="-122"/>
            </a:endParaRPr>
          </a:p>
          <a:p>
            <a:pPr>
              <a:defRPr/>
            </a:pPr>
            <a:r>
              <a:rPr lang="zh-CN" altLang="en-US" sz="1050" dirty="0">
                <a:solidFill>
                  <a:srgbClr val="1D1D1A"/>
                </a:solidFill>
                <a:latin typeface="Huawei Sans" panose="020C0503030203020204" pitchFamily="34" charset="0"/>
                <a:ea typeface="方正兰亭黑简体" panose="02000000000000000000" pitchFamily="2" charset="-122"/>
              </a:rPr>
              <a:t>指令执行周期大都在</a:t>
            </a:r>
            <a:r>
              <a:rPr lang="en-US" altLang="zh-CN" sz="1050" dirty="0">
                <a:solidFill>
                  <a:srgbClr val="1D1D1A"/>
                </a:solidFill>
                <a:latin typeface="Huawei Sans" panose="020C0503030203020204" pitchFamily="34" charset="0"/>
                <a:ea typeface="方正兰亭黑简体" panose="02000000000000000000" pitchFamily="2" charset="-122"/>
              </a:rPr>
              <a:t>5~8 cycles</a:t>
            </a:r>
            <a:endParaRPr lang="zh-CN" altLang="en-US" sz="1050" dirty="0">
              <a:solidFill>
                <a:srgbClr val="1D1D1A"/>
              </a:solidFill>
              <a:latin typeface="Huawei Sans" panose="020C0503030203020204" pitchFamily="34" charset="0"/>
              <a:ea typeface="方正兰亭黑简体" panose="02000000000000000000" pitchFamily="2" charset="-122"/>
            </a:endParaRPr>
          </a:p>
        </p:txBody>
      </p:sp>
      <p:sp>
        <p:nvSpPr>
          <p:cNvPr id="52" name="矩形 51">
            <a:extLst>
              <a:ext uri="{FF2B5EF4-FFF2-40B4-BE49-F238E27FC236}">
                <a16:creationId xmlns:a16="http://schemas.microsoft.com/office/drawing/2014/main" id="{510C11B1-F2AA-E05F-625A-8CD17DEFDE9C}"/>
              </a:ext>
            </a:extLst>
          </p:cNvPr>
          <p:cNvSpPr/>
          <p:nvPr/>
        </p:nvSpPr>
        <p:spPr>
          <a:xfrm>
            <a:off x="2238375" y="2900363"/>
            <a:ext cx="3011488" cy="739775"/>
          </a:xfrm>
          <a:prstGeom prst="rect">
            <a:avLst/>
          </a:prstGeom>
        </p:spPr>
        <p:txBody>
          <a:bodyPr wrap="none">
            <a:spAutoFit/>
          </a:bodyPr>
          <a:lstStyle/>
          <a:p>
            <a:pPr>
              <a:defRPr/>
            </a:pPr>
            <a:r>
              <a:rPr lang="zh-CN" altLang="en-US" sz="1050" dirty="0">
                <a:solidFill>
                  <a:srgbClr val="1D1D1A"/>
                </a:solidFill>
                <a:latin typeface="Huawei Sans" panose="020C0503030203020204" pitchFamily="34" charset="0"/>
                <a:ea typeface="方正兰亭黑简体" panose="02000000000000000000" pitchFamily="2" charset="-122"/>
              </a:rPr>
              <a:t>指令多，需要好几个指令实现一个复杂功能</a:t>
            </a:r>
          </a:p>
          <a:p>
            <a:pPr>
              <a:defRPr/>
            </a:pPr>
            <a:r>
              <a:rPr lang="zh-CN" altLang="en-US" sz="1050" dirty="0">
                <a:solidFill>
                  <a:srgbClr val="1D1D1A"/>
                </a:solidFill>
                <a:latin typeface="Huawei Sans" panose="020C0503030203020204" pitchFamily="34" charset="0"/>
                <a:ea typeface="方正兰亭黑简体" panose="02000000000000000000" pitchFamily="2" charset="-122"/>
              </a:rPr>
              <a:t>针对常用指令优化，处理效率高</a:t>
            </a:r>
            <a:endParaRPr lang="en-US" altLang="zh-CN" sz="1050" dirty="0">
              <a:solidFill>
                <a:srgbClr val="1D1D1A"/>
              </a:solidFill>
              <a:latin typeface="Huawei Sans" panose="020C0503030203020204" pitchFamily="34" charset="0"/>
              <a:ea typeface="方正兰亭黑简体" panose="02000000000000000000" pitchFamily="2" charset="-122"/>
            </a:endParaRPr>
          </a:p>
          <a:p>
            <a:pPr>
              <a:defRPr/>
            </a:pPr>
            <a:r>
              <a:rPr lang="zh-CN" altLang="en-US" sz="1050" dirty="0">
                <a:solidFill>
                  <a:srgbClr val="1D1D1A"/>
                </a:solidFill>
                <a:latin typeface="Huawei Sans" panose="020C0503030203020204" pitchFamily="34" charset="0"/>
                <a:ea typeface="方正兰亭黑简体" panose="02000000000000000000" pitchFamily="2" charset="-122"/>
              </a:rPr>
              <a:t>不常用指令则需要指令组合方式，可以通过流水</a:t>
            </a:r>
            <a:endParaRPr lang="en-US" altLang="zh-CN" sz="1050" dirty="0">
              <a:solidFill>
                <a:srgbClr val="1D1D1A"/>
              </a:solidFill>
              <a:latin typeface="Huawei Sans" panose="020C0503030203020204" pitchFamily="34" charset="0"/>
              <a:ea typeface="方正兰亭黑简体" panose="02000000000000000000" pitchFamily="2" charset="-122"/>
            </a:endParaRPr>
          </a:p>
          <a:p>
            <a:pPr>
              <a:defRPr/>
            </a:pPr>
            <a:r>
              <a:rPr lang="zh-CN" altLang="en-US" sz="1050" dirty="0">
                <a:solidFill>
                  <a:srgbClr val="1D1D1A"/>
                </a:solidFill>
                <a:latin typeface="Huawei Sans" panose="020C0503030203020204" pitchFamily="34" charset="0"/>
                <a:ea typeface="方正兰亭黑简体" panose="02000000000000000000" pitchFamily="2" charset="-122"/>
              </a:rPr>
              <a:t>技术和超标量技术弥补。指令执行周期</a:t>
            </a:r>
            <a:r>
              <a:rPr lang="en-US" altLang="zh-CN" sz="1050" dirty="0">
                <a:solidFill>
                  <a:srgbClr val="1D1D1A"/>
                </a:solidFill>
                <a:latin typeface="Huawei Sans" panose="020C0503030203020204" pitchFamily="34" charset="0"/>
                <a:ea typeface="方正兰亭黑简体" panose="02000000000000000000" pitchFamily="2" charset="-122"/>
              </a:rPr>
              <a:t>&lt;=1cycles</a:t>
            </a:r>
          </a:p>
        </p:txBody>
      </p:sp>
      <p:sp>
        <p:nvSpPr>
          <p:cNvPr id="70669" name="文本框 52">
            <a:extLst>
              <a:ext uri="{FF2B5EF4-FFF2-40B4-BE49-F238E27FC236}">
                <a16:creationId xmlns:a16="http://schemas.microsoft.com/office/drawing/2014/main" id="{10B8DE27-DAF9-8914-3FE4-7C4EADEAA8D0}"/>
              </a:ext>
            </a:extLst>
          </p:cNvPr>
          <p:cNvSpPr txBox="1">
            <a:spLocks noChangeArrowheads="1"/>
          </p:cNvSpPr>
          <p:nvPr/>
        </p:nvSpPr>
        <p:spPr bwMode="auto">
          <a:xfrm>
            <a:off x="531813" y="4330700"/>
            <a:ext cx="1243012"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nSpc>
                <a:spcPts val="2575"/>
              </a:lnSpc>
              <a:spcBef>
                <a:spcPct val="0"/>
              </a:spcBef>
              <a:buFontTx/>
              <a:buNone/>
            </a:pPr>
            <a:r>
              <a:rPr lang="zh-CN" altLang="en-US" sz="1500">
                <a:solidFill>
                  <a:srgbClr val="1D1D1A"/>
                </a:solidFill>
                <a:latin typeface="Huawei Sans"/>
                <a:ea typeface="方正兰亭黑简体"/>
                <a:cs typeface="方正兰亭黑简体"/>
              </a:rPr>
              <a:t>处理器性能</a:t>
            </a:r>
            <a:r>
              <a:rPr lang="en-US" altLang="zh-CN" sz="1500">
                <a:solidFill>
                  <a:srgbClr val="1D1D1A"/>
                </a:solidFill>
                <a:latin typeface="Huawei Sans"/>
                <a:ea typeface="方正兰亭黑简体"/>
                <a:cs typeface="方正兰亭黑简体"/>
              </a:rPr>
              <a:t>=</a:t>
            </a:r>
            <a:endParaRPr lang="zh-CN" altLang="en-US" sz="1500">
              <a:solidFill>
                <a:srgbClr val="1D1D1A"/>
              </a:solidFill>
              <a:latin typeface="Huawei Sans"/>
              <a:ea typeface="方正兰亭黑简体"/>
              <a:cs typeface="方正兰亭黑简体"/>
            </a:endParaRPr>
          </a:p>
        </p:txBody>
      </p:sp>
      <p:grpSp>
        <p:nvGrpSpPr>
          <p:cNvPr id="70670" name="组合 53">
            <a:extLst>
              <a:ext uri="{FF2B5EF4-FFF2-40B4-BE49-F238E27FC236}">
                <a16:creationId xmlns:a16="http://schemas.microsoft.com/office/drawing/2014/main" id="{BA6040B5-8087-0237-ADFE-1EA6096AC826}"/>
              </a:ext>
            </a:extLst>
          </p:cNvPr>
          <p:cNvGrpSpPr>
            <a:grpSpLocks/>
          </p:cNvGrpSpPr>
          <p:nvPr/>
        </p:nvGrpSpPr>
        <p:grpSpPr bwMode="auto">
          <a:xfrm>
            <a:off x="1938338" y="4157663"/>
            <a:ext cx="927100" cy="690562"/>
            <a:chOff x="2606031" y="4400170"/>
            <a:chExt cx="1237225" cy="921861"/>
          </a:xfrm>
        </p:grpSpPr>
        <p:cxnSp>
          <p:nvCxnSpPr>
            <p:cNvPr id="70693" name="直接连接符 54">
              <a:extLst>
                <a:ext uri="{FF2B5EF4-FFF2-40B4-BE49-F238E27FC236}">
                  <a16:creationId xmlns:a16="http://schemas.microsoft.com/office/drawing/2014/main" id="{C97A3BD3-C5D3-6086-879B-AFBDD546D369}"/>
                </a:ext>
              </a:extLst>
            </p:cNvPr>
            <p:cNvCxnSpPr>
              <a:cxnSpLocks noChangeShapeType="1"/>
            </p:cNvCxnSpPr>
            <p:nvPr/>
          </p:nvCxnSpPr>
          <p:spPr bwMode="auto">
            <a:xfrm>
              <a:off x="2606031" y="4895561"/>
              <a:ext cx="1237225" cy="0"/>
            </a:xfrm>
            <a:prstGeom prst="line">
              <a:avLst/>
            </a:prstGeom>
            <a:noFill/>
            <a:ln w="19050" algn="ctr">
              <a:solidFill>
                <a:srgbClr val="1D1D1A"/>
              </a:solidFill>
              <a:miter lim="800000"/>
              <a:headEnd/>
              <a:tailEnd/>
            </a:ln>
            <a:extLst>
              <a:ext uri="{909E8E84-426E-40DD-AFC4-6F175D3DCCD1}">
                <a14:hiddenFill xmlns:a14="http://schemas.microsoft.com/office/drawing/2010/main">
                  <a:noFill/>
                </a14:hiddenFill>
              </a:ext>
            </a:extLst>
          </p:spPr>
        </p:cxnSp>
        <p:sp>
          <p:nvSpPr>
            <p:cNvPr id="56" name="文本框 55">
              <a:extLst>
                <a:ext uri="{FF2B5EF4-FFF2-40B4-BE49-F238E27FC236}">
                  <a16:creationId xmlns:a16="http://schemas.microsoft.com/office/drawing/2014/main" id="{97BF5A25-62CE-F90D-EFBB-02B01EA452B8}"/>
                </a:ext>
              </a:extLst>
            </p:cNvPr>
            <p:cNvSpPr txBox="1"/>
            <p:nvPr/>
          </p:nvSpPr>
          <p:spPr>
            <a:xfrm>
              <a:off x="2908981" y="4813418"/>
              <a:ext cx="656746" cy="508613"/>
            </a:xfrm>
            <a:prstGeom prst="rect">
              <a:avLst/>
            </a:prstGeom>
            <a:noFill/>
          </p:spPr>
          <p:txBody>
            <a:bodyPr wrap="none">
              <a:spAutoFit/>
            </a:bodyPr>
            <a:lstStyle/>
            <a:p>
              <a:pPr defTabSz="685800" eaLnBrk="1" fontAlgn="auto" hangingPunct="1">
                <a:lnSpc>
                  <a:spcPts val="2580"/>
                </a:lnSpc>
                <a:spcBef>
                  <a:spcPts val="0"/>
                </a:spcBef>
                <a:spcAft>
                  <a:spcPts val="0"/>
                </a:spcAft>
                <a:defRPr/>
              </a:pPr>
              <a:r>
                <a:rPr lang="zh-CN" altLang="en-US" sz="1200" b="0" kern="0" dirty="0">
                  <a:solidFill>
                    <a:srgbClr val="1D1D1A"/>
                  </a:solidFill>
                  <a:latin typeface="Huawei Sans" panose="020C0503030203020204" pitchFamily="34" charset="0"/>
                  <a:ea typeface="方正兰亭黑简体" panose="02000000000000000000" pitchFamily="2" charset="-122"/>
                </a:rPr>
                <a:t>程序</a:t>
              </a:r>
            </a:p>
          </p:txBody>
        </p:sp>
        <p:sp>
          <p:nvSpPr>
            <p:cNvPr id="57" name="文本框 56">
              <a:extLst>
                <a:ext uri="{FF2B5EF4-FFF2-40B4-BE49-F238E27FC236}">
                  <a16:creationId xmlns:a16="http://schemas.microsoft.com/office/drawing/2014/main" id="{4AE98EBC-F666-816D-C2DB-D8C35D170447}"/>
                </a:ext>
              </a:extLst>
            </p:cNvPr>
            <p:cNvSpPr txBox="1"/>
            <p:nvPr/>
          </p:nvSpPr>
          <p:spPr>
            <a:xfrm>
              <a:off x="2735261" y="4400170"/>
              <a:ext cx="1065624" cy="508613"/>
            </a:xfrm>
            <a:prstGeom prst="rect">
              <a:avLst/>
            </a:prstGeom>
            <a:noFill/>
          </p:spPr>
          <p:txBody>
            <a:bodyPr wrap="none">
              <a:spAutoFit/>
            </a:bodyPr>
            <a:lstStyle/>
            <a:p>
              <a:pPr defTabSz="685800" eaLnBrk="1" fontAlgn="auto" hangingPunct="1">
                <a:lnSpc>
                  <a:spcPts val="2580"/>
                </a:lnSpc>
                <a:spcBef>
                  <a:spcPts val="0"/>
                </a:spcBef>
                <a:spcAft>
                  <a:spcPts val="0"/>
                </a:spcAft>
                <a:defRPr/>
              </a:pPr>
              <a:r>
                <a:rPr lang="zh-CN" altLang="en-US" sz="1200" b="0" kern="0" dirty="0">
                  <a:solidFill>
                    <a:srgbClr val="1D1D1A"/>
                  </a:solidFill>
                  <a:latin typeface="Huawei Sans" panose="020C0503030203020204" pitchFamily="34" charset="0"/>
                  <a:ea typeface="方正兰亭黑简体" panose="02000000000000000000" pitchFamily="2" charset="-122"/>
                </a:rPr>
                <a:t>指令条数</a:t>
              </a:r>
            </a:p>
          </p:txBody>
        </p:sp>
      </p:grpSp>
      <p:grpSp>
        <p:nvGrpSpPr>
          <p:cNvPr id="70671" name="组合 57">
            <a:extLst>
              <a:ext uri="{FF2B5EF4-FFF2-40B4-BE49-F238E27FC236}">
                <a16:creationId xmlns:a16="http://schemas.microsoft.com/office/drawing/2014/main" id="{54AF527B-C9F2-A9B2-ABA3-E1E89BF7D8C8}"/>
              </a:ext>
            </a:extLst>
          </p:cNvPr>
          <p:cNvGrpSpPr>
            <a:grpSpLocks/>
          </p:cNvGrpSpPr>
          <p:nvPr/>
        </p:nvGrpSpPr>
        <p:grpSpPr bwMode="auto">
          <a:xfrm>
            <a:off x="3654425" y="4154488"/>
            <a:ext cx="927100" cy="692150"/>
            <a:chOff x="4505270" y="4410442"/>
            <a:chExt cx="1237225" cy="921861"/>
          </a:xfrm>
        </p:grpSpPr>
        <p:cxnSp>
          <p:nvCxnSpPr>
            <p:cNvPr id="70690" name="直接连接符 58">
              <a:extLst>
                <a:ext uri="{FF2B5EF4-FFF2-40B4-BE49-F238E27FC236}">
                  <a16:creationId xmlns:a16="http://schemas.microsoft.com/office/drawing/2014/main" id="{66003A0D-C15D-B2F4-6699-858EA0F04345}"/>
                </a:ext>
              </a:extLst>
            </p:cNvPr>
            <p:cNvCxnSpPr>
              <a:cxnSpLocks noChangeShapeType="1"/>
            </p:cNvCxnSpPr>
            <p:nvPr/>
          </p:nvCxnSpPr>
          <p:spPr bwMode="auto">
            <a:xfrm>
              <a:off x="4505270" y="4905833"/>
              <a:ext cx="1237225" cy="0"/>
            </a:xfrm>
            <a:prstGeom prst="line">
              <a:avLst/>
            </a:prstGeom>
            <a:noFill/>
            <a:ln w="19050" algn="ctr">
              <a:solidFill>
                <a:srgbClr val="1D1D1A"/>
              </a:solidFill>
              <a:miter lim="800000"/>
              <a:headEnd/>
              <a:tailEnd/>
            </a:ln>
            <a:extLst>
              <a:ext uri="{909E8E84-426E-40DD-AFC4-6F175D3DCCD1}">
                <a14:hiddenFill xmlns:a14="http://schemas.microsoft.com/office/drawing/2010/main">
                  <a:noFill/>
                </a14:hiddenFill>
              </a:ext>
            </a:extLst>
          </p:spPr>
        </p:cxnSp>
        <p:sp>
          <p:nvSpPr>
            <p:cNvPr id="60" name="文本框 59">
              <a:extLst>
                <a:ext uri="{FF2B5EF4-FFF2-40B4-BE49-F238E27FC236}">
                  <a16:creationId xmlns:a16="http://schemas.microsoft.com/office/drawing/2014/main" id="{BE1CBDEB-366F-9676-CD93-1E2837F38719}"/>
                </a:ext>
              </a:extLst>
            </p:cNvPr>
            <p:cNvSpPr txBox="1"/>
            <p:nvPr/>
          </p:nvSpPr>
          <p:spPr>
            <a:xfrm>
              <a:off x="4808221" y="4822742"/>
              <a:ext cx="656746" cy="509561"/>
            </a:xfrm>
            <a:prstGeom prst="rect">
              <a:avLst/>
            </a:prstGeom>
            <a:noFill/>
          </p:spPr>
          <p:txBody>
            <a:bodyPr wrap="none">
              <a:spAutoFit/>
            </a:bodyPr>
            <a:lstStyle/>
            <a:p>
              <a:pPr defTabSz="685800" eaLnBrk="1" fontAlgn="auto" hangingPunct="1">
                <a:lnSpc>
                  <a:spcPts val="2580"/>
                </a:lnSpc>
                <a:spcBef>
                  <a:spcPts val="0"/>
                </a:spcBef>
                <a:spcAft>
                  <a:spcPts val="0"/>
                </a:spcAft>
                <a:defRPr/>
              </a:pPr>
              <a:r>
                <a:rPr lang="zh-CN" altLang="en-US" sz="1200" b="0" kern="0" dirty="0">
                  <a:solidFill>
                    <a:srgbClr val="1D1D1A"/>
                  </a:solidFill>
                  <a:latin typeface="Huawei Sans" panose="020C0503030203020204" pitchFamily="34" charset="0"/>
                  <a:ea typeface="方正兰亭黑简体" panose="02000000000000000000" pitchFamily="2" charset="-122"/>
                </a:rPr>
                <a:t>指令</a:t>
              </a:r>
            </a:p>
          </p:txBody>
        </p:sp>
        <p:sp>
          <p:nvSpPr>
            <p:cNvPr id="61" name="文本框 60">
              <a:extLst>
                <a:ext uri="{FF2B5EF4-FFF2-40B4-BE49-F238E27FC236}">
                  <a16:creationId xmlns:a16="http://schemas.microsoft.com/office/drawing/2014/main" id="{1693CA50-FE5E-A9F9-7196-C27342FD1C55}"/>
                </a:ext>
              </a:extLst>
            </p:cNvPr>
            <p:cNvSpPr txBox="1"/>
            <p:nvPr/>
          </p:nvSpPr>
          <p:spPr>
            <a:xfrm>
              <a:off x="4621790" y="4410442"/>
              <a:ext cx="889785" cy="509560"/>
            </a:xfrm>
            <a:prstGeom prst="rect">
              <a:avLst/>
            </a:prstGeom>
            <a:noFill/>
          </p:spPr>
          <p:txBody>
            <a:bodyPr wrap="none">
              <a:spAutoFit/>
            </a:bodyPr>
            <a:lstStyle/>
            <a:p>
              <a:pPr defTabSz="685800" eaLnBrk="1" fontAlgn="auto" hangingPunct="1">
                <a:lnSpc>
                  <a:spcPts val="2580"/>
                </a:lnSpc>
                <a:spcBef>
                  <a:spcPts val="0"/>
                </a:spcBef>
                <a:spcAft>
                  <a:spcPts val="0"/>
                </a:spcAft>
                <a:defRPr/>
              </a:pPr>
              <a:r>
                <a:rPr lang="en-US" altLang="zh-CN" sz="1200" b="0" kern="0" dirty="0">
                  <a:solidFill>
                    <a:srgbClr val="1D1D1A"/>
                  </a:solidFill>
                  <a:latin typeface="Huawei Sans" panose="020C0503030203020204" pitchFamily="34" charset="0"/>
                  <a:ea typeface="方正兰亭黑简体" panose="02000000000000000000" pitchFamily="2" charset="-122"/>
                </a:rPr>
                <a:t>Cycle</a:t>
              </a:r>
              <a:r>
                <a:rPr lang="zh-CN" altLang="en-US" sz="1200" b="0" kern="0" dirty="0">
                  <a:solidFill>
                    <a:srgbClr val="1D1D1A"/>
                  </a:solidFill>
                  <a:latin typeface="Huawei Sans" panose="020C0503030203020204" pitchFamily="34" charset="0"/>
                  <a:ea typeface="方正兰亭黑简体" panose="02000000000000000000" pitchFamily="2" charset="-122"/>
                </a:rPr>
                <a:t>数</a:t>
              </a:r>
            </a:p>
          </p:txBody>
        </p:sp>
      </p:grpSp>
      <p:sp>
        <p:nvSpPr>
          <p:cNvPr id="62" name="矩形 61">
            <a:extLst>
              <a:ext uri="{FF2B5EF4-FFF2-40B4-BE49-F238E27FC236}">
                <a16:creationId xmlns:a16="http://schemas.microsoft.com/office/drawing/2014/main" id="{AC109C94-8CFE-866B-5A60-4644666BA747}"/>
              </a:ext>
            </a:extLst>
          </p:cNvPr>
          <p:cNvSpPr/>
          <p:nvPr/>
        </p:nvSpPr>
        <p:spPr>
          <a:xfrm>
            <a:off x="1816100" y="4222750"/>
            <a:ext cx="1146175" cy="612775"/>
          </a:xfrm>
          <a:prstGeom prst="rect">
            <a:avLst/>
          </a:prstGeom>
          <a:noFill/>
          <a:ln w="12700" cap="flat" cmpd="sng" algn="ctr">
            <a:solidFill>
              <a:srgbClr val="666666">
                <a:lumMod val="60000"/>
                <a:lumOff val="40000"/>
              </a:srgbClr>
            </a:solidFill>
            <a:prstDash val="solid"/>
            <a:miter lim="800000"/>
          </a:ln>
          <a:effectLst/>
        </p:spPr>
        <p:txBody>
          <a:bodyPr anchor="ctr"/>
          <a:lstStyle/>
          <a:p>
            <a:pPr algn="ctr" defTabSz="685800" eaLnBrk="1" fontAlgn="auto" hangingPunct="1">
              <a:spcBef>
                <a:spcPts val="0"/>
              </a:spcBef>
              <a:spcAft>
                <a:spcPts val="0"/>
              </a:spcAft>
              <a:defRPr/>
            </a:pPr>
            <a:endParaRPr lang="zh-CN" altLang="en-US" sz="1350" b="0" kern="0">
              <a:solidFill>
                <a:srgbClr val="666666"/>
              </a:solidFill>
              <a:latin typeface="Huawei Sans" panose="020C0503030203020204" pitchFamily="34" charset="0"/>
              <a:ea typeface="方正兰亭黑简体" panose="02000000000000000000" pitchFamily="2" charset="-122"/>
            </a:endParaRPr>
          </a:p>
        </p:txBody>
      </p:sp>
      <p:sp>
        <p:nvSpPr>
          <p:cNvPr id="63" name="矩形 62">
            <a:extLst>
              <a:ext uri="{FF2B5EF4-FFF2-40B4-BE49-F238E27FC236}">
                <a16:creationId xmlns:a16="http://schemas.microsoft.com/office/drawing/2014/main" id="{00E07251-4E25-A242-3D3B-A4701196D974}"/>
              </a:ext>
            </a:extLst>
          </p:cNvPr>
          <p:cNvSpPr/>
          <p:nvPr/>
        </p:nvSpPr>
        <p:spPr>
          <a:xfrm>
            <a:off x="3532188" y="4222750"/>
            <a:ext cx="1146175" cy="612775"/>
          </a:xfrm>
          <a:prstGeom prst="rect">
            <a:avLst/>
          </a:prstGeom>
          <a:noFill/>
          <a:ln w="12700" cap="flat" cmpd="sng" algn="ctr">
            <a:solidFill>
              <a:srgbClr val="666666">
                <a:lumMod val="60000"/>
                <a:lumOff val="40000"/>
              </a:srgbClr>
            </a:solidFill>
            <a:prstDash val="solid"/>
            <a:miter lim="800000"/>
          </a:ln>
          <a:effectLst/>
        </p:spPr>
        <p:txBody>
          <a:bodyPr anchor="ctr"/>
          <a:lstStyle/>
          <a:p>
            <a:pPr algn="ctr" defTabSz="685800" eaLnBrk="1" fontAlgn="auto" hangingPunct="1">
              <a:spcBef>
                <a:spcPts val="0"/>
              </a:spcBef>
              <a:spcAft>
                <a:spcPts val="0"/>
              </a:spcAft>
              <a:defRPr/>
            </a:pPr>
            <a:endParaRPr lang="zh-CN" altLang="en-US" sz="1350" b="0" kern="0">
              <a:solidFill>
                <a:srgbClr val="666666"/>
              </a:solidFill>
              <a:latin typeface="Huawei Sans" panose="020C0503030203020204" pitchFamily="34" charset="0"/>
              <a:ea typeface="方正兰亭黑简体" panose="02000000000000000000" pitchFamily="2" charset="-122"/>
            </a:endParaRPr>
          </a:p>
        </p:txBody>
      </p:sp>
      <p:grpSp>
        <p:nvGrpSpPr>
          <p:cNvPr id="70674" name="组合 63">
            <a:extLst>
              <a:ext uri="{FF2B5EF4-FFF2-40B4-BE49-F238E27FC236}">
                <a16:creationId xmlns:a16="http://schemas.microsoft.com/office/drawing/2014/main" id="{4904631D-1745-542E-6C91-9FC49AA0831B}"/>
              </a:ext>
            </a:extLst>
          </p:cNvPr>
          <p:cNvGrpSpPr>
            <a:grpSpLocks/>
          </p:cNvGrpSpPr>
          <p:nvPr/>
        </p:nvGrpSpPr>
        <p:grpSpPr bwMode="auto">
          <a:xfrm>
            <a:off x="5232400" y="4144963"/>
            <a:ext cx="1146175" cy="690562"/>
            <a:chOff x="6900440" y="4384196"/>
            <a:chExt cx="1526894" cy="920200"/>
          </a:xfrm>
        </p:grpSpPr>
        <p:grpSp>
          <p:nvGrpSpPr>
            <p:cNvPr id="70685" name="组合 64">
              <a:extLst>
                <a:ext uri="{FF2B5EF4-FFF2-40B4-BE49-F238E27FC236}">
                  <a16:creationId xmlns:a16="http://schemas.microsoft.com/office/drawing/2014/main" id="{B73CF34E-2DBF-009F-692C-3EE1D5BD7397}"/>
                </a:ext>
              </a:extLst>
            </p:cNvPr>
            <p:cNvGrpSpPr>
              <a:grpSpLocks/>
            </p:cNvGrpSpPr>
            <p:nvPr/>
          </p:nvGrpSpPr>
          <p:grpSpPr bwMode="auto">
            <a:xfrm>
              <a:off x="7049410" y="4384196"/>
              <a:ext cx="1237225" cy="901421"/>
              <a:chOff x="6744610" y="4396896"/>
              <a:chExt cx="1237225" cy="901421"/>
            </a:xfrm>
          </p:grpSpPr>
          <p:cxnSp>
            <p:nvCxnSpPr>
              <p:cNvPr id="70687" name="直接连接符 66">
                <a:extLst>
                  <a:ext uri="{FF2B5EF4-FFF2-40B4-BE49-F238E27FC236}">
                    <a16:creationId xmlns:a16="http://schemas.microsoft.com/office/drawing/2014/main" id="{D5360EDA-9029-A661-5312-AB775634206C}"/>
                  </a:ext>
                </a:extLst>
              </p:cNvPr>
              <p:cNvCxnSpPr>
                <a:cxnSpLocks noChangeShapeType="1"/>
              </p:cNvCxnSpPr>
              <p:nvPr/>
            </p:nvCxnSpPr>
            <p:spPr bwMode="auto">
              <a:xfrm>
                <a:off x="6744610" y="4897665"/>
                <a:ext cx="1237225" cy="0"/>
              </a:xfrm>
              <a:prstGeom prst="line">
                <a:avLst/>
              </a:prstGeom>
              <a:noFill/>
              <a:ln w="19050" algn="ctr">
                <a:solidFill>
                  <a:srgbClr val="1D1D1A"/>
                </a:solidFill>
                <a:miter lim="800000"/>
                <a:headEnd/>
                <a:tailEnd/>
              </a:ln>
              <a:extLst>
                <a:ext uri="{909E8E84-426E-40DD-AFC4-6F175D3DCCD1}">
                  <a14:hiddenFill xmlns:a14="http://schemas.microsoft.com/office/drawing/2010/main">
                    <a:noFill/>
                  </a14:hiddenFill>
                </a:ext>
              </a:extLst>
            </p:spPr>
          </p:cxnSp>
          <p:sp>
            <p:nvSpPr>
              <p:cNvPr id="68" name="文本框 67">
                <a:extLst>
                  <a:ext uri="{FF2B5EF4-FFF2-40B4-BE49-F238E27FC236}">
                    <a16:creationId xmlns:a16="http://schemas.microsoft.com/office/drawing/2014/main" id="{C9566F9F-F2F2-48D6-3E59-6ACF766E1CD8}"/>
                  </a:ext>
                </a:extLst>
              </p:cNvPr>
              <p:cNvSpPr txBox="1"/>
              <p:nvPr/>
            </p:nvSpPr>
            <p:spPr>
              <a:xfrm>
                <a:off x="7010142" y="4396896"/>
                <a:ext cx="655591" cy="509812"/>
              </a:xfrm>
              <a:prstGeom prst="rect">
                <a:avLst/>
              </a:prstGeom>
              <a:noFill/>
            </p:spPr>
            <p:txBody>
              <a:bodyPr wrap="none">
                <a:spAutoFit/>
              </a:bodyPr>
              <a:lstStyle/>
              <a:p>
                <a:pPr defTabSz="685800" eaLnBrk="1" fontAlgn="auto" hangingPunct="1">
                  <a:lnSpc>
                    <a:spcPts val="2580"/>
                  </a:lnSpc>
                  <a:spcBef>
                    <a:spcPts val="0"/>
                  </a:spcBef>
                  <a:spcAft>
                    <a:spcPts val="0"/>
                  </a:spcAft>
                  <a:defRPr/>
                </a:pPr>
                <a:r>
                  <a:rPr lang="zh-CN" altLang="en-US" sz="1200" b="0" kern="0" dirty="0">
                    <a:solidFill>
                      <a:srgbClr val="1D1D1A"/>
                    </a:solidFill>
                    <a:latin typeface="Huawei Sans" panose="020C0503030203020204" pitchFamily="34" charset="0"/>
                    <a:ea typeface="方正兰亭黑简体" panose="02000000000000000000" pitchFamily="2" charset="-122"/>
                  </a:rPr>
                  <a:t>时间</a:t>
                </a:r>
              </a:p>
            </p:txBody>
          </p:sp>
          <p:sp>
            <p:nvSpPr>
              <p:cNvPr id="69" name="文本框 68">
                <a:extLst>
                  <a:ext uri="{FF2B5EF4-FFF2-40B4-BE49-F238E27FC236}">
                    <a16:creationId xmlns:a16="http://schemas.microsoft.com/office/drawing/2014/main" id="{AE4D00BB-7225-9D1D-B5A6-EA2E76FF2831}"/>
                  </a:ext>
                </a:extLst>
              </p:cNvPr>
              <p:cNvSpPr txBox="1"/>
              <p:nvPr/>
            </p:nvSpPr>
            <p:spPr>
              <a:xfrm>
                <a:off x="6883254" y="4788245"/>
                <a:ext cx="890336" cy="509813"/>
              </a:xfrm>
              <a:prstGeom prst="rect">
                <a:avLst/>
              </a:prstGeom>
              <a:noFill/>
            </p:spPr>
            <p:txBody>
              <a:bodyPr wrap="none">
                <a:spAutoFit/>
              </a:bodyPr>
              <a:lstStyle/>
              <a:p>
                <a:pPr defTabSz="685800" eaLnBrk="1" fontAlgn="auto" hangingPunct="1">
                  <a:lnSpc>
                    <a:spcPts val="2580"/>
                  </a:lnSpc>
                  <a:spcBef>
                    <a:spcPts val="0"/>
                  </a:spcBef>
                  <a:spcAft>
                    <a:spcPts val="0"/>
                  </a:spcAft>
                  <a:defRPr/>
                </a:pPr>
                <a:r>
                  <a:rPr lang="en-US" altLang="zh-CN" sz="1200" b="0" kern="0" dirty="0">
                    <a:solidFill>
                      <a:srgbClr val="1D1D1A"/>
                    </a:solidFill>
                    <a:latin typeface="Huawei Sans" panose="020C0503030203020204" pitchFamily="34" charset="0"/>
                    <a:ea typeface="方正兰亭黑简体" panose="02000000000000000000" pitchFamily="2" charset="-122"/>
                  </a:rPr>
                  <a:t>Cycle</a:t>
                </a:r>
                <a:r>
                  <a:rPr lang="zh-CN" altLang="en-US" sz="1200" b="0" kern="0" dirty="0">
                    <a:solidFill>
                      <a:srgbClr val="1D1D1A"/>
                    </a:solidFill>
                    <a:latin typeface="Huawei Sans" panose="020C0503030203020204" pitchFamily="34" charset="0"/>
                    <a:ea typeface="方正兰亭黑简体" panose="02000000000000000000" pitchFamily="2" charset="-122"/>
                  </a:rPr>
                  <a:t>数</a:t>
                </a:r>
              </a:p>
            </p:txBody>
          </p:sp>
        </p:grpSp>
        <p:sp>
          <p:nvSpPr>
            <p:cNvPr id="66" name="矩形 65">
              <a:extLst>
                <a:ext uri="{FF2B5EF4-FFF2-40B4-BE49-F238E27FC236}">
                  <a16:creationId xmlns:a16="http://schemas.microsoft.com/office/drawing/2014/main" id="{49F35EA2-D751-14DA-9051-12004D78DB8E}"/>
                </a:ext>
              </a:extLst>
            </p:cNvPr>
            <p:cNvSpPr/>
            <p:nvPr/>
          </p:nvSpPr>
          <p:spPr>
            <a:xfrm>
              <a:off x="6900440" y="4487850"/>
              <a:ext cx="1526894" cy="816546"/>
            </a:xfrm>
            <a:prstGeom prst="rect">
              <a:avLst/>
            </a:prstGeom>
            <a:noFill/>
            <a:ln w="12700" cap="flat" cmpd="sng" algn="ctr">
              <a:solidFill>
                <a:srgbClr val="666666">
                  <a:lumMod val="60000"/>
                  <a:lumOff val="40000"/>
                </a:srgbClr>
              </a:solidFill>
              <a:prstDash val="solid"/>
              <a:miter lim="800000"/>
            </a:ln>
            <a:effectLst/>
          </p:spPr>
          <p:txBody>
            <a:bodyPr anchor="ctr"/>
            <a:lstStyle/>
            <a:p>
              <a:pPr algn="ctr" defTabSz="685800" eaLnBrk="1" fontAlgn="auto" hangingPunct="1">
                <a:spcBef>
                  <a:spcPts val="0"/>
                </a:spcBef>
                <a:spcAft>
                  <a:spcPts val="0"/>
                </a:spcAft>
                <a:defRPr/>
              </a:pPr>
              <a:endParaRPr lang="zh-CN" altLang="en-US" sz="1350" b="0" kern="0">
                <a:solidFill>
                  <a:srgbClr val="666666"/>
                </a:solidFill>
                <a:latin typeface="Huawei Sans" panose="020C0503030203020204" pitchFamily="34" charset="0"/>
                <a:ea typeface="方正兰亭黑简体" panose="02000000000000000000" pitchFamily="2" charset="-122"/>
              </a:endParaRPr>
            </a:p>
          </p:txBody>
        </p:sp>
      </p:grpSp>
      <p:sp>
        <p:nvSpPr>
          <p:cNvPr id="70675" name="文本框 69">
            <a:extLst>
              <a:ext uri="{FF2B5EF4-FFF2-40B4-BE49-F238E27FC236}">
                <a16:creationId xmlns:a16="http://schemas.microsoft.com/office/drawing/2014/main" id="{D9F68057-E722-4DD0-B4DA-1925EA9F9BF8}"/>
              </a:ext>
            </a:extLst>
          </p:cNvPr>
          <p:cNvSpPr txBox="1">
            <a:spLocks noChangeArrowheads="1"/>
          </p:cNvSpPr>
          <p:nvPr/>
        </p:nvSpPr>
        <p:spPr bwMode="auto">
          <a:xfrm>
            <a:off x="3084513" y="4379913"/>
            <a:ext cx="35401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nSpc>
                <a:spcPts val="2575"/>
              </a:lnSpc>
              <a:spcBef>
                <a:spcPct val="0"/>
              </a:spcBef>
              <a:buFontTx/>
              <a:buNone/>
            </a:pPr>
            <a:r>
              <a:rPr lang="en-US" altLang="zh-CN" sz="2400">
                <a:solidFill>
                  <a:srgbClr val="1D1D1A"/>
                </a:solidFill>
                <a:latin typeface="Huawei Sans"/>
                <a:ea typeface="方正兰亭黑简体"/>
                <a:cs typeface="方正兰亭黑简体"/>
              </a:rPr>
              <a:t>X</a:t>
            </a:r>
            <a:endParaRPr lang="zh-CN" altLang="en-US" sz="2400">
              <a:solidFill>
                <a:srgbClr val="1D1D1A"/>
              </a:solidFill>
              <a:latin typeface="Huawei Sans"/>
              <a:ea typeface="方正兰亭黑简体"/>
              <a:cs typeface="方正兰亭黑简体"/>
            </a:endParaRPr>
          </a:p>
        </p:txBody>
      </p:sp>
      <p:sp>
        <p:nvSpPr>
          <p:cNvPr id="70676" name="文本框 70">
            <a:extLst>
              <a:ext uri="{FF2B5EF4-FFF2-40B4-BE49-F238E27FC236}">
                <a16:creationId xmlns:a16="http://schemas.microsoft.com/office/drawing/2014/main" id="{1D22F187-D8A7-94CE-DBE7-324365E5FDCF}"/>
              </a:ext>
            </a:extLst>
          </p:cNvPr>
          <p:cNvSpPr txBox="1">
            <a:spLocks noChangeArrowheads="1"/>
          </p:cNvSpPr>
          <p:nvPr/>
        </p:nvSpPr>
        <p:spPr bwMode="auto">
          <a:xfrm>
            <a:off x="4838700" y="4381500"/>
            <a:ext cx="354013"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nSpc>
                <a:spcPts val="2575"/>
              </a:lnSpc>
              <a:spcBef>
                <a:spcPct val="0"/>
              </a:spcBef>
              <a:buFontTx/>
              <a:buNone/>
            </a:pPr>
            <a:r>
              <a:rPr lang="en-US" altLang="zh-CN" sz="2400">
                <a:solidFill>
                  <a:srgbClr val="1D1D1A"/>
                </a:solidFill>
                <a:latin typeface="Huawei Sans"/>
                <a:ea typeface="方正兰亭黑简体"/>
                <a:cs typeface="方正兰亭黑简体"/>
              </a:rPr>
              <a:t>X</a:t>
            </a:r>
            <a:endParaRPr lang="zh-CN" altLang="en-US" sz="2400">
              <a:solidFill>
                <a:srgbClr val="1D1D1A"/>
              </a:solidFill>
              <a:latin typeface="Huawei Sans"/>
              <a:ea typeface="方正兰亭黑简体"/>
              <a:cs typeface="方正兰亭黑简体"/>
            </a:endParaRPr>
          </a:p>
        </p:txBody>
      </p:sp>
      <p:sp>
        <p:nvSpPr>
          <p:cNvPr id="72" name="文本框 71">
            <a:extLst>
              <a:ext uri="{FF2B5EF4-FFF2-40B4-BE49-F238E27FC236}">
                <a16:creationId xmlns:a16="http://schemas.microsoft.com/office/drawing/2014/main" id="{E26D3028-E4A1-EFA4-14DB-94D7FAB472DA}"/>
              </a:ext>
            </a:extLst>
          </p:cNvPr>
          <p:cNvSpPr txBox="1"/>
          <p:nvPr/>
        </p:nvSpPr>
        <p:spPr>
          <a:xfrm>
            <a:off x="2049463" y="4752975"/>
            <a:ext cx="723900" cy="376238"/>
          </a:xfrm>
          <a:prstGeom prst="rect">
            <a:avLst/>
          </a:prstGeom>
          <a:noFill/>
        </p:spPr>
        <p:txBody>
          <a:bodyPr wrap="none">
            <a:spAutoFit/>
          </a:bodyPr>
          <a:lstStyle/>
          <a:p>
            <a:pPr>
              <a:lnSpc>
                <a:spcPts val="2580"/>
              </a:lnSpc>
              <a:defRPr/>
            </a:pPr>
            <a:r>
              <a:rPr lang="zh-CN" altLang="en-US" sz="1050" dirty="0">
                <a:solidFill>
                  <a:srgbClr val="1D1D1A"/>
                </a:solidFill>
                <a:latin typeface="Huawei Sans" panose="020C0503030203020204" pitchFamily="34" charset="0"/>
                <a:ea typeface="方正兰亭黑简体" panose="02000000000000000000" pitchFamily="2" charset="-122"/>
              </a:rPr>
              <a:t>代码数量</a:t>
            </a:r>
          </a:p>
        </p:txBody>
      </p:sp>
      <p:sp>
        <p:nvSpPr>
          <p:cNvPr id="73" name="文本框 72">
            <a:extLst>
              <a:ext uri="{FF2B5EF4-FFF2-40B4-BE49-F238E27FC236}">
                <a16:creationId xmlns:a16="http://schemas.microsoft.com/office/drawing/2014/main" id="{9B490319-1DF4-A2D9-B2E7-9E49B5D8543F}"/>
              </a:ext>
            </a:extLst>
          </p:cNvPr>
          <p:cNvSpPr txBox="1"/>
          <p:nvPr/>
        </p:nvSpPr>
        <p:spPr>
          <a:xfrm>
            <a:off x="3640138" y="4760913"/>
            <a:ext cx="993775" cy="377825"/>
          </a:xfrm>
          <a:prstGeom prst="rect">
            <a:avLst/>
          </a:prstGeom>
          <a:noFill/>
        </p:spPr>
        <p:txBody>
          <a:bodyPr wrap="none">
            <a:spAutoFit/>
          </a:bodyPr>
          <a:lstStyle/>
          <a:p>
            <a:pPr>
              <a:lnSpc>
                <a:spcPts val="2580"/>
              </a:lnSpc>
              <a:defRPr/>
            </a:pPr>
            <a:r>
              <a:rPr lang="zh-CN" altLang="en-US" sz="1050" dirty="0">
                <a:solidFill>
                  <a:srgbClr val="1D1D1A"/>
                </a:solidFill>
                <a:latin typeface="Huawei Sans" panose="020C0503030203020204" pitchFamily="34" charset="0"/>
                <a:ea typeface="方正兰亭黑简体" panose="02000000000000000000" pitchFamily="2" charset="-122"/>
              </a:rPr>
              <a:t>指令执行周期</a:t>
            </a:r>
          </a:p>
        </p:txBody>
      </p:sp>
      <p:sp>
        <p:nvSpPr>
          <p:cNvPr id="74" name="文本框 73">
            <a:extLst>
              <a:ext uri="{FF2B5EF4-FFF2-40B4-BE49-F238E27FC236}">
                <a16:creationId xmlns:a16="http://schemas.microsoft.com/office/drawing/2014/main" id="{AC338A3A-581A-0522-5B2D-C08053CCC819}"/>
              </a:ext>
            </a:extLst>
          </p:cNvPr>
          <p:cNvSpPr txBox="1"/>
          <p:nvPr/>
        </p:nvSpPr>
        <p:spPr>
          <a:xfrm>
            <a:off x="5486400" y="4778375"/>
            <a:ext cx="722313" cy="376238"/>
          </a:xfrm>
          <a:prstGeom prst="rect">
            <a:avLst/>
          </a:prstGeom>
          <a:noFill/>
        </p:spPr>
        <p:txBody>
          <a:bodyPr wrap="none">
            <a:spAutoFit/>
          </a:bodyPr>
          <a:lstStyle/>
          <a:p>
            <a:pPr>
              <a:lnSpc>
                <a:spcPts val="2580"/>
              </a:lnSpc>
              <a:defRPr/>
            </a:pPr>
            <a:r>
              <a:rPr lang="zh-CN" altLang="en-US" sz="1050" dirty="0">
                <a:solidFill>
                  <a:srgbClr val="1D1D1A"/>
                </a:solidFill>
                <a:latin typeface="Huawei Sans" panose="020C0503030203020204" pitchFamily="34" charset="0"/>
                <a:ea typeface="方正兰亭黑简体" panose="02000000000000000000" pitchFamily="2" charset="-122"/>
              </a:rPr>
              <a:t>时钟周期</a:t>
            </a:r>
          </a:p>
        </p:txBody>
      </p:sp>
      <p:sp>
        <p:nvSpPr>
          <p:cNvPr id="75" name="文本框 74">
            <a:extLst>
              <a:ext uri="{FF2B5EF4-FFF2-40B4-BE49-F238E27FC236}">
                <a16:creationId xmlns:a16="http://schemas.microsoft.com/office/drawing/2014/main" id="{0B12554C-DB8C-843B-590D-5C8C4C763914}"/>
              </a:ext>
            </a:extLst>
          </p:cNvPr>
          <p:cNvSpPr txBox="1"/>
          <p:nvPr/>
        </p:nvSpPr>
        <p:spPr>
          <a:xfrm>
            <a:off x="506413" y="4752975"/>
            <a:ext cx="1262062" cy="376238"/>
          </a:xfrm>
          <a:prstGeom prst="rect">
            <a:avLst/>
          </a:prstGeom>
          <a:noFill/>
        </p:spPr>
        <p:txBody>
          <a:bodyPr wrap="none">
            <a:spAutoFit/>
          </a:bodyPr>
          <a:lstStyle/>
          <a:p>
            <a:pPr>
              <a:lnSpc>
                <a:spcPts val="2580"/>
              </a:lnSpc>
              <a:defRPr/>
            </a:pPr>
            <a:r>
              <a:rPr lang="zh-CN" altLang="en-US" sz="1050" dirty="0">
                <a:solidFill>
                  <a:srgbClr val="1D1D1A"/>
                </a:solidFill>
                <a:latin typeface="Huawei Sans" panose="020C0503030203020204" pitchFamily="34" charset="0"/>
                <a:ea typeface="方正兰亭黑简体" panose="02000000000000000000" pitchFamily="2" charset="-122"/>
              </a:rPr>
              <a:t>代码执行所需时间</a:t>
            </a:r>
          </a:p>
        </p:txBody>
      </p:sp>
      <p:sp>
        <p:nvSpPr>
          <p:cNvPr id="70681" name="文本框 75">
            <a:extLst>
              <a:ext uri="{FF2B5EF4-FFF2-40B4-BE49-F238E27FC236}">
                <a16:creationId xmlns:a16="http://schemas.microsoft.com/office/drawing/2014/main" id="{32ADA2F7-8872-0C9F-BA46-F48FF988A310}"/>
              </a:ext>
            </a:extLst>
          </p:cNvPr>
          <p:cNvSpPr txBox="1">
            <a:spLocks noChangeArrowheads="1"/>
          </p:cNvSpPr>
          <p:nvPr/>
        </p:nvSpPr>
        <p:spPr bwMode="auto">
          <a:xfrm>
            <a:off x="1800225" y="5059363"/>
            <a:ext cx="1217613"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nSpc>
                <a:spcPts val="2575"/>
              </a:lnSpc>
              <a:spcBef>
                <a:spcPct val="0"/>
              </a:spcBef>
              <a:buFontTx/>
              <a:buNone/>
            </a:pPr>
            <a:r>
              <a:rPr lang="zh-CN" altLang="en-US" sz="1200">
                <a:solidFill>
                  <a:srgbClr val="C00000"/>
                </a:solidFill>
                <a:latin typeface="Huawei Sans"/>
                <a:ea typeface="方正兰亭黑简体"/>
                <a:cs typeface="方正兰亭黑简体"/>
              </a:rPr>
              <a:t>指令集</a:t>
            </a:r>
            <a:r>
              <a:rPr lang="en-US" altLang="zh-CN" sz="1200">
                <a:solidFill>
                  <a:srgbClr val="C00000"/>
                </a:solidFill>
                <a:latin typeface="Huawei Sans"/>
                <a:ea typeface="方正兰亭黑简体"/>
                <a:cs typeface="方正兰亭黑简体"/>
              </a:rPr>
              <a:t>&amp;</a:t>
            </a:r>
            <a:r>
              <a:rPr lang="zh-CN" altLang="en-US" sz="1200">
                <a:solidFill>
                  <a:srgbClr val="C00000"/>
                </a:solidFill>
                <a:latin typeface="Huawei Sans"/>
                <a:ea typeface="方正兰亭黑简体"/>
                <a:cs typeface="方正兰亭黑简体"/>
              </a:rPr>
              <a:t>编译器</a:t>
            </a:r>
          </a:p>
        </p:txBody>
      </p:sp>
      <p:sp>
        <p:nvSpPr>
          <p:cNvPr id="70682" name="文本框 76">
            <a:extLst>
              <a:ext uri="{FF2B5EF4-FFF2-40B4-BE49-F238E27FC236}">
                <a16:creationId xmlns:a16="http://schemas.microsoft.com/office/drawing/2014/main" id="{D9BB08C1-6371-12EF-659A-EEE8CFEF6DCC}"/>
              </a:ext>
            </a:extLst>
          </p:cNvPr>
          <p:cNvSpPr txBox="1">
            <a:spLocks noChangeArrowheads="1"/>
          </p:cNvSpPr>
          <p:nvPr/>
        </p:nvSpPr>
        <p:spPr bwMode="auto">
          <a:xfrm>
            <a:off x="3814763" y="5059363"/>
            <a:ext cx="646112"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nSpc>
                <a:spcPts val="2575"/>
              </a:lnSpc>
              <a:spcBef>
                <a:spcPct val="0"/>
              </a:spcBef>
              <a:buFontTx/>
              <a:buNone/>
            </a:pPr>
            <a:r>
              <a:rPr lang="zh-CN" altLang="en-US" sz="1200">
                <a:solidFill>
                  <a:srgbClr val="C00000"/>
                </a:solidFill>
                <a:latin typeface="Huawei Sans"/>
                <a:ea typeface="方正兰亭黑简体"/>
                <a:cs typeface="方正兰亭黑简体"/>
              </a:rPr>
              <a:t>微架构</a:t>
            </a:r>
          </a:p>
        </p:txBody>
      </p:sp>
      <p:sp>
        <p:nvSpPr>
          <p:cNvPr id="70683" name="文本框 77">
            <a:extLst>
              <a:ext uri="{FF2B5EF4-FFF2-40B4-BE49-F238E27FC236}">
                <a16:creationId xmlns:a16="http://schemas.microsoft.com/office/drawing/2014/main" id="{FD45E7FE-418F-2D24-9F23-A1054F5FAB65}"/>
              </a:ext>
            </a:extLst>
          </p:cNvPr>
          <p:cNvSpPr txBox="1">
            <a:spLocks noChangeArrowheads="1"/>
          </p:cNvSpPr>
          <p:nvPr/>
        </p:nvSpPr>
        <p:spPr bwMode="auto">
          <a:xfrm>
            <a:off x="5429250" y="5051425"/>
            <a:ext cx="800100"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nSpc>
                <a:spcPts val="2575"/>
              </a:lnSpc>
              <a:spcBef>
                <a:spcPct val="0"/>
              </a:spcBef>
              <a:buFontTx/>
              <a:buNone/>
            </a:pPr>
            <a:r>
              <a:rPr lang="zh-CN" altLang="en-US" sz="1200">
                <a:solidFill>
                  <a:srgbClr val="C00000"/>
                </a:solidFill>
                <a:latin typeface="Huawei Sans"/>
                <a:ea typeface="方正兰亭黑简体"/>
                <a:cs typeface="方正兰亭黑简体"/>
              </a:rPr>
              <a:t>芯片实现</a:t>
            </a:r>
          </a:p>
        </p:txBody>
      </p:sp>
      <p:sp>
        <p:nvSpPr>
          <p:cNvPr id="79" name="矩形 78">
            <a:extLst>
              <a:ext uri="{FF2B5EF4-FFF2-40B4-BE49-F238E27FC236}">
                <a16:creationId xmlns:a16="http://schemas.microsoft.com/office/drawing/2014/main" id="{879991CE-C6B0-DEE0-95ED-F8F647053806}"/>
              </a:ext>
            </a:extLst>
          </p:cNvPr>
          <p:cNvSpPr/>
          <p:nvPr/>
        </p:nvSpPr>
        <p:spPr>
          <a:xfrm>
            <a:off x="6508750" y="3984625"/>
            <a:ext cx="2122488" cy="1384300"/>
          </a:xfrm>
          <a:prstGeom prst="rect">
            <a:avLst/>
          </a:prstGeom>
        </p:spPr>
        <p:txBody>
          <a:bodyPr>
            <a:spAutoFit/>
          </a:bodyPr>
          <a:lstStyle/>
          <a:p>
            <a:pPr>
              <a:defRPr/>
            </a:pPr>
            <a:r>
              <a:rPr kumimoji="1" lang="zh-CN" altLang="en-US" sz="1050" dirty="0">
                <a:solidFill>
                  <a:srgbClr val="1D1D1A"/>
                </a:solidFill>
                <a:latin typeface="Huawei Sans" panose="020C0503030203020204" pitchFamily="34" charset="0"/>
                <a:ea typeface="方正兰亭黑简体" panose="02000000000000000000" pitchFamily="2" charset="-122"/>
              </a:rPr>
              <a:t>处理器性能和指令集</a:t>
            </a:r>
            <a:r>
              <a:rPr kumimoji="1" lang="en-US" altLang="zh-CN" sz="1050" dirty="0">
                <a:solidFill>
                  <a:srgbClr val="1D1D1A"/>
                </a:solidFill>
                <a:latin typeface="Huawei Sans" panose="020C0503030203020204" pitchFamily="34" charset="0"/>
                <a:ea typeface="方正兰亭黑简体" panose="02000000000000000000" pitchFamily="2" charset="-122"/>
              </a:rPr>
              <a:t>&amp;</a:t>
            </a:r>
            <a:r>
              <a:rPr kumimoji="1" lang="zh-CN" altLang="en-US" sz="1050" dirty="0">
                <a:solidFill>
                  <a:srgbClr val="1D1D1A"/>
                </a:solidFill>
                <a:latin typeface="Huawei Sans" panose="020C0503030203020204" pitchFamily="34" charset="0"/>
                <a:ea typeface="方正兰亭黑简体" panose="02000000000000000000" pitchFamily="2" charset="-122"/>
              </a:rPr>
              <a:t>编译器、处理器微架构（流水）、架构（核数、工艺）均相关。</a:t>
            </a:r>
            <a:endParaRPr kumimoji="1" lang="en-US" altLang="zh-CN" sz="1050" dirty="0">
              <a:solidFill>
                <a:srgbClr val="1D1D1A"/>
              </a:solidFill>
              <a:latin typeface="Huawei Sans" panose="020C0503030203020204" pitchFamily="34" charset="0"/>
              <a:ea typeface="方正兰亭黑简体" panose="02000000000000000000" pitchFamily="2" charset="-122"/>
            </a:endParaRPr>
          </a:p>
          <a:p>
            <a:pPr>
              <a:defRPr/>
            </a:pPr>
            <a:r>
              <a:rPr kumimoji="1" lang="zh-CN" altLang="en-US" sz="1050" dirty="0">
                <a:solidFill>
                  <a:srgbClr val="1D1D1A"/>
                </a:solidFill>
                <a:latin typeface="Huawei Sans" panose="020C0503030203020204" pitchFamily="34" charset="0"/>
                <a:ea typeface="方正兰亭黑简体" panose="02000000000000000000" pitchFamily="2" charset="-122"/>
              </a:rPr>
              <a:t>通常所说的</a:t>
            </a:r>
            <a:r>
              <a:rPr kumimoji="1" lang="en-US" altLang="zh-CN" sz="1050" dirty="0">
                <a:solidFill>
                  <a:srgbClr val="1D1D1A"/>
                </a:solidFill>
                <a:latin typeface="Huawei Sans" panose="020C0503030203020204" pitchFamily="34" charset="0"/>
                <a:ea typeface="方正兰亭黑简体" panose="02000000000000000000" pitchFamily="2" charset="-122"/>
              </a:rPr>
              <a:t>ARM</a:t>
            </a:r>
            <a:r>
              <a:rPr kumimoji="1" lang="zh-CN" altLang="en-US" sz="1050" dirty="0">
                <a:solidFill>
                  <a:srgbClr val="1D1D1A"/>
                </a:solidFill>
                <a:latin typeface="Huawei Sans" panose="020C0503030203020204" pitchFamily="34" charset="0"/>
                <a:ea typeface="方正兰亭黑简体" panose="02000000000000000000" pitchFamily="2" charset="-122"/>
              </a:rPr>
              <a:t>处理器仅是指采用</a:t>
            </a:r>
            <a:r>
              <a:rPr kumimoji="1" lang="en-US" altLang="zh-CN" sz="1050" dirty="0">
                <a:solidFill>
                  <a:srgbClr val="1D1D1A"/>
                </a:solidFill>
                <a:latin typeface="Huawei Sans" panose="020C0503030203020204" pitchFamily="34" charset="0"/>
                <a:ea typeface="方正兰亭黑简体" panose="02000000000000000000" pitchFamily="2" charset="-122"/>
              </a:rPr>
              <a:t>ARM</a:t>
            </a:r>
            <a:r>
              <a:rPr kumimoji="1" lang="zh-CN" altLang="en-US" sz="1050" dirty="0">
                <a:solidFill>
                  <a:srgbClr val="1D1D1A"/>
                </a:solidFill>
                <a:latin typeface="Huawei Sans" panose="020C0503030203020204" pitchFamily="34" charset="0"/>
                <a:ea typeface="方正兰亭黑简体" panose="02000000000000000000" pitchFamily="2" charset="-122"/>
              </a:rPr>
              <a:t>指令集。</a:t>
            </a:r>
            <a:r>
              <a:rPr kumimoji="1" lang="zh-CN" altLang="en-US" sz="1050" dirty="0">
                <a:solidFill>
                  <a:srgbClr val="C00000"/>
                </a:solidFill>
                <a:latin typeface="Huawei Sans" panose="020C0503030203020204" pitchFamily="34" charset="0"/>
                <a:ea typeface="方正兰亭黑简体" panose="02000000000000000000" pitchFamily="2" charset="-122"/>
              </a:rPr>
              <a:t>即使均为</a:t>
            </a:r>
            <a:r>
              <a:rPr kumimoji="1" lang="en-US" altLang="zh-CN" sz="1050" dirty="0">
                <a:solidFill>
                  <a:srgbClr val="C00000"/>
                </a:solidFill>
                <a:latin typeface="Huawei Sans" panose="020C0503030203020204" pitchFamily="34" charset="0"/>
                <a:ea typeface="方正兰亭黑简体" panose="02000000000000000000" pitchFamily="2" charset="-122"/>
              </a:rPr>
              <a:t>ARM</a:t>
            </a:r>
            <a:r>
              <a:rPr kumimoji="1" lang="zh-CN" altLang="en-US" sz="1050" dirty="0">
                <a:solidFill>
                  <a:srgbClr val="C00000"/>
                </a:solidFill>
                <a:latin typeface="Huawei Sans" panose="020C0503030203020204" pitchFamily="34" charset="0"/>
                <a:ea typeface="方正兰亭黑简体" panose="02000000000000000000" pitchFamily="2" charset="-122"/>
              </a:rPr>
              <a:t>处理器，不同微架构，不同实现，芯片在性能、功耗方面的差异也非常大。</a:t>
            </a:r>
            <a:endParaRPr kumimoji="1" lang="en-US" altLang="zh-CN" sz="1050" dirty="0">
              <a:solidFill>
                <a:srgbClr val="C00000"/>
              </a:solidFill>
              <a:latin typeface="Huawei Sans" panose="020C0503030203020204" pitchFamily="34" charset="0"/>
              <a:ea typeface="方正兰亭黑简体" panose="02000000000000000000"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C728062B-3F58-463D-9C98-B38C173E8562}"/>
              </a:ext>
            </a:extLst>
          </p:cNvPr>
          <p:cNvSpPr>
            <a:spLocks noGrp="1" noChangeArrowheads="1"/>
          </p:cNvSpPr>
          <p:nvPr>
            <p:ph type="title"/>
          </p:nvPr>
        </p:nvSpPr>
        <p:spPr>
          <a:xfrm>
            <a:off x="549275" y="447675"/>
            <a:ext cx="8045450" cy="485775"/>
          </a:xfrm>
        </p:spPr>
        <p:txBody>
          <a:bodyPr/>
          <a:lstStyle/>
          <a:p>
            <a:r>
              <a:rPr>
                <a:latin typeface="Huawei Sans"/>
                <a:ea typeface="方正兰亭黑简体"/>
                <a:cs typeface="方正兰亭黑简体"/>
              </a:rPr>
              <a:t>处理器发展趋势</a:t>
            </a:r>
          </a:p>
        </p:txBody>
      </p:sp>
      <p:sp>
        <p:nvSpPr>
          <p:cNvPr id="18" name="椭圆 17">
            <a:extLst>
              <a:ext uri="{FF2B5EF4-FFF2-40B4-BE49-F238E27FC236}">
                <a16:creationId xmlns:a16="http://schemas.microsoft.com/office/drawing/2014/main" id="{17114650-D694-CCFC-A4A2-29C31EDC4263}"/>
              </a:ext>
            </a:extLst>
          </p:cNvPr>
          <p:cNvSpPr/>
          <p:nvPr/>
        </p:nvSpPr>
        <p:spPr bwMode="auto">
          <a:xfrm>
            <a:off x="3879850" y="2393950"/>
            <a:ext cx="914400" cy="595313"/>
          </a:xfrm>
          <a:prstGeom prst="ellipse">
            <a:avLst/>
          </a:prstGeom>
          <a:solidFill>
            <a:srgbClr val="92D050"/>
          </a:solidFill>
          <a:ln>
            <a:noFill/>
          </a:ln>
          <a:effectLst/>
        </p:spPr>
        <p:txBody>
          <a:bodyPr lIns="68578" tIns="34289" rIns="68578" bIns="34289" anchor="ctr"/>
          <a:lstStyle/>
          <a:p>
            <a:pPr algn="ctr" defTabSz="685732">
              <a:buClr>
                <a:srgbClr val="CC9900"/>
              </a:buClr>
              <a:defRPr/>
            </a:pPr>
            <a:r>
              <a:rPr lang="en-US" altLang="zh-CN" sz="1050" dirty="0">
                <a:latin typeface="Huawei Sans" panose="020C0503030203020204" pitchFamily="34" charset="0"/>
                <a:ea typeface="方正兰亭黑简体" panose="02000000000000000000" pitchFamily="2" charset="-122"/>
              </a:rPr>
              <a:t>POWER</a:t>
            </a:r>
            <a:endParaRPr lang="zh-CN" altLang="en-US" sz="1050" dirty="0">
              <a:latin typeface="Huawei Sans" panose="020C0503030203020204" pitchFamily="34" charset="0"/>
              <a:ea typeface="方正兰亭黑简体" panose="02000000000000000000" pitchFamily="2" charset="-122"/>
            </a:endParaRPr>
          </a:p>
        </p:txBody>
      </p:sp>
      <p:sp>
        <p:nvSpPr>
          <p:cNvPr id="19" name="椭圆 18">
            <a:extLst>
              <a:ext uri="{FF2B5EF4-FFF2-40B4-BE49-F238E27FC236}">
                <a16:creationId xmlns:a16="http://schemas.microsoft.com/office/drawing/2014/main" id="{65786542-0E68-DF72-7B13-05C7E26DC3E5}"/>
              </a:ext>
            </a:extLst>
          </p:cNvPr>
          <p:cNvSpPr/>
          <p:nvPr/>
        </p:nvSpPr>
        <p:spPr bwMode="auto">
          <a:xfrm>
            <a:off x="4398963" y="2835275"/>
            <a:ext cx="649287" cy="1457325"/>
          </a:xfrm>
          <a:prstGeom prst="ellipse">
            <a:avLst/>
          </a:prstGeom>
          <a:solidFill>
            <a:srgbClr val="00B0F0"/>
          </a:solidFill>
          <a:ln>
            <a:noFill/>
          </a:ln>
          <a:effectLst/>
        </p:spPr>
        <p:txBody>
          <a:bodyPr lIns="68578" tIns="34289" rIns="68578" bIns="34289" anchor="ctr"/>
          <a:lstStyle/>
          <a:p>
            <a:pPr algn="ctr" defTabSz="685732">
              <a:buClr>
                <a:srgbClr val="CC9900"/>
              </a:buClr>
              <a:defRPr/>
            </a:pPr>
            <a:r>
              <a:rPr lang="en-US" altLang="zh-CN" sz="1050" dirty="0">
                <a:latin typeface="Huawei Sans" panose="020C0503030203020204" pitchFamily="34" charset="0"/>
                <a:ea typeface="方正兰亭黑简体" panose="02000000000000000000" pitchFamily="2" charset="-122"/>
              </a:rPr>
              <a:t>X86</a:t>
            </a:r>
            <a:endParaRPr lang="zh-CN" altLang="en-US" sz="1050" dirty="0">
              <a:latin typeface="Huawei Sans" panose="020C0503030203020204" pitchFamily="34" charset="0"/>
              <a:ea typeface="方正兰亭黑简体" panose="02000000000000000000" pitchFamily="2" charset="-122"/>
            </a:endParaRPr>
          </a:p>
        </p:txBody>
      </p:sp>
      <p:sp>
        <p:nvSpPr>
          <p:cNvPr id="21" name="椭圆 20">
            <a:extLst>
              <a:ext uri="{FF2B5EF4-FFF2-40B4-BE49-F238E27FC236}">
                <a16:creationId xmlns:a16="http://schemas.microsoft.com/office/drawing/2014/main" id="{C7FB7BE6-C3C2-4CD3-DCDC-52E464B09D63}"/>
              </a:ext>
            </a:extLst>
          </p:cNvPr>
          <p:cNvSpPr/>
          <p:nvPr/>
        </p:nvSpPr>
        <p:spPr bwMode="auto">
          <a:xfrm>
            <a:off x="4614863" y="3994150"/>
            <a:ext cx="739775" cy="406400"/>
          </a:xfrm>
          <a:prstGeom prst="ellipse">
            <a:avLst/>
          </a:prstGeom>
          <a:solidFill>
            <a:schemeClr val="accent1">
              <a:lumMod val="75000"/>
            </a:schemeClr>
          </a:solidFill>
          <a:ln>
            <a:noFill/>
          </a:ln>
          <a:effectLst/>
        </p:spPr>
        <p:txBody>
          <a:bodyPr lIns="68578" tIns="34289" rIns="68578" bIns="34289" anchor="ctr"/>
          <a:lstStyle/>
          <a:p>
            <a:pPr algn="ctr" defTabSz="685732">
              <a:buClr>
                <a:srgbClr val="CC9900"/>
              </a:buClr>
              <a:defRPr/>
            </a:pPr>
            <a:r>
              <a:rPr lang="en-US" altLang="zh-CN" sz="900" dirty="0">
                <a:solidFill>
                  <a:schemeClr val="bg1"/>
                </a:solidFill>
                <a:latin typeface="Huawei Sans" panose="020C0503030203020204" pitchFamily="34" charset="0"/>
                <a:ea typeface="方正兰亭黑简体" panose="02000000000000000000" pitchFamily="2" charset="-122"/>
              </a:rPr>
              <a:t>MIPS</a:t>
            </a:r>
            <a:endParaRPr lang="zh-CN" altLang="en-US" sz="900" dirty="0">
              <a:solidFill>
                <a:schemeClr val="bg1"/>
              </a:solidFill>
              <a:latin typeface="Huawei Sans" panose="020C0503030203020204" pitchFamily="34" charset="0"/>
              <a:ea typeface="方正兰亭黑简体" panose="02000000000000000000" pitchFamily="2" charset="-122"/>
            </a:endParaRPr>
          </a:p>
        </p:txBody>
      </p:sp>
      <p:sp>
        <p:nvSpPr>
          <p:cNvPr id="20" name="椭圆 19">
            <a:extLst>
              <a:ext uri="{FF2B5EF4-FFF2-40B4-BE49-F238E27FC236}">
                <a16:creationId xmlns:a16="http://schemas.microsoft.com/office/drawing/2014/main" id="{E82B71D8-CADA-9BB0-DD64-C89976A30DD5}"/>
              </a:ext>
            </a:extLst>
          </p:cNvPr>
          <p:cNvSpPr/>
          <p:nvPr/>
        </p:nvSpPr>
        <p:spPr bwMode="auto">
          <a:xfrm>
            <a:off x="3995738" y="3744913"/>
            <a:ext cx="673100" cy="925512"/>
          </a:xfrm>
          <a:prstGeom prst="ellipse">
            <a:avLst/>
          </a:prstGeom>
          <a:solidFill>
            <a:srgbClr val="FFFF00"/>
          </a:solidFill>
          <a:ln>
            <a:noFill/>
          </a:ln>
          <a:effectLst/>
        </p:spPr>
        <p:txBody>
          <a:bodyPr lIns="68578" tIns="34289" rIns="68578" bIns="34289" anchor="ctr"/>
          <a:lstStyle/>
          <a:p>
            <a:pPr algn="ctr" defTabSz="685732">
              <a:buClr>
                <a:srgbClr val="CC9900"/>
              </a:buClr>
              <a:defRPr/>
            </a:pPr>
            <a:r>
              <a:rPr lang="en-US" altLang="zh-CN" sz="1050" dirty="0">
                <a:latin typeface="Huawei Sans" panose="020C0503030203020204" pitchFamily="34" charset="0"/>
                <a:ea typeface="方正兰亭黑简体" panose="02000000000000000000" pitchFamily="2" charset="-122"/>
              </a:rPr>
              <a:t>ARM</a:t>
            </a:r>
            <a:endParaRPr lang="zh-CN" altLang="en-US" sz="1050" dirty="0">
              <a:latin typeface="Huawei Sans" panose="020C0503030203020204" pitchFamily="34" charset="0"/>
              <a:ea typeface="方正兰亭黑简体" panose="02000000000000000000" pitchFamily="2" charset="-122"/>
            </a:endParaRPr>
          </a:p>
        </p:txBody>
      </p:sp>
      <p:cxnSp>
        <p:nvCxnSpPr>
          <p:cNvPr id="72710" name="直接连接符 22">
            <a:extLst>
              <a:ext uri="{FF2B5EF4-FFF2-40B4-BE49-F238E27FC236}">
                <a16:creationId xmlns:a16="http://schemas.microsoft.com/office/drawing/2014/main" id="{73C4D872-FF63-DFF7-E254-7460EAC96B94}"/>
              </a:ext>
            </a:extLst>
          </p:cNvPr>
          <p:cNvCxnSpPr>
            <a:cxnSpLocks noChangeShapeType="1"/>
          </p:cNvCxnSpPr>
          <p:nvPr/>
        </p:nvCxnSpPr>
        <p:spPr bwMode="auto">
          <a:xfrm>
            <a:off x="763588" y="4999038"/>
            <a:ext cx="7715250" cy="0"/>
          </a:xfrm>
          <a:prstGeom prst="line">
            <a:avLst/>
          </a:prstGeom>
          <a:noFill/>
          <a:ln w="38100">
            <a:solidFill>
              <a:srgbClr val="C7000B"/>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11" name="TextBox 24">
            <a:extLst>
              <a:ext uri="{FF2B5EF4-FFF2-40B4-BE49-F238E27FC236}">
                <a16:creationId xmlns:a16="http://schemas.microsoft.com/office/drawing/2014/main" id="{1C26432B-5636-DE4C-A986-0CECD2B9B81C}"/>
              </a:ext>
            </a:extLst>
          </p:cNvPr>
          <p:cNvSpPr txBox="1">
            <a:spLocks noChangeArrowheads="1"/>
          </p:cNvSpPr>
          <p:nvPr/>
        </p:nvSpPr>
        <p:spPr bwMode="auto">
          <a:xfrm>
            <a:off x="736600" y="2474913"/>
            <a:ext cx="993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200">
                <a:latin typeface="Huawei Sans"/>
                <a:ea typeface="方正兰亭黑简体"/>
                <a:cs typeface="方正兰亭黑简体"/>
              </a:rPr>
              <a:t>高端服务器</a:t>
            </a:r>
          </a:p>
        </p:txBody>
      </p:sp>
      <p:sp>
        <p:nvSpPr>
          <p:cNvPr id="72712" name="TextBox 25">
            <a:extLst>
              <a:ext uri="{FF2B5EF4-FFF2-40B4-BE49-F238E27FC236}">
                <a16:creationId xmlns:a16="http://schemas.microsoft.com/office/drawing/2014/main" id="{3A47C4B5-C96D-B6F3-688D-0801C321A938}"/>
              </a:ext>
            </a:extLst>
          </p:cNvPr>
          <p:cNvSpPr txBox="1">
            <a:spLocks noChangeArrowheads="1"/>
          </p:cNvSpPr>
          <p:nvPr/>
        </p:nvSpPr>
        <p:spPr bwMode="auto">
          <a:xfrm>
            <a:off x="700088" y="3562350"/>
            <a:ext cx="10239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200">
                <a:latin typeface="Huawei Sans"/>
                <a:ea typeface="方正兰亭黑简体"/>
                <a:cs typeface="方正兰亭黑简体"/>
              </a:rPr>
              <a:t>PC &amp; </a:t>
            </a:r>
            <a:r>
              <a:rPr lang="zh-CN" altLang="en-US" sz="1200">
                <a:latin typeface="Huawei Sans"/>
                <a:ea typeface="方正兰亭黑简体"/>
                <a:cs typeface="方正兰亭黑简体"/>
              </a:rPr>
              <a:t>服务器</a:t>
            </a:r>
          </a:p>
        </p:txBody>
      </p:sp>
      <p:sp>
        <p:nvSpPr>
          <p:cNvPr id="72713" name="TextBox 26">
            <a:extLst>
              <a:ext uri="{FF2B5EF4-FFF2-40B4-BE49-F238E27FC236}">
                <a16:creationId xmlns:a16="http://schemas.microsoft.com/office/drawing/2014/main" id="{9A03EB1A-07ED-DF6B-2AF7-297FDA861B60}"/>
              </a:ext>
            </a:extLst>
          </p:cNvPr>
          <p:cNvSpPr txBox="1">
            <a:spLocks noChangeArrowheads="1"/>
          </p:cNvSpPr>
          <p:nvPr/>
        </p:nvSpPr>
        <p:spPr bwMode="auto">
          <a:xfrm>
            <a:off x="733425" y="4311650"/>
            <a:ext cx="1296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200">
                <a:latin typeface="Huawei Sans"/>
                <a:ea typeface="方正兰亭黑简体"/>
                <a:cs typeface="方正兰亭黑简体"/>
              </a:rPr>
              <a:t>嵌入式</a:t>
            </a:r>
            <a:r>
              <a:rPr lang="en-US" altLang="zh-CN" sz="1200">
                <a:latin typeface="Huawei Sans"/>
                <a:ea typeface="方正兰亭黑简体"/>
                <a:cs typeface="方正兰亭黑简体"/>
              </a:rPr>
              <a:t>/</a:t>
            </a:r>
          </a:p>
          <a:p>
            <a:pPr>
              <a:spcBef>
                <a:spcPct val="0"/>
              </a:spcBef>
              <a:buFontTx/>
              <a:buNone/>
            </a:pPr>
            <a:r>
              <a:rPr lang="zh-CN" altLang="en-US" sz="1200">
                <a:latin typeface="Huawei Sans"/>
                <a:ea typeface="方正兰亭黑简体"/>
                <a:cs typeface="方正兰亭黑简体"/>
              </a:rPr>
              <a:t>移动</a:t>
            </a:r>
            <a:r>
              <a:rPr lang="en-US" altLang="zh-CN" sz="1200">
                <a:latin typeface="Huawei Sans"/>
                <a:ea typeface="方正兰亭黑简体"/>
                <a:cs typeface="方正兰亭黑简体"/>
              </a:rPr>
              <a:t>/</a:t>
            </a:r>
            <a:r>
              <a:rPr lang="zh-CN" altLang="en-US" sz="1200">
                <a:latin typeface="Huawei Sans"/>
                <a:ea typeface="方正兰亭黑简体"/>
                <a:cs typeface="方正兰亭黑简体"/>
              </a:rPr>
              <a:t>消费</a:t>
            </a:r>
          </a:p>
        </p:txBody>
      </p:sp>
      <p:sp>
        <p:nvSpPr>
          <p:cNvPr id="72714" name="椭圆 3">
            <a:extLst>
              <a:ext uri="{FF2B5EF4-FFF2-40B4-BE49-F238E27FC236}">
                <a16:creationId xmlns:a16="http://schemas.microsoft.com/office/drawing/2014/main" id="{80CB4EF3-2168-C7A1-DC19-E768C121D372}"/>
              </a:ext>
            </a:extLst>
          </p:cNvPr>
          <p:cNvSpPr>
            <a:spLocks noChangeArrowheads="1"/>
          </p:cNvSpPr>
          <p:nvPr/>
        </p:nvSpPr>
        <p:spPr bwMode="auto">
          <a:xfrm>
            <a:off x="1657350" y="2317750"/>
            <a:ext cx="1044575" cy="668338"/>
          </a:xfrm>
          <a:prstGeom prst="ellipse">
            <a:avLst/>
          </a:prstGeom>
          <a:solidFill>
            <a:schemeClr val="accent2"/>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78" tIns="34289" rIns="68578" bIns="34289" anchor="ctr"/>
          <a:lstStyle>
            <a:lvl1pPr defTabSz="684213">
              <a:spcBef>
                <a:spcPct val="20000"/>
              </a:spcBef>
              <a:buChar char="•"/>
              <a:defRPr sz="2800">
                <a:solidFill>
                  <a:schemeClr val="tx1"/>
                </a:solidFill>
                <a:latin typeface="Comic Sans MS" panose="030F0902030302020204" pitchFamily="66" charset="0"/>
              </a:defRPr>
            </a:lvl1pPr>
            <a:lvl2pPr marL="742950" indent="-285750" defTabSz="684213">
              <a:spcBef>
                <a:spcPct val="20000"/>
              </a:spcBef>
              <a:buChar char="–"/>
              <a:defRPr sz="2400">
                <a:solidFill>
                  <a:schemeClr val="tx1"/>
                </a:solidFill>
                <a:latin typeface="Comic Sans MS" panose="030F0902030302020204" pitchFamily="66" charset="0"/>
              </a:defRPr>
            </a:lvl2pPr>
            <a:lvl3pPr marL="1143000" indent="-228600" defTabSz="684213">
              <a:spcBef>
                <a:spcPct val="20000"/>
              </a:spcBef>
              <a:buChar char="•"/>
              <a:defRPr sz="2000">
                <a:solidFill>
                  <a:schemeClr val="tx1"/>
                </a:solidFill>
                <a:latin typeface="Comic Sans MS" panose="030F0902030302020204" pitchFamily="66" charset="0"/>
              </a:defRPr>
            </a:lvl3pPr>
            <a:lvl4pPr marL="1600200" indent="-228600" defTabSz="684213">
              <a:spcBef>
                <a:spcPct val="20000"/>
              </a:spcBef>
              <a:buChar char="–"/>
              <a:defRPr sz="2000">
                <a:solidFill>
                  <a:schemeClr val="tx1"/>
                </a:solidFill>
                <a:latin typeface="Comic Sans MS" panose="030F0902030302020204" pitchFamily="66" charset="0"/>
              </a:defRPr>
            </a:lvl4pPr>
            <a:lvl5pPr marL="2057400" indent="-228600" defTabSz="684213">
              <a:spcBef>
                <a:spcPct val="20000"/>
              </a:spcBef>
              <a:buChar char="»"/>
              <a:defRPr sz="2000">
                <a:solidFill>
                  <a:schemeClr val="tx1"/>
                </a:solidFill>
                <a:latin typeface="Comic Sans MS" panose="030F0902030302020204" pitchFamily="66" charset="0"/>
              </a:defRPr>
            </a:lvl5pPr>
            <a:lvl6pPr marL="25146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Clr>
                <a:srgbClr val="CC9900"/>
              </a:buClr>
              <a:buFontTx/>
              <a:buNone/>
            </a:pPr>
            <a:r>
              <a:rPr lang="en-US" altLang="zh-CN" sz="1200">
                <a:latin typeface="Huawei Sans"/>
                <a:ea typeface="方正兰亭黑简体"/>
                <a:cs typeface="方正兰亭黑简体"/>
              </a:rPr>
              <a:t>POWER</a:t>
            </a:r>
            <a:endParaRPr lang="zh-CN" altLang="en-US" sz="1200">
              <a:latin typeface="Huawei Sans"/>
              <a:ea typeface="方正兰亭黑简体"/>
              <a:cs typeface="方正兰亭黑简体"/>
            </a:endParaRPr>
          </a:p>
        </p:txBody>
      </p:sp>
      <p:sp>
        <p:nvSpPr>
          <p:cNvPr id="72715" name="椭圆 4">
            <a:extLst>
              <a:ext uri="{FF2B5EF4-FFF2-40B4-BE49-F238E27FC236}">
                <a16:creationId xmlns:a16="http://schemas.microsoft.com/office/drawing/2014/main" id="{F891BDC4-B149-0C55-CECC-26F446F48CF8}"/>
              </a:ext>
            </a:extLst>
          </p:cNvPr>
          <p:cNvSpPr>
            <a:spLocks noChangeArrowheads="1"/>
          </p:cNvSpPr>
          <p:nvPr/>
        </p:nvSpPr>
        <p:spPr bwMode="auto">
          <a:xfrm>
            <a:off x="2744788" y="2540000"/>
            <a:ext cx="852487" cy="188913"/>
          </a:xfrm>
          <a:prstGeom prst="ellipse">
            <a:avLst/>
          </a:prstGeom>
          <a:solidFill>
            <a:schemeClr val="accent2"/>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78" tIns="34289" rIns="68578" bIns="34289" anchor="ctr"/>
          <a:lstStyle>
            <a:lvl1pPr defTabSz="684213">
              <a:spcBef>
                <a:spcPct val="20000"/>
              </a:spcBef>
              <a:buChar char="•"/>
              <a:defRPr sz="2800">
                <a:solidFill>
                  <a:schemeClr val="tx1"/>
                </a:solidFill>
                <a:latin typeface="Comic Sans MS" panose="030F0902030302020204" pitchFamily="66" charset="0"/>
              </a:defRPr>
            </a:lvl1pPr>
            <a:lvl2pPr marL="742950" indent="-285750" defTabSz="684213">
              <a:spcBef>
                <a:spcPct val="20000"/>
              </a:spcBef>
              <a:buChar char="–"/>
              <a:defRPr sz="2400">
                <a:solidFill>
                  <a:schemeClr val="tx1"/>
                </a:solidFill>
                <a:latin typeface="Comic Sans MS" panose="030F0902030302020204" pitchFamily="66" charset="0"/>
              </a:defRPr>
            </a:lvl2pPr>
            <a:lvl3pPr marL="1143000" indent="-228600" defTabSz="684213">
              <a:spcBef>
                <a:spcPct val="20000"/>
              </a:spcBef>
              <a:buChar char="•"/>
              <a:defRPr sz="2000">
                <a:solidFill>
                  <a:schemeClr val="tx1"/>
                </a:solidFill>
                <a:latin typeface="Comic Sans MS" panose="030F0902030302020204" pitchFamily="66" charset="0"/>
              </a:defRPr>
            </a:lvl3pPr>
            <a:lvl4pPr marL="1600200" indent="-228600" defTabSz="684213">
              <a:spcBef>
                <a:spcPct val="20000"/>
              </a:spcBef>
              <a:buChar char="–"/>
              <a:defRPr sz="2000">
                <a:solidFill>
                  <a:schemeClr val="tx1"/>
                </a:solidFill>
                <a:latin typeface="Comic Sans MS" panose="030F0902030302020204" pitchFamily="66" charset="0"/>
              </a:defRPr>
            </a:lvl4pPr>
            <a:lvl5pPr marL="2057400" indent="-228600" defTabSz="684213">
              <a:spcBef>
                <a:spcPct val="20000"/>
              </a:spcBef>
              <a:buChar char="»"/>
              <a:defRPr sz="2000">
                <a:solidFill>
                  <a:schemeClr val="tx1"/>
                </a:solidFill>
                <a:latin typeface="Comic Sans MS" panose="030F0902030302020204" pitchFamily="66" charset="0"/>
              </a:defRPr>
            </a:lvl5pPr>
            <a:lvl6pPr marL="25146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Clr>
                <a:srgbClr val="CC9900"/>
              </a:buClr>
              <a:buFontTx/>
              <a:buNone/>
            </a:pPr>
            <a:r>
              <a:rPr lang="en-US" altLang="zh-CN" sz="900">
                <a:latin typeface="Huawei Sans"/>
                <a:ea typeface="方正兰亭黑简体"/>
                <a:cs typeface="方正兰亭黑简体"/>
              </a:rPr>
              <a:t>PA-RISC</a:t>
            </a:r>
            <a:endParaRPr lang="zh-CN" altLang="en-US" sz="900">
              <a:latin typeface="Huawei Sans"/>
              <a:ea typeface="方正兰亭黑简体"/>
              <a:cs typeface="方正兰亭黑简体"/>
            </a:endParaRPr>
          </a:p>
        </p:txBody>
      </p:sp>
      <p:sp>
        <p:nvSpPr>
          <p:cNvPr id="72716" name="椭圆 6">
            <a:extLst>
              <a:ext uri="{FF2B5EF4-FFF2-40B4-BE49-F238E27FC236}">
                <a16:creationId xmlns:a16="http://schemas.microsoft.com/office/drawing/2014/main" id="{AC14C2F5-AD4B-108F-840C-673AF076CF6C}"/>
              </a:ext>
            </a:extLst>
          </p:cNvPr>
          <p:cNvSpPr>
            <a:spLocks noChangeArrowheads="1"/>
          </p:cNvSpPr>
          <p:nvPr/>
        </p:nvSpPr>
        <p:spPr bwMode="auto">
          <a:xfrm>
            <a:off x="2725738" y="2297113"/>
            <a:ext cx="871537" cy="201612"/>
          </a:xfrm>
          <a:prstGeom prst="ellipse">
            <a:avLst/>
          </a:prstGeom>
          <a:solidFill>
            <a:schemeClr val="accent2"/>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78" tIns="34289" rIns="68578" bIns="34289" anchor="ctr"/>
          <a:lstStyle>
            <a:lvl1pPr defTabSz="684213">
              <a:spcBef>
                <a:spcPct val="20000"/>
              </a:spcBef>
              <a:buChar char="•"/>
              <a:defRPr sz="2800">
                <a:solidFill>
                  <a:schemeClr val="tx1"/>
                </a:solidFill>
                <a:latin typeface="Comic Sans MS" panose="030F0902030302020204" pitchFamily="66" charset="0"/>
              </a:defRPr>
            </a:lvl1pPr>
            <a:lvl2pPr marL="742950" indent="-285750" defTabSz="684213">
              <a:spcBef>
                <a:spcPct val="20000"/>
              </a:spcBef>
              <a:buChar char="–"/>
              <a:defRPr sz="2400">
                <a:solidFill>
                  <a:schemeClr val="tx1"/>
                </a:solidFill>
                <a:latin typeface="Comic Sans MS" panose="030F0902030302020204" pitchFamily="66" charset="0"/>
              </a:defRPr>
            </a:lvl2pPr>
            <a:lvl3pPr marL="1143000" indent="-228600" defTabSz="684213">
              <a:spcBef>
                <a:spcPct val="20000"/>
              </a:spcBef>
              <a:buChar char="•"/>
              <a:defRPr sz="2000">
                <a:solidFill>
                  <a:schemeClr val="tx1"/>
                </a:solidFill>
                <a:latin typeface="Comic Sans MS" panose="030F0902030302020204" pitchFamily="66" charset="0"/>
              </a:defRPr>
            </a:lvl3pPr>
            <a:lvl4pPr marL="1600200" indent="-228600" defTabSz="684213">
              <a:spcBef>
                <a:spcPct val="20000"/>
              </a:spcBef>
              <a:buChar char="–"/>
              <a:defRPr sz="2000">
                <a:solidFill>
                  <a:schemeClr val="tx1"/>
                </a:solidFill>
                <a:latin typeface="Comic Sans MS" panose="030F0902030302020204" pitchFamily="66" charset="0"/>
              </a:defRPr>
            </a:lvl4pPr>
            <a:lvl5pPr marL="2057400" indent="-228600" defTabSz="684213">
              <a:spcBef>
                <a:spcPct val="20000"/>
              </a:spcBef>
              <a:buChar char="»"/>
              <a:defRPr sz="2000">
                <a:solidFill>
                  <a:schemeClr val="tx1"/>
                </a:solidFill>
                <a:latin typeface="Comic Sans MS" panose="030F0902030302020204" pitchFamily="66" charset="0"/>
              </a:defRPr>
            </a:lvl5pPr>
            <a:lvl6pPr marL="25146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Clr>
                <a:srgbClr val="CC9900"/>
              </a:buClr>
              <a:buFontTx/>
              <a:buNone/>
            </a:pPr>
            <a:r>
              <a:rPr lang="en-US" altLang="zh-CN" sz="900">
                <a:latin typeface="Huawei Sans"/>
                <a:ea typeface="方正兰亭黑简体"/>
                <a:cs typeface="方正兰亭黑简体"/>
              </a:rPr>
              <a:t>SPARC</a:t>
            </a:r>
            <a:endParaRPr lang="zh-CN" altLang="en-US" sz="900">
              <a:latin typeface="Huawei Sans"/>
              <a:ea typeface="方正兰亭黑简体"/>
              <a:cs typeface="方正兰亭黑简体"/>
            </a:endParaRPr>
          </a:p>
        </p:txBody>
      </p:sp>
      <p:sp>
        <p:nvSpPr>
          <p:cNvPr id="72717" name="椭圆 7">
            <a:extLst>
              <a:ext uri="{FF2B5EF4-FFF2-40B4-BE49-F238E27FC236}">
                <a16:creationId xmlns:a16="http://schemas.microsoft.com/office/drawing/2014/main" id="{19B37709-664B-8692-A26D-1EF28A5D623E}"/>
              </a:ext>
            </a:extLst>
          </p:cNvPr>
          <p:cNvSpPr>
            <a:spLocks noChangeArrowheads="1"/>
          </p:cNvSpPr>
          <p:nvPr/>
        </p:nvSpPr>
        <p:spPr bwMode="auto">
          <a:xfrm>
            <a:off x="2743200" y="2782888"/>
            <a:ext cx="854075" cy="215900"/>
          </a:xfrm>
          <a:prstGeom prst="ellipse">
            <a:avLst/>
          </a:prstGeom>
          <a:solidFill>
            <a:schemeClr val="accent2"/>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78" tIns="34289" rIns="68578" bIns="34289" anchor="ctr"/>
          <a:lstStyle>
            <a:lvl1pPr defTabSz="684213">
              <a:spcBef>
                <a:spcPct val="20000"/>
              </a:spcBef>
              <a:buChar char="•"/>
              <a:defRPr sz="2800">
                <a:solidFill>
                  <a:schemeClr val="tx1"/>
                </a:solidFill>
                <a:latin typeface="Comic Sans MS" panose="030F0902030302020204" pitchFamily="66" charset="0"/>
              </a:defRPr>
            </a:lvl1pPr>
            <a:lvl2pPr marL="742950" indent="-285750" defTabSz="684213">
              <a:spcBef>
                <a:spcPct val="20000"/>
              </a:spcBef>
              <a:buChar char="–"/>
              <a:defRPr sz="2400">
                <a:solidFill>
                  <a:schemeClr val="tx1"/>
                </a:solidFill>
                <a:latin typeface="Comic Sans MS" panose="030F0902030302020204" pitchFamily="66" charset="0"/>
              </a:defRPr>
            </a:lvl2pPr>
            <a:lvl3pPr marL="1143000" indent="-228600" defTabSz="684213">
              <a:spcBef>
                <a:spcPct val="20000"/>
              </a:spcBef>
              <a:buChar char="•"/>
              <a:defRPr sz="2000">
                <a:solidFill>
                  <a:schemeClr val="tx1"/>
                </a:solidFill>
                <a:latin typeface="Comic Sans MS" panose="030F0902030302020204" pitchFamily="66" charset="0"/>
              </a:defRPr>
            </a:lvl3pPr>
            <a:lvl4pPr marL="1600200" indent="-228600" defTabSz="684213">
              <a:spcBef>
                <a:spcPct val="20000"/>
              </a:spcBef>
              <a:buChar char="–"/>
              <a:defRPr sz="2000">
                <a:solidFill>
                  <a:schemeClr val="tx1"/>
                </a:solidFill>
                <a:latin typeface="Comic Sans MS" panose="030F0902030302020204" pitchFamily="66" charset="0"/>
              </a:defRPr>
            </a:lvl4pPr>
            <a:lvl5pPr marL="2057400" indent="-228600" defTabSz="684213">
              <a:spcBef>
                <a:spcPct val="20000"/>
              </a:spcBef>
              <a:buChar char="»"/>
              <a:defRPr sz="2000">
                <a:solidFill>
                  <a:schemeClr val="tx1"/>
                </a:solidFill>
                <a:latin typeface="Comic Sans MS" panose="030F0902030302020204" pitchFamily="66" charset="0"/>
              </a:defRPr>
            </a:lvl5pPr>
            <a:lvl6pPr marL="25146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Clr>
                <a:srgbClr val="CC9900"/>
              </a:buClr>
              <a:buFontTx/>
              <a:buNone/>
            </a:pPr>
            <a:r>
              <a:rPr lang="en-US" altLang="zh-CN" sz="900">
                <a:latin typeface="Huawei Sans"/>
                <a:ea typeface="方正兰亭黑简体"/>
                <a:cs typeface="方正兰亭黑简体"/>
              </a:rPr>
              <a:t>Itanium</a:t>
            </a:r>
            <a:endParaRPr lang="zh-CN" altLang="en-US" sz="900">
              <a:latin typeface="Huawei Sans"/>
              <a:ea typeface="方正兰亭黑简体"/>
              <a:cs typeface="方正兰亭黑简体"/>
            </a:endParaRPr>
          </a:p>
        </p:txBody>
      </p:sp>
      <p:sp>
        <p:nvSpPr>
          <p:cNvPr id="72718" name="椭圆 8">
            <a:extLst>
              <a:ext uri="{FF2B5EF4-FFF2-40B4-BE49-F238E27FC236}">
                <a16:creationId xmlns:a16="http://schemas.microsoft.com/office/drawing/2014/main" id="{3D89454F-CB49-1927-D62D-2454B56B1A8F}"/>
              </a:ext>
            </a:extLst>
          </p:cNvPr>
          <p:cNvSpPr>
            <a:spLocks noChangeArrowheads="1"/>
          </p:cNvSpPr>
          <p:nvPr/>
        </p:nvSpPr>
        <p:spPr bwMode="auto">
          <a:xfrm>
            <a:off x="2770188" y="3765550"/>
            <a:ext cx="809625" cy="304800"/>
          </a:xfrm>
          <a:prstGeom prst="ellipse">
            <a:avLst/>
          </a:prstGeom>
          <a:solidFill>
            <a:schemeClr val="accent2"/>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78" tIns="34289" rIns="68578" bIns="34289" anchor="ctr"/>
          <a:lstStyle>
            <a:lvl1pPr defTabSz="684213">
              <a:spcBef>
                <a:spcPct val="20000"/>
              </a:spcBef>
              <a:buChar char="•"/>
              <a:defRPr sz="2800">
                <a:solidFill>
                  <a:schemeClr val="tx1"/>
                </a:solidFill>
                <a:latin typeface="Comic Sans MS" panose="030F0902030302020204" pitchFamily="66" charset="0"/>
              </a:defRPr>
            </a:lvl1pPr>
            <a:lvl2pPr marL="742950" indent="-285750" defTabSz="684213">
              <a:spcBef>
                <a:spcPct val="20000"/>
              </a:spcBef>
              <a:buChar char="–"/>
              <a:defRPr sz="2400">
                <a:solidFill>
                  <a:schemeClr val="tx1"/>
                </a:solidFill>
                <a:latin typeface="Comic Sans MS" panose="030F0902030302020204" pitchFamily="66" charset="0"/>
              </a:defRPr>
            </a:lvl2pPr>
            <a:lvl3pPr marL="1143000" indent="-228600" defTabSz="684213">
              <a:spcBef>
                <a:spcPct val="20000"/>
              </a:spcBef>
              <a:buChar char="•"/>
              <a:defRPr sz="2000">
                <a:solidFill>
                  <a:schemeClr val="tx1"/>
                </a:solidFill>
                <a:latin typeface="Comic Sans MS" panose="030F0902030302020204" pitchFamily="66" charset="0"/>
              </a:defRPr>
            </a:lvl3pPr>
            <a:lvl4pPr marL="1600200" indent="-228600" defTabSz="684213">
              <a:spcBef>
                <a:spcPct val="20000"/>
              </a:spcBef>
              <a:buChar char="–"/>
              <a:defRPr sz="2000">
                <a:solidFill>
                  <a:schemeClr val="tx1"/>
                </a:solidFill>
                <a:latin typeface="Comic Sans MS" panose="030F0902030302020204" pitchFamily="66" charset="0"/>
              </a:defRPr>
            </a:lvl4pPr>
            <a:lvl5pPr marL="2057400" indent="-228600" defTabSz="684213">
              <a:spcBef>
                <a:spcPct val="20000"/>
              </a:spcBef>
              <a:buChar char="»"/>
              <a:defRPr sz="2000">
                <a:solidFill>
                  <a:schemeClr val="tx1"/>
                </a:solidFill>
                <a:latin typeface="Comic Sans MS" panose="030F0902030302020204" pitchFamily="66" charset="0"/>
              </a:defRPr>
            </a:lvl5pPr>
            <a:lvl6pPr marL="25146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Clr>
                <a:srgbClr val="CC9900"/>
              </a:buClr>
              <a:buFontTx/>
              <a:buNone/>
            </a:pPr>
            <a:r>
              <a:rPr lang="en-US" altLang="zh-CN" sz="900">
                <a:latin typeface="Huawei Sans"/>
                <a:ea typeface="方正兰亭黑简体"/>
                <a:cs typeface="方正兰亭黑简体"/>
              </a:rPr>
              <a:t>Moto 68K</a:t>
            </a:r>
            <a:endParaRPr lang="zh-CN" altLang="en-US" sz="900">
              <a:latin typeface="Huawei Sans"/>
              <a:ea typeface="方正兰亭黑简体"/>
              <a:cs typeface="方正兰亭黑简体"/>
            </a:endParaRPr>
          </a:p>
        </p:txBody>
      </p:sp>
      <p:sp>
        <p:nvSpPr>
          <p:cNvPr id="72719" name="椭圆 9">
            <a:extLst>
              <a:ext uri="{FF2B5EF4-FFF2-40B4-BE49-F238E27FC236}">
                <a16:creationId xmlns:a16="http://schemas.microsoft.com/office/drawing/2014/main" id="{F1AAB324-1E59-549D-256C-F2674384B5DE}"/>
              </a:ext>
            </a:extLst>
          </p:cNvPr>
          <p:cNvSpPr>
            <a:spLocks noChangeArrowheads="1"/>
          </p:cNvSpPr>
          <p:nvPr/>
        </p:nvSpPr>
        <p:spPr bwMode="auto">
          <a:xfrm>
            <a:off x="1720850" y="3043238"/>
            <a:ext cx="973138" cy="973137"/>
          </a:xfrm>
          <a:prstGeom prst="ellipse">
            <a:avLst/>
          </a:prstGeom>
          <a:solidFill>
            <a:schemeClr val="accent2"/>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78" tIns="34289" rIns="68578" bIns="34289" anchor="ctr"/>
          <a:lstStyle>
            <a:lvl1pPr defTabSz="684213">
              <a:spcBef>
                <a:spcPct val="20000"/>
              </a:spcBef>
              <a:buChar char="•"/>
              <a:defRPr sz="2800">
                <a:solidFill>
                  <a:schemeClr val="tx1"/>
                </a:solidFill>
                <a:latin typeface="Comic Sans MS" panose="030F0902030302020204" pitchFamily="66" charset="0"/>
              </a:defRPr>
            </a:lvl1pPr>
            <a:lvl2pPr marL="742950" indent="-285750" defTabSz="684213">
              <a:spcBef>
                <a:spcPct val="20000"/>
              </a:spcBef>
              <a:buChar char="–"/>
              <a:defRPr sz="2400">
                <a:solidFill>
                  <a:schemeClr val="tx1"/>
                </a:solidFill>
                <a:latin typeface="Comic Sans MS" panose="030F0902030302020204" pitchFamily="66" charset="0"/>
              </a:defRPr>
            </a:lvl2pPr>
            <a:lvl3pPr marL="1143000" indent="-228600" defTabSz="684213">
              <a:spcBef>
                <a:spcPct val="20000"/>
              </a:spcBef>
              <a:buChar char="•"/>
              <a:defRPr sz="2000">
                <a:solidFill>
                  <a:schemeClr val="tx1"/>
                </a:solidFill>
                <a:latin typeface="Comic Sans MS" panose="030F0902030302020204" pitchFamily="66" charset="0"/>
              </a:defRPr>
            </a:lvl3pPr>
            <a:lvl4pPr marL="1600200" indent="-228600" defTabSz="684213">
              <a:spcBef>
                <a:spcPct val="20000"/>
              </a:spcBef>
              <a:buChar char="–"/>
              <a:defRPr sz="2000">
                <a:solidFill>
                  <a:schemeClr val="tx1"/>
                </a:solidFill>
                <a:latin typeface="Comic Sans MS" panose="030F0902030302020204" pitchFamily="66" charset="0"/>
              </a:defRPr>
            </a:lvl4pPr>
            <a:lvl5pPr marL="2057400" indent="-228600" defTabSz="684213">
              <a:spcBef>
                <a:spcPct val="20000"/>
              </a:spcBef>
              <a:buChar char="»"/>
              <a:defRPr sz="2000">
                <a:solidFill>
                  <a:schemeClr val="tx1"/>
                </a:solidFill>
                <a:latin typeface="Comic Sans MS" panose="030F0902030302020204" pitchFamily="66" charset="0"/>
              </a:defRPr>
            </a:lvl5pPr>
            <a:lvl6pPr marL="25146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Clr>
                <a:srgbClr val="CC9900"/>
              </a:buClr>
              <a:buFontTx/>
              <a:buNone/>
            </a:pPr>
            <a:r>
              <a:rPr lang="en-US" altLang="zh-CN" sz="1200">
                <a:latin typeface="Huawei Sans"/>
                <a:ea typeface="方正兰亭黑简体"/>
                <a:cs typeface="方正兰亭黑简体"/>
              </a:rPr>
              <a:t>X86</a:t>
            </a:r>
            <a:endParaRPr lang="zh-CN" altLang="en-US" sz="1200">
              <a:latin typeface="Huawei Sans"/>
              <a:ea typeface="方正兰亭黑简体"/>
              <a:cs typeface="方正兰亭黑简体"/>
            </a:endParaRPr>
          </a:p>
        </p:txBody>
      </p:sp>
      <p:sp>
        <p:nvSpPr>
          <p:cNvPr id="72720" name="椭圆 10">
            <a:extLst>
              <a:ext uri="{FF2B5EF4-FFF2-40B4-BE49-F238E27FC236}">
                <a16:creationId xmlns:a16="http://schemas.microsoft.com/office/drawing/2014/main" id="{3BEC0594-E406-B636-2140-8A4463B2EB51}"/>
              </a:ext>
            </a:extLst>
          </p:cNvPr>
          <p:cNvSpPr>
            <a:spLocks noChangeArrowheads="1"/>
          </p:cNvSpPr>
          <p:nvPr/>
        </p:nvSpPr>
        <p:spPr bwMode="auto">
          <a:xfrm>
            <a:off x="2863850" y="3443288"/>
            <a:ext cx="622300" cy="242887"/>
          </a:xfrm>
          <a:prstGeom prst="ellipse">
            <a:avLst/>
          </a:prstGeom>
          <a:solidFill>
            <a:schemeClr val="accent2"/>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78" tIns="34289" rIns="68578" bIns="34289" anchor="ctr"/>
          <a:lstStyle>
            <a:lvl1pPr defTabSz="684213">
              <a:spcBef>
                <a:spcPct val="20000"/>
              </a:spcBef>
              <a:buChar char="•"/>
              <a:defRPr sz="2800">
                <a:solidFill>
                  <a:schemeClr val="tx1"/>
                </a:solidFill>
                <a:latin typeface="Comic Sans MS" panose="030F0902030302020204" pitchFamily="66" charset="0"/>
              </a:defRPr>
            </a:lvl1pPr>
            <a:lvl2pPr marL="742950" indent="-285750" defTabSz="684213">
              <a:spcBef>
                <a:spcPct val="20000"/>
              </a:spcBef>
              <a:buChar char="–"/>
              <a:defRPr sz="2400">
                <a:solidFill>
                  <a:schemeClr val="tx1"/>
                </a:solidFill>
                <a:latin typeface="Comic Sans MS" panose="030F0902030302020204" pitchFamily="66" charset="0"/>
              </a:defRPr>
            </a:lvl2pPr>
            <a:lvl3pPr marL="1143000" indent="-228600" defTabSz="684213">
              <a:spcBef>
                <a:spcPct val="20000"/>
              </a:spcBef>
              <a:buChar char="•"/>
              <a:defRPr sz="2000">
                <a:solidFill>
                  <a:schemeClr val="tx1"/>
                </a:solidFill>
                <a:latin typeface="Comic Sans MS" panose="030F0902030302020204" pitchFamily="66" charset="0"/>
              </a:defRPr>
            </a:lvl3pPr>
            <a:lvl4pPr marL="1600200" indent="-228600" defTabSz="684213">
              <a:spcBef>
                <a:spcPct val="20000"/>
              </a:spcBef>
              <a:buChar char="–"/>
              <a:defRPr sz="2000">
                <a:solidFill>
                  <a:schemeClr val="tx1"/>
                </a:solidFill>
                <a:latin typeface="Comic Sans MS" panose="030F0902030302020204" pitchFamily="66" charset="0"/>
              </a:defRPr>
            </a:lvl4pPr>
            <a:lvl5pPr marL="2057400" indent="-228600" defTabSz="684213">
              <a:spcBef>
                <a:spcPct val="20000"/>
              </a:spcBef>
              <a:buChar char="»"/>
              <a:defRPr sz="2000">
                <a:solidFill>
                  <a:schemeClr val="tx1"/>
                </a:solidFill>
                <a:latin typeface="Comic Sans MS" panose="030F0902030302020204" pitchFamily="66" charset="0"/>
              </a:defRPr>
            </a:lvl5pPr>
            <a:lvl6pPr marL="25146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Clr>
                <a:srgbClr val="CC9900"/>
              </a:buClr>
              <a:buFontTx/>
              <a:buNone/>
            </a:pPr>
            <a:r>
              <a:rPr lang="en-US" altLang="zh-CN" sz="900">
                <a:latin typeface="Huawei Sans"/>
                <a:ea typeface="方正兰亭黑简体"/>
                <a:cs typeface="方正兰亭黑简体"/>
              </a:rPr>
              <a:t>MIPS</a:t>
            </a:r>
            <a:endParaRPr lang="zh-CN" altLang="en-US" sz="900">
              <a:latin typeface="Huawei Sans"/>
              <a:ea typeface="方正兰亭黑简体"/>
              <a:cs typeface="方正兰亭黑简体"/>
            </a:endParaRPr>
          </a:p>
        </p:txBody>
      </p:sp>
      <p:sp>
        <p:nvSpPr>
          <p:cNvPr id="72721" name="椭圆 11">
            <a:extLst>
              <a:ext uri="{FF2B5EF4-FFF2-40B4-BE49-F238E27FC236}">
                <a16:creationId xmlns:a16="http://schemas.microsoft.com/office/drawing/2014/main" id="{74700054-69FB-3CD7-013D-EDA681700D70}"/>
              </a:ext>
            </a:extLst>
          </p:cNvPr>
          <p:cNvSpPr>
            <a:spLocks noChangeArrowheads="1"/>
          </p:cNvSpPr>
          <p:nvPr/>
        </p:nvSpPr>
        <p:spPr bwMode="auto">
          <a:xfrm>
            <a:off x="1893888" y="4078288"/>
            <a:ext cx="622300" cy="242887"/>
          </a:xfrm>
          <a:prstGeom prst="ellipse">
            <a:avLst/>
          </a:prstGeom>
          <a:solidFill>
            <a:schemeClr val="accent2"/>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78" tIns="34289" rIns="68578" bIns="34289" anchor="ctr"/>
          <a:lstStyle>
            <a:lvl1pPr defTabSz="684213">
              <a:spcBef>
                <a:spcPct val="20000"/>
              </a:spcBef>
              <a:buChar char="•"/>
              <a:defRPr sz="2800">
                <a:solidFill>
                  <a:schemeClr val="tx1"/>
                </a:solidFill>
                <a:latin typeface="Comic Sans MS" panose="030F0902030302020204" pitchFamily="66" charset="0"/>
              </a:defRPr>
            </a:lvl1pPr>
            <a:lvl2pPr marL="742950" indent="-285750" defTabSz="684213">
              <a:spcBef>
                <a:spcPct val="20000"/>
              </a:spcBef>
              <a:buChar char="–"/>
              <a:defRPr sz="2400">
                <a:solidFill>
                  <a:schemeClr val="tx1"/>
                </a:solidFill>
                <a:latin typeface="Comic Sans MS" panose="030F0902030302020204" pitchFamily="66" charset="0"/>
              </a:defRPr>
            </a:lvl2pPr>
            <a:lvl3pPr marL="1143000" indent="-228600" defTabSz="684213">
              <a:spcBef>
                <a:spcPct val="20000"/>
              </a:spcBef>
              <a:buChar char="•"/>
              <a:defRPr sz="2000">
                <a:solidFill>
                  <a:schemeClr val="tx1"/>
                </a:solidFill>
                <a:latin typeface="Comic Sans MS" panose="030F0902030302020204" pitchFamily="66" charset="0"/>
              </a:defRPr>
            </a:lvl3pPr>
            <a:lvl4pPr marL="1600200" indent="-228600" defTabSz="684213">
              <a:spcBef>
                <a:spcPct val="20000"/>
              </a:spcBef>
              <a:buChar char="–"/>
              <a:defRPr sz="2000">
                <a:solidFill>
                  <a:schemeClr val="tx1"/>
                </a:solidFill>
                <a:latin typeface="Comic Sans MS" panose="030F0902030302020204" pitchFamily="66" charset="0"/>
              </a:defRPr>
            </a:lvl4pPr>
            <a:lvl5pPr marL="2057400" indent="-228600" defTabSz="684213">
              <a:spcBef>
                <a:spcPct val="20000"/>
              </a:spcBef>
              <a:buChar char="»"/>
              <a:defRPr sz="2000">
                <a:solidFill>
                  <a:schemeClr val="tx1"/>
                </a:solidFill>
                <a:latin typeface="Comic Sans MS" panose="030F0902030302020204" pitchFamily="66" charset="0"/>
              </a:defRPr>
            </a:lvl5pPr>
            <a:lvl6pPr marL="25146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Clr>
                <a:srgbClr val="CC9900"/>
              </a:buClr>
              <a:buFontTx/>
              <a:buNone/>
            </a:pPr>
            <a:r>
              <a:rPr lang="en-US" altLang="zh-CN" sz="900">
                <a:latin typeface="Huawei Sans"/>
                <a:ea typeface="方正兰亭黑简体"/>
                <a:cs typeface="方正兰亭黑简体"/>
              </a:rPr>
              <a:t>PPC</a:t>
            </a:r>
            <a:endParaRPr lang="zh-CN" altLang="en-US" sz="900">
              <a:latin typeface="Huawei Sans"/>
              <a:ea typeface="方正兰亭黑简体"/>
              <a:cs typeface="方正兰亭黑简体"/>
            </a:endParaRPr>
          </a:p>
        </p:txBody>
      </p:sp>
      <p:sp>
        <p:nvSpPr>
          <p:cNvPr id="72722" name="椭圆 12">
            <a:extLst>
              <a:ext uri="{FF2B5EF4-FFF2-40B4-BE49-F238E27FC236}">
                <a16:creationId xmlns:a16="http://schemas.microsoft.com/office/drawing/2014/main" id="{C9FEE4E3-1D63-494B-AB04-E329E7EFC0CD}"/>
              </a:ext>
            </a:extLst>
          </p:cNvPr>
          <p:cNvSpPr>
            <a:spLocks noChangeArrowheads="1"/>
          </p:cNvSpPr>
          <p:nvPr/>
        </p:nvSpPr>
        <p:spPr bwMode="auto">
          <a:xfrm>
            <a:off x="1909763" y="4386263"/>
            <a:ext cx="593725" cy="593725"/>
          </a:xfrm>
          <a:prstGeom prst="ellipse">
            <a:avLst/>
          </a:prstGeom>
          <a:solidFill>
            <a:schemeClr val="accent2"/>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78" tIns="34289" rIns="68578" bIns="34289" anchor="ctr"/>
          <a:lstStyle>
            <a:lvl1pPr defTabSz="684213">
              <a:spcBef>
                <a:spcPct val="20000"/>
              </a:spcBef>
              <a:buChar char="•"/>
              <a:defRPr sz="2800">
                <a:solidFill>
                  <a:schemeClr val="tx1"/>
                </a:solidFill>
                <a:latin typeface="Comic Sans MS" panose="030F0902030302020204" pitchFamily="66" charset="0"/>
              </a:defRPr>
            </a:lvl1pPr>
            <a:lvl2pPr marL="742950" indent="-285750" defTabSz="684213">
              <a:spcBef>
                <a:spcPct val="20000"/>
              </a:spcBef>
              <a:buChar char="–"/>
              <a:defRPr sz="2400">
                <a:solidFill>
                  <a:schemeClr val="tx1"/>
                </a:solidFill>
                <a:latin typeface="Comic Sans MS" panose="030F0902030302020204" pitchFamily="66" charset="0"/>
              </a:defRPr>
            </a:lvl2pPr>
            <a:lvl3pPr marL="1143000" indent="-228600" defTabSz="684213">
              <a:spcBef>
                <a:spcPct val="20000"/>
              </a:spcBef>
              <a:buChar char="•"/>
              <a:defRPr sz="2000">
                <a:solidFill>
                  <a:schemeClr val="tx1"/>
                </a:solidFill>
                <a:latin typeface="Comic Sans MS" panose="030F0902030302020204" pitchFamily="66" charset="0"/>
              </a:defRPr>
            </a:lvl3pPr>
            <a:lvl4pPr marL="1600200" indent="-228600" defTabSz="684213">
              <a:spcBef>
                <a:spcPct val="20000"/>
              </a:spcBef>
              <a:buChar char="–"/>
              <a:defRPr sz="2000">
                <a:solidFill>
                  <a:schemeClr val="tx1"/>
                </a:solidFill>
                <a:latin typeface="Comic Sans MS" panose="030F0902030302020204" pitchFamily="66" charset="0"/>
              </a:defRPr>
            </a:lvl4pPr>
            <a:lvl5pPr marL="2057400" indent="-228600" defTabSz="684213">
              <a:spcBef>
                <a:spcPct val="20000"/>
              </a:spcBef>
              <a:buChar char="»"/>
              <a:defRPr sz="2000">
                <a:solidFill>
                  <a:schemeClr val="tx1"/>
                </a:solidFill>
                <a:latin typeface="Comic Sans MS" panose="030F0902030302020204" pitchFamily="66" charset="0"/>
              </a:defRPr>
            </a:lvl5pPr>
            <a:lvl6pPr marL="25146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Clr>
                <a:srgbClr val="CC9900"/>
              </a:buClr>
              <a:buFontTx/>
              <a:buNone/>
            </a:pPr>
            <a:r>
              <a:rPr lang="en-US" altLang="zh-CN" sz="900">
                <a:latin typeface="Huawei Sans"/>
                <a:ea typeface="方正兰亭黑简体"/>
                <a:cs typeface="方正兰亭黑简体"/>
              </a:rPr>
              <a:t>ARM</a:t>
            </a:r>
            <a:endParaRPr lang="zh-CN" altLang="en-US" sz="900">
              <a:latin typeface="Huawei Sans"/>
              <a:ea typeface="方正兰亭黑简体"/>
              <a:cs typeface="方正兰亭黑简体"/>
            </a:endParaRPr>
          </a:p>
        </p:txBody>
      </p:sp>
      <p:sp>
        <p:nvSpPr>
          <p:cNvPr id="72723" name="椭圆 15">
            <a:extLst>
              <a:ext uri="{FF2B5EF4-FFF2-40B4-BE49-F238E27FC236}">
                <a16:creationId xmlns:a16="http://schemas.microsoft.com/office/drawing/2014/main" id="{FECFAB14-5704-9E45-8AD7-5A0F2D999D83}"/>
              </a:ext>
            </a:extLst>
          </p:cNvPr>
          <p:cNvSpPr>
            <a:spLocks noChangeArrowheads="1"/>
          </p:cNvSpPr>
          <p:nvPr/>
        </p:nvSpPr>
        <p:spPr bwMode="auto">
          <a:xfrm>
            <a:off x="1806575" y="2019300"/>
            <a:ext cx="747713" cy="242888"/>
          </a:xfrm>
          <a:prstGeom prst="ellipse">
            <a:avLst/>
          </a:prstGeom>
          <a:solidFill>
            <a:schemeClr val="accent2"/>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78" tIns="34289" rIns="68578" bIns="34289" anchor="ctr"/>
          <a:lstStyle>
            <a:lvl1pPr defTabSz="684213">
              <a:spcBef>
                <a:spcPct val="20000"/>
              </a:spcBef>
              <a:buChar char="•"/>
              <a:defRPr sz="2800">
                <a:solidFill>
                  <a:schemeClr val="tx1"/>
                </a:solidFill>
                <a:latin typeface="Comic Sans MS" panose="030F0902030302020204" pitchFamily="66" charset="0"/>
              </a:defRPr>
            </a:lvl1pPr>
            <a:lvl2pPr marL="742950" indent="-285750" defTabSz="684213">
              <a:spcBef>
                <a:spcPct val="20000"/>
              </a:spcBef>
              <a:buChar char="–"/>
              <a:defRPr sz="2400">
                <a:solidFill>
                  <a:schemeClr val="tx1"/>
                </a:solidFill>
                <a:latin typeface="Comic Sans MS" panose="030F0902030302020204" pitchFamily="66" charset="0"/>
              </a:defRPr>
            </a:lvl2pPr>
            <a:lvl3pPr marL="1143000" indent="-228600" defTabSz="684213">
              <a:spcBef>
                <a:spcPct val="20000"/>
              </a:spcBef>
              <a:buChar char="•"/>
              <a:defRPr sz="2000">
                <a:solidFill>
                  <a:schemeClr val="tx1"/>
                </a:solidFill>
                <a:latin typeface="Comic Sans MS" panose="030F0902030302020204" pitchFamily="66" charset="0"/>
              </a:defRPr>
            </a:lvl3pPr>
            <a:lvl4pPr marL="1600200" indent="-228600" defTabSz="684213">
              <a:spcBef>
                <a:spcPct val="20000"/>
              </a:spcBef>
              <a:buChar char="–"/>
              <a:defRPr sz="2000">
                <a:solidFill>
                  <a:schemeClr val="tx1"/>
                </a:solidFill>
                <a:latin typeface="Comic Sans MS" panose="030F0902030302020204" pitchFamily="66" charset="0"/>
              </a:defRPr>
            </a:lvl4pPr>
            <a:lvl5pPr marL="2057400" indent="-228600" defTabSz="684213">
              <a:spcBef>
                <a:spcPct val="20000"/>
              </a:spcBef>
              <a:buChar char="»"/>
              <a:defRPr sz="2000">
                <a:solidFill>
                  <a:schemeClr val="tx1"/>
                </a:solidFill>
                <a:latin typeface="Comic Sans MS" panose="030F0902030302020204" pitchFamily="66" charset="0"/>
              </a:defRPr>
            </a:lvl5pPr>
            <a:lvl6pPr marL="25146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Clr>
                <a:srgbClr val="CC9900"/>
              </a:buClr>
              <a:buFontTx/>
              <a:buNone/>
            </a:pPr>
            <a:r>
              <a:rPr lang="en-US" altLang="zh-CN" sz="900">
                <a:latin typeface="Huawei Sans"/>
                <a:ea typeface="方正兰亭黑简体"/>
                <a:cs typeface="方正兰亭黑简体"/>
              </a:rPr>
              <a:t>Z</a:t>
            </a:r>
            <a:endParaRPr lang="zh-CN" altLang="en-US" sz="900">
              <a:latin typeface="Huawei Sans"/>
              <a:ea typeface="方正兰亭黑简体"/>
              <a:cs typeface="方正兰亭黑简体"/>
            </a:endParaRPr>
          </a:p>
        </p:txBody>
      </p:sp>
      <p:sp>
        <p:nvSpPr>
          <p:cNvPr id="72724" name="椭圆 27">
            <a:extLst>
              <a:ext uri="{FF2B5EF4-FFF2-40B4-BE49-F238E27FC236}">
                <a16:creationId xmlns:a16="http://schemas.microsoft.com/office/drawing/2014/main" id="{D4965976-C8B3-A3F4-DFE8-887376E8DD9D}"/>
              </a:ext>
            </a:extLst>
          </p:cNvPr>
          <p:cNvSpPr>
            <a:spLocks noChangeArrowheads="1"/>
          </p:cNvSpPr>
          <p:nvPr/>
        </p:nvSpPr>
        <p:spPr bwMode="auto">
          <a:xfrm>
            <a:off x="2862263" y="4532313"/>
            <a:ext cx="622300" cy="242887"/>
          </a:xfrm>
          <a:prstGeom prst="ellipse">
            <a:avLst/>
          </a:prstGeom>
          <a:solidFill>
            <a:schemeClr val="accent2"/>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78" tIns="34289" rIns="68578" bIns="34289" anchor="ctr"/>
          <a:lstStyle>
            <a:lvl1pPr defTabSz="684213">
              <a:spcBef>
                <a:spcPct val="20000"/>
              </a:spcBef>
              <a:buChar char="•"/>
              <a:defRPr sz="2800">
                <a:solidFill>
                  <a:schemeClr val="tx1"/>
                </a:solidFill>
                <a:latin typeface="Comic Sans MS" panose="030F0902030302020204" pitchFamily="66" charset="0"/>
              </a:defRPr>
            </a:lvl1pPr>
            <a:lvl2pPr marL="742950" indent="-285750" defTabSz="684213">
              <a:spcBef>
                <a:spcPct val="20000"/>
              </a:spcBef>
              <a:buChar char="–"/>
              <a:defRPr sz="2400">
                <a:solidFill>
                  <a:schemeClr val="tx1"/>
                </a:solidFill>
                <a:latin typeface="Comic Sans MS" panose="030F0902030302020204" pitchFamily="66" charset="0"/>
              </a:defRPr>
            </a:lvl2pPr>
            <a:lvl3pPr marL="1143000" indent="-228600" defTabSz="684213">
              <a:spcBef>
                <a:spcPct val="20000"/>
              </a:spcBef>
              <a:buChar char="•"/>
              <a:defRPr sz="2000">
                <a:solidFill>
                  <a:schemeClr val="tx1"/>
                </a:solidFill>
                <a:latin typeface="Comic Sans MS" panose="030F0902030302020204" pitchFamily="66" charset="0"/>
              </a:defRPr>
            </a:lvl3pPr>
            <a:lvl4pPr marL="1600200" indent="-228600" defTabSz="684213">
              <a:spcBef>
                <a:spcPct val="20000"/>
              </a:spcBef>
              <a:buChar char="–"/>
              <a:defRPr sz="2000">
                <a:solidFill>
                  <a:schemeClr val="tx1"/>
                </a:solidFill>
                <a:latin typeface="Comic Sans MS" panose="030F0902030302020204" pitchFamily="66" charset="0"/>
              </a:defRPr>
            </a:lvl4pPr>
            <a:lvl5pPr marL="2057400" indent="-228600" defTabSz="684213">
              <a:spcBef>
                <a:spcPct val="20000"/>
              </a:spcBef>
              <a:buChar char="»"/>
              <a:defRPr sz="2000">
                <a:solidFill>
                  <a:schemeClr val="tx1"/>
                </a:solidFill>
                <a:latin typeface="Comic Sans MS" panose="030F0902030302020204" pitchFamily="66" charset="0"/>
              </a:defRPr>
            </a:lvl5pPr>
            <a:lvl6pPr marL="25146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Clr>
                <a:srgbClr val="CC9900"/>
              </a:buClr>
              <a:buFontTx/>
              <a:buNone/>
            </a:pPr>
            <a:r>
              <a:rPr lang="en-US" altLang="zh-CN" sz="900">
                <a:latin typeface="Huawei Sans"/>
                <a:ea typeface="方正兰亭黑简体"/>
                <a:cs typeface="方正兰亭黑简体"/>
              </a:rPr>
              <a:t>DSP</a:t>
            </a:r>
            <a:endParaRPr lang="zh-CN" altLang="en-US" sz="900">
              <a:latin typeface="Huawei Sans"/>
              <a:ea typeface="方正兰亭黑简体"/>
              <a:cs typeface="方正兰亭黑简体"/>
            </a:endParaRPr>
          </a:p>
        </p:txBody>
      </p:sp>
      <p:sp>
        <p:nvSpPr>
          <p:cNvPr id="72725" name="椭圆 28">
            <a:extLst>
              <a:ext uri="{FF2B5EF4-FFF2-40B4-BE49-F238E27FC236}">
                <a16:creationId xmlns:a16="http://schemas.microsoft.com/office/drawing/2014/main" id="{21FBB125-D11E-1781-037D-89E32CEA3286}"/>
              </a:ext>
            </a:extLst>
          </p:cNvPr>
          <p:cNvSpPr>
            <a:spLocks noChangeArrowheads="1"/>
          </p:cNvSpPr>
          <p:nvPr/>
        </p:nvSpPr>
        <p:spPr bwMode="auto">
          <a:xfrm>
            <a:off x="2865438" y="4211638"/>
            <a:ext cx="622300" cy="242887"/>
          </a:xfrm>
          <a:prstGeom prst="ellipse">
            <a:avLst/>
          </a:prstGeom>
          <a:solidFill>
            <a:schemeClr val="accent2"/>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78" tIns="34289" rIns="68578" bIns="34289" anchor="ctr"/>
          <a:lstStyle>
            <a:lvl1pPr defTabSz="684213">
              <a:spcBef>
                <a:spcPct val="20000"/>
              </a:spcBef>
              <a:buChar char="•"/>
              <a:defRPr sz="2800">
                <a:solidFill>
                  <a:schemeClr val="tx1"/>
                </a:solidFill>
                <a:latin typeface="Comic Sans MS" panose="030F0902030302020204" pitchFamily="66" charset="0"/>
              </a:defRPr>
            </a:lvl1pPr>
            <a:lvl2pPr marL="742950" indent="-285750" defTabSz="684213">
              <a:spcBef>
                <a:spcPct val="20000"/>
              </a:spcBef>
              <a:buChar char="–"/>
              <a:defRPr sz="2400">
                <a:solidFill>
                  <a:schemeClr val="tx1"/>
                </a:solidFill>
                <a:latin typeface="Comic Sans MS" panose="030F0902030302020204" pitchFamily="66" charset="0"/>
              </a:defRPr>
            </a:lvl2pPr>
            <a:lvl3pPr marL="1143000" indent="-228600" defTabSz="684213">
              <a:spcBef>
                <a:spcPct val="20000"/>
              </a:spcBef>
              <a:buChar char="•"/>
              <a:defRPr sz="2000">
                <a:solidFill>
                  <a:schemeClr val="tx1"/>
                </a:solidFill>
                <a:latin typeface="Comic Sans MS" panose="030F0902030302020204" pitchFamily="66" charset="0"/>
              </a:defRPr>
            </a:lvl3pPr>
            <a:lvl4pPr marL="1600200" indent="-228600" defTabSz="684213">
              <a:spcBef>
                <a:spcPct val="20000"/>
              </a:spcBef>
              <a:buChar char="–"/>
              <a:defRPr sz="2000">
                <a:solidFill>
                  <a:schemeClr val="tx1"/>
                </a:solidFill>
                <a:latin typeface="Comic Sans MS" panose="030F0902030302020204" pitchFamily="66" charset="0"/>
              </a:defRPr>
            </a:lvl4pPr>
            <a:lvl5pPr marL="2057400" indent="-228600" defTabSz="684213">
              <a:spcBef>
                <a:spcPct val="20000"/>
              </a:spcBef>
              <a:buChar char="»"/>
              <a:defRPr sz="2000">
                <a:solidFill>
                  <a:schemeClr val="tx1"/>
                </a:solidFill>
                <a:latin typeface="Comic Sans MS" panose="030F0902030302020204" pitchFamily="66" charset="0"/>
              </a:defRPr>
            </a:lvl5pPr>
            <a:lvl6pPr marL="25146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4213"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Clr>
                <a:srgbClr val="CC9900"/>
              </a:buClr>
              <a:buFontTx/>
              <a:buNone/>
            </a:pPr>
            <a:r>
              <a:rPr lang="en-US" altLang="zh-CN" sz="900">
                <a:latin typeface="Huawei Sans"/>
                <a:ea typeface="方正兰亭黑简体"/>
                <a:cs typeface="方正兰亭黑简体"/>
              </a:rPr>
              <a:t>NP</a:t>
            </a:r>
            <a:endParaRPr lang="zh-CN" altLang="en-US" sz="900">
              <a:latin typeface="Huawei Sans"/>
              <a:ea typeface="方正兰亭黑简体"/>
              <a:cs typeface="方正兰亭黑简体"/>
            </a:endParaRPr>
          </a:p>
        </p:txBody>
      </p:sp>
      <p:cxnSp>
        <p:nvCxnSpPr>
          <p:cNvPr id="72726" name="直接连接符 31">
            <a:extLst>
              <a:ext uri="{FF2B5EF4-FFF2-40B4-BE49-F238E27FC236}">
                <a16:creationId xmlns:a16="http://schemas.microsoft.com/office/drawing/2014/main" id="{E3AB3EEC-5260-2A1A-01D5-14E5FF4008AC}"/>
              </a:ext>
            </a:extLst>
          </p:cNvPr>
          <p:cNvCxnSpPr>
            <a:cxnSpLocks noChangeShapeType="1"/>
          </p:cNvCxnSpPr>
          <p:nvPr/>
        </p:nvCxnSpPr>
        <p:spPr bwMode="auto">
          <a:xfrm>
            <a:off x="1165225" y="4132263"/>
            <a:ext cx="6804025"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727" name="直接连接符 32">
            <a:extLst>
              <a:ext uri="{FF2B5EF4-FFF2-40B4-BE49-F238E27FC236}">
                <a16:creationId xmlns:a16="http://schemas.microsoft.com/office/drawing/2014/main" id="{A81ECE3A-4281-BD45-76C8-496B9C2C1B0A}"/>
              </a:ext>
            </a:extLst>
          </p:cNvPr>
          <p:cNvCxnSpPr>
            <a:cxnSpLocks noChangeShapeType="1"/>
          </p:cNvCxnSpPr>
          <p:nvPr/>
        </p:nvCxnSpPr>
        <p:spPr bwMode="auto">
          <a:xfrm flipV="1">
            <a:off x="1166813" y="3130550"/>
            <a:ext cx="6802437" cy="2857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矩形标注 38">
            <a:extLst>
              <a:ext uri="{FF2B5EF4-FFF2-40B4-BE49-F238E27FC236}">
                <a16:creationId xmlns:a16="http://schemas.microsoft.com/office/drawing/2014/main" id="{586BE5B0-35A8-6AD0-D14E-884B19F6747B}"/>
              </a:ext>
            </a:extLst>
          </p:cNvPr>
          <p:cNvSpPr/>
          <p:nvPr/>
        </p:nvSpPr>
        <p:spPr bwMode="auto">
          <a:xfrm>
            <a:off x="4219575" y="4749800"/>
            <a:ext cx="1468438" cy="193675"/>
          </a:xfrm>
          <a:prstGeom prst="wedgeRectCallout">
            <a:avLst>
              <a:gd name="adj1" fmla="val -39549"/>
              <a:gd name="adj2" fmla="val -93294"/>
            </a:avLst>
          </a:prstGeom>
          <a:noFill/>
          <a:ln>
            <a:solidFill>
              <a:schemeClr val="tx1"/>
            </a:solidFill>
          </a:ln>
          <a:effectLst/>
        </p:spPr>
        <p:txBody>
          <a:bodyPr lIns="68578" tIns="34289" rIns="68578" bIns="34289"/>
          <a:lstStyle/>
          <a:p>
            <a:pPr algn="ctr" defTabSz="685732">
              <a:buClr>
                <a:srgbClr val="CC9900"/>
              </a:buClr>
              <a:defRPr/>
            </a:pPr>
            <a:r>
              <a:rPr lang="zh-CN" altLang="en-US" sz="1050" dirty="0">
                <a:latin typeface="Huawei Sans" panose="020C0503030203020204" pitchFamily="34" charset="0"/>
                <a:ea typeface="方正兰亭黑简体" panose="02000000000000000000" pitchFamily="2" charset="-122"/>
              </a:rPr>
              <a:t>完全开放，生态良好</a:t>
            </a:r>
          </a:p>
        </p:txBody>
      </p:sp>
      <p:sp>
        <p:nvSpPr>
          <p:cNvPr id="41" name="TextBox 40">
            <a:extLst>
              <a:ext uri="{FF2B5EF4-FFF2-40B4-BE49-F238E27FC236}">
                <a16:creationId xmlns:a16="http://schemas.microsoft.com/office/drawing/2014/main" id="{E2D17A2B-B605-62A3-33E8-6A4E4CEC8A64}"/>
              </a:ext>
            </a:extLst>
          </p:cNvPr>
          <p:cNvSpPr txBox="1"/>
          <p:nvPr/>
        </p:nvSpPr>
        <p:spPr>
          <a:xfrm>
            <a:off x="7280275" y="2311400"/>
            <a:ext cx="530225" cy="300038"/>
          </a:xfrm>
          <a:prstGeom prst="rect">
            <a:avLst/>
          </a:prstGeom>
          <a:noFill/>
        </p:spPr>
        <p:txBody>
          <a:bodyPr wrap="none">
            <a:spAutoFit/>
          </a:bodyPr>
          <a:lstStyle/>
          <a:p>
            <a:pPr>
              <a:defRPr/>
            </a:pPr>
            <a:r>
              <a:rPr lang="zh-CN" altLang="en-US" sz="1350" dirty="0">
                <a:solidFill>
                  <a:srgbClr val="C7000B"/>
                </a:solidFill>
                <a:latin typeface="Huawei Sans" panose="020C0503030203020204" pitchFamily="34" charset="0"/>
                <a:ea typeface="方正兰亭黑简体" panose="02000000000000000000" pitchFamily="2" charset="-122"/>
              </a:rPr>
              <a:t>众核</a:t>
            </a:r>
          </a:p>
        </p:txBody>
      </p:sp>
      <p:sp>
        <p:nvSpPr>
          <p:cNvPr id="42" name="TextBox 41">
            <a:extLst>
              <a:ext uri="{FF2B5EF4-FFF2-40B4-BE49-F238E27FC236}">
                <a16:creationId xmlns:a16="http://schemas.microsoft.com/office/drawing/2014/main" id="{EFD167EE-78CD-41AE-7A22-52E95F77F193}"/>
              </a:ext>
            </a:extLst>
          </p:cNvPr>
          <p:cNvSpPr txBox="1"/>
          <p:nvPr/>
        </p:nvSpPr>
        <p:spPr>
          <a:xfrm>
            <a:off x="7280275" y="3324225"/>
            <a:ext cx="530225" cy="300038"/>
          </a:xfrm>
          <a:prstGeom prst="rect">
            <a:avLst/>
          </a:prstGeom>
          <a:noFill/>
        </p:spPr>
        <p:txBody>
          <a:bodyPr wrap="none">
            <a:spAutoFit/>
          </a:bodyPr>
          <a:lstStyle/>
          <a:p>
            <a:pPr>
              <a:defRPr/>
            </a:pPr>
            <a:r>
              <a:rPr lang="zh-CN" altLang="en-US" sz="1350" dirty="0">
                <a:solidFill>
                  <a:srgbClr val="C7000B"/>
                </a:solidFill>
                <a:latin typeface="Huawei Sans" panose="020C0503030203020204" pitchFamily="34" charset="0"/>
                <a:ea typeface="方正兰亭黑简体" panose="02000000000000000000" pitchFamily="2" charset="-122"/>
              </a:rPr>
              <a:t>异构</a:t>
            </a:r>
          </a:p>
        </p:txBody>
      </p:sp>
      <p:sp>
        <p:nvSpPr>
          <p:cNvPr id="43" name="TextBox 42">
            <a:extLst>
              <a:ext uri="{FF2B5EF4-FFF2-40B4-BE49-F238E27FC236}">
                <a16:creationId xmlns:a16="http://schemas.microsoft.com/office/drawing/2014/main" id="{2FF2100F-9428-C93C-0421-C1BE0402AA2D}"/>
              </a:ext>
            </a:extLst>
          </p:cNvPr>
          <p:cNvSpPr txBox="1"/>
          <p:nvPr/>
        </p:nvSpPr>
        <p:spPr>
          <a:xfrm>
            <a:off x="7280275" y="4167188"/>
            <a:ext cx="530225" cy="300037"/>
          </a:xfrm>
          <a:prstGeom prst="rect">
            <a:avLst/>
          </a:prstGeom>
          <a:noFill/>
        </p:spPr>
        <p:txBody>
          <a:bodyPr wrap="none">
            <a:spAutoFit/>
          </a:bodyPr>
          <a:lstStyle/>
          <a:p>
            <a:pPr>
              <a:defRPr/>
            </a:pPr>
            <a:r>
              <a:rPr lang="zh-CN" altLang="en-US" sz="1350" dirty="0">
                <a:solidFill>
                  <a:srgbClr val="C7000B"/>
                </a:solidFill>
                <a:latin typeface="Huawei Sans" panose="020C0503030203020204" pitchFamily="34" charset="0"/>
                <a:ea typeface="方正兰亭黑简体" panose="02000000000000000000" pitchFamily="2" charset="-122"/>
              </a:rPr>
              <a:t>融合</a:t>
            </a:r>
          </a:p>
        </p:txBody>
      </p:sp>
      <p:sp>
        <p:nvSpPr>
          <p:cNvPr id="44" name="矩形标注 43">
            <a:extLst>
              <a:ext uri="{FF2B5EF4-FFF2-40B4-BE49-F238E27FC236}">
                <a16:creationId xmlns:a16="http://schemas.microsoft.com/office/drawing/2014/main" id="{57C76A28-1E6D-0F4F-B19A-DD3ED5DCDC31}"/>
              </a:ext>
            </a:extLst>
          </p:cNvPr>
          <p:cNvSpPr/>
          <p:nvPr/>
        </p:nvSpPr>
        <p:spPr bwMode="auto">
          <a:xfrm>
            <a:off x="4984750" y="4445000"/>
            <a:ext cx="1490663" cy="198438"/>
          </a:xfrm>
          <a:prstGeom prst="wedgeRectCallout">
            <a:avLst>
              <a:gd name="adj1" fmla="val -39116"/>
              <a:gd name="adj2" fmla="val -84474"/>
            </a:avLst>
          </a:prstGeom>
          <a:noFill/>
          <a:ln>
            <a:solidFill>
              <a:schemeClr val="tx1"/>
            </a:solidFill>
          </a:ln>
          <a:effectLst/>
        </p:spPr>
        <p:txBody>
          <a:bodyPr lIns="68578" tIns="34289" rIns="68578" bIns="34289"/>
          <a:lstStyle/>
          <a:p>
            <a:pPr algn="ctr" defTabSz="685732">
              <a:buClr>
                <a:srgbClr val="CC9900"/>
              </a:buClr>
              <a:defRPr/>
            </a:pPr>
            <a:r>
              <a:rPr lang="zh-CN" altLang="en-US" sz="1050" dirty="0">
                <a:latin typeface="Huawei Sans" panose="020C0503030203020204" pitchFamily="34" charset="0"/>
                <a:ea typeface="方正兰亭黑简体" panose="02000000000000000000" pitchFamily="2" charset="-122"/>
              </a:rPr>
              <a:t>学习</a:t>
            </a:r>
            <a:r>
              <a:rPr lang="en-US" altLang="zh-CN" sz="1050" dirty="0">
                <a:latin typeface="Huawei Sans" panose="020C0503030203020204" pitchFamily="34" charset="0"/>
                <a:ea typeface="方正兰亭黑简体" panose="02000000000000000000" pitchFamily="2" charset="-122"/>
              </a:rPr>
              <a:t>ARM</a:t>
            </a:r>
            <a:r>
              <a:rPr lang="zh-CN" altLang="en-US" sz="1050" dirty="0">
                <a:latin typeface="Huawei Sans" panose="020C0503030203020204" pitchFamily="34" charset="0"/>
                <a:ea typeface="方正兰亭黑简体" panose="02000000000000000000" pitchFamily="2" charset="-122"/>
              </a:rPr>
              <a:t>，谋求复生</a:t>
            </a:r>
          </a:p>
        </p:txBody>
      </p:sp>
      <p:sp>
        <p:nvSpPr>
          <p:cNvPr id="45" name="矩形标注 44">
            <a:extLst>
              <a:ext uri="{FF2B5EF4-FFF2-40B4-BE49-F238E27FC236}">
                <a16:creationId xmlns:a16="http://schemas.microsoft.com/office/drawing/2014/main" id="{B45A6E44-52D4-C13D-743E-A0A9CECD4C7F}"/>
              </a:ext>
            </a:extLst>
          </p:cNvPr>
          <p:cNvSpPr/>
          <p:nvPr/>
        </p:nvSpPr>
        <p:spPr bwMode="auto">
          <a:xfrm>
            <a:off x="4722813" y="2132013"/>
            <a:ext cx="461962" cy="238125"/>
          </a:xfrm>
          <a:prstGeom prst="wedgeRectCallout">
            <a:avLst>
              <a:gd name="adj1" fmla="val -58471"/>
              <a:gd name="adj2" fmla="val 107931"/>
            </a:avLst>
          </a:prstGeom>
          <a:noFill/>
          <a:ln>
            <a:solidFill>
              <a:schemeClr val="tx1"/>
            </a:solidFill>
          </a:ln>
          <a:effectLst/>
        </p:spPr>
        <p:txBody>
          <a:bodyPr lIns="68578" tIns="34289" rIns="68578" bIns="34289"/>
          <a:lstStyle/>
          <a:p>
            <a:pPr algn="ctr" defTabSz="685732">
              <a:buClr>
                <a:srgbClr val="CC9900"/>
              </a:buClr>
              <a:defRPr/>
            </a:pPr>
            <a:r>
              <a:rPr lang="zh-CN" altLang="en-US" sz="1050" dirty="0">
                <a:latin typeface="Huawei Sans" panose="020C0503030203020204" pitchFamily="34" charset="0"/>
                <a:ea typeface="方正兰亭黑简体" panose="02000000000000000000" pitchFamily="2" charset="-122"/>
              </a:rPr>
              <a:t>开放</a:t>
            </a:r>
          </a:p>
        </p:txBody>
      </p:sp>
      <p:sp>
        <p:nvSpPr>
          <p:cNvPr id="46" name="矩形标注 45">
            <a:extLst>
              <a:ext uri="{FF2B5EF4-FFF2-40B4-BE49-F238E27FC236}">
                <a16:creationId xmlns:a16="http://schemas.microsoft.com/office/drawing/2014/main" id="{583B48FE-F897-5300-C229-DFF1A7D7E855}"/>
              </a:ext>
            </a:extLst>
          </p:cNvPr>
          <p:cNvSpPr/>
          <p:nvPr/>
        </p:nvSpPr>
        <p:spPr bwMode="auto">
          <a:xfrm>
            <a:off x="5149850" y="3219450"/>
            <a:ext cx="755650" cy="209550"/>
          </a:xfrm>
          <a:prstGeom prst="wedgeRectCallout">
            <a:avLst>
              <a:gd name="adj1" fmla="val -63984"/>
              <a:gd name="adj2" fmla="val 117982"/>
            </a:avLst>
          </a:prstGeom>
          <a:noFill/>
          <a:ln>
            <a:solidFill>
              <a:schemeClr val="tx1"/>
            </a:solidFill>
          </a:ln>
          <a:effectLst/>
        </p:spPr>
        <p:txBody>
          <a:bodyPr lIns="68578" tIns="34289" rIns="68578" bIns="34289"/>
          <a:lstStyle/>
          <a:p>
            <a:pPr algn="ctr" defTabSz="685732">
              <a:buClr>
                <a:srgbClr val="CC9900"/>
              </a:buClr>
              <a:defRPr/>
            </a:pPr>
            <a:r>
              <a:rPr lang="zh-CN" altLang="en-US" sz="1050" dirty="0">
                <a:latin typeface="Huawei Sans" panose="020C0503030203020204" pitchFamily="34" charset="0"/>
                <a:ea typeface="方正兰亭黑简体" panose="02000000000000000000" pitchFamily="2" charset="-122"/>
              </a:rPr>
              <a:t>封闭架构</a:t>
            </a:r>
          </a:p>
        </p:txBody>
      </p:sp>
      <p:sp>
        <p:nvSpPr>
          <p:cNvPr id="72735" name="TextBox 48">
            <a:extLst>
              <a:ext uri="{FF2B5EF4-FFF2-40B4-BE49-F238E27FC236}">
                <a16:creationId xmlns:a16="http://schemas.microsoft.com/office/drawing/2014/main" id="{56AB5402-CA8D-C045-D026-3C78F9BC2F5B}"/>
              </a:ext>
            </a:extLst>
          </p:cNvPr>
          <p:cNvSpPr txBox="1">
            <a:spLocks noChangeArrowheads="1"/>
          </p:cNvSpPr>
          <p:nvPr/>
        </p:nvSpPr>
        <p:spPr bwMode="auto">
          <a:xfrm>
            <a:off x="6594475" y="2620963"/>
            <a:ext cx="1912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200">
                <a:latin typeface="Huawei Sans"/>
                <a:ea typeface="方正兰亭黑简体"/>
                <a:cs typeface="方正兰亭黑简体"/>
              </a:rPr>
              <a:t>内核数大量增加，处理器互联</a:t>
            </a:r>
          </a:p>
        </p:txBody>
      </p:sp>
      <p:sp>
        <p:nvSpPr>
          <p:cNvPr id="72736" name="TextBox 49">
            <a:extLst>
              <a:ext uri="{FF2B5EF4-FFF2-40B4-BE49-F238E27FC236}">
                <a16:creationId xmlns:a16="http://schemas.microsoft.com/office/drawing/2014/main" id="{F4B45E1C-24C0-CA33-1CD7-AD802828C520}"/>
              </a:ext>
            </a:extLst>
          </p:cNvPr>
          <p:cNvSpPr txBox="1">
            <a:spLocks noChangeArrowheads="1"/>
          </p:cNvSpPr>
          <p:nvPr/>
        </p:nvSpPr>
        <p:spPr bwMode="auto">
          <a:xfrm>
            <a:off x="6872288" y="3586163"/>
            <a:ext cx="122555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200">
                <a:latin typeface="Huawei Sans"/>
                <a:ea typeface="方正兰亭黑简体"/>
                <a:cs typeface="方正兰亭黑简体"/>
              </a:rPr>
              <a:t>CPU+GPU+FPGA</a:t>
            </a:r>
            <a:endParaRPr lang="zh-CN" altLang="en-US" sz="1200">
              <a:latin typeface="Huawei Sans"/>
              <a:ea typeface="方正兰亭黑简体"/>
              <a:cs typeface="方正兰亭黑简体"/>
            </a:endParaRPr>
          </a:p>
        </p:txBody>
      </p:sp>
      <p:sp>
        <p:nvSpPr>
          <p:cNvPr id="72737" name="TextBox 50">
            <a:extLst>
              <a:ext uri="{FF2B5EF4-FFF2-40B4-BE49-F238E27FC236}">
                <a16:creationId xmlns:a16="http://schemas.microsoft.com/office/drawing/2014/main" id="{6C4AF7EE-5AC4-5E14-2B89-AF29B11F5D99}"/>
              </a:ext>
            </a:extLst>
          </p:cNvPr>
          <p:cNvSpPr txBox="1">
            <a:spLocks noChangeArrowheads="1"/>
          </p:cNvSpPr>
          <p:nvPr/>
        </p:nvSpPr>
        <p:spPr bwMode="auto">
          <a:xfrm>
            <a:off x="6537325" y="4460875"/>
            <a:ext cx="19700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200">
                <a:latin typeface="Huawei Sans"/>
                <a:ea typeface="方正兰亭黑简体"/>
                <a:cs typeface="方正兰亭黑简体"/>
              </a:rPr>
              <a:t>内存体系重构，</a:t>
            </a:r>
            <a:r>
              <a:rPr lang="en-US" altLang="zh-CN" sz="1200">
                <a:latin typeface="Huawei Sans"/>
                <a:ea typeface="方正兰亭黑简体"/>
                <a:cs typeface="方正兰亭黑简体"/>
              </a:rPr>
              <a:t>CPU/</a:t>
            </a:r>
            <a:r>
              <a:rPr lang="zh-CN" altLang="en-US" sz="1200">
                <a:latin typeface="Huawei Sans"/>
                <a:ea typeface="方正兰亭黑简体"/>
                <a:cs typeface="方正兰亭黑简体"/>
              </a:rPr>
              <a:t>内存深度融合，内存更贴近计算</a:t>
            </a:r>
          </a:p>
        </p:txBody>
      </p:sp>
      <p:sp>
        <p:nvSpPr>
          <p:cNvPr id="72738" name="TextBox 51">
            <a:extLst>
              <a:ext uri="{FF2B5EF4-FFF2-40B4-BE49-F238E27FC236}">
                <a16:creationId xmlns:a16="http://schemas.microsoft.com/office/drawing/2014/main" id="{C2F81141-E83D-3ABD-3DA5-453BA925C849}"/>
              </a:ext>
            </a:extLst>
          </p:cNvPr>
          <p:cNvSpPr txBox="1">
            <a:spLocks noChangeArrowheads="1"/>
          </p:cNvSpPr>
          <p:nvPr/>
        </p:nvSpPr>
        <p:spPr bwMode="auto">
          <a:xfrm>
            <a:off x="1233488" y="5141913"/>
            <a:ext cx="2032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200">
                <a:latin typeface="Huawei Sans"/>
                <a:ea typeface="方正兰亭黑简体"/>
                <a:cs typeface="方正兰亭黑简体"/>
              </a:rPr>
              <a:t>过去：架构众多，百花齐放</a:t>
            </a:r>
          </a:p>
        </p:txBody>
      </p:sp>
      <p:sp>
        <p:nvSpPr>
          <p:cNvPr id="72739" name="TextBox 52">
            <a:extLst>
              <a:ext uri="{FF2B5EF4-FFF2-40B4-BE49-F238E27FC236}">
                <a16:creationId xmlns:a16="http://schemas.microsoft.com/office/drawing/2014/main" id="{10898866-1E8C-8131-836F-E2E877E75647}"/>
              </a:ext>
            </a:extLst>
          </p:cNvPr>
          <p:cNvSpPr txBox="1">
            <a:spLocks noChangeArrowheads="1"/>
          </p:cNvSpPr>
          <p:nvPr/>
        </p:nvSpPr>
        <p:spPr bwMode="auto">
          <a:xfrm>
            <a:off x="3663950" y="5141913"/>
            <a:ext cx="20304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200">
                <a:latin typeface="Huawei Sans"/>
                <a:ea typeface="方正兰亭黑简体"/>
                <a:cs typeface="方正兰亭黑简体"/>
              </a:rPr>
              <a:t>现在：生态成熟，架构垄断</a:t>
            </a:r>
          </a:p>
        </p:txBody>
      </p:sp>
      <p:sp>
        <p:nvSpPr>
          <p:cNvPr id="72740" name="TextBox 54">
            <a:extLst>
              <a:ext uri="{FF2B5EF4-FFF2-40B4-BE49-F238E27FC236}">
                <a16:creationId xmlns:a16="http://schemas.microsoft.com/office/drawing/2014/main" id="{B235681C-0D01-606F-0953-295479C3F27F}"/>
              </a:ext>
            </a:extLst>
          </p:cNvPr>
          <p:cNvSpPr txBox="1">
            <a:spLocks noChangeArrowheads="1"/>
          </p:cNvSpPr>
          <p:nvPr/>
        </p:nvSpPr>
        <p:spPr bwMode="auto">
          <a:xfrm>
            <a:off x="5883275" y="5143500"/>
            <a:ext cx="280035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zh-CN" altLang="en-US" sz="1200">
                <a:latin typeface="Huawei Sans"/>
                <a:ea typeface="方正兰亭黑简体"/>
                <a:cs typeface="方正兰亭黑简体"/>
              </a:rPr>
              <a:t>未来：摩尔定律失效，寻求多方向突破</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a:extLst>
              <a:ext uri="{FF2B5EF4-FFF2-40B4-BE49-F238E27FC236}">
                <a16:creationId xmlns:a16="http://schemas.microsoft.com/office/drawing/2014/main" id="{EE12FF20-DD13-F8B6-3E42-C141ACF14ABE}"/>
              </a:ext>
            </a:extLst>
          </p:cNvPr>
          <p:cNvSpPr>
            <a:spLocks noGrp="1" noChangeArrowheads="1"/>
          </p:cNvSpPr>
          <p:nvPr>
            <p:ph type="title"/>
          </p:nvPr>
        </p:nvSpPr>
        <p:spPr>
          <a:xfrm>
            <a:off x="549275" y="447675"/>
            <a:ext cx="8045450" cy="485775"/>
          </a:xfrm>
        </p:spPr>
        <p:txBody>
          <a:bodyPr/>
          <a:lstStyle/>
          <a:p>
            <a:r>
              <a:rPr>
                <a:latin typeface="Huawei Sans"/>
                <a:ea typeface="方正兰亭黑简体"/>
                <a:cs typeface="方正兰亭黑简体"/>
              </a:rPr>
              <a:t>主流</a:t>
            </a:r>
            <a:r>
              <a:rPr lang="en-US" altLang="zh-CN">
                <a:latin typeface="Huawei Sans"/>
                <a:ea typeface="方正兰亭黑简体"/>
                <a:cs typeface="方正兰亭黑简体"/>
              </a:rPr>
              <a:t>CPU</a:t>
            </a:r>
            <a:r>
              <a:rPr>
                <a:latin typeface="Huawei Sans"/>
                <a:ea typeface="方正兰亭黑简体"/>
                <a:cs typeface="方正兰亭黑简体"/>
              </a:rPr>
              <a:t>发展路径</a:t>
            </a:r>
          </a:p>
        </p:txBody>
      </p:sp>
      <p:cxnSp>
        <p:nvCxnSpPr>
          <p:cNvPr id="74754" name="直接箭头连接符 6">
            <a:extLst>
              <a:ext uri="{FF2B5EF4-FFF2-40B4-BE49-F238E27FC236}">
                <a16:creationId xmlns:a16="http://schemas.microsoft.com/office/drawing/2014/main" id="{40D2E5E5-B165-9732-4B03-D992316FD82E}"/>
              </a:ext>
            </a:extLst>
          </p:cNvPr>
          <p:cNvCxnSpPr>
            <a:cxnSpLocks noChangeShapeType="1"/>
          </p:cNvCxnSpPr>
          <p:nvPr/>
        </p:nvCxnSpPr>
        <p:spPr bwMode="auto">
          <a:xfrm flipV="1">
            <a:off x="1096963" y="1717675"/>
            <a:ext cx="0" cy="350043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4755" name="直接箭头连接符 9">
            <a:extLst>
              <a:ext uri="{FF2B5EF4-FFF2-40B4-BE49-F238E27FC236}">
                <a16:creationId xmlns:a16="http://schemas.microsoft.com/office/drawing/2014/main" id="{E0D09CA5-1A46-A551-8C97-3766C2157501}"/>
              </a:ext>
            </a:extLst>
          </p:cNvPr>
          <p:cNvCxnSpPr>
            <a:cxnSpLocks noChangeShapeType="1"/>
          </p:cNvCxnSpPr>
          <p:nvPr/>
        </p:nvCxnSpPr>
        <p:spPr bwMode="auto">
          <a:xfrm>
            <a:off x="1096963" y="5218113"/>
            <a:ext cx="7319962" cy="476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2" name="矩形 11">
            <a:extLst>
              <a:ext uri="{FF2B5EF4-FFF2-40B4-BE49-F238E27FC236}">
                <a16:creationId xmlns:a16="http://schemas.microsoft.com/office/drawing/2014/main" id="{CB86D0D9-8865-F72C-5210-FBAE16D59F3F}"/>
              </a:ext>
            </a:extLst>
          </p:cNvPr>
          <p:cNvSpPr/>
          <p:nvPr/>
        </p:nvSpPr>
        <p:spPr bwMode="auto">
          <a:xfrm>
            <a:off x="1260475" y="5243513"/>
            <a:ext cx="809625" cy="215900"/>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lIns="0" tIns="0" rIns="0" bIns="0" anchor="ctr" anchorCtr="1"/>
          <a:lstStyle/>
          <a:p>
            <a:pPr algn="ctr" defTabSz="685800" eaLnBrk="1" fontAlgn="t" hangingPunct="1">
              <a:defRPr/>
            </a:pPr>
            <a:r>
              <a:rPr lang="en-US" altLang="zh-CN" sz="1050" b="0" dirty="0">
                <a:latin typeface="Huawei Sans" panose="020C0503030203020204" pitchFamily="34" charset="0"/>
                <a:ea typeface="方正兰亭黑简体" panose="02000000000000000000" pitchFamily="2" charset="-122"/>
              </a:rPr>
              <a:t>1970s</a:t>
            </a:r>
            <a:endParaRPr lang="zh-CN" altLang="en-US" sz="1050" b="0" dirty="0">
              <a:latin typeface="Huawei Sans" panose="020C0503030203020204" pitchFamily="34" charset="0"/>
              <a:ea typeface="方正兰亭黑简体" panose="02000000000000000000" pitchFamily="2" charset="-122"/>
            </a:endParaRPr>
          </a:p>
        </p:txBody>
      </p:sp>
      <p:sp>
        <p:nvSpPr>
          <p:cNvPr id="14" name="矩形 13">
            <a:extLst>
              <a:ext uri="{FF2B5EF4-FFF2-40B4-BE49-F238E27FC236}">
                <a16:creationId xmlns:a16="http://schemas.microsoft.com/office/drawing/2014/main" id="{483945CF-555A-B001-765A-DA241196C62E}"/>
              </a:ext>
            </a:extLst>
          </p:cNvPr>
          <p:cNvSpPr/>
          <p:nvPr/>
        </p:nvSpPr>
        <p:spPr bwMode="auto">
          <a:xfrm>
            <a:off x="3344863" y="5248275"/>
            <a:ext cx="2476500" cy="215900"/>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lIns="0" tIns="0" rIns="0" bIns="0" anchor="ctr" anchorCtr="1"/>
          <a:lstStyle/>
          <a:p>
            <a:pPr algn="ctr" defTabSz="685800" eaLnBrk="1" fontAlgn="t" hangingPunct="1">
              <a:defRPr/>
            </a:pPr>
            <a:r>
              <a:rPr lang="en-US" altLang="zh-CN" sz="1050" b="0" dirty="0">
                <a:latin typeface="Huawei Sans" panose="020C0503030203020204" pitchFamily="34" charset="0"/>
                <a:ea typeface="方正兰亭黑简体" panose="02000000000000000000" pitchFamily="2" charset="-122"/>
              </a:rPr>
              <a:t>1990s</a:t>
            </a:r>
          </a:p>
        </p:txBody>
      </p:sp>
      <p:sp>
        <p:nvSpPr>
          <p:cNvPr id="15" name="矩形 14">
            <a:extLst>
              <a:ext uri="{FF2B5EF4-FFF2-40B4-BE49-F238E27FC236}">
                <a16:creationId xmlns:a16="http://schemas.microsoft.com/office/drawing/2014/main" id="{B18D26DA-3E18-C725-79A0-E751B642A3D0}"/>
              </a:ext>
            </a:extLst>
          </p:cNvPr>
          <p:cNvSpPr/>
          <p:nvPr/>
        </p:nvSpPr>
        <p:spPr bwMode="auto">
          <a:xfrm>
            <a:off x="2347913" y="5249863"/>
            <a:ext cx="811212" cy="215900"/>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lIns="0" tIns="0" rIns="0" bIns="0" anchor="ctr" anchorCtr="1"/>
          <a:lstStyle/>
          <a:p>
            <a:pPr algn="ctr" defTabSz="685800" eaLnBrk="1" fontAlgn="t" hangingPunct="1">
              <a:defRPr/>
            </a:pPr>
            <a:r>
              <a:rPr lang="en-US" altLang="zh-CN" sz="1050" b="0" dirty="0">
                <a:latin typeface="Huawei Sans" panose="020C0503030203020204" pitchFamily="34" charset="0"/>
                <a:ea typeface="方正兰亭黑简体" panose="02000000000000000000" pitchFamily="2" charset="-122"/>
              </a:rPr>
              <a:t>1980s</a:t>
            </a:r>
            <a:endParaRPr lang="zh-CN" altLang="en-US" sz="1050" b="0" dirty="0">
              <a:latin typeface="Huawei Sans" panose="020C0503030203020204" pitchFamily="34" charset="0"/>
              <a:ea typeface="方正兰亭黑简体" panose="02000000000000000000" pitchFamily="2" charset="-122"/>
            </a:endParaRPr>
          </a:p>
        </p:txBody>
      </p:sp>
      <p:sp>
        <p:nvSpPr>
          <p:cNvPr id="16" name="矩形 15">
            <a:extLst>
              <a:ext uri="{FF2B5EF4-FFF2-40B4-BE49-F238E27FC236}">
                <a16:creationId xmlns:a16="http://schemas.microsoft.com/office/drawing/2014/main" id="{F06F513F-A6D5-AB56-B95E-E7398C0E1C47}"/>
              </a:ext>
            </a:extLst>
          </p:cNvPr>
          <p:cNvSpPr/>
          <p:nvPr/>
        </p:nvSpPr>
        <p:spPr bwMode="auto">
          <a:xfrm>
            <a:off x="5986463" y="5257800"/>
            <a:ext cx="1941512" cy="217488"/>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lIns="0" tIns="0" rIns="0" bIns="0" anchor="ctr" anchorCtr="1"/>
          <a:lstStyle/>
          <a:p>
            <a:pPr algn="ctr" defTabSz="685800" eaLnBrk="1" fontAlgn="t" hangingPunct="1">
              <a:defRPr/>
            </a:pPr>
            <a:r>
              <a:rPr lang="en-US" altLang="zh-CN" sz="1050" dirty="0">
                <a:latin typeface="Huawei Sans" panose="020C0503030203020204" pitchFamily="34" charset="0"/>
                <a:ea typeface="方正兰亭黑简体" panose="02000000000000000000" pitchFamily="2" charset="-122"/>
              </a:rPr>
              <a:t>2000s</a:t>
            </a:r>
            <a:endParaRPr lang="zh-CN" altLang="en-US" sz="1050" b="0" dirty="0">
              <a:latin typeface="Huawei Sans" panose="020C0503030203020204" pitchFamily="34" charset="0"/>
              <a:ea typeface="方正兰亭黑简体" panose="02000000000000000000" pitchFamily="2" charset="-122"/>
            </a:endParaRPr>
          </a:p>
        </p:txBody>
      </p:sp>
      <p:sp>
        <p:nvSpPr>
          <p:cNvPr id="74760" name="矩形 12">
            <a:extLst>
              <a:ext uri="{FF2B5EF4-FFF2-40B4-BE49-F238E27FC236}">
                <a16:creationId xmlns:a16="http://schemas.microsoft.com/office/drawing/2014/main" id="{3DC808FB-6EC7-46A7-5249-9C9A080E6E16}"/>
              </a:ext>
            </a:extLst>
          </p:cNvPr>
          <p:cNvSpPr>
            <a:spLocks noChangeArrowheads="1"/>
          </p:cNvSpPr>
          <p:nvPr/>
        </p:nvSpPr>
        <p:spPr bwMode="auto">
          <a:xfrm>
            <a:off x="1282700" y="3192463"/>
            <a:ext cx="676275" cy="227012"/>
          </a:xfrm>
          <a:prstGeom prst="rect">
            <a:avLst/>
          </a:prstGeom>
          <a:solidFill>
            <a:srgbClr val="7030A0"/>
          </a:solidFill>
          <a:ln w="9525" algn="ctr">
            <a:solidFill>
              <a:schemeClr val="tx1"/>
            </a:solidFill>
            <a:round/>
            <a:headEnd/>
            <a:tailEnd/>
          </a:ln>
        </p:spPr>
        <p:txBody>
          <a:bodyPr lIns="68580" tIns="34290" rIns="68580" bIns="34290"/>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solidFill>
                  <a:schemeClr val="bg1"/>
                </a:solidFill>
                <a:latin typeface="Huawei Sans"/>
                <a:ea typeface="方正兰亭黑简体"/>
                <a:cs typeface="方正兰亭黑简体"/>
              </a:rPr>
              <a:t>IBM801</a:t>
            </a:r>
          </a:p>
          <a:p>
            <a:pPr algn="ctr" eaLnBrk="1" fontAlgn="t" hangingPunct="1">
              <a:spcBef>
                <a:spcPct val="0"/>
              </a:spcBef>
              <a:buFontTx/>
              <a:buNone/>
            </a:pPr>
            <a:endParaRPr lang="zh-CN" altLang="en-US" sz="900" b="0">
              <a:solidFill>
                <a:schemeClr val="bg1"/>
              </a:solidFill>
              <a:latin typeface="Huawei Sans"/>
              <a:ea typeface="方正兰亭黑简体"/>
              <a:cs typeface="方正兰亭黑简体"/>
            </a:endParaRPr>
          </a:p>
        </p:txBody>
      </p:sp>
      <p:sp>
        <p:nvSpPr>
          <p:cNvPr id="74761" name="矩形 17">
            <a:extLst>
              <a:ext uri="{FF2B5EF4-FFF2-40B4-BE49-F238E27FC236}">
                <a16:creationId xmlns:a16="http://schemas.microsoft.com/office/drawing/2014/main" id="{1040F6C2-102F-CCA5-722E-E1E4009CC094}"/>
              </a:ext>
            </a:extLst>
          </p:cNvPr>
          <p:cNvSpPr>
            <a:spLocks noChangeArrowheads="1"/>
          </p:cNvSpPr>
          <p:nvPr/>
        </p:nvSpPr>
        <p:spPr bwMode="auto">
          <a:xfrm>
            <a:off x="6148388" y="2824163"/>
            <a:ext cx="647700" cy="215900"/>
          </a:xfrm>
          <a:prstGeom prst="rect">
            <a:avLst/>
          </a:prstGeom>
          <a:solidFill>
            <a:srgbClr val="7030A0"/>
          </a:solidFill>
          <a:ln w="9525" algn="ctr">
            <a:solidFill>
              <a:schemeClr val="tx1"/>
            </a:solidFill>
            <a:round/>
            <a:headEnd/>
            <a:tailEnd/>
          </a:ln>
        </p:spPr>
        <p:txBody>
          <a:bodyPr lIns="0" tIns="0" rIns="0" bIns="0" anchor="ctr" anchorCtr="1"/>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900">
                <a:solidFill>
                  <a:schemeClr val="bg1"/>
                </a:solidFill>
                <a:latin typeface="Huawei Sans"/>
                <a:ea typeface="方正兰亭黑简体"/>
                <a:cs typeface="方正兰亭黑简体"/>
              </a:rPr>
              <a:t>………</a:t>
            </a:r>
            <a:endParaRPr lang="zh-CN" altLang="en-US" sz="900" b="0">
              <a:solidFill>
                <a:schemeClr val="bg1"/>
              </a:solidFill>
              <a:latin typeface="Huawei Sans"/>
              <a:ea typeface="方正兰亭黑简体"/>
              <a:cs typeface="方正兰亭黑简体"/>
            </a:endParaRPr>
          </a:p>
        </p:txBody>
      </p:sp>
      <p:sp>
        <p:nvSpPr>
          <p:cNvPr id="74762" name="矩形 21">
            <a:extLst>
              <a:ext uri="{FF2B5EF4-FFF2-40B4-BE49-F238E27FC236}">
                <a16:creationId xmlns:a16="http://schemas.microsoft.com/office/drawing/2014/main" id="{1CAE18A2-BFE1-B60D-FD66-9E0E1153D6E6}"/>
              </a:ext>
            </a:extLst>
          </p:cNvPr>
          <p:cNvSpPr>
            <a:spLocks noChangeArrowheads="1"/>
          </p:cNvSpPr>
          <p:nvPr/>
        </p:nvSpPr>
        <p:spPr bwMode="auto">
          <a:xfrm>
            <a:off x="6975475" y="2827338"/>
            <a:ext cx="712788" cy="215900"/>
          </a:xfrm>
          <a:prstGeom prst="rect">
            <a:avLst/>
          </a:prstGeom>
          <a:solidFill>
            <a:srgbClr val="7030A0"/>
          </a:solidFill>
          <a:ln w="9525" algn="ctr">
            <a:solidFill>
              <a:schemeClr val="tx1"/>
            </a:solidFill>
            <a:round/>
            <a:headEnd/>
            <a:tailEnd/>
          </a:ln>
        </p:spPr>
        <p:txBody>
          <a:bodyPr lIns="0" tIns="0" rIns="0" bIns="0" anchor="ctr" anchorCtr="1"/>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900">
                <a:solidFill>
                  <a:schemeClr val="bg1"/>
                </a:solidFill>
                <a:latin typeface="Huawei Sans"/>
                <a:ea typeface="方正兰亭黑简体"/>
                <a:cs typeface="方正兰亭黑简体"/>
              </a:rPr>
              <a:t>POWER10</a:t>
            </a:r>
            <a:endParaRPr lang="zh-CN" altLang="en-US" sz="900" b="0">
              <a:solidFill>
                <a:schemeClr val="bg1"/>
              </a:solidFill>
              <a:latin typeface="Huawei Sans"/>
              <a:ea typeface="方正兰亭黑简体"/>
              <a:cs typeface="方正兰亭黑简体"/>
            </a:endParaRPr>
          </a:p>
        </p:txBody>
      </p:sp>
      <p:sp>
        <p:nvSpPr>
          <p:cNvPr id="74763" name="矩形 22">
            <a:extLst>
              <a:ext uri="{FF2B5EF4-FFF2-40B4-BE49-F238E27FC236}">
                <a16:creationId xmlns:a16="http://schemas.microsoft.com/office/drawing/2014/main" id="{97AFCFC1-F547-431F-0DD6-BF7CD0989E40}"/>
              </a:ext>
            </a:extLst>
          </p:cNvPr>
          <p:cNvSpPr>
            <a:spLocks noChangeArrowheads="1"/>
          </p:cNvSpPr>
          <p:nvPr/>
        </p:nvSpPr>
        <p:spPr bwMode="auto">
          <a:xfrm>
            <a:off x="4451350" y="2824163"/>
            <a:ext cx="693738" cy="215900"/>
          </a:xfrm>
          <a:prstGeom prst="rect">
            <a:avLst/>
          </a:prstGeom>
          <a:solidFill>
            <a:srgbClr val="7030A0"/>
          </a:solidFill>
          <a:ln w="9525" algn="ctr">
            <a:solidFill>
              <a:schemeClr val="tx1"/>
            </a:solidFill>
            <a:round/>
            <a:headEnd/>
            <a:tailEnd/>
          </a:ln>
        </p:spPr>
        <p:txBody>
          <a:bodyPr lIns="0" tIns="0" rIns="0" bIns="0" anchor="ctr" anchorCtr="1"/>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900">
                <a:solidFill>
                  <a:schemeClr val="bg1"/>
                </a:solidFill>
                <a:latin typeface="Huawei Sans"/>
                <a:ea typeface="方正兰亭黑简体"/>
                <a:cs typeface="方正兰亭黑简体"/>
              </a:rPr>
              <a:t>POWER3</a:t>
            </a:r>
            <a:endParaRPr lang="zh-CN" altLang="en-US" sz="900" b="0">
              <a:solidFill>
                <a:schemeClr val="bg1"/>
              </a:solidFill>
              <a:latin typeface="Huawei Sans"/>
              <a:ea typeface="方正兰亭黑简体"/>
              <a:cs typeface="方正兰亭黑简体"/>
            </a:endParaRPr>
          </a:p>
        </p:txBody>
      </p:sp>
      <p:sp>
        <p:nvSpPr>
          <p:cNvPr id="74764" name="矩形 23">
            <a:extLst>
              <a:ext uri="{FF2B5EF4-FFF2-40B4-BE49-F238E27FC236}">
                <a16:creationId xmlns:a16="http://schemas.microsoft.com/office/drawing/2014/main" id="{0129C2AA-C1B7-C399-5D68-D57BD144C8D6}"/>
              </a:ext>
            </a:extLst>
          </p:cNvPr>
          <p:cNvSpPr>
            <a:spLocks noChangeArrowheads="1"/>
          </p:cNvSpPr>
          <p:nvPr/>
        </p:nvSpPr>
        <p:spPr bwMode="auto">
          <a:xfrm>
            <a:off x="3684588" y="2820988"/>
            <a:ext cx="622300" cy="215900"/>
          </a:xfrm>
          <a:prstGeom prst="rect">
            <a:avLst/>
          </a:prstGeom>
          <a:solidFill>
            <a:srgbClr val="7030A0"/>
          </a:solidFill>
          <a:ln w="9525" algn="ctr">
            <a:solidFill>
              <a:schemeClr val="tx1"/>
            </a:solidFill>
            <a:round/>
            <a:headEnd/>
            <a:tailEnd/>
          </a:ln>
        </p:spPr>
        <p:txBody>
          <a:bodyPr lIns="0" tIns="0" rIns="0" bIns="0" anchor="ctr" anchorCtr="1"/>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900">
                <a:solidFill>
                  <a:schemeClr val="bg1"/>
                </a:solidFill>
                <a:latin typeface="Huawei Sans"/>
                <a:ea typeface="方正兰亭黑简体"/>
                <a:cs typeface="方正兰亭黑简体"/>
              </a:rPr>
              <a:t>POWER2</a:t>
            </a:r>
            <a:endParaRPr lang="zh-CN" altLang="en-US" sz="900" b="0">
              <a:solidFill>
                <a:schemeClr val="bg1"/>
              </a:solidFill>
              <a:latin typeface="Huawei Sans"/>
              <a:ea typeface="方正兰亭黑简体"/>
              <a:cs typeface="方正兰亭黑简体"/>
            </a:endParaRPr>
          </a:p>
        </p:txBody>
      </p:sp>
      <p:sp>
        <p:nvSpPr>
          <p:cNvPr id="74765" name="矩形 24">
            <a:extLst>
              <a:ext uri="{FF2B5EF4-FFF2-40B4-BE49-F238E27FC236}">
                <a16:creationId xmlns:a16="http://schemas.microsoft.com/office/drawing/2014/main" id="{05D2FEBE-C773-C31F-A629-9A2A01ED556C}"/>
              </a:ext>
            </a:extLst>
          </p:cNvPr>
          <p:cNvSpPr>
            <a:spLocks noChangeArrowheads="1"/>
          </p:cNvSpPr>
          <p:nvPr/>
        </p:nvSpPr>
        <p:spPr bwMode="auto">
          <a:xfrm>
            <a:off x="3810000" y="3754438"/>
            <a:ext cx="820738" cy="215900"/>
          </a:xfrm>
          <a:prstGeom prst="rect">
            <a:avLst/>
          </a:prstGeom>
          <a:solidFill>
            <a:srgbClr val="00B0F0"/>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 e100/e200</a:t>
            </a:r>
            <a:endParaRPr lang="zh-CN" altLang="en-US" sz="900" b="0">
              <a:latin typeface="Huawei Sans"/>
              <a:ea typeface="方正兰亭黑简体"/>
              <a:cs typeface="方正兰亭黑简体"/>
            </a:endParaRPr>
          </a:p>
        </p:txBody>
      </p:sp>
      <p:sp>
        <p:nvSpPr>
          <p:cNvPr id="74766" name="椭圆 27">
            <a:extLst>
              <a:ext uri="{FF2B5EF4-FFF2-40B4-BE49-F238E27FC236}">
                <a16:creationId xmlns:a16="http://schemas.microsoft.com/office/drawing/2014/main" id="{B66CE355-7AD9-8107-6F9A-9E8B5CF8C558}"/>
              </a:ext>
            </a:extLst>
          </p:cNvPr>
          <p:cNvSpPr>
            <a:spLocks noChangeArrowheads="1"/>
          </p:cNvSpPr>
          <p:nvPr/>
        </p:nvSpPr>
        <p:spPr bwMode="auto">
          <a:xfrm>
            <a:off x="3265488" y="4719638"/>
            <a:ext cx="715962" cy="296862"/>
          </a:xfrm>
          <a:prstGeom prst="ellipse">
            <a:avLst/>
          </a:prstGeom>
          <a:solidFill>
            <a:schemeClr val="accent1"/>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a:latin typeface="Huawei Sans"/>
                <a:ea typeface="方正兰亭黑简体"/>
                <a:cs typeface="方正兰亭黑简体"/>
              </a:rPr>
              <a:t>ARM7</a:t>
            </a:r>
          </a:p>
        </p:txBody>
      </p:sp>
      <p:cxnSp>
        <p:nvCxnSpPr>
          <p:cNvPr id="74767" name="直接连接符 29">
            <a:extLst>
              <a:ext uri="{FF2B5EF4-FFF2-40B4-BE49-F238E27FC236}">
                <a16:creationId xmlns:a16="http://schemas.microsoft.com/office/drawing/2014/main" id="{23B065BD-9229-1903-D490-45FC76021B23}"/>
              </a:ext>
            </a:extLst>
          </p:cNvPr>
          <p:cNvCxnSpPr>
            <a:cxnSpLocks noChangeShapeType="1"/>
          </p:cNvCxnSpPr>
          <p:nvPr/>
        </p:nvCxnSpPr>
        <p:spPr bwMode="auto">
          <a:xfrm>
            <a:off x="1096963" y="4570413"/>
            <a:ext cx="669607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4768" name="直接连接符 31">
            <a:extLst>
              <a:ext uri="{FF2B5EF4-FFF2-40B4-BE49-F238E27FC236}">
                <a16:creationId xmlns:a16="http://schemas.microsoft.com/office/drawing/2014/main" id="{DF35CE7D-CD3A-7617-20C3-6F1CDFC48C27}"/>
              </a:ext>
            </a:extLst>
          </p:cNvPr>
          <p:cNvCxnSpPr>
            <a:cxnSpLocks noChangeShapeType="1"/>
          </p:cNvCxnSpPr>
          <p:nvPr/>
        </p:nvCxnSpPr>
        <p:spPr bwMode="auto">
          <a:xfrm>
            <a:off x="1096963" y="4003675"/>
            <a:ext cx="672306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4769" name="直接连接符 32">
            <a:extLst>
              <a:ext uri="{FF2B5EF4-FFF2-40B4-BE49-F238E27FC236}">
                <a16:creationId xmlns:a16="http://schemas.microsoft.com/office/drawing/2014/main" id="{0171C3B5-D482-4593-25F0-ECC133D1B531}"/>
              </a:ext>
            </a:extLst>
          </p:cNvPr>
          <p:cNvCxnSpPr>
            <a:cxnSpLocks noChangeShapeType="1"/>
          </p:cNvCxnSpPr>
          <p:nvPr/>
        </p:nvCxnSpPr>
        <p:spPr bwMode="auto">
          <a:xfrm flipV="1">
            <a:off x="1096963" y="2706688"/>
            <a:ext cx="6794500" cy="269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4770" name="直接连接符 35">
            <a:extLst>
              <a:ext uri="{FF2B5EF4-FFF2-40B4-BE49-F238E27FC236}">
                <a16:creationId xmlns:a16="http://schemas.microsoft.com/office/drawing/2014/main" id="{6AED042B-B9C9-3405-78AA-3B6E61E6177B}"/>
              </a:ext>
            </a:extLst>
          </p:cNvPr>
          <p:cNvCxnSpPr>
            <a:cxnSpLocks noChangeShapeType="1"/>
          </p:cNvCxnSpPr>
          <p:nvPr/>
        </p:nvCxnSpPr>
        <p:spPr bwMode="auto">
          <a:xfrm flipV="1">
            <a:off x="5878513" y="1755775"/>
            <a:ext cx="0" cy="34623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5" name="文本框 34">
            <a:extLst>
              <a:ext uri="{FF2B5EF4-FFF2-40B4-BE49-F238E27FC236}">
                <a16:creationId xmlns:a16="http://schemas.microsoft.com/office/drawing/2014/main" id="{FCC36155-E44D-06DA-C29E-AE86C79F4A9E}"/>
              </a:ext>
            </a:extLst>
          </p:cNvPr>
          <p:cNvSpPr txBox="1"/>
          <p:nvPr/>
        </p:nvSpPr>
        <p:spPr bwMode="auto">
          <a:xfrm>
            <a:off x="546100" y="4778375"/>
            <a:ext cx="663575" cy="227013"/>
          </a:xfrm>
          <a:prstGeom prst="rect">
            <a:avLst/>
          </a:prstGeom>
          <a:noFill/>
          <a:ln w="9525" algn="ctr">
            <a:noFill/>
            <a:miter lim="800000"/>
            <a:headEnd/>
            <a:tailEnd/>
          </a:ln>
        </p:spPr>
        <p:txBody>
          <a:bodyPr lIns="65852" tIns="32926" rIns="65852" bIns="32926" anchor="ctr">
            <a:spAutoFit/>
          </a:bodyPr>
          <a:lstStyle/>
          <a:p>
            <a:pPr algn="ctr">
              <a:defRPr/>
            </a:pPr>
            <a:r>
              <a:rPr lang="en-US" altLang="zh-CN" sz="1050" dirty="0">
                <a:latin typeface="Huawei Sans" panose="020C0503030203020204" pitchFamily="34" charset="0"/>
                <a:ea typeface="方正兰亭黑简体" panose="02000000000000000000" pitchFamily="2" charset="-122"/>
              </a:rPr>
              <a:t>ARM</a:t>
            </a:r>
            <a:endParaRPr lang="zh-CN" altLang="en-US" sz="1050" dirty="0">
              <a:latin typeface="Huawei Sans" panose="020C0503030203020204" pitchFamily="34" charset="0"/>
              <a:ea typeface="方正兰亭黑简体" panose="02000000000000000000" pitchFamily="2" charset="-122"/>
            </a:endParaRPr>
          </a:p>
        </p:txBody>
      </p:sp>
      <p:sp>
        <p:nvSpPr>
          <p:cNvPr id="39" name="文本框 38">
            <a:extLst>
              <a:ext uri="{FF2B5EF4-FFF2-40B4-BE49-F238E27FC236}">
                <a16:creationId xmlns:a16="http://schemas.microsoft.com/office/drawing/2014/main" id="{2D764BAD-2AB1-6AFF-3785-0737D4489E8C}"/>
              </a:ext>
            </a:extLst>
          </p:cNvPr>
          <p:cNvSpPr txBox="1"/>
          <p:nvPr/>
        </p:nvSpPr>
        <p:spPr bwMode="auto">
          <a:xfrm>
            <a:off x="590550" y="3208338"/>
            <a:ext cx="560388" cy="228600"/>
          </a:xfrm>
          <a:prstGeom prst="rect">
            <a:avLst/>
          </a:prstGeom>
          <a:noFill/>
          <a:ln w="9525" algn="ctr">
            <a:noFill/>
            <a:miter lim="800000"/>
            <a:headEnd/>
            <a:tailEnd/>
          </a:ln>
        </p:spPr>
        <p:txBody>
          <a:bodyPr lIns="65852" tIns="32926" rIns="65852" bIns="32926" anchor="ctr">
            <a:spAutoFit/>
          </a:bodyPr>
          <a:lstStyle/>
          <a:p>
            <a:pPr algn="ctr">
              <a:defRPr/>
            </a:pPr>
            <a:r>
              <a:rPr lang="en-US" altLang="zh-CN" sz="1050" dirty="0">
                <a:latin typeface="Huawei Sans" panose="020C0503030203020204" pitchFamily="34" charset="0"/>
                <a:ea typeface="方正兰亭黑简体" panose="02000000000000000000" pitchFamily="2" charset="-122"/>
              </a:rPr>
              <a:t>PPC</a:t>
            </a:r>
            <a:endParaRPr lang="zh-CN" altLang="en-US" sz="1050" dirty="0">
              <a:latin typeface="Huawei Sans" panose="020C0503030203020204" pitchFamily="34" charset="0"/>
              <a:ea typeface="方正兰亭黑简体" panose="02000000000000000000" pitchFamily="2" charset="-122"/>
            </a:endParaRPr>
          </a:p>
        </p:txBody>
      </p:sp>
      <p:sp>
        <p:nvSpPr>
          <p:cNvPr id="40" name="文本框 39">
            <a:extLst>
              <a:ext uri="{FF2B5EF4-FFF2-40B4-BE49-F238E27FC236}">
                <a16:creationId xmlns:a16="http://schemas.microsoft.com/office/drawing/2014/main" id="{74A6BC2C-72FA-EC97-CD17-F737579049D7}"/>
              </a:ext>
            </a:extLst>
          </p:cNvPr>
          <p:cNvSpPr txBox="1"/>
          <p:nvPr/>
        </p:nvSpPr>
        <p:spPr bwMode="auto">
          <a:xfrm>
            <a:off x="539750" y="4178300"/>
            <a:ext cx="679450" cy="227013"/>
          </a:xfrm>
          <a:prstGeom prst="rect">
            <a:avLst/>
          </a:prstGeom>
          <a:noFill/>
          <a:ln w="9525" algn="ctr">
            <a:noFill/>
            <a:miter lim="800000"/>
            <a:headEnd/>
            <a:tailEnd/>
          </a:ln>
        </p:spPr>
        <p:txBody>
          <a:bodyPr lIns="65852" tIns="32926" rIns="65852" bIns="32926" anchor="ctr">
            <a:spAutoFit/>
          </a:bodyPr>
          <a:lstStyle/>
          <a:p>
            <a:pPr algn="ctr">
              <a:defRPr/>
            </a:pPr>
            <a:r>
              <a:rPr lang="en-US" altLang="zh-CN" sz="1050" dirty="0">
                <a:latin typeface="Huawei Sans" panose="020C0503030203020204" pitchFamily="34" charset="0"/>
                <a:ea typeface="方正兰亭黑简体" panose="02000000000000000000" pitchFamily="2" charset="-122"/>
              </a:rPr>
              <a:t>MIPS</a:t>
            </a:r>
            <a:endParaRPr lang="zh-CN" altLang="en-US" sz="1050" dirty="0">
              <a:latin typeface="Huawei Sans" panose="020C0503030203020204" pitchFamily="34" charset="0"/>
              <a:ea typeface="方正兰亭黑简体" panose="02000000000000000000" pitchFamily="2" charset="-122"/>
            </a:endParaRPr>
          </a:p>
        </p:txBody>
      </p:sp>
      <p:sp>
        <p:nvSpPr>
          <p:cNvPr id="41" name="文本框 40">
            <a:extLst>
              <a:ext uri="{FF2B5EF4-FFF2-40B4-BE49-F238E27FC236}">
                <a16:creationId xmlns:a16="http://schemas.microsoft.com/office/drawing/2014/main" id="{37BFA5B3-6FD4-A167-F7E8-E7C91C5BE1C2}"/>
              </a:ext>
            </a:extLst>
          </p:cNvPr>
          <p:cNvSpPr txBox="1"/>
          <p:nvPr/>
        </p:nvSpPr>
        <p:spPr bwMode="auto">
          <a:xfrm>
            <a:off x="641350" y="2173288"/>
            <a:ext cx="509588" cy="228600"/>
          </a:xfrm>
          <a:prstGeom prst="rect">
            <a:avLst/>
          </a:prstGeom>
          <a:noFill/>
          <a:ln w="9525" algn="ctr">
            <a:noFill/>
            <a:miter lim="800000"/>
            <a:headEnd/>
            <a:tailEnd/>
          </a:ln>
        </p:spPr>
        <p:txBody>
          <a:bodyPr lIns="65852" tIns="32926" rIns="65852" bIns="32926" anchor="ctr">
            <a:spAutoFit/>
          </a:bodyPr>
          <a:lstStyle/>
          <a:p>
            <a:pPr algn="ctr">
              <a:defRPr/>
            </a:pPr>
            <a:r>
              <a:rPr lang="en-US" altLang="zh-CN" sz="1050" dirty="0">
                <a:latin typeface="Huawei Sans" panose="020C0503030203020204" pitchFamily="34" charset="0"/>
                <a:ea typeface="方正兰亭黑简体" panose="02000000000000000000" pitchFamily="2" charset="-122"/>
              </a:rPr>
              <a:t>X86</a:t>
            </a:r>
            <a:endParaRPr lang="zh-CN" altLang="en-US" sz="1050" dirty="0">
              <a:latin typeface="Huawei Sans" panose="020C0503030203020204" pitchFamily="34" charset="0"/>
              <a:ea typeface="方正兰亭黑简体" panose="02000000000000000000" pitchFamily="2" charset="-122"/>
            </a:endParaRPr>
          </a:p>
        </p:txBody>
      </p:sp>
      <p:sp>
        <p:nvSpPr>
          <p:cNvPr id="74775" name="椭圆 41">
            <a:extLst>
              <a:ext uri="{FF2B5EF4-FFF2-40B4-BE49-F238E27FC236}">
                <a16:creationId xmlns:a16="http://schemas.microsoft.com/office/drawing/2014/main" id="{782B11F0-84DA-E244-E951-3B84D7A8D7E5}"/>
              </a:ext>
            </a:extLst>
          </p:cNvPr>
          <p:cNvSpPr>
            <a:spLocks noChangeArrowheads="1"/>
          </p:cNvSpPr>
          <p:nvPr/>
        </p:nvSpPr>
        <p:spPr bwMode="auto">
          <a:xfrm>
            <a:off x="4083050" y="4719638"/>
            <a:ext cx="715963" cy="296862"/>
          </a:xfrm>
          <a:prstGeom prst="ellipse">
            <a:avLst/>
          </a:prstGeom>
          <a:solidFill>
            <a:schemeClr val="accent1"/>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ARM9</a:t>
            </a:r>
          </a:p>
        </p:txBody>
      </p:sp>
      <p:sp>
        <p:nvSpPr>
          <p:cNvPr id="74776" name="椭圆 42">
            <a:extLst>
              <a:ext uri="{FF2B5EF4-FFF2-40B4-BE49-F238E27FC236}">
                <a16:creationId xmlns:a16="http://schemas.microsoft.com/office/drawing/2014/main" id="{DFD4620E-6100-83CA-9078-EB5EE1FFD291}"/>
              </a:ext>
            </a:extLst>
          </p:cNvPr>
          <p:cNvSpPr>
            <a:spLocks noChangeArrowheads="1"/>
          </p:cNvSpPr>
          <p:nvPr/>
        </p:nvSpPr>
        <p:spPr bwMode="auto">
          <a:xfrm>
            <a:off x="5840413" y="4716463"/>
            <a:ext cx="871537" cy="296862"/>
          </a:xfrm>
          <a:prstGeom prst="ellipse">
            <a:avLst/>
          </a:prstGeom>
          <a:solidFill>
            <a:schemeClr val="accent1"/>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ARM11</a:t>
            </a:r>
            <a:endParaRPr lang="zh-CN" altLang="en-US" sz="900" b="0">
              <a:latin typeface="Huawei Sans"/>
              <a:ea typeface="方正兰亭黑简体"/>
              <a:cs typeface="方正兰亭黑简体"/>
            </a:endParaRPr>
          </a:p>
        </p:txBody>
      </p:sp>
      <p:sp>
        <p:nvSpPr>
          <p:cNvPr id="74777" name="椭圆 43">
            <a:extLst>
              <a:ext uri="{FF2B5EF4-FFF2-40B4-BE49-F238E27FC236}">
                <a16:creationId xmlns:a16="http://schemas.microsoft.com/office/drawing/2014/main" id="{EC804FD5-73B1-9780-F116-3C3F52662626}"/>
              </a:ext>
            </a:extLst>
          </p:cNvPr>
          <p:cNvSpPr>
            <a:spLocks noChangeArrowheads="1"/>
          </p:cNvSpPr>
          <p:nvPr/>
        </p:nvSpPr>
        <p:spPr bwMode="auto">
          <a:xfrm>
            <a:off x="4889500" y="4719638"/>
            <a:ext cx="792163" cy="296862"/>
          </a:xfrm>
          <a:prstGeom prst="ellipse">
            <a:avLst/>
          </a:prstGeom>
          <a:solidFill>
            <a:schemeClr val="accent1"/>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ARM10</a:t>
            </a:r>
            <a:endParaRPr lang="zh-CN" altLang="en-US" sz="900" b="0">
              <a:latin typeface="Huawei Sans"/>
              <a:ea typeface="方正兰亭黑简体"/>
              <a:cs typeface="方正兰亭黑简体"/>
            </a:endParaRPr>
          </a:p>
        </p:txBody>
      </p:sp>
      <p:sp>
        <p:nvSpPr>
          <p:cNvPr id="45" name="椭圆 44">
            <a:extLst>
              <a:ext uri="{FF2B5EF4-FFF2-40B4-BE49-F238E27FC236}">
                <a16:creationId xmlns:a16="http://schemas.microsoft.com/office/drawing/2014/main" id="{3C8C5283-4C47-8FE9-14FA-2BBB7DDED5AC}"/>
              </a:ext>
            </a:extLst>
          </p:cNvPr>
          <p:cNvSpPr/>
          <p:nvPr/>
        </p:nvSpPr>
        <p:spPr bwMode="auto">
          <a:xfrm>
            <a:off x="3259138" y="4171950"/>
            <a:ext cx="782637" cy="350838"/>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lIns="0" tIns="0" rIns="0" bIns="0" anchor="ctr" anchorCtr="1"/>
          <a:lstStyle/>
          <a:p>
            <a:pPr algn="ctr" defTabSz="685800" eaLnBrk="1" fontAlgn="t" hangingPunct="1">
              <a:defRPr/>
            </a:pPr>
            <a:r>
              <a:rPr lang="en-US" altLang="zh-CN" sz="900" b="0" dirty="0">
                <a:solidFill>
                  <a:schemeClr val="bg1"/>
                </a:solidFill>
                <a:latin typeface="Huawei Sans" panose="020C0503030203020204" pitchFamily="34" charset="0"/>
                <a:ea typeface="方正兰亭黑简体" panose="02000000000000000000" pitchFamily="2" charset="-122"/>
              </a:rPr>
              <a:t>MIPS3k</a:t>
            </a:r>
            <a:endParaRPr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47" name="椭圆 46">
            <a:extLst>
              <a:ext uri="{FF2B5EF4-FFF2-40B4-BE49-F238E27FC236}">
                <a16:creationId xmlns:a16="http://schemas.microsoft.com/office/drawing/2014/main" id="{DCFCB886-78E1-59B1-191E-42385340E95D}"/>
              </a:ext>
            </a:extLst>
          </p:cNvPr>
          <p:cNvSpPr/>
          <p:nvPr/>
        </p:nvSpPr>
        <p:spPr bwMode="auto">
          <a:xfrm>
            <a:off x="5862638" y="4179888"/>
            <a:ext cx="890587" cy="350837"/>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lIns="0" tIns="0" rIns="0" bIns="0" anchor="ctr" anchorCtr="1"/>
          <a:lstStyle/>
          <a:p>
            <a:pPr algn="ctr">
              <a:defRPr/>
            </a:pPr>
            <a:r>
              <a:rPr lang="en-US" altLang="zh-CN" sz="900" dirty="0">
                <a:solidFill>
                  <a:schemeClr val="bg1"/>
                </a:solidFill>
                <a:latin typeface="Huawei Sans" panose="020C0503030203020204" pitchFamily="34" charset="0"/>
                <a:ea typeface="方正兰亭黑简体" panose="02000000000000000000" pitchFamily="2" charset="-122"/>
              </a:rPr>
              <a:t>MIPS10K</a:t>
            </a:r>
          </a:p>
        </p:txBody>
      </p:sp>
      <p:sp>
        <p:nvSpPr>
          <p:cNvPr id="48" name="椭圆 47">
            <a:extLst>
              <a:ext uri="{FF2B5EF4-FFF2-40B4-BE49-F238E27FC236}">
                <a16:creationId xmlns:a16="http://schemas.microsoft.com/office/drawing/2014/main" id="{8D3F285D-4F55-FF50-C064-8FE980400C7E}"/>
              </a:ext>
            </a:extLst>
          </p:cNvPr>
          <p:cNvSpPr/>
          <p:nvPr/>
        </p:nvSpPr>
        <p:spPr bwMode="auto">
          <a:xfrm>
            <a:off x="4972050" y="4179888"/>
            <a:ext cx="820738" cy="350837"/>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lIns="0" tIns="0" rIns="0" bIns="0" anchor="ctr" anchorCtr="1"/>
          <a:lstStyle/>
          <a:p>
            <a:pPr algn="ctr">
              <a:defRPr/>
            </a:pPr>
            <a:r>
              <a:rPr lang="en-US" altLang="zh-CN" sz="900" dirty="0">
                <a:solidFill>
                  <a:schemeClr val="bg1"/>
                </a:solidFill>
                <a:latin typeface="Huawei Sans" panose="020C0503030203020204" pitchFamily="34" charset="0"/>
                <a:ea typeface="方正兰亭黑简体" panose="02000000000000000000" pitchFamily="2" charset="-122"/>
              </a:rPr>
              <a:t>MIPS5K</a:t>
            </a:r>
          </a:p>
        </p:txBody>
      </p:sp>
      <p:sp>
        <p:nvSpPr>
          <p:cNvPr id="49" name="椭圆 48">
            <a:extLst>
              <a:ext uri="{FF2B5EF4-FFF2-40B4-BE49-F238E27FC236}">
                <a16:creationId xmlns:a16="http://schemas.microsoft.com/office/drawing/2014/main" id="{120C3F62-5DDA-24FB-0EC9-DE22A84200A4}"/>
              </a:ext>
            </a:extLst>
          </p:cNvPr>
          <p:cNvSpPr/>
          <p:nvPr/>
        </p:nvSpPr>
        <p:spPr bwMode="auto">
          <a:xfrm>
            <a:off x="4083050" y="4183063"/>
            <a:ext cx="835025" cy="350837"/>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lIns="0" tIns="0" rIns="0" bIns="0" anchor="ctr" anchorCtr="1"/>
          <a:lstStyle/>
          <a:p>
            <a:pPr algn="ctr" defTabSz="685800" eaLnBrk="1" fontAlgn="t" hangingPunct="1">
              <a:defRPr/>
            </a:pPr>
            <a:r>
              <a:rPr lang="en-US" altLang="zh-CN" sz="900" b="0" dirty="0">
                <a:solidFill>
                  <a:schemeClr val="bg1"/>
                </a:solidFill>
                <a:latin typeface="Huawei Sans" panose="020C0503030203020204" pitchFamily="34" charset="0"/>
                <a:ea typeface="方正兰亭黑简体" panose="02000000000000000000" pitchFamily="2" charset="-122"/>
              </a:rPr>
              <a:t>MIPS4K</a:t>
            </a:r>
          </a:p>
        </p:txBody>
      </p:sp>
      <p:sp>
        <p:nvSpPr>
          <p:cNvPr id="50" name="椭圆 49">
            <a:extLst>
              <a:ext uri="{FF2B5EF4-FFF2-40B4-BE49-F238E27FC236}">
                <a16:creationId xmlns:a16="http://schemas.microsoft.com/office/drawing/2014/main" id="{4A12B3FE-E112-BEC8-6492-5C9B68FC831B}"/>
              </a:ext>
            </a:extLst>
          </p:cNvPr>
          <p:cNvSpPr/>
          <p:nvPr/>
        </p:nvSpPr>
        <p:spPr bwMode="auto">
          <a:xfrm>
            <a:off x="6899275" y="4181475"/>
            <a:ext cx="1203325" cy="350838"/>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lIns="0" tIns="0" rIns="0" bIns="0" anchor="ctr" anchorCtr="1"/>
          <a:lstStyle/>
          <a:p>
            <a:pPr algn="ctr">
              <a:defRPr/>
            </a:pPr>
            <a:r>
              <a:rPr lang="en-US" altLang="zh-CN" sz="900" dirty="0">
                <a:solidFill>
                  <a:schemeClr val="bg1"/>
                </a:solidFill>
                <a:latin typeface="Huawei Sans" panose="020C0503030203020204" pitchFamily="34" charset="0"/>
                <a:ea typeface="方正兰亭黑简体" panose="02000000000000000000" pitchFamily="2" charset="-122"/>
              </a:rPr>
              <a:t>MIPS32/64</a:t>
            </a:r>
          </a:p>
        </p:txBody>
      </p:sp>
      <p:sp>
        <p:nvSpPr>
          <p:cNvPr id="74783" name="矩形 50">
            <a:extLst>
              <a:ext uri="{FF2B5EF4-FFF2-40B4-BE49-F238E27FC236}">
                <a16:creationId xmlns:a16="http://schemas.microsoft.com/office/drawing/2014/main" id="{8567C178-D0D3-5479-93F0-62B862B8BF01}"/>
              </a:ext>
            </a:extLst>
          </p:cNvPr>
          <p:cNvSpPr>
            <a:spLocks noChangeArrowheads="1"/>
          </p:cNvSpPr>
          <p:nvPr/>
        </p:nvSpPr>
        <p:spPr bwMode="auto">
          <a:xfrm>
            <a:off x="4765675" y="3132138"/>
            <a:ext cx="836613" cy="215900"/>
          </a:xfrm>
          <a:prstGeom prst="rect">
            <a:avLst/>
          </a:prstGeom>
          <a:solidFill>
            <a:schemeClr val="accent1"/>
          </a:solidFill>
          <a:ln w="9525" algn="ctr">
            <a:solidFill>
              <a:schemeClr val="tx1"/>
            </a:solidFill>
            <a:round/>
            <a:headEnd/>
            <a:tailEnd/>
          </a:ln>
        </p:spPr>
        <p:txBody>
          <a:bodyPr lIns="0" tIns="0" rIns="0" bIns="0" anchor="ctr" anchorCtr="1"/>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900">
                <a:latin typeface="Huawei Sans"/>
                <a:ea typeface="方正兰亭黑简体"/>
                <a:cs typeface="方正兰亭黑简体"/>
              </a:rPr>
              <a:t>PowerPC700</a:t>
            </a:r>
            <a:endParaRPr lang="zh-CN" altLang="en-US" sz="900">
              <a:latin typeface="Huawei Sans"/>
              <a:ea typeface="方正兰亭黑简体"/>
              <a:cs typeface="方正兰亭黑简体"/>
            </a:endParaRPr>
          </a:p>
        </p:txBody>
      </p:sp>
      <p:sp>
        <p:nvSpPr>
          <p:cNvPr id="74784" name="矩形 51">
            <a:extLst>
              <a:ext uri="{FF2B5EF4-FFF2-40B4-BE49-F238E27FC236}">
                <a16:creationId xmlns:a16="http://schemas.microsoft.com/office/drawing/2014/main" id="{33D0709A-A42D-AE58-D385-E1E557EF60BA}"/>
              </a:ext>
            </a:extLst>
          </p:cNvPr>
          <p:cNvSpPr>
            <a:spLocks noChangeArrowheads="1"/>
          </p:cNvSpPr>
          <p:nvPr/>
        </p:nvSpPr>
        <p:spPr bwMode="auto">
          <a:xfrm>
            <a:off x="3776663" y="3140075"/>
            <a:ext cx="898525" cy="215900"/>
          </a:xfrm>
          <a:prstGeom prst="rect">
            <a:avLst/>
          </a:prstGeom>
          <a:solidFill>
            <a:schemeClr val="accent1"/>
          </a:solidFill>
          <a:ln w="9525" algn="ctr">
            <a:solidFill>
              <a:schemeClr val="tx1"/>
            </a:solidFill>
            <a:round/>
            <a:headEnd/>
            <a:tailEnd/>
          </a:ln>
        </p:spPr>
        <p:txBody>
          <a:bodyPr lIns="0" tIns="0" rIns="0" bIns="0" anchor="ctr" anchorCtr="1"/>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900">
                <a:latin typeface="Huawei Sans"/>
                <a:ea typeface="方正兰亭黑简体"/>
                <a:cs typeface="方正兰亭黑简体"/>
              </a:rPr>
              <a:t>PowerPC600</a:t>
            </a:r>
            <a:endParaRPr lang="zh-CN" altLang="en-US" sz="900" b="0">
              <a:latin typeface="Huawei Sans"/>
              <a:ea typeface="方正兰亭黑简体"/>
              <a:cs typeface="方正兰亭黑简体"/>
            </a:endParaRPr>
          </a:p>
        </p:txBody>
      </p:sp>
      <p:sp>
        <p:nvSpPr>
          <p:cNvPr id="74785" name="矩形 53">
            <a:extLst>
              <a:ext uri="{FF2B5EF4-FFF2-40B4-BE49-F238E27FC236}">
                <a16:creationId xmlns:a16="http://schemas.microsoft.com/office/drawing/2014/main" id="{23668377-0E7B-B893-CF4E-FB7196A7B25D}"/>
              </a:ext>
            </a:extLst>
          </p:cNvPr>
          <p:cNvSpPr>
            <a:spLocks noChangeArrowheads="1"/>
          </p:cNvSpPr>
          <p:nvPr/>
        </p:nvSpPr>
        <p:spPr bwMode="auto">
          <a:xfrm>
            <a:off x="6764338" y="3141663"/>
            <a:ext cx="785812" cy="215900"/>
          </a:xfrm>
          <a:prstGeom prst="rect">
            <a:avLst/>
          </a:prstGeom>
          <a:solidFill>
            <a:schemeClr val="accent1"/>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BE(cell)</a:t>
            </a:r>
            <a:endParaRPr lang="zh-CN" altLang="en-US" sz="900" b="0">
              <a:latin typeface="Huawei Sans"/>
              <a:ea typeface="方正兰亭黑简体"/>
              <a:cs typeface="方正兰亭黑简体"/>
            </a:endParaRPr>
          </a:p>
        </p:txBody>
      </p:sp>
      <p:sp>
        <p:nvSpPr>
          <p:cNvPr id="74786" name="矩形 54">
            <a:extLst>
              <a:ext uri="{FF2B5EF4-FFF2-40B4-BE49-F238E27FC236}">
                <a16:creationId xmlns:a16="http://schemas.microsoft.com/office/drawing/2014/main" id="{98B3133F-B31E-8F3B-8432-1D22D4C50FC7}"/>
              </a:ext>
            </a:extLst>
          </p:cNvPr>
          <p:cNvSpPr>
            <a:spLocks noChangeArrowheads="1"/>
          </p:cNvSpPr>
          <p:nvPr/>
        </p:nvSpPr>
        <p:spPr bwMode="auto">
          <a:xfrm>
            <a:off x="4886325" y="3444875"/>
            <a:ext cx="611188" cy="215900"/>
          </a:xfrm>
          <a:prstGeom prst="rect">
            <a:avLst/>
          </a:prstGeom>
          <a:solidFill>
            <a:srgbClr val="00B0F0"/>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MPC750</a:t>
            </a:r>
          </a:p>
        </p:txBody>
      </p:sp>
      <p:sp>
        <p:nvSpPr>
          <p:cNvPr id="74787" name="圆角矩形 37">
            <a:extLst>
              <a:ext uri="{FF2B5EF4-FFF2-40B4-BE49-F238E27FC236}">
                <a16:creationId xmlns:a16="http://schemas.microsoft.com/office/drawing/2014/main" id="{07293E9C-1AD9-ED6E-CA98-6CD9A6A56BBA}"/>
              </a:ext>
            </a:extLst>
          </p:cNvPr>
          <p:cNvSpPr>
            <a:spLocks noChangeArrowheads="1"/>
          </p:cNvSpPr>
          <p:nvPr/>
        </p:nvSpPr>
        <p:spPr bwMode="auto">
          <a:xfrm>
            <a:off x="1179513" y="1973263"/>
            <a:ext cx="493712" cy="215900"/>
          </a:xfrm>
          <a:prstGeom prst="roundRect">
            <a:avLst>
              <a:gd name="adj" fmla="val 16667"/>
            </a:avLst>
          </a:prstGeom>
          <a:solidFill>
            <a:srgbClr val="FFC1C1"/>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4004</a:t>
            </a:r>
            <a:endParaRPr lang="zh-CN" altLang="en-US" sz="900" b="0">
              <a:latin typeface="Huawei Sans"/>
              <a:ea typeface="方正兰亭黑简体"/>
              <a:cs typeface="方正兰亭黑简体"/>
            </a:endParaRPr>
          </a:p>
        </p:txBody>
      </p:sp>
      <p:sp>
        <p:nvSpPr>
          <p:cNvPr id="74788" name="圆角矩形 66">
            <a:extLst>
              <a:ext uri="{FF2B5EF4-FFF2-40B4-BE49-F238E27FC236}">
                <a16:creationId xmlns:a16="http://schemas.microsoft.com/office/drawing/2014/main" id="{3A3AE485-626D-6C9E-5023-EF90375A99BC}"/>
              </a:ext>
            </a:extLst>
          </p:cNvPr>
          <p:cNvSpPr>
            <a:spLocks noChangeArrowheads="1"/>
          </p:cNvSpPr>
          <p:nvPr/>
        </p:nvSpPr>
        <p:spPr bwMode="auto">
          <a:xfrm>
            <a:off x="3952875" y="1973263"/>
            <a:ext cx="493713" cy="215900"/>
          </a:xfrm>
          <a:prstGeom prst="roundRect">
            <a:avLst>
              <a:gd name="adj" fmla="val 16667"/>
            </a:avLst>
          </a:prstGeom>
          <a:solidFill>
            <a:srgbClr val="FFC1C1"/>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486</a:t>
            </a:r>
            <a:endParaRPr lang="zh-CN" altLang="en-US" sz="900" b="0">
              <a:latin typeface="Huawei Sans"/>
              <a:ea typeface="方正兰亭黑简体"/>
              <a:cs typeface="方正兰亭黑简体"/>
            </a:endParaRPr>
          </a:p>
        </p:txBody>
      </p:sp>
      <p:sp>
        <p:nvSpPr>
          <p:cNvPr id="74789" name="圆角矩形 67">
            <a:extLst>
              <a:ext uri="{FF2B5EF4-FFF2-40B4-BE49-F238E27FC236}">
                <a16:creationId xmlns:a16="http://schemas.microsoft.com/office/drawing/2014/main" id="{4874C87B-38C8-1BB7-4AF9-84F306974A8D}"/>
              </a:ext>
            </a:extLst>
          </p:cNvPr>
          <p:cNvSpPr>
            <a:spLocks noChangeArrowheads="1"/>
          </p:cNvSpPr>
          <p:nvPr/>
        </p:nvSpPr>
        <p:spPr bwMode="auto">
          <a:xfrm>
            <a:off x="3405188" y="1978025"/>
            <a:ext cx="493712" cy="215900"/>
          </a:xfrm>
          <a:prstGeom prst="roundRect">
            <a:avLst>
              <a:gd name="adj" fmla="val 16667"/>
            </a:avLst>
          </a:prstGeom>
          <a:solidFill>
            <a:srgbClr val="FFC1C1"/>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386</a:t>
            </a:r>
            <a:endParaRPr lang="zh-CN" altLang="en-US" sz="900" b="0">
              <a:latin typeface="Huawei Sans"/>
              <a:ea typeface="方正兰亭黑简体"/>
              <a:cs typeface="方正兰亭黑简体"/>
            </a:endParaRPr>
          </a:p>
        </p:txBody>
      </p:sp>
      <p:sp>
        <p:nvSpPr>
          <p:cNvPr id="74790" name="圆角矩形 68">
            <a:extLst>
              <a:ext uri="{FF2B5EF4-FFF2-40B4-BE49-F238E27FC236}">
                <a16:creationId xmlns:a16="http://schemas.microsoft.com/office/drawing/2014/main" id="{D68869C4-5792-0505-FA8A-4456DA50BABE}"/>
              </a:ext>
            </a:extLst>
          </p:cNvPr>
          <p:cNvSpPr>
            <a:spLocks noChangeArrowheads="1"/>
          </p:cNvSpPr>
          <p:nvPr/>
        </p:nvSpPr>
        <p:spPr bwMode="auto">
          <a:xfrm>
            <a:off x="2298700" y="1974850"/>
            <a:ext cx="493713" cy="215900"/>
          </a:xfrm>
          <a:prstGeom prst="roundRect">
            <a:avLst>
              <a:gd name="adj" fmla="val 16667"/>
            </a:avLst>
          </a:prstGeom>
          <a:solidFill>
            <a:srgbClr val="FFC1C1"/>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8086</a:t>
            </a:r>
            <a:endParaRPr lang="zh-CN" altLang="en-US" sz="900" b="0">
              <a:latin typeface="Huawei Sans"/>
              <a:ea typeface="方正兰亭黑简体"/>
              <a:cs typeface="方正兰亭黑简体"/>
            </a:endParaRPr>
          </a:p>
        </p:txBody>
      </p:sp>
      <p:sp>
        <p:nvSpPr>
          <p:cNvPr id="74791" name="圆角矩形 70">
            <a:extLst>
              <a:ext uri="{FF2B5EF4-FFF2-40B4-BE49-F238E27FC236}">
                <a16:creationId xmlns:a16="http://schemas.microsoft.com/office/drawing/2014/main" id="{FB1FC4DF-44F8-E4D5-964C-B2906B758324}"/>
              </a:ext>
            </a:extLst>
          </p:cNvPr>
          <p:cNvSpPr>
            <a:spLocks noChangeArrowheads="1"/>
          </p:cNvSpPr>
          <p:nvPr/>
        </p:nvSpPr>
        <p:spPr bwMode="auto">
          <a:xfrm>
            <a:off x="1724025" y="1974850"/>
            <a:ext cx="493713" cy="215900"/>
          </a:xfrm>
          <a:prstGeom prst="roundRect">
            <a:avLst>
              <a:gd name="adj" fmla="val 16667"/>
            </a:avLst>
          </a:prstGeom>
          <a:solidFill>
            <a:srgbClr val="FFC1C1"/>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8008</a:t>
            </a:r>
            <a:endParaRPr lang="zh-CN" altLang="en-US" sz="900" b="0">
              <a:latin typeface="Huawei Sans"/>
              <a:ea typeface="方正兰亭黑简体"/>
              <a:cs typeface="方正兰亭黑简体"/>
            </a:endParaRPr>
          </a:p>
        </p:txBody>
      </p:sp>
      <p:sp>
        <p:nvSpPr>
          <p:cNvPr id="74792" name="圆角矩形 71">
            <a:extLst>
              <a:ext uri="{FF2B5EF4-FFF2-40B4-BE49-F238E27FC236}">
                <a16:creationId xmlns:a16="http://schemas.microsoft.com/office/drawing/2014/main" id="{D8AF74F8-44A8-3B8A-F94E-A61D0CC1FF2D}"/>
              </a:ext>
            </a:extLst>
          </p:cNvPr>
          <p:cNvSpPr>
            <a:spLocks noChangeArrowheads="1"/>
          </p:cNvSpPr>
          <p:nvPr/>
        </p:nvSpPr>
        <p:spPr bwMode="auto">
          <a:xfrm>
            <a:off x="4487863" y="1973263"/>
            <a:ext cx="628650" cy="215900"/>
          </a:xfrm>
          <a:prstGeom prst="roundRect">
            <a:avLst>
              <a:gd name="adj" fmla="val 16667"/>
            </a:avLst>
          </a:prstGeom>
          <a:solidFill>
            <a:srgbClr val="FFC1C1"/>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Pentium</a:t>
            </a:r>
            <a:endParaRPr lang="zh-CN" altLang="en-US" sz="900" b="0">
              <a:latin typeface="Huawei Sans"/>
              <a:ea typeface="方正兰亭黑简体"/>
              <a:cs typeface="方正兰亭黑简体"/>
            </a:endParaRPr>
          </a:p>
        </p:txBody>
      </p:sp>
      <p:sp>
        <p:nvSpPr>
          <p:cNvPr id="74793" name="圆角矩形 72">
            <a:extLst>
              <a:ext uri="{FF2B5EF4-FFF2-40B4-BE49-F238E27FC236}">
                <a16:creationId xmlns:a16="http://schemas.microsoft.com/office/drawing/2014/main" id="{41DD8DDC-E3DF-763C-2EDD-494C36865B4A}"/>
              </a:ext>
            </a:extLst>
          </p:cNvPr>
          <p:cNvSpPr>
            <a:spLocks noChangeArrowheads="1"/>
          </p:cNvSpPr>
          <p:nvPr/>
        </p:nvSpPr>
        <p:spPr bwMode="auto">
          <a:xfrm>
            <a:off x="5148263" y="1978025"/>
            <a:ext cx="692150" cy="215900"/>
          </a:xfrm>
          <a:prstGeom prst="roundRect">
            <a:avLst>
              <a:gd name="adj" fmla="val 16667"/>
            </a:avLst>
          </a:prstGeom>
          <a:solidFill>
            <a:srgbClr val="FFC1C1"/>
          </a:solidFill>
          <a:ln w="9525" algn="ctr">
            <a:solidFill>
              <a:schemeClr val="tx1"/>
            </a:solidFill>
            <a:round/>
            <a:headEnd/>
            <a:tailEnd/>
          </a:ln>
        </p:spPr>
        <p:txBody>
          <a:bodyPr lIns="0" tIns="0" rIns="0" bIns="0" anchor="ctr" anchorCtr="1"/>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900">
                <a:latin typeface="Huawei Sans"/>
                <a:ea typeface="方正兰亭黑简体"/>
                <a:cs typeface="方正兰亭黑简体"/>
              </a:rPr>
              <a:t>Pentium II</a:t>
            </a:r>
            <a:endParaRPr lang="zh-CN" altLang="en-US" sz="900" b="0">
              <a:latin typeface="Huawei Sans"/>
              <a:ea typeface="方正兰亭黑简体"/>
              <a:cs typeface="方正兰亭黑简体"/>
            </a:endParaRPr>
          </a:p>
        </p:txBody>
      </p:sp>
      <p:sp>
        <p:nvSpPr>
          <p:cNvPr id="74794" name="圆角矩形 73">
            <a:extLst>
              <a:ext uri="{FF2B5EF4-FFF2-40B4-BE49-F238E27FC236}">
                <a16:creationId xmlns:a16="http://schemas.microsoft.com/office/drawing/2014/main" id="{113D0422-FDA5-770C-EDA9-CEA384F3B998}"/>
              </a:ext>
            </a:extLst>
          </p:cNvPr>
          <p:cNvSpPr>
            <a:spLocks noChangeArrowheads="1"/>
          </p:cNvSpPr>
          <p:nvPr/>
        </p:nvSpPr>
        <p:spPr bwMode="auto">
          <a:xfrm>
            <a:off x="6742113" y="1978025"/>
            <a:ext cx="833437" cy="215900"/>
          </a:xfrm>
          <a:prstGeom prst="roundRect">
            <a:avLst>
              <a:gd name="adj" fmla="val 16667"/>
            </a:avLst>
          </a:prstGeom>
          <a:solidFill>
            <a:srgbClr val="FFC1C1"/>
          </a:solidFill>
          <a:ln w="9525" algn="ctr">
            <a:solidFill>
              <a:schemeClr val="tx1"/>
            </a:solidFill>
            <a:round/>
            <a:headEnd/>
            <a:tailEnd/>
          </a:ln>
        </p:spPr>
        <p:txBody>
          <a:bodyPr lIns="0" tIns="0" rIns="0" bIns="0" anchor="ctr" anchorCtr="1"/>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900">
                <a:latin typeface="Huawei Sans"/>
                <a:ea typeface="方正兰亭黑简体"/>
                <a:cs typeface="方正兰亭黑简体"/>
              </a:rPr>
              <a:t>Pentium IV</a:t>
            </a:r>
          </a:p>
        </p:txBody>
      </p:sp>
      <p:sp>
        <p:nvSpPr>
          <p:cNvPr id="74795" name="圆角矩形 74">
            <a:extLst>
              <a:ext uri="{FF2B5EF4-FFF2-40B4-BE49-F238E27FC236}">
                <a16:creationId xmlns:a16="http://schemas.microsoft.com/office/drawing/2014/main" id="{CE442F1C-43B3-3979-F4D4-C8E1894C5939}"/>
              </a:ext>
            </a:extLst>
          </p:cNvPr>
          <p:cNvSpPr>
            <a:spLocks noChangeArrowheads="1"/>
          </p:cNvSpPr>
          <p:nvPr/>
        </p:nvSpPr>
        <p:spPr bwMode="auto">
          <a:xfrm>
            <a:off x="5924550" y="1984375"/>
            <a:ext cx="785813" cy="215900"/>
          </a:xfrm>
          <a:prstGeom prst="roundRect">
            <a:avLst>
              <a:gd name="adj" fmla="val 16667"/>
            </a:avLst>
          </a:prstGeom>
          <a:solidFill>
            <a:srgbClr val="FFC1C1"/>
          </a:solidFill>
          <a:ln w="9525" algn="ctr">
            <a:solidFill>
              <a:schemeClr val="tx1"/>
            </a:solidFill>
            <a:round/>
            <a:headEnd/>
            <a:tailEnd/>
          </a:ln>
        </p:spPr>
        <p:txBody>
          <a:bodyPr lIns="0" tIns="0" rIns="0" bIns="0" anchor="ctr" anchorCtr="1"/>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900">
                <a:latin typeface="Huawei Sans"/>
                <a:ea typeface="方正兰亭黑简体"/>
                <a:cs typeface="方正兰亭黑简体"/>
              </a:rPr>
              <a:t>Pentium III</a:t>
            </a:r>
            <a:endParaRPr lang="zh-CN" altLang="en-US" sz="900">
              <a:latin typeface="Huawei Sans"/>
              <a:ea typeface="方正兰亭黑简体"/>
              <a:cs typeface="方正兰亭黑简体"/>
            </a:endParaRPr>
          </a:p>
        </p:txBody>
      </p:sp>
      <p:sp>
        <p:nvSpPr>
          <p:cNvPr id="74796" name="圆角矩形 75">
            <a:extLst>
              <a:ext uri="{FF2B5EF4-FFF2-40B4-BE49-F238E27FC236}">
                <a16:creationId xmlns:a16="http://schemas.microsoft.com/office/drawing/2014/main" id="{8506941B-81A5-9512-DDB0-9CD8CE105D73}"/>
              </a:ext>
            </a:extLst>
          </p:cNvPr>
          <p:cNvSpPr>
            <a:spLocks noChangeArrowheads="1"/>
          </p:cNvSpPr>
          <p:nvPr/>
        </p:nvSpPr>
        <p:spPr bwMode="auto">
          <a:xfrm>
            <a:off x="7608888" y="1978025"/>
            <a:ext cx="590550" cy="215900"/>
          </a:xfrm>
          <a:prstGeom prst="roundRect">
            <a:avLst>
              <a:gd name="adj" fmla="val 16667"/>
            </a:avLst>
          </a:prstGeom>
          <a:solidFill>
            <a:srgbClr val="FFC1C1"/>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a:latin typeface="Huawei Sans"/>
                <a:ea typeface="方正兰亭黑简体"/>
                <a:cs typeface="方正兰亭黑简体"/>
              </a:rPr>
              <a:t>X</a:t>
            </a:r>
            <a:r>
              <a:rPr lang="en-US" altLang="zh-CN" sz="900" b="0">
                <a:latin typeface="Huawei Sans"/>
                <a:ea typeface="方正兰亭黑简体"/>
                <a:cs typeface="方正兰亭黑简体"/>
              </a:rPr>
              <a:t>eon</a:t>
            </a:r>
          </a:p>
        </p:txBody>
      </p:sp>
      <p:sp>
        <p:nvSpPr>
          <p:cNvPr id="74797" name="圆角矩形 80">
            <a:extLst>
              <a:ext uri="{FF2B5EF4-FFF2-40B4-BE49-F238E27FC236}">
                <a16:creationId xmlns:a16="http://schemas.microsoft.com/office/drawing/2014/main" id="{FDC40412-802D-DC8E-C253-224BF492F6BC}"/>
              </a:ext>
            </a:extLst>
          </p:cNvPr>
          <p:cNvSpPr>
            <a:spLocks noChangeArrowheads="1"/>
          </p:cNvSpPr>
          <p:nvPr/>
        </p:nvSpPr>
        <p:spPr bwMode="auto">
          <a:xfrm>
            <a:off x="7151688" y="2339975"/>
            <a:ext cx="588962" cy="215900"/>
          </a:xfrm>
          <a:prstGeom prst="roundRect">
            <a:avLst>
              <a:gd name="adj" fmla="val 16667"/>
            </a:avLst>
          </a:prstGeom>
          <a:solidFill>
            <a:srgbClr val="FFC000"/>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Zen3</a:t>
            </a:r>
            <a:endParaRPr lang="zh-CN" altLang="en-US" sz="900" b="0">
              <a:latin typeface="Huawei Sans"/>
              <a:ea typeface="方正兰亭黑简体"/>
              <a:cs typeface="方正兰亭黑简体"/>
            </a:endParaRPr>
          </a:p>
        </p:txBody>
      </p:sp>
      <p:sp>
        <p:nvSpPr>
          <p:cNvPr id="74798" name="圆角矩形 81">
            <a:extLst>
              <a:ext uri="{FF2B5EF4-FFF2-40B4-BE49-F238E27FC236}">
                <a16:creationId xmlns:a16="http://schemas.microsoft.com/office/drawing/2014/main" id="{34F34436-ACB0-CBD6-58A6-446853F97F39}"/>
              </a:ext>
            </a:extLst>
          </p:cNvPr>
          <p:cNvSpPr>
            <a:spLocks noChangeArrowheads="1"/>
          </p:cNvSpPr>
          <p:nvPr/>
        </p:nvSpPr>
        <p:spPr bwMode="auto">
          <a:xfrm>
            <a:off x="6507163" y="2336800"/>
            <a:ext cx="566737" cy="215900"/>
          </a:xfrm>
          <a:prstGeom prst="roundRect">
            <a:avLst>
              <a:gd name="adj" fmla="val 16667"/>
            </a:avLst>
          </a:prstGeom>
          <a:solidFill>
            <a:srgbClr val="FFC000"/>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a:latin typeface="Huawei Sans"/>
                <a:ea typeface="方正兰亭黑简体"/>
                <a:cs typeface="方正兰亭黑简体"/>
              </a:rPr>
              <a:t>……</a:t>
            </a:r>
            <a:endParaRPr lang="zh-CN" altLang="en-US" sz="900" b="0">
              <a:latin typeface="Huawei Sans"/>
              <a:ea typeface="方正兰亭黑简体"/>
              <a:cs typeface="方正兰亭黑简体"/>
            </a:endParaRPr>
          </a:p>
        </p:txBody>
      </p:sp>
      <p:sp>
        <p:nvSpPr>
          <p:cNvPr id="74799" name="圆角矩形 82">
            <a:extLst>
              <a:ext uri="{FF2B5EF4-FFF2-40B4-BE49-F238E27FC236}">
                <a16:creationId xmlns:a16="http://schemas.microsoft.com/office/drawing/2014/main" id="{7F069DC7-374C-BACE-DDAE-2A9ED348CCB2}"/>
              </a:ext>
            </a:extLst>
          </p:cNvPr>
          <p:cNvSpPr>
            <a:spLocks noChangeArrowheads="1"/>
          </p:cNvSpPr>
          <p:nvPr/>
        </p:nvSpPr>
        <p:spPr bwMode="auto">
          <a:xfrm>
            <a:off x="5287963" y="2333625"/>
            <a:ext cx="493712" cy="215900"/>
          </a:xfrm>
          <a:prstGeom prst="roundRect">
            <a:avLst>
              <a:gd name="adj" fmla="val 16667"/>
            </a:avLst>
          </a:prstGeom>
          <a:solidFill>
            <a:srgbClr val="FFC000"/>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K6</a:t>
            </a:r>
            <a:endParaRPr lang="zh-CN" altLang="en-US" sz="900" b="0">
              <a:latin typeface="Huawei Sans"/>
              <a:ea typeface="方正兰亭黑简体"/>
              <a:cs typeface="方正兰亭黑简体"/>
            </a:endParaRPr>
          </a:p>
        </p:txBody>
      </p:sp>
      <p:sp>
        <p:nvSpPr>
          <p:cNvPr id="74800" name="圆角矩形 83">
            <a:extLst>
              <a:ext uri="{FF2B5EF4-FFF2-40B4-BE49-F238E27FC236}">
                <a16:creationId xmlns:a16="http://schemas.microsoft.com/office/drawing/2014/main" id="{7A3FB71E-9EA7-34B4-B829-6C6655B7FFF1}"/>
              </a:ext>
            </a:extLst>
          </p:cNvPr>
          <p:cNvSpPr>
            <a:spLocks noChangeArrowheads="1"/>
          </p:cNvSpPr>
          <p:nvPr/>
        </p:nvSpPr>
        <p:spPr bwMode="auto">
          <a:xfrm>
            <a:off x="4710113" y="2330450"/>
            <a:ext cx="493712" cy="217488"/>
          </a:xfrm>
          <a:prstGeom prst="roundRect">
            <a:avLst>
              <a:gd name="adj" fmla="val 16667"/>
            </a:avLst>
          </a:prstGeom>
          <a:solidFill>
            <a:srgbClr val="FFC000"/>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K5</a:t>
            </a:r>
            <a:endParaRPr lang="zh-CN" altLang="en-US" sz="900" b="0">
              <a:latin typeface="Huawei Sans"/>
              <a:ea typeface="方正兰亭黑简体"/>
              <a:cs typeface="方正兰亭黑简体"/>
            </a:endParaRPr>
          </a:p>
        </p:txBody>
      </p:sp>
      <p:sp>
        <p:nvSpPr>
          <p:cNvPr id="74801" name="圆角矩形 84">
            <a:extLst>
              <a:ext uri="{FF2B5EF4-FFF2-40B4-BE49-F238E27FC236}">
                <a16:creationId xmlns:a16="http://schemas.microsoft.com/office/drawing/2014/main" id="{574F8AE9-A2E2-A2D5-826D-B49EC04F15E7}"/>
              </a:ext>
            </a:extLst>
          </p:cNvPr>
          <p:cNvSpPr>
            <a:spLocks noChangeArrowheads="1"/>
          </p:cNvSpPr>
          <p:nvPr/>
        </p:nvSpPr>
        <p:spPr bwMode="auto">
          <a:xfrm>
            <a:off x="4135438" y="2328863"/>
            <a:ext cx="495300" cy="215900"/>
          </a:xfrm>
          <a:prstGeom prst="roundRect">
            <a:avLst>
              <a:gd name="adj" fmla="val 16667"/>
            </a:avLst>
          </a:prstGeom>
          <a:solidFill>
            <a:srgbClr val="FFC000"/>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486</a:t>
            </a:r>
            <a:endParaRPr lang="zh-CN" altLang="en-US" sz="900" b="0">
              <a:latin typeface="Huawei Sans"/>
              <a:ea typeface="方正兰亭黑简体"/>
              <a:cs typeface="方正兰亭黑简体"/>
            </a:endParaRPr>
          </a:p>
        </p:txBody>
      </p:sp>
      <p:sp>
        <p:nvSpPr>
          <p:cNvPr id="74802" name="圆角矩形 85">
            <a:extLst>
              <a:ext uri="{FF2B5EF4-FFF2-40B4-BE49-F238E27FC236}">
                <a16:creationId xmlns:a16="http://schemas.microsoft.com/office/drawing/2014/main" id="{EDF263D5-A9EF-0276-FDF0-A35A513388C9}"/>
              </a:ext>
            </a:extLst>
          </p:cNvPr>
          <p:cNvSpPr>
            <a:spLocks noChangeArrowheads="1"/>
          </p:cNvSpPr>
          <p:nvPr/>
        </p:nvSpPr>
        <p:spPr bwMode="auto">
          <a:xfrm>
            <a:off x="3582988" y="2325688"/>
            <a:ext cx="493712" cy="215900"/>
          </a:xfrm>
          <a:prstGeom prst="roundRect">
            <a:avLst>
              <a:gd name="adj" fmla="val 16667"/>
            </a:avLst>
          </a:prstGeom>
          <a:solidFill>
            <a:srgbClr val="FFC000"/>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386</a:t>
            </a:r>
            <a:endParaRPr lang="zh-CN" altLang="en-US" sz="900" b="0">
              <a:latin typeface="Huawei Sans"/>
              <a:ea typeface="方正兰亭黑简体"/>
              <a:cs typeface="方正兰亭黑简体"/>
            </a:endParaRPr>
          </a:p>
        </p:txBody>
      </p:sp>
      <p:sp>
        <p:nvSpPr>
          <p:cNvPr id="74803" name="圆角矩形 86">
            <a:extLst>
              <a:ext uri="{FF2B5EF4-FFF2-40B4-BE49-F238E27FC236}">
                <a16:creationId xmlns:a16="http://schemas.microsoft.com/office/drawing/2014/main" id="{DE03B508-2DA3-78F7-C3CE-207E2C9B15CF}"/>
              </a:ext>
            </a:extLst>
          </p:cNvPr>
          <p:cNvSpPr>
            <a:spLocks noChangeArrowheads="1"/>
          </p:cNvSpPr>
          <p:nvPr/>
        </p:nvSpPr>
        <p:spPr bwMode="auto">
          <a:xfrm>
            <a:off x="5948363" y="2335213"/>
            <a:ext cx="493712" cy="215900"/>
          </a:xfrm>
          <a:prstGeom prst="roundRect">
            <a:avLst>
              <a:gd name="adj" fmla="val 16667"/>
            </a:avLst>
          </a:prstGeom>
          <a:solidFill>
            <a:srgbClr val="FFC000"/>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K7</a:t>
            </a:r>
            <a:endParaRPr lang="zh-CN" altLang="en-US" sz="900" b="0">
              <a:latin typeface="Huawei Sans"/>
              <a:ea typeface="方正兰亭黑简体"/>
              <a:cs typeface="方正兰亭黑简体"/>
            </a:endParaRPr>
          </a:p>
        </p:txBody>
      </p:sp>
      <p:cxnSp>
        <p:nvCxnSpPr>
          <p:cNvPr id="74804" name="直接连接符 36">
            <a:extLst>
              <a:ext uri="{FF2B5EF4-FFF2-40B4-BE49-F238E27FC236}">
                <a16:creationId xmlns:a16="http://schemas.microsoft.com/office/drawing/2014/main" id="{B3BBD686-3362-C8E8-5644-328F3892A00C}"/>
              </a:ext>
            </a:extLst>
          </p:cNvPr>
          <p:cNvCxnSpPr>
            <a:cxnSpLocks noChangeShapeType="1"/>
          </p:cNvCxnSpPr>
          <p:nvPr/>
        </p:nvCxnSpPr>
        <p:spPr bwMode="auto">
          <a:xfrm flipV="1">
            <a:off x="3249613" y="1755775"/>
            <a:ext cx="0" cy="34623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4805" name="直接连接符 33">
            <a:extLst>
              <a:ext uri="{FF2B5EF4-FFF2-40B4-BE49-F238E27FC236}">
                <a16:creationId xmlns:a16="http://schemas.microsoft.com/office/drawing/2014/main" id="{5EA895BC-386A-2A1E-C321-EE2792E95CDE}"/>
              </a:ext>
            </a:extLst>
          </p:cNvPr>
          <p:cNvCxnSpPr>
            <a:cxnSpLocks noChangeShapeType="1"/>
          </p:cNvCxnSpPr>
          <p:nvPr/>
        </p:nvCxnSpPr>
        <p:spPr bwMode="auto">
          <a:xfrm flipV="1">
            <a:off x="2274888" y="1755775"/>
            <a:ext cx="0" cy="34623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4806" name="圆角矩形 79">
            <a:extLst>
              <a:ext uri="{FF2B5EF4-FFF2-40B4-BE49-F238E27FC236}">
                <a16:creationId xmlns:a16="http://schemas.microsoft.com/office/drawing/2014/main" id="{2E88FE74-3AE5-0BF9-C07E-93EBC64724F6}"/>
              </a:ext>
            </a:extLst>
          </p:cNvPr>
          <p:cNvSpPr>
            <a:spLocks noChangeArrowheads="1"/>
          </p:cNvSpPr>
          <p:nvPr/>
        </p:nvSpPr>
        <p:spPr bwMode="auto">
          <a:xfrm>
            <a:off x="3041650" y="2324100"/>
            <a:ext cx="493713" cy="215900"/>
          </a:xfrm>
          <a:prstGeom prst="roundRect">
            <a:avLst>
              <a:gd name="adj" fmla="val 16667"/>
            </a:avLst>
          </a:prstGeom>
          <a:solidFill>
            <a:srgbClr val="FFC000"/>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286</a:t>
            </a:r>
            <a:endParaRPr lang="zh-CN" altLang="en-US" sz="900" b="0">
              <a:latin typeface="Huawei Sans"/>
              <a:ea typeface="方正兰亭黑简体"/>
              <a:cs typeface="方正兰亭黑简体"/>
            </a:endParaRPr>
          </a:p>
        </p:txBody>
      </p:sp>
      <p:sp>
        <p:nvSpPr>
          <p:cNvPr id="74807" name="矩形 55">
            <a:extLst>
              <a:ext uri="{FF2B5EF4-FFF2-40B4-BE49-F238E27FC236}">
                <a16:creationId xmlns:a16="http://schemas.microsoft.com/office/drawing/2014/main" id="{BD60CE6F-C007-1538-6EEF-E0A0F58F63C0}"/>
              </a:ext>
            </a:extLst>
          </p:cNvPr>
          <p:cNvSpPr>
            <a:spLocks noChangeArrowheads="1"/>
          </p:cNvSpPr>
          <p:nvPr/>
        </p:nvSpPr>
        <p:spPr bwMode="auto">
          <a:xfrm>
            <a:off x="5557838" y="3760788"/>
            <a:ext cx="750887" cy="215900"/>
          </a:xfrm>
          <a:prstGeom prst="rect">
            <a:avLst/>
          </a:prstGeom>
          <a:solidFill>
            <a:srgbClr val="00B0F0"/>
          </a:solidFill>
          <a:ln w="9525" algn="ctr">
            <a:solidFill>
              <a:schemeClr val="tx1"/>
            </a:solidFill>
            <a:round/>
            <a:headEnd/>
            <a:tailEnd/>
          </a:ln>
        </p:spPr>
        <p:txBody>
          <a:bodyPr lIns="0" tIns="0" rIns="0" bIns="0" anchor="ctr" anchorCtr="1"/>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900">
                <a:latin typeface="Huawei Sans"/>
                <a:ea typeface="方正兰亭黑简体"/>
                <a:cs typeface="方正兰亭黑简体"/>
              </a:rPr>
              <a:t>e300/e500</a:t>
            </a:r>
            <a:endParaRPr lang="zh-CN" altLang="en-US" sz="900">
              <a:latin typeface="Huawei Sans"/>
              <a:ea typeface="方正兰亭黑简体"/>
              <a:cs typeface="方正兰亭黑简体"/>
            </a:endParaRPr>
          </a:p>
        </p:txBody>
      </p:sp>
      <p:sp>
        <p:nvSpPr>
          <p:cNvPr id="74808" name="矩形 18">
            <a:extLst>
              <a:ext uri="{FF2B5EF4-FFF2-40B4-BE49-F238E27FC236}">
                <a16:creationId xmlns:a16="http://schemas.microsoft.com/office/drawing/2014/main" id="{F77DB737-1DCA-31F0-84F6-E57CFB39B774}"/>
              </a:ext>
            </a:extLst>
          </p:cNvPr>
          <p:cNvSpPr>
            <a:spLocks noChangeArrowheads="1"/>
          </p:cNvSpPr>
          <p:nvPr/>
        </p:nvSpPr>
        <p:spPr bwMode="auto">
          <a:xfrm>
            <a:off x="5557838" y="3444875"/>
            <a:ext cx="750887" cy="215900"/>
          </a:xfrm>
          <a:prstGeom prst="rect">
            <a:avLst/>
          </a:prstGeom>
          <a:solidFill>
            <a:srgbClr val="00B0F0"/>
          </a:solidFill>
          <a:ln w="9525" algn="ctr">
            <a:solidFill>
              <a:schemeClr val="tx1"/>
            </a:solidFill>
            <a:round/>
            <a:headEnd/>
            <a:tailEnd/>
          </a:ln>
        </p:spPr>
        <p:txBody>
          <a:bodyPr lIns="0" tIns="0" rIns="0" bIns="0" anchor="ctr" anchorCtr="1"/>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900">
                <a:latin typeface="Huawei Sans"/>
                <a:ea typeface="方正兰亭黑简体"/>
                <a:cs typeface="方正兰亭黑简体"/>
              </a:rPr>
              <a:t>MPC7400</a:t>
            </a:r>
          </a:p>
        </p:txBody>
      </p:sp>
      <p:sp>
        <p:nvSpPr>
          <p:cNvPr id="74809" name="矩形 56">
            <a:extLst>
              <a:ext uri="{FF2B5EF4-FFF2-40B4-BE49-F238E27FC236}">
                <a16:creationId xmlns:a16="http://schemas.microsoft.com/office/drawing/2014/main" id="{A265E6E1-B7AC-11E6-9231-11D1FBB4ABE0}"/>
              </a:ext>
            </a:extLst>
          </p:cNvPr>
          <p:cNvSpPr>
            <a:spLocks noChangeArrowheads="1"/>
          </p:cNvSpPr>
          <p:nvPr/>
        </p:nvSpPr>
        <p:spPr bwMode="auto">
          <a:xfrm>
            <a:off x="6488113" y="3760788"/>
            <a:ext cx="493712" cy="215900"/>
          </a:xfrm>
          <a:prstGeom prst="rect">
            <a:avLst/>
          </a:prstGeom>
          <a:solidFill>
            <a:srgbClr val="00B0F0"/>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 e600</a:t>
            </a:r>
            <a:endParaRPr lang="zh-CN" altLang="en-US" sz="900" b="0">
              <a:latin typeface="Huawei Sans"/>
              <a:ea typeface="方正兰亭黑简体"/>
              <a:cs typeface="方正兰亭黑简体"/>
            </a:endParaRPr>
          </a:p>
        </p:txBody>
      </p:sp>
      <p:sp>
        <p:nvSpPr>
          <p:cNvPr id="74810" name="矩形 57">
            <a:extLst>
              <a:ext uri="{FF2B5EF4-FFF2-40B4-BE49-F238E27FC236}">
                <a16:creationId xmlns:a16="http://schemas.microsoft.com/office/drawing/2014/main" id="{4C199FA2-4314-2FC6-839C-32D6C3C07583}"/>
              </a:ext>
            </a:extLst>
          </p:cNvPr>
          <p:cNvSpPr>
            <a:spLocks noChangeArrowheads="1"/>
          </p:cNvSpPr>
          <p:nvPr/>
        </p:nvSpPr>
        <p:spPr bwMode="auto">
          <a:xfrm>
            <a:off x="7178675" y="3760788"/>
            <a:ext cx="493713" cy="215900"/>
          </a:xfrm>
          <a:prstGeom prst="rect">
            <a:avLst/>
          </a:prstGeom>
          <a:solidFill>
            <a:srgbClr val="00B0F0"/>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P</a:t>
            </a:r>
            <a:r>
              <a:rPr lang="en-US" altLang="zh-CN" sz="900">
                <a:latin typeface="Huawei Sans"/>
                <a:ea typeface="方正兰亭黑简体"/>
                <a:cs typeface="方正兰亭黑简体"/>
              </a:rPr>
              <a:t>xxxx</a:t>
            </a:r>
            <a:endParaRPr lang="en-US" altLang="zh-CN" sz="900" b="0">
              <a:latin typeface="Huawei Sans"/>
              <a:ea typeface="方正兰亭黑简体"/>
              <a:cs typeface="方正兰亭黑简体"/>
            </a:endParaRPr>
          </a:p>
        </p:txBody>
      </p:sp>
      <p:sp>
        <p:nvSpPr>
          <p:cNvPr id="74811" name="矩形 52">
            <a:extLst>
              <a:ext uri="{FF2B5EF4-FFF2-40B4-BE49-F238E27FC236}">
                <a16:creationId xmlns:a16="http://schemas.microsoft.com/office/drawing/2014/main" id="{7C940C9A-5BD0-26DB-9941-8C7AE4E356E6}"/>
              </a:ext>
            </a:extLst>
          </p:cNvPr>
          <p:cNvSpPr>
            <a:spLocks noChangeArrowheads="1"/>
          </p:cNvSpPr>
          <p:nvPr/>
        </p:nvSpPr>
        <p:spPr bwMode="auto">
          <a:xfrm>
            <a:off x="5722938" y="3135313"/>
            <a:ext cx="927100" cy="215900"/>
          </a:xfrm>
          <a:prstGeom prst="rect">
            <a:avLst/>
          </a:prstGeom>
          <a:solidFill>
            <a:schemeClr val="accent1"/>
          </a:solidFill>
          <a:ln w="9525" algn="ctr">
            <a:solidFill>
              <a:schemeClr val="tx1"/>
            </a:solidFill>
            <a:round/>
            <a:headEnd/>
            <a:tailEnd/>
          </a:ln>
        </p:spPr>
        <p:txBody>
          <a:bodyPr lIns="0" tIns="0" rIns="0" bIns="0" anchor="ctr" anchorCtr="1"/>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900">
                <a:latin typeface="Huawei Sans"/>
                <a:ea typeface="方正兰亭黑简体"/>
                <a:cs typeface="方正兰亭黑简体"/>
              </a:rPr>
              <a:t>PowerPC9xx</a:t>
            </a:r>
            <a:endParaRPr lang="zh-CN" altLang="en-US" sz="900">
              <a:latin typeface="Huawei Sans"/>
              <a:ea typeface="方正兰亭黑简体"/>
              <a:cs typeface="方正兰亭黑简体"/>
            </a:endParaRPr>
          </a:p>
        </p:txBody>
      </p:sp>
      <p:sp>
        <p:nvSpPr>
          <p:cNvPr id="74812" name="矩形 19">
            <a:extLst>
              <a:ext uri="{FF2B5EF4-FFF2-40B4-BE49-F238E27FC236}">
                <a16:creationId xmlns:a16="http://schemas.microsoft.com/office/drawing/2014/main" id="{EEB10FE6-8001-C534-640E-6D537068743E}"/>
              </a:ext>
            </a:extLst>
          </p:cNvPr>
          <p:cNvSpPr>
            <a:spLocks noChangeArrowheads="1"/>
          </p:cNvSpPr>
          <p:nvPr/>
        </p:nvSpPr>
        <p:spPr bwMode="auto">
          <a:xfrm>
            <a:off x="5311775" y="2822575"/>
            <a:ext cx="690563" cy="215900"/>
          </a:xfrm>
          <a:prstGeom prst="rect">
            <a:avLst/>
          </a:prstGeom>
          <a:solidFill>
            <a:srgbClr val="7030A0"/>
          </a:solidFill>
          <a:ln w="9525" algn="ctr">
            <a:solidFill>
              <a:schemeClr val="tx1"/>
            </a:solidFill>
            <a:round/>
            <a:headEnd/>
            <a:tailEnd/>
          </a:ln>
        </p:spPr>
        <p:txBody>
          <a:bodyPr lIns="0" tIns="0" rIns="0" bIns="0" anchor="ctr" anchorCtr="1"/>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900">
                <a:solidFill>
                  <a:schemeClr val="bg1"/>
                </a:solidFill>
                <a:latin typeface="Huawei Sans"/>
                <a:ea typeface="方正兰亭黑简体"/>
                <a:cs typeface="方正兰亭黑简体"/>
              </a:rPr>
              <a:t>POWER4</a:t>
            </a:r>
            <a:endParaRPr lang="zh-CN" altLang="en-US" sz="900" b="0">
              <a:solidFill>
                <a:schemeClr val="bg1"/>
              </a:solidFill>
              <a:latin typeface="Huawei Sans"/>
              <a:ea typeface="方正兰亭黑简体"/>
              <a:cs typeface="方正兰亭黑简体"/>
            </a:endParaRPr>
          </a:p>
        </p:txBody>
      </p:sp>
      <p:sp>
        <p:nvSpPr>
          <p:cNvPr id="74813" name="圆角矩形 69">
            <a:extLst>
              <a:ext uri="{FF2B5EF4-FFF2-40B4-BE49-F238E27FC236}">
                <a16:creationId xmlns:a16="http://schemas.microsoft.com/office/drawing/2014/main" id="{01FC47ED-14E5-0906-0114-E9808F16C489}"/>
              </a:ext>
            </a:extLst>
          </p:cNvPr>
          <p:cNvSpPr>
            <a:spLocks noChangeArrowheads="1"/>
          </p:cNvSpPr>
          <p:nvPr/>
        </p:nvSpPr>
        <p:spPr bwMode="auto">
          <a:xfrm>
            <a:off x="2844800" y="1973263"/>
            <a:ext cx="508000" cy="215900"/>
          </a:xfrm>
          <a:prstGeom prst="roundRect">
            <a:avLst>
              <a:gd name="adj" fmla="val 16667"/>
            </a:avLst>
          </a:prstGeom>
          <a:solidFill>
            <a:srgbClr val="FFC1C1"/>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a:latin typeface="Huawei Sans"/>
                <a:ea typeface="方正兰亭黑简体"/>
                <a:cs typeface="方正兰亭黑简体"/>
              </a:rPr>
              <a:t>80286</a:t>
            </a:r>
            <a:endParaRPr lang="zh-CN" altLang="en-US" sz="900" b="0">
              <a:latin typeface="Huawei Sans"/>
              <a:ea typeface="方正兰亭黑简体"/>
              <a:cs typeface="方正兰亭黑简体"/>
            </a:endParaRPr>
          </a:p>
        </p:txBody>
      </p:sp>
      <p:sp>
        <p:nvSpPr>
          <p:cNvPr id="74814" name="矩形 20">
            <a:extLst>
              <a:ext uri="{FF2B5EF4-FFF2-40B4-BE49-F238E27FC236}">
                <a16:creationId xmlns:a16="http://schemas.microsoft.com/office/drawing/2014/main" id="{8DAFFCE8-96A7-1963-FF5F-7574FEC49B59}"/>
              </a:ext>
            </a:extLst>
          </p:cNvPr>
          <p:cNvSpPr>
            <a:spLocks noChangeArrowheads="1"/>
          </p:cNvSpPr>
          <p:nvPr/>
        </p:nvSpPr>
        <p:spPr bwMode="auto">
          <a:xfrm>
            <a:off x="2887663" y="2825750"/>
            <a:ext cx="650875" cy="215900"/>
          </a:xfrm>
          <a:prstGeom prst="rect">
            <a:avLst/>
          </a:prstGeom>
          <a:solidFill>
            <a:srgbClr val="7030A0"/>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solidFill>
                  <a:schemeClr val="bg1"/>
                </a:solidFill>
                <a:latin typeface="Huawei Sans"/>
                <a:ea typeface="方正兰亭黑简体"/>
                <a:cs typeface="方正兰亭黑简体"/>
              </a:rPr>
              <a:t>POWER1</a:t>
            </a:r>
            <a:endParaRPr lang="zh-CN" altLang="en-US" sz="900" b="0">
              <a:solidFill>
                <a:schemeClr val="bg1"/>
              </a:solidFill>
              <a:latin typeface="Huawei Sans"/>
              <a:ea typeface="方正兰亭黑简体"/>
              <a:cs typeface="方正兰亭黑简体"/>
            </a:endParaRPr>
          </a:p>
        </p:txBody>
      </p:sp>
      <p:pic>
        <p:nvPicPr>
          <p:cNvPr id="74815" name="图片 3">
            <a:extLst>
              <a:ext uri="{FF2B5EF4-FFF2-40B4-BE49-F238E27FC236}">
                <a16:creationId xmlns:a16="http://schemas.microsoft.com/office/drawing/2014/main" id="{B17707B2-1610-98C4-0547-EDE6B663E6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563" y="1690688"/>
            <a:ext cx="3460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816" name="图片 4">
            <a:extLst>
              <a:ext uri="{FF2B5EF4-FFF2-40B4-BE49-F238E27FC236}">
                <a16:creationId xmlns:a16="http://schemas.microsoft.com/office/drawing/2014/main" id="{9D5640E8-CFD7-C3EF-1C68-6D8BC5B3B5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3450" y="2286000"/>
            <a:ext cx="844550"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817" name="图片 7">
            <a:extLst>
              <a:ext uri="{FF2B5EF4-FFF2-40B4-BE49-F238E27FC236}">
                <a16:creationId xmlns:a16="http://schemas.microsoft.com/office/drawing/2014/main" id="{3879A9CA-AD92-F397-8532-7A8EEC9D6F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3488" y="2744788"/>
            <a:ext cx="801687"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818" name="图片 8">
            <a:extLst>
              <a:ext uri="{FF2B5EF4-FFF2-40B4-BE49-F238E27FC236}">
                <a16:creationId xmlns:a16="http://schemas.microsoft.com/office/drawing/2014/main" id="{278F9725-B6A1-DE94-3E3B-FBDB899B74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0756" t="30591" r="10603" b="29478"/>
          <a:stretch>
            <a:fillRect/>
          </a:stretch>
        </p:blipFill>
        <p:spPr bwMode="auto">
          <a:xfrm>
            <a:off x="2300288" y="3497263"/>
            <a:ext cx="1465262"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819" name="图片 10">
            <a:extLst>
              <a:ext uri="{FF2B5EF4-FFF2-40B4-BE49-F238E27FC236}">
                <a16:creationId xmlns:a16="http://schemas.microsoft.com/office/drawing/2014/main" id="{547F295C-504B-E10C-FBC1-D05F88CF83A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11400" y="4706938"/>
            <a:ext cx="862013"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820" name="图片 16">
            <a:extLst>
              <a:ext uri="{FF2B5EF4-FFF2-40B4-BE49-F238E27FC236}">
                <a16:creationId xmlns:a16="http://schemas.microsoft.com/office/drawing/2014/main" id="{62701D8A-9E36-8B26-B89A-C18CC0467A4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46275" y="4192588"/>
            <a:ext cx="1103313"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821" name="椭圆 76">
            <a:extLst>
              <a:ext uri="{FF2B5EF4-FFF2-40B4-BE49-F238E27FC236}">
                <a16:creationId xmlns:a16="http://schemas.microsoft.com/office/drawing/2014/main" id="{3AFC208E-477B-F8C4-EE83-288AB2E10CB2}"/>
              </a:ext>
            </a:extLst>
          </p:cNvPr>
          <p:cNvSpPr>
            <a:spLocks noChangeArrowheads="1"/>
          </p:cNvSpPr>
          <p:nvPr/>
        </p:nvSpPr>
        <p:spPr bwMode="auto">
          <a:xfrm>
            <a:off x="7404100" y="4743450"/>
            <a:ext cx="871538" cy="296863"/>
          </a:xfrm>
          <a:prstGeom prst="ellipse">
            <a:avLst/>
          </a:prstGeom>
          <a:solidFill>
            <a:schemeClr val="accent1"/>
          </a:solidFill>
          <a:ln w="9525" algn="ctr">
            <a:solidFill>
              <a:schemeClr val="tx1"/>
            </a:solidFill>
            <a:round/>
            <a:headEnd/>
            <a:tailEnd/>
          </a:ln>
        </p:spPr>
        <p:txBody>
          <a:bodyPr lIns="0" tIns="0" rIns="0" bIns="0" anchor="ctr" anchorCtr="1"/>
          <a:lstStyle>
            <a:lvl1pPr defTabSz="685800">
              <a:spcBef>
                <a:spcPct val="20000"/>
              </a:spcBef>
              <a:buChar char="•"/>
              <a:defRPr sz="2800">
                <a:solidFill>
                  <a:schemeClr val="tx1"/>
                </a:solidFill>
                <a:latin typeface="Comic Sans MS" panose="030F0902030302020204" pitchFamily="66" charset="0"/>
              </a:defRPr>
            </a:lvl1pPr>
            <a:lvl2pPr marL="742950" indent="-285750" defTabSz="685800">
              <a:spcBef>
                <a:spcPct val="20000"/>
              </a:spcBef>
              <a:buChar char="–"/>
              <a:defRPr sz="2400">
                <a:solidFill>
                  <a:schemeClr val="tx1"/>
                </a:solidFill>
                <a:latin typeface="Comic Sans MS" panose="030F0902030302020204" pitchFamily="66" charset="0"/>
              </a:defRPr>
            </a:lvl2pPr>
            <a:lvl3pPr marL="1143000" indent="-228600" defTabSz="685800">
              <a:spcBef>
                <a:spcPct val="20000"/>
              </a:spcBef>
              <a:buChar char="•"/>
              <a:defRPr sz="2000">
                <a:solidFill>
                  <a:schemeClr val="tx1"/>
                </a:solidFill>
                <a:latin typeface="Comic Sans MS" panose="030F0902030302020204" pitchFamily="66" charset="0"/>
              </a:defRPr>
            </a:lvl3pPr>
            <a:lvl4pPr marL="1600200" indent="-228600" defTabSz="685800">
              <a:spcBef>
                <a:spcPct val="20000"/>
              </a:spcBef>
              <a:buChar char="–"/>
              <a:defRPr sz="2000">
                <a:solidFill>
                  <a:schemeClr val="tx1"/>
                </a:solidFill>
                <a:latin typeface="Comic Sans MS" panose="030F0902030302020204" pitchFamily="66" charset="0"/>
              </a:defRPr>
            </a:lvl4pPr>
            <a:lvl5pPr marL="2057400" indent="-228600" defTabSz="685800">
              <a:spcBef>
                <a:spcPct val="20000"/>
              </a:spcBef>
              <a:buChar char="»"/>
              <a:defRPr sz="2000">
                <a:solidFill>
                  <a:schemeClr val="tx1"/>
                </a:solidFill>
                <a:latin typeface="Comic Sans MS" panose="030F0902030302020204" pitchFamily="66" charset="0"/>
              </a:defRPr>
            </a:lvl5pPr>
            <a:lvl6pPr marL="25146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6858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fontAlgn="t" hangingPunct="1">
              <a:spcBef>
                <a:spcPct val="0"/>
              </a:spcBef>
              <a:buFontTx/>
              <a:buNone/>
            </a:pPr>
            <a:r>
              <a:rPr lang="en-US" altLang="zh-CN" sz="900" b="0">
                <a:latin typeface="Huawei Sans"/>
                <a:ea typeface="方正兰亭黑简体"/>
                <a:cs typeface="方正兰亭黑简体"/>
              </a:rPr>
              <a:t>ARMv8</a:t>
            </a:r>
            <a:endParaRPr lang="zh-CN" altLang="en-US" sz="900" b="0">
              <a:latin typeface="Huawei Sans"/>
              <a:ea typeface="方正兰亭黑简体"/>
              <a:cs typeface="方正兰亭黑简体"/>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a:extLst>
              <a:ext uri="{FF2B5EF4-FFF2-40B4-BE49-F238E27FC236}">
                <a16:creationId xmlns:a16="http://schemas.microsoft.com/office/drawing/2014/main" id="{3F0F6E74-6EFA-43A4-5EEC-AC987F6ECCE0}"/>
              </a:ext>
            </a:extLst>
          </p:cNvPr>
          <p:cNvSpPr>
            <a:spLocks noGrp="1" noChangeArrowheads="1"/>
          </p:cNvSpPr>
          <p:nvPr>
            <p:ph type="title"/>
          </p:nvPr>
        </p:nvSpPr>
        <p:spPr>
          <a:xfrm>
            <a:off x="549275" y="447675"/>
            <a:ext cx="8045450" cy="485775"/>
          </a:xfrm>
        </p:spPr>
        <p:txBody>
          <a:bodyPr/>
          <a:lstStyle/>
          <a:p>
            <a:r>
              <a:rPr lang="en-US" altLang="zh-CN">
                <a:latin typeface="Huawei Sans"/>
                <a:ea typeface="方正兰亭黑简体"/>
                <a:cs typeface="方正兰亭黑简体"/>
              </a:rPr>
              <a:t>ARM</a:t>
            </a:r>
            <a:r>
              <a:rPr>
                <a:latin typeface="Huawei Sans"/>
                <a:ea typeface="方正兰亭黑简体"/>
                <a:cs typeface="方正兰亭黑简体"/>
              </a:rPr>
              <a:t>提供更多计算核心</a:t>
            </a:r>
          </a:p>
        </p:txBody>
      </p:sp>
      <p:sp>
        <p:nvSpPr>
          <p:cNvPr id="76802" name="文本占位符 12">
            <a:extLst>
              <a:ext uri="{FF2B5EF4-FFF2-40B4-BE49-F238E27FC236}">
                <a16:creationId xmlns:a16="http://schemas.microsoft.com/office/drawing/2014/main" id="{A25CD1FF-8E00-4BFC-B291-580977F2CB6F}"/>
              </a:ext>
            </a:extLst>
          </p:cNvPr>
          <p:cNvSpPr>
            <a:spLocks noGrp="1" noChangeArrowheads="1"/>
          </p:cNvSpPr>
          <p:nvPr>
            <p:ph type="body" sz="quarter" idx="10"/>
          </p:nvPr>
        </p:nvSpPr>
        <p:spPr>
          <a:xfrm>
            <a:off x="549275" y="1520825"/>
            <a:ext cx="8045450" cy="4879975"/>
          </a:xfrm>
        </p:spPr>
        <p:txBody>
          <a:bodyPr/>
          <a:lstStyle/>
          <a:p>
            <a:pPr marL="215900" indent="-215900">
              <a:spcBef>
                <a:spcPts val="450"/>
              </a:spcBef>
            </a:pPr>
            <a:r>
              <a:rPr lang="zh-CN" altLang="en-US">
                <a:latin typeface="Huawei Sans"/>
                <a:ea typeface="方正兰亭黑简体"/>
                <a:cs typeface="Huawei Sans"/>
              </a:rPr>
              <a:t>工艺、主频遇到瓶颈后，开始通过增加核数的方式来提升性能；</a:t>
            </a:r>
            <a:endParaRPr lang="en-US" altLang="zh-CN">
              <a:latin typeface="Huawei Sans"/>
              <a:ea typeface="方正兰亭黑简体"/>
              <a:cs typeface="Huawei Sans"/>
            </a:endParaRPr>
          </a:p>
          <a:p>
            <a:pPr marL="215900" indent="-215900">
              <a:spcBef>
                <a:spcPts val="450"/>
              </a:spcBef>
            </a:pPr>
            <a:r>
              <a:rPr lang="zh-CN" altLang="en-US">
                <a:latin typeface="Huawei Sans"/>
                <a:ea typeface="方正兰亭黑简体"/>
                <a:cs typeface="Huawei Sans"/>
              </a:rPr>
              <a:t>芯片的物理尺寸有限制，不能无限制的增加；</a:t>
            </a:r>
            <a:endParaRPr lang="en-US" altLang="zh-CN">
              <a:latin typeface="Huawei Sans"/>
              <a:ea typeface="方正兰亭黑简体"/>
              <a:cs typeface="Huawei Sans"/>
            </a:endParaRPr>
          </a:p>
          <a:p>
            <a:pPr marL="215900" indent="-215900">
              <a:spcBef>
                <a:spcPts val="450"/>
              </a:spcBef>
            </a:pPr>
            <a:r>
              <a:rPr lang="en-US" altLang="zh-CN">
                <a:latin typeface="Huawei Sans"/>
                <a:ea typeface="方正兰亭黑简体"/>
                <a:cs typeface="Huawei Sans"/>
              </a:rPr>
              <a:t>ARM</a:t>
            </a:r>
            <a:r>
              <a:rPr lang="zh-CN" altLang="en-US">
                <a:latin typeface="Huawei Sans"/>
                <a:ea typeface="方正兰亭黑简体"/>
                <a:cs typeface="Huawei Sans"/>
              </a:rPr>
              <a:t>的众核横向扩展空间优势明显。</a:t>
            </a:r>
          </a:p>
        </p:txBody>
      </p:sp>
      <p:sp>
        <p:nvSpPr>
          <p:cNvPr id="50" name="Rounded Rectangle 49">
            <a:extLst>
              <a:ext uri="{FF2B5EF4-FFF2-40B4-BE49-F238E27FC236}">
                <a16:creationId xmlns:a16="http://schemas.microsoft.com/office/drawing/2014/main" id="{ADBBD0BF-CDC0-89B4-A54A-65A686E58B42}"/>
              </a:ext>
            </a:extLst>
          </p:cNvPr>
          <p:cNvSpPr>
            <a:spLocks/>
          </p:cNvSpPr>
          <p:nvPr/>
        </p:nvSpPr>
        <p:spPr>
          <a:xfrm>
            <a:off x="5016500" y="4327525"/>
            <a:ext cx="647700" cy="647700"/>
          </a:xfrm>
          <a:prstGeom prst="roundRect">
            <a:avLst/>
          </a:prstGeom>
          <a:solidFill>
            <a:srgbClr val="C7000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51" name="Right Arrow 50">
            <a:extLst>
              <a:ext uri="{FF2B5EF4-FFF2-40B4-BE49-F238E27FC236}">
                <a16:creationId xmlns:a16="http://schemas.microsoft.com/office/drawing/2014/main" id="{4D9AEFE2-E1A4-F48D-B6F7-0FFC4377BE6C}"/>
              </a:ext>
            </a:extLst>
          </p:cNvPr>
          <p:cNvSpPr/>
          <p:nvPr/>
        </p:nvSpPr>
        <p:spPr>
          <a:xfrm>
            <a:off x="5719763" y="4575175"/>
            <a:ext cx="582612" cy="119063"/>
          </a:xfrm>
          <a:prstGeom prst="rightArrow">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52" name="Right Arrow 51">
            <a:extLst>
              <a:ext uri="{FF2B5EF4-FFF2-40B4-BE49-F238E27FC236}">
                <a16:creationId xmlns:a16="http://schemas.microsoft.com/office/drawing/2014/main" id="{9753CA76-5F5F-6E09-3A99-E44E2C4DD8C8}"/>
              </a:ext>
            </a:extLst>
          </p:cNvPr>
          <p:cNvSpPr/>
          <p:nvPr/>
        </p:nvSpPr>
        <p:spPr>
          <a:xfrm>
            <a:off x="7126288" y="4560888"/>
            <a:ext cx="582612" cy="119062"/>
          </a:xfrm>
          <a:prstGeom prst="rightArrow">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nvGrpSpPr>
          <p:cNvPr id="76806" name="组合 8">
            <a:extLst>
              <a:ext uri="{FF2B5EF4-FFF2-40B4-BE49-F238E27FC236}">
                <a16:creationId xmlns:a16="http://schemas.microsoft.com/office/drawing/2014/main" id="{4D7E590C-DA46-F2BC-FF20-A1DEA4479FFA}"/>
              </a:ext>
            </a:extLst>
          </p:cNvPr>
          <p:cNvGrpSpPr>
            <a:grpSpLocks/>
          </p:cNvGrpSpPr>
          <p:nvPr/>
        </p:nvGrpSpPr>
        <p:grpSpPr bwMode="auto">
          <a:xfrm>
            <a:off x="6383338" y="4321175"/>
            <a:ext cx="647700" cy="647700"/>
            <a:chOff x="8598094" y="4160562"/>
            <a:chExt cx="864000" cy="885182"/>
          </a:xfrm>
        </p:grpSpPr>
        <p:sp>
          <p:nvSpPr>
            <p:cNvPr id="54" name="Rounded Rectangle 53">
              <a:extLst>
                <a:ext uri="{FF2B5EF4-FFF2-40B4-BE49-F238E27FC236}">
                  <a16:creationId xmlns:a16="http://schemas.microsoft.com/office/drawing/2014/main" id="{545F93FE-06FC-9B3C-EF74-9B1AAE200312}"/>
                </a:ext>
              </a:extLst>
            </p:cNvPr>
            <p:cNvSpPr/>
            <p:nvPr/>
          </p:nvSpPr>
          <p:spPr>
            <a:xfrm>
              <a:off x="8598094" y="4160562"/>
              <a:ext cx="864000" cy="88518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55" name="Rounded Rectangle 54">
              <a:extLst>
                <a:ext uri="{FF2B5EF4-FFF2-40B4-BE49-F238E27FC236}">
                  <a16:creationId xmlns:a16="http://schemas.microsoft.com/office/drawing/2014/main" id="{870FCE18-0152-8076-6721-96E287FE81DC}"/>
                </a:ext>
              </a:extLst>
            </p:cNvPr>
            <p:cNvSpPr>
              <a:spLocks noChangeAspect="1"/>
            </p:cNvSpPr>
            <p:nvPr/>
          </p:nvSpPr>
          <p:spPr>
            <a:xfrm>
              <a:off x="8706093" y="4318941"/>
              <a:ext cx="216000" cy="22129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56" name="Rounded Rectangle 55">
              <a:extLst>
                <a:ext uri="{FF2B5EF4-FFF2-40B4-BE49-F238E27FC236}">
                  <a16:creationId xmlns:a16="http://schemas.microsoft.com/office/drawing/2014/main" id="{17ADF211-DEB9-E88D-EA8B-EA6829A1DCC9}"/>
                </a:ext>
              </a:extLst>
            </p:cNvPr>
            <p:cNvSpPr>
              <a:spLocks noChangeAspect="1"/>
            </p:cNvSpPr>
            <p:nvPr/>
          </p:nvSpPr>
          <p:spPr>
            <a:xfrm>
              <a:off x="9148682" y="4316771"/>
              <a:ext cx="213882" cy="22129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57" name="Rounded Rectangle 56">
              <a:extLst>
                <a:ext uri="{FF2B5EF4-FFF2-40B4-BE49-F238E27FC236}">
                  <a16:creationId xmlns:a16="http://schemas.microsoft.com/office/drawing/2014/main" id="{F559451F-12B0-FD0E-79BA-93DB1E2D9C57}"/>
                </a:ext>
              </a:extLst>
            </p:cNvPr>
            <p:cNvSpPr>
              <a:spLocks noChangeAspect="1"/>
            </p:cNvSpPr>
            <p:nvPr/>
          </p:nvSpPr>
          <p:spPr>
            <a:xfrm>
              <a:off x="8708212" y="4646544"/>
              <a:ext cx="216000" cy="22129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58" name="Rounded Rectangle 57">
              <a:extLst>
                <a:ext uri="{FF2B5EF4-FFF2-40B4-BE49-F238E27FC236}">
                  <a16:creationId xmlns:a16="http://schemas.microsoft.com/office/drawing/2014/main" id="{65BDC4FA-945A-30EC-C5E4-DC774C9660D4}"/>
                </a:ext>
              </a:extLst>
            </p:cNvPr>
            <p:cNvSpPr>
              <a:spLocks noChangeAspect="1"/>
            </p:cNvSpPr>
            <p:nvPr/>
          </p:nvSpPr>
          <p:spPr>
            <a:xfrm>
              <a:off x="9148682" y="4650883"/>
              <a:ext cx="213882" cy="22129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sp>
        <p:nvSpPr>
          <p:cNvPr id="76807" name="TextBox 60">
            <a:extLst>
              <a:ext uri="{FF2B5EF4-FFF2-40B4-BE49-F238E27FC236}">
                <a16:creationId xmlns:a16="http://schemas.microsoft.com/office/drawing/2014/main" id="{222D8755-BC59-7432-0E33-3C98D846B2FB}"/>
              </a:ext>
            </a:extLst>
          </p:cNvPr>
          <p:cNvSpPr txBox="1">
            <a:spLocks noChangeArrowheads="1"/>
          </p:cNvSpPr>
          <p:nvPr/>
        </p:nvSpPr>
        <p:spPr bwMode="auto">
          <a:xfrm>
            <a:off x="5016500" y="4086225"/>
            <a:ext cx="5937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200">
                <a:latin typeface="Huawei Sans"/>
                <a:ea typeface="方正兰亭黑简体"/>
                <a:cs typeface="Lucida Sans" panose="020B0602030504020204" pitchFamily="34" charset="0"/>
              </a:rPr>
              <a:t>单核</a:t>
            </a:r>
          </a:p>
        </p:txBody>
      </p:sp>
      <p:sp>
        <p:nvSpPr>
          <p:cNvPr id="76808" name="TextBox 168">
            <a:extLst>
              <a:ext uri="{FF2B5EF4-FFF2-40B4-BE49-F238E27FC236}">
                <a16:creationId xmlns:a16="http://schemas.microsoft.com/office/drawing/2014/main" id="{4B0335A8-3953-2ADD-E4DC-882F61CEDFC3}"/>
              </a:ext>
            </a:extLst>
          </p:cNvPr>
          <p:cNvSpPr txBox="1">
            <a:spLocks noChangeArrowheads="1"/>
          </p:cNvSpPr>
          <p:nvPr/>
        </p:nvSpPr>
        <p:spPr bwMode="auto">
          <a:xfrm>
            <a:off x="6378575" y="4086225"/>
            <a:ext cx="5937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200">
                <a:latin typeface="Huawei Sans"/>
                <a:ea typeface="方正兰亭黑简体"/>
                <a:cs typeface="Lucida Sans" panose="020B0602030504020204" pitchFamily="34" charset="0"/>
              </a:rPr>
              <a:t>多核</a:t>
            </a:r>
          </a:p>
        </p:txBody>
      </p:sp>
      <p:sp>
        <p:nvSpPr>
          <p:cNvPr id="76809" name="TextBox 169">
            <a:extLst>
              <a:ext uri="{FF2B5EF4-FFF2-40B4-BE49-F238E27FC236}">
                <a16:creationId xmlns:a16="http://schemas.microsoft.com/office/drawing/2014/main" id="{9F3307F6-34CF-5134-DBD4-8FB14E7C7455}"/>
              </a:ext>
            </a:extLst>
          </p:cNvPr>
          <p:cNvSpPr txBox="1">
            <a:spLocks noChangeArrowheads="1"/>
          </p:cNvSpPr>
          <p:nvPr/>
        </p:nvSpPr>
        <p:spPr bwMode="auto">
          <a:xfrm>
            <a:off x="7812088" y="4086225"/>
            <a:ext cx="5953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200">
                <a:latin typeface="Huawei Sans"/>
                <a:ea typeface="方正兰亭黑简体"/>
                <a:cs typeface="Lucida Sans" panose="020B0602030504020204" pitchFamily="34" charset="0"/>
              </a:rPr>
              <a:t>众核</a:t>
            </a:r>
          </a:p>
        </p:txBody>
      </p:sp>
      <p:grpSp>
        <p:nvGrpSpPr>
          <p:cNvPr id="76810" name="组合 14">
            <a:extLst>
              <a:ext uri="{FF2B5EF4-FFF2-40B4-BE49-F238E27FC236}">
                <a16:creationId xmlns:a16="http://schemas.microsoft.com/office/drawing/2014/main" id="{B03AC023-4EC7-49C3-3F74-EDE888E18F15}"/>
              </a:ext>
            </a:extLst>
          </p:cNvPr>
          <p:cNvGrpSpPr>
            <a:grpSpLocks/>
          </p:cNvGrpSpPr>
          <p:nvPr/>
        </p:nvGrpSpPr>
        <p:grpSpPr bwMode="auto">
          <a:xfrm>
            <a:off x="730250" y="3595688"/>
            <a:ext cx="4168775" cy="2198687"/>
            <a:chOff x="6417302" y="2236670"/>
            <a:chExt cx="4281052" cy="2300644"/>
          </a:xfrm>
        </p:grpSpPr>
        <p:pic>
          <p:nvPicPr>
            <p:cNvPr id="76892" name="Picture 3">
              <a:extLst>
                <a:ext uri="{FF2B5EF4-FFF2-40B4-BE49-F238E27FC236}">
                  <a16:creationId xmlns:a16="http://schemas.microsoft.com/office/drawing/2014/main" id="{283B811B-64E8-6F01-F240-E7E29F5DCD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7302" y="2236670"/>
              <a:ext cx="4281052" cy="2300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93" name="TextBox 13">
              <a:extLst>
                <a:ext uri="{FF2B5EF4-FFF2-40B4-BE49-F238E27FC236}">
                  <a16:creationId xmlns:a16="http://schemas.microsoft.com/office/drawing/2014/main" id="{94138BE9-C413-859E-E5E4-8884DB3929AB}"/>
                </a:ext>
              </a:extLst>
            </p:cNvPr>
            <p:cNvSpPr txBox="1">
              <a:spLocks noChangeArrowheads="1"/>
            </p:cNvSpPr>
            <p:nvPr/>
          </p:nvSpPr>
          <p:spPr bwMode="auto">
            <a:xfrm>
              <a:off x="6630695" y="3675772"/>
              <a:ext cx="1026171" cy="386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900">
                  <a:latin typeface="Huawei Sans"/>
                  <a:ea typeface="方正兰亭黑简体"/>
                  <a:cs typeface="方正兰亭黑简体"/>
                </a:rPr>
                <a:t>单个</a:t>
              </a:r>
              <a:r>
                <a:rPr lang="en-US" altLang="zh-CN" sz="900">
                  <a:latin typeface="Huawei Sans"/>
                  <a:ea typeface="方正兰亭黑简体"/>
                  <a:cs typeface="方正兰亭黑简体"/>
                </a:rPr>
                <a:t>ARM</a:t>
              </a:r>
              <a:r>
                <a:rPr lang="zh-CN" altLang="en-US" sz="900">
                  <a:latin typeface="Huawei Sans"/>
                  <a:ea typeface="方正兰亭黑简体"/>
                  <a:cs typeface="方正兰亭黑简体"/>
                </a:rPr>
                <a:t>核面积</a:t>
              </a:r>
              <a:endParaRPr lang="en-US" altLang="zh-CN" sz="900">
                <a:latin typeface="Huawei Sans"/>
                <a:ea typeface="方正兰亭黑简体"/>
                <a:cs typeface="方正兰亭黑简体"/>
              </a:endParaRPr>
            </a:p>
            <a:p>
              <a:pPr algn="ctr">
                <a:spcBef>
                  <a:spcPct val="0"/>
                </a:spcBef>
                <a:buFontTx/>
                <a:buNone/>
              </a:pPr>
              <a:r>
                <a:rPr lang="zh-CN" altLang="en-US" sz="900">
                  <a:latin typeface="Huawei Sans"/>
                  <a:ea typeface="方正兰亭黑简体"/>
                  <a:cs typeface="方正兰亭黑简体"/>
                </a:rPr>
                <a:t>≈</a:t>
              </a:r>
              <a:r>
                <a:rPr lang="en-US" altLang="zh-CN" sz="900">
                  <a:latin typeface="Huawei Sans"/>
                  <a:ea typeface="方正兰亭黑简体"/>
                  <a:cs typeface="方正兰亭黑简体"/>
                </a:rPr>
                <a:t>1.15mm</a:t>
              </a:r>
              <a:r>
                <a:rPr lang="en-US" altLang="zh-CN" sz="900" baseline="30000">
                  <a:latin typeface="Huawei Sans"/>
                  <a:ea typeface="方正兰亭黑简体"/>
                  <a:cs typeface="方正兰亭黑简体"/>
                </a:rPr>
                <a:t>2</a:t>
              </a:r>
              <a:endParaRPr lang="zh-CN" altLang="en-US" sz="900" baseline="30000">
                <a:latin typeface="Huawei Sans"/>
                <a:ea typeface="方正兰亭黑简体"/>
                <a:cs typeface="方正兰亭黑简体"/>
              </a:endParaRPr>
            </a:p>
          </p:txBody>
        </p:sp>
        <p:sp>
          <p:nvSpPr>
            <p:cNvPr id="76894" name="TextBox 176">
              <a:extLst>
                <a:ext uri="{FF2B5EF4-FFF2-40B4-BE49-F238E27FC236}">
                  <a16:creationId xmlns:a16="http://schemas.microsoft.com/office/drawing/2014/main" id="{E3A1C7A2-57EF-657B-770B-A91716312A42}"/>
                </a:ext>
              </a:extLst>
            </p:cNvPr>
            <p:cNvSpPr txBox="1">
              <a:spLocks noChangeArrowheads="1"/>
            </p:cNvSpPr>
            <p:nvPr/>
          </p:nvSpPr>
          <p:spPr bwMode="auto">
            <a:xfrm>
              <a:off x="7898667" y="2473419"/>
              <a:ext cx="1332147" cy="386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900">
                  <a:latin typeface="Huawei Sans"/>
                  <a:ea typeface="方正兰亭黑简体"/>
                  <a:cs typeface="方正兰亭黑简体"/>
                </a:rPr>
                <a:t>单个</a:t>
              </a:r>
              <a:r>
                <a:rPr lang="en-US" altLang="zh-CN" sz="900">
                  <a:latin typeface="Huawei Sans"/>
                  <a:ea typeface="方正兰亭黑简体"/>
                  <a:cs typeface="方正兰亭黑简体"/>
                </a:rPr>
                <a:t>X86</a:t>
              </a:r>
              <a:r>
                <a:rPr lang="zh-CN" altLang="en-US" sz="900">
                  <a:latin typeface="Huawei Sans"/>
                  <a:ea typeface="方正兰亭黑简体"/>
                  <a:cs typeface="方正兰亭黑简体"/>
                </a:rPr>
                <a:t>核面积</a:t>
              </a:r>
              <a:endParaRPr lang="en-US" altLang="zh-CN" sz="900">
                <a:latin typeface="Huawei Sans"/>
                <a:ea typeface="方正兰亭黑简体"/>
                <a:cs typeface="方正兰亭黑简体"/>
              </a:endParaRPr>
            </a:p>
            <a:p>
              <a:pPr algn="ctr">
                <a:spcBef>
                  <a:spcPct val="0"/>
                </a:spcBef>
                <a:buFontTx/>
                <a:buNone/>
              </a:pPr>
              <a:r>
                <a:rPr lang="zh-CN" altLang="en-US" sz="900">
                  <a:latin typeface="Huawei Sans"/>
                  <a:ea typeface="方正兰亭黑简体"/>
                  <a:cs typeface="方正兰亭黑简体"/>
                </a:rPr>
                <a:t>≈</a:t>
              </a:r>
              <a:r>
                <a:rPr lang="en-US" altLang="zh-CN" sz="900">
                  <a:latin typeface="Huawei Sans"/>
                  <a:ea typeface="方正兰亭黑简体"/>
                  <a:cs typeface="方正兰亭黑简体"/>
                </a:rPr>
                <a:t>8mm</a:t>
              </a:r>
              <a:r>
                <a:rPr lang="en-US" altLang="zh-CN" sz="900" baseline="30000">
                  <a:latin typeface="Huawei Sans"/>
                  <a:ea typeface="方正兰亭黑简体"/>
                  <a:cs typeface="方正兰亭黑简体"/>
                </a:rPr>
                <a:t>2</a:t>
              </a:r>
              <a:endParaRPr lang="zh-CN" altLang="en-US" sz="900" baseline="30000">
                <a:latin typeface="Huawei Sans"/>
                <a:ea typeface="方正兰亭黑简体"/>
                <a:cs typeface="方正兰亭黑简体"/>
              </a:endParaRPr>
            </a:p>
          </p:txBody>
        </p:sp>
      </p:grpSp>
      <p:grpSp>
        <p:nvGrpSpPr>
          <p:cNvPr id="76811" name="组合 5">
            <a:extLst>
              <a:ext uri="{FF2B5EF4-FFF2-40B4-BE49-F238E27FC236}">
                <a16:creationId xmlns:a16="http://schemas.microsoft.com/office/drawing/2014/main" id="{6039FFA9-34EB-C35D-A3CB-B4778192C645}"/>
              </a:ext>
            </a:extLst>
          </p:cNvPr>
          <p:cNvGrpSpPr>
            <a:grpSpLocks/>
          </p:cNvGrpSpPr>
          <p:nvPr/>
        </p:nvGrpSpPr>
        <p:grpSpPr bwMode="auto">
          <a:xfrm>
            <a:off x="7800975" y="4321175"/>
            <a:ext cx="647700" cy="647700"/>
            <a:chOff x="7748545" y="5296090"/>
            <a:chExt cx="864000" cy="864000"/>
          </a:xfrm>
        </p:grpSpPr>
        <p:sp>
          <p:nvSpPr>
            <p:cNvPr id="3" name="圆角矩形 2">
              <a:extLst>
                <a:ext uri="{FF2B5EF4-FFF2-40B4-BE49-F238E27FC236}">
                  <a16:creationId xmlns:a16="http://schemas.microsoft.com/office/drawing/2014/main" id="{FB298ACC-369A-39C0-626E-FBA4AC25B738}"/>
                </a:ext>
              </a:extLst>
            </p:cNvPr>
            <p:cNvSpPr/>
            <p:nvPr/>
          </p:nvSpPr>
          <p:spPr>
            <a:xfrm>
              <a:off x="7748545" y="5296090"/>
              <a:ext cx="864000" cy="8640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grpSp>
          <p:nvGrpSpPr>
            <p:cNvPr id="76813" name="组合 4">
              <a:extLst>
                <a:ext uri="{FF2B5EF4-FFF2-40B4-BE49-F238E27FC236}">
                  <a16:creationId xmlns:a16="http://schemas.microsoft.com/office/drawing/2014/main" id="{59AF97BB-07AA-9518-EFCD-58172D8C6AF8}"/>
                </a:ext>
              </a:extLst>
            </p:cNvPr>
            <p:cNvGrpSpPr>
              <a:grpSpLocks/>
            </p:cNvGrpSpPr>
            <p:nvPr/>
          </p:nvGrpSpPr>
          <p:grpSpPr bwMode="auto">
            <a:xfrm>
              <a:off x="7804291" y="5357393"/>
              <a:ext cx="759034" cy="162600"/>
              <a:chOff x="7804291" y="5357393"/>
              <a:chExt cx="759034" cy="162600"/>
            </a:xfrm>
          </p:grpSpPr>
          <p:grpSp>
            <p:nvGrpSpPr>
              <p:cNvPr id="76868" name="Group 52">
                <a:extLst>
                  <a:ext uri="{FF2B5EF4-FFF2-40B4-BE49-F238E27FC236}">
                    <a16:creationId xmlns:a16="http://schemas.microsoft.com/office/drawing/2014/main" id="{C6E3E18E-D40B-545C-BF39-A641E8CF0754}"/>
                  </a:ext>
                </a:extLst>
              </p:cNvPr>
              <p:cNvGrpSpPr>
                <a:grpSpLocks noChangeAspect="1"/>
              </p:cNvGrpSpPr>
              <p:nvPr/>
            </p:nvGrpSpPr>
            <p:grpSpPr bwMode="auto">
              <a:xfrm>
                <a:off x="7804291" y="5357393"/>
                <a:ext cx="158709" cy="162600"/>
                <a:chOff x="3703320" y="1812035"/>
                <a:chExt cx="1069848" cy="1069848"/>
              </a:xfrm>
            </p:grpSpPr>
            <p:sp>
              <p:nvSpPr>
                <p:cNvPr id="25" name="Rounded Rectangle 53">
                  <a:extLst>
                    <a:ext uri="{FF2B5EF4-FFF2-40B4-BE49-F238E27FC236}">
                      <a16:creationId xmlns:a16="http://schemas.microsoft.com/office/drawing/2014/main" id="{1F3764AE-8416-8007-A9A8-70CB242EC2EE}"/>
                    </a:ext>
                  </a:extLst>
                </p:cNvPr>
                <p:cNvSpPr/>
                <p:nvPr/>
              </p:nvSpPr>
              <p:spPr>
                <a:xfrm>
                  <a:off x="3698689" y="1812755"/>
                  <a:ext cx="1070621" cy="1072858"/>
                </a:xfrm>
                <a:prstGeom prst="roundRect">
                  <a:avLst/>
                </a:prstGeom>
                <a:solidFill>
                  <a:schemeClr val="accent1">
                    <a:alpha val="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26" name="Rounded Rectangle 54">
                  <a:extLst>
                    <a:ext uri="{FF2B5EF4-FFF2-40B4-BE49-F238E27FC236}">
                      <a16:creationId xmlns:a16="http://schemas.microsoft.com/office/drawing/2014/main" id="{8D722CE2-ADE5-8D35-32EC-B1B5C2442DE9}"/>
                    </a:ext>
                  </a:extLst>
                </p:cNvPr>
                <p:cNvSpPr>
                  <a:spLocks noChangeAspect="1"/>
                </p:cNvSpPr>
                <p:nvPr/>
              </p:nvSpPr>
              <p:spPr>
                <a:xfrm>
                  <a:off x="3841438" y="1979954"/>
                  <a:ext cx="256948"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28" name="Rounded Rectangle 55">
                  <a:extLst>
                    <a:ext uri="{FF2B5EF4-FFF2-40B4-BE49-F238E27FC236}">
                      <a16:creationId xmlns:a16="http://schemas.microsoft.com/office/drawing/2014/main" id="{846F8BF8-3187-513C-6172-E5B779D88D62}"/>
                    </a:ext>
                  </a:extLst>
                </p:cNvPr>
                <p:cNvSpPr>
                  <a:spLocks noChangeAspect="1"/>
                </p:cNvSpPr>
                <p:nvPr/>
              </p:nvSpPr>
              <p:spPr>
                <a:xfrm>
                  <a:off x="4383884" y="1979954"/>
                  <a:ext cx="271227"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29" name="Rounded Rectangle 56">
                  <a:extLst>
                    <a:ext uri="{FF2B5EF4-FFF2-40B4-BE49-F238E27FC236}">
                      <a16:creationId xmlns:a16="http://schemas.microsoft.com/office/drawing/2014/main" id="{2627103E-C2C6-1455-B555-7CA579324545}"/>
                    </a:ext>
                  </a:extLst>
                </p:cNvPr>
                <p:cNvSpPr>
                  <a:spLocks noChangeAspect="1"/>
                </p:cNvSpPr>
                <p:nvPr/>
              </p:nvSpPr>
              <p:spPr>
                <a:xfrm>
                  <a:off x="3841438" y="2397953"/>
                  <a:ext cx="256948"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30" name="Rounded Rectangle 57">
                  <a:extLst>
                    <a:ext uri="{FF2B5EF4-FFF2-40B4-BE49-F238E27FC236}">
                      <a16:creationId xmlns:a16="http://schemas.microsoft.com/office/drawing/2014/main" id="{E19ADD01-3682-38CB-720E-B6F50C5DE5E6}"/>
                    </a:ext>
                  </a:extLst>
                </p:cNvPr>
                <p:cNvSpPr>
                  <a:spLocks noChangeAspect="1"/>
                </p:cNvSpPr>
                <p:nvPr/>
              </p:nvSpPr>
              <p:spPr>
                <a:xfrm>
                  <a:off x="4383884" y="2397953"/>
                  <a:ext cx="271227"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nvGrpSpPr>
              <p:cNvPr id="76869" name="Group 52">
                <a:extLst>
                  <a:ext uri="{FF2B5EF4-FFF2-40B4-BE49-F238E27FC236}">
                    <a16:creationId xmlns:a16="http://schemas.microsoft.com/office/drawing/2014/main" id="{FD04E9A7-CBE1-B802-273B-31008B184D3B}"/>
                  </a:ext>
                </a:extLst>
              </p:cNvPr>
              <p:cNvGrpSpPr>
                <a:grpSpLocks noChangeAspect="1"/>
              </p:cNvGrpSpPr>
              <p:nvPr/>
            </p:nvGrpSpPr>
            <p:grpSpPr bwMode="auto">
              <a:xfrm>
                <a:off x="8003073" y="5357393"/>
                <a:ext cx="158709" cy="162600"/>
                <a:chOff x="3703320" y="1812035"/>
                <a:chExt cx="1069848" cy="1069848"/>
              </a:xfrm>
            </p:grpSpPr>
            <p:sp>
              <p:nvSpPr>
                <p:cNvPr id="32" name="Rounded Rectangle 53">
                  <a:extLst>
                    <a:ext uri="{FF2B5EF4-FFF2-40B4-BE49-F238E27FC236}">
                      <a16:creationId xmlns:a16="http://schemas.microsoft.com/office/drawing/2014/main" id="{D71F8D6D-56CB-BADB-7187-CC110881160C}"/>
                    </a:ext>
                  </a:extLst>
                </p:cNvPr>
                <p:cNvSpPr/>
                <p:nvPr/>
              </p:nvSpPr>
              <p:spPr>
                <a:xfrm>
                  <a:off x="3700559" y="1812755"/>
                  <a:ext cx="1070621" cy="1072858"/>
                </a:xfrm>
                <a:prstGeom prst="roundRect">
                  <a:avLst/>
                </a:prstGeom>
                <a:solidFill>
                  <a:schemeClr val="accent1">
                    <a:alpha val="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33" name="Rounded Rectangle 54">
                  <a:extLst>
                    <a:ext uri="{FF2B5EF4-FFF2-40B4-BE49-F238E27FC236}">
                      <a16:creationId xmlns:a16="http://schemas.microsoft.com/office/drawing/2014/main" id="{AB67215A-910D-4420-159F-41B3448EF043}"/>
                    </a:ext>
                  </a:extLst>
                </p:cNvPr>
                <p:cNvSpPr>
                  <a:spLocks noChangeAspect="1"/>
                </p:cNvSpPr>
                <p:nvPr/>
              </p:nvSpPr>
              <p:spPr>
                <a:xfrm>
                  <a:off x="3843308" y="1979954"/>
                  <a:ext cx="256948"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34" name="Rounded Rectangle 55">
                  <a:extLst>
                    <a:ext uri="{FF2B5EF4-FFF2-40B4-BE49-F238E27FC236}">
                      <a16:creationId xmlns:a16="http://schemas.microsoft.com/office/drawing/2014/main" id="{73FAC507-36BD-B3F0-916A-615ED1607566}"/>
                    </a:ext>
                  </a:extLst>
                </p:cNvPr>
                <p:cNvSpPr>
                  <a:spLocks noChangeAspect="1"/>
                </p:cNvSpPr>
                <p:nvPr/>
              </p:nvSpPr>
              <p:spPr>
                <a:xfrm>
                  <a:off x="4385754" y="1979954"/>
                  <a:ext cx="271227"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35" name="Rounded Rectangle 56">
                  <a:extLst>
                    <a:ext uri="{FF2B5EF4-FFF2-40B4-BE49-F238E27FC236}">
                      <a16:creationId xmlns:a16="http://schemas.microsoft.com/office/drawing/2014/main" id="{8EB4B5F7-B8E0-3279-0BE4-B56D9C62D157}"/>
                    </a:ext>
                  </a:extLst>
                </p:cNvPr>
                <p:cNvSpPr>
                  <a:spLocks noChangeAspect="1"/>
                </p:cNvSpPr>
                <p:nvPr/>
              </p:nvSpPr>
              <p:spPr>
                <a:xfrm>
                  <a:off x="3843308" y="2397953"/>
                  <a:ext cx="256948"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36" name="Rounded Rectangle 57">
                  <a:extLst>
                    <a:ext uri="{FF2B5EF4-FFF2-40B4-BE49-F238E27FC236}">
                      <a16:creationId xmlns:a16="http://schemas.microsoft.com/office/drawing/2014/main" id="{63F57A14-7CC1-2EDD-2083-17D6AD2B86AB}"/>
                    </a:ext>
                  </a:extLst>
                </p:cNvPr>
                <p:cNvSpPr>
                  <a:spLocks noChangeAspect="1"/>
                </p:cNvSpPr>
                <p:nvPr/>
              </p:nvSpPr>
              <p:spPr>
                <a:xfrm>
                  <a:off x="4385754" y="2397953"/>
                  <a:ext cx="271227"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nvGrpSpPr>
              <p:cNvPr id="76870" name="Group 52">
                <a:extLst>
                  <a:ext uri="{FF2B5EF4-FFF2-40B4-BE49-F238E27FC236}">
                    <a16:creationId xmlns:a16="http://schemas.microsoft.com/office/drawing/2014/main" id="{BBEAA7DA-7B1F-28B0-E991-1340FF366BCD}"/>
                  </a:ext>
                </a:extLst>
              </p:cNvPr>
              <p:cNvGrpSpPr>
                <a:grpSpLocks noChangeAspect="1"/>
              </p:cNvGrpSpPr>
              <p:nvPr/>
            </p:nvGrpSpPr>
            <p:grpSpPr bwMode="auto">
              <a:xfrm>
                <a:off x="8205832" y="5357393"/>
                <a:ext cx="158709" cy="162600"/>
                <a:chOff x="3703320" y="1812035"/>
                <a:chExt cx="1069848" cy="1069848"/>
              </a:xfrm>
            </p:grpSpPr>
            <p:sp>
              <p:nvSpPr>
                <p:cNvPr id="38" name="Rounded Rectangle 53">
                  <a:extLst>
                    <a:ext uri="{FF2B5EF4-FFF2-40B4-BE49-F238E27FC236}">
                      <a16:creationId xmlns:a16="http://schemas.microsoft.com/office/drawing/2014/main" id="{561CEA99-E689-7A5A-36E9-2E2E790D5E11}"/>
                    </a:ext>
                  </a:extLst>
                </p:cNvPr>
                <p:cNvSpPr/>
                <p:nvPr/>
              </p:nvSpPr>
              <p:spPr>
                <a:xfrm>
                  <a:off x="3704165" y="1812755"/>
                  <a:ext cx="1070621" cy="1072858"/>
                </a:xfrm>
                <a:prstGeom prst="roundRect">
                  <a:avLst/>
                </a:prstGeom>
                <a:solidFill>
                  <a:schemeClr val="accent1">
                    <a:alpha val="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39" name="Rounded Rectangle 54">
                  <a:extLst>
                    <a:ext uri="{FF2B5EF4-FFF2-40B4-BE49-F238E27FC236}">
                      <a16:creationId xmlns:a16="http://schemas.microsoft.com/office/drawing/2014/main" id="{0EFDCF5D-20FA-4D8F-EC0D-FFEFEF2EFAE5}"/>
                    </a:ext>
                  </a:extLst>
                </p:cNvPr>
                <p:cNvSpPr>
                  <a:spLocks noChangeAspect="1"/>
                </p:cNvSpPr>
                <p:nvPr/>
              </p:nvSpPr>
              <p:spPr>
                <a:xfrm>
                  <a:off x="3846914" y="1979954"/>
                  <a:ext cx="256948"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40" name="Rounded Rectangle 55">
                  <a:extLst>
                    <a:ext uri="{FF2B5EF4-FFF2-40B4-BE49-F238E27FC236}">
                      <a16:creationId xmlns:a16="http://schemas.microsoft.com/office/drawing/2014/main" id="{E8559635-104E-1D0B-1879-39DD295D0505}"/>
                    </a:ext>
                  </a:extLst>
                </p:cNvPr>
                <p:cNvSpPr>
                  <a:spLocks noChangeAspect="1"/>
                </p:cNvSpPr>
                <p:nvPr/>
              </p:nvSpPr>
              <p:spPr>
                <a:xfrm>
                  <a:off x="4389360" y="1979954"/>
                  <a:ext cx="271227"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41" name="Rounded Rectangle 56">
                  <a:extLst>
                    <a:ext uri="{FF2B5EF4-FFF2-40B4-BE49-F238E27FC236}">
                      <a16:creationId xmlns:a16="http://schemas.microsoft.com/office/drawing/2014/main" id="{61E4062D-180B-236B-AC85-3AD75AE893EE}"/>
                    </a:ext>
                  </a:extLst>
                </p:cNvPr>
                <p:cNvSpPr>
                  <a:spLocks noChangeAspect="1"/>
                </p:cNvSpPr>
                <p:nvPr/>
              </p:nvSpPr>
              <p:spPr>
                <a:xfrm>
                  <a:off x="3846914" y="2397953"/>
                  <a:ext cx="256948"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42" name="Rounded Rectangle 57">
                  <a:extLst>
                    <a:ext uri="{FF2B5EF4-FFF2-40B4-BE49-F238E27FC236}">
                      <a16:creationId xmlns:a16="http://schemas.microsoft.com/office/drawing/2014/main" id="{D4B0A1E3-575C-5448-E481-B4624C132031}"/>
                    </a:ext>
                  </a:extLst>
                </p:cNvPr>
                <p:cNvSpPr>
                  <a:spLocks noChangeAspect="1"/>
                </p:cNvSpPr>
                <p:nvPr/>
              </p:nvSpPr>
              <p:spPr>
                <a:xfrm>
                  <a:off x="4389360" y="2397953"/>
                  <a:ext cx="271227"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nvGrpSpPr>
              <p:cNvPr id="76871" name="Group 52">
                <a:extLst>
                  <a:ext uri="{FF2B5EF4-FFF2-40B4-BE49-F238E27FC236}">
                    <a16:creationId xmlns:a16="http://schemas.microsoft.com/office/drawing/2014/main" id="{B9488BAE-378C-73ED-BDCE-72BEEE5FACBB}"/>
                  </a:ext>
                </a:extLst>
              </p:cNvPr>
              <p:cNvGrpSpPr>
                <a:grpSpLocks noChangeAspect="1"/>
              </p:cNvGrpSpPr>
              <p:nvPr/>
            </p:nvGrpSpPr>
            <p:grpSpPr bwMode="auto">
              <a:xfrm>
                <a:off x="8404616" y="5357393"/>
                <a:ext cx="158709" cy="162600"/>
                <a:chOff x="3703320" y="1812035"/>
                <a:chExt cx="1069848" cy="1069848"/>
              </a:xfrm>
            </p:grpSpPr>
            <p:sp>
              <p:nvSpPr>
                <p:cNvPr id="44" name="Rounded Rectangle 53">
                  <a:extLst>
                    <a:ext uri="{FF2B5EF4-FFF2-40B4-BE49-F238E27FC236}">
                      <a16:creationId xmlns:a16="http://schemas.microsoft.com/office/drawing/2014/main" id="{0F2647E0-81F1-0804-6758-07770ED66DF7}"/>
                    </a:ext>
                  </a:extLst>
                </p:cNvPr>
                <p:cNvSpPr/>
                <p:nvPr/>
              </p:nvSpPr>
              <p:spPr>
                <a:xfrm>
                  <a:off x="3706018" y="1812755"/>
                  <a:ext cx="1070621" cy="1072858"/>
                </a:xfrm>
                <a:prstGeom prst="roundRect">
                  <a:avLst/>
                </a:prstGeom>
                <a:solidFill>
                  <a:schemeClr val="accent1">
                    <a:alpha val="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45" name="Rounded Rectangle 54">
                  <a:extLst>
                    <a:ext uri="{FF2B5EF4-FFF2-40B4-BE49-F238E27FC236}">
                      <a16:creationId xmlns:a16="http://schemas.microsoft.com/office/drawing/2014/main" id="{CAD82D3E-198B-94A3-666F-BAB9CFE0717F}"/>
                    </a:ext>
                  </a:extLst>
                </p:cNvPr>
                <p:cNvSpPr>
                  <a:spLocks noChangeAspect="1"/>
                </p:cNvSpPr>
                <p:nvPr/>
              </p:nvSpPr>
              <p:spPr>
                <a:xfrm>
                  <a:off x="3848767" y="1979954"/>
                  <a:ext cx="256948"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46" name="Rounded Rectangle 55">
                  <a:extLst>
                    <a:ext uri="{FF2B5EF4-FFF2-40B4-BE49-F238E27FC236}">
                      <a16:creationId xmlns:a16="http://schemas.microsoft.com/office/drawing/2014/main" id="{2E7E03F0-5D48-C3F0-EFFA-729A671E8950}"/>
                    </a:ext>
                  </a:extLst>
                </p:cNvPr>
                <p:cNvSpPr>
                  <a:spLocks noChangeAspect="1"/>
                </p:cNvSpPr>
                <p:nvPr/>
              </p:nvSpPr>
              <p:spPr>
                <a:xfrm>
                  <a:off x="4391212" y="1979954"/>
                  <a:ext cx="271227"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47" name="Rounded Rectangle 56">
                  <a:extLst>
                    <a:ext uri="{FF2B5EF4-FFF2-40B4-BE49-F238E27FC236}">
                      <a16:creationId xmlns:a16="http://schemas.microsoft.com/office/drawing/2014/main" id="{52808EEA-47CC-E11A-293A-232AC64C4CCB}"/>
                    </a:ext>
                  </a:extLst>
                </p:cNvPr>
                <p:cNvSpPr>
                  <a:spLocks noChangeAspect="1"/>
                </p:cNvSpPr>
                <p:nvPr/>
              </p:nvSpPr>
              <p:spPr>
                <a:xfrm>
                  <a:off x="3848767" y="2397953"/>
                  <a:ext cx="256948"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48" name="Rounded Rectangle 57">
                  <a:extLst>
                    <a:ext uri="{FF2B5EF4-FFF2-40B4-BE49-F238E27FC236}">
                      <a16:creationId xmlns:a16="http://schemas.microsoft.com/office/drawing/2014/main" id="{FF62AD78-7007-1B66-B0D5-00454E9EC524}"/>
                    </a:ext>
                  </a:extLst>
                </p:cNvPr>
                <p:cNvSpPr>
                  <a:spLocks noChangeAspect="1"/>
                </p:cNvSpPr>
                <p:nvPr/>
              </p:nvSpPr>
              <p:spPr>
                <a:xfrm>
                  <a:off x="4391212" y="2397953"/>
                  <a:ext cx="271227"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grpSp>
          <p:nvGrpSpPr>
            <p:cNvPr id="76814" name="组合 48">
              <a:extLst>
                <a:ext uri="{FF2B5EF4-FFF2-40B4-BE49-F238E27FC236}">
                  <a16:creationId xmlns:a16="http://schemas.microsoft.com/office/drawing/2014/main" id="{65B70E16-3916-5C74-34CB-E854D91A6437}"/>
                </a:ext>
              </a:extLst>
            </p:cNvPr>
            <p:cNvGrpSpPr>
              <a:grpSpLocks/>
            </p:cNvGrpSpPr>
            <p:nvPr/>
          </p:nvGrpSpPr>
          <p:grpSpPr bwMode="auto">
            <a:xfrm>
              <a:off x="7804291" y="5556176"/>
              <a:ext cx="759034" cy="162600"/>
              <a:chOff x="7804291" y="5357393"/>
              <a:chExt cx="759034" cy="162600"/>
            </a:xfrm>
          </p:grpSpPr>
          <p:grpSp>
            <p:nvGrpSpPr>
              <p:cNvPr id="76844" name="Group 52">
                <a:extLst>
                  <a:ext uri="{FF2B5EF4-FFF2-40B4-BE49-F238E27FC236}">
                    <a16:creationId xmlns:a16="http://schemas.microsoft.com/office/drawing/2014/main" id="{D87D6485-C725-B3CC-D620-FDAC3A60F4E0}"/>
                  </a:ext>
                </a:extLst>
              </p:cNvPr>
              <p:cNvGrpSpPr>
                <a:grpSpLocks noChangeAspect="1"/>
              </p:cNvGrpSpPr>
              <p:nvPr/>
            </p:nvGrpSpPr>
            <p:grpSpPr bwMode="auto">
              <a:xfrm>
                <a:off x="7804291" y="5357393"/>
                <a:ext cx="158709" cy="162600"/>
                <a:chOff x="3703320" y="1812035"/>
                <a:chExt cx="1069848" cy="1069848"/>
              </a:xfrm>
            </p:grpSpPr>
            <p:sp>
              <p:nvSpPr>
                <p:cNvPr id="79" name="Rounded Rectangle 53">
                  <a:extLst>
                    <a:ext uri="{FF2B5EF4-FFF2-40B4-BE49-F238E27FC236}">
                      <a16:creationId xmlns:a16="http://schemas.microsoft.com/office/drawing/2014/main" id="{634693E8-6C47-03F8-7679-88B03BE8C14B}"/>
                    </a:ext>
                  </a:extLst>
                </p:cNvPr>
                <p:cNvSpPr/>
                <p:nvPr/>
              </p:nvSpPr>
              <p:spPr>
                <a:xfrm>
                  <a:off x="3698689" y="1814572"/>
                  <a:ext cx="1070621" cy="1072858"/>
                </a:xfrm>
                <a:prstGeom prst="roundRect">
                  <a:avLst/>
                </a:prstGeom>
                <a:solidFill>
                  <a:schemeClr val="accent1">
                    <a:alpha val="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80" name="Rounded Rectangle 54">
                  <a:extLst>
                    <a:ext uri="{FF2B5EF4-FFF2-40B4-BE49-F238E27FC236}">
                      <a16:creationId xmlns:a16="http://schemas.microsoft.com/office/drawing/2014/main" id="{09E84D66-3DC4-02B9-5010-BEFBDA3D536D}"/>
                    </a:ext>
                  </a:extLst>
                </p:cNvPr>
                <p:cNvSpPr>
                  <a:spLocks noChangeAspect="1"/>
                </p:cNvSpPr>
                <p:nvPr/>
              </p:nvSpPr>
              <p:spPr>
                <a:xfrm>
                  <a:off x="3841438" y="1981771"/>
                  <a:ext cx="256948"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81" name="Rounded Rectangle 55">
                  <a:extLst>
                    <a:ext uri="{FF2B5EF4-FFF2-40B4-BE49-F238E27FC236}">
                      <a16:creationId xmlns:a16="http://schemas.microsoft.com/office/drawing/2014/main" id="{D23EDE3C-86EE-388C-9260-25862F91015F}"/>
                    </a:ext>
                  </a:extLst>
                </p:cNvPr>
                <p:cNvSpPr>
                  <a:spLocks noChangeAspect="1"/>
                </p:cNvSpPr>
                <p:nvPr/>
              </p:nvSpPr>
              <p:spPr>
                <a:xfrm>
                  <a:off x="4383884" y="1981771"/>
                  <a:ext cx="271227"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82" name="Rounded Rectangle 56">
                  <a:extLst>
                    <a:ext uri="{FF2B5EF4-FFF2-40B4-BE49-F238E27FC236}">
                      <a16:creationId xmlns:a16="http://schemas.microsoft.com/office/drawing/2014/main" id="{484D6C55-2ABA-B45B-B8CD-7D4B2414AB98}"/>
                    </a:ext>
                  </a:extLst>
                </p:cNvPr>
                <p:cNvSpPr>
                  <a:spLocks noChangeAspect="1"/>
                </p:cNvSpPr>
                <p:nvPr/>
              </p:nvSpPr>
              <p:spPr>
                <a:xfrm>
                  <a:off x="3841438" y="2399769"/>
                  <a:ext cx="256948"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83" name="Rounded Rectangle 57">
                  <a:extLst>
                    <a:ext uri="{FF2B5EF4-FFF2-40B4-BE49-F238E27FC236}">
                      <a16:creationId xmlns:a16="http://schemas.microsoft.com/office/drawing/2014/main" id="{D99C8F33-C934-8076-0EDF-930007C57FCE}"/>
                    </a:ext>
                  </a:extLst>
                </p:cNvPr>
                <p:cNvSpPr>
                  <a:spLocks noChangeAspect="1"/>
                </p:cNvSpPr>
                <p:nvPr/>
              </p:nvSpPr>
              <p:spPr>
                <a:xfrm>
                  <a:off x="4383884" y="2399769"/>
                  <a:ext cx="271227"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nvGrpSpPr>
              <p:cNvPr id="76845" name="Group 52">
                <a:extLst>
                  <a:ext uri="{FF2B5EF4-FFF2-40B4-BE49-F238E27FC236}">
                    <a16:creationId xmlns:a16="http://schemas.microsoft.com/office/drawing/2014/main" id="{30BC2F31-C274-85C1-3866-C4B3439331A8}"/>
                  </a:ext>
                </a:extLst>
              </p:cNvPr>
              <p:cNvGrpSpPr>
                <a:grpSpLocks noChangeAspect="1"/>
              </p:cNvGrpSpPr>
              <p:nvPr/>
            </p:nvGrpSpPr>
            <p:grpSpPr bwMode="auto">
              <a:xfrm>
                <a:off x="8003073" y="5357393"/>
                <a:ext cx="158709" cy="162600"/>
                <a:chOff x="3703320" y="1812035"/>
                <a:chExt cx="1069848" cy="1069848"/>
              </a:xfrm>
            </p:grpSpPr>
            <p:sp>
              <p:nvSpPr>
                <p:cNvPr id="74" name="Rounded Rectangle 53">
                  <a:extLst>
                    <a:ext uri="{FF2B5EF4-FFF2-40B4-BE49-F238E27FC236}">
                      <a16:creationId xmlns:a16="http://schemas.microsoft.com/office/drawing/2014/main" id="{503C90AD-ECD6-21E9-4C7F-148957C3709C}"/>
                    </a:ext>
                  </a:extLst>
                </p:cNvPr>
                <p:cNvSpPr/>
                <p:nvPr/>
              </p:nvSpPr>
              <p:spPr>
                <a:xfrm>
                  <a:off x="3700559" y="1814572"/>
                  <a:ext cx="1070621" cy="1072858"/>
                </a:xfrm>
                <a:prstGeom prst="roundRect">
                  <a:avLst/>
                </a:prstGeom>
                <a:solidFill>
                  <a:schemeClr val="accent1">
                    <a:alpha val="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75" name="Rounded Rectangle 54">
                  <a:extLst>
                    <a:ext uri="{FF2B5EF4-FFF2-40B4-BE49-F238E27FC236}">
                      <a16:creationId xmlns:a16="http://schemas.microsoft.com/office/drawing/2014/main" id="{610A4E62-D7D0-5054-BF86-5F4FBCFE29F4}"/>
                    </a:ext>
                  </a:extLst>
                </p:cNvPr>
                <p:cNvSpPr>
                  <a:spLocks noChangeAspect="1"/>
                </p:cNvSpPr>
                <p:nvPr/>
              </p:nvSpPr>
              <p:spPr>
                <a:xfrm>
                  <a:off x="3843308" y="1981771"/>
                  <a:ext cx="256948"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76" name="Rounded Rectangle 55">
                  <a:extLst>
                    <a:ext uri="{FF2B5EF4-FFF2-40B4-BE49-F238E27FC236}">
                      <a16:creationId xmlns:a16="http://schemas.microsoft.com/office/drawing/2014/main" id="{EA234EF6-325F-C5C5-5705-91C7320AEAE1}"/>
                    </a:ext>
                  </a:extLst>
                </p:cNvPr>
                <p:cNvSpPr>
                  <a:spLocks noChangeAspect="1"/>
                </p:cNvSpPr>
                <p:nvPr/>
              </p:nvSpPr>
              <p:spPr>
                <a:xfrm>
                  <a:off x="4385754" y="1981771"/>
                  <a:ext cx="271227"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77" name="Rounded Rectangle 56">
                  <a:extLst>
                    <a:ext uri="{FF2B5EF4-FFF2-40B4-BE49-F238E27FC236}">
                      <a16:creationId xmlns:a16="http://schemas.microsoft.com/office/drawing/2014/main" id="{5C892EFE-1B1F-8D1C-38CA-535C61D224F7}"/>
                    </a:ext>
                  </a:extLst>
                </p:cNvPr>
                <p:cNvSpPr>
                  <a:spLocks noChangeAspect="1"/>
                </p:cNvSpPr>
                <p:nvPr/>
              </p:nvSpPr>
              <p:spPr>
                <a:xfrm>
                  <a:off x="3843308" y="2399769"/>
                  <a:ext cx="256948"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78" name="Rounded Rectangle 57">
                  <a:extLst>
                    <a:ext uri="{FF2B5EF4-FFF2-40B4-BE49-F238E27FC236}">
                      <a16:creationId xmlns:a16="http://schemas.microsoft.com/office/drawing/2014/main" id="{30B326BF-4AA1-02B7-A27C-8476F3256BFD}"/>
                    </a:ext>
                  </a:extLst>
                </p:cNvPr>
                <p:cNvSpPr>
                  <a:spLocks noChangeAspect="1"/>
                </p:cNvSpPr>
                <p:nvPr/>
              </p:nvSpPr>
              <p:spPr>
                <a:xfrm>
                  <a:off x="4385754" y="2399769"/>
                  <a:ext cx="271227"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nvGrpSpPr>
              <p:cNvPr id="76846" name="Group 52">
                <a:extLst>
                  <a:ext uri="{FF2B5EF4-FFF2-40B4-BE49-F238E27FC236}">
                    <a16:creationId xmlns:a16="http://schemas.microsoft.com/office/drawing/2014/main" id="{C444FEDA-ED1D-6D9F-D893-C038F404B24B}"/>
                  </a:ext>
                </a:extLst>
              </p:cNvPr>
              <p:cNvGrpSpPr>
                <a:grpSpLocks noChangeAspect="1"/>
              </p:cNvGrpSpPr>
              <p:nvPr/>
            </p:nvGrpSpPr>
            <p:grpSpPr bwMode="auto">
              <a:xfrm>
                <a:off x="8205832" y="5357393"/>
                <a:ext cx="158709" cy="162600"/>
                <a:chOff x="3703320" y="1812035"/>
                <a:chExt cx="1069848" cy="1069848"/>
              </a:xfrm>
            </p:grpSpPr>
            <p:sp>
              <p:nvSpPr>
                <p:cNvPr id="69" name="Rounded Rectangle 53">
                  <a:extLst>
                    <a:ext uri="{FF2B5EF4-FFF2-40B4-BE49-F238E27FC236}">
                      <a16:creationId xmlns:a16="http://schemas.microsoft.com/office/drawing/2014/main" id="{85F2DA9E-361E-02A4-10EA-34CA25108E99}"/>
                    </a:ext>
                  </a:extLst>
                </p:cNvPr>
                <p:cNvSpPr/>
                <p:nvPr/>
              </p:nvSpPr>
              <p:spPr>
                <a:xfrm>
                  <a:off x="3704165" y="1814572"/>
                  <a:ext cx="1070621" cy="1072858"/>
                </a:xfrm>
                <a:prstGeom prst="roundRect">
                  <a:avLst/>
                </a:prstGeom>
                <a:solidFill>
                  <a:schemeClr val="accent1">
                    <a:alpha val="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70" name="Rounded Rectangle 54">
                  <a:extLst>
                    <a:ext uri="{FF2B5EF4-FFF2-40B4-BE49-F238E27FC236}">
                      <a16:creationId xmlns:a16="http://schemas.microsoft.com/office/drawing/2014/main" id="{44578952-F95D-9EEF-0AB1-40B26E041C26}"/>
                    </a:ext>
                  </a:extLst>
                </p:cNvPr>
                <p:cNvSpPr>
                  <a:spLocks noChangeAspect="1"/>
                </p:cNvSpPr>
                <p:nvPr/>
              </p:nvSpPr>
              <p:spPr>
                <a:xfrm>
                  <a:off x="3846914" y="1981771"/>
                  <a:ext cx="256948"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71" name="Rounded Rectangle 55">
                  <a:extLst>
                    <a:ext uri="{FF2B5EF4-FFF2-40B4-BE49-F238E27FC236}">
                      <a16:creationId xmlns:a16="http://schemas.microsoft.com/office/drawing/2014/main" id="{66AD27A3-2CB7-8E9B-033E-7ACDF431030C}"/>
                    </a:ext>
                  </a:extLst>
                </p:cNvPr>
                <p:cNvSpPr>
                  <a:spLocks noChangeAspect="1"/>
                </p:cNvSpPr>
                <p:nvPr/>
              </p:nvSpPr>
              <p:spPr>
                <a:xfrm>
                  <a:off x="4389360" y="1981771"/>
                  <a:ext cx="271227"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72" name="Rounded Rectangle 56">
                  <a:extLst>
                    <a:ext uri="{FF2B5EF4-FFF2-40B4-BE49-F238E27FC236}">
                      <a16:creationId xmlns:a16="http://schemas.microsoft.com/office/drawing/2014/main" id="{9E0536FD-B63B-D69E-C769-3670ABB71416}"/>
                    </a:ext>
                  </a:extLst>
                </p:cNvPr>
                <p:cNvSpPr>
                  <a:spLocks noChangeAspect="1"/>
                </p:cNvSpPr>
                <p:nvPr/>
              </p:nvSpPr>
              <p:spPr>
                <a:xfrm>
                  <a:off x="3846914" y="2399769"/>
                  <a:ext cx="256948"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73" name="Rounded Rectangle 57">
                  <a:extLst>
                    <a:ext uri="{FF2B5EF4-FFF2-40B4-BE49-F238E27FC236}">
                      <a16:creationId xmlns:a16="http://schemas.microsoft.com/office/drawing/2014/main" id="{A18E8C37-0157-4F06-8ED2-2770736577CA}"/>
                    </a:ext>
                  </a:extLst>
                </p:cNvPr>
                <p:cNvSpPr>
                  <a:spLocks noChangeAspect="1"/>
                </p:cNvSpPr>
                <p:nvPr/>
              </p:nvSpPr>
              <p:spPr>
                <a:xfrm>
                  <a:off x="4389360" y="2399769"/>
                  <a:ext cx="271227"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nvGrpSpPr>
              <p:cNvPr id="76847" name="Group 52">
                <a:extLst>
                  <a:ext uri="{FF2B5EF4-FFF2-40B4-BE49-F238E27FC236}">
                    <a16:creationId xmlns:a16="http://schemas.microsoft.com/office/drawing/2014/main" id="{10F77B2B-6FF0-24CC-8098-ED653A639C5F}"/>
                  </a:ext>
                </a:extLst>
              </p:cNvPr>
              <p:cNvGrpSpPr>
                <a:grpSpLocks noChangeAspect="1"/>
              </p:cNvGrpSpPr>
              <p:nvPr/>
            </p:nvGrpSpPr>
            <p:grpSpPr bwMode="auto">
              <a:xfrm>
                <a:off x="8404616" y="5357393"/>
                <a:ext cx="158709" cy="162600"/>
                <a:chOff x="3703320" y="1812035"/>
                <a:chExt cx="1069848" cy="1069848"/>
              </a:xfrm>
            </p:grpSpPr>
            <p:sp>
              <p:nvSpPr>
                <p:cNvPr id="64" name="Rounded Rectangle 53">
                  <a:extLst>
                    <a:ext uri="{FF2B5EF4-FFF2-40B4-BE49-F238E27FC236}">
                      <a16:creationId xmlns:a16="http://schemas.microsoft.com/office/drawing/2014/main" id="{D7E0D62B-997A-D544-6F20-72B4B7777018}"/>
                    </a:ext>
                  </a:extLst>
                </p:cNvPr>
                <p:cNvSpPr/>
                <p:nvPr/>
              </p:nvSpPr>
              <p:spPr>
                <a:xfrm>
                  <a:off x="3706018" y="1814572"/>
                  <a:ext cx="1070621" cy="1072858"/>
                </a:xfrm>
                <a:prstGeom prst="roundRect">
                  <a:avLst/>
                </a:prstGeom>
                <a:solidFill>
                  <a:schemeClr val="accent1">
                    <a:alpha val="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65" name="Rounded Rectangle 54">
                  <a:extLst>
                    <a:ext uri="{FF2B5EF4-FFF2-40B4-BE49-F238E27FC236}">
                      <a16:creationId xmlns:a16="http://schemas.microsoft.com/office/drawing/2014/main" id="{7ECF5457-1395-D3CC-7358-4C69048497EB}"/>
                    </a:ext>
                  </a:extLst>
                </p:cNvPr>
                <p:cNvSpPr>
                  <a:spLocks noChangeAspect="1"/>
                </p:cNvSpPr>
                <p:nvPr/>
              </p:nvSpPr>
              <p:spPr>
                <a:xfrm>
                  <a:off x="3848767" y="1981771"/>
                  <a:ext cx="256948"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66" name="Rounded Rectangle 55">
                  <a:extLst>
                    <a:ext uri="{FF2B5EF4-FFF2-40B4-BE49-F238E27FC236}">
                      <a16:creationId xmlns:a16="http://schemas.microsoft.com/office/drawing/2014/main" id="{860163FF-67C4-5729-1E41-2C7F8F9C41D7}"/>
                    </a:ext>
                  </a:extLst>
                </p:cNvPr>
                <p:cNvSpPr>
                  <a:spLocks noChangeAspect="1"/>
                </p:cNvSpPr>
                <p:nvPr/>
              </p:nvSpPr>
              <p:spPr>
                <a:xfrm>
                  <a:off x="4391212" y="1981771"/>
                  <a:ext cx="271227"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67" name="Rounded Rectangle 56">
                  <a:extLst>
                    <a:ext uri="{FF2B5EF4-FFF2-40B4-BE49-F238E27FC236}">
                      <a16:creationId xmlns:a16="http://schemas.microsoft.com/office/drawing/2014/main" id="{DFA22C4E-1C3A-4FC3-E16A-AF71EE7DFC64}"/>
                    </a:ext>
                  </a:extLst>
                </p:cNvPr>
                <p:cNvSpPr>
                  <a:spLocks noChangeAspect="1"/>
                </p:cNvSpPr>
                <p:nvPr/>
              </p:nvSpPr>
              <p:spPr>
                <a:xfrm>
                  <a:off x="3848767" y="2399769"/>
                  <a:ext cx="256948"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68" name="Rounded Rectangle 57">
                  <a:extLst>
                    <a:ext uri="{FF2B5EF4-FFF2-40B4-BE49-F238E27FC236}">
                      <a16:creationId xmlns:a16="http://schemas.microsoft.com/office/drawing/2014/main" id="{A5AFBDCB-8DB6-6935-C962-A8988F8110BF}"/>
                    </a:ext>
                  </a:extLst>
                </p:cNvPr>
                <p:cNvSpPr>
                  <a:spLocks noChangeAspect="1"/>
                </p:cNvSpPr>
                <p:nvPr/>
              </p:nvSpPr>
              <p:spPr>
                <a:xfrm>
                  <a:off x="4391212" y="2399769"/>
                  <a:ext cx="271227"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grpSp>
          <p:nvGrpSpPr>
            <p:cNvPr id="76815" name="组合 83">
              <a:extLst>
                <a:ext uri="{FF2B5EF4-FFF2-40B4-BE49-F238E27FC236}">
                  <a16:creationId xmlns:a16="http://schemas.microsoft.com/office/drawing/2014/main" id="{8D412294-B0B8-83C6-BB62-7668BDB094A2}"/>
                </a:ext>
              </a:extLst>
            </p:cNvPr>
            <p:cNvGrpSpPr>
              <a:grpSpLocks/>
            </p:cNvGrpSpPr>
            <p:nvPr/>
          </p:nvGrpSpPr>
          <p:grpSpPr bwMode="auto">
            <a:xfrm>
              <a:off x="7804291" y="5750983"/>
              <a:ext cx="759034" cy="162600"/>
              <a:chOff x="7804291" y="5357393"/>
              <a:chExt cx="759034" cy="162600"/>
            </a:xfrm>
          </p:grpSpPr>
          <p:grpSp>
            <p:nvGrpSpPr>
              <p:cNvPr id="76820" name="Group 52">
                <a:extLst>
                  <a:ext uri="{FF2B5EF4-FFF2-40B4-BE49-F238E27FC236}">
                    <a16:creationId xmlns:a16="http://schemas.microsoft.com/office/drawing/2014/main" id="{47DC7728-456C-D948-499B-EF6EC42CC222}"/>
                  </a:ext>
                </a:extLst>
              </p:cNvPr>
              <p:cNvGrpSpPr>
                <a:grpSpLocks noChangeAspect="1"/>
              </p:cNvGrpSpPr>
              <p:nvPr/>
            </p:nvGrpSpPr>
            <p:grpSpPr bwMode="auto">
              <a:xfrm>
                <a:off x="7804291" y="5357393"/>
                <a:ext cx="158709" cy="162600"/>
                <a:chOff x="3703320" y="1812035"/>
                <a:chExt cx="1069848" cy="1069848"/>
              </a:xfrm>
            </p:grpSpPr>
            <p:sp>
              <p:nvSpPr>
                <p:cNvPr id="104" name="Rounded Rectangle 53">
                  <a:extLst>
                    <a:ext uri="{FF2B5EF4-FFF2-40B4-BE49-F238E27FC236}">
                      <a16:creationId xmlns:a16="http://schemas.microsoft.com/office/drawing/2014/main" id="{2CA9CA88-55C1-CD53-BAC1-E25A6BEFD9C9}"/>
                    </a:ext>
                  </a:extLst>
                </p:cNvPr>
                <p:cNvSpPr/>
                <p:nvPr/>
              </p:nvSpPr>
              <p:spPr>
                <a:xfrm>
                  <a:off x="3698689" y="1814677"/>
                  <a:ext cx="1070621" cy="1072858"/>
                </a:xfrm>
                <a:prstGeom prst="roundRect">
                  <a:avLst/>
                </a:prstGeom>
                <a:solidFill>
                  <a:schemeClr val="accent1">
                    <a:alpha val="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05" name="Rounded Rectangle 54">
                  <a:extLst>
                    <a:ext uri="{FF2B5EF4-FFF2-40B4-BE49-F238E27FC236}">
                      <a16:creationId xmlns:a16="http://schemas.microsoft.com/office/drawing/2014/main" id="{CE262540-177E-1363-91FF-4A371459E8C3}"/>
                    </a:ext>
                  </a:extLst>
                </p:cNvPr>
                <p:cNvSpPr>
                  <a:spLocks noChangeAspect="1"/>
                </p:cNvSpPr>
                <p:nvPr/>
              </p:nvSpPr>
              <p:spPr>
                <a:xfrm>
                  <a:off x="3841438" y="1981876"/>
                  <a:ext cx="256948"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06" name="Rounded Rectangle 55">
                  <a:extLst>
                    <a:ext uri="{FF2B5EF4-FFF2-40B4-BE49-F238E27FC236}">
                      <a16:creationId xmlns:a16="http://schemas.microsoft.com/office/drawing/2014/main" id="{056A6EA0-FF46-97AF-65C5-9C655B635AE8}"/>
                    </a:ext>
                  </a:extLst>
                </p:cNvPr>
                <p:cNvSpPr>
                  <a:spLocks noChangeAspect="1"/>
                </p:cNvSpPr>
                <p:nvPr/>
              </p:nvSpPr>
              <p:spPr>
                <a:xfrm>
                  <a:off x="4383884" y="1981876"/>
                  <a:ext cx="271227"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07" name="Rounded Rectangle 56">
                  <a:extLst>
                    <a:ext uri="{FF2B5EF4-FFF2-40B4-BE49-F238E27FC236}">
                      <a16:creationId xmlns:a16="http://schemas.microsoft.com/office/drawing/2014/main" id="{093F92F8-FE5C-D1D8-0AC9-5929BD4FE2CD}"/>
                    </a:ext>
                  </a:extLst>
                </p:cNvPr>
                <p:cNvSpPr>
                  <a:spLocks noChangeAspect="1"/>
                </p:cNvSpPr>
                <p:nvPr/>
              </p:nvSpPr>
              <p:spPr>
                <a:xfrm>
                  <a:off x="3841438" y="2399875"/>
                  <a:ext cx="256948"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08" name="Rounded Rectangle 57">
                  <a:extLst>
                    <a:ext uri="{FF2B5EF4-FFF2-40B4-BE49-F238E27FC236}">
                      <a16:creationId xmlns:a16="http://schemas.microsoft.com/office/drawing/2014/main" id="{C6419759-25BB-47BE-E428-F0894F38890C}"/>
                    </a:ext>
                  </a:extLst>
                </p:cNvPr>
                <p:cNvSpPr>
                  <a:spLocks noChangeAspect="1"/>
                </p:cNvSpPr>
                <p:nvPr/>
              </p:nvSpPr>
              <p:spPr>
                <a:xfrm>
                  <a:off x="4383884" y="2399875"/>
                  <a:ext cx="271227"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nvGrpSpPr>
              <p:cNvPr id="76821" name="Group 52">
                <a:extLst>
                  <a:ext uri="{FF2B5EF4-FFF2-40B4-BE49-F238E27FC236}">
                    <a16:creationId xmlns:a16="http://schemas.microsoft.com/office/drawing/2014/main" id="{4CA4F5A1-B481-262A-DD4B-13A994EA4F33}"/>
                  </a:ext>
                </a:extLst>
              </p:cNvPr>
              <p:cNvGrpSpPr>
                <a:grpSpLocks noChangeAspect="1"/>
              </p:cNvGrpSpPr>
              <p:nvPr/>
            </p:nvGrpSpPr>
            <p:grpSpPr bwMode="auto">
              <a:xfrm>
                <a:off x="8003073" y="5357393"/>
                <a:ext cx="158709" cy="162600"/>
                <a:chOff x="3703320" y="1812035"/>
                <a:chExt cx="1069848" cy="1069848"/>
              </a:xfrm>
            </p:grpSpPr>
            <p:sp>
              <p:nvSpPr>
                <p:cNvPr id="99" name="Rounded Rectangle 53">
                  <a:extLst>
                    <a:ext uri="{FF2B5EF4-FFF2-40B4-BE49-F238E27FC236}">
                      <a16:creationId xmlns:a16="http://schemas.microsoft.com/office/drawing/2014/main" id="{512A287B-0FF3-DC0E-105B-92187E639F87}"/>
                    </a:ext>
                  </a:extLst>
                </p:cNvPr>
                <p:cNvSpPr/>
                <p:nvPr/>
              </p:nvSpPr>
              <p:spPr>
                <a:xfrm>
                  <a:off x="3700559" y="1814677"/>
                  <a:ext cx="1070621" cy="1072858"/>
                </a:xfrm>
                <a:prstGeom prst="roundRect">
                  <a:avLst/>
                </a:prstGeom>
                <a:solidFill>
                  <a:schemeClr val="accent1">
                    <a:alpha val="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00" name="Rounded Rectangle 54">
                  <a:extLst>
                    <a:ext uri="{FF2B5EF4-FFF2-40B4-BE49-F238E27FC236}">
                      <a16:creationId xmlns:a16="http://schemas.microsoft.com/office/drawing/2014/main" id="{A3117C6C-1D98-4091-7307-B33F9F800F82}"/>
                    </a:ext>
                  </a:extLst>
                </p:cNvPr>
                <p:cNvSpPr>
                  <a:spLocks noChangeAspect="1"/>
                </p:cNvSpPr>
                <p:nvPr/>
              </p:nvSpPr>
              <p:spPr>
                <a:xfrm>
                  <a:off x="3843308" y="1981876"/>
                  <a:ext cx="256948"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01" name="Rounded Rectangle 55">
                  <a:extLst>
                    <a:ext uri="{FF2B5EF4-FFF2-40B4-BE49-F238E27FC236}">
                      <a16:creationId xmlns:a16="http://schemas.microsoft.com/office/drawing/2014/main" id="{A2A106E8-D26B-B1A6-2D82-459E4D87DDE2}"/>
                    </a:ext>
                  </a:extLst>
                </p:cNvPr>
                <p:cNvSpPr>
                  <a:spLocks noChangeAspect="1"/>
                </p:cNvSpPr>
                <p:nvPr/>
              </p:nvSpPr>
              <p:spPr>
                <a:xfrm>
                  <a:off x="4385754" y="1981876"/>
                  <a:ext cx="271227"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02" name="Rounded Rectangle 56">
                  <a:extLst>
                    <a:ext uri="{FF2B5EF4-FFF2-40B4-BE49-F238E27FC236}">
                      <a16:creationId xmlns:a16="http://schemas.microsoft.com/office/drawing/2014/main" id="{99582E2F-F2DB-3FA8-A411-872E4F3D25F2}"/>
                    </a:ext>
                  </a:extLst>
                </p:cNvPr>
                <p:cNvSpPr>
                  <a:spLocks noChangeAspect="1"/>
                </p:cNvSpPr>
                <p:nvPr/>
              </p:nvSpPr>
              <p:spPr>
                <a:xfrm>
                  <a:off x="3843308" y="2399875"/>
                  <a:ext cx="256948"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03" name="Rounded Rectangle 57">
                  <a:extLst>
                    <a:ext uri="{FF2B5EF4-FFF2-40B4-BE49-F238E27FC236}">
                      <a16:creationId xmlns:a16="http://schemas.microsoft.com/office/drawing/2014/main" id="{BE17C6EB-14AC-3A69-38A0-1D2E583C4BCD}"/>
                    </a:ext>
                  </a:extLst>
                </p:cNvPr>
                <p:cNvSpPr>
                  <a:spLocks noChangeAspect="1"/>
                </p:cNvSpPr>
                <p:nvPr/>
              </p:nvSpPr>
              <p:spPr>
                <a:xfrm>
                  <a:off x="4385754" y="2399875"/>
                  <a:ext cx="271227"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nvGrpSpPr>
              <p:cNvPr id="76822" name="Group 52">
                <a:extLst>
                  <a:ext uri="{FF2B5EF4-FFF2-40B4-BE49-F238E27FC236}">
                    <a16:creationId xmlns:a16="http://schemas.microsoft.com/office/drawing/2014/main" id="{292896AC-1388-8EFA-8127-B38224A7CD28}"/>
                  </a:ext>
                </a:extLst>
              </p:cNvPr>
              <p:cNvGrpSpPr>
                <a:grpSpLocks noChangeAspect="1"/>
              </p:cNvGrpSpPr>
              <p:nvPr/>
            </p:nvGrpSpPr>
            <p:grpSpPr bwMode="auto">
              <a:xfrm>
                <a:off x="8205832" y="5357393"/>
                <a:ext cx="158709" cy="162600"/>
                <a:chOff x="3703320" y="1812035"/>
                <a:chExt cx="1069848" cy="1069848"/>
              </a:xfrm>
            </p:grpSpPr>
            <p:sp>
              <p:nvSpPr>
                <p:cNvPr id="94" name="Rounded Rectangle 53">
                  <a:extLst>
                    <a:ext uri="{FF2B5EF4-FFF2-40B4-BE49-F238E27FC236}">
                      <a16:creationId xmlns:a16="http://schemas.microsoft.com/office/drawing/2014/main" id="{F983F31F-CD00-193D-73F4-24190A0178FB}"/>
                    </a:ext>
                  </a:extLst>
                </p:cNvPr>
                <p:cNvSpPr/>
                <p:nvPr/>
              </p:nvSpPr>
              <p:spPr>
                <a:xfrm>
                  <a:off x="3704165" y="1814677"/>
                  <a:ext cx="1070621" cy="1072858"/>
                </a:xfrm>
                <a:prstGeom prst="roundRect">
                  <a:avLst/>
                </a:prstGeom>
                <a:solidFill>
                  <a:schemeClr val="accent1">
                    <a:alpha val="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95" name="Rounded Rectangle 54">
                  <a:extLst>
                    <a:ext uri="{FF2B5EF4-FFF2-40B4-BE49-F238E27FC236}">
                      <a16:creationId xmlns:a16="http://schemas.microsoft.com/office/drawing/2014/main" id="{52F053EF-4E3C-C872-2718-ECE34E9CB279}"/>
                    </a:ext>
                  </a:extLst>
                </p:cNvPr>
                <p:cNvSpPr>
                  <a:spLocks noChangeAspect="1"/>
                </p:cNvSpPr>
                <p:nvPr/>
              </p:nvSpPr>
              <p:spPr>
                <a:xfrm>
                  <a:off x="3846914" y="1981876"/>
                  <a:ext cx="256948"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96" name="Rounded Rectangle 55">
                  <a:extLst>
                    <a:ext uri="{FF2B5EF4-FFF2-40B4-BE49-F238E27FC236}">
                      <a16:creationId xmlns:a16="http://schemas.microsoft.com/office/drawing/2014/main" id="{01FB10A1-7A28-E773-973E-E2895C510A0C}"/>
                    </a:ext>
                  </a:extLst>
                </p:cNvPr>
                <p:cNvSpPr>
                  <a:spLocks noChangeAspect="1"/>
                </p:cNvSpPr>
                <p:nvPr/>
              </p:nvSpPr>
              <p:spPr>
                <a:xfrm>
                  <a:off x="4389360" y="1981876"/>
                  <a:ext cx="271227"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97" name="Rounded Rectangle 56">
                  <a:extLst>
                    <a:ext uri="{FF2B5EF4-FFF2-40B4-BE49-F238E27FC236}">
                      <a16:creationId xmlns:a16="http://schemas.microsoft.com/office/drawing/2014/main" id="{27133886-6FD6-D012-E10B-1140A233FF4A}"/>
                    </a:ext>
                  </a:extLst>
                </p:cNvPr>
                <p:cNvSpPr>
                  <a:spLocks noChangeAspect="1"/>
                </p:cNvSpPr>
                <p:nvPr/>
              </p:nvSpPr>
              <p:spPr>
                <a:xfrm>
                  <a:off x="3846914" y="2399875"/>
                  <a:ext cx="256948"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98" name="Rounded Rectangle 57">
                  <a:extLst>
                    <a:ext uri="{FF2B5EF4-FFF2-40B4-BE49-F238E27FC236}">
                      <a16:creationId xmlns:a16="http://schemas.microsoft.com/office/drawing/2014/main" id="{C1D0F0FE-AA8E-70DC-AB07-4E42D648CE67}"/>
                    </a:ext>
                  </a:extLst>
                </p:cNvPr>
                <p:cNvSpPr>
                  <a:spLocks noChangeAspect="1"/>
                </p:cNvSpPr>
                <p:nvPr/>
              </p:nvSpPr>
              <p:spPr>
                <a:xfrm>
                  <a:off x="4389360" y="2399875"/>
                  <a:ext cx="271227"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nvGrpSpPr>
              <p:cNvPr id="76823" name="Group 52">
                <a:extLst>
                  <a:ext uri="{FF2B5EF4-FFF2-40B4-BE49-F238E27FC236}">
                    <a16:creationId xmlns:a16="http://schemas.microsoft.com/office/drawing/2014/main" id="{0CFDDF92-E016-1AAB-417C-9393CE1F85F9}"/>
                  </a:ext>
                </a:extLst>
              </p:cNvPr>
              <p:cNvGrpSpPr>
                <a:grpSpLocks noChangeAspect="1"/>
              </p:cNvGrpSpPr>
              <p:nvPr/>
            </p:nvGrpSpPr>
            <p:grpSpPr bwMode="auto">
              <a:xfrm>
                <a:off x="8404616" y="5357393"/>
                <a:ext cx="158709" cy="162600"/>
                <a:chOff x="3703320" y="1812035"/>
                <a:chExt cx="1069848" cy="1069848"/>
              </a:xfrm>
            </p:grpSpPr>
            <p:sp>
              <p:nvSpPr>
                <p:cNvPr id="89" name="Rounded Rectangle 53">
                  <a:extLst>
                    <a:ext uri="{FF2B5EF4-FFF2-40B4-BE49-F238E27FC236}">
                      <a16:creationId xmlns:a16="http://schemas.microsoft.com/office/drawing/2014/main" id="{1EF7F4BA-6356-6772-5A8B-36699709F657}"/>
                    </a:ext>
                  </a:extLst>
                </p:cNvPr>
                <p:cNvSpPr/>
                <p:nvPr/>
              </p:nvSpPr>
              <p:spPr>
                <a:xfrm>
                  <a:off x="3706018" y="1814677"/>
                  <a:ext cx="1070621" cy="1072858"/>
                </a:xfrm>
                <a:prstGeom prst="roundRect">
                  <a:avLst/>
                </a:prstGeom>
                <a:solidFill>
                  <a:schemeClr val="accent1">
                    <a:alpha val="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90" name="Rounded Rectangle 54">
                  <a:extLst>
                    <a:ext uri="{FF2B5EF4-FFF2-40B4-BE49-F238E27FC236}">
                      <a16:creationId xmlns:a16="http://schemas.microsoft.com/office/drawing/2014/main" id="{69773C8E-E623-457E-62E2-E1F719EEA99D}"/>
                    </a:ext>
                  </a:extLst>
                </p:cNvPr>
                <p:cNvSpPr>
                  <a:spLocks noChangeAspect="1"/>
                </p:cNvSpPr>
                <p:nvPr/>
              </p:nvSpPr>
              <p:spPr>
                <a:xfrm>
                  <a:off x="3848767" y="1981876"/>
                  <a:ext cx="256948"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91" name="Rounded Rectangle 55">
                  <a:extLst>
                    <a:ext uri="{FF2B5EF4-FFF2-40B4-BE49-F238E27FC236}">
                      <a16:creationId xmlns:a16="http://schemas.microsoft.com/office/drawing/2014/main" id="{9CEB13DE-CDCE-7B59-7AF2-F3ADA67288EF}"/>
                    </a:ext>
                  </a:extLst>
                </p:cNvPr>
                <p:cNvSpPr>
                  <a:spLocks noChangeAspect="1"/>
                </p:cNvSpPr>
                <p:nvPr/>
              </p:nvSpPr>
              <p:spPr>
                <a:xfrm>
                  <a:off x="4391212" y="1981876"/>
                  <a:ext cx="271227" cy="264728"/>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92" name="Rounded Rectangle 56">
                  <a:extLst>
                    <a:ext uri="{FF2B5EF4-FFF2-40B4-BE49-F238E27FC236}">
                      <a16:creationId xmlns:a16="http://schemas.microsoft.com/office/drawing/2014/main" id="{C2861690-72A7-73BE-0699-7B19CE0AB6A2}"/>
                    </a:ext>
                  </a:extLst>
                </p:cNvPr>
                <p:cNvSpPr>
                  <a:spLocks noChangeAspect="1"/>
                </p:cNvSpPr>
                <p:nvPr/>
              </p:nvSpPr>
              <p:spPr>
                <a:xfrm>
                  <a:off x="3848767" y="2399875"/>
                  <a:ext cx="256948"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93" name="Rounded Rectangle 57">
                  <a:extLst>
                    <a:ext uri="{FF2B5EF4-FFF2-40B4-BE49-F238E27FC236}">
                      <a16:creationId xmlns:a16="http://schemas.microsoft.com/office/drawing/2014/main" id="{A64D11C1-7012-CE59-A30A-0419652B001F}"/>
                    </a:ext>
                  </a:extLst>
                </p:cNvPr>
                <p:cNvSpPr>
                  <a:spLocks noChangeAspect="1"/>
                </p:cNvSpPr>
                <p:nvPr/>
              </p:nvSpPr>
              <p:spPr>
                <a:xfrm>
                  <a:off x="4391212" y="2399875"/>
                  <a:ext cx="271227" cy="278666"/>
                </a:xfrm>
                <a:prstGeom prst="round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sp>
          <p:nvSpPr>
            <p:cNvPr id="129" name="Rounded Rectangle 53">
              <a:extLst>
                <a:ext uri="{FF2B5EF4-FFF2-40B4-BE49-F238E27FC236}">
                  <a16:creationId xmlns:a16="http://schemas.microsoft.com/office/drawing/2014/main" id="{B028DD16-AF39-9FCD-C569-35D6D8FBD3AC}"/>
                </a:ext>
              </a:extLst>
            </p:cNvPr>
            <p:cNvSpPr/>
            <p:nvPr/>
          </p:nvSpPr>
          <p:spPr>
            <a:xfrm>
              <a:off x="7803604" y="5941973"/>
              <a:ext cx="158824" cy="163058"/>
            </a:xfrm>
            <a:prstGeom prst="roundRect">
              <a:avLst/>
            </a:prstGeom>
            <a:solidFill>
              <a:srgbClr val="C7000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nvGrpSpPr>
            <p:cNvPr id="111" name="Group 52">
              <a:extLst>
                <a:ext uri="{FF2B5EF4-FFF2-40B4-BE49-F238E27FC236}">
                  <a16:creationId xmlns:a16="http://schemas.microsoft.com/office/drawing/2014/main" id="{D4161853-00C4-3FC8-0BF1-0A0DA1AFF801}"/>
                </a:ext>
              </a:extLst>
            </p:cNvPr>
            <p:cNvGrpSpPr>
              <a:grpSpLocks noChangeAspect="1"/>
            </p:cNvGrpSpPr>
            <p:nvPr/>
          </p:nvGrpSpPr>
          <p:grpSpPr>
            <a:xfrm>
              <a:off x="8003073" y="5941814"/>
              <a:ext cx="158709" cy="162600"/>
              <a:chOff x="3703320" y="1812035"/>
              <a:chExt cx="1069848" cy="1069848"/>
            </a:xfrm>
            <a:solidFill>
              <a:srgbClr val="C00000"/>
            </a:solidFill>
          </p:grpSpPr>
          <p:sp>
            <p:nvSpPr>
              <p:cNvPr id="124" name="Rounded Rectangle 53">
                <a:extLst>
                  <a:ext uri="{FF2B5EF4-FFF2-40B4-BE49-F238E27FC236}">
                    <a16:creationId xmlns:a16="http://schemas.microsoft.com/office/drawing/2014/main" id="{A80AE66B-D0C0-3112-87A2-D03A59A43D71}"/>
                  </a:ext>
                </a:extLst>
              </p:cNvPr>
              <p:cNvSpPr/>
              <p:nvPr/>
            </p:nvSpPr>
            <p:spPr>
              <a:xfrm>
                <a:off x="3703320" y="1812035"/>
                <a:ext cx="1069848" cy="1069848"/>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25" name="Rounded Rectangle 54">
                <a:extLst>
                  <a:ext uri="{FF2B5EF4-FFF2-40B4-BE49-F238E27FC236}">
                    <a16:creationId xmlns:a16="http://schemas.microsoft.com/office/drawing/2014/main" id="{FDEBB10C-E214-142E-BCD2-F555486ADC8C}"/>
                  </a:ext>
                </a:extLst>
              </p:cNvPr>
              <p:cNvSpPr>
                <a:spLocks noChangeAspect="1"/>
              </p:cNvSpPr>
              <p:nvPr/>
            </p:nvSpPr>
            <p:spPr>
              <a:xfrm>
                <a:off x="3840480" y="1981200"/>
                <a:ext cx="266700" cy="26746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26" name="Rounded Rectangle 55">
                <a:extLst>
                  <a:ext uri="{FF2B5EF4-FFF2-40B4-BE49-F238E27FC236}">
                    <a16:creationId xmlns:a16="http://schemas.microsoft.com/office/drawing/2014/main" id="{E3F31043-DE3A-D6CA-4630-074FF7E17FE5}"/>
                  </a:ext>
                </a:extLst>
              </p:cNvPr>
              <p:cNvSpPr>
                <a:spLocks noChangeAspect="1"/>
              </p:cNvSpPr>
              <p:nvPr/>
            </p:nvSpPr>
            <p:spPr>
              <a:xfrm>
                <a:off x="4389120" y="1981200"/>
                <a:ext cx="266700" cy="26746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27" name="Rounded Rectangle 56">
                <a:extLst>
                  <a:ext uri="{FF2B5EF4-FFF2-40B4-BE49-F238E27FC236}">
                    <a16:creationId xmlns:a16="http://schemas.microsoft.com/office/drawing/2014/main" id="{D0E93061-1A3D-23CE-C197-5439CFCA785C}"/>
                  </a:ext>
                </a:extLst>
              </p:cNvPr>
              <p:cNvSpPr>
                <a:spLocks noChangeAspect="1"/>
              </p:cNvSpPr>
              <p:nvPr/>
            </p:nvSpPr>
            <p:spPr>
              <a:xfrm>
                <a:off x="3840480" y="2399538"/>
                <a:ext cx="266700" cy="26746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28" name="Rounded Rectangle 57">
                <a:extLst>
                  <a:ext uri="{FF2B5EF4-FFF2-40B4-BE49-F238E27FC236}">
                    <a16:creationId xmlns:a16="http://schemas.microsoft.com/office/drawing/2014/main" id="{25227234-AF7D-33D1-4655-C1F0D7591665}"/>
                  </a:ext>
                </a:extLst>
              </p:cNvPr>
              <p:cNvSpPr>
                <a:spLocks noChangeAspect="1"/>
              </p:cNvSpPr>
              <p:nvPr/>
            </p:nvSpPr>
            <p:spPr>
              <a:xfrm>
                <a:off x="4389120" y="2399538"/>
                <a:ext cx="266700" cy="26746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nvGrpSpPr>
            <p:cNvPr id="112" name="Group 52">
              <a:extLst>
                <a:ext uri="{FF2B5EF4-FFF2-40B4-BE49-F238E27FC236}">
                  <a16:creationId xmlns:a16="http://schemas.microsoft.com/office/drawing/2014/main" id="{6A81CFFE-3FC3-DF48-D011-A4308BC632F5}"/>
                </a:ext>
              </a:extLst>
            </p:cNvPr>
            <p:cNvGrpSpPr>
              <a:grpSpLocks noChangeAspect="1"/>
            </p:cNvGrpSpPr>
            <p:nvPr/>
          </p:nvGrpSpPr>
          <p:grpSpPr>
            <a:xfrm>
              <a:off x="8205832" y="5941814"/>
              <a:ext cx="158709" cy="162600"/>
              <a:chOff x="3703320" y="1812035"/>
              <a:chExt cx="1069848" cy="1069848"/>
            </a:xfrm>
            <a:solidFill>
              <a:srgbClr val="C00000"/>
            </a:solidFill>
          </p:grpSpPr>
          <p:sp>
            <p:nvSpPr>
              <p:cNvPr id="119" name="Rounded Rectangle 53">
                <a:extLst>
                  <a:ext uri="{FF2B5EF4-FFF2-40B4-BE49-F238E27FC236}">
                    <a16:creationId xmlns:a16="http://schemas.microsoft.com/office/drawing/2014/main" id="{F77673B5-E85F-3656-8697-BCC6474F95A6}"/>
                  </a:ext>
                </a:extLst>
              </p:cNvPr>
              <p:cNvSpPr/>
              <p:nvPr/>
            </p:nvSpPr>
            <p:spPr>
              <a:xfrm>
                <a:off x="3703320" y="1812035"/>
                <a:ext cx="1069848" cy="1069848"/>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20" name="Rounded Rectangle 54">
                <a:extLst>
                  <a:ext uri="{FF2B5EF4-FFF2-40B4-BE49-F238E27FC236}">
                    <a16:creationId xmlns:a16="http://schemas.microsoft.com/office/drawing/2014/main" id="{5A82C81F-EB2C-09F8-F977-CB1009AABD9B}"/>
                  </a:ext>
                </a:extLst>
              </p:cNvPr>
              <p:cNvSpPr>
                <a:spLocks noChangeAspect="1"/>
              </p:cNvSpPr>
              <p:nvPr/>
            </p:nvSpPr>
            <p:spPr>
              <a:xfrm>
                <a:off x="3840480" y="1981200"/>
                <a:ext cx="266700" cy="26746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21" name="Rounded Rectangle 55">
                <a:extLst>
                  <a:ext uri="{FF2B5EF4-FFF2-40B4-BE49-F238E27FC236}">
                    <a16:creationId xmlns:a16="http://schemas.microsoft.com/office/drawing/2014/main" id="{C13790B4-8484-4013-281A-48BCC5679B0A}"/>
                  </a:ext>
                </a:extLst>
              </p:cNvPr>
              <p:cNvSpPr>
                <a:spLocks noChangeAspect="1"/>
              </p:cNvSpPr>
              <p:nvPr/>
            </p:nvSpPr>
            <p:spPr>
              <a:xfrm>
                <a:off x="4389120" y="1981200"/>
                <a:ext cx="266700" cy="26746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22" name="Rounded Rectangle 56">
                <a:extLst>
                  <a:ext uri="{FF2B5EF4-FFF2-40B4-BE49-F238E27FC236}">
                    <a16:creationId xmlns:a16="http://schemas.microsoft.com/office/drawing/2014/main" id="{C5A75D7C-5D14-A45F-CD82-6CA548F0EE1F}"/>
                  </a:ext>
                </a:extLst>
              </p:cNvPr>
              <p:cNvSpPr>
                <a:spLocks noChangeAspect="1"/>
              </p:cNvSpPr>
              <p:nvPr/>
            </p:nvSpPr>
            <p:spPr>
              <a:xfrm>
                <a:off x="3840480" y="2399538"/>
                <a:ext cx="266700" cy="26746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23" name="Rounded Rectangle 57">
                <a:extLst>
                  <a:ext uri="{FF2B5EF4-FFF2-40B4-BE49-F238E27FC236}">
                    <a16:creationId xmlns:a16="http://schemas.microsoft.com/office/drawing/2014/main" id="{3D415939-D60B-7967-7DDA-5A5F09CBC3B5}"/>
                  </a:ext>
                </a:extLst>
              </p:cNvPr>
              <p:cNvSpPr>
                <a:spLocks noChangeAspect="1"/>
              </p:cNvSpPr>
              <p:nvPr/>
            </p:nvSpPr>
            <p:spPr>
              <a:xfrm>
                <a:off x="4389120" y="2399538"/>
                <a:ext cx="266700" cy="26746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nvGrpSpPr>
            <p:cNvPr id="113" name="Group 52">
              <a:extLst>
                <a:ext uri="{FF2B5EF4-FFF2-40B4-BE49-F238E27FC236}">
                  <a16:creationId xmlns:a16="http://schemas.microsoft.com/office/drawing/2014/main" id="{1BDA95C6-8063-8243-70AA-F73D8AA4AA2F}"/>
                </a:ext>
              </a:extLst>
            </p:cNvPr>
            <p:cNvGrpSpPr>
              <a:grpSpLocks noChangeAspect="1"/>
            </p:cNvGrpSpPr>
            <p:nvPr/>
          </p:nvGrpSpPr>
          <p:grpSpPr>
            <a:xfrm>
              <a:off x="8404616" y="5941814"/>
              <a:ext cx="158709" cy="162600"/>
              <a:chOff x="3703320" y="1812035"/>
              <a:chExt cx="1069848" cy="1069848"/>
            </a:xfrm>
            <a:solidFill>
              <a:srgbClr val="C00000"/>
            </a:solidFill>
          </p:grpSpPr>
          <p:sp>
            <p:nvSpPr>
              <p:cNvPr id="114" name="Rounded Rectangle 53">
                <a:extLst>
                  <a:ext uri="{FF2B5EF4-FFF2-40B4-BE49-F238E27FC236}">
                    <a16:creationId xmlns:a16="http://schemas.microsoft.com/office/drawing/2014/main" id="{F1263804-60E8-3361-0BB3-2049397AC463}"/>
                  </a:ext>
                </a:extLst>
              </p:cNvPr>
              <p:cNvSpPr/>
              <p:nvPr/>
            </p:nvSpPr>
            <p:spPr>
              <a:xfrm>
                <a:off x="3703320" y="1812035"/>
                <a:ext cx="1069848" cy="1069848"/>
              </a:xfrm>
              <a:prstGeom prst="round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15" name="Rounded Rectangle 54">
                <a:extLst>
                  <a:ext uri="{FF2B5EF4-FFF2-40B4-BE49-F238E27FC236}">
                    <a16:creationId xmlns:a16="http://schemas.microsoft.com/office/drawing/2014/main" id="{AF154E55-EFE1-073F-75F7-F3B5E07B29E4}"/>
                  </a:ext>
                </a:extLst>
              </p:cNvPr>
              <p:cNvSpPr>
                <a:spLocks noChangeAspect="1"/>
              </p:cNvSpPr>
              <p:nvPr/>
            </p:nvSpPr>
            <p:spPr>
              <a:xfrm>
                <a:off x="3840480" y="1981200"/>
                <a:ext cx="266700" cy="26746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16" name="Rounded Rectangle 55">
                <a:extLst>
                  <a:ext uri="{FF2B5EF4-FFF2-40B4-BE49-F238E27FC236}">
                    <a16:creationId xmlns:a16="http://schemas.microsoft.com/office/drawing/2014/main" id="{F20A8D91-DD60-017B-DCD7-37FA0DBD61A9}"/>
                  </a:ext>
                </a:extLst>
              </p:cNvPr>
              <p:cNvSpPr>
                <a:spLocks noChangeAspect="1"/>
              </p:cNvSpPr>
              <p:nvPr/>
            </p:nvSpPr>
            <p:spPr>
              <a:xfrm>
                <a:off x="4389120" y="1981200"/>
                <a:ext cx="266700" cy="26746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17" name="Rounded Rectangle 56">
                <a:extLst>
                  <a:ext uri="{FF2B5EF4-FFF2-40B4-BE49-F238E27FC236}">
                    <a16:creationId xmlns:a16="http://schemas.microsoft.com/office/drawing/2014/main" id="{8C19BC75-A8BD-A662-EAB4-1F5A0E2748BB}"/>
                  </a:ext>
                </a:extLst>
              </p:cNvPr>
              <p:cNvSpPr>
                <a:spLocks noChangeAspect="1"/>
              </p:cNvSpPr>
              <p:nvPr/>
            </p:nvSpPr>
            <p:spPr>
              <a:xfrm>
                <a:off x="3840480" y="2399538"/>
                <a:ext cx="266700" cy="26746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sp>
            <p:nvSpPr>
              <p:cNvPr id="118" name="Rounded Rectangle 57">
                <a:extLst>
                  <a:ext uri="{FF2B5EF4-FFF2-40B4-BE49-F238E27FC236}">
                    <a16:creationId xmlns:a16="http://schemas.microsoft.com/office/drawing/2014/main" id="{6F49FB14-FB5D-E902-1B84-0F5E7FB96E36}"/>
                  </a:ext>
                </a:extLst>
              </p:cNvPr>
              <p:cNvSpPr>
                <a:spLocks noChangeAspect="1"/>
              </p:cNvSpPr>
              <p:nvPr/>
            </p:nvSpPr>
            <p:spPr>
              <a:xfrm>
                <a:off x="4389120" y="2399538"/>
                <a:ext cx="266700" cy="26746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latin typeface="Huawei Sans" panose="020C0503030203020204" pitchFamily="34" charset="0"/>
                  <a:ea typeface="方正兰亭黑简体" panose="02000000000000000000" pitchFamily="2" charset="-122"/>
                </a:endParaRPr>
              </a:p>
            </p:txBody>
          </p:sp>
        </p:gr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1">
            <a:extLst>
              <a:ext uri="{FF2B5EF4-FFF2-40B4-BE49-F238E27FC236}">
                <a16:creationId xmlns:a16="http://schemas.microsoft.com/office/drawing/2014/main" id="{781021CA-2FC8-2CD9-0F01-A3B426580D7C}"/>
              </a:ext>
            </a:extLst>
          </p:cNvPr>
          <p:cNvSpPr>
            <a:spLocks noGrp="1" noChangeArrowheads="1"/>
          </p:cNvSpPr>
          <p:nvPr>
            <p:ph type="title"/>
          </p:nvPr>
        </p:nvSpPr>
        <p:spPr>
          <a:xfrm>
            <a:off x="549275" y="447675"/>
            <a:ext cx="8045450" cy="485775"/>
          </a:xfrm>
        </p:spPr>
        <p:txBody>
          <a:bodyPr/>
          <a:lstStyle/>
          <a:p>
            <a:r>
              <a:rPr lang="en-US" altLang="zh-CN">
                <a:latin typeface="Huawei Sans"/>
                <a:ea typeface="方正兰亭黑简体"/>
                <a:cs typeface="方正兰亭黑简体"/>
              </a:rPr>
              <a:t>ARM</a:t>
            </a:r>
            <a:r>
              <a:rPr>
                <a:latin typeface="Huawei Sans"/>
                <a:ea typeface="方正兰亭黑简体"/>
                <a:cs typeface="方正兰亭黑简体"/>
              </a:rPr>
              <a:t>服务器级别处理器一览</a:t>
            </a:r>
          </a:p>
        </p:txBody>
      </p:sp>
      <p:grpSp>
        <p:nvGrpSpPr>
          <p:cNvPr id="78850" name="组合 5">
            <a:extLst>
              <a:ext uri="{FF2B5EF4-FFF2-40B4-BE49-F238E27FC236}">
                <a16:creationId xmlns:a16="http://schemas.microsoft.com/office/drawing/2014/main" id="{F0A35C6E-A3CE-9314-8275-499A443D45C6}"/>
              </a:ext>
            </a:extLst>
          </p:cNvPr>
          <p:cNvGrpSpPr>
            <a:grpSpLocks/>
          </p:cNvGrpSpPr>
          <p:nvPr/>
        </p:nvGrpSpPr>
        <p:grpSpPr bwMode="auto">
          <a:xfrm>
            <a:off x="742950" y="1878013"/>
            <a:ext cx="7974013" cy="3584575"/>
            <a:chOff x="991640" y="1360966"/>
            <a:chExt cx="10631004" cy="4780004"/>
          </a:xfrm>
        </p:grpSpPr>
        <p:sp>
          <p:nvSpPr>
            <p:cNvPr id="36" name="矩形 56">
              <a:extLst>
                <a:ext uri="{FF2B5EF4-FFF2-40B4-BE49-F238E27FC236}">
                  <a16:creationId xmlns:a16="http://schemas.microsoft.com/office/drawing/2014/main" id="{B375555F-D06C-D129-B817-5BC1E670DF8A}"/>
                </a:ext>
              </a:extLst>
            </p:cNvPr>
            <p:cNvSpPr/>
            <p:nvPr/>
          </p:nvSpPr>
          <p:spPr bwMode="auto">
            <a:xfrm>
              <a:off x="2360716" y="1473804"/>
              <a:ext cx="1136974" cy="432000"/>
            </a:xfrm>
            <a:prstGeom prst="rect">
              <a:avLst/>
            </a:prstGeom>
            <a:solidFill>
              <a:srgbClr val="CBDEF1"/>
            </a:solidFill>
            <a:ln>
              <a:solidFill>
                <a:schemeClr val="tx1"/>
              </a:solidFill>
            </a:ln>
            <a:effectLst/>
            <a:scene3d>
              <a:camera prst="orthographicFront"/>
              <a:lightRig rig="threePt" dir="t"/>
            </a:scene3d>
            <a:sp3d>
              <a:bevelT w="114300" prst="artDeco"/>
            </a:sp3d>
          </p:spPr>
          <p:txBody>
            <a:bodyPr lIns="47999" tIns="60958" rIns="47999" bIns="60958" anchor="ctr"/>
            <a:lstStyle/>
            <a:p>
              <a:pPr algn="ctr" defTabSz="1219139">
                <a:buClr>
                  <a:srgbClr val="CC9900"/>
                </a:buClr>
                <a:defRPr/>
              </a:pPr>
              <a:r>
                <a:rPr lang="en-US" altLang="zh-CN" sz="1600" dirty="0">
                  <a:solidFill>
                    <a:srgbClr val="C00000"/>
                  </a:solidFill>
                  <a:latin typeface="Huawei Sans" panose="020C0503030203020204" pitchFamily="34" charset="0"/>
                  <a:ea typeface="方正兰亭黑简体" panose="02000000000000000000" pitchFamily="2" charset="-122"/>
                  <a:cs typeface="Arial" panose="020B0604020202020204" pitchFamily="34" charset="0"/>
                </a:rPr>
                <a:t>Hi1612</a:t>
              </a:r>
              <a:endParaRPr lang="zh-CN" altLang="en-US" sz="1600" dirty="0">
                <a:solidFill>
                  <a:srgbClr val="C00000"/>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37" name="TextBox 46">
              <a:extLst>
                <a:ext uri="{FF2B5EF4-FFF2-40B4-BE49-F238E27FC236}">
                  <a16:creationId xmlns:a16="http://schemas.microsoft.com/office/drawing/2014/main" id="{F8703266-4141-1D51-5AAA-CA489845A3A2}"/>
                </a:ext>
              </a:extLst>
            </p:cNvPr>
            <p:cNvSpPr txBox="1"/>
            <p:nvPr/>
          </p:nvSpPr>
          <p:spPr>
            <a:xfrm>
              <a:off x="3491186" y="1367316"/>
              <a:ext cx="1771480" cy="677414"/>
            </a:xfrm>
            <a:prstGeom prst="rect">
              <a:avLst/>
            </a:prstGeom>
            <a:noFill/>
            <a:ln>
              <a:noFill/>
            </a:ln>
          </p:spPr>
          <p:txBody>
            <a:bodyPr>
              <a:spAutoFit/>
            </a:bodyPr>
            <a:lstStyle/>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32C, 2.1GHz</a:t>
              </a:r>
            </a:p>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16nm</a:t>
              </a:r>
              <a:endParaRPr lang="zh-CN" altLang="en-US" sz="1350" dirty="0">
                <a:latin typeface="Huawei Sans" panose="020C0503030203020204" pitchFamily="34" charset="0"/>
                <a:ea typeface="方正兰亭黑简体" panose="02000000000000000000" pitchFamily="2" charset="-122"/>
                <a:cs typeface="Arial" panose="020B0604020202020204" pitchFamily="34" charset="0"/>
              </a:endParaRPr>
            </a:p>
          </p:txBody>
        </p:sp>
        <p:sp>
          <p:nvSpPr>
            <p:cNvPr id="39" name="TextBox 46">
              <a:extLst>
                <a:ext uri="{FF2B5EF4-FFF2-40B4-BE49-F238E27FC236}">
                  <a16:creationId xmlns:a16="http://schemas.microsoft.com/office/drawing/2014/main" id="{468EBD0F-4914-6138-35F9-161A70A4A990}"/>
                </a:ext>
              </a:extLst>
            </p:cNvPr>
            <p:cNvSpPr txBox="1"/>
            <p:nvPr/>
          </p:nvSpPr>
          <p:spPr>
            <a:xfrm>
              <a:off x="6342063" y="1360966"/>
              <a:ext cx="1695289" cy="677414"/>
            </a:xfrm>
            <a:prstGeom prst="rect">
              <a:avLst/>
            </a:prstGeom>
            <a:noFill/>
            <a:ln>
              <a:noFill/>
            </a:ln>
          </p:spPr>
          <p:txBody>
            <a:bodyPr>
              <a:spAutoFit/>
            </a:bodyPr>
            <a:lstStyle/>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32C,2.4GHz</a:t>
              </a:r>
            </a:p>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16nm</a:t>
              </a:r>
              <a:endParaRPr lang="zh-CN" altLang="en-US" sz="1350" dirty="0">
                <a:latin typeface="Huawei Sans" panose="020C0503030203020204" pitchFamily="34" charset="0"/>
                <a:ea typeface="方正兰亭黑简体" panose="02000000000000000000" pitchFamily="2" charset="-122"/>
                <a:cs typeface="Arial" panose="020B0604020202020204" pitchFamily="34" charset="0"/>
              </a:endParaRPr>
            </a:p>
          </p:txBody>
        </p:sp>
        <p:sp>
          <p:nvSpPr>
            <p:cNvPr id="42" name="矩形 64">
              <a:extLst>
                <a:ext uri="{FF2B5EF4-FFF2-40B4-BE49-F238E27FC236}">
                  <a16:creationId xmlns:a16="http://schemas.microsoft.com/office/drawing/2014/main" id="{89035209-33EF-8262-226C-4A5CEE8A0EDD}"/>
                </a:ext>
              </a:extLst>
            </p:cNvPr>
            <p:cNvSpPr/>
            <p:nvPr/>
          </p:nvSpPr>
          <p:spPr bwMode="auto">
            <a:xfrm>
              <a:off x="2513941" y="2504938"/>
              <a:ext cx="1556512" cy="432000"/>
            </a:xfrm>
            <a:prstGeom prst="rect">
              <a:avLst/>
            </a:prstGeom>
            <a:solidFill>
              <a:srgbClr val="CBDEF1"/>
            </a:solidFill>
            <a:ln>
              <a:solidFill>
                <a:schemeClr val="tx1"/>
              </a:solidFill>
            </a:ln>
            <a:effectLst/>
            <a:scene3d>
              <a:camera prst="orthographicFront"/>
              <a:lightRig rig="threePt" dir="t"/>
            </a:scene3d>
            <a:sp3d>
              <a:bevelT w="114300" prst="artDeco"/>
            </a:sp3d>
          </p:spPr>
          <p:txBody>
            <a:bodyPr lIns="47999" tIns="60958" rIns="47999" bIns="60958" anchor="ctr"/>
            <a:lstStyle/>
            <a:p>
              <a:pPr algn="ctr" defTabSz="1219139">
                <a:buClr>
                  <a:srgbClr val="CC9900"/>
                </a:buClr>
                <a:defRPr/>
              </a:pPr>
              <a:r>
                <a:rPr lang="en-US" altLang="zh-CN" sz="1600" dirty="0">
                  <a:solidFill>
                    <a:srgbClr val="C00000"/>
                  </a:solidFill>
                  <a:latin typeface="Huawei Sans" panose="020C0503030203020204" pitchFamily="34" charset="0"/>
                  <a:ea typeface="方正兰亭黑简体" panose="02000000000000000000" pitchFamily="2" charset="-122"/>
                  <a:cs typeface="Arial" panose="020B0604020202020204" pitchFamily="34" charset="0"/>
                </a:rPr>
                <a:t>Thunder-X</a:t>
              </a:r>
              <a:endParaRPr lang="zh-CN" altLang="en-US" sz="1600" dirty="0">
                <a:solidFill>
                  <a:srgbClr val="C00000"/>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43" name="TextBox 46">
              <a:extLst>
                <a:ext uri="{FF2B5EF4-FFF2-40B4-BE49-F238E27FC236}">
                  <a16:creationId xmlns:a16="http://schemas.microsoft.com/office/drawing/2014/main" id="{DEFE0305-1F22-A9BA-35DD-4D08DE94F9ED}"/>
                </a:ext>
              </a:extLst>
            </p:cNvPr>
            <p:cNvSpPr txBox="1"/>
            <p:nvPr/>
          </p:nvSpPr>
          <p:spPr>
            <a:xfrm>
              <a:off x="4098611" y="2415192"/>
              <a:ext cx="1441313" cy="677414"/>
            </a:xfrm>
            <a:prstGeom prst="rect">
              <a:avLst/>
            </a:prstGeom>
            <a:noFill/>
            <a:ln>
              <a:noFill/>
            </a:ln>
          </p:spPr>
          <p:txBody>
            <a:bodyPr>
              <a:spAutoFit/>
            </a:bodyPr>
            <a:lstStyle/>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48C,2.5GHz </a:t>
              </a:r>
            </a:p>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28nm</a:t>
              </a:r>
              <a:endParaRPr lang="zh-CN" altLang="en-US" sz="1350" dirty="0">
                <a:latin typeface="Huawei Sans" panose="020C0503030203020204" pitchFamily="34" charset="0"/>
                <a:ea typeface="方正兰亭黑简体" panose="02000000000000000000" pitchFamily="2" charset="-122"/>
                <a:cs typeface="Arial" panose="020B0604020202020204" pitchFamily="34" charset="0"/>
              </a:endParaRPr>
            </a:p>
          </p:txBody>
        </p:sp>
        <p:sp>
          <p:nvSpPr>
            <p:cNvPr id="44" name="矩形 66">
              <a:extLst>
                <a:ext uri="{FF2B5EF4-FFF2-40B4-BE49-F238E27FC236}">
                  <a16:creationId xmlns:a16="http://schemas.microsoft.com/office/drawing/2014/main" id="{63781502-6378-5C0C-D999-4A7267C4C5AD}"/>
                </a:ext>
              </a:extLst>
            </p:cNvPr>
            <p:cNvSpPr/>
            <p:nvPr/>
          </p:nvSpPr>
          <p:spPr bwMode="auto">
            <a:xfrm>
              <a:off x="5906905" y="2526945"/>
              <a:ext cx="1674480" cy="432000"/>
            </a:xfrm>
            <a:prstGeom prst="rect">
              <a:avLst/>
            </a:prstGeom>
            <a:solidFill>
              <a:srgbClr val="CBDEF1"/>
            </a:solidFill>
            <a:ln>
              <a:solidFill>
                <a:schemeClr val="tx1"/>
              </a:solidFill>
            </a:ln>
            <a:effectLst/>
            <a:scene3d>
              <a:camera prst="orthographicFront"/>
              <a:lightRig rig="threePt" dir="t"/>
            </a:scene3d>
            <a:sp3d>
              <a:bevelT w="114300" prst="artDeco"/>
            </a:sp3d>
          </p:spPr>
          <p:txBody>
            <a:bodyPr lIns="47999" tIns="60958" rIns="47999" bIns="60958" anchor="ctr"/>
            <a:lstStyle/>
            <a:p>
              <a:pPr algn="ctr" defTabSz="1219139">
                <a:buClr>
                  <a:srgbClr val="CC9900"/>
                </a:buClr>
                <a:defRPr/>
              </a:pPr>
              <a:r>
                <a:rPr lang="en-US" altLang="zh-CN" sz="1600" dirty="0">
                  <a:solidFill>
                    <a:srgbClr val="C00000"/>
                  </a:solidFill>
                  <a:latin typeface="Huawei Sans" panose="020C0503030203020204" pitchFamily="34" charset="0"/>
                  <a:ea typeface="方正兰亭黑简体" panose="02000000000000000000" pitchFamily="2" charset="-122"/>
                  <a:cs typeface="Arial" panose="020B0604020202020204" pitchFamily="34" charset="0"/>
                </a:rPr>
                <a:t>Thunder-X2</a:t>
              </a:r>
              <a:endParaRPr lang="zh-CN" altLang="en-US" sz="1600" dirty="0">
                <a:solidFill>
                  <a:srgbClr val="C00000"/>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45" name="TextBox 46">
              <a:extLst>
                <a:ext uri="{FF2B5EF4-FFF2-40B4-BE49-F238E27FC236}">
                  <a16:creationId xmlns:a16="http://schemas.microsoft.com/office/drawing/2014/main" id="{2DE61A75-70AF-A856-D476-F33B763FC0AC}"/>
                </a:ext>
              </a:extLst>
            </p:cNvPr>
            <p:cNvSpPr txBox="1"/>
            <p:nvPr/>
          </p:nvSpPr>
          <p:spPr>
            <a:xfrm>
              <a:off x="7624641" y="2440595"/>
              <a:ext cx="2429702" cy="677414"/>
            </a:xfrm>
            <a:prstGeom prst="rect">
              <a:avLst/>
            </a:prstGeom>
            <a:noFill/>
            <a:ln>
              <a:noFill/>
            </a:ln>
          </p:spPr>
          <p:txBody>
            <a:bodyPr>
              <a:spAutoFit/>
            </a:bodyPr>
            <a:lstStyle/>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32-54C,3.0GHz</a:t>
              </a:r>
            </a:p>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14nm</a:t>
              </a:r>
              <a:endParaRPr lang="zh-CN" altLang="en-US" sz="1350" dirty="0">
                <a:latin typeface="Huawei Sans" panose="020C0503030203020204" pitchFamily="34" charset="0"/>
                <a:ea typeface="方正兰亭黑简体" panose="02000000000000000000" pitchFamily="2" charset="-122"/>
                <a:cs typeface="Arial" panose="020B0604020202020204" pitchFamily="34" charset="0"/>
              </a:endParaRPr>
            </a:p>
          </p:txBody>
        </p:sp>
        <p:sp>
          <p:nvSpPr>
            <p:cNvPr id="52" name="矩形 74">
              <a:extLst>
                <a:ext uri="{FF2B5EF4-FFF2-40B4-BE49-F238E27FC236}">
                  <a16:creationId xmlns:a16="http://schemas.microsoft.com/office/drawing/2014/main" id="{BE5ECA5C-C772-3991-7E41-9AE3C25DCE32}"/>
                </a:ext>
              </a:extLst>
            </p:cNvPr>
            <p:cNvSpPr/>
            <p:nvPr/>
          </p:nvSpPr>
          <p:spPr bwMode="auto">
            <a:xfrm>
              <a:off x="6311165" y="3510819"/>
              <a:ext cx="1134901" cy="432000"/>
            </a:xfrm>
            <a:prstGeom prst="rect">
              <a:avLst/>
            </a:prstGeom>
            <a:solidFill>
              <a:srgbClr val="CBDEF1"/>
            </a:solidFill>
            <a:ln>
              <a:solidFill>
                <a:schemeClr val="tx1"/>
              </a:solidFill>
            </a:ln>
            <a:effectLst/>
            <a:scene3d>
              <a:camera prst="orthographicFront"/>
              <a:lightRig rig="threePt" dir="t"/>
            </a:scene3d>
            <a:sp3d>
              <a:bevelT w="114300" prst="artDeco"/>
            </a:sp3d>
          </p:spPr>
          <p:txBody>
            <a:bodyPr lIns="47999" tIns="60958" rIns="47999" bIns="60958" anchor="ctr"/>
            <a:lstStyle/>
            <a:p>
              <a:pPr algn="ctr" defTabSz="1219139">
                <a:buClr>
                  <a:srgbClr val="CC9900"/>
                </a:buClr>
                <a:defRPr/>
              </a:pPr>
              <a:r>
                <a:rPr lang="en-US" altLang="zh-CN" sz="1600" dirty="0">
                  <a:solidFill>
                    <a:srgbClr val="002060"/>
                  </a:solidFill>
                  <a:latin typeface="Huawei Sans" panose="020C0503030203020204" pitchFamily="34" charset="0"/>
                  <a:ea typeface="方正兰亭黑简体" panose="02000000000000000000" pitchFamily="2" charset="-122"/>
                  <a:cs typeface="Arial" panose="020B0604020202020204" pitchFamily="34" charset="0"/>
                </a:rPr>
                <a:t>2400</a:t>
              </a:r>
              <a:endParaRPr lang="zh-CN" altLang="en-US" sz="1600" dirty="0">
                <a:solidFill>
                  <a:srgbClr val="002060"/>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53" name="TextBox 52">
              <a:extLst>
                <a:ext uri="{FF2B5EF4-FFF2-40B4-BE49-F238E27FC236}">
                  <a16:creationId xmlns:a16="http://schemas.microsoft.com/office/drawing/2014/main" id="{8B99C22C-0A19-CBCD-82D6-DBD679FBD908}"/>
                </a:ext>
              </a:extLst>
            </p:cNvPr>
            <p:cNvSpPr txBox="1"/>
            <p:nvPr/>
          </p:nvSpPr>
          <p:spPr>
            <a:xfrm>
              <a:off x="7499770" y="3408026"/>
              <a:ext cx="2831830" cy="675298"/>
            </a:xfrm>
            <a:prstGeom prst="rect">
              <a:avLst/>
            </a:prstGeom>
            <a:noFill/>
            <a:ln>
              <a:noFill/>
            </a:ln>
          </p:spPr>
          <p:txBody>
            <a:bodyPr>
              <a:spAutoFit/>
            </a:bodyPr>
            <a:lstStyle/>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48Cores,2.2-2.6GHz</a:t>
              </a:r>
            </a:p>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14nm</a:t>
              </a:r>
              <a:endParaRPr lang="zh-CN" altLang="en-US" sz="1350" dirty="0">
                <a:latin typeface="Huawei Sans" panose="020C0503030203020204" pitchFamily="34" charset="0"/>
                <a:ea typeface="方正兰亭黑简体" panose="02000000000000000000" pitchFamily="2" charset="-122"/>
                <a:cs typeface="Arial" panose="020B0604020202020204" pitchFamily="34" charset="0"/>
              </a:endParaRPr>
            </a:p>
          </p:txBody>
        </p:sp>
        <p:sp>
          <p:nvSpPr>
            <p:cNvPr id="55" name="TextBox 46">
              <a:extLst>
                <a:ext uri="{FF2B5EF4-FFF2-40B4-BE49-F238E27FC236}">
                  <a16:creationId xmlns:a16="http://schemas.microsoft.com/office/drawing/2014/main" id="{5E379475-599E-5FA5-16DA-5FC7ABBD6412}"/>
                </a:ext>
              </a:extLst>
            </p:cNvPr>
            <p:cNvSpPr txBox="1"/>
            <p:nvPr/>
          </p:nvSpPr>
          <p:spPr>
            <a:xfrm>
              <a:off x="9252203" y="1390603"/>
              <a:ext cx="2226521" cy="677414"/>
            </a:xfrm>
            <a:prstGeom prst="rect">
              <a:avLst/>
            </a:prstGeom>
            <a:noFill/>
            <a:ln>
              <a:noFill/>
            </a:ln>
          </p:spPr>
          <p:txBody>
            <a:bodyPr>
              <a:spAutoFit/>
            </a:bodyPr>
            <a:lstStyle/>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64C,3.0GHz</a:t>
              </a:r>
            </a:p>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7nm</a:t>
              </a:r>
              <a:endParaRPr lang="zh-CN" altLang="en-US" sz="1350" dirty="0">
                <a:latin typeface="Huawei Sans" panose="020C0503030203020204" pitchFamily="34" charset="0"/>
                <a:ea typeface="方正兰亭黑简体" panose="02000000000000000000" pitchFamily="2" charset="-122"/>
                <a:cs typeface="Arial" panose="020B0604020202020204" pitchFamily="34" charset="0"/>
              </a:endParaRPr>
            </a:p>
          </p:txBody>
        </p:sp>
        <p:cxnSp>
          <p:nvCxnSpPr>
            <p:cNvPr id="58" name="直接连接符 89">
              <a:extLst>
                <a:ext uri="{FF2B5EF4-FFF2-40B4-BE49-F238E27FC236}">
                  <a16:creationId xmlns:a16="http://schemas.microsoft.com/office/drawing/2014/main" id="{F377F528-7D13-3EFE-1436-BEA81BB7F083}"/>
                </a:ext>
              </a:extLst>
            </p:cNvPr>
            <p:cNvCxnSpPr/>
            <p:nvPr/>
          </p:nvCxnSpPr>
          <p:spPr bwMode="auto">
            <a:xfrm>
              <a:off x="1036086" y="2294527"/>
              <a:ext cx="10118818"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59" name="直接连接符 90">
              <a:extLst>
                <a:ext uri="{FF2B5EF4-FFF2-40B4-BE49-F238E27FC236}">
                  <a16:creationId xmlns:a16="http://schemas.microsoft.com/office/drawing/2014/main" id="{3747BE15-E825-A466-4185-38F353F7505B}"/>
                </a:ext>
              </a:extLst>
            </p:cNvPr>
            <p:cNvCxnSpPr/>
            <p:nvPr/>
          </p:nvCxnSpPr>
          <p:spPr bwMode="auto">
            <a:xfrm>
              <a:off x="1038202" y="3236557"/>
              <a:ext cx="10116702"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61" name="直接连接符 93">
              <a:extLst>
                <a:ext uri="{FF2B5EF4-FFF2-40B4-BE49-F238E27FC236}">
                  <a16:creationId xmlns:a16="http://schemas.microsoft.com/office/drawing/2014/main" id="{7E3E2199-5DDA-5918-049A-A0082470AFED}"/>
                </a:ext>
              </a:extLst>
            </p:cNvPr>
            <p:cNvCxnSpPr/>
            <p:nvPr/>
          </p:nvCxnSpPr>
          <p:spPr bwMode="auto">
            <a:xfrm>
              <a:off x="991640" y="4328887"/>
              <a:ext cx="10203478"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5B2ECDAB-FB12-5797-22E3-454AB145C42A}"/>
                </a:ext>
              </a:extLst>
            </p:cNvPr>
            <p:cNvSpPr txBox="1"/>
            <p:nvPr/>
          </p:nvSpPr>
          <p:spPr>
            <a:xfrm>
              <a:off x="9736873" y="4483421"/>
              <a:ext cx="1885771" cy="677414"/>
            </a:xfrm>
            <a:prstGeom prst="rect">
              <a:avLst/>
            </a:prstGeom>
            <a:noFill/>
            <a:ln>
              <a:noFill/>
            </a:ln>
          </p:spPr>
          <p:txBody>
            <a:bodyPr>
              <a:spAutoFit/>
            </a:bodyPr>
            <a:lstStyle/>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32C, 3.3GHz 16nm</a:t>
              </a:r>
              <a:endParaRPr lang="zh-CN" altLang="en-US" sz="1350" dirty="0">
                <a:latin typeface="Huawei Sans" panose="020C0503030203020204" pitchFamily="34" charset="0"/>
                <a:ea typeface="方正兰亭黑简体" panose="02000000000000000000" pitchFamily="2" charset="-122"/>
                <a:cs typeface="Arial" panose="020B0604020202020204" pitchFamily="34" charset="0"/>
              </a:endParaRPr>
            </a:p>
          </p:txBody>
        </p:sp>
        <p:sp>
          <p:nvSpPr>
            <p:cNvPr id="64" name="矩形 96">
              <a:extLst>
                <a:ext uri="{FF2B5EF4-FFF2-40B4-BE49-F238E27FC236}">
                  <a16:creationId xmlns:a16="http://schemas.microsoft.com/office/drawing/2014/main" id="{46F81D8F-5852-3461-4080-4F0E6063131F}"/>
                </a:ext>
              </a:extLst>
            </p:cNvPr>
            <p:cNvSpPr/>
            <p:nvPr/>
          </p:nvSpPr>
          <p:spPr bwMode="auto">
            <a:xfrm>
              <a:off x="8266609" y="4599981"/>
              <a:ext cx="1470038" cy="432000"/>
            </a:xfrm>
            <a:prstGeom prst="rect">
              <a:avLst/>
            </a:prstGeom>
            <a:solidFill>
              <a:srgbClr val="CBDEF1"/>
            </a:solidFill>
            <a:ln>
              <a:solidFill>
                <a:schemeClr val="tx1"/>
              </a:solidFill>
            </a:ln>
            <a:effectLst/>
            <a:scene3d>
              <a:camera prst="orthographicFront"/>
              <a:lightRig rig="threePt" dir="t"/>
            </a:scene3d>
            <a:sp3d>
              <a:bevelT w="114300" prst="artDeco"/>
            </a:sp3d>
          </p:spPr>
          <p:txBody>
            <a:bodyPr lIns="47999" tIns="60958" rIns="47999" bIns="60958" anchor="ctr"/>
            <a:lstStyle/>
            <a:p>
              <a:pPr algn="ctr" defTabSz="1219139">
                <a:buClr>
                  <a:srgbClr val="CC9900"/>
                </a:buClr>
                <a:defRPr/>
              </a:pPr>
              <a:r>
                <a:rPr lang="en-US" altLang="zh-CN" sz="1600" dirty="0">
                  <a:solidFill>
                    <a:srgbClr val="002060"/>
                  </a:solidFill>
                  <a:latin typeface="Huawei Sans" panose="020C0503030203020204" pitchFamily="34" charset="0"/>
                  <a:ea typeface="方正兰亭黑简体" panose="02000000000000000000" pitchFamily="2" charset="-122"/>
                  <a:cs typeface="Arial" panose="020B0604020202020204" pitchFamily="34" charset="0"/>
                </a:rPr>
                <a:t>X-Gene3</a:t>
              </a:r>
              <a:endParaRPr lang="zh-CN" altLang="en-US" sz="1600" dirty="0">
                <a:solidFill>
                  <a:srgbClr val="002060"/>
                </a:solidFill>
                <a:latin typeface="Huawei Sans" panose="020C0503030203020204" pitchFamily="34" charset="0"/>
                <a:ea typeface="方正兰亭黑简体" panose="02000000000000000000" pitchFamily="2" charset="-122"/>
                <a:cs typeface="Arial" panose="020B0604020202020204" pitchFamily="34" charset="0"/>
              </a:endParaRPr>
            </a:p>
          </p:txBody>
        </p:sp>
        <p:cxnSp>
          <p:nvCxnSpPr>
            <p:cNvPr id="65" name="直接连接符 97">
              <a:extLst>
                <a:ext uri="{FF2B5EF4-FFF2-40B4-BE49-F238E27FC236}">
                  <a16:creationId xmlns:a16="http://schemas.microsoft.com/office/drawing/2014/main" id="{B843F8F8-FEE6-6849-0E3C-BE0A2ECC15C2}"/>
                </a:ext>
              </a:extLst>
            </p:cNvPr>
            <p:cNvCxnSpPr/>
            <p:nvPr/>
          </p:nvCxnSpPr>
          <p:spPr bwMode="auto">
            <a:xfrm>
              <a:off x="1012805" y="5266682"/>
              <a:ext cx="10203478"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67" name="直接连接符 100">
              <a:extLst>
                <a:ext uri="{FF2B5EF4-FFF2-40B4-BE49-F238E27FC236}">
                  <a16:creationId xmlns:a16="http://schemas.microsoft.com/office/drawing/2014/main" id="{554B9398-062F-2B36-7D90-09928CDD31E2}"/>
                </a:ext>
              </a:extLst>
            </p:cNvPr>
            <p:cNvCxnSpPr/>
            <p:nvPr/>
          </p:nvCxnSpPr>
          <p:spPr bwMode="auto">
            <a:xfrm>
              <a:off x="991640" y="6140970"/>
              <a:ext cx="10203478"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B87896DA-C821-8F4D-8001-7AEC1DCD1595}"/>
                </a:ext>
              </a:extLst>
            </p:cNvPr>
            <p:cNvSpPr txBox="1"/>
            <p:nvPr/>
          </p:nvSpPr>
          <p:spPr>
            <a:xfrm>
              <a:off x="8951665" y="5357710"/>
              <a:ext cx="2258267" cy="677414"/>
            </a:xfrm>
            <a:prstGeom prst="rect">
              <a:avLst/>
            </a:prstGeom>
            <a:noFill/>
            <a:ln>
              <a:noFill/>
            </a:ln>
          </p:spPr>
          <p:txBody>
            <a:bodyPr>
              <a:spAutoFit/>
            </a:bodyPr>
            <a:lstStyle/>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64Cores,2.3GHz</a:t>
              </a:r>
            </a:p>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16nm</a:t>
              </a:r>
              <a:endParaRPr lang="zh-CN" altLang="en-US" sz="1350" dirty="0">
                <a:latin typeface="Huawei Sans" panose="020C0503030203020204" pitchFamily="34" charset="0"/>
                <a:ea typeface="方正兰亭黑简体" panose="02000000000000000000" pitchFamily="2" charset="-122"/>
                <a:cs typeface="Arial" panose="020B0604020202020204" pitchFamily="34" charset="0"/>
              </a:endParaRPr>
            </a:p>
          </p:txBody>
        </p:sp>
        <p:sp>
          <p:nvSpPr>
            <p:cNvPr id="69" name="矩形 102">
              <a:extLst>
                <a:ext uri="{FF2B5EF4-FFF2-40B4-BE49-F238E27FC236}">
                  <a16:creationId xmlns:a16="http://schemas.microsoft.com/office/drawing/2014/main" id="{BA9498FF-9378-C335-EB07-180473A3431A}"/>
                </a:ext>
              </a:extLst>
            </p:cNvPr>
            <p:cNvSpPr/>
            <p:nvPr/>
          </p:nvSpPr>
          <p:spPr bwMode="auto">
            <a:xfrm>
              <a:off x="7589916" y="5450648"/>
              <a:ext cx="1323169" cy="432000"/>
            </a:xfrm>
            <a:prstGeom prst="rect">
              <a:avLst/>
            </a:prstGeom>
            <a:solidFill>
              <a:srgbClr val="CBDEF1"/>
            </a:solidFill>
            <a:ln>
              <a:solidFill>
                <a:schemeClr val="tx1"/>
              </a:solidFill>
            </a:ln>
            <a:effectLst/>
            <a:scene3d>
              <a:camera prst="orthographicFront"/>
              <a:lightRig rig="threePt" dir="t"/>
            </a:scene3d>
            <a:sp3d>
              <a:bevelT w="114300" prst="artDeco"/>
            </a:sp3d>
          </p:spPr>
          <p:txBody>
            <a:bodyPr lIns="47999" tIns="60958" rIns="47999" bIns="60958" anchor="ctr"/>
            <a:lstStyle/>
            <a:p>
              <a:pPr algn="ctr" defTabSz="1219139">
                <a:buClr>
                  <a:srgbClr val="CC9900"/>
                </a:buClr>
                <a:defRPr/>
              </a:pPr>
              <a:r>
                <a:rPr lang="en-US" altLang="zh-CN" sz="1600" dirty="0">
                  <a:solidFill>
                    <a:srgbClr val="002060"/>
                  </a:solidFill>
                  <a:latin typeface="Huawei Sans" panose="020C0503030203020204" pitchFamily="34" charset="0"/>
                  <a:ea typeface="方正兰亭黑简体" panose="02000000000000000000" pitchFamily="2" charset="-122"/>
                  <a:cs typeface="Arial" panose="020B0604020202020204" pitchFamily="34" charset="0"/>
                </a:rPr>
                <a:t>FT2000+</a:t>
              </a:r>
              <a:endParaRPr lang="zh-CN" altLang="en-US" sz="1600" dirty="0">
                <a:solidFill>
                  <a:srgbClr val="002060"/>
                </a:solidFill>
                <a:latin typeface="Huawei Sans" panose="020C0503030203020204" pitchFamily="34" charset="0"/>
                <a:ea typeface="方正兰亭黑简体" panose="02000000000000000000" pitchFamily="2" charset="-122"/>
                <a:cs typeface="Arial" panose="020B0604020202020204" pitchFamily="34" charset="0"/>
              </a:endParaRPr>
            </a:p>
          </p:txBody>
        </p:sp>
        <p:pic>
          <p:nvPicPr>
            <p:cNvPr id="78883" name="Picture 30" descr="https://upload.wikimedia.org/wikipedia/en/7/7b/Hisilicon_logo.png">
              <a:extLst>
                <a:ext uri="{FF2B5EF4-FFF2-40B4-BE49-F238E27FC236}">
                  <a16:creationId xmlns:a16="http://schemas.microsoft.com/office/drawing/2014/main" id="{5F6BBBCC-129F-61A2-C6D2-FAC04B73D8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0303" y="1409007"/>
              <a:ext cx="936000" cy="677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矩形 56">
              <a:extLst>
                <a:ext uri="{FF2B5EF4-FFF2-40B4-BE49-F238E27FC236}">
                  <a16:creationId xmlns:a16="http://schemas.microsoft.com/office/drawing/2014/main" id="{87866153-8EA7-8A5C-14BD-515FD5A2FEED}"/>
                </a:ext>
              </a:extLst>
            </p:cNvPr>
            <p:cNvSpPr/>
            <p:nvPr/>
          </p:nvSpPr>
          <p:spPr bwMode="auto">
            <a:xfrm>
              <a:off x="5187969" y="1479365"/>
              <a:ext cx="1136974" cy="432000"/>
            </a:xfrm>
            <a:prstGeom prst="rect">
              <a:avLst/>
            </a:prstGeom>
            <a:solidFill>
              <a:srgbClr val="CBDEF1"/>
            </a:solidFill>
            <a:ln>
              <a:solidFill>
                <a:schemeClr val="tx1"/>
              </a:solidFill>
            </a:ln>
            <a:effectLst/>
            <a:scene3d>
              <a:camera prst="orthographicFront"/>
              <a:lightRig rig="threePt" dir="t"/>
            </a:scene3d>
            <a:sp3d>
              <a:bevelT w="114300" prst="artDeco"/>
            </a:sp3d>
          </p:spPr>
          <p:txBody>
            <a:bodyPr lIns="47999" tIns="60958" rIns="47999" bIns="60958" anchor="ctr"/>
            <a:lstStyle/>
            <a:p>
              <a:pPr algn="ctr" defTabSz="1219139">
                <a:buClr>
                  <a:srgbClr val="CC9900"/>
                </a:buClr>
                <a:defRPr/>
              </a:pPr>
              <a:r>
                <a:rPr lang="en-US" altLang="zh-CN" sz="1600" dirty="0">
                  <a:solidFill>
                    <a:srgbClr val="C00000"/>
                  </a:solidFill>
                  <a:latin typeface="Huawei Sans" panose="020C0503030203020204" pitchFamily="34" charset="0"/>
                  <a:ea typeface="方正兰亭黑简体" panose="02000000000000000000" pitchFamily="2" charset="-122"/>
                  <a:cs typeface="Arial" panose="020B0604020202020204" pitchFamily="34" charset="0"/>
                </a:rPr>
                <a:t>Hi1616</a:t>
              </a:r>
              <a:endParaRPr lang="zh-CN" altLang="en-US" sz="1600" dirty="0">
                <a:solidFill>
                  <a:srgbClr val="C00000"/>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77" name="矩形 56">
              <a:extLst>
                <a:ext uri="{FF2B5EF4-FFF2-40B4-BE49-F238E27FC236}">
                  <a16:creationId xmlns:a16="http://schemas.microsoft.com/office/drawing/2014/main" id="{1F6E0F75-4ACE-A5F5-FC88-C19854529F66}"/>
                </a:ext>
              </a:extLst>
            </p:cNvPr>
            <p:cNvSpPr/>
            <p:nvPr/>
          </p:nvSpPr>
          <p:spPr bwMode="auto">
            <a:xfrm>
              <a:off x="8073271" y="1503125"/>
              <a:ext cx="1136974" cy="432000"/>
            </a:xfrm>
            <a:prstGeom prst="rect">
              <a:avLst/>
            </a:prstGeom>
            <a:solidFill>
              <a:srgbClr val="CBDEF1"/>
            </a:solidFill>
            <a:ln>
              <a:solidFill>
                <a:schemeClr val="tx1"/>
              </a:solidFill>
            </a:ln>
            <a:effectLst/>
            <a:scene3d>
              <a:camera prst="orthographicFront"/>
              <a:lightRig rig="threePt" dir="t"/>
            </a:scene3d>
            <a:sp3d>
              <a:bevelT w="114300" prst="artDeco"/>
            </a:sp3d>
          </p:spPr>
          <p:txBody>
            <a:bodyPr lIns="47999" tIns="60958" rIns="47999" bIns="60958" anchor="ctr"/>
            <a:lstStyle/>
            <a:p>
              <a:pPr algn="ctr" defTabSz="1219139">
                <a:buClr>
                  <a:srgbClr val="CC9900"/>
                </a:buClr>
                <a:defRPr/>
              </a:pPr>
              <a:r>
                <a:rPr lang="en-US" altLang="zh-CN" sz="1600" dirty="0">
                  <a:solidFill>
                    <a:srgbClr val="002060"/>
                  </a:solidFill>
                  <a:latin typeface="Huawei Sans" panose="020C0503030203020204" pitchFamily="34" charset="0"/>
                  <a:ea typeface="方正兰亭黑简体" panose="02000000000000000000" pitchFamily="2" charset="-122"/>
                  <a:cs typeface="Arial" panose="020B0604020202020204" pitchFamily="34" charset="0"/>
                </a:rPr>
                <a:t>Hi1620</a:t>
              </a:r>
              <a:endParaRPr lang="zh-CN" altLang="en-US" sz="1600" dirty="0">
                <a:solidFill>
                  <a:srgbClr val="002060"/>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38" name="矩形 102">
              <a:extLst>
                <a:ext uri="{FF2B5EF4-FFF2-40B4-BE49-F238E27FC236}">
                  <a16:creationId xmlns:a16="http://schemas.microsoft.com/office/drawing/2014/main" id="{B4705EEA-F458-A559-13BB-B3B42D9B99AA}"/>
                </a:ext>
              </a:extLst>
            </p:cNvPr>
            <p:cNvSpPr/>
            <p:nvPr/>
          </p:nvSpPr>
          <p:spPr bwMode="auto">
            <a:xfrm>
              <a:off x="2991843" y="5433463"/>
              <a:ext cx="1573761" cy="432000"/>
            </a:xfrm>
            <a:prstGeom prst="rect">
              <a:avLst/>
            </a:prstGeom>
            <a:solidFill>
              <a:srgbClr val="CBDEF1"/>
            </a:solidFill>
            <a:ln>
              <a:solidFill>
                <a:schemeClr val="tx1"/>
              </a:solidFill>
            </a:ln>
            <a:effectLst/>
            <a:scene3d>
              <a:camera prst="orthographicFront"/>
              <a:lightRig rig="threePt" dir="t"/>
            </a:scene3d>
            <a:sp3d>
              <a:bevelT w="114300" prst="artDeco"/>
            </a:sp3d>
          </p:spPr>
          <p:txBody>
            <a:bodyPr lIns="47999" tIns="60958" rIns="47999" bIns="60958" anchor="ctr"/>
            <a:lstStyle/>
            <a:p>
              <a:pPr algn="ctr" defTabSz="1219139">
                <a:buClr>
                  <a:srgbClr val="CC9900"/>
                </a:buClr>
                <a:defRPr/>
              </a:pPr>
              <a:r>
                <a:rPr lang="en-US" altLang="zh-CN" sz="1600" dirty="0">
                  <a:solidFill>
                    <a:srgbClr val="002060"/>
                  </a:solidFill>
                  <a:latin typeface="Huawei Sans" panose="020C0503030203020204" pitchFamily="34" charset="0"/>
                  <a:ea typeface="方正兰亭黑简体" panose="02000000000000000000" pitchFamily="2" charset="-122"/>
                  <a:cs typeface="Arial" panose="020B0604020202020204" pitchFamily="34" charset="0"/>
                </a:rPr>
                <a:t>FT1500</a:t>
              </a:r>
              <a:endParaRPr lang="zh-CN" altLang="en-US" sz="1600" dirty="0">
                <a:solidFill>
                  <a:srgbClr val="002060"/>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40" name="TextBox 39">
              <a:extLst>
                <a:ext uri="{FF2B5EF4-FFF2-40B4-BE49-F238E27FC236}">
                  <a16:creationId xmlns:a16="http://schemas.microsoft.com/office/drawing/2014/main" id="{8CEE651D-EA60-3B9B-BA95-7A8893BD9D04}"/>
                </a:ext>
              </a:extLst>
            </p:cNvPr>
            <p:cNvSpPr txBox="1"/>
            <p:nvPr/>
          </p:nvSpPr>
          <p:spPr>
            <a:xfrm>
              <a:off x="4579049" y="5349242"/>
              <a:ext cx="2406420" cy="677414"/>
            </a:xfrm>
            <a:prstGeom prst="rect">
              <a:avLst/>
            </a:prstGeom>
            <a:noFill/>
            <a:ln>
              <a:noFill/>
            </a:ln>
          </p:spPr>
          <p:txBody>
            <a:bodyPr>
              <a:spAutoFit/>
            </a:bodyPr>
            <a:lstStyle/>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16</a:t>
              </a:r>
              <a:r>
                <a:rPr lang="zh-CN" altLang="en-US" sz="1350" dirty="0">
                  <a:latin typeface="Huawei Sans" panose="020C0503030203020204" pitchFamily="34" charset="0"/>
                  <a:ea typeface="方正兰亭黑简体" panose="02000000000000000000" pitchFamily="2" charset="-122"/>
                  <a:cs typeface="Arial" panose="020B0604020202020204" pitchFamily="34" charset="0"/>
                </a:rPr>
                <a:t> </a:t>
              </a: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Cores,1.6GHz</a:t>
              </a:r>
            </a:p>
            <a:p>
              <a:pPr>
                <a:defRPr/>
              </a:pPr>
              <a:r>
                <a:rPr lang="en-US" altLang="zh-CN" sz="1350" dirty="0">
                  <a:latin typeface="Huawei Sans" panose="020C0503030203020204" pitchFamily="34" charset="0"/>
                  <a:ea typeface="方正兰亭黑简体" panose="02000000000000000000" pitchFamily="2" charset="-122"/>
                  <a:cs typeface="Arial" panose="020B0604020202020204" pitchFamily="34" charset="0"/>
                </a:rPr>
                <a:t>28nm</a:t>
              </a:r>
              <a:endParaRPr lang="zh-CN" altLang="en-US" sz="1350" dirty="0">
                <a:latin typeface="Huawei Sans" panose="020C0503030203020204" pitchFamily="34" charset="0"/>
                <a:ea typeface="方正兰亭黑简体" panose="02000000000000000000" pitchFamily="2" charset="-122"/>
                <a:cs typeface="Arial" panose="020B0604020202020204" pitchFamily="34" charset="0"/>
              </a:endParaRPr>
            </a:p>
          </p:txBody>
        </p:sp>
        <p:grpSp>
          <p:nvGrpSpPr>
            <p:cNvPr id="78894" name="Group 45">
              <a:extLst>
                <a:ext uri="{FF2B5EF4-FFF2-40B4-BE49-F238E27FC236}">
                  <a16:creationId xmlns:a16="http://schemas.microsoft.com/office/drawing/2014/main" id="{13EFBD17-53EF-4B0B-8662-E18A96FF1954}"/>
                </a:ext>
              </a:extLst>
            </p:cNvPr>
            <p:cNvGrpSpPr>
              <a:grpSpLocks noChangeAspect="1"/>
            </p:cNvGrpSpPr>
            <p:nvPr/>
          </p:nvGrpSpPr>
          <p:grpSpPr bwMode="auto">
            <a:xfrm>
              <a:off x="1188921" y="4727482"/>
              <a:ext cx="1123568" cy="390985"/>
              <a:chOff x="5129403" y="-930705"/>
              <a:chExt cx="1979111" cy="594715"/>
            </a:xfrm>
          </p:grpSpPr>
          <p:sp>
            <p:nvSpPr>
              <p:cNvPr id="78898" name="Freeform 6">
                <a:extLst>
                  <a:ext uri="{FF2B5EF4-FFF2-40B4-BE49-F238E27FC236}">
                    <a16:creationId xmlns:a16="http://schemas.microsoft.com/office/drawing/2014/main" id="{9B1ABB1A-4651-9DEC-A933-7971050468B5}"/>
                  </a:ext>
                </a:extLst>
              </p:cNvPr>
              <p:cNvSpPr>
                <a:spLocks noEditPoints="1"/>
              </p:cNvSpPr>
              <p:nvPr/>
            </p:nvSpPr>
            <p:spPr bwMode="auto">
              <a:xfrm>
                <a:off x="7052951" y="-362978"/>
                <a:ext cx="55563" cy="26988"/>
              </a:xfrm>
              <a:custGeom>
                <a:avLst/>
                <a:gdLst>
                  <a:gd name="T0" fmla="*/ 2147483646 w 201"/>
                  <a:gd name="T1" fmla="*/ 0 h 99"/>
                  <a:gd name="T2" fmla="*/ 2147483646 w 201"/>
                  <a:gd name="T3" fmla="*/ 0 h 99"/>
                  <a:gd name="T4" fmla="*/ 2147483646 w 201"/>
                  <a:gd name="T5" fmla="*/ 0 h 99"/>
                  <a:gd name="T6" fmla="*/ 2147483646 w 201"/>
                  <a:gd name="T7" fmla="*/ 2147483646 h 99"/>
                  <a:gd name="T8" fmla="*/ 2147483646 w 201"/>
                  <a:gd name="T9" fmla="*/ 0 h 99"/>
                  <a:gd name="T10" fmla="*/ 2147483646 w 201"/>
                  <a:gd name="T11" fmla="*/ 0 h 99"/>
                  <a:gd name="T12" fmla="*/ 2147483646 w 201"/>
                  <a:gd name="T13" fmla="*/ 2147483646 h 99"/>
                  <a:gd name="T14" fmla="*/ 2147483646 w 201"/>
                  <a:gd name="T15" fmla="*/ 2147483646 h 99"/>
                  <a:gd name="T16" fmla="*/ 2147483646 w 201"/>
                  <a:gd name="T17" fmla="*/ 2147483646 h 99"/>
                  <a:gd name="T18" fmla="*/ 2147483646 w 201"/>
                  <a:gd name="T19" fmla="*/ 2147483646 h 99"/>
                  <a:gd name="T20" fmla="*/ 2147483646 w 201"/>
                  <a:gd name="T21" fmla="*/ 2147483646 h 99"/>
                  <a:gd name="T22" fmla="*/ 2147483646 w 201"/>
                  <a:gd name="T23" fmla="*/ 2147483646 h 99"/>
                  <a:gd name="T24" fmla="*/ 2147483646 w 201"/>
                  <a:gd name="T25" fmla="*/ 2147483646 h 99"/>
                  <a:gd name="T26" fmla="*/ 2147483646 w 201"/>
                  <a:gd name="T27" fmla="*/ 2147483646 h 99"/>
                  <a:gd name="T28" fmla="*/ 2147483646 w 201"/>
                  <a:gd name="T29" fmla="*/ 2147483646 h 99"/>
                  <a:gd name="T30" fmla="*/ 2147483646 w 201"/>
                  <a:gd name="T31" fmla="*/ 2147483646 h 99"/>
                  <a:gd name="T32" fmla="*/ 2147483646 w 201"/>
                  <a:gd name="T33" fmla="*/ 0 h 99"/>
                  <a:gd name="T34" fmla="*/ 2147483646 w 201"/>
                  <a:gd name="T35" fmla="*/ 2147483646 h 99"/>
                  <a:gd name="T36" fmla="*/ 2147483646 w 201"/>
                  <a:gd name="T37" fmla="*/ 2147483646 h 99"/>
                  <a:gd name="T38" fmla="*/ 0 w 201"/>
                  <a:gd name="T39" fmla="*/ 2147483646 h 99"/>
                  <a:gd name="T40" fmla="*/ 0 w 201"/>
                  <a:gd name="T41" fmla="*/ 0 h 99"/>
                  <a:gd name="T42" fmla="*/ 2147483646 w 201"/>
                  <a:gd name="T43" fmla="*/ 0 h 99"/>
                  <a:gd name="T44" fmla="*/ 2147483646 w 201"/>
                  <a:gd name="T45" fmla="*/ 2147483646 h 99"/>
                  <a:gd name="T46" fmla="*/ 2147483646 w 201"/>
                  <a:gd name="T47" fmla="*/ 2147483646 h 99"/>
                  <a:gd name="T48" fmla="*/ 2147483646 w 201"/>
                  <a:gd name="T49" fmla="*/ 2147483646 h 99"/>
                  <a:gd name="T50" fmla="*/ 2147483646 w 201"/>
                  <a:gd name="T51" fmla="*/ 2147483646 h 99"/>
                  <a:gd name="T52" fmla="*/ 2147483646 w 201"/>
                  <a:gd name="T53" fmla="*/ 2147483646 h 9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01" h="99">
                    <a:moveTo>
                      <a:pt x="96" y="0"/>
                    </a:moveTo>
                    <a:lnTo>
                      <a:pt x="96" y="0"/>
                    </a:lnTo>
                    <a:lnTo>
                      <a:pt x="117" y="0"/>
                    </a:lnTo>
                    <a:lnTo>
                      <a:pt x="149" y="81"/>
                    </a:lnTo>
                    <a:lnTo>
                      <a:pt x="180" y="0"/>
                    </a:lnTo>
                    <a:lnTo>
                      <a:pt x="201" y="0"/>
                    </a:lnTo>
                    <a:lnTo>
                      <a:pt x="201" y="99"/>
                    </a:lnTo>
                    <a:lnTo>
                      <a:pt x="188" y="99"/>
                    </a:lnTo>
                    <a:lnTo>
                      <a:pt x="188" y="11"/>
                    </a:lnTo>
                    <a:lnTo>
                      <a:pt x="187" y="11"/>
                    </a:lnTo>
                    <a:lnTo>
                      <a:pt x="152" y="99"/>
                    </a:lnTo>
                    <a:lnTo>
                      <a:pt x="145" y="99"/>
                    </a:lnTo>
                    <a:lnTo>
                      <a:pt x="109" y="11"/>
                    </a:lnTo>
                    <a:lnTo>
                      <a:pt x="109" y="99"/>
                    </a:lnTo>
                    <a:lnTo>
                      <a:pt x="96" y="99"/>
                    </a:lnTo>
                    <a:lnTo>
                      <a:pt x="96" y="0"/>
                    </a:lnTo>
                    <a:close/>
                    <a:moveTo>
                      <a:pt x="33" y="11"/>
                    </a:moveTo>
                    <a:lnTo>
                      <a:pt x="33" y="11"/>
                    </a:lnTo>
                    <a:lnTo>
                      <a:pt x="0" y="11"/>
                    </a:lnTo>
                    <a:lnTo>
                      <a:pt x="0" y="0"/>
                    </a:lnTo>
                    <a:lnTo>
                      <a:pt x="78" y="0"/>
                    </a:lnTo>
                    <a:lnTo>
                      <a:pt x="78" y="11"/>
                    </a:lnTo>
                    <a:lnTo>
                      <a:pt x="46" y="11"/>
                    </a:lnTo>
                    <a:lnTo>
                      <a:pt x="46" y="99"/>
                    </a:lnTo>
                    <a:lnTo>
                      <a:pt x="33" y="99"/>
                    </a:lnTo>
                    <a:lnTo>
                      <a:pt x="33" y="11"/>
                    </a:lnTo>
                    <a:close/>
                  </a:path>
                </a:pathLst>
              </a:custGeom>
              <a:solidFill>
                <a:srgbClr val="000000"/>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lIns="68580" tIns="34290" rIns="68580" bIns="34290"/>
              <a:lstStyle/>
              <a:p>
                <a:endParaRPr lang="zh-CN" altLang="en-US"/>
              </a:p>
            </p:txBody>
          </p:sp>
          <p:sp>
            <p:nvSpPr>
              <p:cNvPr id="78899" name="Freeform 7">
                <a:extLst>
                  <a:ext uri="{FF2B5EF4-FFF2-40B4-BE49-F238E27FC236}">
                    <a16:creationId xmlns:a16="http://schemas.microsoft.com/office/drawing/2014/main" id="{B9EE652E-A82A-4F2D-9A9B-F973EF376C9B}"/>
                  </a:ext>
                </a:extLst>
              </p:cNvPr>
              <p:cNvSpPr>
                <a:spLocks noEditPoints="1"/>
              </p:cNvSpPr>
              <p:nvPr/>
            </p:nvSpPr>
            <p:spPr bwMode="auto">
              <a:xfrm>
                <a:off x="5129403" y="-930705"/>
                <a:ext cx="1824038" cy="238125"/>
              </a:xfrm>
              <a:custGeom>
                <a:avLst/>
                <a:gdLst>
                  <a:gd name="T0" fmla="*/ 2147483646 w 6730"/>
                  <a:gd name="T1" fmla="*/ 2147483646 h 873"/>
                  <a:gd name="T2" fmla="*/ 2147483646 w 6730"/>
                  <a:gd name="T3" fmla="*/ 2147483646 h 873"/>
                  <a:gd name="T4" fmla="*/ 2147483646 w 6730"/>
                  <a:gd name="T5" fmla="*/ 2147483646 h 873"/>
                  <a:gd name="T6" fmla="*/ 2147483646 w 6730"/>
                  <a:gd name="T7" fmla="*/ 2147483646 h 873"/>
                  <a:gd name="T8" fmla="*/ 2147483646 w 6730"/>
                  <a:gd name="T9" fmla="*/ 2147483646 h 873"/>
                  <a:gd name="T10" fmla="*/ 2147483646 w 6730"/>
                  <a:gd name="T11" fmla="*/ 0 h 873"/>
                  <a:gd name="T12" fmla="*/ 2147483646 w 6730"/>
                  <a:gd name="T13" fmla="*/ 2147483646 h 873"/>
                  <a:gd name="T14" fmla="*/ 2147483646 w 6730"/>
                  <a:gd name="T15" fmla="*/ 2147483646 h 873"/>
                  <a:gd name="T16" fmla="*/ 2147483646 w 6730"/>
                  <a:gd name="T17" fmla="*/ 2147483646 h 873"/>
                  <a:gd name="T18" fmla="*/ 2147483646 w 6730"/>
                  <a:gd name="T19" fmla="*/ 2147483646 h 873"/>
                  <a:gd name="T20" fmla="*/ 2147483646 w 6730"/>
                  <a:gd name="T21" fmla="*/ 2147483646 h 873"/>
                  <a:gd name="T22" fmla="*/ 2147483646 w 6730"/>
                  <a:gd name="T23" fmla="*/ 0 h 873"/>
                  <a:gd name="T24" fmla="*/ 2147483646 w 6730"/>
                  <a:gd name="T25" fmla="*/ 2147483646 h 873"/>
                  <a:gd name="T26" fmla="*/ 2147483646 w 6730"/>
                  <a:gd name="T27" fmla="*/ 2147483646 h 873"/>
                  <a:gd name="T28" fmla="*/ 2147483646 w 6730"/>
                  <a:gd name="T29" fmla="*/ 2147483646 h 873"/>
                  <a:gd name="T30" fmla="*/ 2147483646 w 6730"/>
                  <a:gd name="T31" fmla="*/ 2147483646 h 873"/>
                  <a:gd name="T32" fmla="*/ 2147483646 w 6730"/>
                  <a:gd name="T33" fmla="*/ 2147483646 h 873"/>
                  <a:gd name="T34" fmla="*/ 2147483646 w 6730"/>
                  <a:gd name="T35" fmla="*/ 2147483646 h 873"/>
                  <a:gd name="T36" fmla="*/ 2147483646 w 6730"/>
                  <a:gd name="T37" fmla="*/ 0 h 873"/>
                  <a:gd name="T38" fmla="*/ 2147483646 w 6730"/>
                  <a:gd name="T39" fmla="*/ 2147483646 h 873"/>
                  <a:gd name="T40" fmla="*/ 2147483646 w 6730"/>
                  <a:gd name="T41" fmla="*/ 2147483646 h 873"/>
                  <a:gd name="T42" fmla="*/ 2147483646 w 6730"/>
                  <a:gd name="T43" fmla="*/ 2147483646 h 873"/>
                  <a:gd name="T44" fmla="*/ 2147483646 w 6730"/>
                  <a:gd name="T45" fmla="*/ 2147483646 h 873"/>
                  <a:gd name="T46" fmla="*/ 2147483646 w 6730"/>
                  <a:gd name="T47" fmla="*/ 2147483646 h 873"/>
                  <a:gd name="T48" fmla="*/ 2147483646 w 6730"/>
                  <a:gd name="T49" fmla="*/ 2147483646 h 873"/>
                  <a:gd name="T50" fmla="*/ 2147483646 w 6730"/>
                  <a:gd name="T51" fmla="*/ 2147483646 h 873"/>
                  <a:gd name="T52" fmla="*/ 2147483646 w 6730"/>
                  <a:gd name="T53" fmla="*/ 2147483646 h 873"/>
                  <a:gd name="T54" fmla="*/ 2147483646 w 6730"/>
                  <a:gd name="T55" fmla="*/ 0 h 873"/>
                  <a:gd name="T56" fmla="*/ 2147483646 w 6730"/>
                  <a:gd name="T57" fmla="*/ 2147483646 h 873"/>
                  <a:gd name="T58" fmla="*/ 2147483646 w 6730"/>
                  <a:gd name="T59" fmla="*/ 2147483646 h 873"/>
                  <a:gd name="T60" fmla="*/ 2147483646 w 6730"/>
                  <a:gd name="T61" fmla="*/ 2147483646 h 873"/>
                  <a:gd name="T62" fmla="*/ 2147483646 w 6730"/>
                  <a:gd name="T63" fmla="*/ 2147483646 h 873"/>
                  <a:gd name="T64" fmla="*/ 2147483646 w 6730"/>
                  <a:gd name="T65" fmla="*/ 2147483646 h 873"/>
                  <a:gd name="T66" fmla="*/ 2147483646 w 6730"/>
                  <a:gd name="T67" fmla="*/ 2147483646 h 873"/>
                  <a:gd name="T68" fmla="*/ 2147483646 w 6730"/>
                  <a:gd name="T69" fmla="*/ 0 h 873"/>
                  <a:gd name="T70" fmla="*/ 2147483646 w 6730"/>
                  <a:gd name="T71" fmla="*/ 0 h 873"/>
                  <a:gd name="T72" fmla="*/ 2147483646 w 6730"/>
                  <a:gd name="T73" fmla="*/ 2147483646 h 873"/>
                  <a:gd name="T74" fmla="*/ 2147483646 w 6730"/>
                  <a:gd name="T75" fmla="*/ 2147483646 h 873"/>
                  <a:gd name="T76" fmla="*/ 2147483646 w 6730"/>
                  <a:gd name="T77" fmla="*/ 2147483646 h 873"/>
                  <a:gd name="T78" fmla="*/ 2147483646 w 6730"/>
                  <a:gd name="T79" fmla="*/ 2147483646 h 873"/>
                  <a:gd name="T80" fmla="*/ 2147483646 w 6730"/>
                  <a:gd name="T81" fmla="*/ 2147483646 h 873"/>
                  <a:gd name="T82" fmla="*/ 2147483646 w 6730"/>
                  <a:gd name="T83" fmla="*/ 0 h 873"/>
                  <a:gd name="T84" fmla="*/ 2147483646 w 6730"/>
                  <a:gd name="T85" fmla="*/ 0 h 873"/>
                  <a:gd name="T86" fmla="*/ 2147483646 w 6730"/>
                  <a:gd name="T87" fmla="*/ 2147483646 h 873"/>
                  <a:gd name="T88" fmla="*/ 2147483646 w 6730"/>
                  <a:gd name="T89" fmla="*/ 2147483646 h 873"/>
                  <a:gd name="T90" fmla="*/ 2147483646 w 6730"/>
                  <a:gd name="T91" fmla="*/ 2147483646 h 87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730" h="873">
                    <a:moveTo>
                      <a:pt x="5357" y="400"/>
                    </a:moveTo>
                    <a:lnTo>
                      <a:pt x="5357" y="400"/>
                    </a:lnTo>
                    <a:lnTo>
                      <a:pt x="5034" y="400"/>
                    </a:lnTo>
                    <a:lnTo>
                      <a:pt x="5034" y="132"/>
                    </a:lnTo>
                    <a:lnTo>
                      <a:pt x="5379" y="132"/>
                    </a:lnTo>
                    <a:cubicBezTo>
                      <a:pt x="5464" y="132"/>
                      <a:pt x="5512" y="178"/>
                      <a:pt x="5512" y="258"/>
                    </a:cubicBezTo>
                    <a:cubicBezTo>
                      <a:pt x="5512" y="352"/>
                      <a:pt x="5460" y="400"/>
                      <a:pt x="5357" y="400"/>
                    </a:cubicBezTo>
                    <a:close/>
                    <a:moveTo>
                      <a:pt x="5511" y="506"/>
                    </a:moveTo>
                    <a:lnTo>
                      <a:pt x="5511" y="506"/>
                    </a:lnTo>
                    <a:cubicBezTo>
                      <a:pt x="5606" y="465"/>
                      <a:pt x="5661" y="376"/>
                      <a:pt x="5661" y="255"/>
                    </a:cubicBezTo>
                    <a:cubicBezTo>
                      <a:pt x="5661" y="90"/>
                      <a:pt x="5556" y="0"/>
                      <a:pt x="5365" y="0"/>
                    </a:cubicBezTo>
                    <a:lnTo>
                      <a:pt x="4885" y="0"/>
                    </a:lnTo>
                    <a:lnTo>
                      <a:pt x="4885" y="873"/>
                    </a:lnTo>
                    <a:lnTo>
                      <a:pt x="5034" y="873"/>
                    </a:lnTo>
                    <a:lnTo>
                      <a:pt x="5034" y="533"/>
                    </a:lnTo>
                    <a:lnTo>
                      <a:pt x="5356" y="533"/>
                    </a:lnTo>
                    <a:lnTo>
                      <a:pt x="5537" y="873"/>
                    </a:lnTo>
                    <a:lnTo>
                      <a:pt x="5706" y="873"/>
                    </a:lnTo>
                    <a:lnTo>
                      <a:pt x="5511" y="506"/>
                    </a:lnTo>
                    <a:close/>
                    <a:moveTo>
                      <a:pt x="6730" y="873"/>
                    </a:moveTo>
                    <a:lnTo>
                      <a:pt x="6730" y="873"/>
                    </a:lnTo>
                    <a:lnTo>
                      <a:pt x="6011" y="873"/>
                    </a:lnTo>
                    <a:lnTo>
                      <a:pt x="6011" y="0"/>
                    </a:lnTo>
                    <a:lnTo>
                      <a:pt x="6730" y="0"/>
                    </a:lnTo>
                    <a:lnTo>
                      <a:pt x="6730" y="132"/>
                    </a:lnTo>
                    <a:lnTo>
                      <a:pt x="6160" y="132"/>
                    </a:lnTo>
                    <a:lnTo>
                      <a:pt x="6160" y="356"/>
                    </a:lnTo>
                    <a:lnTo>
                      <a:pt x="6701" y="356"/>
                    </a:lnTo>
                    <a:lnTo>
                      <a:pt x="6701" y="489"/>
                    </a:lnTo>
                    <a:lnTo>
                      <a:pt x="6160" y="489"/>
                    </a:lnTo>
                    <a:lnTo>
                      <a:pt x="6160" y="741"/>
                    </a:lnTo>
                    <a:lnTo>
                      <a:pt x="6730" y="741"/>
                    </a:lnTo>
                    <a:lnTo>
                      <a:pt x="6730" y="873"/>
                    </a:lnTo>
                    <a:close/>
                    <a:moveTo>
                      <a:pt x="4509" y="873"/>
                    </a:moveTo>
                    <a:lnTo>
                      <a:pt x="4509" y="873"/>
                    </a:lnTo>
                    <a:lnTo>
                      <a:pt x="3790" y="873"/>
                    </a:lnTo>
                    <a:lnTo>
                      <a:pt x="3790" y="0"/>
                    </a:lnTo>
                    <a:lnTo>
                      <a:pt x="4509" y="0"/>
                    </a:lnTo>
                    <a:lnTo>
                      <a:pt x="4509" y="132"/>
                    </a:lnTo>
                    <a:lnTo>
                      <a:pt x="3940" y="132"/>
                    </a:lnTo>
                    <a:lnTo>
                      <a:pt x="3940" y="356"/>
                    </a:lnTo>
                    <a:lnTo>
                      <a:pt x="4481" y="356"/>
                    </a:lnTo>
                    <a:lnTo>
                      <a:pt x="4481" y="489"/>
                    </a:lnTo>
                    <a:lnTo>
                      <a:pt x="3940" y="489"/>
                    </a:lnTo>
                    <a:lnTo>
                      <a:pt x="3940" y="741"/>
                    </a:lnTo>
                    <a:lnTo>
                      <a:pt x="4509" y="741"/>
                    </a:lnTo>
                    <a:lnTo>
                      <a:pt x="4509" y="873"/>
                    </a:lnTo>
                    <a:close/>
                    <a:moveTo>
                      <a:pt x="3198" y="400"/>
                    </a:moveTo>
                    <a:lnTo>
                      <a:pt x="3198" y="400"/>
                    </a:lnTo>
                    <a:lnTo>
                      <a:pt x="2905" y="400"/>
                    </a:lnTo>
                    <a:lnTo>
                      <a:pt x="2905" y="132"/>
                    </a:lnTo>
                    <a:lnTo>
                      <a:pt x="3220" y="132"/>
                    </a:lnTo>
                    <a:cubicBezTo>
                      <a:pt x="3305" y="132"/>
                      <a:pt x="3353" y="178"/>
                      <a:pt x="3353" y="258"/>
                    </a:cubicBezTo>
                    <a:cubicBezTo>
                      <a:pt x="3353" y="352"/>
                      <a:pt x="3301" y="400"/>
                      <a:pt x="3198" y="400"/>
                    </a:cubicBezTo>
                    <a:close/>
                    <a:moveTo>
                      <a:pt x="3206" y="0"/>
                    </a:moveTo>
                    <a:lnTo>
                      <a:pt x="3206" y="0"/>
                    </a:lnTo>
                    <a:lnTo>
                      <a:pt x="2756" y="0"/>
                    </a:lnTo>
                    <a:lnTo>
                      <a:pt x="2756" y="873"/>
                    </a:lnTo>
                    <a:lnTo>
                      <a:pt x="2905" y="873"/>
                    </a:lnTo>
                    <a:lnTo>
                      <a:pt x="2905" y="533"/>
                    </a:lnTo>
                    <a:lnTo>
                      <a:pt x="3214" y="533"/>
                    </a:lnTo>
                    <a:cubicBezTo>
                      <a:pt x="3392" y="533"/>
                      <a:pt x="3502" y="426"/>
                      <a:pt x="3502" y="255"/>
                    </a:cubicBezTo>
                    <a:cubicBezTo>
                      <a:pt x="3502" y="90"/>
                      <a:pt x="3397" y="0"/>
                      <a:pt x="3206" y="0"/>
                    </a:cubicBezTo>
                    <a:close/>
                    <a:moveTo>
                      <a:pt x="1724" y="801"/>
                    </a:moveTo>
                    <a:lnTo>
                      <a:pt x="1724" y="801"/>
                    </a:lnTo>
                    <a:lnTo>
                      <a:pt x="1410" y="216"/>
                    </a:lnTo>
                    <a:lnTo>
                      <a:pt x="1410" y="873"/>
                    </a:lnTo>
                    <a:lnTo>
                      <a:pt x="1260" y="873"/>
                    </a:lnTo>
                    <a:lnTo>
                      <a:pt x="1260" y="0"/>
                    </a:lnTo>
                    <a:lnTo>
                      <a:pt x="1457" y="0"/>
                    </a:lnTo>
                    <a:lnTo>
                      <a:pt x="1787" y="622"/>
                    </a:lnTo>
                    <a:lnTo>
                      <a:pt x="2117" y="0"/>
                    </a:lnTo>
                    <a:lnTo>
                      <a:pt x="2313" y="0"/>
                    </a:lnTo>
                    <a:lnTo>
                      <a:pt x="2313" y="873"/>
                    </a:lnTo>
                    <a:lnTo>
                      <a:pt x="2164" y="873"/>
                    </a:lnTo>
                    <a:lnTo>
                      <a:pt x="2164" y="216"/>
                    </a:lnTo>
                    <a:lnTo>
                      <a:pt x="1850" y="801"/>
                    </a:lnTo>
                    <a:lnTo>
                      <a:pt x="1724" y="801"/>
                    </a:lnTo>
                    <a:close/>
                    <a:moveTo>
                      <a:pt x="335" y="493"/>
                    </a:moveTo>
                    <a:lnTo>
                      <a:pt x="335" y="493"/>
                    </a:lnTo>
                    <a:lnTo>
                      <a:pt x="478" y="157"/>
                    </a:lnTo>
                    <a:lnTo>
                      <a:pt x="624" y="493"/>
                    </a:lnTo>
                    <a:lnTo>
                      <a:pt x="335" y="493"/>
                    </a:lnTo>
                    <a:close/>
                    <a:moveTo>
                      <a:pt x="563" y="0"/>
                    </a:moveTo>
                    <a:lnTo>
                      <a:pt x="563" y="0"/>
                    </a:lnTo>
                    <a:lnTo>
                      <a:pt x="395" y="0"/>
                    </a:lnTo>
                    <a:lnTo>
                      <a:pt x="0" y="873"/>
                    </a:lnTo>
                    <a:lnTo>
                      <a:pt x="169" y="873"/>
                    </a:lnTo>
                    <a:lnTo>
                      <a:pt x="278" y="626"/>
                    </a:lnTo>
                    <a:lnTo>
                      <a:pt x="680" y="626"/>
                    </a:lnTo>
                    <a:lnTo>
                      <a:pt x="789" y="873"/>
                    </a:lnTo>
                    <a:lnTo>
                      <a:pt x="958" y="873"/>
                    </a:lnTo>
                    <a:lnTo>
                      <a:pt x="563" y="0"/>
                    </a:lnTo>
                    <a:close/>
                  </a:path>
                </a:pathLst>
              </a:custGeom>
              <a:solidFill>
                <a:srgbClr val="000000"/>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lIns="68580" tIns="34290" rIns="68580" bIns="34290"/>
              <a:lstStyle/>
              <a:p>
                <a:endParaRPr lang="zh-CN" altLang="en-US"/>
              </a:p>
            </p:txBody>
          </p:sp>
        </p:grpSp>
        <p:sp>
          <p:nvSpPr>
            <p:cNvPr id="2" name="文本框 1">
              <a:extLst>
                <a:ext uri="{FF2B5EF4-FFF2-40B4-BE49-F238E27FC236}">
                  <a16:creationId xmlns:a16="http://schemas.microsoft.com/office/drawing/2014/main" id="{76CC95F2-F984-3FCA-3F92-E3178A08A4C7}"/>
                </a:ext>
              </a:extLst>
            </p:cNvPr>
            <p:cNvSpPr txBox="1"/>
            <p:nvPr/>
          </p:nvSpPr>
          <p:spPr bwMode="auto">
            <a:xfrm>
              <a:off x="1122861" y="2550675"/>
              <a:ext cx="977807" cy="366226"/>
            </a:xfrm>
            <a:prstGeom prst="rect">
              <a:avLst/>
            </a:prstGeom>
            <a:noFill/>
            <a:ln w="9525" algn="ctr">
              <a:noFill/>
              <a:miter lim="800000"/>
              <a:headEnd/>
              <a:tailEnd/>
            </a:ln>
          </p:spPr>
          <p:txBody>
            <a:bodyPr wrap="none" lIns="65852" tIns="32926" rIns="65852" bIns="32926" anchor="ctr">
              <a:spAutoFit/>
            </a:bodyPr>
            <a:lstStyle/>
            <a:p>
              <a:pPr>
                <a:defRPr/>
              </a:pPr>
              <a:r>
                <a:rPr lang="en-US" altLang="zh-CN" sz="1350" dirty="0">
                  <a:latin typeface="Huawei Sans" panose="020C0503030203020204" pitchFamily="34" charset="0"/>
                  <a:ea typeface="方正兰亭黑简体" panose="02000000000000000000" pitchFamily="2" charset="-122"/>
                </a:rPr>
                <a:t>CAVIUM</a:t>
              </a:r>
              <a:endParaRPr lang="zh-CN" altLang="en-US" sz="1350" dirty="0">
                <a:latin typeface="Huawei Sans" panose="020C0503030203020204" pitchFamily="34" charset="0"/>
                <a:ea typeface="方正兰亭黑简体" panose="02000000000000000000" pitchFamily="2" charset="-122"/>
              </a:endParaRPr>
            </a:p>
          </p:txBody>
        </p:sp>
        <p:sp>
          <p:nvSpPr>
            <p:cNvPr id="47" name="文本框 46">
              <a:extLst>
                <a:ext uri="{FF2B5EF4-FFF2-40B4-BE49-F238E27FC236}">
                  <a16:creationId xmlns:a16="http://schemas.microsoft.com/office/drawing/2014/main" id="{4336AC32-D49A-8C8A-7D6D-DFA70C052163}"/>
                </a:ext>
              </a:extLst>
            </p:cNvPr>
            <p:cNvSpPr txBox="1"/>
            <p:nvPr/>
          </p:nvSpPr>
          <p:spPr bwMode="auto">
            <a:xfrm>
              <a:off x="1309110" y="3623952"/>
              <a:ext cx="639172" cy="366228"/>
            </a:xfrm>
            <a:prstGeom prst="rect">
              <a:avLst/>
            </a:prstGeom>
            <a:noFill/>
            <a:ln w="9525" algn="ctr">
              <a:noFill/>
              <a:miter lim="800000"/>
              <a:headEnd/>
              <a:tailEnd/>
            </a:ln>
          </p:spPr>
          <p:txBody>
            <a:bodyPr wrap="none" lIns="65852" tIns="32926" rIns="65852" bIns="32926" anchor="ctr">
              <a:spAutoFit/>
            </a:bodyPr>
            <a:lstStyle/>
            <a:p>
              <a:pPr>
                <a:defRPr/>
              </a:pPr>
              <a:r>
                <a:rPr lang="zh-CN" altLang="en-US" sz="1350" dirty="0">
                  <a:latin typeface="Huawei Sans" panose="020C0503030203020204" pitchFamily="34" charset="0"/>
                  <a:ea typeface="方正兰亭黑简体" panose="02000000000000000000" pitchFamily="2" charset="-122"/>
                </a:rPr>
                <a:t>高通</a:t>
              </a:r>
            </a:p>
          </p:txBody>
        </p:sp>
        <p:sp>
          <p:nvSpPr>
            <p:cNvPr id="48" name="文本框 47">
              <a:extLst>
                <a:ext uri="{FF2B5EF4-FFF2-40B4-BE49-F238E27FC236}">
                  <a16:creationId xmlns:a16="http://schemas.microsoft.com/office/drawing/2014/main" id="{AFCEA17C-0519-BD8E-CC66-9275EFDDA0E1}"/>
                </a:ext>
              </a:extLst>
            </p:cNvPr>
            <p:cNvSpPr txBox="1"/>
            <p:nvPr/>
          </p:nvSpPr>
          <p:spPr bwMode="auto">
            <a:xfrm>
              <a:off x="1309110" y="5516478"/>
              <a:ext cx="639172" cy="366228"/>
            </a:xfrm>
            <a:prstGeom prst="rect">
              <a:avLst/>
            </a:prstGeom>
            <a:noFill/>
            <a:ln w="9525" algn="ctr">
              <a:noFill/>
              <a:miter lim="800000"/>
              <a:headEnd/>
              <a:tailEnd/>
            </a:ln>
          </p:spPr>
          <p:txBody>
            <a:bodyPr wrap="none" lIns="65852" tIns="32926" rIns="65852" bIns="32926" anchor="ctr">
              <a:spAutoFit/>
            </a:bodyPr>
            <a:lstStyle/>
            <a:p>
              <a:pPr>
                <a:defRPr/>
              </a:pPr>
              <a:r>
                <a:rPr lang="zh-CN" altLang="en-US" sz="1350" dirty="0">
                  <a:latin typeface="Huawei Sans" panose="020C0503030203020204" pitchFamily="34" charset="0"/>
                  <a:ea typeface="方正兰亭黑简体" panose="02000000000000000000" pitchFamily="2" charset="-122"/>
                </a:rPr>
                <a:t>飞腾</a:t>
              </a:r>
            </a:p>
          </p:txBody>
        </p:sp>
      </p:grpSp>
      <p:sp>
        <p:nvSpPr>
          <p:cNvPr id="4" name="矩形 3">
            <a:extLst>
              <a:ext uri="{FF2B5EF4-FFF2-40B4-BE49-F238E27FC236}">
                <a16:creationId xmlns:a16="http://schemas.microsoft.com/office/drawing/2014/main" id="{4C52E5BF-987C-D111-E38A-74155710A433}"/>
              </a:ext>
            </a:extLst>
          </p:cNvPr>
          <p:cNvSpPr/>
          <p:nvPr/>
        </p:nvSpPr>
        <p:spPr>
          <a:xfrm>
            <a:off x="7627938" y="5245100"/>
            <a:ext cx="992187" cy="254000"/>
          </a:xfrm>
          <a:prstGeom prst="rect">
            <a:avLst/>
          </a:prstGeom>
        </p:spPr>
        <p:txBody>
          <a:bodyPr wrap="none">
            <a:spAutoFit/>
          </a:bodyPr>
          <a:lstStyle/>
          <a:p>
            <a:pPr>
              <a:defRPr/>
            </a:pPr>
            <a:r>
              <a:rPr lang="zh-CN" altLang="en-US" sz="1050" dirty="0">
                <a:latin typeface="Huawei Sans" panose="020C0503030203020204" pitchFamily="34" charset="0"/>
                <a:ea typeface="方正兰亭黑简体" panose="02000000000000000000" pitchFamily="2" charset="-122"/>
              </a:rPr>
              <a:t>横轴代表性能</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7" name="Picture 5">
            <a:extLst>
              <a:ext uri="{FF2B5EF4-FFF2-40B4-BE49-F238E27FC236}">
                <a16:creationId xmlns:a16="http://schemas.microsoft.com/office/drawing/2014/main" id="{A87D2EA7-105D-6E87-C9F2-7AC6650310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6550" y="1828800"/>
            <a:ext cx="4618038"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8" name="TextBox 8">
            <a:extLst>
              <a:ext uri="{FF2B5EF4-FFF2-40B4-BE49-F238E27FC236}">
                <a16:creationId xmlns:a16="http://schemas.microsoft.com/office/drawing/2014/main" id="{BCC79855-29D1-4BED-EA62-1AFE700B9BC8}"/>
              </a:ext>
            </a:extLst>
          </p:cNvPr>
          <p:cNvSpPr txBox="1">
            <a:spLocks noChangeArrowheads="1"/>
          </p:cNvSpPr>
          <p:nvPr/>
        </p:nvSpPr>
        <p:spPr bwMode="auto">
          <a:xfrm>
            <a:off x="6673850" y="3230563"/>
            <a:ext cx="835025" cy="276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lang="zh-CN" altLang="en-US" sz="1200">
                <a:latin typeface="Huawei Sans"/>
                <a:ea typeface="方正兰亭黑简体"/>
                <a:cs typeface="方正兰亭黑简体"/>
              </a:rPr>
              <a:t>内存</a:t>
            </a:r>
          </a:p>
        </p:txBody>
      </p:sp>
      <p:cxnSp>
        <p:nvCxnSpPr>
          <p:cNvPr id="80899" name="Shape 13">
            <a:extLst>
              <a:ext uri="{FF2B5EF4-FFF2-40B4-BE49-F238E27FC236}">
                <a16:creationId xmlns:a16="http://schemas.microsoft.com/office/drawing/2014/main" id="{393E008A-E9AC-C5B8-6956-31CC6BB58D2E}"/>
              </a:ext>
            </a:extLst>
          </p:cNvPr>
          <p:cNvCxnSpPr>
            <a:cxnSpLocks noChangeShapeType="1"/>
            <a:stCxn id="80898" idx="1"/>
          </p:cNvCxnSpPr>
          <p:nvPr/>
        </p:nvCxnSpPr>
        <p:spPr bwMode="auto">
          <a:xfrm rot="10800000">
            <a:off x="4044950" y="3355975"/>
            <a:ext cx="2628900" cy="12700"/>
          </a:xfrm>
          <a:prstGeom prst="bentConnector3">
            <a:avLst>
              <a:gd name="adj1" fmla="val 50000"/>
            </a:avLst>
          </a:prstGeom>
          <a:noFill/>
          <a:ln w="38100" algn="ctr">
            <a:solidFill>
              <a:srgbClr val="C7000B"/>
            </a:solidFill>
            <a:round/>
            <a:headEnd type="arrow" w="med" len="med"/>
            <a:tailEnd type="oval" w="med" len="med"/>
          </a:ln>
          <a:extLst>
            <a:ext uri="{909E8E84-426E-40DD-AFC4-6F175D3DCCD1}">
              <a14:hiddenFill xmlns:a14="http://schemas.microsoft.com/office/drawing/2010/main">
                <a:noFill/>
              </a14:hiddenFill>
            </a:ext>
          </a:extLst>
        </p:spPr>
      </p:cxnSp>
      <p:sp>
        <p:nvSpPr>
          <p:cNvPr id="80900" name="TextBox 15">
            <a:extLst>
              <a:ext uri="{FF2B5EF4-FFF2-40B4-BE49-F238E27FC236}">
                <a16:creationId xmlns:a16="http://schemas.microsoft.com/office/drawing/2014/main" id="{077905CC-8239-E368-5619-CA5D6373024B}"/>
              </a:ext>
            </a:extLst>
          </p:cNvPr>
          <p:cNvSpPr txBox="1">
            <a:spLocks noChangeArrowheads="1"/>
          </p:cNvSpPr>
          <p:nvPr/>
        </p:nvSpPr>
        <p:spPr bwMode="auto">
          <a:xfrm>
            <a:off x="4967288" y="5060950"/>
            <a:ext cx="1257300" cy="2778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lang="en-US" altLang="zh-CN" sz="1200">
                <a:latin typeface="Huawei Sans"/>
                <a:ea typeface="方正兰亭黑简体"/>
                <a:cs typeface="方正兰亭黑简体"/>
              </a:rPr>
              <a:t>PCI-e  </a:t>
            </a:r>
            <a:r>
              <a:rPr lang="zh-CN" altLang="en-US" sz="1200">
                <a:latin typeface="Huawei Sans"/>
                <a:ea typeface="方正兰亭黑简体"/>
                <a:cs typeface="方正兰亭黑简体"/>
              </a:rPr>
              <a:t>扩展插槽</a:t>
            </a:r>
          </a:p>
        </p:txBody>
      </p:sp>
      <p:sp>
        <p:nvSpPr>
          <p:cNvPr id="80901" name="TextBox 25">
            <a:extLst>
              <a:ext uri="{FF2B5EF4-FFF2-40B4-BE49-F238E27FC236}">
                <a16:creationId xmlns:a16="http://schemas.microsoft.com/office/drawing/2014/main" id="{D56A32DB-0F72-0DC1-44E2-B03FC89414BB}"/>
              </a:ext>
            </a:extLst>
          </p:cNvPr>
          <p:cNvSpPr txBox="1">
            <a:spLocks noChangeArrowheads="1"/>
          </p:cNvSpPr>
          <p:nvPr/>
        </p:nvSpPr>
        <p:spPr bwMode="auto">
          <a:xfrm>
            <a:off x="2605088" y="5065713"/>
            <a:ext cx="830262" cy="276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lang="zh-CN" altLang="en-US" sz="1200">
                <a:latin typeface="Huawei Sans"/>
                <a:ea typeface="方正兰亭黑简体"/>
                <a:cs typeface="方正兰亭黑简体"/>
              </a:rPr>
              <a:t>风扇</a:t>
            </a:r>
            <a:endParaRPr lang="en-US" altLang="zh-CN" sz="1200">
              <a:latin typeface="Huawei Sans"/>
              <a:ea typeface="方正兰亭黑简体"/>
              <a:cs typeface="方正兰亭黑简体"/>
            </a:endParaRPr>
          </a:p>
        </p:txBody>
      </p:sp>
      <p:cxnSp>
        <p:nvCxnSpPr>
          <p:cNvPr id="80902" name="Shape 16">
            <a:extLst>
              <a:ext uri="{FF2B5EF4-FFF2-40B4-BE49-F238E27FC236}">
                <a16:creationId xmlns:a16="http://schemas.microsoft.com/office/drawing/2014/main" id="{5FEB8E8E-9027-A63E-50B4-207ABEE0077F}"/>
              </a:ext>
            </a:extLst>
          </p:cNvPr>
          <p:cNvCxnSpPr>
            <a:cxnSpLocks noChangeShapeType="1"/>
            <a:stCxn id="80901" idx="0"/>
          </p:cNvCxnSpPr>
          <p:nvPr/>
        </p:nvCxnSpPr>
        <p:spPr bwMode="auto">
          <a:xfrm rot="5400000" flipH="1" flipV="1">
            <a:off x="2697956" y="4742657"/>
            <a:ext cx="644525" cy="1588"/>
          </a:xfrm>
          <a:prstGeom prst="bentConnector3">
            <a:avLst>
              <a:gd name="adj1" fmla="val 50000"/>
            </a:avLst>
          </a:prstGeom>
          <a:noFill/>
          <a:ln w="38100" algn="ctr">
            <a:solidFill>
              <a:srgbClr val="C7000B"/>
            </a:solidFill>
            <a:round/>
            <a:headEnd type="arrow" w="med" len="med"/>
            <a:tailEnd type="oval" w="med" len="med"/>
          </a:ln>
          <a:extLst>
            <a:ext uri="{909E8E84-426E-40DD-AFC4-6F175D3DCCD1}">
              <a14:hiddenFill xmlns:a14="http://schemas.microsoft.com/office/drawing/2010/main">
                <a:noFill/>
              </a14:hiddenFill>
            </a:ext>
          </a:extLst>
        </p:spPr>
      </p:cxnSp>
      <p:sp>
        <p:nvSpPr>
          <p:cNvPr id="80903" name="TextBox 33">
            <a:extLst>
              <a:ext uri="{FF2B5EF4-FFF2-40B4-BE49-F238E27FC236}">
                <a16:creationId xmlns:a16="http://schemas.microsoft.com/office/drawing/2014/main" id="{399CC19A-A481-D23A-3BFB-EBAF995D5D81}"/>
              </a:ext>
            </a:extLst>
          </p:cNvPr>
          <p:cNvSpPr txBox="1">
            <a:spLocks noChangeArrowheads="1"/>
          </p:cNvSpPr>
          <p:nvPr/>
        </p:nvSpPr>
        <p:spPr bwMode="auto">
          <a:xfrm>
            <a:off x="6670675" y="2289175"/>
            <a:ext cx="838200" cy="276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lang="zh-CN" altLang="en-US" sz="1200">
                <a:latin typeface="Huawei Sans"/>
                <a:ea typeface="方正兰亭黑简体"/>
                <a:cs typeface="方正兰亭黑简体"/>
              </a:rPr>
              <a:t>电源</a:t>
            </a:r>
          </a:p>
        </p:txBody>
      </p:sp>
      <p:sp>
        <p:nvSpPr>
          <p:cNvPr id="80904" name="TextBox 35">
            <a:extLst>
              <a:ext uri="{FF2B5EF4-FFF2-40B4-BE49-F238E27FC236}">
                <a16:creationId xmlns:a16="http://schemas.microsoft.com/office/drawing/2014/main" id="{AE9C7B37-09C4-47C9-381B-46D35338928B}"/>
              </a:ext>
            </a:extLst>
          </p:cNvPr>
          <p:cNvSpPr txBox="1">
            <a:spLocks noChangeArrowheads="1"/>
          </p:cNvSpPr>
          <p:nvPr/>
        </p:nvSpPr>
        <p:spPr bwMode="auto">
          <a:xfrm>
            <a:off x="6683375" y="4197350"/>
            <a:ext cx="825500" cy="2778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lang="en-US" altLang="zh-CN" sz="1200">
                <a:latin typeface="Huawei Sans"/>
                <a:ea typeface="方正兰亭黑简体"/>
                <a:cs typeface="方正兰亭黑简体"/>
              </a:rPr>
              <a:t>CPU</a:t>
            </a:r>
          </a:p>
        </p:txBody>
      </p:sp>
      <p:cxnSp>
        <p:nvCxnSpPr>
          <p:cNvPr id="80905" name="Elbow Connector 40">
            <a:extLst>
              <a:ext uri="{FF2B5EF4-FFF2-40B4-BE49-F238E27FC236}">
                <a16:creationId xmlns:a16="http://schemas.microsoft.com/office/drawing/2014/main" id="{03A9708C-F75D-EBE9-BD49-57B2EA1FFBAD}"/>
              </a:ext>
            </a:extLst>
          </p:cNvPr>
          <p:cNvCxnSpPr>
            <a:cxnSpLocks noChangeShapeType="1"/>
            <a:stCxn id="80904" idx="1"/>
          </p:cNvCxnSpPr>
          <p:nvPr/>
        </p:nvCxnSpPr>
        <p:spPr bwMode="auto">
          <a:xfrm rot="10800000">
            <a:off x="4275138" y="3970338"/>
            <a:ext cx="2408237" cy="365125"/>
          </a:xfrm>
          <a:prstGeom prst="bentConnector3">
            <a:avLst>
              <a:gd name="adj1" fmla="val 50000"/>
            </a:avLst>
          </a:prstGeom>
          <a:noFill/>
          <a:ln w="38100" algn="ctr">
            <a:solidFill>
              <a:srgbClr val="C7000B"/>
            </a:solidFill>
            <a:round/>
            <a:headEnd type="arrow" w="med" len="med"/>
            <a:tailEnd type="oval" w="med" len="med"/>
          </a:ln>
          <a:extLst>
            <a:ext uri="{909E8E84-426E-40DD-AFC4-6F175D3DCCD1}">
              <a14:hiddenFill xmlns:a14="http://schemas.microsoft.com/office/drawing/2010/main">
                <a:noFill/>
              </a14:hiddenFill>
            </a:ext>
          </a:extLst>
        </p:spPr>
      </p:cxnSp>
      <p:sp>
        <p:nvSpPr>
          <p:cNvPr id="80906" name="标题 1">
            <a:extLst>
              <a:ext uri="{FF2B5EF4-FFF2-40B4-BE49-F238E27FC236}">
                <a16:creationId xmlns:a16="http://schemas.microsoft.com/office/drawing/2014/main" id="{E216425C-37D8-DF9A-0F11-0C1F30D4A4E0}"/>
              </a:ext>
            </a:extLst>
          </p:cNvPr>
          <p:cNvSpPr>
            <a:spLocks noGrp="1" noChangeArrowheads="1"/>
          </p:cNvSpPr>
          <p:nvPr>
            <p:ph type="title"/>
          </p:nvPr>
        </p:nvSpPr>
        <p:spPr>
          <a:xfrm>
            <a:off x="549275" y="447675"/>
            <a:ext cx="8045450" cy="485775"/>
          </a:xfrm>
        </p:spPr>
        <p:txBody>
          <a:bodyPr/>
          <a:lstStyle/>
          <a:p>
            <a:r>
              <a:rPr>
                <a:latin typeface="Huawei Sans"/>
                <a:ea typeface="方正兰亭黑简体"/>
                <a:cs typeface="方正兰亭黑简体"/>
              </a:rPr>
              <a:t>计算机基础硬件 </a:t>
            </a:r>
            <a:r>
              <a:rPr lang="en-US" altLang="zh-CN">
                <a:latin typeface="Huawei Sans"/>
                <a:ea typeface="方正兰亭黑简体"/>
                <a:cs typeface="方正兰亭黑简体"/>
              </a:rPr>
              <a:t>(1)</a:t>
            </a:r>
            <a:endParaRPr>
              <a:latin typeface="Huawei Sans"/>
              <a:ea typeface="方正兰亭黑简体"/>
              <a:cs typeface="方正兰亭黑简体"/>
            </a:endParaRPr>
          </a:p>
        </p:txBody>
      </p:sp>
      <p:cxnSp>
        <p:nvCxnSpPr>
          <p:cNvPr id="80907" name="Shape 16">
            <a:extLst>
              <a:ext uri="{FF2B5EF4-FFF2-40B4-BE49-F238E27FC236}">
                <a16:creationId xmlns:a16="http://schemas.microsoft.com/office/drawing/2014/main" id="{4800E2DF-E303-A34A-028C-46F56C05780E}"/>
              </a:ext>
            </a:extLst>
          </p:cNvPr>
          <p:cNvCxnSpPr>
            <a:cxnSpLocks noChangeShapeType="1"/>
          </p:cNvCxnSpPr>
          <p:nvPr/>
        </p:nvCxnSpPr>
        <p:spPr bwMode="auto">
          <a:xfrm rot="16200000" flipV="1">
            <a:off x="5255419" y="4729956"/>
            <a:ext cx="433388" cy="225425"/>
          </a:xfrm>
          <a:prstGeom prst="bentConnector3">
            <a:avLst>
              <a:gd name="adj1" fmla="val 50000"/>
            </a:avLst>
          </a:prstGeom>
          <a:noFill/>
          <a:ln w="38100" algn="ctr">
            <a:solidFill>
              <a:srgbClr val="C7000B"/>
            </a:solidFill>
            <a:round/>
            <a:headEnd type="arrow" w="med" len="med"/>
            <a:tailEnd type="oval" w="med" len="med"/>
          </a:ln>
          <a:extLst>
            <a:ext uri="{909E8E84-426E-40DD-AFC4-6F175D3DCCD1}">
              <a14:hiddenFill xmlns:a14="http://schemas.microsoft.com/office/drawing/2010/main">
                <a:noFill/>
              </a14:hiddenFill>
            </a:ext>
          </a:extLst>
        </p:spPr>
      </p:cxnSp>
      <p:sp>
        <p:nvSpPr>
          <p:cNvPr id="80908" name="TextBox 25">
            <a:extLst>
              <a:ext uri="{FF2B5EF4-FFF2-40B4-BE49-F238E27FC236}">
                <a16:creationId xmlns:a16="http://schemas.microsoft.com/office/drawing/2014/main" id="{36B9A0D9-DF37-F4C5-6F2F-49CDFE590133}"/>
              </a:ext>
            </a:extLst>
          </p:cNvPr>
          <p:cNvSpPr txBox="1">
            <a:spLocks noChangeArrowheads="1"/>
          </p:cNvSpPr>
          <p:nvPr/>
        </p:nvSpPr>
        <p:spPr bwMode="auto">
          <a:xfrm>
            <a:off x="1606550" y="5065713"/>
            <a:ext cx="830263" cy="276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50000"/>
              </a:spcBef>
              <a:buFontTx/>
              <a:buNone/>
            </a:pPr>
            <a:r>
              <a:rPr lang="zh-CN" altLang="en-US" sz="1200">
                <a:latin typeface="Huawei Sans"/>
                <a:ea typeface="方正兰亭黑简体"/>
                <a:cs typeface="方正兰亭黑简体"/>
              </a:rPr>
              <a:t>硬盘</a:t>
            </a:r>
            <a:endParaRPr lang="en-US" altLang="zh-CN" sz="1200">
              <a:latin typeface="Huawei Sans"/>
              <a:ea typeface="方正兰亭黑简体"/>
              <a:cs typeface="方正兰亭黑简体"/>
            </a:endParaRPr>
          </a:p>
        </p:txBody>
      </p:sp>
      <p:cxnSp>
        <p:nvCxnSpPr>
          <p:cNvPr id="80909" name="Shape 16">
            <a:extLst>
              <a:ext uri="{FF2B5EF4-FFF2-40B4-BE49-F238E27FC236}">
                <a16:creationId xmlns:a16="http://schemas.microsoft.com/office/drawing/2014/main" id="{7E79AE18-1213-00E3-5938-E9D2E446B900}"/>
              </a:ext>
            </a:extLst>
          </p:cNvPr>
          <p:cNvCxnSpPr>
            <a:cxnSpLocks noChangeShapeType="1"/>
            <a:stCxn id="80908" idx="0"/>
          </p:cNvCxnSpPr>
          <p:nvPr/>
        </p:nvCxnSpPr>
        <p:spPr bwMode="auto">
          <a:xfrm rot="5400000" flipH="1" flipV="1">
            <a:off x="1861343" y="4904582"/>
            <a:ext cx="322263" cy="0"/>
          </a:xfrm>
          <a:prstGeom prst="bentConnector3">
            <a:avLst>
              <a:gd name="adj1" fmla="val 50000"/>
            </a:avLst>
          </a:prstGeom>
          <a:noFill/>
          <a:ln w="38100" algn="ctr">
            <a:solidFill>
              <a:srgbClr val="C7000B"/>
            </a:solidFill>
            <a:round/>
            <a:headEnd type="arrow" w="med" len="med"/>
            <a:tailEnd type="oval" w="med" len="med"/>
          </a:ln>
          <a:extLst>
            <a:ext uri="{909E8E84-426E-40DD-AFC4-6F175D3DCCD1}">
              <a14:hiddenFill xmlns:a14="http://schemas.microsoft.com/office/drawing/2010/main">
                <a:noFill/>
              </a14:hiddenFill>
            </a:ext>
          </a:extLst>
        </p:spPr>
      </p:cxnSp>
      <p:cxnSp>
        <p:nvCxnSpPr>
          <p:cNvPr id="80910" name="Shape 13">
            <a:extLst>
              <a:ext uri="{FF2B5EF4-FFF2-40B4-BE49-F238E27FC236}">
                <a16:creationId xmlns:a16="http://schemas.microsoft.com/office/drawing/2014/main" id="{9D8CC5DF-28BE-FFA0-DE04-29B6C138C14E}"/>
              </a:ext>
            </a:extLst>
          </p:cNvPr>
          <p:cNvCxnSpPr>
            <a:cxnSpLocks noChangeShapeType="1"/>
            <a:stCxn id="80903" idx="1"/>
          </p:cNvCxnSpPr>
          <p:nvPr/>
        </p:nvCxnSpPr>
        <p:spPr bwMode="auto">
          <a:xfrm rot="10800000">
            <a:off x="5665788" y="2411413"/>
            <a:ext cx="1004887" cy="15875"/>
          </a:xfrm>
          <a:prstGeom prst="bentConnector3">
            <a:avLst>
              <a:gd name="adj1" fmla="val 50000"/>
            </a:avLst>
          </a:prstGeom>
          <a:noFill/>
          <a:ln w="38100" algn="ctr">
            <a:solidFill>
              <a:srgbClr val="C7000B"/>
            </a:solidFill>
            <a:round/>
            <a:headEnd type="arrow" w="med" len="med"/>
            <a:tailEnd type="oval" w="med" len="med"/>
          </a:ln>
          <a:extLst>
            <a:ext uri="{909E8E84-426E-40DD-AFC4-6F175D3DCCD1}">
              <a14:hiddenFill xmlns:a14="http://schemas.microsoft.com/office/drawing/2010/main">
                <a:noFill/>
              </a14:hiddenFill>
            </a:ext>
          </a:extLst>
        </p:spPr>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a:extLst>
              <a:ext uri="{FF2B5EF4-FFF2-40B4-BE49-F238E27FC236}">
                <a16:creationId xmlns:a16="http://schemas.microsoft.com/office/drawing/2014/main" id="{A19735E2-3AC5-1D1B-8475-F28BA1A4157E}"/>
              </a:ext>
            </a:extLst>
          </p:cNvPr>
          <p:cNvSpPr>
            <a:spLocks noGrp="1" noChangeArrowheads="1"/>
          </p:cNvSpPr>
          <p:nvPr>
            <p:ph type="title"/>
          </p:nvPr>
        </p:nvSpPr>
        <p:spPr>
          <a:xfrm>
            <a:off x="549275" y="447675"/>
            <a:ext cx="8045450" cy="485775"/>
          </a:xfrm>
        </p:spPr>
        <p:txBody>
          <a:bodyPr/>
          <a:lstStyle/>
          <a:p>
            <a:r>
              <a:rPr>
                <a:latin typeface="Huawei Sans"/>
                <a:ea typeface="方正兰亭黑简体"/>
                <a:cs typeface="方正兰亭黑简体"/>
              </a:rPr>
              <a:t>计算机基础硬件 </a:t>
            </a:r>
            <a:r>
              <a:rPr lang="en-US" altLang="zh-CN">
                <a:latin typeface="Huawei Sans"/>
                <a:ea typeface="方正兰亭黑简体"/>
                <a:cs typeface="方正兰亭黑简体"/>
              </a:rPr>
              <a:t>(2)</a:t>
            </a:r>
            <a:endParaRPr>
              <a:latin typeface="Huawei Sans"/>
              <a:ea typeface="方正兰亭黑简体"/>
              <a:cs typeface="方正兰亭黑简体"/>
            </a:endParaRPr>
          </a:p>
        </p:txBody>
      </p:sp>
      <p:sp>
        <p:nvSpPr>
          <p:cNvPr id="9" name="任意多边形 8">
            <a:extLst>
              <a:ext uri="{FF2B5EF4-FFF2-40B4-BE49-F238E27FC236}">
                <a16:creationId xmlns:a16="http://schemas.microsoft.com/office/drawing/2014/main" id="{F9F3FC0B-96AA-1839-54D6-9101C8E535F8}"/>
              </a:ext>
            </a:extLst>
          </p:cNvPr>
          <p:cNvSpPr/>
          <p:nvPr/>
        </p:nvSpPr>
        <p:spPr>
          <a:xfrm>
            <a:off x="738188" y="3221038"/>
            <a:ext cx="2230437" cy="277812"/>
          </a:xfrm>
          <a:custGeom>
            <a:avLst/>
            <a:gdLst>
              <a:gd name="connsiteX0" fmla="*/ 0 w 2351921"/>
              <a:gd name="connsiteY0" fmla="*/ 0 h 403200"/>
              <a:gd name="connsiteX1" fmla="*/ 2351921 w 2351921"/>
              <a:gd name="connsiteY1" fmla="*/ 0 h 403200"/>
              <a:gd name="connsiteX2" fmla="*/ 2351921 w 2351921"/>
              <a:gd name="connsiteY2" fmla="*/ 403200 h 403200"/>
              <a:gd name="connsiteX3" fmla="*/ 0 w 2351921"/>
              <a:gd name="connsiteY3" fmla="*/ 403200 h 403200"/>
              <a:gd name="connsiteX4" fmla="*/ 0 w 2351921"/>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921" h="403200">
                <a:moveTo>
                  <a:pt x="0" y="0"/>
                </a:moveTo>
                <a:lnTo>
                  <a:pt x="2351921" y="0"/>
                </a:lnTo>
                <a:lnTo>
                  <a:pt x="2351921" y="403200"/>
                </a:lnTo>
                <a:lnTo>
                  <a:pt x="0" y="403200"/>
                </a:lnTo>
                <a:lnTo>
                  <a:pt x="0" y="0"/>
                </a:lnTo>
                <a:close/>
              </a:path>
            </a:pathLst>
          </a:custGeom>
          <a:solidFill>
            <a:srgbClr val="30B5C5"/>
          </a:solidFill>
          <a:ln>
            <a:noFill/>
          </a:ln>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lIns="74676" tIns="42672" rIns="74676" bIns="42672" spcCol="1270" anchor="ctr"/>
          <a:lstStyle/>
          <a:p>
            <a:pPr algn="ctr" defTabSz="466725">
              <a:lnSpc>
                <a:spcPct val="90000"/>
              </a:lnSpc>
              <a:spcAft>
                <a:spcPct val="35000"/>
              </a:spcAft>
              <a:defRPr/>
            </a:pPr>
            <a:r>
              <a:rPr lang="en-US" altLang="zh-CN" sz="1200" dirty="0">
                <a:latin typeface="+mn-ea"/>
              </a:rPr>
              <a:t>CPU</a:t>
            </a:r>
            <a:endParaRPr lang="zh-CN" altLang="en-US" sz="1200" dirty="0">
              <a:latin typeface="+mn-ea"/>
            </a:endParaRPr>
          </a:p>
        </p:txBody>
      </p:sp>
      <p:sp>
        <p:nvSpPr>
          <p:cNvPr id="10" name="任意多边形 9">
            <a:extLst>
              <a:ext uri="{FF2B5EF4-FFF2-40B4-BE49-F238E27FC236}">
                <a16:creationId xmlns:a16="http://schemas.microsoft.com/office/drawing/2014/main" id="{9D810391-7C56-2B15-49AC-A1EAB5BEF824}"/>
              </a:ext>
            </a:extLst>
          </p:cNvPr>
          <p:cNvSpPr/>
          <p:nvPr/>
        </p:nvSpPr>
        <p:spPr>
          <a:xfrm>
            <a:off x="738188" y="3498850"/>
            <a:ext cx="2230437" cy="2008188"/>
          </a:xfrm>
          <a:custGeom>
            <a:avLst/>
            <a:gdLst>
              <a:gd name="connsiteX0" fmla="*/ 0 w 2351921"/>
              <a:gd name="connsiteY0" fmla="*/ 0 h 2412683"/>
              <a:gd name="connsiteX1" fmla="*/ 2351921 w 2351921"/>
              <a:gd name="connsiteY1" fmla="*/ 0 h 2412683"/>
              <a:gd name="connsiteX2" fmla="*/ 2351921 w 2351921"/>
              <a:gd name="connsiteY2" fmla="*/ 2412683 h 2412683"/>
              <a:gd name="connsiteX3" fmla="*/ 0 w 2351921"/>
              <a:gd name="connsiteY3" fmla="*/ 2412683 h 2412683"/>
              <a:gd name="connsiteX4" fmla="*/ 0 w 2351921"/>
              <a:gd name="connsiteY4" fmla="*/ 0 h 2412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921" h="2412683">
                <a:moveTo>
                  <a:pt x="0" y="0"/>
                </a:moveTo>
                <a:lnTo>
                  <a:pt x="2351921" y="0"/>
                </a:lnTo>
                <a:lnTo>
                  <a:pt x="2351921" y="2412683"/>
                </a:lnTo>
                <a:lnTo>
                  <a:pt x="0" y="2412683"/>
                </a:lnTo>
                <a:lnTo>
                  <a:pt x="0" y="0"/>
                </a:lnTo>
                <a:close/>
              </a:path>
            </a:pathLst>
          </a:custGeom>
          <a:solidFill>
            <a:srgbClr val="BEE9EE"/>
          </a:solidFill>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lIns="56007" tIns="56007" rIns="74676" bIns="84011" spcCol="1270"/>
          <a:lstStyle/>
          <a:p>
            <a:pPr marL="0" lvl="1" defTabSz="466725">
              <a:lnSpc>
                <a:spcPct val="120000"/>
              </a:lnSpc>
              <a:spcAft>
                <a:spcPct val="15000"/>
              </a:spcAft>
              <a:defRPr/>
            </a:pPr>
            <a:r>
              <a:rPr lang="zh-CN" altLang="en-US" sz="1125" dirty="0">
                <a:solidFill>
                  <a:schemeClr val="tx1"/>
                </a:solidFill>
                <a:latin typeface="+mn-ea"/>
              </a:rPr>
              <a:t>中央处理器是一块集成电路，是一台计算机的运算核心和控制核心。 </a:t>
            </a:r>
          </a:p>
        </p:txBody>
      </p:sp>
      <p:sp>
        <p:nvSpPr>
          <p:cNvPr id="24" name="任意多边形 23">
            <a:extLst>
              <a:ext uri="{FF2B5EF4-FFF2-40B4-BE49-F238E27FC236}">
                <a16:creationId xmlns:a16="http://schemas.microsoft.com/office/drawing/2014/main" id="{969C1977-E1A5-0A1D-6E6D-0F300C2ECB69}"/>
              </a:ext>
            </a:extLst>
          </p:cNvPr>
          <p:cNvSpPr/>
          <p:nvPr/>
        </p:nvSpPr>
        <p:spPr>
          <a:xfrm>
            <a:off x="6200775" y="3195638"/>
            <a:ext cx="2230438" cy="303212"/>
          </a:xfrm>
          <a:custGeom>
            <a:avLst/>
            <a:gdLst>
              <a:gd name="connsiteX0" fmla="*/ 0 w 2351921"/>
              <a:gd name="connsiteY0" fmla="*/ 0 h 403200"/>
              <a:gd name="connsiteX1" fmla="*/ 2351921 w 2351921"/>
              <a:gd name="connsiteY1" fmla="*/ 0 h 403200"/>
              <a:gd name="connsiteX2" fmla="*/ 2351921 w 2351921"/>
              <a:gd name="connsiteY2" fmla="*/ 403200 h 403200"/>
              <a:gd name="connsiteX3" fmla="*/ 0 w 2351921"/>
              <a:gd name="connsiteY3" fmla="*/ 403200 h 403200"/>
              <a:gd name="connsiteX4" fmla="*/ 0 w 2351921"/>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921" h="403200">
                <a:moveTo>
                  <a:pt x="0" y="0"/>
                </a:moveTo>
                <a:lnTo>
                  <a:pt x="2351921" y="0"/>
                </a:lnTo>
                <a:lnTo>
                  <a:pt x="2351921" y="403200"/>
                </a:lnTo>
                <a:lnTo>
                  <a:pt x="0" y="403200"/>
                </a:lnTo>
                <a:lnTo>
                  <a:pt x="0" y="0"/>
                </a:lnTo>
                <a:close/>
              </a:path>
            </a:pathLst>
          </a:custGeom>
          <a:solidFill>
            <a:srgbClr val="81C15F"/>
          </a:solidFill>
        </p:spPr>
        <p:style>
          <a:lnRef idx="2">
            <a:schemeClr val="accent5">
              <a:hueOff val="-6622584"/>
              <a:satOff val="26541"/>
              <a:lumOff val="5752"/>
              <a:alphaOff val="0"/>
            </a:schemeClr>
          </a:lnRef>
          <a:fillRef idx="1">
            <a:schemeClr val="accent5">
              <a:hueOff val="-6622584"/>
              <a:satOff val="26541"/>
              <a:lumOff val="5752"/>
              <a:alphaOff val="0"/>
            </a:schemeClr>
          </a:fillRef>
          <a:effectRef idx="0">
            <a:schemeClr val="accent5">
              <a:hueOff val="-6622584"/>
              <a:satOff val="26541"/>
              <a:lumOff val="5752"/>
              <a:alphaOff val="0"/>
            </a:schemeClr>
          </a:effectRef>
          <a:fontRef idx="minor">
            <a:schemeClr val="lt1"/>
          </a:fontRef>
        </p:style>
        <p:txBody>
          <a:bodyPr lIns="74676" tIns="42672" rIns="74676" bIns="42672" spcCol="1270" anchor="ctr"/>
          <a:lstStyle/>
          <a:p>
            <a:pPr algn="ctr" defTabSz="466725">
              <a:lnSpc>
                <a:spcPct val="90000"/>
              </a:lnSpc>
              <a:spcAft>
                <a:spcPct val="35000"/>
              </a:spcAft>
              <a:defRPr/>
            </a:pPr>
            <a:r>
              <a:rPr lang="zh-CN" altLang="en-US" sz="1200" dirty="0">
                <a:latin typeface="+mn-ea"/>
              </a:rPr>
              <a:t>硬盘</a:t>
            </a:r>
          </a:p>
        </p:txBody>
      </p:sp>
      <p:sp>
        <p:nvSpPr>
          <p:cNvPr id="25" name="任意多边形 24">
            <a:extLst>
              <a:ext uri="{FF2B5EF4-FFF2-40B4-BE49-F238E27FC236}">
                <a16:creationId xmlns:a16="http://schemas.microsoft.com/office/drawing/2014/main" id="{520B7985-F04D-1AD8-1911-513BBC8958E7}"/>
              </a:ext>
            </a:extLst>
          </p:cNvPr>
          <p:cNvSpPr/>
          <p:nvPr/>
        </p:nvSpPr>
        <p:spPr>
          <a:xfrm>
            <a:off x="6200775" y="3498850"/>
            <a:ext cx="2230438" cy="2008188"/>
          </a:xfrm>
          <a:custGeom>
            <a:avLst/>
            <a:gdLst>
              <a:gd name="connsiteX0" fmla="*/ 0 w 2351921"/>
              <a:gd name="connsiteY0" fmla="*/ 0 h 2412683"/>
              <a:gd name="connsiteX1" fmla="*/ 2351921 w 2351921"/>
              <a:gd name="connsiteY1" fmla="*/ 0 h 2412683"/>
              <a:gd name="connsiteX2" fmla="*/ 2351921 w 2351921"/>
              <a:gd name="connsiteY2" fmla="*/ 2412683 h 2412683"/>
              <a:gd name="connsiteX3" fmla="*/ 0 w 2351921"/>
              <a:gd name="connsiteY3" fmla="*/ 2412683 h 2412683"/>
              <a:gd name="connsiteX4" fmla="*/ 0 w 2351921"/>
              <a:gd name="connsiteY4" fmla="*/ 0 h 2412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921" h="2412683">
                <a:moveTo>
                  <a:pt x="0" y="0"/>
                </a:moveTo>
                <a:lnTo>
                  <a:pt x="2351921" y="0"/>
                </a:lnTo>
                <a:lnTo>
                  <a:pt x="2351921" y="2412683"/>
                </a:lnTo>
                <a:lnTo>
                  <a:pt x="0" y="2412683"/>
                </a:lnTo>
                <a:lnTo>
                  <a:pt x="0" y="0"/>
                </a:lnTo>
                <a:close/>
              </a:path>
            </a:pathLst>
          </a:custGeom>
          <a:solidFill>
            <a:srgbClr val="D0E8C4">
              <a:alpha val="90000"/>
            </a:srgbClr>
          </a:solidFill>
        </p:spPr>
        <p:style>
          <a:lnRef idx="2">
            <a:schemeClr val="accent5">
              <a:tint val="40000"/>
              <a:alpha val="90000"/>
              <a:hueOff val="-7160321"/>
              <a:satOff val="32169"/>
              <a:lumOff val="2211"/>
              <a:alphaOff val="0"/>
            </a:schemeClr>
          </a:lnRef>
          <a:fillRef idx="1">
            <a:schemeClr val="accent5">
              <a:tint val="40000"/>
              <a:alpha val="90000"/>
              <a:hueOff val="-7160321"/>
              <a:satOff val="32169"/>
              <a:lumOff val="2211"/>
              <a:alphaOff val="0"/>
            </a:schemeClr>
          </a:fillRef>
          <a:effectRef idx="0">
            <a:schemeClr val="accent5">
              <a:tint val="40000"/>
              <a:alpha val="90000"/>
              <a:hueOff val="-7160321"/>
              <a:satOff val="32169"/>
              <a:lumOff val="2211"/>
              <a:alphaOff val="0"/>
            </a:schemeClr>
          </a:effectRef>
          <a:fontRef idx="minor">
            <a:schemeClr val="dk1">
              <a:hueOff val="0"/>
              <a:satOff val="0"/>
              <a:lumOff val="0"/>
              <a:alphaOff val="0"/>
            </a:schemeClr>
          </a:fontRef>
        </p:style>
        <p:txBody>
          <a:bodyPr lIns="56007" tIns="56007" rIns="74676" bIns="84011" spcCol="1270"/>
          <a:lstStyle/>
          <a:p>
            <a:pPr marL="0" lvl="1" defTabSz="466725">
              <a:lnSpc>
                <a:spcPct val="120000"/>
              </a:lnSpc>
              <a:spcAft>
                <a:spcPct val="15000"/>
              </a:spcAft>
              <a:buSzPct val="50000"/>
              <a:defRPr/>
            </a:pPr>
            <a:r>
              <a:rPr lang="zh-CN" altLang="en-US" sz="1125" dirty="0">
                <a:solidFill>
                  <a:schemeClr val="tx1"/>
                </a:solidFill>
                <a:latin typeface="+mn-ea"/>
              </a:rPr>
              <a:t>常见的</a:t>
            </a:r>
            <a:r>
              <a:rPr lang="zh-CN" altLang="en-US" sz="1200" dirty="0">
                <a:solidFill>
                  <a:schemeClr val="tx1"/>
                </a:solidFill>
                <a:latin typeface="+mn-ea"/>
              </a:rPr>
              <a:t>硬盘</a:t>
            </a:r>
            <a:r>
              <a:rPr lang="zh-CN" altLang="en-US" sz="1125" dirty="0">
                <a:solidFill>
                  <a:schemeClr val="tx1"/>
                </a:solidFill>
                <a:latin typeface="+mn-ea"/>
              </a:rPr>
              <a:t>种类（按接口类型）：</a:t>
            </a:r>
            <a:endParaRPr lang="en-US" altLang="zh-CN" sz="1125" dirty="0">
              <a:solidFill>
                <a:schemeClr val="tx1"/>
              </a:solidFill>
              <a:latin typeface="+mn-ea"/>
            </a:endParaRPr>
          </a:p>
          <a:p>
            <a:pPr marL="214313" lvl="1" indent="-214313" defTabSz="466725">
              <a:lnSpc>
                <a:spcPct val="120000"/>
              </a:lnSpc>
              <a:spcAft>
                <a:spcPct val="15000"/>
              </a:spcAft>
              <a:buClr>
                <a:schemeClr val="bg1">
                  <a:lumMod val="50000"/>
                </a:schemeClr>
              </a:buClr>
              <a:buSzPct val="60000"/>
              <a:buFont typeface="Wingdings" panose="05000000000000000000" pitchFamily="2" charset="2"/>
              <a:buChar char="l"/>
              <a:defRPr/>
            </a:pPr>
            <a:r>
              <a:rPr lang="en-US" altLang="zh-CN" sz="1050" dirty="0">
                <a:solidFill>
                  <a:schemeClr val="tx1"/>
                </a:solidFill>
                <a:latin typeface="+mn-ea"/>
              </a:rPr>
              <a:t>SATA (Serial ATA )</a:t>
            </a:r>
            <a:r>
              <a:rPr lang="zh-CN" altLang="en-US" sz="1050" dirty="0">
                <a:solidFill>
                  <a:schemeClr val="tx1"/>
                </a:solidFill>
                <a:latin typeface="+mn-ea"/>
              </a:rPr>
              <a:t>硬盘</a:t>
            </a:r>
            <a:endParaRPr lang="en-US" altLang="zh-CN" sz="1050" dirty="0">
              <a:solidFill>
                <a:schemeClr val="tx1"/>
              </a:solidFill>
              <a:latin typeface="+mn-ea"/>
            </a:endParaRPr>
          </a:p>
          <a:p>
            <a:pPr marL="214313" lvl="1" indent="-214313" defTabSz="466725">
              <a:lnSpc>
                <a:spcPct val="120000"/>
              </a:lnSpc>
              <a:spcAft>
                <a:spcPct val="15000"/>
              </a:spcAft>
              <a:buClr>
                <a:schemeClr val="bg1">
                  <a:lumMod val="50000"/>
                </a:schemeClr>
              </a:buClr>
              <a:buSzPct val="60000"/>
              <a:buFont typeface="Wingdings" panose="05000000000000000000" pitchFamily="2" charset="2"/>
              <a:buChar char="l"/>
              <a:defRPr/>
            </a:pPr>
            <a:r>
              <a:rPr lang="en-US" altLang="zh-CN" sz="1050" dirty="0">
                <a:solidFill>
                  <a:schemeClr val="tx1"/>
                </a:solidFill>
                <a:latin typeface="+mn-ea"/>
              </a:rPr>
              <a:t>SAS (Serial Attached SCSI )</a:t>
            </a:r>
            <a:r>
              <a:rPr lang="zh-CN" altLang="en-US" sz="1050" dirty="0">
                <a:solidFill>
                  <a:schemeClr val="tx1"/>
                </a:solidFill>
                <a:latin typeface="+mn-ea"/>
              </a:rPr>
              <a:t>硬盘</a:t>
            </a:r>
            <a:endParaRPr lang="en-US" altLang="zh-CN" sz="1050" dirty="0">
              <a:solidFill>
                <a:schemeClr val="tx1"/>
              </a:solidFill>
              <a:latin typeface="+mn-ea"/>
            </a:endParaRPr>
          </a:p>
          <a:p>
            <a:pPr marL="214313" lvl="1" indent="-214313" defTabSz="466725">
              <a:lnSpc>
                <a:spcPct val="120000"/>
              </a:lnSpc>
              <a:spcAft>
                <a:spcPct val="15000"/>
              </a:spcAft>
              <a:buClr>
                <a:schemeClr val="bg1">
                  <a:lumMod val="50000"/>
                </a:schemeClr>
              </a:buClr>
              <a:buSzPct val="60000"/>
              <a:buFont typeface="Wingdings" panose="05000000000000000000" pitchFamily="2" charset="2"/>
              <a:buChar char="l"/>
              <a:defRPr/>
            </a:pPr>
            <a:r>
              <a:rPr lang="en-US" altLang="zh-CN" sz="1050" dirty="0">
                <a:solidFill>
                  <a:schemeClr val="tx1"/>
                </a:solidFill>
                <a:latin typeface="+mn-ea"/>
              </a:rPr>
              <a:t>M.2 </a:t>
            </a:r>
            <a:r>
              <a:rPr lang="zh-CN" altLang="en-US" sz="1050" dirty="0">
                <a:solidFill>
                  <a:schemeClr val="tx1"/>
                </a:solidFill>
                <a:latin typeface="+mn-ea"/>
              </a:rPr>
              <a:t>硬盘（介质为</a:t>
            </a:r>
            <a:r>
              <a:rPr lang="en-US" altLang="zh-CN" sz="1050" dirty="0">
                <a:solidFill>
                  <a:schemeClr val="tx1"/>
                </a:solidFill>
                <a:latin typeface="+mn-ea"/>
              </a:rPr>
              <a:t>SSD</a:t>
            </a:r>
            <a:r>
              <a:rPr lang="zh-CN" altLang="en-US" sz="1050" dirty="0">
                <a:solidFill>
                  <a:schemeClr val="tx1"/>
                </a:solidFill>
                <a:latin typeface="+mn-ea"/>
              </a:rPr>
              <a:t>）</a:t>
            </a:r>
            <a:endParaRPr lang="en-US" altLang="zh-CN" sz="1050" dirty="0">
              <a:solidFill>
                <a:schemeClr val="tx1"/>
              </a:solidFill>
              <a:latin typeface="+mn-ea"/>
            </a:endParaRPr>
          </a:p>
          <a:p>
            <a:pPr marL="214313" lvl="1" indent="-214313" defTabSz="466725">
              <a:lnSpc>
                <a:spcPct val="120000"/>
              </a:lnSpc>
              <a:spcAft>
                <a:spcPct val="15000"/>
              </a:spcAft>
              <a:buClr>
                <a:schemeClr val="bg1">
                  <a:lumMod val="50000"/>
                </a:schemeClr>
              </a:buClr>
              <a:buSzPct val="60000"/>
              <a:buFont typeface="Wingdings" panose="05000000000000000000" pitchFamily="2" charset="2"/>
              <a:buChar char="l"/>
              <a:defRPr/>
            </a:pPr>
            <a:r>
              <a:rPr lang="en-US" altLang="zh-CN" sz="1050" dirty="0">
                <a:solidFill>
                  <a:schemeClr val="tx1"/>
                </a:solidFill>
                <a:latin typeface="+mn-ea"/>
              </a:rPr>
              <a:t>NVMe </a:t>
            </a:r>
            <a:r>
              <a:rPr lang="zh-CN" altLang="en-US" sz="1050" dirty="0">
                <a:solidFill>
                  <a:schemeClr val="tx1"/>
                </a:solidFill>
                <a:latin typeface="+mn-ea"/>
              </a:rPr>
              <a:t>硬盘（介质为</a:t>
            </a:r>
            <a:r>
              <a:rPr lang="en-US" altLang="zh-CN" sz="1050" dirty="0">
                <a:solidFill>
                  <a:schemeClr val="tx1"/>
                </a:solidFill>
                <a:latin typeface="+mn-ea"/>
              </a:rPr>
              <a:t>SSD</a:t>
            </a:r>
            <a:r>
              <a:rPr lang="zh-CN" altLang="en-US" sz="1050" dirty="0">
                <a:solidFill>
                  <a:schemeClr val="tx1"/>
                </a:solidFill>
                <a:latin typeface="+mn-ea"/>
              </a:rPr>
              <a:t>）</a:t>
            </a:r>
          </a:p>
          <a:p>
            <a:pPr marL="85725" lvl="1" indent="-85725" defTabSz="466725">
              <a:lnSpc>
                <a:spcPct val="90000"/>
              </a:lnSpc>
              <a:spcAft>
                <a:spcPct val="15000"/>
              </a:spcAft>
              <a:buFontTx/>
              <a:buChar char="••"/>
              <a:defRPr/>
            </a:pPr>
            <a:endParaRPr lang="en-US" altLang="zh-CN" sz="1125" dirty="0">
              <a:solidFill>
                <a:schemeClr val="tx1"/>
              </a:solidFill>
              <a:latin typeface="+mn-ea"/>
            </a:endParaRPr>
          </a:p>
        </p:txBody>
      </p:sp>
      <p:sp>
        <p:nvSpPr>
          <p:cNvPr id="26" name="任意多边形 25">
            <a:extLst>
              <a:ext uri="{FF2B5EF4-FFF2-40B4-BE49-F238E27FC236}">
                <a16:creationId xmlns:a16="http://schemas.microsoft.com/office/drawing/2014/main" id="{1F51B158-149C-D531-D0B7-C4180EF164AA}"/>
              </a:ext>
            </a:extLst>
          </p:cNvPr>
          <p:cNvSpPr/>
          <p:nvPr/>
        </p:nvSpPr>
        <p:spPr>
          <a:xfrm>
            <a:off x="3494088" y="3201988"/>
            <a:ext cx="2230437" cy="303212"/>
          </a:xfrm>
          <a:custGeom>
            <a:avLst/>
            <a:gdLst>
              <a:gd name="connsiteX0" fmla="*/ 0 w 2351921"/>
              <a:gd name="connsiteY0" fmla="*/ 0 h 403200"/>
              <a:gd name="connsiteX1" fmla="*/ 2351921 w 2351921"/>
              <a:gd name="connsiteY1" fmla="*/ 0 h 403200"/>
              <a:gd name="connsiteX2" fmla="*/ 2351921 w 2351921"/>
              <a:gd name="connsiteY2" fmla="*/ 403200 h 403200"/>
              <a:gd name="connsiteX3" fmla="*/ 0 w 2351921"/>
              <a:gd name="connsiteY3" fmla="*/ 403200 h 403200"/>
              <a:gd name="connsiteX4" fmla="*/ 0 w 2351921"/>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921" h="403200">
                <a:moveTo>
                  <a:pt x="0" y="0"/>
                </a:moveTo>
                <a:lnTo>
                  <a:pt x="2351921" y="0"/>
                </a:lnTo>
                <a:lnTo>
                  <a:pt x="2351921" y="403200"/>
                </a:lnTo>
                <a:lnTo>
                  <a:pt x="0" y="403200"/>
                </a:lnTo>
                <a:lnTo>
                  <a:pt x="0" y="0"/>
                </a:lnTo>
                <a:close/>
              </a:path>
            </a:pathLst>
          </a:custGeom>
        </p:spPr>
        <p:style>
          <a:lnRef idx="2">
            <a:schemeClr val="accent5">
              <a:hueOff val="-9933876"/>
              <a:satOff val="39811"/>
              <a:lumOff val="8628"/>
              <a:alphaOff val="0"/>
            </a:schemeClr>
          </a:lnRef>
          <a:fillRef idx="1">
            <a:schemeClr val="accent5">
              <a:hueOff val="-9933876"/>
              <a:satOff val="39811"/>
              <a:lumOff val="8628"/>
              <a:alphaOff val="0"/>
            </a:schemeClr>
          </a:fillRef>
          <a:effectRef idx="0">
            <a:schemeClr val="accent5">
              <a:hueOff val="-9933876"/>
              <a:satOff val="39811"/>
              <a:lumOff val="8628"/>
              <a:alphaOff val="0"/>
            </a:schemeClr>
          </a:effectRef>
          <a:fontRef idx="minor">
            <a:schemeClr val="lt1"/>
          </a:fontRef>
        </p:style>
        <p:txBody>
          <a:bodyPr lIns="74676" tIns="42672" rIns="74676" bIns="42672" spcCol="1270" anchor="ctr"/>
          <a:lstStyle/>
          <a:p>
            <a:pPr algn="ctr" defTabSz="466725">
              <a:lnSpc>
                <a:spcPct val="90000"/>
              </a:lnSpc>
              <a:spcAft>
                <a:spcPct val="35000"/>
              </a:spcAft>
              <a:defRPr/>
            </a:pPr>
            <a:r>
              <a:rPr lang="zh-CN" altLang="en-US" sz="1200" dirty="0">
                <a:latin typeface="+mn-ea"/>
              </a:rPr>
              <a:t>内存</a:t>
            </a:r>
          </a:p>
        </p:txBody>
      </p:sp>
      <p:sp>
        <p:nvSpPr>
          <p:cNvPr id="27" name="任意多边形 26">
            <a:extLst>
              <a:ext uri="{FF2B5EF4-FFF2-40B4-BE49-F238E27FC236}">
                <a16:creationId xmlns:a16="http://schemas.microsoft.com/office/drawing/2014/main" id="{6EB43E26-45C1-C87C-F6DE-5AB2732318BD}"/>
              </a:ext>
            </a:extLst>
          </p:cNvPr>
          <p:cNvSpPr/>
          <p:nvPr/>
        </p:nvSpPr>
        <p:spPr>
          <a:xfrm>
            <a:off x="3494088" y="3505200"/>
            <a:ext cx="2230437" cy="1984375"/>
          </a:xfrm>
          <a:custGeom>
            <a:avLst/>
            <a:gdLst>
              <a:gd name="connsiteX0" fmla="*/ 0 w 2351921"/>
              <a:gd name="connsiteY0" fmla="*/ 0 h 2412683"/>
              <a:gd name="connsiteX1" fmla="*/ 2351921 w 2351921"/>
              <a:gd name="connsiteY1" fmla="*/ 0 h 2412683"/>
              <a:gd name="connsiteX2" fmla="*/ 2351921 w 2351921"/>
              <a:gd name="connsiteY2" fmla="*/ 2412683 h 2412683"/>
              <a:gd name="connsiteX3" fmla="*/ 0 w 2351921"/>
              <a:gd name="connsiteY3" fmla="*/ 2412683 h 2412683"/>
              <a:gd name="connsiteX4" fmla="*/ 0 w 2351921"/>
              <a:gd name="connsiteY4" fmla="*/ 0 h 2412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921" h="2412683">
                <a:moveTo>
                  <a:pt x="0" y="0"/>
                </a:moveTo>
                <a:lnTo>
                  <a:pt x="2351921" y="0"/>
                </a:lnTo>
                <a:lnTo>
                  <a:pt x="2351921" y="2412683"/>
                </a:lnTo>
                <a:lnTo>
                  <a:pt x="0" y="2412683"/>
                </a:lnTo>
                <a:lnTo>
                  <a:pt x="0" y="0"/>
                </a:lnTo>
                <a:close/>
              </a:path>
            </a:pathLst>
          </a:custGeom>
        </p:spPr>
        <p:style>
          <a:lnRef idx="2">
            <a:schemeClr val="accent5">
              <a:tint val="40000"/>
              <a:alpha val="90000"/>
              <a:hueOff val="-10740482"/>
              <a:satOff val="48253"/>
              <a:lumOff val="3317"/>
              <a:alphaOff val="0"/>
            </a:schemeClr>
          </a:lnRef>
          <a:fillRef idx="1">
            <a:schemeClr val="accent5">
              <a:tint val="40000"/>
              <a:alpha val="90000"/>
              <a:hueOff val="-10740482"/>
              <a:satOff val="48253"/>
              <a:lumOff val="3317"/>
              <a:alphaOff val="0"/>
            </a:schemeClr>
          </a:fillRef>
          <a:effectRef idx="0">
            <a:schemeClr val="accent5">
              <a:tint val="40000"/>
              <a:alpha val="90000"/>
              <a:hueOff val="-10740482"/>
              <a:satOff val="48253"/>
              <a:lumOff val="3317"/>
              <a:alphaOff val="0"/>
            </a:schemeClr>
          </a:effectRef>
          <a:fontRef idx="minor">
            <a:schemeClr val="dk1">
              <a:hueOff val="0"/>
              <a:satOff val="0"/>
              <a:lumOff val="0"/>
              <a:alphaOff val="0"/>
            </a:schemeClr>
          </a:fontRef>
        </p:style>
        <p:txBody>
          <a:bodyPr lIns="56007" tIns="56007" rIns="74676" bIns="84011" spcCol="1270"/>
          <a:lstStyle/>
          <a:p>
            <a:pPr marL="0" lvl="1" defTabSz="466725">
              <a:lnSpc>
                <a:spcPct val="120000"/>
              </a:lnSpc>
              <a:spcAft>
                <a:spcPct val="15000"/>
              </a:spcAft>
              <a:defRPr/>
            </a:pPr>
            <a:r>
              <a:rPr lang="zh-CN" altLang="en-US" sz="1125" dirty="0">
                <a:solidFill>
                  <a:schemeClr val="tx1"/>
                </a:solidFill>
                <a:latin typeface="+mn-ea"/>
              </a:rPr>
              <a:t>内存是界于</a:t>
            </a:r>
            <a:r>
              <a:rPr lang="en-US" altLang="zh-CN" sz="1125" dirty="0">
                <a:solidFill>
                  <a:schemeClr val="tx1"/>
                </a:solidFill>
                <a:latin typeface="+mn-ea"/>
              </a:rPr>
              <a:t>CPU </a:t>
            </a:r>
            <a:r>
              <a:rPr lang="zh-CN" altLang="en-US" sz="1125" dirty="0">
                <a:solidFill>
                  <a:schemeClr val="tx1"/>
                </a:solidFill>
                <a:latin typeface="+mn-ea"/>
              </a:rPr>
              <a:t>和外部存储之间，是</a:t>
            </a:r>
            <a:r>
              <a:rPr lang="en-US" altLang="zh-CN" sz="1125" dirty="0">
                <a:solidFill>
                  <a:schemeClr val="tx1"/>
                </a:solidFill>
                <a:latin typeface="+mn-ea"/>
              </a:rPr>
              <a:t>CPU </a:t>
            </a:r>
            <a:r>
              <a:rPr lang="zh-CN" altLang="en-US" sz="1125" dirty="0">
                <a:solidFill>
                  <a:schemeClr val="tx1"/>
                </a:solidFill>
                <a:latin typeface="+mn-ea"/>
              </a:rPr>
              <a:t>高速运算时存放程序指令、数据和中间结果的临时场所，它的物理实质就是一组具备数据输入输出和数据存储功能的高速集成电路。</a:t>
            </a:r>
          </a:p>
        </p:txBody>
      </p:sp>
      <p:pic>
        <p:nvPicPr>
          <p:cNvPr id="82952" name="Picture 6">
            <a:extLst>
              <a:ext uri="{FF2B5EF4-FFF2-40B4-BE49-F238E27FC236}">
                <a16:creationId xmlns:a16="http://schemas.microsoft.com/office/drawing/2014/main" id="{82FEC9CD-A154-E48F-29E2-02B16E8929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4216" b="28862"/>
          <a:stretch>
            <a:fillRect/>
          </a:stretch>
        </p:blipFill>
        <p:spPr bwMode="auto">
          <a:xfrm>
            <a:off x="3478213" y="1901825"/>
            <a:ext cx="2246312"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3" name="Picture 8">
            <a:extLst>
              <a:ext uri="{FF2B5EF4-FFF2-40B4-BE49-F238E27FC236}">
                <a16:creationId xmlns:a16="http://schemas.microsoft.com/office/drawing/2014/main" id="{F52299B8-01D6-5363-FA6E-38525BD534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94450" y="1768475"/>
            <a:ext cx="1895475" cy="128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4" name="Picture 2" descr="C:\Users\z00228467\AppData\Roaming\eSpace_Desktop\UserData\z00584129\imagefiles\AF685583-AAE0-4EB7-B490-6076E58C9643.png">
            <a:extLst>
              <a:ext uri="{FF2B5EF4-FFF2-40B4-BE49-F238E27FC236}">
                <a16:creationId xmlns:a16="http://schemas.microsoft.com/office/drawing/2014/main" id="{BACF8B0A-49B0-FD0E-F239-49554DEE67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188" y="2044700"/>
            <a:ext cx="2178050"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3" name="Picture 2">
            <a:extLst>
              <a:ext uri="{FF2B5EF4-FFF2-40B4-BE49-F238E27FC236}">
                <a16:creationId xmlns:a16="http://schemas.microsoft.com/office/drawing/2014/main" id="{49962041-0363-3B13-EA0D-5418E6165F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175" y="1652588"/>
            <a:ext cx="1939925" cy="153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4" name="标题 1">
            <a:extLst>
              <a:ext uri="{FF2B5EF4-FFF2-40B4-BE49-F238E27FC236}">
                <a16:creationId xmlns:a16="http://schemas.microsoft.com/office/drawing/2014/main" id="{B9F330DF-3622-0975-6BFE-C573079E27AD}"/>
              </a:ext>
            </a:extLst>
          </p:cNvPr>
          <p:cNvSpPr>
            <a:spLocks noGrp="1" noChangeArrowheads="1"/>
          </p:cNvSpPr>
          <p:nvPr>
            <p:ph type="title"/>
          </p:nvPr>
        </p:nvSpPr>
        <p:spPr>
          <a:xfrm>
            <a:off x="549275" y="447675"/>
            <a:ext cx="8045450" cy="485775"/>
          </a:xfrm>
        </p:spPr>
        <p:txBody>
          <a:bodyPr/>
          <a:lstStyle/>
          <a:p>
            <a:r>
              <a:rPr>
                <a:latin typeface="Huawei Sans"/>
                <a:ea typeface="方正兰亭黑简体"/>
                <a:cs typeface="方正兰亭黑简体"/>
              </a:rPr>
              <a:t>计算机基础硬件 </a:t>
            </a:r>
            <a:r>
              <a:rPr lang="en-US" altLang="zh-CN">
                <a:latin typeface="Huawei Sans"/>
                <a:ea typeface="方正兰亭黑简体"/>
                <a:cs typeface="方正兰亭黑简体"/>
              </a:rPr>
              <a:t>(3)</a:t>
            </a:r>
            <a:endParaRPr>
              <a:latin typeface="Huawei Sans"/>
              <a:ea typeface="方正兰亭黑简体"/>
              <a:cs typeface="方正兰亭黑简体"/>
            </a:endParaRPr>
          </a:p>
        </p:txBody>
      </p:sp>
      <p:grpSp>
        <p:nvGrpSpPr>
          <p:cNvPr id="84995" name="组合 3">
            <a:extLst>
              <a:ext uri="{FF2B5EF4-FFF2-40B4-BE49-F238E27FC236}">
                <a16:creationId xmlns:a16="http://schemas.microsoft.com/office/drawing/2014/main" id="{EF0F30D9-ECBD-AB16-764D-44D7EC0CD8BB}"/>
              </a:ext>
            </a:extLst>
          </p:cNvPr>
          <p:cNvGrpSpPr>
            <a:grpSpLocks/>
          </p:cNvGrpSpPr>
          <p:nvPr/>
        </p:nvGrpSpPr>
        <p:grpSpPr bwMode="auto">
          <a:xfrm>
            <a:off x="874713" y="3287713"/>
            <a:ext cx="7540625" cy="2078037"/>
            <a:chOff x="1166355" y="3684622"/>
            <a:chExt cx="10054857" cy="2771774"/>
          </a:xfrm>
        </p:grpSpPr>
        <p:sp>
          <p:nvSpPr>
            <p:cNvPr id="5" name="任意多边形 4">
              <a:extLst>
                <a:ext uri="{FF2B5EF4-FFF2-40B4-BE49-F238E27FC236}">
                  <a16:creationId xmlns:a16="http://schemas.microsoft.com/office/drawing/2014/main" id="{3DA39BC9-7D97-C60A-B5C0-3E2AB5A6C14C}"/>
                </a:ext>
              </a:extLst>
            </p:cNvPr>
            <p:cNvSpPr/>
            <p:nvPr/>
          </p:nvSpPr>
          <p:spPr>
            <a:xfrm>
              <a:off x="1166355" y="3690974"/>
              <a:ext cx="2972004" cy="404438"/>
            </a:xfrm>
            <a:custGeom>
              <a:avLst/>
              <a:gdLst>
                <a:gd name="connsiteX0" fmla="*/ 0 w 2972022"/>
                <a:gd name="connsiteY0" fmla="*/ 0 h 403200"/>
                <a:gd name="connsiteX1" fmla="*/ 2972022 w 2972022"/>
                <a:gd name="connsiteY1" fmla="*/ 0 h 403200"/>
                <a:gd name="connsiteX2" fmla="*/ 2972022 w 2972022"/>
                <a:gd name="connsiteY2" fmla="*/ 403200 h 403200"/>
                <a:gd name="connsiteX3" fmla="*/ 0 w 2972022"/>
                <a:gd name="connsiteY3" fmla="*/ 403200 h 403200"/>
                <a:gd name="connsiteX4" fmla="*/ 0 w 2972022"/>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2022" h="403200">
                  <a:moveTo>
                    <a:pt x="0" y="0"/>
                  </a:moveTo>
                  <a:lnTo>
                    <a:pt x="2972022" y="0"/>
                  </a:lnTo>
                  <a:lnTo>
                    <a:pt x="2972022" y="403200"/>
                  </a:lnTo>
                  <a:lnTo>
                    <a:pt x="0" y="403200"/>
                  </a:lnTo>
                  <a:lnTo>
                    <a:pt x="0" y="0"/>
                  </a:lnTo>
                  <a:close/>
                </a:path>
              </a:pathLst>
            </a:custGeom>
            <a:solidFill>
              <a:srgbClr val="30B5C5"/>
            </a:solidFill>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lIns="74676" tIns="42672" rIns="74676" bIns="42672" spcCol="1270" anchor="ctr"/>
            <a:lstStyle/>
            <a:p>
              <a:pPr algn="ctr" defTabSz="466725">
                <a:lnSpc>
                  <a:spcPct val="90000"/>
                </a:lnSpc>
                <a:spcAft>
                  <a:spcPct val="35000"/>
                </a:spcAft>
                <a:defRPr/>
              </a:pPr>
              <a:r>
                <a:rPr lang="en-US" altLang="zh-CN" sz="1050" dirty="0">
                  <a:latin typeface="+mn-ea"/>
                </a:rPr>
                <a:t>PCIe</a:t>
              </a:r>
              <a:r>
                <a:rPr lang="zh-CN" altLang="en-US" sz="1050" dirty="0">
                  <a:latin typeface="+mn-ea"/>
                </a:rPr>
                <a:t>卡</a:t>
              </a:r>
            </a:p>
          </p:txBody>
        </p:sp>
        <p:sp>
          <p:nvSpPr>
            <p:cNvPr id="6" name="任意多边形 5">
              <a:extLst>
                <a:ext uri="{FF2B5EF4-FFF2-40B4-BE49-F238E27FC236}">
                  <a16:creationId xmlns:a16="http://schemas.microsoft.com/office/drawing/2014/main" id="{F089FBC9-186E-034E-9001-AFFFC53E3C6E}"/>
                </a:ext>
              </a:extLst>
            </p:cNvPr>
            <p:cNvSpPr/>
            <p:nvPr/>
          </p:nvSpPr>
          <p:spPr>
            <a:xfrm>
              <a:off x="1166355" y="4114469"/>
              <a:ext cx="2972004" cy="2341927"/>
            </a:xfrm>
            <a:custGeom>
              <a:avLst/>
              <a:gdLst>
                <a:gd name="connsiteX0" fmla="*/ 0 w 2972022"/>
                <a:gd name="connsiteY0" fmla="*/ 0 h 1871060"/>
                <a:gd name="connsiteX1" fmla="*/ 2972022 w 2972022"/>
                <a:gd name="connsiteY1" fmla="*/ 0 h 1871060"/>
                <a:gd name="connsiteX2" fmla="*/ 2972022 w 2972022"/>
                <a:gd name="connsiteY2" fmla="*/ 1871060 h 1871060"/>
                <a:gd name="connsiteX3" fmla="*/ 0 w 2972022"/>
                <a:gd name="connsiteY3" fmla="*/ 1871060 h 1871060"/>
                <a:gd name="connsiteX4" fmla="*/ 0 w 2972022"/>
                <a:gd name="connsiteY4" fmla="*/ 0 h 1871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2022" h="1871060">
                  <a:moveTo>
                    <a:pt x="0" y="0"/>
                  </a:moveTo>
                  <a:lnTo>
                    <a:pt x="2972022" y="0"/>
                  </a:lnTo>
                  <a:lnTo>
                    <a:pt x="2972022" y="1871060"/>
                  </a:lnTo>
                  <a:lnTo>
                    <a:pt x="0" y="1871060"/>
                  </a:lnTo>
                  <a:lnTo>
                    <a:pt x="0" y="0"/>
                  </a:lnTo>
                  <a:close/>
                </a:path>
              </a:pathLst>
            </a:custGeom>
            <a:solidFill>
              <a:srgbClr val="BEE9EE"/>
            </a:solidFill>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lIns="56007" tIns="56007" rIns="74676" bIns="84011" spcCol="1270"/>
            <a:lstStyle/>
            <a:p>
              <a:pPr marL="0" lvl="1" defTabSz="466725">
                <a:lnSpc>
                  <a:spcPct val="150000"/>
                </a:lnSpc>
                <a:spcAft>
                  <a:spcPct val="15000"/>
                </a:spcAft>
                <a:defRPr/>
              </a:pPr>
              <a:r>
                <a:rPr lang="en-US" altLang="zh-CN" sz="1050" dirty="0">
                  <a:solidFill>
                    <a:schemeClr val="tx1"/>
                  </a:solidFill>
                  <a:latin typeface="+mn-ea"/>
                </a:rPr>
                <a:t>PCI Express</a:t>
              </a:r>
              <a:r>
                <a:rPr lang="zh-CN" altLang="en-US" sz="1050" dirty="0">
                  <a:solidFill>
                    <a:schemeClr val="tx1"/>
                  </a:solidFill>
                  <a:latin typeface="+mn-ea"/>
                </a:rPr>
                <a:t>接口，简称</a:t>
              </a:r>
              <a:r>
                <a:rPr lang="en-US" altLang="zh-CN" sz="1050" dirty="0">
                  <a:solidFill>
                    <a:schemeClr val="tx1"/>
                  </a:solidFill>
                  <a:latin typeface="+mn-ea"/>
                </a:rPr>
                <a:t>PCIe</a:t>
              </a:r>
              <a:r>
                <a:rPr lang="zh-CN" altLang="en-US" sz="1050" dirty="0">
                  <a:solidFill>
                    <a:schemeClr val="tx1"/>
                  </a:solidFill>
                  <a:latin typeface="+mn-ea"/>
                </a:rPr>
                <a:t>，是计算机总线的一种，它沿用现有</a:t>
              </a:r>
              <a:r>
                <a:rPr lang="zh-CN" altLang="en-US" sz="1050" b="0" dirty="0">
                  <a:solidFill>
                    <a:schemeClr val="tx1"/>
                  </a:solidFill>
                  <a:latin typeface="+mn-ea"/>
                </a:rPr>
                <a:t>的</a:t>
              </a:r>
              <a:r>
                <a:rPr lang="en-US" altLang="zh-CN" sz="1050" b="0" dirty="0">
                  <a:solidFill>
                    <a:schemeClr val="tx1"/>
                  </a:solidFill>
                  <a:latin typeface="+mn-ea"/>
                </a:rPr>
                <a:t>PCI</a:t>
              </a:r>
              <a:r>
                <a:rPr lang="zh-CN" altLang="en-US" sz="1050" b="0" dirty="0">
                  <a:solidFill>
                    <a:schemeClr val="tx1"/>
                  </a:solidFill>
                  <a:latin typeface="+mn-ea"/>
                </a:rPr>
                <a:t>编程概念及通信标准，基于更快的串行通信系统。</a:t>
              </a:r>
              <a:r>
                <a:rPr lang="zh-CN" altLang="en-US" sz="1050" dirty="0">
                  <a:solidFill>
                    <a:schemeClr val="tx1"/>
                  </a:solidFill>
                  <a:latin typeface="+mn-ea"/>
                </a:rPr>
                <a:t>主板上的</a:t>
              </a:r>
              <a:r>
                <a:rPr lang="en-US" altLang="zh-CN" sz="1050" dirty="0">
                  <a:solidFill>
                    <a:schemeClr val="tx1"/>
                  </a:solidFill>
                  <a:latin typeface="+mn-ea"/>
                </a:rPr>
                <a:t>PCIe</a:t>
              </a:r>
              <a:r>
                <a:rPr lang="zh-CN" altLang="en-US" sz="1050" dirty="0">
                  <a:solidFill>
                    <a:schemeClr val="tx1"/>
                  </a:solidFill>
                  <a:latin typeface="+mn-ea"/>
                </a:rPr>
                <a:t>插槽通过插接不同的扩展卡如</a:t>
              </a:r>
              <a:r>
                <a:rPr lang="en-US" altLang="zh-CN" sz="1050" dirty="0">
                  <a:solidFill>
                    <a:schemeClr val="tx1"/>
                  </a:solidFill>
                  <a:latin typeface="+mn-ea"/>
                </a:rPr>
                <a:t>GPU</a:t>
              </a:r>
              <a:r>
                <a:rPr lang="zh-CN" altLang="en-US" sz="1050" dirty="0">
                  <a:solidFill>
                    <a:schemeClr val="tx1"/>
                  </a:solidFill>
                  <a:latin typeface="+mn-ea"/>
                </a:rPr>
                <a:t>卡、</a:t>
              </a:r>
              <a:r>
                <a:rPr lang="en-US" altLang="zh-CN" sz="1050" dirty="0">
                  <a:solidFill>
                    <a:schemeClr val="tx1"/>
                  </a:solidFill>
                  <a:latin typeface="+mn-ea"/>
                </a:rPr>
                <a:t>RAID</a:t>
              </a:r>
              <a:r>
                <a:rPr lang="zh-CN" altLang="en-US" sz="1050" dirty="0">
                  <a:solidFill>
                    <a:schemeClr val="tx1"/>
                  </a:solidFill>
                  <a:latin typeface="+mn-ea"/>
                </a:rPr>
                <a:t>卡、网卡等获得额外的扩展。</a:t>
              </a:r>
            </a:p>
          </p:txBody>
        </p:sp>
        <p:sp>
          <p:nvSpPr>
            <p:cNvPr id="7" name="任意多边形 6">
              <a:extLst>
                <a:ext uri="{FF2B5EF4-FFF2-40B4-BE49-F238E27FC236}">
                  <a16:creationId xmlns:a16="http://schemas.microsoft.com/office/drawing/2014/main" id="{584D480C-753A-56C6-FF2F-26F254B42895}"/>
                </a:ext>
              </a:extLst>
            </p:cNvPr>
            <p:cNvSpPr/>
            <p:nvPr/>
          </p:nvSpPr>
          <p:spPr>
            <a:xfrm>
              <a:off x="4563838" y="3684622"/>
              <a:ext cx="3259890" cy="487019"/>
            </a:xfrm>
            <a:custGeom>
              <a:avLst/>
              <a:gdLst>
                <a:gd name="connsiteX0" fmla="*/ 0 w 3260814"/>
                <a:gd name="connsiteY0" fmla="*/ 0 h 487009"/>
                <a:gd name="connsiteX1" fmla="*/ 3260814 w 3260814"/>
                <a:gd name="connsiteY1" fmla="*/ 0 h 487009"/>
                <a:gd name="connsiteX2" fmla="*/ 3260814 w 3260814"/>
                <a:gd name="connsiteY2" fmla="*/ 487009 h 487009"/>
                <a:gd name="connsiteX3" fmla="*/ 0 w 3260814"/>
                <a:gd name="connsiteY3" fmla="*/ 487009 h 487009"/>
                <a:gd name="connsiteX4" fmla="*/ 0 w 3260814"/>
                <a:gd name="connsiteY4" fmla="*/ 0 h 487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0814" h="487009">
                  <a:moveTo>
                    <a:pt x="0" y="0"/>
                  </a:moveTo>
                  <a:lnTo>
                    <a:pt x="3260814" y="0"/>
                  </a:lnTo>
                  <a:lnTo>
                    <a:pt x="3260814" y="487009"/>
                  </a:lnTo>
                  <a:lnTo>
                    <a:pt x="0" y="487009"/>
                  </a:lnTo>
                  <a:lnTo>
                    <a:pt x="0" y="0"/>
                  </a:lnTo>
                  <a:close/>
                </a:path>
              </a:pathLst>
            </a:custGeom>
            <a:solidFill>
              <a:srgbClr val="81C15F"/>
            </a:solidFill>
          </p:spPr>
          <p:style>
            <a:lnRef idx="2">
              <a:schemeClr val="accent5">
                <a:hueOff val="-4966938"/>
                <a:satOff val="19906"/>
                <a:lumOff val="4314"/>
                <a:alphaOff val="0"/>
              </a:schemeClr>
            </a:lnRef>
            <a:fillRef idx="1">
              <a:schemeClr val="accent5">
                <a:hueOff val="-4966938"/>
                <a:satOff val="19906"/>
                <a:lumOff val="4314"/>
                <a:alphaOff val="0"/>
              </a:schemeClr>
            </a:fillRef>
            <a:effectRef idx="0">
              <a:schemeClr val="accent5">
                <a:hueOff val="-4966938"/>
                <a:satOff val="19906"/>
                <a:lumOff val="4314"/>
                <a:alphaOff val="0"/>
              </a:schemeClr>
            </a:effectRef>
            <a:fontRef idx="minor">
              <a:schemeClr val="lt1"/>
            </a:fontRef>
          </p:style>
          <p:txBody>
            <a:bodyPr lIns="74676" tIns="42672" rIns="74676" bIns="42672" spcCol="1270" anchor="ctr"/>
            <a:lstStyle/>
            <a:p>
              <a:pPr algn="ctr" defTabSz="466725">
                <a:lnSpc>
                  <a:spcPct val="90000"/>
                </a:lnSpc>
                <a:spcAft>
                  <a:spcPct val="35000"/>
                </a:spcAft>
                <a:defRPr/>
              </a:pPr>
              <a:r>
                <a:rPr lang="en-US" altLang="zh-CN" sz="1050" dirty="0">
                  <a:latin typeface="+mn-ea"/>
                </a:rPr>
                <a:t>BIOS</a:t>
              </a:r>
              <a:endParaRPr lang="zh-CN" altLang="en-US" sz="1050" dirty="0">
                <a:latin typeface="+mn-ea"/>
              </a:endParaRPr>
            </a:p>
          </p:txBody>
        </p:sp>
        <p:sp>
          <p:nvSpPr>
            <p:cNvPr id="9" name="任意多边形 8">
              <a:extLst>
                <a:ext uri="{FF2B5EF4-FFF2-40B4-BE49-F238E27FC236}">
                  <a16:creationId xmlns:a16="http://schemas.microsoft.com/office/drawing/2014/main" id="{0471696D-EE8F-2197-D21A-18200A73985C}"/>
                </a:ext>
              </a:extLst>
            </p:cNvPr>
            <p:cNvSpPr/>
            <p:nvPr/>
          </p:nvSpPr>
          <p:spPr>
            <a:xfrm>
              <a:off x="4555370" y="4158936"/>
              <a:ext cx="3276825" cy="2297460"/>
            </a:xfrm>
            <a:custGeom>
              <a:avLst/>
              <a:gdLst>
                <a:gd name="connsiteX0" fmla="*/ 0 w 3278646"/>
                <a:gd name="connsiteY0" fmla="*/ 0 h 1814217"/>
                <a:gd name="connsiteX1" fmla="*/ 3278646 w 3278646"/>
                <a:gd name="connsiteY1" fmla="*/ 0 h 1814217"/>
                <a:gd name="connsiteX2" fmla="*/ 3278646 w 3278646"/>
                <a:gd name="connsiteY2" fmla="*/ 1814217 h 1814217"/>
                <a:gd name="connsiteX3" fmla="*/ 0 w 3278646"/>
                <a:gd name="connsiteY3" fmla="*/ 1814217 h 1814217"/>
                <a:gd name="connsiteX4" fmla="*/ 0 w 3278646"/>
                <a:gd name="connsiteY4" fmla="*/ 0 h 1814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8646" h="1814217">
                  <a:moveTo>
                    <a:pt x="0" y="0"/>
                  </a:moveTo>
                  <a:lnTo>
                    <a:pt x="3278646" y="0"/>
                  </a:lnTo>
                  <a:lnTo>
                    <a:pt x="3278646" y="1814217"/>
                  </a:lnTo>
                  <a:lnTo>
                    <a:pt x="0" y="1814217"/>
                  </a:lnTo>
                  <a:lnTo>
                    <a:pt x="0" y="0"/>
                  </a:lnTo>
                  <a:close/>
                </a:path>
              </a:pathLst>
            </a:custGeom>
            <a:solidFill>
              <a:srgbClr val="D0E8C4"/>
            </a:solidFill>
          </p:spPr>
          <p:style>
            <a:lnRef idx="2">
              <a:schemeClr val="accent5">
                <a:tint val="40000"/>
                <a:alpha val="90000"/>
                <a:hueOff val="-5370241"/>
                <a:satOff val="24126"/>
                <a:lumOff val="1658"/>
                <a:alphaOff val="0"/>
              </a:schemeClr>
            </a:lnRef>
            <a:fillRef idx="1">
              <a:schemeClr val="accent5">
                <a:tint val="40000"/>
                <a:alpha val="90000"/>
                <a:hueOff val="-5370241"/>
                <a:satOff val="24126"/>
                <a:lumOff val="1658"/>
                <a:alphaOff val="0"/>
              </a:schemeClr>
            </a:fillRef>
            <a:effectRef idx="0">
              <a:schemeClr val="accent5">
                <a:tint val="40000"/>
                <a:alpha val="90000"/>
                <a:hueOff val="-5370241"/>
                <a:satOff val="24126"/>
                <a:lumOff val="1658"/>
                <a:alphaOff val="0"/>
              </a:schemeClr>
            </a:effectRef>
            <a:fontRef idx="minor">
              <a:schemeClr val="dk1">
                <a:hueOff val="0"/>
                <a:satOff val="0"/>
                <a:lumOff val="0"/>
                <a:alphaOff val="0"/>
              </a:schemeClr>
            </a:fontRef>
          </p:style>
          <p:txBody>
            <a:bodyPr lIns="56007" tIns="56007" rIns="74676" bIns="84011" spcCol="1270"/>
            <a:lstStyle/>
            <a:p>
              <a:pPr marL="0" lvl="1" defTabSz="466725">
                <a:lnSpc>
                  <a:spcPct val="150000"/>
                </a:lnSpc>
                <a:spcAft>
                  <a:spcPct val="15000"/>
                </a:spcAft>
                <a:defRPr/>
              </a:pPr>
              <a:r>
                <a:rPr lang="en-US" altLang="zh-CN" sz="1050" dirty="0">
                  <a:solidFill>
                    <a:schemeClr val="tx1"/>
                  </a:solidFill>
                  <a:latin typeface="+mn-ea"/>
                </a:rPr>
                <a:t>BIOS</a:t>
              </a:r>
              <a:r>
                <a:rPr lang="zh-CN" altLang="en-US" sz="1050" dirty="0">
                  <a:solidFill>
                    <a:schemeClr val="tx1"/>
                  </a:solidFill>
                  <a:latin typeface="+mn-ea"/>
                </a:rPr>
                <a:t>是</a:t>
              </a:r>
              <a:r>
                <a:rPr lang="en-US" altLang="zh-CN" sz="1050" dirty="0">
                  <a:solidFill>
                    <a:schemeClr val="tx1"/>
                  </a:solidFill>
                  <a:latin typeface="+mn-ea"/>
                </a:rPr>
                <a:t>Basic Input/Output System</a:t>
              </a:r>
              <a:r>
                <a:rPr lang="zh-CN" altLang="en-US" sz="1050" dirty="0">
                  <a:solidFill>
                    <a:schemeClr val="tx1"/>
                  </a:solidFill>
                  <a:latin typeface="+mn-ea"/>
                </a:rPr>
                <a:t>的缩写，基本输入输出系统，亦称为</a:t>
              </a:r>
              <a:r>
                <a:rPr lang="en-US" altLang="zh-CN" sz="1050" dirty="0">
                  <a:solidFill>
                    <a:schemeClr val="tx1"/>
                  </a:solidFill>
                  <a:latin typeface="+mn-ea"/>
                </a:rPr>
                <a:t>ROM BIOS</a:t>
              </a:r>
              <a:r>
                <a:rPr lang="zh-CN" altLang="en-US" sz="1050" dirty="0">
                  <a:solidFill>
                    <a:schemeClr val="tx1"/>
                  </a:solidFill>
                  <a:latin typeface="+mn-ea"/>
                </a:rPr>
                <a:t>、</a:t>
              </a:r>
              <a:r>
                <a:rPr lang="en-US" altLang="zh-CN" sz="1050" dirty="0">
                  <a:solidFill>
                    <a:schemeClr val="tx1"/>
                  </a:solidFill>
                  <a:latin typeface="+mn-ea"/>
                </a:rPr>
                <a:t>System BIOS</a:t>
              </a:r>
              <a:r>
                <a:rPr lang="zh-CN" altLang="en-US" sz="1050" dirty="0">
                  <a:solidFill>
                    <a:schemeClr val="tx1"/>
                  </a:solidFill>
                  <a:latin typeface="+mn-ea"/>
                </a:rPr>
                <a:t>，是在通电引导阶段运行硬件初始化，以及为操作系统和程序提供运行时服务的组件。</a:t>
              </a:r>
            </a:p>
          </p:txBody>
        </p:sp>
        <p:sp>
          <p:nvSpPr>
            <p:cNvPr id="10" name="任意多边形 9">
              <a:extLst>
                <a:ext uri="{FF2B5EF4-FFF2-40B4-BE49-F238E27FC236}">
                  <a16:creationId xmlns:a16="http://schemas.microsoft.com/office/drawing/2014/main" id="{400A5E9C-177D-D4DD-B123-687DC17A44E2}"/>
                </a:ext>
              </a:extLst>
            </p:cNvPr>
            <p:cNvSpPr/>
            <p:nvPr/>
          </p:nvSpPr>
          <p:spPr>
            <a:xfrm>
              <a:off x="8249208" y="3690974"/>
              <a:ext cx="2972004" cy="404438"/>
            </a:xfrm>
            <a:custGeom>
              <a:avLst/>
              <a:gdLst>
                <a:gd name="connsiteX0" fmla="*/ 0 w 2972022"/>
                <a:gd name="connsiteY0" fmla="*/ 0 h 403200"/>
                <a:gd name="connsiteX1" fmla="*/ 2972022 w 2972022"/>
                <a:gd name="connsiteY1" fmla="*/ 0 h 403200"/>
                <a:gd name="connsiteX2" fmla="*/ 2972022 w 2972022"/>
                <a:gd name="connsiteY2" fmla="*/ 403200 h 403200"/>
                <a:gd name="connsiteX3" fmla="*/ 0 w 2972022"/>
                <a:gd name="connsiteY3" fmla="*/ 403200 h 403200"/>
                <a:gd name="connsiteX4" fmla="*/ 0 w 2972022"/>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2022" h="403200">
                  <a:moveTo>
                    <a:pt x="0" y="0"/>
                  </a:moveTo>
                  <a:lnTo>
                    <a:pt x="2972022" y="0"/>
                  </a:lnTo>
                  <a:lnTo>
                    <a:pt x="2972022" y="403200"/>
                  </a:lnTo>
                  <a:lnTo>
                    <a:pt x="0" y="403200"/>
                  </a:lnTo>
                  <a:lnTo>
                    <a:pt x="0" y="0"/>
                  </a:lnTo>
                  <a:close/>
                </a:path>
              </a:pathLst>
            </a:custGeom>
            <a:solidFill>
              <a:srgbClr val="FDD351"/>
            </a:solidFill>
          </p:spPr>
          <p:style>
            <a:lnRef idx="2">
              <a:schemeClr val="accent5">
                <a:hueOff val="-9933876"/>
                <a:satOff val="39811"/>
                <a:lumOff val="8628"/>
                <a:alphaOff val="0"/>
              </a:schemeClr>
            </a:lnRef>
            <a:fillRef idx="1">
              <a:schemeClr val="accent5">
                <a:hueOff val="-9933876"/>
                <a:satOff val="39811"/>
                <a:lumOff val="8628"/>
                <a:alphaOff val="0"/>
              </a:schemeClr>
            </a:fillRef>
            <a:effectRef idx="0">
              <a:schemeClr val="accent5">
                <a:hueOff val="-9933876"/>
                <a:satOff val="39811"/>
                <a:lumOff val="8628"/>
                <a:alphaOff val="0"/>
              </a:schemeClr>
            </a:effectRef>
            <a:fontRef idx="minor">
              <a:schemeClr val="lt1"/>
            </a:fontRef>
          </p:style>
          <p:txBody>
            <a:bodyPr lIns="74676" tIns="42672" rIns="74676" bIns="42672" spcCol="1270" anchor="ctr"/>
            <a:lstStyle/>
            <a:p>
              <a:pPr algn="ctr" defTabSz="466725">
                <a:lnSpc>
                  <a:spcPct val="90000"/>
                </a:lnSpc>
                <a:spcAft>
                  <a:spcPct val="35000"/>
                </a:spcAft>
                <a:defRPr/>
              </a:pPr>
              <a:r>
                <a:rPr lang="en-US" altLang="zh-CN" sz="1050" dirty="0">
                  <a:latin typeface="+mn-ea"/>
                </a:rPr>
                <a:t>BMC</a:t>
              </a:r>
              <a:endParaRPr lang="zh-CN" altLang="en-US" sz="1050" dirty="0">
                <a:latin typeface="+mn-ea"/>
              </a:endParaRPr>
            </a:p>
          </p:txBody>
        </p:sp>
        <p:sp>
          <p:nvSpPr>
            <p:cNvPr id="11" name="任意多边形 10">
              <a:extLst>
                <a:ext uri="{FF2B5EF4-FFF2-40B4-BE49-F238E27FC236}">
                  <a16:creationId xmlns:a16="http://schemas.microsoft.com/office/drawing/2014/main" id="{060E3AD1-5481-2435-019D-8A684FFDE949}"/>
                </a:ext>
              </a:extLst>
            </p:cNvPr>
            <p:cNvSpPr/>
            <p:nvPr/>
          </p:nvSpPr>
          <p:spPr>
            <a:xfrm>
              <a:off x="8249208" y="4095412"/>
              <a:ext cx="2972004" cy="2360984"/>
            </a:xfrm>
            <a:custGeom>
              <a:avLst/>
              <a:gdLst>
                <a:gd name="connsiteX0" fmla="*/ 0 w 2972022"/>
                <a:gd name="connsiteY0" fmla="*/ 0 h 1871060"/>
                <a:gd name="connsiteX1" fmla="*/ 2972022 w 2972022"/>
                <a:gd name="connsiteY1" fmla="*/ 0 h 1871060"/>
                <a:gd name="connsiteX2" fmla="*/ 2972022 w 2972022"/>
                <a:gd name="connsiteY2" fmla="*/ 1871060 h 1871060"/>
                <a:gd name="connsiteX3" fmla="*/ 0 w 2972022"/>
                <a:gd name="connsiteY3" fmla="*/ 1871060 h 1871060"/>
                <a:gd name="connsiteX4" fmla="*/ 0 w 2972022"/>
                <a:gd name="connsiteY4" fmla="*/ 0 h 1871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2022" h="1871060">
                  <a:moveTo>
                    <a:pt x="0" y="0"/>
                  </a:moveTo>
                  <a:lnTo>
                    <a:pt x="2972022" y="0"/>
                  </a:lnTo>
                  <a:lnTo>
                    <a:pt x="2972022" y="1871060"/>
                  </a:lnTo>
                  <a:lnTo>
                    <a:pt x="0" y="1871060"/>
                  </a:lnTo>
                  <a:lnTo>
                    <a:pt x="0" y="0"/>
                  </a:lnTo>
                  <a:close/>
                </a:path>
              </a:pathLst>
            </a:custGeom>
            <a:solidFill>
              <a:srgbClr val="FEEEC1"/>
            </a:solidFill>
          </p:spPr>
          <p:style>
            <a:lnRef idx="2">
              <a:schemeClr val="accent5">
                <a:tint val="40000"/>
                <a:alpha val="90000"/>
                <a:hueOff val="-10740482"/>
                <a:satOff val="48253"/>
                <a:lumOff val="3317"/>
                <a:alphaOff val="0"/>
              </a:schemeClr>
            </a:lnRef>
            <a:fillRef idx="1">
              <a:schemeClr val="accent5">
                <a:tint val="40000"/>
                <a:alpha val="90000"/>
                <a:hueOff val="-10740482"/>
                <a:satOff val="48253"/>
                <a:lumOff val="3317"/>
                <a:alphaOff val="0"/>
              </a:schemeClr>
            </a:fillRef>
            <a:effectRef idx="0">
              <a:schemeClr val="accent5">
                <a:tint val="40000"/>
                <a:alpha val="90000"/>
                <a:hueOff val="-10740482"/>
                <a:satOff val="48253"/>
                <a:lumOff val="3317"/>
                <a:alphaOff val="0"/>
              </a:schemeClr>
            </a:effectRef>
            <a:fontRef idx="minor">
              <a:schemeClr val="dk1">
                <a:hueOff val="0"/>
                <a:satOff val="0"/>
                <a:lumOff val="0"/>
                <a:alphaOff val="0"/>
              </a:schemeClr>
            </a:fontRef>
          </p:style>
          <p:txBody>
            <a:bodyPr lIns="56007" tIns="56007" rIns="74676" bIns="84011" spcCol="1270"/>
            <a:lstStyle/>
            <a:p>
              <a:pPr marL="0" lvl="1" defTabSz="466725">
                <a:lnSpc>
                  <a:spcPct val="150000"/>
                </a:lnSpc>
                <a:spcAft>
                  <a:spcPct val="15000"/>
                </a:spcAft>
                <a:defRPr/>
              </a:pPr>
              <a:r>
                <a:rPr lang="en-US" sz="1050" dirty="0">
                  <a:solidFill>
                    <a:schemeClr val="tx1"/>
                  </a:solidFill>
                  <a:latin typeface="+mn-ea"/>
                </a:rPr>
                <a:t>BMC</a:t>
              </a:r>
              <a:r>
                <a:rPr lang="zh-CN" altLang="en-US" sz="1050" dirty="0">
                  <a:solidFill>
                    <a:schemeClr val="tx1"/>
                  </a:solidFill>
                  <a:latin typeface="+mn-ea"/>
                </a:rPr>
                <a:t>是基板管理控制器 </a:t>
              </a:r>
              <a:r>
                <a:rPr lang="en-US" sz="1050" dirty="0">
                  <a:solidFill>
                    <a:schemeClr val="tx1"/>
                  </a:solidFill>
                  <a:latin typeface="+mn-ea"/>
                </a:rPr>
                <a:t>Baseboard Management Controller</a:t>
              </a:r>
              <a:r>
                <a:rPr lang="zh-CN" altLang="en-US" sz="1050" dirty="0">
                  <a:solidFill>
                    <a:schemeClr val="tx1"/>
                  </a:solidFill>
                  <a:latin typeface="+mn-ea"/>
                </a:rPr>
                <a:t>。它可以在机器未开机的状态下，对服务器进行固件升级，查看设备状态等操作。</a:t>
              </a:r>
            </a:p>
          </p:txBody>
        </p:sp>
      </p:grpSp>
      <p:pic>
        <p:nvPicPr>
          <p:cNvPr id="84996" name="Picture 8" descr="âBIOSè¯çâçå¾çæç´¢ç»æ">
            <a:extLst>
              <a:ext uri="{FF2B5EF4-FFF2-40B4-BE49-F238E27FC236}">
                <a16:creationId xmlns:a16="http://schemas.microsoft.com/office/drawing/2014/main" id="{8113DE65-88A1-53B1-1CBF-8BA605E902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3463" y="1690688"/>
            <a:ext cx="2144712"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7" name="Picture 2" descr="D:\Onebox\6. Event marketing\2017\2. Dorado V3上市\芯片展示\漫画讲解词+照片\Hi1710 BMC管理芯片 Baseboard Management Controller Chip.JPG">
            <a:extLst>
              <a:ext uri="{FF2B5EF4-FFF2-40B4-BE49-F238E27FC236}">
                <a16:creationId xmlns:a16="http://schemas.microsoft.com/office/drawing/2014/main" id="{65C5F140-5149-A4E9-576E-DAAC07EED8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39516" t="45311" r="36414" b="37137"/>
          <a:stretch>
            <a:fillRect/>
          </a:stretch>
        </p:blipFill>
        <p:spPr bwMode="auto">
          <a:xfrm>
            <a:off x="6511925" y="1698625"/>
            <a:ext cx="15779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a:extLst>
              <a:ext uri="{FF2B5EF4-FFF2-40B4-BE49-F238E27FC236}">
                <a16:creationId xmlns:a16="http://schemas.microsoft.com/office/drawing/2014/main" id="{335D0ADA-7C10-2F4A-4A7F-7DAE787A93E0}"/>
              </a:ext>
            </a:extLst>
          </p:cNvPr>
          <p:cNvSpPr>
            <a:spLocks noGrp="1" noChangeArrowheads="1"/>
          </p:cNvSpPr>
          <p:nvPr>
            <p:ph type="title"/>
          </p:nvPr>
        </p:nvSpPr>
        <p:spPr>
          <a:xfrm>
            <a:off x="549275" y="447675"/>
            <a:ext cx="8045450" cy="485775"/>
          </a:xfrm>
        </p:spPr>
        <p:txBody>
          <a:bodyPr/>
          <a:lstStyle/>
          <a:p>
            <a:r>
              <a:rPr lang="en-US" altLang="zh-CN">
                <a:latin typeface="Huawei Sans"/>
                <a:ea typeface="方正兰亭黑简体"/>
                <a:cs typeface="方正兰亭黑简体"/>
              </a:rPr>
              <a:t>TaiShan</a:t>
            </a:r>
            <a:r>
              <a:rPr>
                <a:latin typeface="Huawei Sans"/>
                <a:ea typeface="方正兰亭黑简体"/>
                <a:cs typeface="方正兰亭黑简体"/>
              </a:rPr>
              <a:t>服务器物理结构</a:t>
            </a:r>
          </a:p>
        </p:txBody>
      </p:sp>
      <p:graphicFrame>
        <p:nvGraphicFramePr>
          <p:cNvPr id="5" name="表格 4">
            <a:extLst>
              <a:ext uri="{FF2B5EF4-FFF2-40B4-BE49-F238E27FC236}">
                <a16:creationId xmlns:a16="http://schemas.microsoft.com/office/drawing/2014/main" id="{201CD340-D2D4-1306-631F-1D02461A6F6A}"/>
              </a:ext>
            </a:extLst>
          </p:cNvPr>
          <p:cNvGraphicFramePr>
            <a:graphicFrameLocks noGrp="1"/>
          </p:cNvGraphicFramePr>
          <p:nvPr/>
        </p:nvGraphicFramePr>
        <p:xfrm>
          <a:off x="5564188" y="2771775"/>
          <a:ext cx="3030537" cy="1873254"/>
        </p:xfrm>
        <a:graphic>
          <a:graphicData uri="http://schemas.openxmlformats.org/drawingml/2006/table">
            <a:tbl>
              <a:tblPr/>
              <a:tblGrid>
                <a:gridCol w="288925">
                  <a:extLst>
                    <a:ext uri="{9D8B030D-6E8A-4147-A177-3AD203B41FA5}">
                      <a16:colId xmlns:a16="http://schemas.microsoft.com/office/drawing/2014/main" val="20000"/>
                    </a:ext>
                  </a:extLst>
                </a:gridCol>
                <a:gridCol w="1281112">
                  <a:extLst>
                    <a:ext uri="{9D8B030D-6E8A-4147-A177-3AD203B41FA5}">
                      <a16:colId xmlns:a16="http://schemas.microsoft.com/office/drawing/2014/main" val="20001"/>
                    </a:ext>
                  </a:extLst>
                </a:gridCol>
                <a:gridCol w="242888">
                  <a:extLst>
                    <a:ext uri="{9D8B030D-6E8A-4147-A177-3AD203B41FA5}">
                      <a16:colId xmlns:a16="http://schemas.microsoft.com/office/drawing/2014/main" val="20002"/>
                    </a:ext>
                  </a:extLst>
                </a:gridCol>
                <a:gridCol w="1217612">
                  <a:extLst>
                    <a:ext uri="{9D8B030D-6E8A-4147-A177-3AD203B41FA5}">
                      <a16:colId xmlns:a16="http://schemas.microsoft.com/office/drawing/2014/main" val="20003"/>
                    </a:ext>
                  </a:extLst>
                </a:gridCol>
              </a:tblGrid>
              <a:tr h="146050">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1</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I/O</a:t>
                      </a: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模组</a:t>
                      </a: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1</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2</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I/O</a:t>
                      </a: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模组</a:t>
                      </a: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2</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179388">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3</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后置硬盘</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4</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just"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后置硬盘背板</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179388">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5</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电源模块</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6</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机箱</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179388">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7</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I/O</a:t>
                      </a: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模组</a:t>
                      </a: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3</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8</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超级电容</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179388">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9</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导风罩</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10</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just"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前置硬盘背板</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179388">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11</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风扇支架</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12</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风扇模块</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179388">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13</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前置硬盘</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14</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理线架</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179388">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15</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散热器</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16</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DIMM</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179388">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17</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RAID</a:t>
                      </a: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控制扣卡</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18</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主板</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146050">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19</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灵活</a:t>
                      </a: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I/O</a:t>
                      </a: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卡</a:t>
                      </a: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1</a:t>
                      </a: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a:t>
                      </a: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CPU 1</a:t>
                      </a: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20</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iBMC</a:t>
                      </a: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插卡</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r h="146050">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21</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灵活</a:t>
                      </a: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I/O</a:t>
                      </a: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卡</a:t>
                      </a: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2</a:t>
                      </a: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a:t>
                      </a: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CPU 2</a:t>
                      </a:r>
                      <a:r>
                        <a:rPr kumimoji="0" lang="zh-CN"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defRPr sz="2400">
                          <a:solidFill>
                            <a:schemeClr val="tx1"/>
                          </a:solidFill>
                          <a:latin typeface="Comic Sans MS" panose="030F0902030302020204" pitchFamily="66" charset="0"/>
                        </a:defRPr>
                      </a:lvl1pPr>
                      <a:lvl2pPr marL="742950" indent="-285750">
                        <a:spcBef>
                          <a:spcPct val="20000"/>
                        </a:spcBef>
                        <a:defRPr sz="2000">
                          <a:solidFill>
                            <a:schemeClr val="tx1"/>
                          </a:solidFill>
                          <a:latin typeface="Comic Sans MS" panose="030F0902030302020204" pitchFamily="66" charset="0"/>
                        </a:defRPr>
                      </a:lvl2pPr>
                      <a:lvl3pPr marL="1143000" indent="-228600">
                        <a:spcBef>
                          <a:spcPct val="20000"/>
                        </a:spcBef>
                        <a:defRPr>
                          <a:solidFill>
                            <a:schemeClr val="tx1"/>
                          </a:solidFill>
                          <a:latin typeface="Comic Sans MS" panose="030F0902030302020204" pitchFamily="66" charset="0"/>
                        </a:defRPr>
                      </a:lvl3pPr>
                      <a:lvl4pPr marL="1600200" indent="-228600">
                        <a:spcBef>
                          <a:spcPct val="20000"/>
                        </a:spcBef>
                        <a:defRPr>
                          <a:solidFill>
                            <a:schemeClr val="tx1"/>
                          </a:solidFill>
                          <a:latin typeface="Comic Sans MS" panose="030F0902030302020204" pitchFamily="66" charset="0"/>
                        </a:defRPr>
                      </a:lvl4pPr>
                      <a:lvl5pPr marL="2057400" indent="-228600">
                        <a:spcBef>
                          <a:spcPct val="20000"/>
                        </a:spcBef>
                        <a:defRPr>
                          <a:solidFill>
                            <a:schemeClr val="tx1"/>
                          </a:solidFill>
                          <a:latin typeface="Comic Sans MS" panose="030F0902030302020204" pitchFamily="66" charset="0"/>
                        </a:defRPr>
                      </a:lvl5pPr>
                      <a:lvl6pPr marL="2514600" indent="-228600" eaLnBrk="0" fontAlgn="base" hangingPunct="0">
                        <a:spcBef>
                          <a:spcPct val="20000"/>
                        </a:spcBef>
                        <a:spcAft>
                          <a:spcPct val="0"/>
                        </a:spcAft>
                        <a:defRPr>
                          <a:solidFill>
                            <a:schemeClr val="tx1"/>
                          </a:solidFill>
                          <a:latin typeface="Comic Sans MS" panose="030F0902030302020204" pitchFamily="66" charset="0"/>
                        </a:defRPr>
                      </a:lvl6pPr>
                      <a:lvl7pPr marL="2971800" indent="-228600" eaLnBrk="0" fontAlgn="base" hangingPunct="0">
                        <a:spcBef>
                          <a:spcPct val="20000"/>
                        </a:spcBef>
                        <a:spcAft>
                          <a:spcPct val="0"/>
                        </a:spcAft>
                        <a:defRPr>
                          <a:solidFill>
                            <a:schemeClr val="tx1"/>
                          </a:solidFill>
                          <a:latin typeface="Comic Sans MS" panose="030F0902030302020204" pitchFamily="66" charset="0"/>
                        </a:defRPr>
                      </a:lvl7pPr>
                      <a:lvl8pPr marL="3429000" indent="-228600" eaLnBrk="0" fontAlgn="base" hangingPunct="0">
                        <a:spcBef>
                          <a:spcPct val="20000"/>
                        </a:spcBef>
                        <a:spcAft>
                          <a:spcPct val="0"/>
                        </a:spcAft>
                        <a:defRPr>
                          <a:solidFill>
                            <a:schemeClr val="tx1"/>
                          </a:solidFill>
                          <a:latin typeface="Comic Sans MS" panose="030F0902030302020204" pitchFamily="66" charset="0"/>
                        </a:defRPr>
                      </a:lvl8pPr>
                      <a:lvl9pPr marL="3886200" indent="-228600" eaLnBrk="0" fontAlgn="base" hangingPunct="0">
                        <a:spcBef>
                          <a:spcPct val="20000"/>
                        </a:spcBef>
                        <a:spcAft>
                          <a:spcPct val="0"/>
                        </a:spcAft>
                        <a:defRPr>
                          <a:solidFill>
                            <a:schemeClr val="tx1"/>
                          </a:solidFill>
                          <a:latin typeface="Comic Sans MS" panose="030F0902030302020204" pitchFamily="66" charset="0"/>
                        </a:defRPr>
                      </a:lvl9pPr>
                    </a:lstStyle>
                    <a:p>
                      <a:pPr marL="0" marR="0" lvl="0" indent="0" algn="l" defTabSz="914400" rtl="0" eaLnBrk="1" fontAlgn="base" latinLnBrk="0" hangingPunct="1">
                        <a:lnSpc>
                          <a:spcPct val="107000"/>
                        </a:lnSpc>
                        <a:spcBef>
                          <a:spcPct val="0"/>
                        </a:spcBef>
                        <a:spcAft>
                          <a:spcPct val="0"/>
                        </a:spcAft>
                        <a:buClrTx/>
                        <a:buSzTx/>
                        <a:buFontTx/>
                        <a:buNone/>
                        <a:tabLst/>
                      </a:pPr>
                      <a:r>
                        <a:rPr kumimoji="0" lang="en-US" altLang="zh-CN" sz="900" b="0" i="0" u="none" strike="noStrike" cap="none" normalizeH="0" baseline="0">
                          <a:ln>
                            <a:noFill/>
                          </a:ln>
                          <a:solidFill>
                            <a:srgbClr val="000000"/>
                          </a:solidFill>
                          <a:effectLst/>
                          <a:latin typeface="Comic Sans MS" panose="030F0902030302020204" pitchFamily="66" charset="0"/>
                          <a:ea typeface="Microsoft YaHei" panose="020B0503020204020204" pitchFamily="34" charset="-122"/>
                        </a:rPr>
                        <a:t>-</a:t>
                      </a:r>
                      <a:endParaRPr kumimoji="0" lang="zh-CN" altLang="zh-CN" sz="900" b="0" i="0" u="none" strike="noStrike" cap="none" normalizeH="0" baseline="0">
                        <a:ln>
                          <a:noFill/>
                        </a:ln>
                        <a:solidFill>
                          <a:srgbClr val="000000"/>
                        </a:solidFill>
                        <a:effectLst/>
                        <a:latin typeface="Comic Sans MS" panose="030F0902030302020204" pitchFamily="66" charset="0"/>
                        <a:ea typeface="Times New Roman" panose="02020603050405020304" pitchFamily="18" charset="0"/>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10"/>
                  </a:ext>
                </a:extLst>
              </a:tr>
            </a:tbl>
          </a:graphicData>
        </a:graphic>
      </p:graphicFrame>
      <p:pic>
        <p:nvPicPr>
          <p:cNvPr id="87087" name="Picture 4974">
            <a:extLst>
              <a:ext uri="{FF2B5EF4-FFF2-40B4-BE49-F238E27FC236}">
                <a16:creationId xmlns:a16="http://schemas.microsoft.com/office/drawing/2014/main" id="{C648CCF9-47C5-C35A-12B3-9AECDAB5D1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663" y="1762125"/>
            <a:ext cx="4818062" cy="374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C1A4B8E8-140B-A4BE-2541-F80EDB036506}"/>
              </a:ext>
            </a:extLst>
          </p:cNvPr>
          <p:cNvSpPr/>
          <p:nvPr/>
        </p:nvSpPr>
        <p:spPr>
          <a:xfrm>
            <a:off x="4906963" y="2176463"/>
            <a:ext cx="3408362" cy="368300"/>
          </a:xfrm>
          <a:prstGeom prst="rect">
            <a:avLst/>
          </a:prstGeom>
        </p:spPr>
        <p:txBody>
          <a:bodyPr wrap="none">
            <a:spAutoFit/>
          </a:bodyPr>
          <a:lstStyle/>
          <a:p>
            <a:pPr>
              <a:defRPr/>
            </a:pPr>
            <a:r>
              <a:rPr lang="en-US" altLang="zh-CN" sz="1800" dirty="0">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rPr>
              <a:t>TaiShan 200</a:t>
            </a:r>
            <a:r>
              <a:rPr lang="zh-CN" altLang="en-US" sz="1800" dirty="0">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rPr>
              <a:t>服务器（型号</a:t>
            </a:r>
            <a:r>
              <a:rPr lang="en-US" altLang="zh-CN" sz="1800" dirty="0">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rPr>
              <a:t>5280</a:t>
            </a:r>
            <a:r>
              <a:rPr lang="zh-CN" altLang="en-US" sz="1800" dirty="0">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rPr>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a:extLst>
              <a:ext uri="{FF2B5EF4-FFF2-40B4-BE49-F238E27FC236}">
                <a16:creationId xmlns:a16="http://schemas.microsoft.com/office/drawing/2014/main" id="{FAEED52A-82EF-4BF4-66E3-6173F9644D36}"/>
              </a:ext>
            </a:extLst>
          </p:cNvPr>
          <p:cNvSpPr/>
          <p:nvPr/>
        </p:nvSpPr>
        <p:spPr>
          <a:xfrm>
            <a:off x="549275" y="1784350"/>
            <a:ext cx="4108450" cy="3554413"/>
          </a:xfrm>
          <a:prstGeom prst="roundRect">
            <a:avLst>
              <a:gd name="adj" fmla="val 3274"/>
            </a:avLst>
          </a:prstGeom>
          <a:solidFill>
            <a:schemeClr val="bg1">
              <a:lumMod val="85000"/>
            </a:schemeClr>
          </a:solidFill>
          <a:effectLst>
            <a:outerShdw blurRad="50800" dist="38100" dir="2700000" algn="tl"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anchor="ctr"/>
          <a:lstStyle/>
          <a:p>
            <a:pPr algn="ctr">
              <a:defRPr/>
            </a:pPr>
            <a:endParaRPr lang="zh-CN" altLang="en-US" sz="1500"/>
          </a:p>
        </p:txBody>
      </p:sp>
      <p:sp>
        <p:nvSpPr>
          <p:cNvPr id="89090" name="标题 1">
            <a:extLst>
              <a:ext uri="{FF2B5EF4-FFF2-40B4-BE49-F238E27FC236}">
                <a16:creationId xmlns:a16="http://schemas.microsoft.com/office/drawing/2014/main" id="{664F619F-6FAF-A759-2D22-8519E2092796}"/>
              </a:ext>
            </a:extLst>
          </p:cNvPr>
          <p:cNvSpPr>
            <a:spLocks noGrp="1" noChangeArrowheads="1"/>
          </p:cNvSpPr>
          <p:nvPr>
            <p:ph type="title"/>
          </p:nvPr>
        </p:nvSpPr>
        <p:spPr>
          <a:xfrm>
            <a:off x="549275" y="447675"/>
            <a:ext cx="8045450" cy="485775"/>
          </a:xfrm>
        </p:spPr>
        <p:txBody>
          <a:bodyPr/>
          <a:lstStyle/>
          <a:p>
            <a:r>
              <a:rPr lang="en-US" altLang="zh-CN">
                <a:latin typeface="Huawei Sans"/>
                <a:ea typeface="方正兰亭黑简体"/>
                <a:cs typeface="方正兰亭黑简体"/>
              </a:rPr>
              <a:t>TaiShan</a:t>
            </a:r>
            <a:r>
              <a:rPr>
                <a:latin typeface="Huawei Sans"/>
                <a:ea typeface="方正兰亭黑简体"/>
                <a:cs typeface="方正兰亭黑简体"/>
              </a:rPr>
              <a:t>服务器逻辑结构</a:t>
            </a:r>
          </a:p>
        </p:txBody>
      </p:sp>
      <p:sp>
        <p:nvSpPr>
          <p:cNvPr id="5" name="矩形 4">
            <a:extLst>
              <a:ext uri="{FF2B5EF4-FFF2-40B4-BE49-F238E27FC236}">
                <a16:creationId xmlns:a16="http://schemas.microsoft.com/office/drawing/2014/main" id="{81C87A83-CD2E-D5E0-5EC1-620DA665E308}"/>
              </a:ext>
            </a:extLst>
          </p:cNvPr>
          <p:cNvSpPr/>
          <p:nvPr/>
        </p:nvSpPr>
        <p:spPr>
          <a:xfrm>
            <a:off x="549275" y="1965325"/>
            <a:ext cx="4067175" cy="3313113"/>
          </a:xfrm>
          <a:prstGeom prst="rect">
            <a:avLst/>
          </a:prstGeom>
        </p:spPr>
        <p:txBody>
          <a:bodyPr>
            <a:spAutoFit/>
          </a:bodyPr>
          <a:lstStyle/>
          <a:p>
            <a:pPr marL="135000" indent="-135000">
              <a:lnSpc>
                <a:spcPts val="2250"/>
              </a:lnSpc>
              <a:buClr>
                <a:srgbClr val="000000"/>
              </a:buClr>
              <a:buSzPct val="55000"/>
              <a:buFont typeface="Wingdings" panose="05000000000000000000" pitchFamily="2" charset="2"/>
              <a:buChar char="l"/>
              <a:defRPr/>
            </a:pP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支持两路华为自研鲲鹏</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920 7260</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5250</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5240</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或</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5230</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处理器，每个处理器支持</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16</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个</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DDR4 DIMM</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a:t>
            </a:r>
          </a:p>
          <a:p>
            <a:pPr marL="135000" indent="-135000">
              <a:lnSpc>
                <a:spcPts val="2250"/>
              </a:lnSpc>
              <a:buClr>
                <a:srgbClr val="000000"/>
              </a:buClr>
              <a:buSzPct val="55000"/>
              <a:buFont typeface="Wingdings" panose="05000000000000000000" pitchFamily="2" charset="2"/>
              <a:buChar char="l"/>
              <a:defRPr/>
            </a:pP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以太网灵活插卡可支持</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2</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种插卡，包括</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4*GE</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和</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4*25GE</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，通过</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CPU</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本身自带高速</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Serdes</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接口连接通信介质。</a:t>
            </a:r>
          </a:p>
          <a:p>
            <a:pPr marL="135000" indent="-135000">
              <a:lnSpc>
                <a:spcPts val="2250"/>
              </a:lnSpc>
              <a:buClr>
                <a:srgbClr val="000000"/>
              </a:buClr>
              <a:buSzPct val="55000"/>
              <a:buFont typeface="Wingdings" panose="05000000000000000000" pitchFamily="2" charset="2"/>
              <a:buChar char="l"/>
              <a:defRPr/>
            </a:pP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RAID</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卡通过</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PCI-e</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总线跟</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CPU1</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连接，</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RAID</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卡引出的</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SAS</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信号线缆跟硬盘背板连接，通过不同的硬盘背板可支持多种本地存储规格。</a:t>
            </a:r>
            <a:endPar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endParaRPr>
          </a:p>
          <a:p>
            <a:pPr marL="135000" indent="-135000">
              <a:lnSpc>
                <a:spcPts val="2250"/>
              </a:lnSpc>
              <a:buClr>
                <a:srgbClr val="000000"/>
              </a:buClr>
              <a:buSzPct val="55000"/>
              <a:buFont typeface="Wingdings" panose="05000000000000000000" pitchFamily="2" charset="2"/>
              <a:buChar char="l"/>
              <a:defRPr/>
            </a:pP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BMC</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使用华为自研管理芯片</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Hi1710</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，可外出</a:t>
            </a:r>
            <a:r>
              <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VGA</a:t>
            </a:r>
            <a:r>
              <a:rPr lang="zh-CN" altLang="en-US"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rPr>
              <a:t>、管理网口、调试串口等管理接口。</a:t>
            </a:r>
            <a:endParaRPr lang="en-US" altLang="zh-CN" sz="1500" kern="100" dirty="0">
              <a:solidFill>
                <a:srgbClr val="000000"/>
              </a:solidFill>
              <a:uFill>
                <a:solidFill>
                  <a:srgbClr val="000000"/>
                </a:solidFill>
              </a:uFill>
              <a:latin typeface="Huawei Sans" panose="020C0503030203020204" pitchFamily="34" charset="0"/>
              <a:ea typeface="方正兰亭黑简体" panose="02000000000000000000" pitchFamily="2" charset="-122"/>
              <a:cs typeface="Microsoft YaHei" panose="020B0503020204020204" pitchFamily="34" charset="-122"/>
            </a:endParaRPr>
          </a:p>
        </p:txBody>
      </p:sp>
      <p:pic>
        <p:nvPicPr>
          <p:cNvPr id="89092" name="Picture 723">
            <a:extLst>
              <a:ext uri="{FF2B5EF4-FFF2-40B4-BE49-F238E27FC236}">
                <a16:creationId xmlns:a16="http://schemas.microsoft.com/office/drawing/2014/main" id="{2B674F60-1EFE-22B7-CA1F-ED38D9EFA2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9838" y="1646238"/>
            <a:ext cx="2900362" cy="386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灯片编号占位符 5">
            <a:extLst>
              <a:ext uri="{FF2B5EF4-FFF2-40B4-BE49-F238E27FC236}">
                <a16:creationId xmlns:a16="http://schemas.microsoft.com/office/drawing/2014/main" id="{D7BB12A7-D791-B198-6F1B-5B3BEB4BDD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99C7776B-0830-674B-83D5-961B653F1B99}" type="slidenum">
              <a:rPr lang="zh-CN" altLang="en-US" sz="1400" smtClean="0">
                <a:latin typeface="Times New Roman" panose="02020603050405020304" pitchFamily="18" charset="0"/>
              </a:rPr>
              <a:pPr>
                <a:spcBef>
                  <a:spcPct val="0"/>
                </a:spcBef>
                <a:buFontTx/>
                <a:buNone/>
              </a:pPr>
              <a:t>54</a:t>
            </a:fld>
            <a:endParaRPr lang="en-US" altLang="zh-CN" sz="1400">
              <a:latin typeface="Times New Roman" panose="02020603050405020304" pitchFamily="18" charset="0"/>
            </a:endParaRPr>
          </a:p>
        </p:txBody>
      </p:sp>
      <p:sp>
        <p:nvSpPr>
          <p:cNvPr id="91138" name="Rectangle 2">
            <a:extLst>
              <a:ext uri="{FF2B5EF4-FFF2-40B4-BE49-F238E27FC236}">
                <a16:creationId xmlns:a16="http://schemas.microsoft.com/office/drawing/2014/main" id="{0E406E6E-B84A-EFBA-1E52-1BFFABE97370}"/>
              </a:ext>
            </a:extLst>
          </p:cNvPr>
          <p:cNvSpPr>
            <a:spLocks noGrp="1" noChangeArrowheads="1"/>
          </p:cNvSpPr>
          <p:nvPr>
            <p:ph type="title"/>
          </p:nvPr>
        </p:nvSpPr>
        <p:spPr/>
        <p:txBody>
          <a:bodyPr/>
          <a:lstStyle/>
          <a:p>
            <a:r>
              <a:rPr lang="en-US" altLang="zh-CN">
                <a:ea typeface="宋体" panose="02010600030101010101" pitchFamily="2" charset="-122"/>
              </a:rPr>
              <a:t>Outline</a:t>
            </a:r>
          </a:p>
        </p:txBody>
      </p:sp>
      <p:sp>
        <p:nvSpPr>
          <p:cNvPr id="91139" name="Rectangle 3">
            <a:extLst>
              <a:ext uri="{FF2B5EF4-FFF2-40B4-BE49-F238E27FC236}">
                <a16:creationId xmlns:a16="http://schemas.microsoft.com/office/drawing/2014/main" id="{7D5B51F2-4658-B12E-A1FD-6F1342A2333D}"/>
              </a:ext>
            </a:extLst>
          </p:cNvPr>
          <p:cNvSpPr>
            <a:spLocks noGrp="1" noChangeArrowheads="1"/>
          </p:cNvSpPr>
          <p:nvPr>
            <p:ph type="body" idx="1"/>
          </p:nvPr>
        </p:nvSpPr>
        <p:spPr/>
        <p:txBody>
          <a:bodyPr/>
          <a:lstStyle/>
          <a:p>
            <a:r>
              <a:rPr lang="en-US" altLang="zh-CN">
                <a:ea typeface="宋体" panose="02010600030101010101" pitchFamily="2" charset="-122"/>
              </a:rPr>
              <a:t>CPU</a:t>
            </a:r>
            <a:r>
              <a:rPr lang="zh-CN" altLang="en-US">
                <a:ea typeface="宋体" panose="02010600030101010101" pitchFamily="2" charset="-122"/>
              </a:rPr>
              <a:t>发展</a:t>
            </a:r>
            <a:endParaRPr lang="en-US" altLang="zh-CN">
              <a:ea typeface="宋体" panose="02010600030101010101" pitchFamily="2" charset="-122"/>
            </a:endParaRPr>
          </a:p>
          <a:p>
            <a:r>
              <a:rPr kumimoji="1" lang="zh-CN" altLang="en-US">
                <a:ea typeface="宋体" panose="02010600030101010101" pitchFamily="2" charset="-122"/>
              </a:rPr>
              <a:t>自下而上：构建计算机体系</a:t>
            </a:r>
            <a:endParaRPr lang="en-US" altLang="zh-CN">
              <a:ea typeface="宋体" panose="02010600030101010101" pitchFamily="2" charset="-122"/>
            </a:endParaRPr>
          </a:p>
          <a:p>
            <a:r>
              <a:rPr lang="en-US" altLang="zh-CN">
                <a:ea typeface="宋体" panose="02010600030101010101" pitchFamily="2" charset="-122"/>
              </a:rPr>
              <a:t>CPU Architecture</a:t>
            </a:r>
          </a:p>
          <a:p>
            <a:r>
              <a:rPr lang="en-US" altLang="zh-CN" b="1">
                <a:solidFill>
                  <a:srgbClr val="C00000"/>
                </a:solidFill>
                <a:ea typeface="宋体" panose="02010600030101010101" pitchFamily="2" charset="-122"/>
              </a:rPr>
              <a:t>Memory and Registers</a:t>
            </a:r>
          </a:p>
          <a:p>
            <a:r>
              <a:rPr lang="zh-CN" altLang="en-US">
                <a:ea typeface="宋体" panose="02010600030101010101" pitchFamily="2" charset="-122"/>
              </a:rPr>
              <a:t>处理器架构实例：华为鲲鹏处理器</a:t>
            </a:r>
            <a:endParaRPr lang="en-US" altLang="zh-CN">
              <a:ea typeface="宋体" panose="02010600030101010101" pitchFamily="2" charset="-122"/>
            </a:endParaRPr>
          </a:p>
          <a:p>
            <a:pPr>
              <a:buFontTx/>
              <a:buNone/>
            </a:pPr>
            <a:endParaRPr lang="en-US" altLang="zh-CN">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
            <a:extLst>
              <a:ext uri="{FF2B5EF4-FFF2-40B4-BE49-F238E27FC236}">
                <a16:creationId xmlns:a16="http://schemas.microsoft.com/office/drawing/2014/main" id="{FA4853AE-AA11-94E0-159D-6F4D8977143E}"/>
              </a:ext>
            </a:extLst>
          </p:cNvPr>
          <p:cNvSpPr>
            <a:spLocks noGrp="1" noChangeArrowheads="1"/>
          </p:cNvSpPr>
          <p:nvPr>
            <p:ph type="title"/>
          </p:nvPr>
        </p:nvSpPr>
        <p:spPr/>
        <p:txBody>
          <a:bodyPr/>
          <a:lstStyle/>
          <a:p>
            <a:r>
              <a:rPr kumimoji="1" lang="en-US" altLang="zh-CN">
                <a:ea typeface="宋体" panose="02010600030101010101" pitchFamily="2" charset="-122"/>
              </a:rPr>
              <a:t>Register</a:t>
            </a:r>
            <a:endParaRPr kumimoji="1" lang="zh-CN" altLang="en-US">
              <a:ea typeface="宋体" panose="02010600030101010101" pitchFamily="2" charset="-122"/>
            </a:endParaRPr>
          </a:p>
        </p:txBody>
      </p:sp>
      <p:sp>
        <p:nvSpPr>
          <p:cNvPr id="93186" name="内容占位符 2">
            <a:extLst>
              <a:ext uri="{FF2B5EF4-FFF2-40B4-BE49-F238E27FC236}">
                <a16:creationId xmlns:a16="http://schemas.microsoft.com/office/drawing/2014/main" id="{31387E5B-EF16-6B9D-F120-5DF87F7668E2}"/>
              </a:ext>
            </a:extLst>
          </p:cNvPr>
          <p:cNvSpPr>
            <a:spLocks noGrp="1" noChangeArrowheads="1"/>
          </p:cNvSpPr>
          <p:nvPr>
            <p:ph idx="1"/>
          </p:nvPr>
        </p:nvSpPr>
        <p:spPr/>
        <p:txBody>
          <a:bodyPr/>
          <a:lstStyle/>
          <a:p>
            <a:r>
              <a:rPr kumimoji="1" lang="en-US" altLang="zh-CN">
                <a:ea typeface="宋体" panose="02010600030101010101" pitchFamily="2" charset="-122"/>
              </a:rPr>
              <a:t>80386</a:t>
            </a:r>
            <a:r>
              <a:rPr kumimoji="1" lang="zh-CN" altLang="en-US">
                <a:ea typeface="宋体" panose="02010600030101010101" pitchFamily="2" charset="-122"/>
              </a:rPr>
              <a:t>的寄存器</a:t>
            </a:r>
          </a:p>
        </p:txBody>
      </p:sp>
      <p:sp>
        <p:nvSpPr>
          <p:cNvPr id="93187" name="幻灯片编号占位符 3">
            <a:extLst>
              <a:ext uri="{FF2B5EF4-FFF2-40B4-BE49-F238E27FC236}">
                <a16:creationId xmlns:a16="http://schemas.microsoft.com/office/drawing/2014/main" id="{2289C5E5-38EC-A741-96A0-451827B75D5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43A48882-5788-3E41-BE61-CEDBE682F4CA}" type="slidenum">
              <a:rPr lang="zh-CN" altLang="en-US" sz="1400" smtClean="0">
                <a:latin typeface="Times New Roman" panose="02020603050405020304" pitchFamily="18" charset="0"/>
              </a:rPr>
              <a:pPr>
                <a:spcBef>
                  <a:spcPct val="0"/>
                </a:spcBef>
                <a:buFontTx/>
                <a:buNone/>
              </a:pPr>
              <a:t>55</a:t>
            </a:fld>
            <a:endParaRPr lang="en-US" altLang="zh-CN" sz="1400">
              <a:latin typeface="Times New Roman" panose="02020603050405020304" pitchFamily="18" charset="0"/>
            </a:endParaRPr>
          </a:p>
        </p:txBody>
      </p:sp>
      <p:pic>
        <p:nvPicPr>
          <p:cNvPr id="93188" name="Picture 5" descr="01">
            <a:extLst>
              <a:ext uri="{FF2B5EF4-FFF2-40B4-BE49-F238E27FC236}">
                <a16:creationId xmlns:a16="http://schemas.microsoft.com/office/drawing/2014/main" id="{E2373363-EA9C-1048-EC8A-BAC525B7B1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133600"/>
            <a:ext cx="6207125" cy="457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a:extLst>
              <a:ext uri="{FF2B5EF4-FFF2-40B4-BE49-F238E27FC236}">
                <a16:creationId xmlns:a16="http://schemas.microsoft.com/office/drawing/2014/main" id="{E55B0B51-8E26-CCF6-3577-44B6BB668865}"/>
              </a:ext>
            </a:extLst>
          </p:cNvPr>
          <p:cNvSpPr>
            <a:spLocks noGrp="1" noChangeArrowheads="1"/>
          </p:cNvSpPr>
          <p:nvPr>
            <p:ph type="title"/>
          </p:nvPr>
        </p:nvSpPr>
        <p:spPr/>
        <p:txBody>
          <a:bodyPr/>
          <a:lstStyle/>
          <a:p>
            <a:r>
              <a:rPr kumimoji="1" lang="en-US" altLang="zh-CN" dirty="0">
                <a:ea typeface="宋体" panose="02010600030101010101" pitchFamily="2" charset="-122"/>
              </a:rPr>
              <a:t>Register</a:t>
            </a:r>
            <a:r>
              <a:rPr kumimoji="1" lang="zh-CN" altLang="en-US" dirty="0">
                <a:ea typeface="宋体" panose="02010600030101010101" pitchFamily="2" charset="-122"/>
              </a:rPr>
              <a:t> </a:t>
            </a:r>
            <a:r>
              <a:rPr kumimoji="1" lang="en-US" altLang="zh-CN" dirty="0">
                <a:ea typeface="宋体" panose="02010600030101010101" pitchFamily="2" charset="-122"/>
              </a:rPr>
              <a:t>e</a:t>
            </a:r>
            <a:r>
              <a:rPr kumimoji="1" lang="zh-CN" altLang="en-US" dirty="0">
                <a:ea typeface="宋体" panose="02010600030101010101" pitchFamily="2" charset="-122"/>
              </a:rPr>
              <a:t>代表</a:t>
            </a:r>
            <a:r>
              <a:rPr kumimoji="1" lang="en-US" altLang="zh-CN" dirty="0">
                <a:ea typeface="宋体" panose="02010600030101010101" pitchFamily="2" charset="-122"/>
              </a:rPr>
              <a:t>extended</a:t>
            </a:r>
            <a:r>
              <a:rPr kumimoji="1" lang="zh-CN" altLang="en-US" dirty="0">
                <a:ea typeface="宋体" panose="02010600030101010101" pitchFamily="2" charset="-122"/>
              </a:rPr>
              <a:t>，拓展</a:t>
            </a:r>
            <a:r>
              <a:rPr kumimoji="1" lang="en-US" altLang="zh-CN" dirty="0">
                <a:ea typeface="宋体" panose="02010600030101010101" pitchFamily="2" charset="-122"/>
              </a:rPr>
              <a:t>16</a:t>
            </a:r>
            <a:r>
              <a:rPr kumimoji="1" lang="zh-CN" altLang="en-US" dirty="0">
                <a:ea typeface="宋体" panose="02010600030101010101" pitchFamily="2" charset="-122"/>
              </a:rPr>
              <a:t>位</a:t>
            </a:r>
          </a:p>
        </p:txBody>
      </p:sp>
      <p:sp>
        <p:nvSpPr>
          <p:cNvPr id="94210" name="内容占位符 2">
            <a:extLst>
              <a:ext uri="{FF2B5EF4-FFF2-40B4-BE49-F238E27FC236}">
                <a16:creationId xmlns:a16="http://schemas.microsoft.com/office/drawing/2014/main" id="{1562D8C3-B083-5387-334C-4435C777C65F}"/>
              </a:ext>
            </a:extLst>
          </p:cNvPr>
          <p:cNvSpPr>
            <a:spLocks noGrp="1" noChangeArrowheads="1"/>
          </p:cNvSpPr>
          <p:nvPr>
            <p:ph idx="1"/>
          </p:nvPr>
        </p:nvSpPr>
        <p:spPr>
          <a:xfrm>
            <a:off x="457200" y="1600200"/>
            <a:ext cx="8305800" cy="609600"/>
          </a:xfrm>
        </p:spPr>
        <p:txBody>
          <a:bodyPr/>
          <a:lstStyle/>
          <a:p>
            <a:pPr eaLnBrk="1" hangingPunct="1">
              <a:lnSpc>
                <a:spcPct val="90000"/>
              </a:lnSpc>
            </a:pPr>
            <a:r>
              <a:rPr lang="en-US" altLang="zh-CN" dirty="0">
                <a:ea typeface="宋体" panose="02010600030101010101" pitchFamily="2" charset="-122"/>
              </a:rPr>
              <a:t>EAX</a:t>
            </a:r>
            <a:r>
              <a:rPr lang="zh-CN" altLang="en-US" dirty="0">
                <a:ea typeface="宋体" panose="02010600030101010101" pitchFamily="2" charset="-122"/>
              </a:rPr>
              <a:t>、</a:t>
            </a:r>
            <a:r>
              <a:rPr lang="en-US" altLang="zh-CN" dirty="0">
                <a:ea typeface="宋体" panose="02010600030101010101" pitchFamily="2" charset="-122"/>
              </a:rPr>
              <a:t>EBX</a:t>
            </a:r>
            <a:r>
              <a:rPr lang="zh-CN" altLang="en-US" dirty="0">
                <a:ea typeface="宋体" panose="02010600030101010101" pitchFamily="2" charset="-122"/>
              </a:rPr>
              <a:t>、</a:t>
            </a:r>
            <a:r>
              <a:rPr lang="en-US" altLang="zh-CN" dirty="0">
                <a:ea typeface="宋体" panose="02010600030101010101" pitchFamily="2" charset="-122"/>
              </a:rPr>
              <a:t>ECX</a:t>
            </a:r>
            <a:r>
              <a:rPr lang="zh-CN" altLang="en-US" dirty="0">
                <a:ea typeface="宋体" panose="02010600030101010101" pitchFamily="2" charset="-122"/>
              </a:rPr>
              <a:t>、</a:t>
            </a:r>
            <a:r>
              <a:rPr lang="en-US" altLang="zh-CN" dirty="0">
                <a:ea typeface="宋体" panose="02010600030101010101" pitchFamily="2" charset="-122"/>
              </a:rPr>
              <a:t>EDX</a:t>
            </a:r>
          </a:p>
          <a:p>
            <a:pPr eaLnBrk="1" hangingPunct="1">
              <a:lnSpc>
                <a:spcPct val="90000"/>
              </a:lnSpc>
            </a:pPr>
            <a:endParaRPr lang="en-US" altLang="zh-CN" dirty="0">
              <a:ea typeface="宋体" panose="02010600030101010101" pitchFamily="2" charset="-122"/>
            </a:endParaRPr>
          </a:p>
          <a:p>
            <a:pPr eaLnBrk="1" hangingPunct="1">
              <a:lnSpc>
                <a:spcPct val="90000"/>
              </a:lnSpc>
            </a:pPr>
            <a:endParaRPr lang="en-US" altLang="zh-CN" dirty="0">
              <a:ea typeface="宋体" panose="02010600030101010101" pitchFamily="2" charset="-122"/>
            </a:endParaRPr>
          </a:p>
          <a:p>
            <a:pPr eaLnBrk="1" hangingPunct="1">
              <a:lnSpc>
                <a:spcPct val="90000"/>
              </a:lnSpc>
            </a:pPr>
            <a:endParaRPr lang="en-US" altLang="zh-CN" dirty="0">
              <a:ea typeface="宋体" panose="02010600030101010101" pitchFamily="2" charset="-122"/>
            </a:endParaRPr>
          </a:p>
          <a:p>
            <a:pPr eaLnBrk="1" hangingPunct="1">
              <a:lnSpc>
                <a:spcPct val="90000"/>
              </a:lnSpc>
            </a:pPr>
            <a:endParaRPr lang="en-US" altLang="zh-CN" dirty="0">
              <a:ea typeface="宋体" panose="02010600030101010101" pitchFamily="2" charset="-122"/>
            </a:endParaRPr>
          </a:p>
          <a:p>
            <a:pPr eaLnBrk="1" hangingPunct="1">
              <a:lnSpc>
                <a:spcPct val="90000"/>
              </a:lnSpc>
              <a:buFont typeface="Wingdings" pitchFamily="2" charset="2"/>
              <a:buNone/>
            </a:pPr>
            <a:r>
              <a:rPr lang="en-US" altLang="zh-CN" dirty="0">
                <a:ea typeface="宋体" panose="02010600030101010101" pitchFamily="2" charset="-122"/>
              </a:rPr>
              <a:t>     </a:t>
            </a:r>
          </a:p>
          <a:p>
            <a:pPr eaLnBrk="1" hangingPunct="1">
              <a:lnSpc>
                <a:spcPct val="90000"/>
              </a:lnSpc>
              <a:buFont typeface="Wingdings" pitchFamily="2" charset="2"/>
              <a:buNone/>
            </a:pPr>
            <a:r>
              <a:rPr lang="en-US" altLang="zh-CN" dirty="0">
                <a:ea typeface="宋体" panose="02010600030101010101" pitchFamily="2" charset="-122"/>
              </a:rPr>
              <a:t> </a:t>
            </a:r>
          </a:p>
        </p:txBody>
      </p:sp>
      <p:sp>
        <p:nvSpPr>
          <p:cNvPr id="94211" name="幻灯片编号占位符 3">
            <a:extLst>
              <a:ext uri="{FF2B5EF4-FFF2-40B4-BE49-F238E27FC236}">
                <a16:creationId xmlns:a16="http://schemas.microsoft.com/office/drawing/2014/main" id="{2F7EDA3F-744F-2135-AEF7-FFF225BEC7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DE9AD122-8D06-404E-A12A-621CF98E6F8E}" type="slidenum">
              <a:rPr lang="zh-CN" altLang="en-US" sz="1400" smtClean="0">
                <a:latin typeface="Times New Roman" panose="02020603050405020304" pitchFamily="18" charset="0"/>
              </a:rPr>
              <a:pPr>
                <a:spcBef>
                  <a:spcPct val="0"/>
                </a:spcBef>
                <a:buFontTx/>
                <a:buNone/>
              </a:pPr>
              <a:t>56</a:t>
            </a:fld>
            <a:endParaRPr lang="en-US" altLang="zh-CN" sz="1400">
              <a:latin typeface="Times New Roman" panose="02020603050405020304" pitchFamily="18" charset="0"/>
            </a:endParaRPr>
          </a:p>
        </p:txBody>
      </p:sp>
      <p:pic>
        <p:nvPicPr>
          <p:cNvPr id="94212" name="Picture 5" descr="fig2-2">
            <a:extLst>
              <a:ext uri="{FF2B5EF4-FFF2-40B4-BE49-F238E27FC236}">
                <a16:creationId xmlns:a16="http://schemas.microsoft.com/office/drawing/2014/main" id="{7CA5E5B0-A303-A5E1-83DE-9140450DEB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133600"/>
            <a:ext cx="5834063" cy="122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4213" name="Group 10">
            <a:extLst>
              <a:ext uri="{FF2B5EF4-FFF2-40B4-BE49-F238E27FC236}">
                <a16:creationId xmlns:a16="http://schemas.microsoft.com/office/drawing/2014/main" id="{1AA8076F-A447-436D-11DC-480834D93103}"/>
              </a:ext>
            </a:extLst>
          </p:cNvPr>
          <p:cNvGrpSpPr>
            <a:grpSpLocks/>
          </p:cNvGrpSpPr>
          <p:nvPr/>
        </p:nvGrpSpPr>
        <p:grpSpPr bwMode="auto">
          <a:xfrm>
            <a:off x="3003550" y="3502025"/>
            <a:ext cx="2232025" cy="431800"/>
            <a:chOff x="2789" y="2432"/>
            <a:chExt cx="1406" cy="363"/>
          </a:xfrm>
        </p:grpSpPr>
        <p:sp>
          <p:nvSpPr>
            <p:cNvPr id="94233" name="Rectangle 6">
              <a:extLst>
                <a:ext uri="{FF2B5EF4-FFF2-40B4-BE49-F238E27FC236}">
                  <a16:creationId xmlns:a16="http://schemas.microsoft.com/office/drawing/2014/main" id="{53D119D7-BD1C-B48F-6C8F-3617F9EA594B}"/>
                </a:ext>
              </a:extLst>
            </p:cNvPr>
            <p:cNvSpPr>
              <a:spLocks noChangeArrowheads="1"/>
            </p:cNvSpPr>
            <p:nvPr/>
          </p:nvSpPr>
          <p:spPr bwMode="auto">
            <a:xfrm>
              <a:off x="2789" y="2432"/>
              <a:ext cx="1406" cy="3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hangingPunct="1">
                <a:spcBef>
                  <a:spcPct val="0"/>
                </a:spcBef>
                <a:buFontTx/>
                <a:buNone/>
              </a:pPr>
              <a:r>
                <a:rPr lang="en-US" altLang="zh-CN" sz="1800">
                  <a:latin typeface="Tahoma" panose="020B0604030504040204" pitchFamily="34" charset="0"/>
                </a:rPr>
                <a:t>00     00    00  0a </a:t>
              </a:r>
            </a:p>
          </p:txBody>
        </p:sp>
        <p:sp>
          <p:nvSpPr>
            <p:cNvPr id="94234" name="Line 7">
              <a:extLst>
                <a:ext uri="{FF2B5EF4-FFF2-40B4-BE49-F238E27FC236}">
                  <a16:creationId xmlns:a16="http://schemas.microsoft.com/office/drawing/2014/main" id="{51FFD0AF-8E16-586E-480D-318B16C7A5EF}"/>
                </a:ext>
              </a:extLst>
            </p:cNvPr>
            <p:cNvSpPr>
              <a:spLocks noChangeShapeType="1"/>
            </p:cNvSpPr>
            <p:nvPr/>
          </p:nvSpPr>
          <p:spPr bwMode="auto">
            <a:xfrm>
              <a:off x="3152" y="2432"/>
              <a:ext cx="0" cy="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5" name="Line 8">
              <a:extLst>
                <a:ext uri="{FF2B5EF4-FFF2-40B4-BE49-F238E27FC236}">
                  <a16:creationId xmlns:a16="http://schemas.microsoft.com/office/drawing/2014/main" id="{564377A2-9389-0A34-DBDA-930710D2C556}"/>
                </a:ext>
              </a:extLst>
            </p:cNvPr>
            <p:cNvSpPr>
              <a:spLocks noChangeShapeType="1"/>
            </p:cNvSpPr>
            <p:nvPr/>
          </p:nvSpPr>
          <p:spPr bwMode="auto">
            <a:xfrm>
              <a:off x="3470" y="2432"/>
              <a:ext cx="0" cy="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6" name="Line 9">
              <a:extLst>
                <a:ext uri="{FF2B5EF4-FFF2-40B4-BE49-F238E27FC236}">
                  <a16:creationId xmlns:a16="http://schemas.microsoft.com/office/drawing/2014/main" id="{BD02EC2E-D0B7-B75A-4065-82EE712BD480}"/>
                </a:ext>
              </a:extLst>
            </p:cNvPr>
            <p:cNvSpPr>
              <a:spLocks noChangeShapeType="1"/>
            </p:cNvSpPr>
            <p:nvPr/>
          </p:nvSpPr>
          <p:spPr bwMode="auto">
            <a:xfrm>
              <a:off x="3833" y="2432"/>
              <a:ext cx="0" cy="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4214" name="Group 11">
            <a:extLst>
              <a:ext uri="{FF2B5EF4-FFF2-40B4-BE49-F238E27FC236}">
                <a16:creationId xmlns:a16="http://schemas.microsoft.com/office/drawing/2014/main" id="{72407C48-966A-A384-476F-977E79A1AC6E}"/>
              </a:ext>
            </a:extLst>
          </p:cNvPr>
          <p:cNvGrpSpPr>
            <a:grpSpLocks/>
          </p:cNvGrpSpPr>
          <p:nvPr/>
        </p:nvGrpSpPr>
        <p:grpSpPr bwMode="auto">
          <a:xfrm>
            <a:off x="4156075" y="4078288"/>
            <a:ext cx="2232025" cy="431800"/>
            <a:chOff x="2789" y="2432"/>
            <a:chExt cx="1406" cy="363"/>
          </a:xfrm>
        </p:grpSpPr>
        <p:sp>
          <p:nvSpPr>
            <p:cNvPr id="94229" name="Rectangle 12">
              <a:extLst>
                <a:ext uri="{FF2B5EF4-FFF2-40B4-BE49-F238E27FC236}">
                  <a16:creationId xmlns:a16="http://schemas.microsoft.com/office/drawing/2014/main" id="{C2610BCC-832C-5BF7-2A05-A710F2743FD0}"/>
                </a:ext>
              </a:extLst>
            </p:cNvPr>
            <p:cNvSpPr>
              <a:spLocks noChangeArrowheads="1"/>
            </p:cNvSpPr>
            <p:nvPr/>
          </p:nvSpPr>
          <p:spPr bwMode="auto">
            <a:xfrm>
              <a:off x="2789" y="2432"/>
              <a:ext cx="1406" cy="3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hangingPunct="1">
                <a:spcBef>
                  <a:spcPct val="0"/>
                </a:spcBef>
                <a:buFontTx/>
                <a:buNone/>
              </a:pPr>
              <a:r>
                <a:rPr lang="en-US" altLang="zh-CN" sz="1800">
                  <a:latin typeface="Tahoma" panose="020B0604030504040204" pitchFamily="34" charset="0"/>
                </a:rPr>
                <a:t>XX     XX    00  0a </a:t>
              </a:r>
            </a:p>
          </p:txBody>
        </p:sp>
        <p:sp>
          <p:nvSpPr>
            <p:cNvPr id="94230" name="Line 13">
              <a:extLst>
                <a:ext uri="{FF2B5EF4-FFF2-40B4-BE49-F238E27FC236}">
                  <a16:creationId xmlns:a16="http://schemas.microsoft.com/office/drawing/2014/main" id="{2F37E4D1-B860-71FD-F70C-50E90A20AE15}"/>
                </a:ext>
              </a:extLst>
            </p:cNvPr>
            <p:cNvSpPr>
              <a:spLocks noChangeShapeType="1"/>
            </p:cNvSpPr>
            <p:nvPr/>
          </p:nvSpPr>
          <p:spPr bwMode="auto">
            <a:xfrm>
              <a:off x="3152" y="2432"/>
              <a:ext cx="0" cy="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1" name="Line 14">
              <a:extLst>
                <a:ext uri="{FF2B5EF4-FFF2-40B4-BE49-F238E27FC236}">
                  <a16:creationId xmlns:a16="http://schemas.microsoft.com/office/drawing/2014/main" id="{045FEC33-D5FC-6384-DD4A-B6B179A649FA}"/>
                </a:ext>
              </a:extLst>
            </p:cNvPr>
            <p:cNvSpPr>
              <a:spLocks noChangeShapeType="1"/>
            </p:cNvSpPr>
            <p:nvPr/>
          </p:nvSpPr>
          <p:spPr bwMode="auto">
            <a:xfrm>
              <a:off x="3470" y="2432"/>
              <a:ext cx="0" cy="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2" name="Line 15">
              <a:extLst>
                <a:ext uri="{FF2B5EF4-FFF2-40B4-BE49-F238E27FC236}">
                  <a16:creationId xmlns:a16="http://schemas.microsoft.com/office/drawing/2014/main" id="{56D18778-8537-19CA-D4D0-7E9CBDCE1F66}"/>
                </a:ext>
              </a:extLst>
            </p:cNvPr>
            <p:cNvSpPr>
              <a:spLocks noChangeShapeType="1"/>
            </p:cNvSpPr>
            <p:nvPr/>
          </p:nvSpPr>
          <p:spPr bwMode="auto">
            <a:xfrm>
              <a:off x="3833" y="2432"/>
              <a:ext cx="0" cy="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4215" name="Group 16">
            <a:extLst>
              <a:ext uri="{FF2B5EF4-FFF2-40B4-BE49-F238E27FC236}">
                <a16:creationId xmlns:a16="http://schemas.microsoft.com/office/drawing/2014/main" id="{84B70DD6-5864-C352-E100-255ED9E924DE}"/>
              </a:ext>
            </a:extLst>
          </p:cNvPr>
          <p:cNvGrpSpPr>
            <a:grpSpLocks/>
          </p:cNvGrpSpPr>
          <p:nvPr/>
        </p:nvGrpSpPr>
        <p:grpSpPr bwMode="auto">
          <a:xfrm>
            <a:off x="4659313" y="4654550"/>
            <a:ext cx="2232025" cy="360363"/>
            <a:chOff x="2789" y="2432"/>
            <a:chExt cx="1406" cy="363"/>
          </a:xfrm>
        </p:grpSpPr>
        <p:sp>
          <p:nvSpPr>
            <p:cNvPr id="94225" name="Rectangle 17">
              <a:extLst>
                <a:ext uri="{FF2B5EF4-FFF2-40B4-BE49-F238E27FC236}">
                  <a16:creationId xmlns:a16="http://schemas.microsoft.com/office/drawing/2014/main" id="{62DFB32E-8C5C-6605-699E-ED530709B044}"/>
                </a:ext>
              </a:extLst>
            </p:cNvPr>
            <p:cNvSpPr>
              <a:spLocks noChangeArrowheads="1"/>
            </p:cNvSpPr>
            <p:nvPr/>
          </p:nvSpPr>
          <p:spPr bwMode="auto">
            <a:xfrm>
              <a:off x="2789" y="2432"/>
              <a:ext cx="1406" cy="3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hangingPunct="1">
                <a:spcBef>
                  <a:spcPct val="0"/>
                </a:spcBef>
                <a:buFontTx/>
                <a:buNone/>
              </a:pPr>
              <a:r>
                <a:rPr lang="en-US" altLang="zh-CN" sz="1800">
                  <a:latin typeface="Tahoma" panose="020B0604030504040204" pitchFamily="34" charset="0"/>
                </a:rPr>
                <a:t>XX     XX    0a  XX</a:t>
              </a:r>
            </a:p>
          </p:txBody>
        </p:sp>
        <p:sp>
          <p:nvSpPr>
            <p:cNvPr id="94226" name="Line 18">
              <a:extLst>
                <a:ext uri="{FF2B5EF4-FFF2-40B4-BE49-F238E27FC236}">
                  <a16:creationId xmlns:a16="http://schemas.microsoft.com/office/drawing/2014/main" id="{CE52EC53-456B-7F4B-C437-80BE619CDE4B}"/>
                </a:ext>
              </a:extLst>
            </p:cNvPr>
            <p:cNvSpPr>
              <a:spLocks noChangeShapeType="1"/>
            </p:cNvSpPr>
            <p:nvPr/>
          </p:nvSpPr>
          <p:spPr bwMode="auto">
            <a:xfrm>
              <a:off x="3152" y="2432"/>
              <a:ext cx="0" cy="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7" name="Line 19">
              <a:extLst>
                <a:ext uri="{FF2B5EF4-FFF2-40B4-BE49-F238E27FC236}">
                  <a16:creationId xmlns:a16="http://schemas.microsoft.com/office/drawing/2014/main" id="{FA256A56-B8B7-373D-38CA-AB27829F4503}"/>
                </a:ext>
              </a:extLst>
            </p:cNvPr>
            <p:cNvSpPr>
              <a:spLocks noChangeShapeType="1"/>
            </p:cNvSpPr>
            <p:nvPr/>
          </p:nvSpPr>
          <p:spPr bwMode="auto">
            <a:xfrm>
              <a:off x="3470" y="2432"/>
              <a:ext cx="0" cy="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8" name="Line 20">
              <a:extLst>
                <a:ext uri="{FF2B5EF4-FFF2-40B4-BE49-F238E27FC236}">
                  <a16:creationId xmlns:a16="http://schemas.microsoft.com/office/drawing/2014/main" id="{7779BECC-AC8A-AC30-85FB-8B4B576D955D}"/>
                </a:ext>
              </a:extLst>
            </p:cNvPr>
            <p:cNvSpPr>
              <a:spLocks noChangeShapeType="1"/>
            </p:cNvSpPr>
            <p:nvPr/>
          </p:nvSpPr>
          <p:spPr bwMode="auto">
            <a:xfrm>
              <a:off x="3833" y="2432"/>
              <a:ext cx="0" cy="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4216" name="Group 21">
            <a:extLst>
              <a:ext uri="{FF2B5EF4-FFF2-40B4-BE49-F238E27FC236}">
                <a16:creationId xmlns:a16="http://schemas.microsoft.com/office/drawing/2014/main" id="{F5759482-CB81-DB9F-6F5A-D5145151A088}"/>
              </a:ext>
            </a:extLst>
          </p:cNvPr>
          <p:cNvGrpSpPr>
            <a:grpSpLocks/>
          </p:cNvGrpSpPr>
          <p:nvPr/>
        </p:nvGrpSpPr>
        <p:grpSpPr bwMode="auto">
          <a:xfrm>
            <a:off x="5235575" y="5157788"/>
            <a:ext cx="2232025" cy="431800"/>
            <a:chOff x="2789" y="2432"/>
            <a:chExt cx="1406" cy="363"/>
          </a:xfrm>
        </p:grpSpPr>
        <p:sp>
          <p:nvSpPr>
            <p:cNvPr id="94221" name="Rectangle 22">
              <a:extLst>
                <a:ext uri="{FF2B5EF4-FFF2-40B4-BE49-F238E27FC236}">
                  <a16:creationId xmlns:a16="http://schemas.microsoft.com/office/drawing/2014/main" id="{F4AE6BDC-D797-03BA-8D35-B7D125BFBD05}"/>
                </a:ext>
              </a:extLst>
            </p:cNvPr>
            <p:cNvSpPr>
              <a:spLocks noChangeArrowheads="1"/>
            </p:cNvSpPr>
            <p:nvPr/>
          </p:nvSpPr>
          <p:spPr bwMode="auto">
            <a:xfrm>
              <a:off x="2789" y="2432"/>
              <a:ext cx="1406" cy="3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hangingPunct="1">
                <a:spcBef>
                  <a:spcPct val="0"/>
                </a:spcBef>
                <a:buFontTx/>
                <a:buNone/>
              </a:pPr>
              <a:r>
                <a:rPr lang="en-US" altLang="zh-CN" sz="1800">
                  <a:latin typeface="Tahoma" panose="020B0604030504040204" pitchFamily="34" charset="0"/>
                </a:rPr>
                <a:t>XX     XX    XX  0a </a:t>
              </a:r>
            </a:p>
          </p:txBody>
        </p:sp>
        <p:sp>
          <p:nvSpPr>
            <p:cNvPr id="94222" name="Line 23">
              <a:extLst>
                <a:ext uri="{FF2B5EF4-FFF2-40B4-BE49-F238E27FC236}">
                  <a16:creationId xmlns:a16="http://schemas.microsoft.com/office/drawing/2014/main" id="{D94CD65A-DCE2-475B-13B4-26C213246D9D}"/>
                </a:ext>
              </a:extLst>
            </p:cNvPr>
            <p:cNvSpPr>
              <a:spLocks noChangeShapeType="1"/>
            </p:cNvSpPr>
            <p:nvPr/>
          </p:nvSpPr>
          <p:spPr bwMode="auto">
            <a:xfrm>
              <a:off x="3152" y="2432"/>
              <a:ext cx="0" cy="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3" name="Line 24">
              <a:extLst>
                <a:ext uri="{FF2B5EF4-FFF2-40B4-BE49-F238E27FC236}">
                  <a16:creationId xmlns:a16="http://schemas.microsoft.com/office/drawing/2014/main" id="{25B24057-7EA8-5F44-F2BD-BA29BAEC3205}"/>
                </a:ext>
              </a:extLst>
            </p:cNvPr>
            <p:cNvSpPr>
              <a:spLocks noChangeShapeType="1"/>
            </p:cNvSpPr>
            <p:nvPr/>
          </p:nvSpPr>
          <p:spPr bwMode="auto">
            <a:xfrm>
              <a:off x="3470" y="2432"/>
              <a:ext cx="0" cy="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4" name="Line 25">
              <a:extLst>
                <a:ext uri="{FF2B5EF4-FFF2-40B4-BE49-F238E27FC236}">
                  <a16:creationId xmlns:a16="http://schemas.microsoft.com/office/drawing/2014/main" id="{F414CF81-1947-EBEE-4FBA-47B42B6F9721}"/>
                </a:ext>
              </a:extLst>
            </p:cNvPr>
            <p:cNvSpPr>
              <a:spLocks noChangeShapeType="1"/>
            </p:cNvSpPr>
            <p:nvPr/>
          </p:nvSpPr>
          <p:spPr bwMode="auto">
            <a:xfrm>
              <a:off x="3833" y="2432"/>
              <a:ext cx="0" cy="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4217" name="矩形 25">
            <a:extLst>
              <a:ext uri="{FF2B5EF4-FFF2-40B4-BE49-F238E27FC236}">
                <a16:creationId xmlns:a16="http://schemas.microsoft.com/office/drawing/2014/main" id="{6E96EC6B-06FC-DD10-02A4-B24A983B20E9}"/>
              </a:ext>
            </a:extLst>
          </p:cNvPr>
          <p:cNvSpPr>
            <a:spLocks noChangeArrowheads="1"/>
          </p:cNvSpPr>
          <p:nvPr/>
        </p:nvSpPr>
        <p:spPr bwMode="auto">
          <a:xfrm>
            <a:off x="3003550" y="5186363"/>
            <a:ext cx="1765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t> mov </a:t>
            </a:r>
            <a:r>
              <a:rPr lang="en-US" altLang="zh-CN" sz="2400">
                <a:solidFill>
                  <a:srgbClr val="009900"/>
                </a:solidFill>
              </a:rPr>
              <a:t>al</a:t>
            </a:r>
            <a:r>
              <a:rPr lang="en-US" altLang="zh-CN" sz="2400"/>
              <a:t>,10</a:t>
            </a:r>
            <a:endParaRPr lang="zh-CN" altLang="en-US" sz="2400"/>
          </a:p>
        </p:txBody>
      </p:sp>
      <p:sp>
        <p:nvSpPr>
          <p:cNvPr id="94218" name="矩形 26">
            <a:extLst>
              <a:ext uri="{FF2B5EF4-FFF2-40B4-BE49-F238E27FC236}">
                <a16:creationId xmlns:a16="http://schemas.microsoft.com/office/drawing/2014/main" id="{81DAA4FA-6903-3868-6B5E-38B88A21E8B8}"/>
              </a:ext>
            </a:extLst>
          </p:cNvPr>
          <p:cNvSpPr>
            <a:spLocks noChangeArrowheads="1"/>
          </p:cNvSpPr>
          <p:nvPr/>
        </p:nvSpPr>
        <p:spPr bwMode="auto">
          <a:xfrm>
            <a:off x="2513013" y="4625975"/>
            <a:ext cx="1857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t> mov </a:t>
            </a:r>
            <a:r>
              <a:rPr lang="en-US" altLang="zh-CN" sz="2400">
                <a:solidFill>
                  <a:srgbClr val="009900"/>
                </a:solidFill>
              </a:rPr>
              <a:t>ah</a:t>
            </a:r>
            <a:r>
              <a:rPr lang="en-US" altLang="zh-CN" sz="2400"/>
              <a:t>,10</a:t>
            </a:r>
            <a:endParaRPr lang="zh-CN" altLang="en-US" sz="2400"/>
          </a:p>
        </p:txBody>
      </p:sp>
      <p:sp>
        <p:nvSpPr>
          <p:cNvPr id="94219" name="矩形 27">
            <a:extLst>
              <a:ext uri="{FF2B5EF4-FFF2-40B4-BE49-F238E27FC236}">
                <a16:creationId xmlns:a16="http://schemas.microsoft.com/office/drawing/2014/main" id="{BA60444D-CDBD-B55C-90CB-3B24C1FA9F73}"/>
              </a:ext>
            </a:extLst>
          </p:cNvPr>
          <p:cNvSpPr>
            <a:spLocks noChangeArrowheads="1"/>
          </p:cNvSpPr>
          <p:nvPr/>
        </p:nvSpPr>
        <p:spPr bwMode="auto">
          <a:xfrm>
            <a:off x="2154238" y="4103688"/>
            <a:ext cx="1862137"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lnSpc>
                <a:spcPct val="90000"/>
              </a:lnSpc>
              <a:spcBef>
                <a:spcPct val="0"/>
              </a:spcBef>
              <a:buFont typeface="Wingdings" pitchFamily="2" charset="2"/>
              <a:buNone/>
            </a:pPr>
            <a:r>
              <a:rPr lang="en-US" altLang="zh-CN" sz="2400"/>
              <a:t>mov </a:t>
            </a:r>
            <a:r>
              <a:rPr lang="en-US" altLang="zh-CN" sz="2400">
                <a:solidFill>
                  <a:srgbClr val="009900"/>
                </a:solidFill>
              </a:rPr>
              <a:t>ax</a:t>
            </a:r>
            <a:r>
              <a:rPr lang="en-US" altLang="zh-CN" sz="2400"/>
              <a:t>, 10</a:t>
            </a:r>
          </a:p>
        </p:txBody>
      </p:sp>
      <p:sp>
        <p:nvSpPr>
          <p:cNvPr id="94220" name="矩形 28">
            <a:extLst>
              <a:ext uri="{FF2B5EF4-FFF2-40B4-BE49-F238E27FC236}">
                <a16:creationId xmlns:a16="http://schemas.microsoft.com/office/drawing/2014/main" id="{566EA141-B8F9-F112-3CE5-9EAEEF6C00BD}"/>
              </a:ext>
            </a:extLst>
          </p:cNvPr>
          <p:cNvSpPr>
            <a:spLocks noChangeArrowheads="1"/>
          </p:cNvSpPr>
          <p:nvPr/>
        </p:nvSpPr>
        <p:spPr bwMode="auto">
          <a:xfrm>
            <a:off x="865188" y="3508375"/>
            <a:ext cx="20320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lnSpc>
                <a:spcPct val="90000"/>
              </a:lnSpc>
              <a:spcBef>
                <a:spcPct val="0"/>
              </a:spcBef>
              <a:buFont typeface="Wingdings" pitchFamily="2" charset="2"/>
              <a:buNone/>
            </a:pPr>
            <a:r>
              <a:rPr lang="en-US" altLang="zh-CN" sz="2400"/>
              <a:t>mov </a:t>
            </a:r>
            <a:r>
              <a:rPr lang="en-US" altLang="zh-CN" sz="2400">
                <a:solidFill>
                  <a:srgbClr val="009900"/>
                </a:solidFill>
              </a:rPr>
              <a:t>eax</a:t>
            </a:r>
            <a:r>
              <a:rPr lang="en-US" altLang="zh-CN" sz="2400"/>
              <a:t>, 10</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1">
            <a:extLst>
              <a:ext uri="{FF2B5EF4-FFF2-40B4-BE49-F238E27FC236}">
                <a16:creationId xmlns:a16="http://schemas.microsoft.com/office/drawing/2014/main" id="{385103ED-7260-484E-03AE-06A72DB84DB8}"/>
              </a:ext>
            </a:extLst>
          </p:cNvPr>
          <p:cNvSpPr>
            <a:spLocks noGrp="1" noChangeArrowheads="1"/>
          </p:cNvSpPr>
          <p:nvPr>
            <p:ph type="title"/>
          </p:nvPr>
        </p:nvSpPr>
        <p:spPr/>
        <p:txBody>
          <a:bodyPr/>
          <a:lstStyle/>
          <a:p>
            <a:r>
              <a:rPr kumimoji="1" lang="en-US" altLang="zh-CN">
                <a:ea typeface="宋体" panose="02010600030101010101" pitchFamily="2" charset="-122"/>
              </a:rPr>
              <a:t>Register</a:t>
            </a:r>
            <a:endParaRPr kumimoji="1" lang="zh-CN" altLang="en-US">
              <a:ea typeface="宋体" panose="02010600030101010101" pitchFamily="2" charset="-122"/>
            </a:endParaRPr>
          </a:p>
        </p:txBody>
      </p:sp>
      <p:sp>
        <p:nvSpPr>
          <p:cNvPr id="95234" name="内容占位符 2">
            <a:extLst>
              <a:ext uri="{FF2B5EF4-FFF2-40B4-BE49-F238E27FC236}">
                <a16:creationId xmlns:a16="http://schemas.microsoft.com/office/drawing/2014/main" id="{B4FD60C7-F62A-2FEF-630E-531F814F1F32}"/>
              </a:ext>
            </a:extLst>
          </p:cNvPr>
          <p:cNvSpPr>
            <a:spLocks noGrp="1" noChangeArrowheads="1"/>
          </p:cNvSpPr>
          <p:nvPr>
            <p:ph idx="1"/>
          </p:nvPr>
        </p:nvSpPr>
        <p:spPr/>
        <p:txBody>
          <a:bodyPr/>
          <a:lstStyle/>
          <a:p>
            <a:r>
              <a:rPr lang="en-US" altLang="zh-CN" dirty="0">
                <a:ea typeface="宋体" panose="02010600030101010101" pitchFamily="2" charset="-122"/>
              </a:rPr>
              <a:t>EAX</a:t>
            </a:r>
            <a:r>
              <a:rPr lang="zh-CN" altLang="en-US" dirty="0">
                <a:ea typeface="宋体" panose="02010600030101010101" pitchFamily="2" charset="-122"/>
              </a:rPr>
              <a:t>、</a:t>
            </a:r>
            <a:r>
              <a:rPr lang="en-US" altLang="zh-CN" dirty="0">
                <a:ea typeface="宋体" panose="02010600030101010101" pitchFamily="2" charset="-122"/>
              </a:rPr>
              <a:t>EBX</a:t>
            </a:r>
            <a:r>
              <a:rPr lang="zh-CN" altLang="en-US" dirty="0">
                <a:ea typeface="宋体" panose="02010600030101010101" pitchFamily="2" charset="-122"/>
              </a:rPr>
              <a:t>、</a:t>
            </a:r>
            <a:r>
              <a:rPr lang="en-US" altLang="zh-CN" dirty="0">
                <a:ea typeface="宋体" panose="02010600030101010101" pitchFamily="2" charset="-122"/>
              </a:rPr>
              <a:t>ECX</a:t>
            </a:r>
            <a:r>
              <a:rPr lang="zh-CN" altLang="en-US" dirty="0">
                <a:ea typeface="宋体" panose="02010600030101010101" pitchFamily="2" charset="-122"/>
              </a:rPr>
              <a:t>、</a:t>
            </a:r>
            <a:r>
              <a:rPr lang="en-US" altLang="zh-CN" dirty="0">
                <a:ea typeface="宋体" panose="02010600030101010101" pitchFamily="2" charset="-122"/>
              </a:rPr>
              <a:t>EDX</a:t>
            </a:r>
            <a:endParaRPr lang="zh-CN" altLang="en-US" b="1" dirty="0">
              <a:ea typeface="宋体" panose="02010600030101010101" pitchFamily="2" charset="-122"/>
            </a:endParaRPr>
          </a:p>
          <a:p>
            <a:pPr lvl="1"/>
            <a:r>
              <a:rPr lang="zh-CN" altLang="en-US" dirty="0">
                <a:ea typeface="宋体" panose="02010600030101010101" pitchFamily="2" charset="-122"/>
              </a:rPr>
              <a:t>通用寄存器</a:t>
            </a:r>
            <a:endParaRPr lang="en-US" altLang="zh-CN" dirty="0">
              <a:ea typeface="宋体" panose="02010600030101010101" pitchFamily="2" charset="-122"/>
            </a:endParaRPr>
          </a:p>
          <a:p>
            <a:r>
              <a:rPr lang="en-US" altLang="zh-CN" dirty="0">
                <a:ea typeface="宋体" panose="02010600030101010101" pitchFamily="2" charset="-122"/>
              </a:rPr>
              <a:t>ESP, EBP, ESI, EDI</a:t>
            </a:r>
          </a:p>
          <a:p>
            <a:pPr lvl="1"/>
            <a:r>
              <a:rPr lang="en-US" altLang="zh-CN" dirty="0">
                <a:ea typeface="宋体" panose="02010600030101010101" pitchFamily="2" charset="-122"/>
              </a:rPr>
              <a:t>32</a:t>
            </a:r>
            <a:r>
              <a:rPr lang="zh-CN" altLang="en-US" dirty="0">
                <a:ea typeface="宋体" panose="02010600030101010101" pitchFamily="2" charset="-122"/>
              </a:rPr>
              <a:t>位通用寄存器</a:t>
            </a:r>
          </a:p>
          <a:p>
            <a:pPr lvl="1"/>
            <a:r>
              <a:rPr lang="zh-CN" altLang="en-US" dirty="0">
                <a:ea typeface="宋体" panose="02010600030101010101" pitchFamily="2" charset="-122"/>
              </a:rPr>
              <a:t>各自的低</a:t>
            </a:r>
            <a:r>
              <a:rPr lang="en-US" altLang="zh-CN" dirty="0">
                <a:ea typeface="宋体" panose="02010600030101010101" pitchFamily="2" charset="-122"/>
              </a:rPr>
              <a:t>16</a:t>
            </a:r>
            <a:r>
              <a:rPr lang="zh-CN" altLang="en-US" dirty="0">
                <a:ea typeface="宋体" panose="02010600030101010101" pitchFamily="2" charset="-122"/>
              </a:rPr>
              <a:t>位可以独立使用：</a:t>
            </a:r>
            <a:r>
              <a:rPr lang="en-US" altLang="zh-CN" dirty="0">
                <a:ea typeface="宋体" panose="02010600030101010101" pitchFamily="2" charset="-122"/>
              </a:rPr>
              <a:t>SP, BP, SI, DI</a:t>
            </a:r>
          </a:p>
          <a:p>
            <a:pPr lvl="1"/>
            <a:r>
              <a:rPr lang="en-US" altLang="zh-CN" dirty="0">
                <a:ea typeface="宋体" panose="02010600030101010101" pitchFamily="2" charset="-122"/>
              </a:rPr>
              <a:t>ESP</a:t>
            </a:r>
            <a:r>
              <a:rPr lang="zh-CN" altLang="en-US" dirty="0">
                <a:ea typeface="宋体" panose="02010600030101010101" pitchFamily="2" charset="-122"/>
              </a:rPr>
              <a:t>：系统栈的栈指针寄存器</a:t>
            </a:r>
          </a:p>
          <a:p>
            <a:pPr lvl="1"/>
            <a:r>
              <a:rPr lang="en-US" altLang="zh-CN" dirty="0">
                <a:ea typeface="宋体" panose="02010600030101010101" pitchFamily="2" charset="-122"/>
              </a:rPr>
              <a:t>EBP</a:t>
            </a:r>
            <a:r>
              <a:rPr lang="zh-CN" altLang="en-US" dirty="0">
                <a:ea typeface="宋体" panose="02010600030101010101" pitchFamily="2" charset="-122"/>
              </a:rPr>
              <a:t>：基址指针寄存器</a:t>
            </a:r>
          </a:p>
          <a:p>
            <a:pPr lvl="1"/>
            <a:r>
              <a:rPr lang="en-US" altLang="zh-CN" dirty="0">
                <a:ea typeface="宋体" panose="02010600030101010101" pitchFamily="2" charset="-122"/>
              </a:rPr>
              <a:t>ESI</a:t>
            </a:r>
            <a:r>
              <a:rPr lang="zh-CN" altLang="en-US" dirty="0">
                <a:ea typeface="宋体" panose="02010600030101010101" pitchFamily="2" charset="-122"/>
              </a:rPr>
              <a:t>、</a:t>
            </a:r>
            <a:r>
              <a:rPr lang="en-US" altLang="zh-CN" dirty="0">
                <a:ea typeface="宋体" panose="02010600030101010101" pitchFamily="2" charset="-122"/>
              </a:rPr>
              <a:t>EDI</a:t>
            </a:r>
            <a:r>
              <a:rPr lang="zh-CN" altLang="en-US" dirty="0">
                <a:ea typeface="宋体" panose="02010600030101010101" pitchFamily="2" charset="-122"/>
              </a:rPr>
              <a:t>：索引寄存器，从</a:t>
            </a:r>
            <a:r>
              <a:rPr lang="en-US" altLang="zh-CN" dirty="0">
                <a:ea typeface="宋体" panose="02010600030101010101" pitchFamily="2" charset="-122"/>
              </a:rPr>
              <a:t>ESI</a:t>
            </a:r>
            <a:r>
              <a:rPr lang="zh-CN" altLang="en-US" dirty="0">
                <a:ea typeface="宋体" panose="02010600030101010101" pitchFamily="2" charset="-122"/>
              </a:rPr>
              <a:t>指定位置拷贝到</a:t>
            </a:r>
            <a:r>
              <a:rPr lang="en-US" altLang="zh-CN" dirty="0">
                <a:ea typeface="宋体" panose="02010600030101010101" pitchFamily="2" charset="-122"/>
              </a:rPr>
              <a:t>EDI</a:t>
            </a:r>
            <a:r>
              <a:rPr lang="zh-CN" altLang="en-US" dirty="0">
                <a:ea typeface="宋体" panose="02010600030101010101" pitchFamily="2" charset="-122"/>
              </a:rPr>
              <a:t>指定位置，基本随便用</a:t>
            </a:r>
          </a:p>
          <a:p>
            <a:endParaRPr kumimoji="1" lang="zh-CN" altLang="en-US" dirty="0">
              <a:ea typeface="宋体" panose="02010600030101010101" pitchFamily="2" charset="-122"/>
            </a:endParaRPr>
          </a:p>
        </p:txBody>
      </p:sp>
      <p:sp>
        <p:nvSpPr>
          <p:cNvPr id="95235" name="幻灯片编号占位符 3">
            <a:extLst>
              <a:ext uri="{FF2B5EF4-FFF2-40B4-BE49-F238E27FC236}">
                <a16:creationId xmlns:a16="http://schemas.microsoft.com/office/drawing/2014/main" id="{F0AA7C28-5A21-82E9-8EEE-A005DF0C6F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CD7E932B-98AB-8C47-AC7C-FB906309DA61}" type="slidenum">
              <a:rPr lang="zh-CN" altLang="en-US" sz="1400" smtClean="0">
                <a:latin typeface="Times New Roman" panose="02020603050405020304" pitchFamily="18" charset="0"/>
              </a:rPr>
              <a:pPr>
                <a:spcBef>
                  <a:spcPct val="0"/>
                </a:spcBef>
                <a:buFontTx/>
                <a:buNone/>
              </a:pPr>
              <a:t>57</a:t>
            </a:fld>
            <a:endParaRPr lang="en-US" altLang="zh-CN" sz="1400">
              <a:latin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a:extLst>
              <a:ext uri="{FF2B5EF4-FFF2-40B4-BE49-F238E27FC236}">
                <a16:creationId xmlns:a16="http://schemas.microsoft.com/office/drawing/2014/main" id="{4F872D95-5A28-0FBF-E7E9-146BB36930EA}"/>
              </a:ext>
            </a:extLst>
          </p:cNvPr>
          <p:cNvSpPr>
            <a:spLocks noGrp="1" noChangeArrowheads="1"/>
          </p:cNvSpPr>
          <p:nvPr>
            <p:ph type="title"/>
          </p:nvPr>
        </p:nvSpPr>
        <p:spPr/>
        <p:txBody>
          <a:bodyPr/>
          <a:lstStyle/>
          <a:p>
            <a:r>
              <a:rPr kumimoji="1" lang="en-US" altLang="zh-CN">
                <a:ea typeface="宋体" panose="02010600030101010101" pitchFamily="2" charset="-122"/>
              </a:rPr>
              <a:t>Register</a:t>
            </a:r>
            <a:endParaRPr kumimoji="1" lang="zh-CN" altLang="en-US">
              <a:ea typeface="宋体" panose="02010600030101010101" pitchFamily="2" charset="-122"/>
            </a:endParaRPr>
          </a:p>
        </p:txBody>
      </p:sp>
      <p:sp>
        <p:nvSpPr>
          <p:cNvPr id="96258" name="内容占位符 2">
            <a:extLst>
              <a:ext uri="{FF2B5EF4-FFF2-40B4-BE49-F238E27FC236}">
                <a16:creationId xmlns:a16="http://schemas.microsoft.com/office/drawing/2014/main" id="{B9F5A950-E580-6841-8077-FF2C7AB3E966}"/>
              </a:ext>
            </a:extLst>
          </p:cNvPr>
          <p:cNvSpPr>
            <a:spLocks noGrp="1" noChangeArrowheads="1"/>
          </p:cNvSpPr>
          <p:nvPr>
            <p:ph idx="1"/>
          </p:nvPr>
        </p:nvSpPr>
        <p:spPr/>
        <p:txBody>
          <a:bodyPr/>
          <a:lstStyle/>
          <a:p>
            <a:r>
              <a:rPr lang="zh-CN" altLang="en-US">
                <a:ea typeface="宋体" panose="02010600030101010101" pitchFamily="2" charset="-122"/>
              </a:rPr>
              <a:t>标志寄存器</a:t>
            </a:r>
            <a:r>
              <a:rPr lang="en-US" altLang="zh-CN">
                <a:ea typeface="宋体" panose="02010600030101010101" pitchFamily="2" charset="-122"/>
              </a:rPr>
              <a:t>EFLAGS </a:t>
            </a:r>
            <a:endParaRPr kumimoji="1" lang="zh-CN" altLang="en-US">
              <a:ea typeface="宋体" panose="02010600030101010101" pitchFamily="2" charset="-122"/>
            </a:endParaRPr>
          </a:p>
        </p:txBody>
      </p:sp>
      <p:sp>
        <p:nvSpPr>
          <p:cNvPr id="96259" name="幻灯片编号占位符 3">
            <a:extLst>
              <a:ext uri="{FF2B5EF4-FFF2-40B4-BE49-F238E27FC236}">
                <a16:creationId xmlns:a16="http://schemas.microsoft.com/office/drawing/2014/main" id="{73E58683-E44E-014A-1B87-618E70E6E2C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5A504DB9-761F-2B41-A357-24F0C95C3BCB}" type="slidenum">
              <a:rPr lang="zh-CN" altLang="en-US" sz="1400" smtClean="0">
                <a:latin typeface="Times New Roman" panose="02020603050405020304" pitchFamily="18" charset="0"/>
              </a:rPr>
              <a:pPr>
                <a:spcBef>
                  <a:spcPct val="0"/>
                </a:spcBef>
                <a:buFontTx/>
                <a:buNone/>
              </a:pPr>
              <a:t>58</a:t>
            </a:fld>
            <a:endParaRPr lang="en-US" altLang="zh-CN" sz="1400">
              <a:latin typeface="Times New Roman" panose="02020603050405020304" pitchFamily="18" charset="0"/>
            </a:endParaRPr>
          </a:p>
        </p:txBody>
      </p:sp>
      <p:sp>
        <p:nvSpPr>
          <p:cNvPr id="5" name="Rectangle 3">
            <a:extLst>
              <a:ext uri="{FF2B5EF4-FFF2-40B4-BE49-F238E27FC236}">
                <a16:creationId xmlns:a16="http://schemas.microsoft.com/office/drawing/2014/main" id="{DA12C430-787A-C167-8820-61ADD05C6243}"/>
              </a:ext>
            </a:extLst>
          </p:cNvPr>
          <p:cNvSpPr txBox="1">
            <a:spLocks noChangeArrowheads="1"/>
          </p:cNvSpPr>
          <p:nvPr/>
        </p:nvSpPr>
        <p:spPr>
          <a:xfrm>
            <a:off x="771525" y="3241675"/>
            <a:ext cx="8207375" cy="3368675"/>
          </a:xfrm>
          <a:prstGeom prst="rect">
            <a:avLst/>
          </a:prstGeom>
        </p:spPr>
        <p:txBody>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eaLnBrk="1" hangingPunct="1">
              <a:lnSpc>
                <a:spcPct val="90000"/>
              </a:lnSpc>
              <a:buFont typeface="Wingdings" charset="2"/>
              <a:buNone/>
              <a:defRPr/>
            </a:pPr>
            <a:r>
              <a:rPr lang="en-US" altLang="zh-CN" kern="0" dirty="0"/>
              <a:t>Bit	Mnemonic	</a:t>
            </a:r>
            <a:r>
              <a:rPr lang="zh-CN" altLang="en-US" kern="0" dirty="0"/>
              <a:t>      </a:t>
            </a:r>
            <a:r>
              <a:rPr lang="en-US" altLang="zh-CN" kern="0" dirty="0"/>
              <a:t>Usage</a:t>
            </a:r>
          </a:p>
          <a:p>
            <a:pPr eaLnBrk="1" hangingPunct="1">
              <a:lnSpc>
                <a:spcPct val="90000"/>
              </a:lnSpc>
              <a:buFont typeface="Wingdings" charset="2"/>
              <a:buNone/>
              <a:defRPr/>
            </a:pPr>
            <a:r>
              <a:rPr lang="en-US" altLang="zh-CN" b="0" kern="0" dirty="0">
                <a:solidFill>
                  <a:srgbClr val="FF0000"/>
                </a:solidFill>
              </a:rPr>
              <a:t>0		CF			carry flag</a:t>
            </a:r>
          </a:p>
          <a:p>
            <a:pPr eaLnBrk="1" hangingPunct="1">
              <a:lnSpc>
                <a:spcPct val="90000"/>
              </a:lnSpc>
              <a:buFont typeface="Wingdings" charset="2"/>
              <a:buNone/>
              <a:defRPr/>
            </a:pPr>
            <a:r>
              <a:rPr lang="en-US" altLang="zh-CN" b="0" kern="0" dirty="0"/>
              <a:t>2		PF			parity flag</a:t>
            </a:r>
          </a:p>
          <a:p>
            <a:pPr eaLnBrk="1" hangingPunct="1">
              <a:lnSpc>
                <a:spcPct val="90000"/>
              </a:lnSpc>
              <a:buFont typeface="Wingdings" charset="2"/>
              <a:buNone/>
              <a:defRPr/>
            </a:pPr>
            <a:r>
              <a:rPr lang="en-US" altLang="zh-CN" b="0" kern="0" dirty="0">
                <a:solidFill>
                  <a:srgbClr val="FF0000"/>
                </a:solidFill>
              </a:rPr>
              <a:t>6		ZF			zero flag</a:t>
            </a:r>
          </a:p>
          <a:p>
            <a:pPr eaLnBrk="1" hangingPunct="1">
              <a:lnSpc>
                <a:spcPct val="90000"/>
              </a:lnSpc>
              <a:buFont typeface="Wingdings" charset="2"/>
              <a:buNone/>
              <a:defRPr/>
            </a:pPr>
            <a:r>
              <a:rPr lang="en-US" altLang="zh-CN" b="0" kern="0" dirty="0">
                <a:solidFill>
                  <a:srgbClr val="FF0000"/>
                </a:solidFill>
              </a:rPr>
              <a:t>7		SF			sign flag</a:t>
            </a:r>
          </a:p>
          <a:p>
            <a:pPr eaLnBrk="1" hangingPunct="1">
              <a:lnSpc>
                <a:spcPct val="90000"/>
              </a:lnSpc>
              <a:buFont typeface="Wingdings" charset="2"/>
              <a:buNone/>
              <a:defRPr/>
            </a:pPr>
            <a:r>
              <a:rPr lang="en-US" altLang="zh-CN" b="0" kern="0" dirty="0"/>
              <a:t>10	DF			direction flag</a:t>
            </a:r>
          </a:p>
          <a:p>
            <a:pPr eaLnBrk="1" hangingPunct="1">
              <a:lnSpc>
                <a:spcPct val="90000"/>
              </a:lnSpc>
              <a:buFont typeface="Wingdings" charset="2"/>
              <a:buNone/>
              <a:defRPr/>
            </a:pPr>
            <a:r>
              <a:rPr lang="en-US" altLang="zh-CN" b="0" kern="0" dirty="0">
                <a:solidFill>
                  <a:srgbClr val="FF0000"/>
                </a:solidFill>
              </a:rPr>
              <a:t>11	</a:t>
            </a:r>
            <a:r>
              <a:rPr lang="zh-CN" altLang="en-US" b="0" kern="0" dirty="0">
                <a:solidFill>
                  <a:srgbClr val="FF0000"/>
                </a:solidFill>
              </a:rPr>
              <a:t>     </a:t>
            </a:r>
            <a:r>
              <a:rPr lang="en-US" altLang="zh-CN" b="0" kern="0" dirty="0">
                <a:solidFill>
                  <a:srgbClr val="FF0000"/>
                </a:solidFill>
              </a:rPr>
              <a:t>OF			overflow flag</a:t>
            </a:r>
          </a:p>
        </p:txBody>
      </p:sp>
      <p:graphicFrame>
        <p:nvGraphicFramePr>
          <p:cNvPr id="96261" name="Object 5">
            <a:extLst>
              <a:ext uri="{FF2B5EF4-FFF2-40B4-BE49-F238E27FC236}">
                <a16:creationId xmlns:a16="http://schemas.microsoft.com/office/drawing/2014/main" id="{D29FBFE8-5A6F-E458-FBBE-DEAE1454FCE5}"/>
              </a:ext>
            </a:extLst>
          </p:cNvPr>
          <p:cNvGraphicFramePr>
            <a:graphicFrameLocks noChangeAspect="1"/>
          </p:cNvGraphicFramePr>
          <p:nvPr/>
        </p:nvGraphicFramePr>
        <p:xfrm>
          <a:off x="771525" y="2190750"/>
          <a:ext cx="7561263" cy="792163"/>
        </p:xfrm>
        <a:graphic>
          <a:graphicData uri="http://schemas.openxmlformats.org/presentationml/2006/ole">
            <mc:AlternateContent xmlns:mc="http://schemas.openxmlformats.org/markup-compatibility/2006">
              <mc:Choice xmlns:v="urn:schemas-microsoft-com:vml" Requires="v">
                <p:oleObj name="Visio" r:id="rId2" imgW="4940300" imgH="444500" progId="Visio.Drawing.11">
                  <p:embed/>
                </p:oleObj>
              </mc:Choice>
              <mc:Fallback>
                <p:oleObj name="Visio" r:id="rId2" imgW="4940300" imgH="444500"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525" y="2190750"/>
                        <a:ext cx="756126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a:extLst>
              <a:ext uri="{FF2B5EF4-FFF2-40B4-BE49-F238E27FC236}">
                <a16:creationId xmlns:a16="http://schemas.microsoft.com/office/drawing/2014/main" id="{14CB7954-3409-1455-6AEA-78DF63D99451}"/>
              </a:ext>
            </a:extLst>
          </p:cNvPr>
          <p:cNvSpPr>
            <a:spLocks noGrp="1" noChangeArrowheads="1"/>
          </p:cNvSpPr>
          <p:nvPr>
            <p:ph type="title"/>
          </p:nvPr>
        </p:nvSpPr>
        <p:spPr/>
        <p:txBody>
          <a:bodyPr/>
          <a:lstStyle/>
          <a:p>
            <a:r>
              <a:rPr kumimoji="1" lang="en-US" altLang="zh-CN">
                <a:ea typeface="宋体" panose="02010600030101010101" pitchFamily="2" charset="-122"/>
              </a:rPr>
              <a:t>Register</a:t>
            </a:r>
            <a:endParaRPr kumimoji="1" lang="zh-CN" altLang="en-US">
              <a:ea typeface="宋体" panose="02010600030101010101" pitchFamily="2" charset="-122"/>
            </a:endParaRPr>
          </a:p>
        </p:txBody>
      </p:sp>
      <p:sp>
        <p:nvSpPr>
          <p:cNvPr id="97282" name="内容占位符 2">
            <a:extLst>
              <a:ext uri="{FF2B5EF4-FFF2-40B4-BE49-F238E27FC236}">
                <a16:creationId xmlns:a16="http://schemas.microsoft.com/office/drawing/2014/main" id="{25B3226C-2743-8FE6-29F6-53C1D0A52E10}"/>
              </a:ext>
            </a:extLst>
          </p:cNvPr>
          <p:cNvSpPr>
            <a:spLocks noGrp="1" noChangeArrowheads="1"/>
          </p:cNvSpPr>
          <p:nvPr>
            <p:ph idx="1"/>
          </p:nvPr>
        </p:nvSpPr>
        <p:spPr/>
        <p:txBody>
          <a:bodyPr/>
          <a:lstStyle/>
          <a:p>
            <a:r>
              <a:rPr kumimoji="1" lang="en-US" altLang="zh-CN">
                <a:ea typeface="宋体" panose="02010600030101010101" pitchFamily="2" charset="-122"/>
              </a:rPr>
              <a:t>64</a:t>
            </a:r>
            <a:r>
              <a:rPr kumimoji="1" lang="zh-CN" altLang="en-US">
                <a:ea typeface="宋体" panose="02010600030101010101" pitchFamily="2" charset="-122"/>
              </a:rPr>
              <a:t>位计算机</a:t>
            </a:r>
            <a:endParaRPr kumimoji="1" lang="en-US" altLang="zh-CN">
              <a:ea typeface="宋体" panose="02010600030101010101" pitchFamily="2" charset="-122"/>
            </a:endParaRPr>
          </a:p>
          <a:p>
            <a:pPr lvl="1"/>
            <a:r>
              <a:rPr lang="en-US" altLang="zh-CN" sz="2800">
                <a:latin typeface="Tahoma" panose="020B0604030504040204" pitchFamily="34" charset="0"/>
                <a:ea typeface="宋体" panose="02010600030101010101" pitchFamily="2" charset="-122"/>
              </a:rPr>
              <a:t>X86-64</a:t>
            </a:r>
            <a:r>
              <a:rPr lang="zh-CN" altLang="en-US" sz="2800">
                <a:latin typeface="Tahoma" panose="020B0604030504040204" pitchFamily="34" charset="0"/>
                <a:ea typeface="宋体" panose="02010600030101010101" pitchFamily="2" charset="-122"/>
              </a:rPr>
              <a:t>指令集扩展了</a:t>
            </a:r>
            <a:r>
              <a:rPr lang="en-US" altLang="zh-CN" sz="2800">
                <a:latin typeface="Tahoma" panose="020B0604030504040204" pitchFamily="34" charset="0"/>
                <a:ea typeface="宋体" panose="02010600030101010101" pitchFamily="2" charset="-122"/>
              </a:rPr>
              <a:t>IA32</a:t>
            </a:r>
            <a:r>
              <a:rPr lang="zh-CN" altLang="en-US" sz="2800">
                <a:latin typeface="Tahoma" panose="020B0604030504040204" pitchFamily="34" charset="0"/>
                <a:ea typeface="宋体" panose="02010600030101010101" pitchFamily="2" charset="-122"/>
              </a:rPr>
              <a:t>的</a:t>
            </a:r>
            <a:r>
              <a:rPr lang="en-US" altLang="zh-CN" sz="2800">
                <a:latin typeface="Tahoma" panose="020B0604030504040204" pitchFamily="34" charset="0"/>
                <a:ea typeface="宋体" panose="02010600030101010101" pitchFamily="2" charset="-122"/>
              </a:rPr>
              <a:t>32</a:t>
            </a:r>
            <a:r>
              <a:rPr lang="zh-CN" altLang="en-US" sz="2800">
                <a:latin typeface="Tahoma" panose="020B0604030504040204" pitchFamily="34" charset="0"/>
                <a:ea typeface="宋体" panose="02010600030101010101" pitchFamily="2" charset="-122"/>
              </a:rPr>
              <a:t>位寄存器</a:t>
            </a:r>
            <a:endParaRPr lang="en-US" altLang="zh-CN" sz="2800">
              <a:latin typeface="Tahoma" panose="020B0604030504040204" pitchFamily="34" charset="0"/>
              <a:ea typeface="宋体" panose="02010600030101010101" pitchFamily="2" charset="-122"/>
            </a:endParaRPr>
          </a:p>
          <a:p>
            <a:pPr lvl="2"/>
            <a:r>
              <a:rPr lang="zh-CN" altLang="en-US" sz="2400">
                <a:latin typeface="Tahoma" panose="020B0604030504040204" pitchFamily="34" charset="0"/>
                <a:ea typeface="宋体" panose="02010600030101010101" pitchFamily="2" charset="-122"/>
              </a:rPr>
              <a:t>用</a:t>
            </a:r>
            <a:r>
              <a:rPr lang="en-US" altLang="zh-CN" sz="2400">
                <a:latin typeface="Tahoma" panose="020B0604030504040204" pitchFamily="34" charset="0"/>
                <a:ea typeface="宋体" panose="02010600030101010101" pitchFamily="2" charset="-122"/>
              </a:rPr>
              <a:t>’r’</a:t>
            </a:r>
            <a:r>
              <a:rPr lang="zh-CN" altLang="en-US" sz="2400">
                <a:latin typeface="Tahoma" panose="020B0604030504040204" pitchFamily="34" charset="0"/>
                <a:ea typeface="宋体" panose="02010600030101010101" pitchFamily="2" charset="-122"/>
              </a:rPr>
              <a:t>代替</a:t>
            </a:r>
            <a:r>
              <a:rPr lang="en-US" altLang="zh-CN" sz="2400">
                <a:latin typeface="Tahoma" panose="020B0604030504040204" pitchFamily="34" charset="0"/>
                <a:ea typeface="宋体" panose="02010600030101010101" pitchFamily="2" charset="-122"/>
              </a:rPr>
              <a:t>’e’</a:t>
            </a:r>
            <a:r>
              <a:rPr lang="zh-CN" altLang="en-US" sz="2400">
                <a:latin typeface="Tahoma" panose="020B0604030504040204" pitchFamily="34" charset="0"/>
                <a:ea typeface="宋体" panose="02010600030101010101" pitchFamily="2" charset="-122"/>
              </a:rPr>
              <a:t>，</a:t>
            </a:r>
            <a:r>
              <a:rPr lang="zh-CN" altLang="zh-CN" sz="2400">
                <a:latin typeface="Tahoma" panose="020B0604030504040204" pitchFamily="34" charset="0"/>
                <a:ea typeface="宋体" panose="02010600030101010101" pitchFamily="2" charset="-122"/>
              </a:rPr>
              <a:t>%</a:t>
            </a:r>
            <a:r>
              <a:rPr lang="en-US" altLang="zh-CN" sz="2400">
                <a:latin typeface="Tahoma" panose="020B0604030504040204" pitchFamily="34" charset="0"/>
                <a:ea typeface="宋体" panose="02010600030101010101" pitchFamily="2" charset="-122"/>
              </a:rPr>
              <a:t>eax-&gt;%rax,</a:t>
            </a:r>
            <a:r>
              <a:rPr lang="zh-CN" altLang="en-US" sz="2400">
                <a:latin typeface="Tahoma" panose="020B0604030504040204" pitchFamily="34" charset="0"/>
                <a:ea typeface="宋体" panose="02010600030101010101" pitchFamily="2" charset="-122"/>
              </a:rPr>
              <a:t> </a:t>
            </a:r>
            <a:r>
              <a:rPr lang="zh-CN" altLang="zh-CN" sz="2400">
                <a:latin typeface="Tahoma" panose="020B0604030504040204" pitchFamily="34" charset="0"/>
                <a:ea typeface="宋体" panose="02010600030101010101" pitchFamily="2" charset="-122"/>
              </a:rPr>
              <a:t>%</a:t>
            </a:r>
            <a:r>
              <a:rPr lang="en-US" altLang="zh-CN" sz="2400">
                <a:latin typeface="Tahoma" panose="020B0604030504040204" pitchFamily="34" charset="0"/>
                <a:ea typeface="宋体" panose="02010600030101010101" pitchFamily="2" charset="-122"/>
              </a:rPr>
              <a:t>esp-&gt;%rsp</a:t>
            </a:r>
          </a:p>
          <a:p>
            <a:pPr lvl="1"/>
            <a:r>
              <a:rPr lang="zh-CN" altLang="en-US" sz="2800">
                <a:latin typeface="Tahoma" panose="020B0604030504040204" pitchFamily="34" charset="0"/>
                <a:ea typeface="宋体" panose="02010600030101010101" pitchFamily="2" charset="-122"/>
              </a:rPr>
              <a:t>增加了</a:t>
            </a:r>
            <a:r>
              <a:rPr lang="en-US" altLang="zh-CN" sz="2800">
                <a:latin typeface="Tahoma" panose="020B0604030504040204" pitchFamily="34" charset="0"/>
                <a:ea typeface="宋体" panose="02010600030101010101" pitchFamily="2" charset="-122"/>
              </a:rPr>
              <a:t>8</a:t>
            </a:r>
            <a:r>
              <a:rPr lang="zh-CN" altLang="en-US" sz="2800">
                <a:latin typeface="Tahoma" panose="020B0604030504040204" pitchFamily="34" charset="0"/>
                <a:ea typeface="宋体" panose="02010600030101010101" pitchFamily="2" charset="-122"/>
              </a:rPr>
              <a:t>个寄存器</a:t>
            </a:r>
            <a:endParaRPr lang="en-US" altLang="zh-CN" sz="2800">
              <a:latin typeface="Tahoma" panose="020B0604030504040204" pitchFamily="34" charset="0"/>
              <a:ea typeface="宋体" panose="02010600030101010101" pitchFamily="2" charset="-122"/>
            </a:endParaRPr>
          </a:p>
          <a:p>
            <a:pPr lvl="2"/>
            <a:r>
              <a:rPr lang="en-US" altLang="zh-CN" sz="2400">
                <a:latin typeface="Tahoma" panose="020B0604030504040204" pitchFamily="34" charset="0"/>
                <a:ea typeface="宋体" panose="02010600030101010101" pitchFamily="2" charset="-122"/>
              </a:rPr>
              <a:t>%r8~%r15</a:t>
            </a:r>
          </a:p>
          <a:p>
            <a:pPr lvl="1"/>
            <a:r>
              <a:rPr lang="zh-CN" altLang="en-US" sz="2800">
                <a:latin typeface="Tahoma" panose="020B0604030504040204" pitchFamily="34" charset="0"/>
                <a:ea typeface="宋体" panose="02010600030101010101" pitchFamily="2" charset="-122"/>
              </a:rPr>
              <a:t>浮点数</a:t>
            </a:r>
            <a:r>
              <a:rPr lang="en-US" altLang="zh-CN" sz="2800">
                <a:latin typeface="Tahoma" panose="020B0604030504040204" pitchFamily="34" charset="0"/>
                <a:ea typeface="宋体" panose="02010600030101010101" pitchFamily="2" charset="-122"/>
              </a:rPr>
              <a:t>XMM</a:t>
            </a:r>
            <a:r>
              <a:rPr lang="zh-CN" altLang="en-US" sz="2800">
                <a:latin typeface="Tahoma" panose="020B0604030504040204" pitchFamily="34" charset="0"/>
                <a:ea typeface="宋体" panose="02010600030101010101" pitchFamily="2" charset="-122"/>
              </a:rPr>
              <a:t>寄存器</a:t>
            </a:r>
            <a:endParaRPr lang="en-US" altLang="zh-CN" sz="2800">
              <a:latin typeface="Tahoma" panose="020B0604030504040204" pitchFamily="34" charset="0"/>
              <a:ea typeface="宋体" panose="02010600030101010101" pitchFamily="2" charset="-122"/>
            </a:endParaRPr>
          </a:p>
          <a:p>
            <a:pPr lvl="2"/>
            <a:r>
              <a:rPr lang="en-US" altLang="zh-CN" sz="2400">
                <a:latin typeface="Tahoma" panose="020B0604030504040204" pitchFamily="34" charset="0"/>
                <a:ea typeface="宋体" panose="02010600030101010101" pitchFamily="2" charset="-122"/>
              </a:rPr>
              <a:t>%xmm0~%xmm15</a:t>
            </a:r>
            <a:r>
              <a:rPr lang="zh-CN" altLang="en-US" sz="2400">
                <a:latin typeface="Tahoma" panose="020B0604030504040204" pitchFamily="34" charset="0"/>
                <a:ea typeface="宋体" panose="02010600030101010101" pitchFamily="2" charset="-122"/>
              </a:rPr>
              <a:t>，</a:t>
            </a:r>
            <a:r>
              <a:rPr lang="en-US" altLang="zh-CN" sz="2400">
                <a:latin typeface="Tahoma" panose="020B0604030504040204" pitchFamily="34" charset="0"/>
                <a:ea typeface="宋体" panose="02010600030101010101" pitchFamily="2" charset="-122"/>
              </a:rPr>
              <a:t>128</a:t>
            </a:r>
            <a:r>
              <a:rPr lang="zh-CN" altLang="en-US" sz="2400">
                <a:latin typeface="Tahoma" panose="020B0604030504040204" pitchFamily="34" charset="0"/>
                <a:ea typeface="宋体" panose="02010600030101010101" pitchFamily="2" charset="-122"/>
              </a:rPr>
              <a:t>位，能放下</a:t>
            </a:r>
            <a:r>
              <a:rPr lang="en-US" altLang="zh-CN" sz="2400">
                <a:latin typeface="Tahoma" panose="020B0604030504040204" pitchFamily="34" charset="0"/>
                <a:ea typeface="宋体" panose="02010600030101010101" pitchFamily="2" charset="-122"/>
              </a:rPr>
              <a:t>4</a:t>
            </a:r>
            <a:r>
              <a:rPr lang="zh-CN" altLang="en-US" sz="2400">
                <a:latin typeface="Tahoma" panose="020B0604030504040204" pitchFamily="34" charset="0"/>
                <a:ea typeface="宋体" panose="02010600030101010101" pitchFamily="2" charset="-122"/>
              </a:rPr>
              <a:t>个</a:t>
            </a:r>
            <a:r>
              <a:rPr lang="en-US" altLang="zh-CN" sz="2400">
                <a:latin typeface="Tahoma" panose="020B0604030504040204" pitchFamily="34" charset="0"/>
                <a:ea typeface="宋体" panose="02010600030101010101" pitchFamily="2" charset="-122"/>
              </a:rPr>
              <a:t>float</a:t>
            </a:r>
            <a:r>
              <a:rPr lang="zh-CN" altLang="en-US" sz="2400">
                <a:latin typeface="Tahoma" panose="020B0604030504040204" pitchFamily="34" charset="0"/>
                <a:ea typeface="宋体" panose="02010600030101010101" pitchFamily="2" charset="-122"/>
              </a:rPr>
              <a:t>，或</a:t>
            </a:r>
            <a:r>
              <a:rPr lang="en-US" altLang="zh-CN" sz="2400">
                <a:latin typeface="Tahoma" panose="020B0604030504040204" pitchFamily="34" charset="0"/>
                <a:ea typeface="宋体" panose="02010600030101010101" pitchFamily="2" charset="-122"/>
              </a:rPr>
              <a:t>2</a:t>
            </a:r>
            <a:r>
              <a:rPr lang="zh-CN" altLang="en-US" sz="2400">
                <a:latin typeface="Tahoma" panose="020B0604030504040204" pitchFamily="34" charset="0"/>
                <a:ea typeface="宋体" panose="02010600030101010101" pitchFamily="2" charset="-122"/>
              </a:rPr>
              <a:t>个</a:t>
            </a:r>
            <a:r>
              <a:rPr lang="en-US" altLang="zh-CN" sz="2400">
                <a:latin typeface="Tahoma" panose="020B0604030504040204" pitchFamily="34" charset="0"/>
                <a:ea typeface="宋体" panose="02010600030101010101" pitchFamily="2" charset="-122"/>
              </a:rPr>
              <a:t>double</a:t>
            </a:r>
            <a:endParaRPr lang="en-US" altLang="zh-CN">
              <a:latin typeface="Tahoma" panose="020B0604030504040204" pitchFamily="34" charset="0"/>
              <a:ea typeface="宋体" panose="02010600030101010101" pitchFamily="2" charset="-122"/>
            </a:endParaRPr>
          </a:p>
          <a:p>
            <a:pPr lvl="1"/>
            <a:endParaRPr kumimoji="1" lang="zh-CN" altLang="en-US">
              <a:ea typeface="宋体" panose="02010600030101010101" pitchFamily="2" charset="-122"/>
            </a:endParaRPr>
          </a:p>
        </p:txBody>
      </p:sp>
      <p:sp>
        <p:nvSpPr>
          <p:cNvPr id="97283" name="幻灯片编号占位符 3">
            <a:extLst>
              <a:ext uri="{FF2B5EF4-FFF2-40B4-BE49-F238E27FC236}">
                <a16:creationId xmlns:a16="http://schemas.microsoft.com/office/drawing/2014/main" id="{177BE6DF-3772-1F9B-54CC-3ACC9B75D49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D285E596-68F3-1242-86CC-30885FE5600A}" type="slidenum">
              <a:rPr lang="zh-CN" altLang="en-US" sz="1400" smtClean="0">
                <a:latin typeface="Times New Roman" panose="02020603050405020304" pitchFamily="18" charset="0"/>
              </a:rPr>
              <a:pPr>
                <a:spcBef>
                  <a:spcPct val="0"/>
                </a:spcBef>
                <a:buFontTx/>
                <a:buNone/>
              </a:pPr>
              <a:t>59</a:t>
            </a:fld>
            <a:endParaRPr lang="en-US" altLang="zh-CN" sz="1400">
              <a:latin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5" name="Picture 4" descr="fig2-1">
            <a:extLst>
              <a:ext uri="{FF2B5EF4-FFF2-40B4-BE49-F238E27FC236}">
                <a16:creationId xmlns:a16="http://schemas.microsoft.com/office/drawing/2014/main" id="{ABD4E147-0B81-6BB8-D329-DDF10A3BC0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2138"/>
          <a:stretch>
            <a:fillRect/>
          </a:stretch>
        </p:blipFill>
        <p:spPr bwMode="auto">
          <a:xfrm>
            <a:off x="838200" y="4648200"/>
            <a:ext cx="711200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6" name="标题 1">
            <a:extLst>
              <a:ext uri="{FF2B5EF4-FFF2-40B4-BE49-F238E27FC236}">
                <a16:creationId xmlns:a16="http://schemas.microsoft.com/office/drawing/2014/main" id="{EE7D431E-9721-3DE7-6162-EDC5AC0F3E6F}"/>
              </a:ext>
            </a:extLst>
          </p:cNvPr>
          <p:cNvSpPr>
            <a:spLocks noGrp="1" noChangeArrowheads="1"/>
          </p:cNvSpPr>
          <p:nvPr>
            <p:ph type="title"/>
          </p:nvPr>
        </p:nvSpPr>
        <p:spPr/>
        <p:txBody>
          <a:bodyPr/>
          <a:lstStyle/>
          <a:p>
            <a:r>
              <a:rPr kumimoji="1" lang="en-US" altLang="zh-CN">
                <a:ea typeface="宋体" panose="02010600030101010101" pitchFamily="2" charset="-122"/>
              </a:rPr>
              <a:t>Memory</a:t>
            </a:r>
            <a:endParaRPr kumimoji="1" lang="zh-CN" altLang="en-US">
              <a:ea typeface="宋体" panose="02010600030101010101" pitchFamily="2" charset="-122"/>
            </a:endParaRPr>
          </a:p>
        </p:txBody>
      </p:sp>
      <p:sp>
        <p:nvSpPr>
          <p:cNvPr id="98307" name="内容占位符 2">
            <a:extLst>
              <a:ext uri="{FF2B5EF4-FFF2-40B4-BE49-F238E27FC236}">
                <a16:creationId xmlns:a16="http://schemas.microsoft.com/office/drawing/2014/main" id="{152947BF-D8E9-C36F-6D2A-4F62583FDC7A}"/>
              </a:ext>
            </a:extLst>
          </p:cNvPr>
          <p:cNvSpPr>
            <a:spLocks noGrp="1" noChangeArrowheads="1"/>
          </p:cNvSpPr>
          <p:nvPr>
            <p:ph idx="1"/>
          </p:nvPr>
        </p:nvSpPr>
        <p:spPr>
          <a:xfrm>
            <a:off x="457200" y="1612900"/>
            <a:ext cx="8305800" cy="4419600"/>
          </a:xfrm>
        </p:spPr>
        <p:txBody>
          <a:bodyPr/>
          <a:lstStyle/>
          <a:p>
            <a:r>
              <a:rPr kumimoji="1" lang="en-US" altLang="zh-CN">
                <a:ea typeface="宋体" panose="02010600030101010101" pitchFamily="2" charset="-122"/>
              </a:rPr>
              <a:t>8086~80286</a:t>
            </a:r>
          </a:p>
          <a:p>
            <a:pPr lvl="1"/>
            <a:r>
              <a:rPr kumimoji="1" lang="zh-CN" altLang="en-US">
                <a:ea typeface="宋体" panose="02010600030101010101" pitchFamily="2" charset="-122"/>
              </a:rPr>
              <a:t>实模式</a:t>
            </a:r>
            <a:endParaRPr kumimoji="1" lang="en-US" altLang="zh-CN">
              <a:ea typeface="宋体" panose="02010600030101010101" pitchFamily="2" charset="-122"/>
            </a:endParaRPr>
          </a:p>
          <a:p>
            <a:pPr lvl="2"/>
            <a:r>
              <a:rPr kumimoji="1" lang="zh-CN" altLang="en-US">
                <a:ea typeface="宋体" panose="02010600030101010101" pitchFamily="2" charset="-122"/>
              </a:rPr>
              <a:t>直接访问物理地址，</a:t>
            </a:r>
            <a:r>
              <a:rPr lang="zh-CN" altLang="en-US">
                <a:ea typeface="宋体" panose="02010600030101010101" pitchFamily="2" charset="-122"/>
              </a:rPr>
              <a:t>处理器只能寻址 </a:t>
            </a:r>
            <a:r>
              <a:rPr lang="en-US" altLang="zh-CN">
                <a:ea typeface="宋体" panose="02010600030101010101" pitchFamily="2" charset="-122"/>
              </a:rPr>
              <a:t>1 MB </a:t>
            </a:r>
            <a:r>
              <a:rPr lang="zh-CN" altLang="en-US">
                <a:ea typeface="宋体" panose="02010600030101010101" pitchFamily="2" charset="-122"/>
              </a:rPr>
              <a:t>的内存空间</a:t>
            </a:r>
          </a:p>
          <a:p>
            <a:pPr lvl="2" eaLnBrk="1" hangingPunct="1"/>
            <a:r>
              <a:rPr lang="zh-CN" altLang="en-US">
                <a:ea typeface="宋体" panose="02010600030101010101" pitchFamily="2" charset="-122"/>
              </a:rPr>
              <a:t>处理器一次只能运行一个程序，随时可被中断</a:t>
            </a:r>
          </a:p>
          <a:p>
            <a:r>
              <a:rPr kumimoji="1" lang="en-US" altLang="zh-CN">
                <a:ea typeface="宋体" panose="02010600030101010101" pitchFamily="2" charset="-122"/>
              </a:rPr>
              <a:t>80386</a:t>
            </a:r>
          </a:p>
          <a:p>
            <a:pPr lvl="1"/>
            <a:r>
              <a:rPr kumimoji="1" lang="zh-CN" altLang="en-US" sz="2000">
                <a:ea typeface="宋体" panose="02010600030101010101" pitchFamily="2" charset="-122"/>
              </a:rPr>
              <a:t>实模式：</a:t>
            </a:r>
            <a:r>
              <a:rPr lang="en-US" altLang="zh-CN" sz="2000">
                <a:ea typeface="宋体" panose="02010600030101010101" pitchFamily="2" charset="-122"/>
              </a:rPr>
              <a:t> 80386</a:t>
            </a:r>
            <a:r>
              <a:rPr lang="zh-CN" altLang="en-US" sz="2000">
                <a:ea typeface="宋体" panose="02010600030101010101" pitchFamily="2" charset="-122"/>
              </a:rPr>
              <a:t>提供实模式来兼容先前的</a:t>
            </a:r>
            <a:r>
              <a:rPr lang="en-US" altLang="zh-CN" sz="2000">
                <a:ea typeface="宋体" panose="02010600030101010101" pitchFamily="2" charset="-122"/>
              </a:rPr>
              <a:t>8086</a:t>
            </a:r>
            <a:endParaRPr kumimoji="1" lang="en-US" altLang="zh-CN" sz="2000">
              <a:ea typeface="宋体" panose="02010600030101010101" pitchFamily="2" charset="-122"/>
            </a:endParaRPr>
          </a:p>
          <a:p>
            <a:pPr lvl="1"/>
            <a:r>
              <a:rPr kumimoji="1" lang="zh-CN" altLang="en-US" sz="2000">
                <a:ea typeface="宋体" panose="02010600030101010101" pitchFamily="2" charset="-122"/>
              </a:rPr>
              <a:t>保护模式：程序访问虚拟地址，</a:t>
            </a:r>
            <a:r>
              <a:rPr kumimoji="1" lang="en-US" altLang="zh-CN" sz="2000">
                <a:ea typeface="宋体" panose="02010600030101010101" pitchFamily="2" charset="-122"/>
              </a:rPr>
              <a:t>OS</a:t>
            </a:r>
            <a:r>
              <a:rPr kumimoji="1" lang="zh-CN" altLang="en-US" sz="2000">
                <a:ea typeface="宋体" panose="02010600030101010101" pitchFamily="2" charset="-122"/>
              </a:rPr>
              <a:t>内核解析为物理地址</a:t>
            </a:r>
          </a:p>
        </p:txBody>
      </p:sp>
      <p:sp>
        <p:nvSpPr>
          <p:cNvPr id="98308" name="幻灯片编号占位符 3">
            <a:extLst>
              <a:ext uri="{FF2B5EF4-FFF2-40B4-BE49-F238E27FC236}">
                <a16:creationId xmlns:a16="http://schemas.microsoft.com/office/drawing/2014/main" id="{8846BD8F-95F5-30BB-F77E-5E1BF2CB727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C7CD9136-1ADD-F549-97E9-A91F9E36B0CE}" type="slidenum">
              <a:rPr lang="zh-CN" altLang="en-US" sz="1400" smtClean="0">
                <a:latin typeface="Times New Roman" panose="02020603050405020304" pitchFamily="18" charset="0"/>
              </a:rPr>
              <a:pPr>
                <a:spcBef>
                  <a:spcPct val="0"/>
                </a:spcBef>
                <a:buFontTx/>
                <a:buNone/>
              </a:pPr>
              <a:t>60</a:t>
            </a:fld>
            <a:endParaRPr lang="en-US" altLang="zh-CN" sz="1400">
              <a:latin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3">
            <a:extLst>
              <a:ext uri="{FF2B5EF4-FFF2-40B4-BE49-F238E27FC236}">
                <a16:creationId xmlns:a16="http://schemas.microsoft.com/office/drawing/2014/main" id="{91A40BCD-8D2A-2CC9-4034-1C5244246780}"/>
              </a:ext>
            </a:extLst>
          </p:cNvPr>
          <p:cNvSpPr>
            <a:spLocks noGrp="1" noChangeArrowheads="1"/>
          </p:cNvSpPr>
          <p:nvPr>
            <p:ph type="body" idx="1"/>
          </p:nvPr>
        </p:nvSpPr>
        <p:spPr>
          <a:xfrm>
            <a:off x="-203200" y="1560513"/>
            <a:ext cx="4057650" cy="3692525"/>
          </a:xfrm>
        </p:spPr>
        <p:txBody>
          <a:bodyPr/>
          <a:lstStyle/>
          <a:p>
            <a:pPr lvl="1">
              <a:lnSpc>
                <a:spcPct val="90000"/>
              </a:lnSpc>
            </a:pPr>
            <a:r>
              <a:rPr lang="zh-CN" altLang="en-US">
                <a:ea typeface="宋体" panose="02010600030101010101" pitchFamily="2" charset="-122"/>
              </a:rPr>
              <a:t>段寄存器（为什么内存要分段？）</a:t>
            </a:r>
            <a:endParaRPr lang="en-US" altLang="zh-CN">
              <a:ea typeface="宋体" panose="02010600030101010101" pitchFamily="2" charset="-122"/>
            </a:endParaRPr>
          </a:p>
          <a:p>
            <a:pPr lvl="1">
              <a:lnSpc>
                <a:spcPct val="90000"/>
              </a:lnSpc>
            </a:pPr>
            <a:r>
              <a:rPr lang="zh-CN" altLang="en-US">
                <a:ea typeface="宋体" panose="02010600030101010101" pitchFamily="2" charset="-122"/>
              </a:rPr>
              <a:t>代码段</a:t>
            </a:r>
            <a:r>
              <a:rPr lang="en-US" altLang="zh-CN">
                <a:ea typeface="宋体" panose="02010600030101010101" pitchFamily="2" charset="-122"/>
              </a:rPr>
              <a:t>CS</a:t>
            </a:r>
          </a:p>
          <a:p>
            <a:pPr lvl="2">
              <a:lnSpc>
                <a:spcPct val="90000"/>
              </a:lnSpc>
            </a:pPr>
            <a:r>
              <a:rPr lang="zh-CN" altLang="en-US">
                <a:ea typeface="宋体" panose="02010600030101010101" pitchFamily="2" charset="-122"/>
              </a:rPr>
              <a:t>对应执行的指令，起始地址对应第一条可执行的指令</a:t>
            </a:r>
          </a:p>
          <a:p>
            <a:pPr lvl="1">
              <a:lnSpc>
                <a:spcPct val="90000"/>
              </a:lnSpc>
            </a:pPr>
            <a:r>
              <a:rPr lang="zh-CN" altLang="en-US">
                <a:ea typeface="宋体" panose="02010600030101010101" pitchFamily="2" charset="-122"/>
              </a:rPr>
              <a:t>数据段</a:t>
            </a:r>
            <a:r>
              <a:rPr lang="en-US" altLang="zh-CN">
                <a:ea typeface="宋体" panose="02010600030101010101" pitchFamily="2" charset="-122"/>
              </a:rPr>
              <a:t>DS</a:t>
            </a:r>
          </a:p>
          <a:p>
            <a:pPr lvl="2">
              <a:lnSpc>
                <a:spcPct val="90000"/>
              </a:lnSpc>
            </a:pPr>
            <a:r>
              <a:rPr lang="zh-CN" altLang="en-US">
                <a:ea typeface="宋体" panose="02010600030101010101" pitchFamily="2" charset="-122"/>
              </a:rPr>
              <a:t>对应程序的数据、常量等</a:t>
            </a:r>
          </a:p>
          <a:p>
            <a:pPr lvl="1">
              <a:lnSpc>
                <a:spcPct val="90000"/>
              </a:lnSpc>
            </a:pPr>
            <a:r>
              <a:rPr lang="zh-CN" altLang="en-US">
                <a:ea typeface="宋体" panose="02010600030101010101" pitchFamily="2" charset="-122"/>
              </a:rPr>
              <a:t>堆栈段</a:t>
            </a:r>
            <a:r>
              <a:rPr lang="en-US" altLang="zh-CN">
                <a:ea typeface="宋体" panose="02010600030101010101" pitchFamily="2" charset="-122"/>
              </a:rPr>
              <a:t>SS</a:t>
            </a:r>
          </a:p>
          <a:p>
            <a:pPr lvl="2">
              <a:lnSpc>
                <a:spcPct val="90000"/>
              </a:lnSpc>
            </a:pPr>
            <a:r>
              <a:rPr lang="zh-CN" altLang="en-US">
                <a:ea typeface="宋体" panose="02010600030101010101" pitchFamily="2" charset="-122"/>
              </a:rPr>
              <a:t>对应暂存任何数据，包括子程序所用的数据</a:t>
            </a:r>
          </a:p>
          <a:p>
            <a:pPr lvl="1">
              <a:lnSpc>
                <a:spcPct val="90000"/>
              </a:lnSpc>
            </a:pPr>
            <a:r>
              <a:rPr lang="zh-CN" altLang="en-US">
                <a:ea typeface="宋体" panose="02010600030101010101" pitchFamily="2" charset="-122"/>
              </a:rPr>
              <a:t>扩展段</a:t>
            </a:r>
            <a:r>
              <a:rPr lang="en-US" altLang="zh-CN">
                <a:ea typeface="宋体" panose="02010600030101010101" pitchFamily="2" charset="-122"/>
              </a:rPr>
              <a:t>ES</a:t>
            </a:r>
          </a:p>
          <a:p>
            <a:pPr lvl="2">
              <a:lnSpc>
                <a:spcPct val="90000"/>
              </a:lnSpc>
            </a:pPr>
            <a:r>
              <a:rPr lang="zh-CN" altLang="en-US">
                <a:ea typeface="宋体" panose="02010600030101010101" pitchFamily="2" charset="-122"/>
              </a:rPr>
              <a:t>对应于特殊的数据和操作使用</a:t>
            </a:r>
          </a:p>
          <a:p>
            <a:pPr lvl="2">
              <a:lnSpc>
                <a:spcPct val="90000"/>
              </a:lnSpc>
              <a:buFont typeface="Wingdings" pitchFamily="2" charset="2"/>
              <a:buNone/>
            </a:pPr>
            <a:endParaRPr lang="zh-CN" altLang="en-US" b="1">
              <a:latin typeface="黑体" panose="02010609060101010101" pitchFamily="49" charset="-122"/>
              <a:ea typeface="黑体" panose="02010609060101010101" pitchFamily="49" charset="-122"/>
              <a:cs typeface="黑体" panose="02010609060101010101" pitchFamily="49" charset="-122"/>
            </a:endParaRPr>
          </a:p>
        </p:txBody>
      </p:sp>
      <p:sp>
        <p:nvSpPr>
          <p:cNvPr id="99330" name="Line 4">
            <a:extLst>
              <a:ext uri="{FF2B5EF4-FFF2-40B4-BE49-F238E27FC236}">
                <a16:creationId xmlns:a16="http://schemas.microsoft.com/office/drawing/2014/main" id="{31B7AA3E-A91B-258B-E19E-37F11EF8DB69}"/>
              </a:ext>
            </a:extLst>
          </p:cNvPr>
          <p:cNvSpPr>
            <a:spLocks noChangeShapeType="1"/>
          </p:cNvSpPr>
          <p:nvPr/>
        </p:nvSpPr>
        <p:spPr bwMode="auto">
          <a:xfrm>
            <a:off x="6859588" y="2514600"/>
            <a:ext cx="0" cy="3306763"/>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1" name="Line 5">
            <a:extLst>
              <a:ext uri="{FF2B5EF4-FFF2-40B4-BE49-F238E27FC236}">
                <a16:creationId xmlns:a16="http://schemas.microsoft.com/office/drawing/2014/main" id="{C3E83086-3B80-A5C4-FCF3-C5E45018DFF3}"/>
              </a:ext>
            </a:extLst>
          </p:cNvPr>
          <p:cNvSpPr>
            <a:spLocks noChangeShapeType="1"/>
          </p:cNvSpPr>
          <p:nvPr/>
        </p:nvSpPr>
        <p:spPr bwMode="auto">
          <a:xfrm>
            <a:off x="8078788" y="2514600"/>
            <a:ext cx="0" cy="3306763"/>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2" name="Line 6">
            <a:extLst>
              <a:ext uri="{FF2B5EF4-FFF2-40B4-BE49-F238E27FC236}">
                <a16:creationId xmlns:a16="http://schemas.microsoft.com/office/drawing/2014/main" id="{54A5BCAC-8679-FF43-A365-0DF14160BA36}"/>
              </a:ext>
            </a:extLst>
          </p:cNvPr>
          <p:cNvSpPr>
            <a:spLocks noChangeShapeType="1"/>
          </p:cNvSpPr>
          <p:nvPr/>
        </p:nvSpPr>
        <p:spPr bwMode="auto">
          <a:xfrm>
            <a:off x="6859588" y="2819400"/>
            <a:ext cx="12192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3" name="Line 7">
            <a:extLst>
              <a:ext uri="{FF2B5EF4-FFF2-40B4-BE49-F238E27FC236}">
                <a16:creationId xmlns:a16="http://schemas.microsoft.com/office/drawing/2014/main" id="{84362AC9-5C05-90D0-64B4-6913507EBE21}"/>
              </a:ext>
            </a:extLst>
          </p:cNvPr>
          <p:cNvSpPr>
            <a:spLocks noChangeShapeType="1"/>
          </p:cNvSpPr>
          <p:nvPr/>
        </p:nvSpPr>
        <p:spPr bwMode="auto">
          <a:xfrm>
            <a:off x="6859588" y="4572000"/>
            <a:ext cx="12192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4" name="Line 8">
            <a:extLst>
              <a:ext uri="{FF2B5EF4-FFF2-40B4-BE49-F238E27FC236}">
                <a16:creationId xmlns:a16="http://schemas.microsoft.com/office/drawing/2014/main" id="{0D0C0FD9-1715-B0FF-89F5-A7264011A32D}"/>
              </a:ext>
            </a:extLst>
          </p:cNvPr>
          <p:cNvSpPr>
            <a:spLocks noChangeShapeType="1"/>
          </p:cNvSpPr>
          <p:nvPr/>
        </p:nvSpPr>
        <p:spPr bwMode="auto">
          <a:xfrm>
            <a:off x="6859588" y="5181600"/>
            <a:ext cx="12192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5" name="Line 9">
            <a:extLst>
              <a:ext uri="{FF2B5EF4-FFF2-40B4-BE49-F238E27FC236}">
                <a16:creationId xmlns:a16="http://schemas.microsoft.com/office/drawing/2014/main" id="{DAC64B8B-592C-2B6B-0BE9-696F1D23971F}"/>
              </a:ext>
            </a:extLst>
          </p:cNvPr>
          <p:cNvSpPr>
            <a:spLocks noChangeShapeType="1"/>
          </p:cNvSpPr>
          <p:nvPr/>
        </p:nvSpPr>
        <p:spPr bwMode="auto">
          <a:xfrm>
            <a:off x="6859588" y="5486400"/>
            <a:ext cx="12192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36" name="Text Box 10">
            <a:extLst>
              <a:ext uri="{FF2B5EF4-FFF2-40B4-BE49-F238E27FC236}">
                <a16:creationId xmlns:a16="http://schemas.microsoft.com/office/drawing/2014/main" id="{E983805F-C676-6888-5FA2-3AF0C02277D2}"/>
              </a:ext>
            </a:extLst>
          </p:cNvPr>
          <p:cNvSpPr txBox="1">
            <a:spLocks noChangeArrowheads="1"/>
          </p:cNvSpPr>
          <p:nvPr/>
        </p:nvSpPr>
        <p:spPr bwMode="auto">
          <a:xfrm>
            <a:off x="6859588" y="2057400"/>
            <a:ext cx="1260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2400">
                <a:latin typeface="Times New Roman" panose="02020603050405020304" pitchFamily="18" charset="0"/>
              </a:rPr>
              <a:t> </a:t>
            </a:r>
            <a:r>
              <a:rPr kumimoji="1" lang="zh-CN" altLang="en-US" sz="2200">
                <a:latin typeface="Times New Roman" panose="02020603050405020304" pitchFamily="18" charset="0"/>
                <a:ea typeface="楷体_GB2312"/>
                <a:cs typeface="楷体_GB2312"/>
              </a:rPr>
              <a:t>存储器</a:t>
            </a:r>
          </a:p>
        </p:txBody>
      </p:sp>
      <p:sp>
        <p:nvSpPr>
          <p:cNvPr id="99337" name="Text Box 11">
            <a:extLst>
              <a:ext uri="{FF2B5EF4-FFF2-40B4-BE49-F238E27FC236}">
                <a16:creationId xmlns:a16="http://schemas.microsoft.com/office/drawing/2014/main" id="{18670C3D-15F1-2FCF-1AC9-4B0BB365804F}"/>
              </a:ext>
            </a:extLst>
          </p:cNvPr>
          <p:cNvSpPr txBox="1">
            <a:spLocks noChangeArrowheads="1"/>
          </p:cNvSpPr>
          <p:nvPr/>
        </p:nvSpPr>
        <p:spPr bwMode="auto">
          <a:xfrm>
            <a:off x="6935788" y="3429000"/>
            <a:ext cx="12366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2000">
                <a:latin typeface="Times New Roman" panose="02020603050405020304" pitchFamily="18" charset="0"/>
              </a:rPr>
              <a:t> </a:t>
            </a:r>
            <a:r>
              <a:rPr kumimoji="1" lang="en-US" altLang="zh-CN" sz="2000">
                <a:latin typeface="Times New Roman" panose="02020603050405020304" pitchFamily="18" charset="0"/>
              </a:rPr>
              <a:t>8KB</a:t>
            </a:r>
            <a:r>
              <a:rPr kumimoji="1" lang="zh-CN" altLang="en-US" sz="2000">
                <a:latin typeface="Times New Roman" panose="02020603050405020304" pitchFamily="18" charset="0"/>
              </a:rPr>
              <a:t>代码</a:t>
            </a:r>
          </a:p>
        </p:txBody>
      </p:sp>
      <p:sp>
        <p:nvSpPr>
          <p:cNvPr id="99338" name="Text Box 12">
            <a:extLst>
              <a:ext uri="{FF2B5EF4-FFF2-40B4-BE49-F238E27FC236}">
                <a16:creationId xmlns:a16="http://schemas.microsoft.com/office/drawing/2014/main" id="{1849BFAF-50F9-0E67-8FEE-C4E093E5069D}"/>
              </a:ext>
            </a:extLst>
          </p:cNvPr>
          <p:cNvSpPr txBox="1">
            <a:spLocks noChangeArrowheads="1"/>
          </p:cNvSpPr>
          <p:nvPr/>
        </p:nvSpPr>
        <p:spPr bwMode="auto">
          <a:xfrm>
            <a:off x="6935788" y="4724400"/>
            <a:ext cx="12366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2000">
                <a:latin typeface="Times New Roman" panose="02020603050405020304" pitchFamily="18" charset="0"/>
              </a:rPr>
              <a:t> </a:t>
            </a:r>
            <a:r>
              <a:rPr kumimoji="1" lang="en-US" altLang="zh-CN" sz="2000">
                <a:latin typeface="Times New Roman" panose="02020603050405020304" pitchFamily="18" charset="0"/>
              </a:rPr>
              <a:t>2KB</a:t>
            </a:r>
            <a:r>
              <a:rPr kumimoji="1" lang="zh-CN" altLang="en-US" sz="2000">
                <a:latin typeface="Times New Roman" panose="02020603050405020304" pitchFamily="18" charset="0"/>
              </a:rPr>
              <a:t>数据</a:t>
            </a:r>
          </a:p>
        </p:txBody>
      </p:sp>
      <p:sp>
        <p:nvSpPr>
          <p:cNvPr id="99339" name="Text Box 13">
            <a:extLst>
              <a:ext uri="{FF2B5EF4-FFF2-40B4-BE49-F238E27FC236}">
                <a16:creationId xmlns:a16="http://schemas.microsoft.com/office/drawing/2014/main" id="{AC1F7395-7E49-96F8-FBD6-1D750B07F81B}"/>
              </a:ext>
            </a:extLst>
          </p:cNvPr>
          <p:cNvSpPr txBox="1">
            <a:spLocks noChangeArrowheads="1"/>
          </p:cNvSpPr>
          <p:nvPr/>
        </p:nvSpPr>
        <p:spPr bwMode="auto">
          <a:xfrm>
            <a:off x="6935788" y="5138738"/>
            <a:ext cx="1136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2000">
                <a:latin typeface="Times New Roman" panose="02020603050405020304" pitchFamily="18" charset="0"/>
              </a:rPr>
              <a:t> </a:t>
            </a:r>
            <a:r>
              <a:rPr kumimoji="1" lang="en-US" altLang="zh-CN" sz="2000">
                <a:latin typeface="Times New Roman" panose="02020603050405020304" pitchFamily="18" charset="0"/>
              </a:rPr>
              <a:t>256</a:t>
            </a:r>
            <a:r>
              <a:rPr kumimoji="1" lang="zh-CN" altLang="en-US" sz="2000">
                <a:latin typeface="Times New Roman" panose="02020603050405020304" pitchFamily="18" charset="0"/>
              </a:rPr>
              <a:t>堆栈</a:t>
            </a:r>
          </a:p>
        </p:txBody>
      </p:sp>
      <p:sp>
        <p:nvSpPr>
          <p:cNvPr id="99340" name="Text Box 14">
            <a:extLst>
              <a:ext uri="{FF2B5EF4-FFF2-40B4-BE49-F238E27FC236}">
                <a16:creationId xmlns:a16="http://schemas.microsoft.com/office/drawing/2014/main" id="{FE8CFF70-44E0-58AA-642A-C5E4EE103A01}"/>
              </a:ext>
            </a:extLst>
          </p:cNvPr>
          <p:cNvSpPr txBox="1">
            <a:spLocks noChangeArrowheads="1"/>
          </p:cNvSpPr>
          <p:nvPr/>
        </p:nvSpPr>
        <p:spPr bwMode="auto">
          <a:xfrm>
            <a:off x="8078788" y="2667000"/>
            <a:ext cx="1003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en-US" altLang="zh-CN" sz="2000">
                <a:latin typeface="Times New Roman" panose="02020603050405020304" pitchFamily="18" charset="0"/>
              </a:rPr>
              <a:t>02000H</a:t>
            </a:r>
          </a:p>
        </p:txBody>
      </p:sp>
      <p:sp>
        <p:nvSpPr>
          <p:cNvPr id="99341" name="Text Box 15">
            <a:extLst>
              <a:ext uri="{FF2B5EF4-FFF2-40B4-BE49-F238E27FC236}">
                <a16:creationId xmlns:a16="http://schemas.microsoft.com/office/drawing/2014/main" id="{1919ECF1-BC7A-4B76-0926-E5DE899B5C69}"/>
              </a:ext>
            </a:extLst>
          </p:cNvPr>
          <p:cNvSpPr txBox="1">
            <a:spLocks noChangeArrowheads="1"/>
          </p:cNvSpPr>
          <p:nvPr/>
        </p:nvSpPr>
        <p:spPr bwMode="auto">
          <a:xfrm>
            <a:off x="8078788" y="5029200"/>
            <a:ext cx="1003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en-US" altLang="zh-CN" sz="2000">
                <a:latin typeface="Times New Roman" panose="02020603050405020304" pitchFamily="18" charset="0"/>
              </a:rPr>
              <a:t>04800H</a:t>
            </a:r>
          </a:p>
        </p:txBody>
      </p:sp>
      <p:sp>
        <p:nvSpPr>
          <p:cNvPr id="99342" name="Text Box 16">
            <a:extLst>
              <a:ext uri="{FF2B5EF4-FFF2-40B4-BE49-F238E27FC236}">
                <a16:creationId xmlns:a16="http://schemas.microsoft.com/office/drawing/2014/main" id="{BA0DC78F-BA9B-706E-717D-697D633B3F12}"/>
              </a:ext>
            </a:extLst>
          </p:cNvPr>
          <p:cNvSpPr txBox="1">
            <a:spLocks noChangeArrowheads="1"/>
          </p:cNvSpPr>
          <p:nvPr/>
        </p:nvSpPr>
        <p:spPr bwMode="auto">
          <a:xfrm>
            <a:off x="8078788" y="4343400"/>
            <a:ext cx="1003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en-US" altLang="zh-CN" sz="2000">
                <a:latin typeface="Times New Roman" panose="02020603050405020304" pitchFamily="18" charset="0"/>
              </a:rPr>
              <a:t>04000H</a:t>
            </a:r>
          </a:p>
        </p:txBody>
      </p:sp>
      <p:sp>
        <p:nvSpPr>
          <p:cNvPr id="99343" name="Rectangle 17">
            <a:extLst>
              <a:ext uri="{FF2B5EF4-FFF2-40B4-BE49-F238E27FC236}">
                <a16:creationId xmlns:a16="http://schemas.microsoft.com/office/drawing/2014/main" id="{B913B5BC-0D05-476A-5D73-0AB00037E222}"/>
              </a:ext>
            </a:extLst>
          </p:cNvPr>
          <p:cNvSpPr>
            <a:spLocks noChangeArrowheads="1"/>
          </p:cNvSpPr>
          <p:nvPr/>
        </p:nvSpPr>
        <p:spPr bwMode="auto">
          <a:xfrm>
            <a:off x="4421188" y="2057400"/>
            <a:ext cx="1066800" cy="381000"/>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0"/>
              </a:spcBef>
              <a:buFontTx/>
              <a:buNone/>
            </a:pPr>
            <a:endParaRPr lang="zh-CN" altLang="en-US" sz="1800">
              <a:latin typeface="Tahoma" panose="020B0604030504040204" pitchFamily="34" charset="0"/>
            </a:endParaRPr>
          </a:p>
        </p:txBody>
      </p:sp>
      <p:sp>
        <p:nvSpPr>
          <p:cNvPr id="99344" name="Rectangle 18">
            <a:extLst>
              <a:ext uri="{FF2B5EF4-FFF2-40B4-BE49-F238E27FC236}">
                <a16:creationId xmlns:a16="http://schemas.microsoft.com/office/drawing/2014/main" id="{0D0B55D8-15E2-EBD2-878C-4B5CD4F8EFA0}"/>
              </a:ext>
            </a:extLst>
          </p:cNvPr>
          <p:cNvSpPr>
            <a:spLocks noChangeArrowheads="1"/>
          </p:cNvSpPr>
          <p:nvPr/>
        </p:nvSpPr>
        <p:spPr bwMode="auto">
          <a:xfrm>
            <a:off x="4421188" y="2438400"/>
            <a:ext cx="1066800" cy="381000"/>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0"/>
              </a:spcBef>
              <a:buFontTx/>
              <a:buNone/>
            </a:pPr>
            <a:endParaRPr lang="zh-CN" altLang="en-US" sz="1800">
              <a:latin typeface="Tahoma" panose="020B0604030504040204" pitchFamily="34" charset="0"/>
            </a:endParaRPr>
          </a:p>
        </p:txBody>
      </p:sp>
      <p:sp>
        <p:nvSpPr>
          <p:cNvPr id="99345" name="Rectangle 19">
            <a:extLst>
              <a:ext uri="{FF2B5EF4-FFF2-40B4-BE49-F238E27FC236}">
                <a16:creationId xmlns:a16="http://schemas.microsoft.com/office/drawing/2014/main" id="{C02610FC-A528-1F94-4B68-EF40A244BFDD}"/>
              </a:ext>
            </a:extLst>
          </p:cNvPr>
          <p:cNvSpPr>
            <a:spLocks noChangeArrowheads="1"/>
          </p:cNvSpPr>
          <p:nvPr/>
        </p:nvSpPr>
        <p:spPr bwMode="auto">
          <a:xfrm>
            <a:off x="4421188" y="2819400"/>
            <a:ext cx="1066800" cy="381000"/>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0"/>
              </a:spcBef>
              <a:buFontTx/>
              <a:buNone/>
            </a:pPr>
            <a:endParaRPr lang="zh-CN" altLang="en-US" sz="1800">
              <a:latin typeface="Tahoma" panose="020B0604030504040204" pitchFamily="34" charset="0"/>
            </a:endParaRPr>
          </a:p>
        </p:txBody>
      </p:sp>
      <p:sp>
        <p:nvSpPr>
          <p:cNvPr id="99346" name="Rectangle 20">
            <a:extLst>
              <a:ext uri="{FF2B5EF4-FFF2-40B4-BE49-F238E27FC236}">
                <a16:creationId xmlns:a16="http://schemas.microsoft.com/office/drawing/2014/main" id="{47B028A1-D02D-3972-638E-BB4D0831A508}"/>
              </a:ext>
            </a:extLst>
          </p:cNvPr>
          <p:cNvSpPr>
            <a:spLocks noChangeArrowheads="1"/>
          </p:cNvSpPr>
          <p:nvPr/>
        </p:nvSpPr>
        <p:spPr bwMode="auto">
          <a:xfrm>
            <a:off x="4421188" y="3200400"/>
            <a:ext cx="1066800" cy="381000"/>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eaLnBrk="1" hangingPunct="1">
              <a:spcBef>
                <a:spcPct val="0"/>
              </a:spcBef>
              <a:buFontTx/>
              <a:buNone/>
            </a:pPr>
            <a:endParaRPr lang="zh-CN" altLang="en-US" sz="1800">
              <a:latin typeface="Arial" panose="020B0604020202020204" pitchFamily="34" charset="0"/>
            </a:endParaRPr>
          </a:p>
        </p:txBody>
      </p:sp>
      <p:sp>
        <p:nvSpPr>
          <p:cNvPr id="99347" name="Text Box 21">
            <a:extLst>
              <a:ext uri="{FF2B5EF4-FFF2-40B4-BE49-F238E27FC236}">
                <a16:creationId xmlns:a16="http://schemas.microsoft.com/office/drawing/2014/main" id="{F54310AC-3B0B-04C4-938C-289F6CB69666}"/>
              </a:ext>
            </a:extLst>
          </p:cNvPr>
          <p:cNvSpPr txBox="1">
            <a:spLocks noChangeArrowheads="1"/>
          </p:cNvSpPr>
          <p:nvPr/>
        </p:nvSpPr>
        <p:spPr bwMode="auto">
          <a:xfrm>
            <a:off x="4522788" y="2087563"/>
            <a:ext cx="876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en-US" altLang="zh-CN" sz="2000">
                <a:latin typeface="Times New Roman" panose="02020603050405020304" pitchFamily="18" charset="0"/>
              </a:rPr>
              <a:t>0200H</a:t>
            </a:r>
          </a:p>
        </p:txBody>
      </p:sp>
      <p:sp>
        <p:nvSpPr>
          <p:cNvPr id="99348" name="Text Box 22">
            <a:extLst>
              <a:ext uri="{FF2B5EF4-FFF2-40B4-BE49-F238E27FC236}">
                <a16:creationId xmlns:a16="http://schemas.microsoft.com/office/drawing/2014/main" id="{4BD1B9E9-ABC4-FD00-E073-305C03794E10}"/>
              </a:ext>
            </a:extLst>
          </p:cNvPr>
          <p:cNvSpPr txBox="1">
            <a:spLocks noChangeArrowheads="1"/>
          </p:cNvSpPr>
          <p:nvPr/>
        </p:nvSpPr>
        <p:spPr bwMode="auto">
          <a:xfrm>
            <a:off x="4522788" y="2468563"/>
            <a:ext cx="971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en-US" altLang="zh-CN" sz="2000">
                <a:latin typeface="Times New Roman" panose="02020603050405020304" pitchFamily="18" charset="0"/>
              </a:rPr>
              <a:t>0400H</a:t>
            </a:r>
          </a:p>
        </p:txBody>
      </p:sp>
      <p:sp>
        <p:nvSpPr>
          <p:cNvPr id="99349" name="Text Box 23">
            <a:extLst>
              <a:ext uri="{FF2B5EF4-FFF2-40B4-BE49-F238E27FC236}">
                <a16:creationId xmlns:a16="http://schemas.microsoft.com/office/drawing/2014/main" id="{2EA043D8-1ED8-5F07-F9A1-AB32B199706E}"/>
              </a:ext>
            </a:extLst>
          </p:cNvPr>
          <p:cNvSpPr txBox="1">
            <a:spLocks noChangeArrowheads="1"/>
          </p:cNvSpPr>
          <p:nvPr/>
        </p:nvSpPr>
        <p:spPr bwMode="auto">
          <a:xfrm>
            <a:off x="4522788" y="2849563"/>
            <a:ext cx="876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en-US" altLang="zh-CN" sz="2000">
                <a:latin typeface="Times New Roman" panose="02020603050405020304" pitchFamily="18" charset="0"/>
              </a:rPr>
              <a:t>0480H</a:t>
            </a:r>
          </a:p>
        </p:txBody>
      </p:sp>
      <p:sp>
        <p:nvSpPr>
          <p:cNvPr id="99350" name="Line 24">
            <a:extLst>
              <a:ext uri="{FF2B5EF4-FFF2-40B4-BE49-F238E27FC236}">
                <a16:creationId xmlns:a16="http://schemas.microsoft.com/office/drawing/2014/main" id="{2326428F-5618-4E07-3DCD-1DD09A747E74}"/>
              </a:ext>
            </a:extLst>
          </p:cNvPr>
          <p:cNvSpPr>
            <a:spLocks noChangeShapeType="1"/>
          </p:cNvSpPr>
          <p:nvPr/>
        </p:nvSpPr>
        <p:spPr bwMode="auto">
          <a:xfrm>
            <a:off x="5335588" y="2286000"/>
            <a:ext cx="1524000" cy="53340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1" name="Line 25">
            <a:extLst>
              <a:ext uri="{FF2B5EF4-FFF2-40B4-BE49-F238E27FC236}">
                <a16:creationId xmlns:a16="http://schemas.microsoft.com/office/drawing/2014/main" id="{66365F17-765F-D4ED-8845-CFFB27FD8C98}"/>
              </a:ext>
            </a:extLst>
          </p:cNvPr>
          <p:cNvSpPr>
            <a:spLocks noChangeShapeType="1"/>
          </p:cNvSpPr>
          <p:nvPr/>
        </p:nvSpPr>
        <p:spPr bwMode="auto">
          <a:xfrm>
            <a:off x="5335588" y="2590800"/>
            <a:ext cx="1524000" cy="198120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2" name="Line 26">
            <a:extLst>
              <a:ext uri="{FF2B5EF4-FFF2-40B4-BE49-F238E27FC236}">
                <a16:creationId xmlns:a16="http://schemas.microsoft.com/office/drawing/2014/main" id="{A471D385-F87E-C65B-F676-37EDC4BA8F4D}"/>
              </a:ext>
            </a:extLst>
          </p:cNvPr>
          <p:cNvSpPr>
            <a:spLocks noChangeShapeType="1"/>
          </p:cNvSpPr>
          <p:nvPr/>
        </p:nvSpPr>
        <p:spPr bwMode="auto">
          <a:xfrm>
            <a:off x="5259388" y="3048000"/>
            <a:ext cx="1600200" cy="213360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353" name="Rectangle 27">
            <a:extLst>
              <a:ext uri="{FF2B5EF4-FFF2-40B4-BE49-F238E27FC236}">
                <a16:creationId xmlns:a16="http://schemas.microsoft.com/office/drawing/2014/main" id="{80872941-16D3-0156-53FD-EAD1CAF3CAD7}"/>
              </a:ext>
            </a:extLst>
          </p:cNvPr>
          <p:cNvSpPr>
            <a:spLocks noChangeArrowheads="1"/>
          </p:cNvSpPr>
          <p:nvPr/>
        </p:nvSpPr>
        <p:spPr bwMode="auto">
          <a:xfrm>
            <a:off x="3887788" y="1981200"/>
            <a:ext cx="609600"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lnSpc>
                <a:spcPct val="130000"/>
              </a:lnSpc>
              <a:spcBef>
                <a:spcPct val="0"/>
              </a:spcBef>
              <a:buFontTx/>
              <a:buNone/>
            </a:pPr>
            <a:r>
              <a:rPr kumimoji="1" lang="en-US" altLang="zh-CN" sz="2000">
                <a:solidFill>
                  <a:srgbClr val="000000"/>
                </a:solidFill>
                <a:latin typeface="Times New Roman" panose="02020603050405020304" pitchFamily="18" charset="0"/>
              </a:rPr>
              <a:t>CS</a:t>
            </a:r>
          </a:p>
          <a:p>
            <a:pPr eaLnBrk="1" hangingPunct="1">
              <a:lnSpc>
                <a:spcPct val="130000"/>
              </a:lnSpc>
              <a:spcBef>
                <a:spcPct val="0"/>
              </a:spcBef>
              <a:buFontTx/>
              <a:buNone/>
            </a:pPr>
            <a:r>
              <a:rPr kumimoji="1" lang="en-US" altLang="zh-CN" sz="2000">
                <a:solidFill>
                  <a:srgbClr val="000000"/>
                </a:solidFill>
                <a:latin typeface="Times New Roman" panose="02020603050405020304" pitchFamily="18" charset="0"/>
              </a:rPr>
              <a:t>DS</a:t>
            </a:r>
          </a:p>
          <a:p>
            <a:pPr eaLnBrk="1" hangingPunct="1">
              <a:lnSpc>
                <a:spcPct val="130000"/>
              </a:lnSpc>
              <a:spcBef>
                <a:spcPct val="0"/>
              </a:spcBef>
              <a:buFontTx/>
              <a:buNone/>
            </a:pPr>
            <a:r>
              <a:rPr kumimoji="1" lang="en-US" altLang="zh-CN" sz="2000">
                <a:solidFill>
                  <a:srgbClr val="000000"/>
                </a:solidFill>
                <a:latin typeface="Times New Roman" panose="02020603050405020304" pitchFamily="18" charset="0"/>
              </a:rPr>
              <a:t>SS</a:t>
            </a:r>
          </a:p>
          <a:p>
            <a:pPr eaLnBrk="1" hangingPunct="1">
              <a:lnSpc>
                <a:spcPct val="130000"/>
              </a:lnSpc>
              <a:spcBef>
                <a:spcPct val="0"/>
              </a:spcBef>
              <a:buFontTx/>
              <a:buNone/>
            </a:pPr>
            <a:r>
              <a:rPr kumimoji="1" lang="en-US" altLang="zh-CN" sz="2000">
                <a:solidFill>
                  <a:srgbClr val="000000"/>
                </a:solidFill>
                <a:latin typeface="Times New Roman" panose="02020603050405020304" pitchFamily="18" charset="0"/>
              </a:rPr>
              <a:t>ES</a:t>
            </a:r>
          </a:p>
        </p:txBody>
      </p:sp>
      <p:sp>
        <p:nvSpPr>
          <p:cNvPr id="28" name="标题 1">
            <a:extLst>
              <a:ext uri="{FF2B5EF4-FFF2-40B4-BE49-F238E27FC236}">
                <a16:creationId xmlns:a16="http://schemas.microsoft.com/office/drawing/2014/main" id="{5B08C209-090E-A096-B5DE-A3146A36CA63}"/>
              </a:ext>
            </a:extLst>
          </p:cNvPr>
          <p:cNvSpPr txBox="1">
            <a:spLocks/>
          </p:cNvSpPr>
          <p:nvPr/>
        </p:nvSpPr>
        <p:spPr bwMode="auto">
          <a:xfrm>
            <a:off x="431800" y="457200"/>
            <a:ext cx="8077200" cy="914400"/>
          </a:xfrm>
          <a:prstGeom prst="rect">
            <a:avLst/>
          </a:prstGeom>
          <a:noFill/>
          <a:ln>
            <a:noFill/>
          </a:ln>
        </p:spPr>
        <p:txBody>
          <a:bodyPr anchor="ctr"/>
          <a:lst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Comic Sans MS" pitchFamily="66" charset="0"/>
              </a:defRPr>
            </a:lvl2pPr>
            <a:lvl3pPr algn="l" rtl="0" eaLnBrk="0" fontAlgn="base" hangingPunct="0">
              <a:spcBef>
                <a:spcPct val="0"/>
              </a:spcBef>
              <a:spcAft>
                <a:spcPct val="0"/>
              </a:spcAft>
              <a:defRPr sz="2800" b="1">
                <a:solidFill>
                  <a:schemeClr val="tx2"/>
                </a:solidFill>
                <a:latin typeface="Comic Sans MS" pitchFamily="66" charset="0"/>
              </a:defRPr>
            </a:lvl3pPr>
            <a:lvl4pPr algn="l" rtl="0" eaLnBrk="0" fontAlgn="base" hangingPunct="0">
              <a:spcBef>
                <a:spcPct val="0"/>
              </a:spcBef>
              <a:spcAft>
                <a:spcPct val="0"/>
              </a:spcAft>
              <a:defRPr sz="2800" b="1">
                <a:solidFill>
                  <a:schemeClr val="tx2"/>
                </a:solidFill>
                <a:latin typeface="Comic Sans MS" pitchFamily="66" charset="0"/>
              </a:defRPr>
            </a:lvl4pPr>
            <a:lvl5pPr algn="l" rtl="0" eaLnBrk="0" fontAlgn="base" hangingPunct="0">
              <a:spcBef>
                <a:spcPct val="0"/>
              </a:spcBef>
              <a:spcAft>
                <a:spcPct val="0"/>
              </a:spcAft>
              <a:defRPr sz="2800" b="1">
                <a:solidFill>
                  <a:schemeClr val="tx2"/>
                </a:solidFill>
                <a:latin typeface="Comic Sans MS" pitchFamily="66" charset="0"/>
              </a:defRPr>
            </a:lvl5pPr>
            <a:lvl6pPr marL="457200" algn="l" rtl="0" eaLnBrk="0" fontAlgn="base" hangingPunct="0">
              <a:spcBef>
                <a:spcPct val="0"/>
              </a:spcBef>
              <a:spcAft>
                <a:spcPct val="0"/>
              </a:spcAft>
              <a:defRPr sz="2800" b="1">
                <a:solidFill>
                  <a:schemeClr val="tx2"/>
                </a:solidFill>
                <a:latin typeface="Comic Sans MS" pitchFamily="66" charset="0"/>
              </a:defRPr>
            </a:lvl6pPr>
            <a:lvl7pPr marL="914400" algn="l" rtl="0" eaLnBrk="0" fontAlgn="base" hangingPunct="0">
              <a:spcBef>
                <a:spcPct val="0"/>
              </a:spcBef>
              <a:spcAft>
                <a:spcPct val="0"/>
              </a:spcAft>
              <a:defRPr sz="2800" b="1">
                <a:solidFill>
                  <a:schemeClr val="tx2"/>
                </a:solidFill>
                <a:latin typeface="Comic Sans MS" pitchFamily="66" charset="0"/>
              </a:defRPr>
            </a:lvl7pPr>
            <a:lvl8pPr marL="1371600" algn="l" rtl="0" eaLnBrk="0" fontAlgn="base" hangingPunct="0">
              <a:spcBef>
                <a:spcPct val="0"/>
              </a:spcBef>
              <a:spcAft>
                <a:spcPct val="0"/>
              </a:spcAft>
              <a:defRPr sz="2800" b="1">
                <a:solidFill>
                  <a:schemeClr val="tx2"/>
                </a:solidFill>
                <a:latin typeface="Comic Sans MS" pitchFamily="66" charset="0"/>
              </a:defRPr>
            </a:lvl8pPr>
            <a:lvl9pPr marL="1828800" algn="l" rtl="0" eaLnBrk="0" fontAlgn="base" hangingPunct="0">
              <a:spcBef>
                <a:spcPct val="0"/>
              </a:spcBef>
              <a:spcAft>
                <a:spcPct val="0"/>
              </a:spcAft>
              <a:defRPr sz="2800" b="1">
                <a:solidFill>
                  <a:schemeClr val="tx2"/>
                </a:solidFill>
                <a:latin typeface="Comic Sans MS" pitchFamily="66" charset="0"/>
              </a:defRPr>
            </a:lvl9pPr>
          </a:lstStyle>
          <a:p>
            <a:pPr>
              <a:defRPr/>
            </a:pPr>
            <a:r>
              <a:rPr kumimoji="1" lang="en-US" altLang="zh-CN" kern="0" dirty="0"/>
              <a:t>Memory</a:t>
            </a:r>
            <a:endParaRPr kumimoji="1" lang="zh-CN" altLang="en-US" kern="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489C70F7-37C9-86E7-B415-E2D49588BFAD}"/>
              </a:ext>
            </a:extLst>
          </p:cNvPr>
          <p:cNvSpPr>
            <a:spLocks noGrp="1" noChangeArrowheads="1"/>
          </p:cNvSpPr>
          <p:nvPr>
            <p:ph type="title"/>
          </p:nvPr>
        </p:nvSpPr>
        <p:spPr/>
        <p:txBody>
          <a:bodyPr/>
          <a:lstStyle/>
          <a:p>
            <a:pPr eaLnBrk="1" hangingPunct="1"/>
            <a:r>
              <a:rPr kumimoji="1" lang="en-US" altLang="zh-CN">
                <a:ea typeface="宋体" panose="02010600030101010101" pitchFamily="2" charset="-122"/>
              </a:rPr>
              <a:t>Memory</a:t>
            </a:r>
            <a:endParaRPr lang="zh-CN" altLang="en-US">
              <a:ea typeface="宋体" panose="02010600030101010101" pitchFamily="2" charset="-122"/>
            </a:endParaRPr>
          </a:p>
        </p:txBody>
      </p:sp>
      <p:sp>
        <p:nvSpPr>
          <p:cNvPr id="100354" name="Rectangle 3">
            <a:extLst>
              <a:ext uri="{FF2B5EF4-FFF2-40B4-BE49-F238E27FC236}">
                <a16:creationId xmlns:a16="http://schemas.microsoft.com/office/drawing/2014/main" id="{FA3FE26D-6395-4D2A-3ADC-DBDC52F2CB88}"/>
              </a:ext>
            </a:extLst>
          </p:cNvPr>
          <p:cNvSpPr>
            <a:spLocks noGrp="1" noChangeArrowheads="1"/>
          </p:cNvSpPr>
          <p:nvPr>
            <p:ph type="body" idx="1"/>
          </p:nvPr>
        </p:nvSpPr>
        <p:spPr>
          <a:xfrm>
            <a:off x="284163" y="1676400"/>
            <a:ext cx="8574087" cy="4267200"/>
          </a:xfrm>
        </p:spPr>
        <p:txBody>
          <a:bodyPr/>
          <a:lstStyle/>
          <a:p>
            <a:pPr eaLnBrk="1" hangingPunct="1">
              <a:lnSpc>
                <a:spcPct val="110000"/>
              </a:lnSpc>
            </a:pPr>
            <a:r>
              <a:rPr lang="zh-CN" altLang="en-US">
                <a:ea typeface="宋体" panose="02010600030101010101" pitchFamily="2" charset="-122"/>
              </a:rPr>
              <a:t>内存分段管理</a:t>
            </a:r>
            <a:endParaRPr lang="en-US" altLang="zh-CN">
              <a:ea typeface="宋体" panose="02010600030101010101" pitchFamily="2" charset="-122"/>
            </a:endParaRPr>
          </a:p>
          <a:p>
            <a:pPr lvl="1" eaLnBrk="1" hangingPunct="1">
              <a:lnSpc>
                <a:spcPct val="110000"/>
              </a:lnSpc>
            </a:pPr>
            <a:r>
              <a:rPr lang="zh-CN" altLang="en-US">
                <a:ea typeface="宋体" panose="02010600030101010101" pitchFamily="2" charset="-122"/>
              </a:rPr>
              <a:t>由于</a:t>
            </a:r>
            <a:r>
              <a:rPr lang="en-US" altLang="zh-CN">
                <a:ea typeface="宋体" panose="02010600030101010101" pitchFamily="2" charset="-122"/>
              </a:rPr>
              <a:t>8086</a:t>
            </a:r>
            <a:r>
              <a:rPr lang="zh-CN" altLang="en-US">
                <a:ea typeface="宋体" panose="02010600030101010101" pitchFamily="2" charset="-122"/>
              </a:rPr>
              <a:t>中的地址寄存器都是</a:t>
            </a:r>
            <a:r>
              <a:rPr lang="en-US" altLang="zh-CN">
                <a:ea typeface="宋体" panose="02010600030101010101" pitchFamily="2" charset="-122"/>
              </a:rPr>
              <a:t>16</a:t>
            </a:r>
            <a:r>
              <a:rPr lang="zh-CN" altLang="en-US">
                <a:ea typeface="宋体" panose="02010600030101010101" pitchFamily="2" charset="-122"/>
              </a:rPr>
              <a:t>位的，用户不能直接使用</a:t>
            </a:r>
            <a:r>
              <a:rPr lang="en-US" altLang="zh-CN">
                <a:ea typeface="宋体" panose="02010600030101010101" pitchFamily="2" charset="-122"/>
              </a:rPr>
              <a:t>20</a:t>
            </a:r>
            <a:r>
              <a:rPr lang="zh-CN" altLang="en-US">
                <a:ea typeface="宋体" panose="02010600030101010101" pitchFamily="2" charset="-122"/>
              </a:rPr>
              <a:t>位的物理地址，编程时需要使用</a:t>
            </a:r>
            <a:r>
              <a:rPr lang="zh-CN" altLang="en-US">
                <a:solidFill>
                  <a:schemeClr val="hlink"/>
                </a:solidFill>
                <a:ea typeface="宋体" panose="02010600030101010101" pitchFamily="2" charset="-122"/>
              </a:rPr>
              <a:t>逻辑地址</a:t>
            </a:r>
            <a:r>
              <a:rPr lang="zh-CN" altLang="en-US">
                <a:ea typeface="宋体" panose="02010600030101010101" pitchFamily="2" charset="-122"/>
              </a:rPr>
              <a:t>来寻址存储单元。</a:t>
            </a:r>
          </a:p>
          <a:p>
            <a:pPr lvl="1" eaLnBrk="1" hangingPunct="1">
              <a:lnSpc>
                <a:spcPct val="110000"/>
              </a:lnSpc>
            </a:pPr>
            <a:r>
              <a:rPr lang="zh-CN" altLang="en-US">
                <a:ea typeface="宋体" panose="02010600030101010101" pitchFamily="2" charset="-122"/>
              </a:rPr>
              <a:t>逻辑地址由两个</a:t>
            </a:r>
            <a:r>
              <a:rPr lang="en-US" altLang="zh-CN">
                <a:ea typeface="宋体" panose="02010600030101010101" pitchFamily="2" charset="-122"/>
              </a:rPr>
              <a:t>16</a:t>
            </a:r>
            <a:r>
              <a:rPr lang="zh-CN" altLang="en-US">
                <a:ea typeface="宋体" panose="02010600030101010101" pitchFamily="2" charset="-122"/>
              </a:rPr>
              <a:t>位数构成，其形式为：</a:t>
            </a:r>
          </a:p>
          <a:p>
            <a:pPr lvl="2" eaLnBrk="1" hangingPunct="1">
              <a:lnSpc>
                <a:spcPct val="110000"/>
              </a:lnSpc>
              <a:buFont typeface="Wingdings" pitchFamily="2" charset="2"/>
              <a:buNone/>
            </a:pPr>
            <a:r>
              <a:rPr lang="zh-CN" altLang="en-US">
                <a:ea typeface="宋体" panose="02010600030101010101" pitchFamily="2" charset="-122"/>
              </a:rPr>
              <a:t>   </a:t>
            </a:r>
            <a:r>
              <a:rPr lang="zh-CN" altLang="en-US" sz="2400">
                <a:ea typeface="宋体" panose="02010600030101010101" pitchFamily="2" charset="-122"/>
              </a:rPr>
              <a:t>段的起始地址   ： 段内的偏移地址</a:t>
            </a:r>
          </a:p>
          <a:p>
            <a:pPr lvl="2" eaLnBrk="1" hangingPunct="1">
              <a:lnSpc>
                <a:spcPct val="110000"/>
              </a:lnSpc>
              <a:buFont typeface="Wingdings" pitchFamily="2" charset="2"/>
              <a:buNone/>
            </a:pPr>
            <a:r>
              <a:rPr lang="zh-CN" altLang="en-US" sz="2400">
                <a:ea typeface="宋体" panose="02010600030101010101" pitchFamily="2" charset="-122"/>
              </a:rPr>
              <a:t>（</a:t>
            </a:r>
            <a:r>
              <a:rPr lang="en-US" altLang="zh-CN" sz="2400">
                <a:ea typeface="宋体" panose="02010600030101010101" pitchFamily="2" charset="-122"/>
              </a:rPr>
              <a:t>16</a:t>
            </a:r>
            <a:r>
              <a:rPr lang="zh-CN" altLang="en-US" sz="2400">
                <a:ea typeface="宋体" panose="02010600030101010101" pitchFamily="2" charset="-122"/>
              </a:rPr>
              <a:t>位段地址） ：（ </a:t>
            </a:r>
            <a:r>
              <a:rPr lang="en-US" altLang="zh-CN" sz="2400">
                <a:ea typeface="宋体" panose="02010600030101010101" pitchFamily="2" charset="-122"/>
              </a:rPr>
              <a:t>16</a:t>
            </a:r>
            <a:r>
              <a:rPr lang="zh-CN" altLang="en-US" sz="2400">
                <a:ea typeface="宋体" panose="02010600030101010101" pitchFamily="2" charset="-122"/>
              </a:rPr>
              <a:t>位偏移量）</a:t>
            </a:r>
            <a:r>
              <a:rPr lang="zh-CN" altLang="en-US" sz="2400">
                <a:solidFill>
                  <a:schemeClr val="accent2"/>
                </a:solidFill>
                <a:ea typeface="宋体" panose="02010600030101010101" pitchFamily="2" charset="-122"/>
              </a:rPr>
              <a:t> </a:t>
            </a:r>
            <a:endParaRPr lang="zh-CN" altLang="en-US" sz="2400">
              <a:ea typeface="宋体" panose="02010600030101010101" pitchFamily="2"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926B7D59-39CD-D711-5901-F4338258F14D}"/>
              </a:ext>
            </a:extLst>
          </p:cNvPr>
          <p:cNvSpPr>
            <a:spLocks noGrp="1" noChangeArrowheads="1"/>
          </p:cNvSpPr>
          <p:nvPr>
            <p:ph type="title"/>
          </p:nvPr>
        </p:nvSpPr>
        <p:spPr/>
        <p:txBody>
          <a:bodyPr/>
          <a:lstStyle/>
          <a:p>
            <a:pPr eaLnBrk="1" hangingPunct="1"/>
            <a:r>
              <a:rPr kumimoji="1" lang="en-US" altLang="zh-CN">
                <a:ea typeface="宋体" panose="02010600030101010101" pitchFamily="2" charset="-122"/>
              </a:rPr>
              <a:t>Memory</a:t>
            </a:r>
            <a:endParaRPr lang="zh-CN" altLang="en-US">
              <a:ea typeface="宋体" panose="02010600030101010101" pitchFamily="2" charset="-122"/>
            </a:endParaRPr>
          </a:p>
        </p:txBody>
      </p:sp>
      <p:sp>
        <p:nvSpPr>
          <p:cNvPr id="101378" name="Rectangle 3">
            <a:extLst>
              <a:ext uri="{FF2B5EF4-FFF2-40B4-BE49-F238E27FC236}">
                <a16:creationId xmlns:a16="http://schemas.microsoft.com/office/drawing/2014/main" id="{F59FFE80-B2B3-991C-58FD-808500EAA99A}"/>
              </a:ext>
            </a:extLst>
          </p:cNvPr>
          <p:cNvSpPr>
            <a:spLocks noGrp="1" noChangeArrowheads="1"/>
          </p:cNvSpPr>
          <p:nvPr>
            <p:ph type="body" idx="1"/>
          </p:nvPr>
        </p:nvSpPr>
        <p:spPr/>
        <p:txBody>
          <a:bodyPr/>
          <a:lstStyle/>
          <a:p>
            <a:pPr eaLnBrk="1" hangingPunct="1"/>
            <a:r>
              <a:rPr lang="zh-CN" altLang="en-US">
                <a:ea typeface="宋体" panose="02010600030101010101" pitchFamily="2" charset="-122"/>
              </a:rPr>
              <a:t>存储空间分为多个</a:t>
            </a:r>
            <a:r>
              <a:rPr lang="zh-CN" altLang="en-US">
                <a:solidFill>
                  <a:schemeClr val="hlink"/>
                </a:solidFill>
                <a:ea typeface="宋体" panose="02010600030101010101" pitchFamily="2" charset="-122"/>
              </a:rPr>
              <a:t>逻辑段</a:t>
            </a:r>
            <a:r>
              <a:rPr lang="zh-CN" altLang="en-US">
                <a:ea typeface="宋体" panose="02010600030101010101" pitchFamily="2" charset="-122"/>
              </a:rPr>
              <a:t>（段</a:t>
            </a:r>
            <a:r>
              <a:rPr lang="en-US" altLang="zh-CN">
                <a:latin typeface="Arial" panose="020B0604020202020204" pitchFamily="34" charset="0"/>
                <a:ea typeface="宋体" panose="02010600030101010101" pitchFamily="2" charset="-122"/>
              </a:rPr>
              <a:t>——</a:t>
            </a:r>
            <a:r>
              <a:rPr lang="en-US" altLang="zh-CN">
                <a:ea typeface="宋体" panose="02010600030101010101" pitchFamily="2" charset="-122"/>
              </a:rPr>
              <a:t>Segment</a:t>
            </a:r>
            <a:r>
              <a:rPr lang="zh-CN" altLang="en-US">
                <a:ea typeface="宋体" panose="02010600030101010101" pitchFamily="2" charset="-122"/>
              </a:rPr>
              <a:t>）：</a:t>
            </a:r>
          </a:p>
          <a:p>
            <a:pPr lvl="1" eaLnBrk="1" hangingPunct="1"/>
            <a:r>
              <a:rPr lang="zh-CN" altLang="en-US">
                <a:ea typeface="宋体" panose="02010600030101010101" pitchFamily="2" charset="-122"/>
              </a:rPr>
              <a:t>段的</a:t>
            </a:r>
            <a:r>
              <a:rPr lang="en-US" altLang="zh-CN">
                <a:ea typeface="宋体" panose="02010600030101010101" pitchFamily="2" charset="-122"/>
              </a:rPr>
              <a:t>20</a:t>
            </a:r>
            <a:r>
              <a:rPr lang="zh-CN" altLang="en-US">
                <a:ea typeface="宋体" panose="02010600030101010101" pitchFamily="2" charset="-122"/>
              </a:rPr>
              <a:t>位的起始地址（</a:t>
            </a:r>
            <a:r>
              <a:rPr lang="en-US" altLang="zh-CN">
                <a:ea typeface="宋体" panose="02010600030101010101" pitchFamily="2" charset="-122"/>
              </a:rPr>
              <a:t>xxxxxH</a:t>
            </a:r>
            <a:r>
              <a:rPr lang="zh-CN" altLang="en-US">
                <a:ea typeface="宋体" panose="02010600030101010101" pitchFamily="2" charset="-122"/>
              </a:rPr>
              <a:t>）其低</a:t>
            </a:r>
            <a:r>
              <a:rPr lang="en-US" altLang="zh-CN">
                <a:ea typeface="宋体" panose="02010600030101010101" pitchFamily="2" charset="-122"/>
              </a:rPr>
              <a:t>4</a:t>
            </a:r>
            <a:r>
              <a:rPr lang="zh-CN" altLang="en-US">
                <a:ea typeface="宋体" panose="02010600030101010101" pitchFamily="2" charset="-122"/>
              </a:rPr>
              <a:t>位必须为</a:t>
            </a:r>
            <a:r>
              <a:rPr lang="en-US" altLang="zh-CN">
                <a:ea typeface="宋体" panose="02010600030101010101" pitchFamily="2" charset="-122"/>
              </a:rPr>
              <a:t>0</a:t>
            </a:r>
            <a:r>
              <a:rPr lang="zh-CN" altLang="en-US">
                <a:ea typeface="宋体" panose="02010600030101010101" pitchFamily="2" charset="-122"/>
              </a:rPr>
              <a:t>（</a:t>
            </a:r>
            <a:r>
              <a:rPr lang="en-US" altLang="zh-CN">
                <a:ea typeface="宋体" panose="02010600030101010101" pitchFamily="2" charset="-122"/>
              </a:rPr>
              <a:t>xxxx0H</a:t>
            </a:r>
            <a:r>
              <a:rPr lang="zh-CN" altLang="en-US">
                <a:ea typeface="宋体" panose="02010600030101010101" pitchFamily="2" charset="-122"/>
              </a:rPr>
              <a:t>），所以可以将它们省略，然后用</a:t>
            </a:r>
            <a:r>
              <a:rPr lang="en-US" altLang="zh-CN">
                <a:ea typeface="宋体" panose="02010600030101010101" pitchFamily="2" charset="-122"/>
              </a:rPr>
              <a:t>1</a:t>
            </a:r>
            <a:r>
              <a:rPr lang="zh-CN" altLang="en-US">
                <a:ea typeface="宋体" panose="02010600030101010101" pitchFamily="2" charset="-122"/>
              </a:rPr>
              <a:t>个</a:t>
            </a:r>
            <a:r>
              <a:rPr lang="en-US" altLang="zh-CN">
                <a:ea typeface="宋体" panose="02010600030101010101" pitchFamily="2" charset="-122"/>
              </a:rPr>
              <a:t>16</a:t>
            </a:r>
            <a:r>
              <a:rPr lang="zh-CN" altLang="en-US">
                <a:ea typeface="宋体" panose="02010600030101010101" pitchFamily="2" charset="-122"/>
              </a:rPr>
              <a:t>位数来表示段的首地址。</a:t>
            </a:r>
          </a:p>
          <a:p>
            <a:pPr lvl="1" eaLnBrk="1" hangingPunct="1"/>
            <a:r>
              <a:rPr lang="zh-CN" altLang="en-US">
                <a:ea typeface="宋体" panose="02010600030101010101" pitchFamily="2" charset="-122"/>
              </a:rPr>
              <a:t>每段长度限</a:t>
            </a:r>
            <a:r>
              <a:rPr lang="en-US" altLang="zh-CN">
                <a:ea typeface="宋体" panose="02010600030101010101" pitchFamily="2" charset="-122"/>
              </a:rPr>
              <a:t>2</a:t>
            </a:r>
            <a:r>
              <a:rPr lang="en-US" altLang="zh-CN" baseline="30000">
                <a:ea typeface="宋体" panose="02010600030101010101" pitchFamily="2" charset="-122"/>
              </a:rPr>
              <a:t>16</a:t>
            </a:r>
            <a:r>
              <a:rPr lang="en-US" altLang="zh-CN">
                <a:ea typeface="宋体" panose="02010600030101010101" pitchFamily="2" charset="-122"/>
              </a:rPr>
              <a:t>=64KB</a:t>
            </a:r>
            <a:r>
              <a:rPr lang="zh-CN" altLang="en-US">
                <a:ea typeface="宋体" panose="02010600030101010101" pitchFamily="2" charset="-122"/>
              </a:rPr>
              <a:t>，所以段内偏移地址可以用</a:t>
            </a:r>
            <a:r>
              <a:rPr lang="en-US" altLang="zh-CN">
                <a:ea typeface="宋体" panose="02010600030101010101" pitchFamily="2" charset="-122"/>
              </a:rPr>
              <a:t>1</a:t>
            </a:r>
            <a:r>
              <a:rPr lang="zh-CN" altLang="en-US">
                <a:ea typeface="宋体" panose="02010600030101010101" pitchFamily="2" charset="-122"/>
              </a:rPr>
              <a:t>个</a:t>
            </a:r>
            <a:r>
              <a:rPr lang="en-US" altLang="zh-CN">
                <a:ea typeface="宋体" panose="02010600030101010101" pitchFamily="2" charset="-122"/>
              </a:rPr>
              <a:t>16</a:t>
            </a:r>
            <a:r>
              <a:rPr lang="zh-CN" altLang="en-US">
                <a:ea typeface="宋体" panose="02010600030101010101" pitchFamily="2" charset="-122"/>
              </a:rPr>
              <a:t>位数来表示（</a:t>
            </a:r>
            <a:r>
              <a:rPr lang="en-US" altLang="zh-CN">
                <a:ea typeface="宋体" panose="02010600030101010101" pitchFamily="2" charset="-122"/>
              </a:rPr>
              <a:t>xxxxH</a:t>
            </a:r>
            <a:r>
              <a:rPr lang="zh-CN" altLang="en-US">
                <a:ea typeface="宋体" panose="02010600030101010101" pitchFamily="2" charset="-122"/>
              </a:rPr>
              <a:t>）；</a:t>
            </a:r>
          </a:p>
          <a:p>
            <a:pPr lvl="1" eaLnBrk="1" hangingPunct="1"/>
            <a:r>
              <a:rPr lang="zh-CN" altLang="en-US">
                <a:ea typeface="宋体" panose="02010600030101010101" pitchFamily="2" charset="-122"/>
              </a:rPr>
              <a:t>所以有：</a:t>
            </a:r>
          </a:p>
          <a:p>
            <a:pPr lvl="1" eaLnBrk="1" hangingPunct="1">
              <a:buFont typeface="Wingdings" pitchFamily="2" charset="2"/>
              <a:buNone/>
            </a:pPr>
            <a:r>
              <a:rPr lang="zh-CN" altLang="en-US">
                <a:solidFill>
                  <a:schemeClr val="accent2"/>
                </a:solidFill>
                <a:ea typeface="宋体" panose="02010600030101010101" pitchFamily="2" charset="-122"/>
              </a:rPr>
              <a:t>       </a:t>
            </a:r>
            <a:r>
              <a:rPr lang="zh-CN" altLang="en-US">
                <a:solidFill>
                  <a:schemeClr val="hlink"/>
                </a:solidFill>
                <a:ea typeface="宋体" panose="02010600030101010101" pitchFamily="2" charset="-122"/>
              </a:rPr>
              <a:t>段的起始地址   ： 段内的偏移地址</a:t>
            </a:r>
          </a:p>
          <a:p>
            <a:pPr lvl="2" eaLnBrk="1" hangingPunct="1">
              <a:lnSpc>
                <a:spcPct val="110000"/>
              </a:lnSpc>
              <a:buFont typeface="Wingdings" pitchFamily="2" charset="2"/>
              <a:buNone/>
            </a:pPr>
            <a:r>
              <a:rPr lang="zh-CN" altLang="en-US">
                <a:ea typeface="宋体" panose="02010600030101010101" pitchFamily="2" charset="-122"/>
              </a:rPr>
              <a:t>（</a:t>
            </a:r>
            <a:r>
              <a:rPr lang="en-US" altLang="zh-CN">
                <a:ea typeface="宋体" panose="02010600030101010101" pitchFamily="2" charset="-122"/>
              </a:rPr>
              <a:t>16</a:t>
            </a:r>
            <a:r>
              <a:rPr lang="zh-CN" altLang="en-US">
                <a:ea typeface="宋体" panose="02010600030101010101" pitchFamily="2" charset="-122"/>
              </a:rPr>
              <a:t>位段地址） ：（ </a:t>
            </a:r>
            <a:r>
              <a:rPr lang="en-US" altLang="zh-CN">
                <a:ea typeface="宋体" panose="02010600030101010101" pitchFamily="2" charset="-122"/>
              </a:rPr>
              <a:t>16</a:t>
            </a:r>
            <a:r>
              <a:rPr lang="zh-CN" altLang="en-US">
                <a:ea typeface="宋体" panose="02010600030101010101" pitchFamily="2" charset="-122"/>
              </a:rPr>
              <a:t>位偏移量）</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3">
            <a:extLst>
              <a:ext uri="{FF2B5EF4-FFF2-40B4-BE49-F238E27FC236}">
                <a16:creationId xmlns:a16="http://schemas.microsoft.com/office/drawing/2014/main" id="{3B85204B-7A66-EAB5-38F3-798D602EC054}"/>
              </a:ext>
            </a:extLst>
          </p:cNvPr>
          <p:cNvSpPr>
            <a:spLocks noGrp="1" noChangeArrowheads="1"/>
          </p:cNvSpPr>
          <p:nvPr>
            <p:ph type="body" idx="1"/>
          </p:nvPr>
        </p:nvSpPr>
        <p:spPr>
          <a:xfrm>
            <a:off x="361950" y="1628775"/>
            <a:ext cx="8458200" cy="4724400"/>
          </a:xfrm>
        </p:spPr>
        <p:txBody>
          <a:bodyPr/>
          <a:lstStyle/>
          <a:p>
            <a:pPr eaLnBrk="1" hangingPunct="1">
              <a:lnSpc>
                <a:spcPct val="90000"/>
              </a:lnSpc>
            </a:pPr>
            <a:r>
              <a:rPr lang="zh-CN" altLang="en-US">
                <a:ea typeface="宋体" panose="02010600030101010101" pitchFamily="2" charset="-122"/>
              </a:rPr>
              <a:t>物理地址和逻辑地址</a:t>
            </a:r>
            <a:endParaRPr lang="en-US" altLang="zh-CN">
              <a:ea typeface="宋体" panose="02010600030101010101" pitchFamily="2" charset="-122"/>
            </a:endParaRPr>
          </a:p>
          <a:p>
            <a:pPr lvl="1" eaLnBrk="1" hangingPunct="1">
              <a:lnSpc>
                <a:spcPct val="90000"/>
              </a:lnSpc>
            </a:pPr>
            <a:r>
              <a:rPr lang="zh-CN" altLang="en-US">
                <a:ea typeface="宋体" panose="02010600030101010101" pitchFamily="2" charset="-122"/>
              </a:rPr>
              <a:t>每个存储单元都有一个唯一</a:t>
            </a:r>
            <a:r>
              <a:rPr lang="zh-CN" altLang="en-US">
                <a:solidFill>
                  <a:schemeClr val="hlink"/>
                </a:solidFill>
                <a:ea typeface="宋体" panose="02010600030101010101" pitchFamily="2" charset="-122"/>
              </a:rPr>
              <a:t>物理地址</a:t>
            </a:r>
            <a:r>
              <a:rPr lang="zh-CN" altLang="en-US">
                <a:ea typeface="宋体" panose="02010600030101010101" pitchFamily="2" charset="-122"/>
              </a:rPr>
              <a:t>（</a:t>
            </a:r>
            <a:r>
              <a:rPr lang="en-US" altLang="zh-CN">
                <a:ea typeface="宋体" panose="02010600030101010101" pitchFamily="2" charset="-122"/>
              </a:rPr>
              <a:t>00000H</a:t>
            </a:r>
            <a:r>
              <a:rPr lang="zh-CN" altLang="en-US">
                <a:ea typeface="宋体" panose="02010600030101010101" pitchFamily="2" charset="-122"/>
              </a:rPr>
              <a:t>～</a:t>
            </a:r>
            <a:r>
              <a:rPr lang="en-US" altLang="zh-CN">
                <a:ea typeface="宋体" panose="02010600030101010101" pitchFamily="2" charset="-122"/>
              </a:rPr>
              <a:t>FFFFFH</a:t>
            </a:r>
            <a:r>
              <a:rPr lang="zh-CN" altLang="en-US">
                <a:ea typeface="宋体" panose="02010600030101010101" pitchFamily="2" charset="-122"/>
              </a:rPr>
              <a:t>） ，</a:t>
            </a:r>
            <a:r>
              <a:rPr lang="en-US" altLang="zh-CN">
                <a:ea typeface="宋体" panose="02010600030101010101" pitchFamily="2" charset="-122"/>
              </a:rPr>
              <a:t>20</a:t>
            </a:r>
            <a:r>
              <a:rPr lang="zh-CN" altLang="en-US">
                <a:ea typeface="宋体" panose="02010600030101010101" pitchFamily="2" charset="-122"/>
              </a:rPr>
              <a:t>位，该地址在指令执行时由地址加法器形成，并进行硬件寻址。</a:t>
            </a:r>
          </a:p>
          <a:p>
            <a:pPr lvl="1" eaLnBrk="1" hangingPunct="1">
              <a:lnSpc>
                <a:spcPct val="90000"/>
              </a:lnSpc>
            </a:pPr>
            <a:r>
              <a:rPr lang="zh-CN" altLang="en-US">
                <a:ea typeface="宋体" panose="02010600030101010101" pitchFamily="2" charset="-122"/>
              </a:rPr>
              <a:t>地址加法器的具体做法：段地址左移</a:t>
            </a:r>
            <a:r>
              <a:rPr lang="en-US" altLang="zh-CN">
                <a:ea typeface="宋体" panose="02010600030101010101" pitchFamily="2" charset="-122"/>
              </a:rPr>
              <a:t>4</a:t>
            </a:r>
            <a:r>
              <a:rPr lang="zh-CN" altLang="en-US">
                <a:ea typeface="宋体" panose="02010600030101010101" pitchFamily="2" charset="-122"/>
              </a:rPr>
              <a:t>位，然后加上偏移地址就得到</a:t>
            </a:r>
            <a:r>
              <a:rPr lang="en-US" altLang="zh-CN">
                <a:ea typeface="宋体" panose="02010600030101010101" pitchFamily="2" charset="-122"/>
              </a:rPr>
              <a:t>20</a:t>
            </a:r>
            <a:r>
              <a:rPr lang="zh-CN" altLang="en-US">
                <a:ea typeface="宋体" panose="02010600030101010101" pitchFamily="2" charset="-122"/>
              </a:rPr>
              <a:t>位物理地址。</a:t>
            </a:r>
          </a:p>
          <a:p>
            <a:pPr lvl="1" eaLnBrk="1" hangingPunct="1">
              <a:lnSpc>
                <a:spcPct val="90000"/>
              </a:lnSpc>
            </a:pPr>
            <a:r>
              <a:rPr lang="zh-CN" altLang="en-US">
                <a:ea typeface="宋体" panose="02010600030101010101" pitchFamily="2" charset="-122"/>
              </a:rPr>
              <a:t>用户编程时采用</a:t>
            </a:r>
            <a:r>
              <a:rPr lang="zh-CN" altLang="en-US">
                <a:solidFill>
                  <a:schemeClr val="hlink"/>
                </a:solidFill>
                <a:ea typeface="宋体" panose="02010600030101010101" pitchFamily="2" charset="-122"/>
              </a:rPr>
              <a:t>逻辑地址</a:t>
            </a:r>
            <a:r>
              <a:rPr lang="zh-CN" altLang="en-US">
                <a:ea typeface="宋体" panose="02010600030101010101" pitchFamily="2" charset="-122"/>
              </a:rPr>
              <a:t>，其形式为：</a:t>
            </a:r>
          </a:p>
          <a:p>
            <a:pPr algn="ctr" eaLnBrk="1" hangingPunct="1">
              <a:lnSpc>
                <a:spcPct val="90000"/>
              </a:lnSpc>
              <a:buFont typeface="Wingdings" pitchFamily="2" charset="2"/>
              <a:buNone/>
            </a:pPr>
            <a:r>
              <a:rPr lang="zh-CN" altLang="en-US" sz="2400">
                <a:solidFill>
                  <a:schemeClr val="accent2"/>
                </a:solidFill>
                <a:ea typeface="宋体" panose="02010600030101010101" pitchFamily="2" charset="-122"/>
                <a:hlinkClick r:id="rId2" action="ppaction://hlinksldjump"/>
              </a:rPr>
              <a:t>段的首地址 </a:t>
            </a:r>
            <a:r>
              <a:rPr lang="en-US" altLang="zh-CN" sz="2400">
                <a:solidFill>
                  <a:schemeClr val="accent2"/>
                </a:solidFill>
                <a:ea typeface="宋体" panose="02010600030101010101" pitchFamily="2" charset="-122"/>
              </a:rPr>
              <a:t>: </a:t>
            </a:r>
            <a:r>
              <a:rPr lang="zh-CN" altLang="en-US" sz="2400">
                <a:solidFill>
                  <a:schemeClr val="accent2"/>
                </a:solidFill>
                <a:ea typeface="宋体" panose="02010600030101010101" pitchFamily="2" charset="-122"/>
                <a:hlinkClick r:id="rId2" action="ppaction://hlinksldjump"/>
              </a:rPr>
              <a:t>段内偏移地址</a:t>
            </a:r>
            <a:endParaRPr lang="zh-CN" altLang="en-US" sz="2400">
              <a:solidFill>
                <a:schemeClr val="accent2"/>
              </a:solidFill>
              <a:ea typeface="宋体" panose="02010600030101010101" pitchFamily="2" charset="-122"/>
            </a:endParaRPr>
          </a:p>
          <a:p>
            <a:pPr eaLnBrk="1" hangingPunct="1">
              <a:lnSpc>
                <a:spcPct val="90000"/>
              </a:lnSpc>
              <a:buFont typeface="Wingdings" pitchFamily="2" charset="2"/>
              <a:buNone/>
            </a:pPr>
            <a:r>
              <a:rPr lang="zh-CN" altLang="en-US">
                <a:ea typeface="宋体" panose="02010600030101010101" pitchFamily="2" charset="-122"/>
              </a:rPr>
              <a:t>	</a:t>
            </a:r>
            <a:r>
              <a:rPr lang="en-US" altLang="zh-CN">
                <a:ea typeface="宋体" panose="02010600030101010101" pitchFamily="2" charset="-122"/>
              </a:rPr>
              <a:t>	</a:t>
            </a:r>
            <a:r>
              <a:rPr lang="zh-CN" altLang="en-US" sz="2400">
                <a:ea typeface="宋体" panose="02010600030101010101" pitchFamily="2" charset="-122"/>
              </a:rPr>
              <a:t>它们由两个</a:t>
            </a:r>
            <a:r>
              <a:rPr lang="en-US" altLang="zh-CN" sz="2400">
                <a:ea typeface="宋体" panose="02010600030101010101" pitchFamily="2" charset="-122"/>
              </a:rPr>
              <a:t>16</a:t>
            </a:r>
            <a:r>
              <a:rPr lang="zh-CN" altLang="en-US" sz="2400">
                <a:ea typeface="宋体" panose="02010600030101010101" pitchFamily="2" charset="-122"/>
              </a:rPr>
              <a:t>位的无符号数构成 。</a:t>
            </a:r>
          </a:p>
          <a:p>
            <a:pPr lvl="1" eaLnBrk="1" hangingPunct="1">
              <a:lnSpc>
                <a:spcPct val="90000"/>
              </a:lnSpc>
            </a:pPr>
            <a:r>
              <a:rPr lang="zh-CN" altLang="en-US">
                <a:solidFill>
                  <a:srgbClr val="009900"/>
                </a:solidFill>
                <a:ea typeface="宋体" panose="02010600030101010101" pitchFamily="2" charset="-122"/>
              </a:rPr>
              <a:t>逻辑地址</a:t>
            </a:r>
            <a:r>
              <a:rPr lang="zh-CN" altLang="en-US">
                <a:solidFill>
                  <a:srgbClr val="009900"/>
                </a:solidFill>
                <a:latin typeface="Arial" panose="020B0604020202020204" pitchFamily="34" charset="0"/>
                <a:ea typeface="宋体" panose="02010600030101010101" pitchFamily="2" charset="-122"/>
              </a:rPr>
              <a:t>“</a:t>
            </a:r>
            <a:r>
              <a:rPr lang="en-US" altLang="zh-CN">
                <a:solidFill>
                  <a:srgbClr val="009900"/>
                </a:solidFill>
                <a:ea typeface="宋体" panose="02010600030101010101" pitchFamily="2" charset="-122"/>
              </a:rPr>
              <a:t>1460H:100H</a:t>
            </a:r>
            <a:r>
              <a:rPr lang="en-US" altLang="zh-CN">
                <a:solidFill>
                  <a:srgbClr val="009900"/>
                </a:solidFill>
                <a:latin typeface="Arial" panose="020B0604020202020204" pitchFamily="34" charset="0"/>
                <a:ea typeface="宋体" panose="02010600030101010101" pitchFamily="2" charset="-122"/>
              </a:rPr>
              <a:t>”</a:t>
            </a:r>
            <a:r>
              <a:rPr lang="en-US" altLang="zh-CN">
                <a:solidFill>
                  <a:srgbClr val="009900"/>
                </a:solidFill>
                <a:ea typeface="宋体" panose="02010600030101010101" pitchFamily="2" charset="-122"/>
              </a:rPr>
              <a:t> = </a:t>
            </a:r>
            <a:r>
              <a:rPr lang="zh-CN" altLang="en-US">
                <a:solidFill>
                  <a:srgbClr val="009900"/>
                </a:solidFill>
                <a:ea typeface="宋体" panose="02010600030101010101" pitchFamily="2" charset="-122"/>
              </a:rPr>
              <a:t>物理地址</a:t>
            </a:r>
            <a:r>
              <a:rPr lang="en-US" altLang="zh-CN">
                <a:solidFill>
                  <a:srgbClr val="009900"/>
                </a:solidFill>
                <a:ea typeface="宋体" panose="02010600030101010101" pitchFamily="2" charset="-122"/>
              </a:rPr>
              <a:t>14700H</a:t>
            </a:r>
          </a:p>
          <a:p>
            <a:pPr lvl="1" eaLnBrk="1" hangingPunct="1">
              <a:lnSpc>
                <a:spcPct val="90000"/>
              </a:lnSpc>
              <a:buFont typeface="Wingdings" pitchFamily="2" charset="2"/>
              <a:buNone/>
            </a:pPr>
            <a:r>
              <a:rPr lang="en-US" altLang="zh-CN" sz="2000">
                <a:solidFill>
                  <a:srgbClr val="009900"/>
                </a:solidFill>
                <a:ea typeface="宋体" panose="02010600030101010101" pitchFamily="2" charset="-122"/>
              </a:rPr>
              <a:t>		</a:t>
            </a:r>
            <a:r>
              <a:rPr lang="en-US" altLang="zh-CN">
                <a:solidFill>
                  <a:srgbClr val="009900"/>
                </a:solidFill>
                <a:ea typeface="宋体" panose="02010600030101010101" pitchFamily="2" charset="-122"/>
              </a:rPr>
              <a:t>14600H + 100H = 14700H</a:t>
            </a:r>
          </a:p>
        </p:txBody>
      </p:sp>
      <p:sp>
        <p:nvSpPr>
          <p:cNvPr id="102402" name="Rectangle 2">
            <a:extLst>
              <a:ext uri="{FF2B5EF4-FFF2-40B4-BE49-F238E27FC236}">
                <a16:creationId xmlns:a16="http://schemas.microsoft.com/office/drawing/2014/main" id="{D5BD11A3-6381-9636-B716-C1C1AF9F9FB5}"/>
              </a:ext>
            </a:extLst>
          </p:cNvPr>
          <p:cNvSpPr>
            <a:spLocks noGrp="1" noChangeArrowheads="1"/>
          </p:cNvSpPr>
          <p:nvPr>
            <p:ph type="title"/>
          </p:nvPr>
        </p:nvSpPr>
        <p:spPr/>
        <p:txBody>
          <a:bodyPr/>
          <a:lstStyle/>
          <a:p>
            <a:pPr eaLnBrk="1" hangingPunct="1"/>
            <a:r>
              <a:rPr kumimoji="1" lang="en-US" altLang="zh-CN">
                <a:ea typeface="宋体" panose="02010600030101010101" pitchFamily="2" charset="-122"/>
              </a:rPr>
              <a:t>Memory</a:t>
            </a:r>
            <a:endParaRPr lang="zh-CN" altLang="en-US">
              <a:ea typeface="宋体" panose="02010600030101010101" pitchFamily="2"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B4F366D8-DB8A-15C2-6760-9E15AB2B5099}"/>
              </a:ext>
            </a:extLst>
          </p:cNvPr>
          <p:cNvSpPr>
            <a:spLocks noGrp="1" noChangeArrowheads="1"/>
          </p:cNvSpPr>
          <p:nvPr>
            <p:ph type="title"/>
          </p:nvPr>
        </p:nvSpPr>
        <p:spPr>
          <a:xfrm>
            <a:off x="457200" y="1363663"/>
            <a:ext cx="8077200" cy="914400"/>
          </a:xfrm>
        </p:spPr>
        <p:txBody>
          <a:bodyPr/>
          <a:lstStyle/>
          <a:p>
            <a:r>
              <a:rPr lang="zh-CN" altLang="en-US" b="0">
                <a:solidFill>
                  <a:schemeClr val="tx1"/>
                </a:solidFill>
                <a:ea typeface="宋体" panose="02010600030101010101" pitchFamily="2" charset="-122"/>
              </a:rPr>
              <a:t>逻辑地址 </a:t>
            </a:r>
            <a:r>
              <a:rPr lang="en-US" altLang="zh-CN" b="0">
                <a:solidFill>
                  <a:schemeClr val="tx1"/>
                </a:solidFill>
                <a:ea typeface="宋体" panose="02010600030101010101" pitchFamily="2" charset="-122"/>
              </a:rPr>
              <a:t>vs. </a:t>
            </a:r>
            <a:r>
              <a:rPr lang="zh-CN" altLang="en-US" b="0">
                <a:solidFill>
                  <a:schemeClr val="tx1"/>
                </a:solidFill>
                <a:ea typeface="宋体" panose="02010600030101010101" pitchFamily="2" charset="-122"/>
              </a:rPr>
              <a:t>物理地址</a:t>
            </a:r>
          </a:p>
        </p:txBody>
      </p:sp>
      <p:sp>
        <p:nvSpPr>
          <p:cNvPr id="103426" name="Text Box 3">
            <a:extLst>
              <a:ext uri="{FF2B5EF4-FFF2-40B4-BE49-F238E27FC236}">
                <a16:creationId xmlns:a16="http://schemas.microsoft.com/office/drawing/2014/main" id="{97056CD1-6BFC-EFB0-1BC2-B90DCC4AF695}"/>
              </a:ext>
            </a:extLst>
          </p:cNvPr>
          <p:cNvSpPr txBox="1">
            <a:spLocks noChangeArrowheads="1"/>
          </p:cNvSpPr>
          <p:nvPr/>
        </p:nvSpPr>
        <p:spPr bwMode="auto">
          <a:xfrm>
            <a:off x="2209800" y="2667000"/>
            <a:ext cx="3429000" cy="40957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2000">
                <a:latin typeface="黑体" panose="02010609060101010101" pitchFamily="49" charset="-122"/>
                <a:ea typeface="黑体" panose="02010609060101010101" pitchFamily="49" charset="-122"/>
                <a:cs typeface="黑体" panose="02010609060101010101" pitchFamily="49" charset="-122"/>
              </a:rPr>
              <a:t>      </a:t>
            </a:r>
            <a:r>
              <a:rPr kumimoji="1" lang="en-US" altLang="zh-CN" sz="2000">
                <a:latin typeface="黑体" panose="02010609060101010101" pitchFamily="49" charset="-122"/>
                <a:ea typeface="黑体" panose="02010609060101010101" pitchFamily="49" charset="-122"/>
                <a:cs typeface="黑体" panose="02010609060101010101" pitchFamily="49" charset="-122"/>
              </a:rPr>
              <a:t>16 </a:t>
            </a:r>
            <a:r>
              <a:rPr kumimoji="1" lang="zh-CN" altLang="en-US" sz="2000">
                <a:latin typeface="黑体" panose="02010609060101010101" pitchFamily="49" charset="-122"/>
                <a:ea typeface="黑体" panose="02010609060101010101" pitchFamily="49" charset="-122"/>
                <a:cs typeface="黑体" panose="02010609060101010101" pitchFamily="49" charset="-122"/>
              </a:rPr>
              <a:t>位 段 地 址</a:t>
            </a:r>
            <a:r>
              <a:rPr kumimoji="1" lang="zh-CN" altLang="en-US" sz="2000">
                <a:latin typeface="Times New Roman" panose="02020603050405020304" pitchFamily="18" charset="0"/>
                <a:ea typeface="黑体" panose="02010609060101010101" pitchFamily="49" charset="-122"/>
                <a:cs typeface="黑体" panose="02010609060101010101" pitchFamily="49" charset="-122"/>
              </a:rPr>
              <a:t>           </a:t>
            </a:r>
          </a:p>
        </p:txBody>
      </p:sp>
      <p:sp>
        <p:nvSpPr>
          <p:cNvPr id="103427" name="Text Box 4">
            <a:extLst>
              <a:ext uri="{FF2B5EF4-FFF2-40B4-BE49-F238E27FC236}">
                <a16:creationId xmlns:a16="http://schemas.microsoft.com/office/drawing/2014/main" id="{C2EBE1C7-D51B-422A-4595-5E194C018E02}"/>
              </a:ext>
            </a:extLst>
          </p:cNvPr>
          <p:cNvSpPr txBox="1">
            <a:spLocks noChangeArrowheads="1"/>
          </p:cNvSpPr>
          <p:nvPr/>
        </p:nvSpPr>
        <p:spPr bwMode="auto">
          <a:xfrm>
            <a:off x="3352800" y="3365500"/>
            <a:ext cx="3200400" cy="40957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2000">
                <a:latin typeface="黑体" panose="02010609060101010101" pitchFamily="49" charset="-122"/>
                <a:ea typeface="黑体" panose="02010609060101010101" pitchFamily="49" charset="-122"/>
                <a:cs typeface="黑体" panose="02010609060101010101" pitchFamily="49" charset="-122"/>
              </a:rPr>
              <a:t>      </a:t>
            </a:r>
            <a:r>
              <a:rPr kumimoji="1" lang="en-US" altLang="zh-CN" sz="2000">
                <a:latin typeface="黑体" panose="02010609060101010101" pitchFamily="49" charset="-122"/>
                <a:ea typeface="黑体" panose="02010609060101010101" pitchFamily="49" charset="-122"/>
                <a:cs typeface="黑体" panose="02010609060101010101" pitchFamily="49" charset="-122"/>
              </a:rPr>
              <a:t>16 </a:t>
            </a:r>
            <a:r>
              <a:rPr kumimoji="1" lang="zh-CN" altLang="en-US" sz="2000">
                <a:latin typeface="黑体" panose="02010609060101010101" pitchFamily="49" charset="-122"/>
                <a:ea typeface="黑体" panose="02010609060101010101" pitchFamily="49" charset="-122"/>
                <a:cs typeface="黑体" panose="02010609060101010101" pitchFamily="49" charset="-122"/>
              </a:rPr>
              <a:t>位 偏 移 地 址</a:t>
            </a:r>
          </a:p>
        </p:txBody>
      </p:sp>
      <p:sp>
        <p:nvSpPr>
          <p:cNvPr id="103428" name="Text Box 5">
            <a:extLst>
              <a:ext uri="{FF2B5EF4-FFF2-40B4-BE49-F238E27FC236}">
                <a16:creationId xmlns:a16="http://schemas.microsoft.com/office/drawing/2014/main" id="{382D2DF7-7060-44D3-573C-F38155F661F4}"/>
              </a:ext>
            </a:extLst>
          </p:cNvPr>
          <p:cNvSpPr txBox="1">
            <a:spLocks noChangeArrowheads="1"/>
          </p:cNvSpPr>
          <p:nvPr/>
        </p:nvSpPr>
        <p:spPr bwMode="auto">
          <a:xfrm>
            <a:off x="5638800" y="2667000"/>
            <a:ext cx="838200" cy="40957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2000">
                <a:latin typeface="Times New Roman" panose="02020603050405020304" pitchFamily="18" charset="0"/>
              </a:rPr>
              <a:t>  </a:t>
            </a:r>
            <a:r>
              <a:rPr kumimoji="1" lang="en-US" altLang="zh-CN" sz="2000">
                <a:latin typeface="Times New Roman" panose="02020603050405020304" pitchFamily="18" charset="0"/>
              </a:rPr>
              <a:t>0000</a:t>
            </a:r>
          </a:p>
        </p:txBody>
      </p:sp>
      <p:sp>
        <p:nvSpPr>
          <p:cNvPr id="103429" name="Line 6">
            <a:extLst>
              <a:ext uri="{FF2B5EF4-FFF2-40B4-BE49-F238E27FC236}">
                <a16:creationId xmlns:a16="http://schemas.microsoft.com/office/drawing/2014/main" id="{6111E72F-E37A-8C3D-7E88-08A7F97E91A2}"/>
              </a:ext>
            </a:extLst>
          </p:cNvPr>
          <p:cNvSpPr>
            <a:spLocks noChangeShapeType="1"/>
          </p:cNvSpPr>
          <p:nvPr/>
        </p:nvSpPr>
        <p:spPr bwMode="auto">
          <a:xfrm>
            <a:off x="1905000" y="3914775"/>
            <a:ext cx="46482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0" name="Text Box 7">
            <a:extLst>
              <a:ext uri="{FF2B5EF4-FFF2-40B4-BE49-F238E27FC236}">
                <a16:creationId xmlns:a16="http://schemas.microsoft.com/office/drawing/2014/main" id="{5BD0F7C2-6FDC-7F56-0481-CC3D4322A1B0}"/>
              </a:ext>
            </a:extLst>
          </p:cNvPr>
          <p:cNvSpPr txBox="1">
            <a:spLocks noChangeArrowheads="1"/>
          </p:cNvSpPr>
          <p:nvPr/>
        </p:nvSpPr>
        <p:spPr bwMode="auto">
          <a:xfrm>
            <a:off x="2209800" y="3457575"/>
            <a:ext cx="35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en-US" altLang="zh-CN" sz="2400">
                <a:latin typeface="Times New Roman" panose="02020603050405020304" pitchFamily="18" charset="0"/>
              </a:rPr>
              <a:t>+</a:t>
            </a:r>
          </a:p>
        </p:txBody>
      </p:sp>
      <p:sp>
        <p:nvSpPr>
          <p:cNvPr id="103431" name="Text Box 8">
            <a:extLst>
              <a:ext uri="{FF2B5EF4-FFF2-40B4-BE49-F238E27FC236}">
                <a16:creationId xmlns:a16="http://schemas.microsoft.com/office/drawing/2014/main" id="{F9892FA9-8044-9C55-B975-90EC6C95BCE8}"/>
              </a:ext>
            </a:extLst>
          </p:cNvPr>
          <p:cNvSpPr txBox="1">
            <a:spLocks noChangeArrowheads="1"/>
          </p:cNvSpPr>
          <p:nvPr/>
        </p:nvSpPr>
        <p:spPr bwMode="auto">
          <a:xfrm>
            <a:off x="2133600" y="4067175"/>
            <a:ext cx="4419600" cy="40957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eaLnBrk="1" hangingPunct="1">
              <a:spcBef>
                <a:spcPct val="50000"/>
              </a:spcBef>
              <a:buFontTx/>
              <a:buNone/>
            </a:pPr>
            <a:r>
              <a:rPr kumimoji="1" lang="zh-CN" altLang="en-US" sz="2000">
                <a:latin typeface="黑体" panose="02010609060101010101" pitchFamily="49" charset="-122"/>
                <a:ea typeface="黑体" panose="02010609060101010101" pitchFamily="49" charset="-122"/>
                <a:cs typeface="黑体" panose="02010609060101010101" pitchFamily="49" charset="-122"/>
              </a:rPr>
              <a:t>        </a:t>
            </a:r>
            <a:r>
              <a:rPr kumimoji="1" lang="en-US" altLang="zh-CN" sz="2000">
                <a:latin typeface="黑体" panose="02010609060101010101" pitchFamily="49" charset="-122"/>
                <a:ea typeface="黑体" panose="02010609060101010101" pitchFamily="49" charset="-122"/>
                <a:cs typeface="黑体" panose="02010609060101010101" pitchFamily="49" charset="-122"/>
              </a:rPr>
              <a:t>20 </a:t>
            </a:r>
            <a:r>
              <a:rPr kumimoji="1" lang="zh-CN" altLang="en-US" sz="2000">
                <a:latin typeface="黑体" panose="02010609060101010101" pitchFamily="49" charset="-122"/>
                <a:ea typeface="黑体" panose="02010609060101010101" pitchFamily="49" charset="-122"/>
                <a:cs typeface="黑体" panose="02010609060101010101" pitchFamily="49" charset="-122"/>
              </a:rPr>
              <a:t>位 物 理 地 址</a:t>
            </a:r>
          </a:p>
        </p:txBody>
      </p:sp>
      <p:sp>
        <p:nvSpPr>
          <p:cNvPr id="10" name="Rectangle 2">
            <a:extLst>
              <a:ext uri="{FF2B5EF4-FFF2-40B4-BE49-F238E27FC236}">
                <a16:creationId xmlns:a16="http://schemas.microsoft.com/office/drawing/2014/main" id="{69FF99C9-6406-C420-5B30-2D2741DF595F}"/>
              </a:ext>
            </a:extLst>
          </p:cNvPr>
          <p:cNvSpPr txBox="1">
            <a:spLocks noChangeArrowheads="1"/>
          </p:cNvSpPr>
          <p:nvPr/>
        </p:nvSpPr>
        <p:spPr bwMode="auto">
          <a:xfrm>
            <a:off x="457200" y="457200"/>
            <a:ext cx="8077200" cy="914400"/>
          </a:xfrm>
          <a:prstGeom prst="rect">
            <a:avLst/>
          </a:prstGeom>
          <a:noFill/>
          <a:ln>
            <a:noFill/>
          </a:ln>
        </p:spPr>
        <p:txBody>
          <a:bodyPr anchor="ctr"/>
          <a:lst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Comic Sans MS" pitchFamily="66" charset="0"/>
              </a:defRPr>
            </a:lvl2pPr>
            <a:lvl3pPr algn="l" rtl="0" eaLnBrk="0" fontAlgn="base" hangingPunct="0">
              <a:spcBef>
                <a:spcPct val="0"/>
              </a:spcBef>
              <a:spcAft>
                <a:spcPct val="0"/>
              </a:spcAft>
              <a:defRPr sz="2800" b="1">
                <a:solidFill>
                  <a:schemeClr val="tx2"/>
                </a:solidFill>
                <a:latin typeface="Comic Sans MS" pitchFamily="66" charset="0"/>
              </a:defRPr>
            </a:lvl3pPr>
            <a:lvl4pPr algn="l" rtl="0" eaLnBrk="0" fontAlgn="base" hangingPunct="0">
              <a:spcBef>
                <a:spcPct val="0"/>
              </a:spcBef>
              <a:spcAft>
                <a:spcPct val="0"/>
              </a:spcAft>
              <a:defRPr sz="2800" b="1">
                <a:solidFill>
                  <a:schemeClr val="tx2"/>
                </a:solidFill>
                <a:latin typeface="Comic Sans MS" pitchFamily="66" charset="0"/>
              </a:defRPr>
            </a:lvl4pPr>
            <a:lvl5pPr algn="l" rtl="0" eaLnBrk="0" fontAlgn="base" hangingPunct="0">
              <a:spcBef>
                <a:spcPct val="0"/>
              </a:spcBef>
              <a:spcAft>
                <a:spcPct val="0"/>
              </a:spcAft>
              <a:defRPr sz="2800" b="1">
                <a:solidFill>
                  <a:schemeClr val="tx2"/>
                </a:solidFill>
                <a:latin typeface="Comic Sans MS" pitchFamily="66" charset="0"/>
              </a:defRPr>
            </a:lvl5pPr>
            <a:lvl6pPr marL="457200" algn="l" rtl="0" eaLnBrk="0" fontAlgn="base" hangingPunct="0">
              <a:spcBef>
                <a:spcPct val="0"/>
              </a:spcBef>
              <a:spcAft>
                <a:spcPct val="0"/>
              </a:spcAft>
              <a:defRPr sz="2800" b="1">
                <a:solidFill>
                  <a:schemeClr val="tx2"/>
                </a:solidFill>
                <a:latin typeface="Comic Sans MS" pitchFamily="66" charset="0"/>
              </a:defRPr>
            </a:lvl6pPr>
            <a:lvl7pPr marL="914400" algn="l" rtl="0" eaLnBrk="0" fontAlgn="base" hangingPunct="0">
              <a:spcBef>
                <a:spcPct val="0"/>
              </a:spcBef>
              <a:spcAft>
                <a:spcPct val="0"/>
              </a:spcAft>
              <a:defRPr sz="2800" b="1">
                <a:solidFill>
                  <a:schemeClr val="tx2"/>
                </a:solidFill>
                <a:latin typeface="Comic Sans MS" pitchFamily="66" charset="0"/>
              </a:defRPr>
            </a:lvl7pPr>
            <a:lvl8pPr marL="1371600" algn="l" rtl="0" eaLnBrk="0" fontAlgn="base" hangingPunct="0">
              <a:spcBef>
                <a:spcPct val="0"/>
              </a:spcBef>
              <a:spcAft>
                <a:spcPct val="0"/>
              </a:spcAft>
              <a:defRPr sz="2800" b="1">
                <a:solidFill>
                  <a:schemeClr val="tx2"/>
                </a:solidFill>
                <a:latin typeface="Comic Sans MS" pitchFamily="66" charset="0"/>
              </a:defRPr>
            </a:lvl8pPr>
            <a:lvl9pPr marL="1828800" algn="l" rtl="0" eaLnBrk="0" fontAlgn="base" hangingPunct="0">
              <a:spcBef>
                <a:spcPct val="0"/>
              </a:spcBef>
              <a:spcAft>
                <a:spcPct val="0"/>
              </a:spcAft>
              <a:defRPr sz="2800" b="1">
                <a:solidFill>
                  <a:schemeClr val="tx2"/>
                </a:solidFill>
                <a:latin typeface="Comic Sans MS" pitchFamily="66" charset="0"/>
              </a:defRPr>
            </a:lvl9pPr>
          </a:lstStyle>
          <a:p>
            <a:pPr eaLnBrk="1" hangingPunct="1">
              <a:defRPr/>
            </a:pPr>
            <a:r>
              <a:rPr kumimoji="1" lang="en-US" altLang="zh-CN" kern="0"/>
              <a:t>Memory</a:t>
            </a:r>
            <a:endParaRPr lang="zh-CN" altLang="en-US" kern="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9" name="Rectangle 3">
            <a:extLst>
              <a:ext uri="{FF2B5EF4-FFF2-40B4-BE49-F238E27FC236}">
                <a16:creationId xmlns:a16="http://schemas.microsoft.com/office/drawing/2014/main" id="{793BC916-E584-CEDD-EF38-6881335063AB}"/>
              </a:ext>
            </a:extLst>
          </p:cNvPr>
          <p:cNvSpPr>
            <a:spLocks noGrp="1" noChangeArrowheads="1"/>
          </p:cNvSpPr>
          <p:nvPr>
            <p:ph type="body" idx="1"/>
          </p:nvPr>
        </p:nvSpPr>
        <p:spPr>
          <a:xfrm>
            <a:off x="381000" y="1371600"/>
            <a:ext cx="8458200" cy="4724400"/>
          </a:xfrm>
        </p:spPr>
        <p:txBody>
          <a:bodyPr/>
          <a:lstStyle/>
          <a:p>
            <a:pPr eaLnBrk="1" hangingPunct="1"/>
            <a:r>
              <a:rPr lang="zh-CN" altLang="en-US" dirty="0">
                <a:ea typeface="宋体" panose="02010600030101010101" pitchFamily="2" charset="-122"/>
              </a:rPr>
              <a:t>段寄存器和逻辑段</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典型的程序有三个段：代码段、数据段和堆栈段</a:t>
            </a:r>
          </a:p>
          <a:p>
            <a:pPr lvl="1" eaLnBrk="1" hangingPunct="1"/>
            <a:r>
              <a:rPr lang="en-US" altLang="zh-CN" dirty="0">
                <a:ea typeface="宋体" panose="02010600030101010101" pitchFamily="2" charset="-122"/>
              </a:rPr>
              <a:t>8086</a:t>
            </a:r>
            <a:r>
              <a:rPr lang="zh-CN" altLang="en-US" dirty="0">
                <a:ea typeface="宋体" panose="02010600030101010101" pitchFamily="2" charset="-122"/>
              </a:rPr>
              <a:t>有</a:t>
            </a:r>
            <a:r>
              <a:rPr lang="en-US" altLang="zh-CN" dirty="0">
                <a:ea typeface="宋体" panose="02010600030101010101" pitchFamily="2" charset="-122"/>
              </a:rPr>
              <a:t>4</a:t>
            </a:r>
            <a:r>
              <a:rPr lang="zh-CN" altLang="en-US" dirty="0">
                <a:ea typeface="宋体" panose="02010600030101010101" pitchFamily="2" charset="-122"/>
              </a:rPr>
              <a:t>个</a:t>
            </a:r>
            <a:r>
              <a:rPr lang="en-US" altLang="zh-CN" dirty="0">
                <a:ea typeface="宋体" panose="02010600030101010101" pitchFamily="2" charset="-122"/>
              </a:rPr>
              <a:t>16</a:t>
            </a:r>
            <a:r>
              <a:rPr lang="zh-CN" altLang="en-US" dirty="0">
                <a:ea typeface="宋体" panose="02010600030101010101" pitchFamily="2" charset="-122"/>
              </a:rPr>
              <a:t>位的段寄存器：</a:t>
            </a:r>
          </a:p>
          <a:p>
            <a:pPr eaLnBrk="1" hangingPunct="1">
              <a:buFont typeface="Wingdings" pitchFamily="2" charset="2"/>
              <a:buNone/>
            </a:pPr>
            <a:r>
              <a:rPr lang="zh-CN" altLang="en-US" dirty="0">
                <a:ea typeface="宋体" panose="02010600030101010101" pitchFamily="2" charset="-122"/>
              </a:rPr>
              <a:t>	</a:t>
            </a:r>
            <a:r>
              <a:rPr lang="en-US" altLang="zh-CN" dirty="0">
                <a:ea typeface="宋体" panose="02010600030101010101" pitchFamily="2" charset="-122"/>
              </a:rPr>
              <a:t>	</a:t>
            </a:r>
            <a:r>
              <a:rPr lang="en-US" altLang="zh-CN" sz="2400" dirty="0">
                <a:solidFill>
                  <a:srgbClr val="FF9900"/>
                </a:solidFill>
                <a:ea typeface="宋体" panose="02010600030101010101" pitchFamily="2" charset="-122"/>
              </a:rPr>
              <a:t>CS</a:t>
            </a:r>
            <a:r>
              <a:rPr lang="zh-CN" altLang="en-US" sz="2400" dirty="0">
                <a:ea typeface="宋体" panose="02010600030101010101" pitchFamily="2" charset="-122"/>
              </a:rPr>
              <a:t>（代码段寄存器）用来指明</a:t>
            </a:r>
            <a:r>
              <a:rPr lang="zh-CN" altLang="en-US" sz="2400" dirty="0">
                <a:ea typeface="宋体" panose="02010600030101010101" pitchFamily="2" charset="-122"/>
                <a:hlinkClick r:id="rId2" action="ppaction://hlinksldjump"/>
              </a:rPr>
              <a:t>代码段</a:t>
            </a:r>
            <a:r>
              <a:rPr lang="zh-CN" altLang="en-US" sz="2400" dirty="0">
                <a:ea typeface="宋体" panose="02010600030101010101" pitchFamily="2" charset="-122"/>
              </a:rPr>
              <a:t>的首地址</a:t>
            </a:r>
          </a:p>
          <a:p>
            <a:pPr eaLnBrk="1" hangingPunct="1">
              <a:buFont typeface="Wingdings" pitchFamily="2" charset="2"/>
              <a:buNone/>
            </a:pPr>
            <a:r>
              <a:rPr lang="zh-CN" altLang="en-US" sz="2400" dirty="0">
                <a:ea typeface="宋体" panose="02010600030101010101" pitchFamily="2" charset="-122"/>
              </a:rPr>
              <a:t>	</a:t>
            </a:r>
            <a:r>
              <a:rPr lang="en-US" altLang="zh-CN" sz="2400" dirty="0">
                <a:ea typeface="宋体" panose="02010600030101010101" pitchFamily="2" charset="-122"/>
              </a:rPr>
              <a:t>	</a:t>
            </a:r>
            <a:r>
              <a:rPr lang="en-US" altLang="zh-CN" sz="2400" dirty="0">
                <a:solidFill>
                  <a:srgbClr val="FF9900"/>
                </a:solidFill>
                <a:ea typeface="宋体" panose="02010600030101010101" pitchFamily="2" charset="-122"/>
              </a:rPr>
              <a:t>SS</a:t>
            </a:r>
            <a:r>
              <a:rPr lang="zh-CN" altLang="en-US" sz="2400" dirty="0">
                <a:ea typeface="宋体" panose="02010600030101010101" pitchFamily="2" charset="-122"/>
              </a:rPr>
              <a:t>（堆栈段寄存器）指明堆栈段的首地址</a:t>
            </a:r>
          </a:p>
          <a:p>
            <a:pPr eaLnBrk="1" hangingPunct="1">
              <a:buFont typeface="Wingdings" pitchFamily="2" charset="2"/>
              <a:buNone/>
            </a:pPr>
            <a:r>
              <a:rPr lang="zh-CN" altLang="en-US" sz="2400" dirty="0">
                <a:ea typeface="宋体" panose="02010600030101010101" pitchFamily="2" charset="-122"/>
              </a:rPr>
              <a:t>	</a:t>
            </a:r>
            <a:r>
              <a:rPr lang="en-US" altLang="zh-CN" sz="2400" dirty="0">
                <a:ea typeface="宋体" panose="02010600030101010101" pitchFamily="2" charset="-122"/>
              </a:rPr>
              <a:t>	</a:t>
            </a:r>
            <a:r>
              <a:rPr lang="en-US" altLang="zh-CN" sz="2400" dirty="0">
                <a:solidFill>
                  <a:srgbClr val="FF9900"/>
                </a:solidFill>
                <a:ea typeface="宋体" panose="02010600030101010101" pitchFamily="2" charset="-122"/>
              </a:rPr>
              <a:t>DS</a:t>
            </a:r>
            <a:r>
              <a:rPr lang="zh-CN" altLang="en-US" sz="2400" dirty="0">
                <a:ea typeface="宋体" panose="02010600030101010101" pitchFamily="2" charset="-122"/>
              </a:rPr>
              <a:t>（数据段寄存器）指明</a:t>
            </a:r>
            <a:r>
              <a:rPr lang="zh-CN" altLang="en-US" sz="2400" dirty="0">
                <a:ea typeface="宋体" panose="02010600030101010101" pitchFamily="2" charset="-122"/>
                <a:hlinkClick r:id="rId3" action="ppaction://hlinksldjump"/>
              </a:rPr>
              <a:t>数据段</a:t>
            </a:r>
            <a:r>
              <a:rPr lang="zh-CN" altLang="en-US" sz="2400" dirty="0">
                <a:ea typeface="宋体" panose="02010600030101010101" pitchFamily="2" charset="-122"/>
              </a:rPr>
              <a:t>的首地址</a:t>
            </a:r>
          </a:p>
          <a:p>
            <a:pPr eaLnBrk="1" hangingPunct="1">
              <a:buFont typeface="Wingdings" pitchFamily="2" charset="2"/>
              <a:buNone/>
            </a:pPr>
            <a:r>
              <a:rPr lang="zh-CN" altLang="en-US" sz="2400" dirty="0">
                <a:ea typeface="宋体" panose="02010600030101010101" pitchFamily="2" charset="-122"/>
              </a:rPr>
              <a:t>	</a:t>
            </a:r>
            <a:r>
              <a:rPr lang="en-US" altLang="zh-CN" sz="2400" dirty="0">
                <a:ea typeface="宋体" panose="02010600030101010101" pitchFamily="2" charset="-122"/>
              </a:rPr>
              <a:t>	</a:t>
            </a:r>
            <a:r>
              <a:rPr lang="en-US" altLang="zh-CN" sz="2400" dirty="0">
                <a:solidFill>
                  <a:srgbClr val="FF9900"/>
                </a:solidFill>
                <a:ea typeface="宋体" panose="02010600030101010101" pitchFamily="2" charset="-122"/>
              </a:rPr>
              <a:t>ES</a:t>
            </a:r>
            <a:r>
              <a:rPr lang="zh-CN" altLang="en-US" sz="2400" dirty="0">
                <a:solidFill>
                  <a:srgbClr val="FF9900"/>
                </a:solidFill>
                <a:ea typeface="宋体" panose="02010600030101010101" pitchFamily="2" charset="-122"/>
              </a:rPr>
              <a:t>，</a:t>
            </a:r>
            <a:r>
              <a:rPr lang="en-US" altLang="zh-CN" sz="2400" dirty="0">
                <a:solidFill>
                  <a:srgbClr val="FF9900"/>
                </a:solidFill>
                <a:ea typeface="宋体" panose="02010600030101010101" pitchFamily="2" charset="-122"/>
              </a:rPr>
              <a:t>FS</a:t>
            </a:r>
            <a:r>
              <a:rPr lang="zh-CN" altLang="en-US" sz="2400" dirty="0">
                <a:solidFill>
                  <a:srgbClr val="FF9900"/>
                </a:solidFill>
                <a:ea typeface="宋体" panose="02010600030101010101" pitchFamily="2" charset="-122"/>
              </a:rPr>
              <a:t>，</a:t>
            </a:r>
            <a:r>
              <a:rPr lang="en-US" altLang="zh-CN" sz="2400" dirty="0">
                <a:solidFill>
                  <a:srgbClr val="FF9900"/>
                </a:solidFill>
                <a:ea typeface="宋体" panose="02010600030101010101" pitchFamily="2" charset="-122"/>
              </a:rPr>
              <a:t>GS</a:t>
            </a:r>
            <a:r>
              <a:rPr lang="zh-CN" altLang="en-US" sz="2400" dirty="0">
                <a:ea typeface="宋体" panose="02010600030101010101" pitchFamily="2" charset="-122"/>
              </a:rPr>
              <a:t>（附加段寄存器）指明</a:t>
            </a:r>
            <a:r>
              <a:rPr lang="zh-CN" altLang="en-US" sz="2400" dirty="0">
                <a:ea typeface="宋体" panose="02010600030101010101" pitchFamily="2" charset="-122"/>
                <a:hlinkClick r:id="rId4" action="ppaction://hlinksldjump"/>
              </a:rPr>
              <a:t>附加段</a:t>
            </a:r>
            <a:r>
              <a:rPr lang="zh-CN" altLang="en-US" sz="2400" dirty="0">
                <a:ea typeface="宋体" panose="02010600030101010101" pitchFamily="2" charset="-122"/>
              </a:rPr>
              <a:t>的首地址</a:t>
            </a:r>
          </a:p>
        </p:txBody>
      </p:sp>
      <p:sp>
        <p:nvSpPr>
          <p:cNvPr id="4" name="Rectangle 2">
            <a:extLst>
              <a:ext uri="{FF2B5EF4-FFF2-40B4-BE49-F238E27FC236}">
                <a16:creationId xmlns:a16="http://schemas.microsoft.com/office/drawing/2014/main" id="{5A38AF51-08A7-B55A-641B-4857A60FE1B4}"/>
              </a:ext>
            </a:extLst>
          </p:cNvPr>
          <p:cNvSpPr txBox="1">
            <a:spLocks noChangeArrowheads="1"/>
          </p:cNvSpPr>
          <p:nvPr/>
        </p:nvSpPr>
        <p:spPr bwMode="auto">
          <a:xfrm>
            <a:off x="457200" y="457200"/>
            <a:ext cx="8077200" cy="914400"/>
          </a:xfrm>
          <a:prstGeom prst="rect">
            <a:avLst/>
          </a:prstGeom>
          <a:noFill/>
          <a:ln>
            <a:noFill/>
          </a:ln>
        </p:spPr>
        <p:txBody>
          <a:bodyPr anchor="ctr"/>
          <a:lst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Comic Sans MS" pitchFamily="66" charset="0"/>
              </a:defRPr>
            </a:lvl2pPr>
            <a:lvl3pPr algn="l" rtl="0" eaLnBrk="0" fontAlgn="base" hangingPunct="0">
              <a:spcBef>
                <a:spcPct val="0"/>
              </a:spcBef>
              <a:spcAft>
                <a:spcPct val="0"/>
              </a:spcAft>
              <a:defRPr sz="2800" b="1">
                <a:solidFill>
                  <a:schemeClr val="tx2"/>
                </a:solidFill>
                <a:latin typeface="Comic Sans MS" pitchFamily="66" charset="0"/>
              </a:defRPr>
            </a:lvl3pPr>
            <a:lvl4pPr algn="l" rtl="0" eaLnBrk="0" fontAlgn="base" hangingPunct="0">
              <a:spcBef>
                <a:spcPct val="0"/>
              </a:spcBef>
              <a:spcAft>
                <a:spcPct val="0"/>
              </a:spcAft>
              <a:defRPr sz="2800" b="1">
                <a:solidFill>
                  <a:schemeClr val="tx2"/>
                </a:solidFill>
                <a:latin typeface="Comic Sans MS" pitchFamily="66" charset="0"/>
              </a:defRPr>
            </a:lvl4pPr>
            <a:lvl5pPr algn="l" rtl="0" eaLnBrk="0" fontAlgn="base" hangingPunct="0">
              <a:spcBef>
                <a:spcPct val="0"/>
              </a:spcBef>
              <a:spcAft>
                <a:spcPct val="0"/>
              </a:spcAft>
              <a:defRPr sz="2800" b="1">
                <a:solidFill>
                  <a:schemeClr val="tx2"/>
                </a:solidFill>
                <a:latin typeface="Comic Sans MS" pitchFamily="66" charset="0"/>
              </a:defRPr>
            </a:lvl5pPr>
            <a:lvl6pPr marL="457200" algn="l" rtl="0" eaLnBrk="0" fontAlgn="base" hangingPunct="0">
              <a:spcBef>
                <a:spcPct val="0"/>
              </a:spcBef>
              <a:spcAft>
                <a:spcPct val="0"/>
              </a:spcAft>
              <a:defRPr sz="2800" b="1">
                <a:solidFill>
                  <a:schemeClr val="tx2"/>
                </a:solidFill>
                <a:latin typeface="Comic Sans MS" pitchFamily="66" charset="0"/>
              </a:defRPr>
            </a:lvl6pPr>
            <a:lvl7pPr marL="914400" algn="l" rtl="0" eaLnBrk="0" fontAlgn="base" hangingPunct="0">
              <a:spcBef>
                <a:spcPct val="0"/>
              </a:spcBef>
              <a:spcAft>
                <a:spcPct val="0"/>
              </a:spcAft>
              <a:defRPr sz="2800" b="1">
                <a:solidFill>
                  <a:schemeClr val="tx2"/>
                </a:solidFill>
                <a:latin typeface="Comic Sans MS" pitchFamily="66" charset="0"/>
              </a:defRPr>
            </a:lvl7pPr>
            <a:lvl8pPr marL="1371600" algn="l" rtl="0" eaLnBrk="0" fontAlgn="base" hangingPunct="0">
              <a:spcBef>
                <a:spcPct val="0"/>
              </a:spcBef>
              <a:spcAft>
                <a:spcPct val="0"/>
              </a:spcAft>
              <a:defRPr sz="2800" b="1">
                <a:solidFill>
                  <a:schemeClr val="tx2"/>
                </a:solidFill>
                <a:latin typeface="Comic Sans MS" pitchFamily="66" charset="0"/>
              </a:defRPr>
            </a:lvl8pPr>
            <a:lvl9pPr marL="1828800" algn="l" rtl="0" eaLnBrk="0" fontAlgn="base" hangingPunct="0">
              <a:spcBef>
                <a:spcPct val="0"/>
              </a:spcBef>
              <a:spcAft>
                <a:spcPct val="0"/>
              </a:spcAft>
              <a:defRPr sz="2800" b="1">
                <a:solidFill>
                  <a:schemeClr val="tx2"/>
                </a:solidFill>
                <a:latin typeface="Comic Sans MS" pitchFamily="66" charset="0"/>
              </a:defRPr>
            </a:lvl9pPr>
          </a:lstStyle>
          <a:p>
            <a:pPr eaLnBrk="1" hangingPunct="1">
              <a:defRPr/>
            </a:pPr>
            <a:r>
              <a:rPr kumimoji="1" lang="en-US" altLang="zh-CN" kern="0"/>
              <a:t>Memory</a:t>
            </a:r>
            <a:endParaRPr lang="zh-CN" altLang="en-US" kern="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2185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12185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499"/>
                                          </p:stCondLst>
                                        </p:cTn>
                                        <p:tgtEl>
                                          <p:spTgt spid="1218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2185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21859">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21859">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218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3">
            <a:extLst>
              <a:ext uri="{FF2B5EF4-FFF2-40B4-BE49-F238E27FC236}">
                <a16:creationId xmlns:a16="http://schemas.microsoft.com/office/drawing/2014/main" id="{BF3BC02F-0E0F-8FDD-0A9A-B49AEC5BDAB9}"/>
              </a:ext>
            </a:extLst>
          </p:cNvPr>
          <p:cNvSpPr>
            <a:spLocks noGrp="1" noChangeArrowheads="1"/>
          </p:cNvSpPr>
          <p:nvPr>
            <p:ph type="body" idx="1"/>
          </p:nvPr>
        </p:nvSpPr>
        <p:spPr/>
        <p:txBody>
          <a:bodyPr/>
          <a:lstStyle/>
          <a:p>
            <a:r>
              <a:rPr lang="en-US" altLang="zh-CN">
                <a:ea typeface="宋体" panose="02010600030101010101" pitchFamily="2" charset="-122"/>
              </a:rPr>
              <a:t>CS</a:t>
            </a:r>
            <a:r>
              <a:rPr lang="zh-CN" altLang="en-US">
                <a:ea typeface="宋体" panose="02010600030101010101" pitchFamily="2" charset="-122"/>
              </a:rPr>
              <a:t>：</a:t>
            </a:r>
            <a:r>
              <a:rPr lang="en-US" altLang="zh-CN">
                <a:ea typeface="宋体" panose="02010600030101010101" pitchFamily="2" charset="-122"/>
              </a:rPr>
              <a:t>IP=CS*16+IP</a:t>
            </a:r>
            <a:r>
              <a:rPr lang="zh-CN" altLang="en-US">
                <a:ea typeface="宋体" panose="02010600030101010101" pitchFamily="2" charset="-122"/>
              </a:rPr>
              <a:t>，当前指令地址</a:t>
            </a:r>
          </a:p>
          <a:p>
            <a:r>
              <a:rPr lang="en-US" altLang="zh-CN">
                <a:ea typeface="宋体" panose="02010600030101010101" pitchFamily="2" charset="-122"/>
              </a:rPr>
              <a:t>DS</a:t>
            </a:r>
            <a:r>
              <a:rPr lang="zh-CN" altLang="en-US">
                <a:ea typeface="宋体" panose="02010600030101010101" pitchFamily="2" charset="-122"/>
              </a:rPr>
              <a:t>：</a:t>
            </a:r>
            <a:r>
              <a:rPr lang="en-US" altLang="zh-CN">
                <a:ea typeface="宋体" panose="02010600030101010101" pitchFamily="2" charset="-122"/>
              </a:rPr>
              <a:t>[x]=DS*16+x</a:t>
            </a:r>
            <a:r>
              <a:rPr lang="zh-CN" altLang="en-US">
                <a:ea typeface="宋体" panose="02010600030101010101" pitchFamily="2" charset="-122"/>
              </a:rPr>
              <a:t>，当前数据地址</a:t>
            </a:r>
          </a:p>
          <a:p>
            <a:r>
              <a:rPr lang="en-US" altLang="zh-CN">
                <a:ea typeface="宋体" panose="02010600030101010101" pitchFamily="2" charset="-122"/>
              </a:rPr>
              <a:t>SS</a:t>
            </a:r>
            <a:r>
              <a:rPr lang="zh-CN" altLang="en-US">
                <a:ea typeface="宋体" panose="02010600030101010101" pitchFamily="2" charset="-122"/>
              </a:rPr>
              <a:t>：</a:t>
            </a:r>
            <a:r>
              <a:rPr lang="en-US" altLang="zh-CN">
                <a:ea typeface="宋体" panose="02010600030101010101" pitchFamily="2" charset="-122"/>
              </a:rPr>
              <a:t>SP=SS*16+SP</a:t>
            </a:r>
            <a:r>
              <a:rPr lang="zh-CN" altLang="en-US">
                <a:ea typeface="宋体" panose="02010600030101010101" pitchFamily="2" charset="-122"/>
              </a:rPr>
              <a:t>，当前栈顶地址</a:t>
            </a:r>
          </a:p>
          <a:p>
            <a:pPr lvl="1"/>
            <a:r>
              <a:rPr lang="zh-CN" altLang="en-US">
                <a:ea typeface="宋体" panose="02010600030101010101" pitchFamily="2" charset="-122"/>
              </a:rPr>
              <a:t>需自己保证</a:t>
            </a:r>
            <a:r>
              <a:rPr lang="en-US" altLang="zh-CN">
                <a:ea typeface="宋体" panose="02010600030101010101" pitchFamily="2" charset="-122"/>
              </a:rPr>
              <a:t>push</a:t>
            </a:r>
            <a:r>
              <a:rPr lang="zh-CN" altLang="en-US">
                <a:ea typeface="宋体" panose="02010600030101010101" pitchFamily="2" charset="-122"/>
              </a:rPr>
              <a:t>和</a:t>
            </a:r>
            <a:r>
              <a:rPr lang="en-US" altLang="zh-CN">
                <a:ea typeface="宋体" panose="02010600030101010101" pitchFamily="2" charset="-122"/>
              </a:rPr>
              <a:t>pop</a:t>
            </a:r>
            <a:r>
              <a:rPr lang="zh-CN" altLang="en-US">
                <a:ea typeface="宋体" panose="02010600030101010101" pitchFamily="2" charset="-122"/>
              </a:rPr>
              <a:t>不越界</a:t>
            </a:r>
          </a:p>
          <a:p>
            <a:pPr lvl="1"/>
            <a:endParaRPr lang="zh-CN" altLang="en-US">
              <a:ea typeface="宋体" panose="02010600030101010101" pitchFamily="2" charset="-122"/>
            </a:endParaRPr>
          </a:p>
          <a:p>
            <a:r>
              <a:rPr lang="en-US" altLang="zh-CN">
                <a:ea typeface="宋体" panose="02010600030101010101" pitchFamily="2" charset="-122"/>
              </a:rPr>
              <a:t>80x86</a:t>
            </a:r>
            <a:r>
              <a:rPr lang="zh-CN" altLang="en-US">
                <a:ea typeface="宋体" panose="02010600030101010101" pitchFamily="2" charset="-122"/>
              </a:rPr>
              <a:t>不允许直接将立即数送入段寄存器</a:t>
            </a:r>
          </a:p>
          <a:p>
            <a:pPr lvl="1"/>
            <a:r>
              <a:rPr lang="en-US" altLang="zh-CN">
                <a:ea typeface="宋体" panose="02010600030101010101" pitchFamily="2" charset="-122"/>
              </a:rPr>
              <a:t>Mov ds, 1000H</a:t>
            </a:r>
            <a:r>
              <a:rPr lang="zh-CN" altLang="en-US">
                <a:ea typeface="宋体" panose="02010600030101010101" pitchFamily="2" charset="-122"/>
              </a:rPr>
              <a:t>非法</a:t>
            </a:r>
          </a:p>
          <a:p>
            <a:pPr lvl="1"/>
            <a:r>
              <a:rPr lang="en-US" altLang="zh-CN">
                <a:ea typeface="宋体" panose="02010600030101010101" pitchFamily="2" charset="-122"/>
              </a:rPr>
              <a:t>Mov ax, 1000H	mov ds, ax</a:t>
            </a:r>
            <a:r>
              <a:rPr lang="zh-CN" altLang="en-US">
                <a:ea typeface="宋体" panose="02010600030101010101" pitchFamily="2" charset="-122"/>
              </a:rPr>
              <a:t>合法</a:t>
            </a:r>
          </a:p>
        </p:txBody>
      </p:sp>
      <p:sp>
        <p:nvSpPr>
          <p:cNvPr id="5" name="Rectangle 2">
            <a:extLst>
              <a:ext uri="{FF2B5EF4-FFF2-40B4-BE49-F238E27FC236}">
                <a16:creationId xmlns:a16="http://schemas.microsoft.com/office/drawing/2014/main" id="{37DF05E6-D789-CB78-3459-81664739CFC8}"/>
              </a:ext>
            </a:extLst>
          </p:cNvPr>
          <p:cNvSpPr txBox="1">
            <a:spLocks noChangeArrowheads="1"/>
          </p:cNvSpPr>
          <p:nvPr/>
        </p:nvSpPr>
        <p:spPr bwMode="auto">
          <a:xfrm>
            <a:off x="609600" y="609600"/>
            <a:ext cx="8077200" cy="914400"/>
          </a:xfrm>
          <a:prstGeom prst="rect">
            <a:avLst/>
          </a:prstGeom>
          <a:noFill/>
          <a:ln>
            <a:noFill/>
          </a:ln>
        </p:spPr>
        <p:txBody>
          <a:bodyPr anchor="ctr"/>
          <a:lst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Comic Sans MS" pitchFamily="66" charset="0"/>
              </a:defRPr>
            </a:lvl2pPr>
            <a:lvl3pPr algn="l" rtl="0" eaLnBrk="0" fontAlgn="base" hangingPunct="0">
              <a:spcBef>
                <a:spcPct val="0"/>
              </a:spcBef>
              <a:spcAft>
                <a:spcPct val="0"/>
              </a:spcAft>
              <a:defRPr sz="2800" b="1">
                <a:solidFill>
                  <a:schemeClr val="tx2"/>
                </a:solidFill>
                <a:latin typeface="Comic Sans MS" pitchFamily="66" charset="0"/>
              </a:defRPr>
            </a:lvl3pPr>
            <a:lvl4pPr algn="l" rtl="0" eaLnBrk="0" fontAlgn="base" hangingPunct="0">
              <a:spcBef>
                <a:spcPct val="0"/>
              </a:spcBef>
              <a:spcAft>
                <a:spcPct val="0"/>
              </a:spcAft>
              <a:defRPr sz="2800" b="1">
                <a:solidFill>
                  <a:schemeClr val="tx2"/>
                </a:solidFill>
                <a:latin typeface="Comic Sans MS" pitchFamily="66" charset="0"/>
              </a:defRPr>
            </a:lvl4pPr>
            <a:lvl5pPr algn="l" rtl="0" eaLnBrk="0" fontAlgn="base" hangingPunct="0">
              <a:spcBef>
                <a:spcPct val="0"/>
              </a:spcBef>
              <a:spcAft>
                <a:spcPct val="0"/>
              </a:spcAft>
              <a:defRPr sz="2800" b="1">
                <a:solidFill>
                  <a:schemeClr val="tx2"/>
                </a:solidFill>
                <a:latin typeface="Comic Sans MS" pitchFamily="66" charset="0"/>
              </a:defRPr>
            </a:lvl5pPr>
            <a:lvl6pPr marL="457200" algn="l" rtl="0" eaLnBrk="0" fontAlgn="base" hangingPunct="0">
              <a:spcBef>
                <a:spcPct val="0"/>
              </a:spcBef>
              <a:spcAft>
                <a:spcPct val="0"/>
              </a:spcAft>
              <a:defRPr sz="2800" b="1">
                <a:solidFill>
                  <a:schemeClr val="tx2"/>
                </a:solidFill>
                <a:latin typeface="Comic Sans MS" pitchFamily="66" charset="0"/>
              </a:defRPr>
            </a:lvl6pPr>
            <a:lvl7pPr marL="914400" algn="l" rtl="0" eaLnBrk="0" fontAlgn="base" hangingPunct="0">
              <a:spcBef>
                <a:spcPct val="0"/>
              </a:spcBef>
              <a:spcAft>
                <a:spcPct val="0"/>
              </a:spcAft>
              <a:defRPr sz="2800" b="1">
                <a:solidFill>
                  <a:schemeClr val="tx2"/>
                </a:solidFill>
                <a:latin typeface="Comic Sans MS" pitchFamily="66" charset="0"/>
              </a:defRPr>
            </a:lvl7pPr>
            <a:lvl8pPr marL="1371600" algn="l" rtl="0" eaLnBrk="0" fontAlgn="base" hangingPunct="0">
              <a:spcBef>
                <a:spcPct val="0"/>
              </a:spcBef>
              <a:spcAft>
                <a:spcPct val="0"/>
              </a:spcAft>
              <a:defRPr sz="2800" b="1">
                <a:solidFill>
                  <a:schemeClr val="tx2"/>
                </a:solidFill>
                <a:latin typeface="Comic Sans MS" pitchFamily="66" charset="0"/>
              </a:defRPr>
            </a:lvl8pPr>
            <a:lvl9pPr marL="1828800" algn="l" rtl="0" eaLnBrk="0" fontAlgn="base" hangingPunct="0">
              <a:spcBef>
                <a:spcPct val="0"/>
              </a:spcBef>
              <a:spcAft>
                <a:spcPct val="0"/>
              </a:spcAft>
              <a:defRPr sz="2800" b="1">
                <a:solidFill>
                  <a:schemeClr val="tx2"/>
                </a:solidFill>
                <a:latin typeface="Comic Sans MS" pitchFamily="66" charset="0"/>
              </a:defRPr>
            </a:lvl9pPr>
          </a:lstStyle>
          <a:p>
            <a:pPr eaLnBrk="1" hangingPunct="1">
              <a:defRPr/>
            </a:pPr>
            <a:r>
              <a:rPr kumimoji="1" lang="en-US" altLang="zh-CN" kern="0"/>
              <a:t>Memory</a:t>
            </a:r>
            <a:endParaRPr lang="zh-CN" altLang="en-US" kern="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a:extLst>
              <a:ext uri="{FF2B5EF4-FFF2-40B4-BE49-F238E27FC236}">
                <a16:creationId xmlns:a16="http://schemas.microsoft.com/office/drawing/2014/main" id="{0D371940-A8DF-B9DB-F2F4-88DFBE4D2658}"/>
              </a:ext>
            </a:extLst>
          </p:cNvPr>
          <p:cNvSpPr>
            <a:spLocks noGrp="1" noChangeArrowheads="1"/>
          </p:cNvSpPr>
          <p:nvPr>
            <p:ph type="title"/>
          </p:nvPr>
        </p:nvSpPr>
        <p:spPr/>
        <p:txBody>
          <a:bodyPr/>
          <a:lstStyle/>
          <a:p>
            <a:r>
              <a:rPr kumimoji="1" lang="zh-CN" altLang="en-US">
                <a:ea typeface="宋体" panose="02010600030101010101" pitchFamily="2" charset="-122"/>
              </a:rPr>
              <a:t>程序员可见状态</a:t>
            </a:r>
          </a:p>
        </p:txBody>
      </p:sp>
      <p:sp>
        <p:nvSpPr>
          <p:cNvPr id="106498" name="内容占位符 2">
            <a:extLst>
              <a:ext uri="{FF2B5EF4-FFF2-40B4-BE49-F238E27FC236}">
                <a16:creationId xmlns:a16="http://schemas.microsoft.com/office/drawing/2014/main" id="{92CDD697-AA2B-1A2E-DD60-D6C614E2EE8C}"/>
              </a:ext>
            </a:extLst>
          </p:cNvPr>
          <p:cNvSpPr>
            <a:spLocks noGrp="1" noChangeArrowheads="1"/>
          </p:cNvSpPr>
          <p:nvPr>
            <p:ph idx="1"/>
          </p:nvPr>
        </p:nvSpPr>
        <p:spPr/>
        <p:txBody>
          <a:bodyPr/>
          <a:lstStyle/>
          <a:p>
            <a:r>
              <a:rPr kumimoji="1" lang="en-US" altLang="zh-CN">
                <a:ea typeface="宋体" panose="02010600030101010101" pitchFamily="2" charset="-122"/>
              </a:rPr>
              <a:t>C</a:t>
            </a:r>
            <a:r>
              <a:rPr kumimoji="1" lang="zh-CN" altLang="en-US">
                <a:ea typeface="宋体" panose="02010600030101010101" pitchFamily="2" charset="-122"/>
              </a:rPr>
              <a:t>语言程序员</a:t>
            </a:r>
            <a:endParaRPr kumimoji="1" lang="en-US" altLang="zh-CN">
              <a:ea typeface="宋体" panose="02010600030101010101" pitchFamily="2" charset="-122"/>
            </a:endParaRPr>
          </a:p>
          <a:p>
            <a:pPr lvl="1"/>
            <a:r>
              <a:rPr kumimoji="1" lang="en-US" altLang="zh-CN">
                <a:ea typeface="宋体" panose="02010600030101010101" pitchFamily="2" charset="-122"/>
              </a:rPr>
              <a:t>C</a:t>
            </a:r>
            <a:r>
              <a:rPr kumimoji="1" lang="zh-CN" altLang="en-US">
                <a:ea typeface="宋体" panose="02010600030101010101" pitchFamily="2" charset="-122"/>
              </a:rPr>
              <a:t>语句</a:t>
            </a:r>
            <a:endParaRPr kumimoji="1" lang="en-US" altLang="zh-CN">
              <a:ea typeface="宋体" panose="02010600030101010101" pitchFamily="2" charset="-122"/>
            </a:endParaRPr>
          </a:p>
          <a:p>
            <a:pPr lvl="2"/>
            <a:r>
              <a:rPr kumimoji="1" lang="zh-CN" altLang="en-US">
                <a:ea typeface="宋体" panose="02010600030101010101" pitchFamily="2" charset="-122"/>
              </a:rPr>
              <a:t>各种计算</a:t>
            </a:r>
            <a:endParaRPr kumimoji="1" lang="en-US" altLang="zh-CN">
              <a:ea typeface="宋体" panose="02010600030101010101" pitchFamily="2" charset="-122"/>
            </a:endParaRPr>
          </a:p>
          <a:p>
            <a:pPr lvl="2"/>
            <a:r>
              <a:rPr kumimoji="1" lang="zh-CN" altLang="en-US">
                <a:ea typeface="宋体" panose="02010600030101010101" pitchFamily="2" charset="-122"/>
              </a:rPr>
              <a:t>程序流程（循环、分支、函数调用等）</a:t>
            </a:r>
            <a:endParaRPr kumimoji="1" lang="en-US" altLang="zh-CN">
              <a:ea typeface="宋体" panose="02010600030101010101" pitchFamily="2" charset="-122"/>
            </a:endParaRPr>
          </a:p>
          <a:p>
            <a:pPr lvl="1"/>
            <a:r>
              <a:rPr kumimoji="1" lang="zh-CN" altLang="en-US">
                <a:ea typeface="宋体" panose="02010600030101010101" pitchFamily="2" charset="-122"/>
              </a:rPr>
              <a:t>常量、变量（内存）</a:t>
            </a:r>
            <a:r>
              <a:rPr kumimoji="1" lang="en-US" altLang="zh-CN">
                <a:ea typeface="宋体" panose="02010600030101010101" pitchFamily="2" charset="-122"/>
              </a:rPr>
              <a:t>//</a:t>
            </a:r>
            <a:r>
              <a:rPr kumimoji="1" lang="zh-CN" altLang="en-US">
                <a:ea typeface="宋体" panose="02010600030101010101" pitchFamily="2" charset="-122"/>
              </a:rPr>
              <a:t>寄存器不可见</a:t>
            </a:r>
            <a:endParaRPr kumimoji="1" lang="en-US" altLang="zh-CN">
              <a:ea typeface="宋体" panose="02010600030101010101" pitchFamily="2" charset="-122"/>
            </a:endParaRPr>
          </a:p>
          <a:p>
            <a:pPr lvl="2"/>
            <a:r>
              <a:rPr kumimoji="1" lang="zh-CN" altLang="en-US">
                <a:ea typeface="宋体" panose="02010600030101010101" pitchFamily="2" charset="-122"/>
              </a:rPr>
              <a:t>全局变量</a:t>
            </a:r>
            <a:r>
              <a:rPr kumimoji="1" lang="en-US" altLang="zh-CN">
                <a:ea typeface="宋体" panose="02010600030101010101" pitchFamily="2" charset="-122"/>
              </a:rPr>
              <a:t>/</a:t>
            </a:r>
            <a:r>
              <a:rPr kumimoji="1" lang="zh-CN" altLang="en-US">
                <a:ea typeface="宋体" panose="02010600030101010101" pitchFamily="2" charset="-122"/>
              </a:rPr>
              <a:t>静态变量：数据段</a:t>
            </a:r>
            <a:endParaRPr kumimoji="1" lang="en-US" altLang="zh-CN">
              <a:ea typeface="宋体" panose="02010600030101010101" pitchFamily="2" charset="-122"/>
            </a:endParaRPr>
          </a:p>
          <a:p>
            <a:pPr lvl="2"/>
            <a:r>
              <a:rPr kumimoji="1" lang="zh-CN" altLang="en-US">
                <a:ea typeface="宋体" panose="02010600030101010101" pitchFamily="2" charset="-122"/>
              </a:rPr>
              <a:t>局部变量：堆栈段（注意作用域）</a:t>
            </a:r>
            <a:endParaRPr kumimoji="1" lang="en-US" altLang="zh-CN">
              <a:ea typeface="宋体" panose="02010600030101010101" pitchFamily="2" charset="-122"/>
            </a:endParaRPr>
          </a:p>
          <a:p>
            <a:pPr lvl="1"/>
            <a:r>
              <a:rPr kumimoji="1" lang="zh-CN" altLang="en-US">
                <a:ea typeface="宋体" panose="02010600030101010101" pitchFamily="2" charset="-122"/>
              </a:rPr>
              <a:t>操作系统提供的系统调用</a:t>
            </a:r>
            <a:endParaRPr kumimoji="1" lang="en-US" altLang="zh-CN">
              <a:ea typeface="宋体" panose="02010600030101010101" pitchFamily="2" charset="-122"/>
            </a:endParaRPr>
          </a:p>
          <a:p>
            <a:pPr lvl="2"/>
            <a:r>
              <a:rPr kumimoji="1" lang="en-US" altLang="zh-CN">
                <a:ea typeface="宋体" panose="02010600030101010101" pitchFamily="2" charset="-122"/>
              </a:rPr>
              <a:t>Malloc</a:t>
            </a:r>
            <a:r>
              <a:rPr kumimoji="1" lang="zh-CN" altLang="en-US">
                <a:ea typeface="宋体" panose="02010600030101010101" pitchFamily="2" charset="-122"/>
              </a:rPr>
              <a:t>（堆内存），</a:t>
            </a:r>
            <a:r>
              <a:rPr kumimoji="1" lang="en-US" altLang="zh-CN">
                <a:ea typeface="宋体" panose="02010600030101010101" pitchFamily="2" charset="-122"/>
              </a:rPr>
              <a:t>free</a:t>
            </a:r>
          </a:p>
          <a:p>
            <a:pPr lvl="2"/>
            <a:r>
              <a:rPr kumimoji="1" lang="en-US" altLang="zh-CN">
                <a:ea typeface="宋体" panose="02010600030101010101" pitchFamily="2" charset="-122"/>
              </a:rPr>
              <a:t>Printf</a:t>
            </a:r>
            <a:r>
              <a:rPr kumimoji="1" lang="zh-CN" altLang="en-US">
                <a:ea typeface="宋体" panose="02010600030101010101" pitchFamily="2" charset="-122"/>
              </a:rPr>
              <a:t>等，控制外设（输入输出设备）</a:t>
            </a:r>
            <a:endParaRPr kumimoji="1" lang="en-US" altLang="zh-CN">
              <a:ea typeface="宋体" panose="02010600030101010101" pitchFamily="2" charset="-122"/>
            </a:endParaRPr>
          </a:p>
          <a:p>
            <a:pPr lvl="2"/>
            <a:r>
              <a:rPr kumimoji="1" lang="en-US" altLang="zh-CN">
                <a:ea typeface="宋体" panose="02010600030101010101" pitchFamily="2" charset="-122"/>
              </a:rPr>
              <a:t>Read/write</a:t>
            </a:r>
            <a:r>
              <a:rPr kumimoji="1" lang="zh-CN" altLang="en-US">
                <a:ea typeface="宋体" panose="02010600030101010101" pitchFamily="2" charset="-122"/>
              </a:rPr>
              <a:t>，访问文件系统（</a:t>
            </a:r>
            <a:r>
              <a:rPr kumimoji="1" lang="en-US" altLang="zh-CN">
                <a:ea typeface="宋体" panose="02010600030101010101" pitchFamily="2" charset="-122"/>
              </a:rPr>
              <a:t>I/O</a:t>
            </a:r>
            <a:r>
              <a:rPr kumimoji="1" lang="zh-CN" altLang="en-US">
                <a:ea typeface="宋体" panose="02010600030101010101" pitchFamily="2" charset="-122"/>
              </a:rPr>
              <a:t>设备）</a:t>
            </a:r>
            <a:endParaRPr kumimoji="1" lang="en-US" altLang="zh-CN">
              <a:ea typeface="宋体" panose="02010600030101010101" pitchFamily="2" charset="-122"/>
            </a:endParaRPr>
          </a:p>
          <a:p>
            <a:pPr lvl="2"/>
            <a:r>
              <a:rPr kumimoji="1" lang="en-US" altLang="zh-CN">
                <a:ea typeface="宋体" panose="02010600030101010101" pitchFamily="2" charset="-122"/>
              </a:rPr>
              <a:t>Send/receive</a:t>
            </a:r>
            <a:r>
              <a:rPr kumimoji="1" lang="zh-CN" altLang="en-US">
                <a:ea typeface="宋体" panose="02010600030101010101" pitchFamily="2" charset="-122"/>
              </a:rPr>
              <a:t>，访问网卡</a:t>
            </a:r>
            <a:endParaRPr kumimoji="1" lang="en-US" altLang="zh-CN">
              <a:ea typeface="宋体" panose="02010600030101010101" pitchFamily="2" charset="-122"/>
            </a:endParaRPr>
          </a:p>
          <a:p>
            <a:pPr lvl="2"/>
            <a:endParaRPr kumimoji="1" lang="en-US" altLang="zh-CN">
              <a:ea typeface="宋体" panose="02010600030101010101" pitchFamily="2" charset="-122"/>
            </a:endParaRPr>
          </a:p>
        </p:txBody>
      </p:sp>
      <p:sp>
        <p:nvSpPr>
          <p:cNvPr id="106499" name="幻灯片编号占位符 3">
            <a:extLst>
              <a:ext uri="{FF2B5EF4-FFF2-40B4-BE49-F238E27FC236}">
                <a16:creationId xmlns:a16="http://schemas.microsoft.com/office/drawing/2014/main" id="{7970EB35-39A3-8902-8898-805E36F18C0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16DE1953-2202-2B4B-8C6E-12DE9C77D65C}" type="slidenum">
              <a:rPr lang="zh-CN" altLang="en-US" sz="1400" smtClean="0">
                <a:latin typeface="Times New Roman" panose="02020603050405020304" pitchFamily="18" charset="0"/>
              </a:rPr>
              <a:pPr>
                <a:spcBef>
                  <a:spcPct val="0"/>
                </a:spcBef>
                <a:buFontTx/>
                <a:buNone/>
              </a:pPr>
              <a:t>68</a:t>
            </a:fld>
            <a:endParaRPr lang="en-US" altLang="zh-CN" sz="1400">
              <a:latin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a:extLst>
              <a:ext uri="{FF2B5EF4-FFF2-40B4-BE49-F238E27FC236}">
                <a16:creationId xmlns:a16="http://schemas.microsoft.com/office/drawing/2014/main" id="{D7B05A2D-AFF9-74ED-0DBF-693CA0390F4F}"/>
              </a:ext>
            </a:extLst>
          </p:cNvPr>
          <p:cNvSpPr>
            <a:spLocks noGrp="1" noChangeArrowheads="1"/>
          </p:cNvSpPr>
          <p:nvPr>
            <p:ph type="title"/>
          </p:nvPr>
        </p:nvSpPr>
        <p:spPr/>
        <p:txBody>
          <a:bodyPr/>
          <a:lstStyle/>
          <a:p>
            <a:r>
              <a:rPr kumimoji="1" lang="zh-CN" altLang="en-US">
                <a:ea typeface="宋体" panose="02010600030101010101" pitchFamily="2" charset="-122"/>
              </a:rPr>
              <a:t>程序员可见状态</a:t>
            </a:r>
          </a:p>
        </p:txBody>
      </p:sp>
      <p:sp>
        <p:nvSpPr>
          <p:cNvPr id="107522" name="内容占位符 2">
            <a:extLst>
              <a:ext uri="{FF2B5EF4-FFF2-40B4-BE49-F238E27FC236}">
                <a16:creationId xmlns:a16="http://schemas.microsoft.com/office/drawing/2014/main" id="{F63D810B-DBE3-F1DB-2884-9694E0C45BB5}"/>
              </a:ext>
            </a:extLst>
          </p:cNvPr>
          <p:cNvSpPr>
            <a:spLocks noGrp="1" noChangeArrowheads="1"/>
          </p:cNvSpPr>
          <p:nvPr>
            <p:ph idx="1"/>
          </p:nvPr>
        </p:nvSpPr>
        <p:spPr/>
        <p:txBody>
          <a:bodyPr/>
          <a:lstStyle/>
          <a:p>
            <a:r>
              <a:rPr kumimoji="1" lang="zh-CN" altLang="en-US">
                <a:ea typeface="宋体" panose="02010600030101010101" pitchFamily="2" charset="-122"/>
              </a:rPr>
              <a:t>汇编程序员</a:t>
            </a:r>
            <a:endParaRPr kumimoji="1" lang="en-US" altLang="zh-CN">
              <a:ea typeface="宋体" panose="02010600030101010101" pitchFamily="2" charset="-122"/>
            </a:endParaRPr>
          </a:p>
          <a:p>
            <a:pPr lvl="1"/>
            <a:r>
              <a:rPr kumimoji="1" lang="zh-CN" altLang="en-US">
                <a:ea typeface="宋体" panose="02010600030101010101" pitchFamily="2" charset="-122"/>
              </a:rPr>
              <a:t>汇编指令</a:t>
            </a:r>
            <a:endParaRPr kumimoji="1" lang="en-US" altLang="zh-CN">
              <a:ea typeface="宋体" panose="02010600030101010101" pitchFamily="2" charset="-122"/>
            </a:endParaRPr>
          </a:p>
          <a:p>
            <a:pPr lvl="2"/>
            <a:r>
              <a:rPr kumimoji="1" lang="zh-CN" altLang="en-US">
                <a:ea typeface="宋体" panose="02010600030101010101" pitchFamily="2" charset="-122"/>
              </a:rPr>
              <a:t>各类运算</a:t>
            </a:r>
            <a:endParaRPr kumimoji="1" lang="en-US" altLang="zh-CN">
              <a:ea typeface="宋体" panose="02010600030101010101" pitchFamily="2" charset="-122"/>
            </a:endParaRPr>
          </a:p>
          <a:p>
            <a:pPr lvl="2"/>
            <a:r>
              <a:rPr kumimoji="1" lang="zh-CN" altLang="en-US">
                <a:ea typeface="宋体" panose="02010600030101010101" pitchFamily="2" charset="-122"/>
              </a:rPr>
              <a:t>跳转指令（</a:t>
            </a:r>
            <a:r>
              <a:rPr kumimoji="1" lang="en-US" altLang="zh-CN">
                <a:ea typeface="宋体" panose="02010600030101010101" pitchFamily="2" charset="-122"/>
              </a:rPr>
              <a:t>jmp, jcc-&gt;</a:t>
            </a:r>
            <a:r>
              <a:rPr kumimoji="1" lang="zh-CN" altLang="en-US">
                <a:ea typeface="宋体" panose="02010600030101010101" pitchFamily="2" charset="-122"/>
              </a:rPr>
              <a:t>分支、循环；子过程调用</a:t>
            </a:r>
            <a:r>
              <a:rPr kumimoji="1" lang="en-US" altLang="zh-CN">
                <a:ea typeface="宋体" panose="02010600030101010101" pitchFamily="2" charset="-122"/>
              </a:rPr>
              <a:t>call</a:t>
            </a:r>
            <a:r>
              <a:rPr kumimoji="1" lang="zh-CN" altLang="en-US">
                <a:ea typeface="宋体" panose="02010600030101010101" pitchFamily="2" charset="-122"/>
              </a:rPr>
              <a:t>）</a:t>
            </a:r>
            <a:endParaRPr kumimoji="1" lang="en-US" altLang="zh-CN">
              <a:ea typeface="宋体" panose="02010600030101010101" pitchFamily="2" charset="-122"/>
            </a:endParaRPr>
          </a:p>
          <a:p>
            <a:pPr lvl="2"/>
            <a:r>
              <a:rPr kumimoji="1" lang="zh-CN" altLang="en-US">
                <a:ea typeface="宋体" panose="02010600030101010101" pitchFamily="2" charset="-122"/>
              </a:rPr>
              <a:t>中断指令（</a:t>
            </a:r>
            <a:r>
              <a:rPr kumimoji="1" lang="en-US" altLang="zh-CN">
                <a:ea typeface="宋体" panose="02010600030101010101" pitchFamily="2" charset="-122"/>
              </a:rPr>
              <a:t>int, </a:t>
            </a:r>
            <a:r>
              <a:rPr kumimoji="1" lang="zh-CN" altLang="en-US">
                <a:ea typeface="宋体" panose="02010600030101010101" pitchFamily="2" charset="-122"/>
              </a:rPr>
              <a:t>与外设打交道</a:t>
            </a:r>
            <a:r>
              <a:rPr kumimoji="1" lang="en-US" altLang="zh-CN">
                <a:ea typeface="宋体" panose="02010600030101010101" pitchFamily="2" charset="-122"/>
              </a:rPr>
              <a:t>/</a:t>
            </a:r>
            <a:r>
              <a:rPr kumimoji="1" lang="zh-CN" altLang="en-US">
                <a:ea typeface="宋体" panose="02010600030101010101" pitchFamily="2" charset="-122"/>
              </a:rPr>
              <a:t>进行系统调用）</a:t>
            </a:r>
            <a:endParaRPr kumimoji="1" lang="en-US" altLang="zh-CN">
              <a:ea typeface="宋体" panose="02010600030101010101" pitchFamily="2" charset="-122"/>
            </a:endParaRPr>
          </a:p>
          <a:p>
            <a:pPr lvl="1"/>
            <a:r>
              <a:rPr kumimoji="1" lang="zh-CN" altLang="en-US">
                <a:solidFill>
                  <a:srgbClr val="FF0000"/>
                </a:solidFill>
                <a:ea typeface="宋体" panose="02010600030101010101" pitchFamily="2" charset="-122"/>
              </a:rPr>
              <a:t>寄存器</a:t>
            </a:r>
            <a:endParaRPr kumimoji="1" lang="en-US" altLang="zh-CN">
              <a:solidFill>
                <a:srgbClr val="FF0000"/>
              </a:solidFill>
              <a:ea typeface="宋体" panose="02010600030101010101" pitchFamily="2" charset="-122"/>
            </a:endParaRPr>
          </a:p>
          <a:p>
            <a:pPr lvl="2"/>
            <a:r>
              <a:rPr kumimoji="1" lang="en-US" altLang="zh-CN">
                <a:solidFill>
                  <a:srgbClr val="FF0000"/>
                </a:solidFill>
                <a:ea typeface="宋体" panose="02010600030101010101" pitchFamily="2" charset="-122"/>
              </a:rPr>
              <a:t>Eax, ebx, </a:t>
            </a:r>
            <a:r>
              <a:rPr kumimoji="1" lang="mr-IN" altLang="zh-CN">
                <a:solidFill>
                  <a:srgbClr val="FF0000"/>
                </a:solidFill>
              </a:rPr>
              <a:t>…</a:t>
            </a:r>
            <a:r>
              <a:rPr kumimoji="1" lang="zh-CN" altLang="en-US">
                <a:solidFill>
                  <a:srgbClr val="FF0000"/>
                </a:solidFill>
                <a:ea typeface="宋体" panose="02010600030101010101" pitchFamily="2" charset="-122"/>
              </a:rPr>
              <a:t>等通用和专用寄存器</a:t>
            </a:r>
            <a:endParaRPr kumimoji="1" lang="en-US" altLang="zh-CN">
              <a:solidFill>
                <a:srgbClr val="FF0000"/>
              </a:solidFill>
              <a:ea typeface="宋体" panose="02010600030101010101" pitchFamily="2" charset="-122"/>
            </a:endParaRPr>
          </a:p>
          <a:p>
            <a:pPr lvl="1"/>
            <a:r>
              <a:rPr kumimoji="1" lang="zh-CN" altLang="en-US">
                <a:ea typeface="宋体" panose="02010600030101010101" pitchFamily="2" charset="-122"/>
              </a:rPr>
              <a:t>内存</a:t>
            </a:r>
            <a:endParaRPr kumimoji="1" lang="en-US" altLang="zh-CN">
              <a:ea typeface="宋体" panose="02010600030101010101" pitchFamily="2" charset="-122"/>
            </a:endParaRPr>
          </a:p>
          <a:p>
            <a:pPr lvl="2"/>
            <a:r>
              <a:rPr kumimoji="1" lang="zh-CN" altLang="en-US">
                <a:ea typeface="宋体" panose="02010600030101010101" pitchFamily="2" charset="-122"/>
              </a:rPr>
              <a:t>全局变量：放在数据段</a:t>
            </a:r>
            <a:endParaRPr kumimoji="1" lang="en-US" altLang="zh-CN">
              <a:ea typeface="宋体" panose="02010600030101010101" pitchFamily="2" charset="-122"/>
            </a:endParaRPr>
          </a:p>
          <a:p>
            <a:pPr lvl="2"/>
            <a:r>
              <a:rPr kumimoji="1" lang="zh-CN" altLang="en-US">
                <a:solidFill>
                  <a:srgbClr val="FF0000"/>
                </a:solidFill>
                <a:ea typeface="宋体" panose="02010600030101010101" pitchFamily="2" charset="-122"/>
              </a:rPr>
              <a:t>堆栈段：可以直接操作（</a:t>
            </a:r>
            <a:r>
              <a:rPr kumimoji="1" lang="en-US" altLang="zh-CN">
                <a:solidFill>
                  <a:srgbClr val="FF0000"/>
                </a:solidFill>
                <a:ea typeface="宋体" panose="02010600030101010101" pitchFamily="2" charset="-122"/>
              </a:rPr>
              <a:t>push, pop, move, </a:t>
            </a:r>
            <a:r>
              <a:rPr kumimoji="1" lang="mr-IN" altLang="zh-CN">
                <a:solidFill>
                  <a:srgbClr val="FF0000"/>
                </a:solidFill>
              </a:rPr>
              <a:t>…</a:t>
            </a:r>
            <a:r>
              <a:rPr kumimoji="1" lang="zh-CN" altLang="en-US">
                <a:solidFill>
                  <a:srgbClr val="FF0000"/>
                </a:solidFill>
                <a:ea typeface="宋体" panose="02010600030101010101" pitchFamily="2" charset="-122"/>
              </a:rPr>
              <a:t>）</a:t>
            </a:r>
            <a:endParaRPr kumimoji="1" lang="en-US" altLang="zh-CN">
              <a:solidFill>
                <a:srgbClr val="FF0000"/>
              </a:solidFill>
              <a:ea typeface="宋体" panose="02010600030101010101" pitchFamily="2" charset="-122"/>
            </a:endParaRPr>
          </a:p>
          <a:p>
            <a:pPr lvl="3"/>
            <a:r>
              <a:rPr kumimoji="1" lang="zh-CN" altLang="en-US">
                <a:ea typeface="宋体" panose="02010600030101010101" pitchFamily="2" charset="-122"/>
              </a:rPr>
              <a:t>函数调用时自动操作堆栈（保存返回地址等）</a:t>
            </a:r>
            <a:endParaRPr kumimoji="1" lang="en-US" altLang="zh-CN">
              <a:ea typeface="宋体" panose="02010600030101010101" pitchFamily="2" charset="-122"/>
            </a:endParaRPr>
          </a:p>
          <a:p>
            <a:pPr lvl="2"/>
            <a:endParaRPr kumimoji="1" lang="en-US" altLang="zh-CN">
              <a:ea typeface="宋体" panose="02010600030101010101" pitchFamily="2" charset="-122"/>
            </a:endParaRPr>
          </a:p>
          <a:p>
            <a:pPr lvl="1"/>
            <a:endParaRPr kumimoji="1" lang="zh-CN" altLang="en-US">
              <a:ea typeface="宋体" panose="02010600030101010101" pitchFamily="2" charset="-122"/>
            </a:endParaRPr>
          </a:p>
        </p:txBody>
      </p:sp>
      <p:sp>
        <p:nvSpPr>
          <p:cNvPr id="107523" name="幻灯片编号占位符 3">
            <a:extLst>
              <a:ext uri="{FF2B5EF4-FFF2-40B4-BE49-F238E27FC236}">
                <a16:creationId xmlns:a16="http://schemas.microsoft.com/office/drawing/2014/main" id="{2A4E876C-D1B5-D1CA-2874-F2303572F01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86A9464B-6385-A344-B1B6-D6751E89F7F7}" type="slidenum">
              <a:rPr lang="zh-CN" altLang="en-US" sz="1400" smtClean="0">
                <a:latin typeface="Times New Roman" panose="02020603050405020304" pitchFamily="18" charset="0"/>
              </a:rPr>
              <a:pPr>
                <a:spcBef>
                  <a:spcPct val="0"/>
                </a:spcBef>
                <a:buFontTx/>
                <a:buNone/>
              </a:pPr>
              <a:t>69</a:t>
            </a:fld>
            <a:endParaRPr lang="en-US" altLang="zh-CN" sz="1400">
              <a:latin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5" name="Picture 4">
            <a:extLst>
              <a:ext uri="{FF2B5EF4-FFF2-40B4-BE49-F238E27FC236}">
                <a16:creationId xmlns:a16="http://schemas.microsoft.com/office/drawing/2014/main" id="{DC001F03-3716-DF80-97B8-C5A2D0E9A9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3141663"/>
            <a:ext cx="4786313"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6" name="标题 1">
            <a:extLst>
              <a:ext uri="{FF2B5EF4-FFF2-40B4-BE49-F238E27FC236}">
                <a16:creationId xmlns:a16="http://schemas.microsoft.com/office/drawing/2014/main" id="{793CF085-C619-2B98-8558-31967345B246}"/>
              </a:ext>
            </a:extLst>
          </p:cNvPr>
          <p:cNvSpPr>
            <a:spLocks noGrp="1" noChangeArrowheads="1"/>
          </p:cNvSpPr>
          <p:nvPr>
            <p:ph type="title"/>
          </p:nvPr>
        </p:nvSpPr>
        <p:spPr/>
        <p:txBody>
          <a:bodyPr/>
          <a:lstStyle/>
          <a:p>
            <a:r>
              <a:rPr kumimoji="1" lang="zh-CN" altLang="en-US">
                <a:ea typeface="宋体" panose="02010600030101010101" pitchFamily="2" charset="-122"/>
              </a:rPr>
              <a:t>程序员可见状态</a:t>
            </a:r>
          </a:p>
        </p:txBody>
      </p:sp>
      <p:sp>
        <p:nvSpPr>
          <p:cNvPr id="108547" name="内容占位符 2">
            <a:extLst>
              <a:ext uri="{FF2B5EF4-FFF2-40B4-BE49-F238E27FC236}">
                <a16:creationId xmlns:a16="http://schemas.microsoft.com/office/drawing/2014/main" id="{91BD3815-D793-B734-63E5-7E6B8DF0DEFF}"/>
              </a:ext>
            </a:extLst>
          </p:cNvPr>
          <p:cNvSpPr>
            <a:spLocks noGrp="1" noChangeArrowheads="1"/>
          </p:cNvSpPr>
          <p:nvPr>
            <p:ph idx="1"/>
          </p:nvPr>
        </p:nvSpPr>
        <p:spPr/>
        <p:txBody>
          <a:bodyPr/>
          <a:lstStyle/>
          <a:p>
            <a:pPr marL="342900" lvl="1" indent="-342900">
              <a:buFontTx/>
              <a:buChar char="•"/>
            </a:pPr>
            <a:r>
              <a:rPr kumimoji="1" lang="zh-CN" altLang="en-US">
                <a:ea typeface="宋体" panose="02010600030101010101" pitchFamily="2" charset="-122"/>
              </a:rPr>
              <a:t>寄存器</a:t>
            </a:r>
            <a:endParaRPr kumimoji="1" lang="en-US" altLang="zh-CN">
              <a:ea typeface="宋体" panose="02010600030101010101" pitchFamily="2" charset="-122"/>
            </a:endParaRPr>
          </a:p>
          <a:p>
            <a:pPr marL="342900" lvl="1" indent="-342900"/>
            <a:r>
              <a:rPr kumimoji="1" lang="en-US" altLang="zh-CN">
                <a:ea typeface="宋体" panose="02010600030101010101" pitchFamily="2" charset="-122"/>
              </a:rPr>
              <a:t>%rax, %rbx, %rcx, %rdx, %rbp, %rsp, %rsi, %rdi</a:t>
            </a:r>
          </a:p>
          <a:p>
            <a:pPr marL="342900" lvl="1" indent="-342900"/>
            <a:r>
              <a:rPr kumimoji="1" lang="en-US" altLang="zh-CN">
                <a:ea typeface="宋体" panose="02010600030101010101" pitchFamily="2" charset="-122"/>
              </a:rPr>
              <a:t>%r8, %r9, %r10, %r11, %r12, %r13, %r14, %r15</a:t>
            </a:r>
          </a:p>
          <a:p>
            <a:pPr marL="342900" lvl="1" indent="-342900"/>
            <a:r>
              <a:rPr kumimoji="1" lang="en-US" altLang="zh-CN">
                <a:ea typeface="宋体" panose="02010600030101010101" pitchFamily="2" charset="-122"/>
              </a:rPr>
              <a:t>EFlags (SF, ZF, OF, CF, </a:t>
            </a:r>
            <a:r>
              <a:rPr kumimoji="1" lang="mr-IN" altLang="zh-CN"/>
              <a:t>…</a:t>
            </a:r>
            <a:r>
              <a:rPr kumimoji="1" lang="en-US" altLang="zh-CN">
                <a:ea typeface="宋体" panose="02010600030101010101" pitchFamily="2" charset="-122"/>
              </a:rPr>
              <a:t>)</a:t>
            </a:r>
          </a:p>
          <a:p>
            <a:pPr marL="342900" lvl="1" indent="-342900"/>
            <a:r>
              <a:rPr kumimoji="1" lang="en-US" altLang="zh-CN">
                <a:ea typeface="宋体" panose="02010600030101010101" pitchFamily="2" charset="-122"/>
              </a:rPr>
              <a:t>CS, DS, SS, ES, FS, GS</a:t>
            </a:r>
          </a:p>
          <a:p>
            <a:pPr marL="342900" lvl="1" indent="-342900"/>
            <a:r>
              <a:rPr kumimoji="1" lang="en-US" altLang="zh-CN">
                <a:ea typeface="宋体" panose="02010600030101010101" pitchFamily="2" charset="-122"/>
              </a:rPr>
              <a:t>PC (IP)</a:t>
            </a:r>
          </a:p>
          <a:p>
            <a:pPr marL="342900" lvl="1" indent="-342900"/>
            <a:r>
              <a:rPr kumimoji="1" lang="en-US" altLang="zh-CN">
                <a:ea typeface="宋体" panose="02010600030101010101" pitchFamily="2" charset="-122"/>
              </a:rPr>
              <a:t>Memory</a:t>
            </a:r>
          </a:p>
          <a:p>
            <a:pPr lvl="2"/>
            <a:r>
              <a:rPr kumimoji="1" lang="en-US" altLang="zh-CN">
                <a:ea typeface="宋体" panose="02010600030101010101" pitchFamily="2" charset="-122"/>
              </a:rPr>
              <a:t>8086: </a:t>
            </a:r>
            <a:r>
              <a:rPr kumimoji="1" lang="zh-CN" altLang="en-US">
                <a:ea typeface="宋体" panose="02010600030101010101" pitchFamily="2" charset="-122"/>
              </a:rPr>
              <a:t>物理内存</a:t>
            </a:r>
            <a:endParaRPr kumimoji="1" lang="en-US" altLang="zh-CN">
              <a:ea typeface="宋体" panose="02010600030101010101" pitchFamily="2" charset="-122"/>
            </a:endParaRPr>
          </a:p>
          <a:p>
            <a:pPr lvl="2"/>
            <a:r>
              <a:rPr kumimoji="1" lang="en-US" altLang="zh-CN">
                <a:ea typeface="宋体" panose="02010600030101010101" pitchFamily="2" charset="-122"/>
              </a:rPr>
              <a:t>80386+: </a:t>
            </a:r>
            <a:r>
              <a:rPr kumimoji="1" lang="zh-CN" altLang="en-US">
                <a:ea typeface="宋体" panose="02010600030101010101" pitchFamily="2" charset="-122"/>
              </a:rPr>
              <a:t>虚拟内存地址</a:t>
            </a:r>
          </a:p>
        </p:txBody>
      </p:sp>
      <p:sp>
        <p:nvSpPr>
          <p:cNvPr id="108548" name="幻灯片编号占位符 3">
            <a:extLst>
              <a:ext uri="{FF2B5EF4-FFF2-40B4-BE49-F238E27FC236}">
                <a16:creationId xmlns:a16="http://schemas.microsoft.com/office/drawing/2014/main" id="{70C58523-FCDB-F6EE-50C9-413BD9DF295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3127BA1B-8348-0144-A387-A334D5DC2A2F}" type="slidenum">
              <a:rPr lang="zh-CN" altLang="en-US" sz="1400" smtClean="0">
                <a:latin typeface="Times New Roman" panose="02020603050405020304" pitchFamily="18" charset="0"/>
              </a:rPr>
              <a:pPr>
                <a:spcBef>
                  <a:spcPct val="0"/>
                </a:spcBef>
                <a:buFontTx/>
                <a:buNone/>
              </a:pPr>
              <a:t>70</a:t>
            </a:fld>
            <a:endParaRPr lang="en-US" altLang="zh-CN" sz="1400">
              <a:latin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标题 1">
            <a:extLst>
              <a:ext uri="{FF2B5EF4-FFF2-40B4-BE49-F238E27FC236}">
                <a16:creationId xmlns:a16="http://schemas.microsoft.com/office/drawing/2014/main" id="{2E10CCF8-65C9-1E06-B098-CEF81CA811FE}"/>
              </a:ext>
            </a:extLst>
          </p:cNvPr>
          <p:cNvSpPr>
            <a:spLocks noGrp="1" noChangeArrowheads="1"/>
          </p:cNvSpPr>
          <p:nvPr>
            <p:ph type="title"/>
          </p:nvPr>
        </p:nvSpPr>
        <p:spPr/>
        <p:txBody>
          <a:bodyPr/>
          <a:lstStyle/>
          <a:p>
            <a:r>
              <a:rPr kumimoji="1" lang="zh-CN" altLang="en-US">
                <a:ea typeface="宋体" panose="02010600030101010101" pitchFamily="2" charset="-122"/>
              </a:rPr>
              <a:t>程序员可见状态</a:t>
            </a:r>
          </a:p>
        </p:txBody>
      </p:sp>
      <p:sp>
        <p:nvSpPr>
          <p:cNvPr id="109570" name="幻灯片编号占位符 3">
            <a:extLst>
              <a:ext uri="{FF2B5EF4-FFF2-40B4-BE49-F238E27FC236}">
                <a16:creationId xmlns:a16="http://schemas.microsoft.com/office/drawing/2014/main" id="{8ABBF9C9-ED6A-27EE-8301-005EE819BD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D35616D1-157E-DB40-B085-18FD9323417C}" type="slidenum">
              <a:rPr lang="zh-CN" altLang="en-US" sz="1400" smtClean="0">
                <a:latin typeface="Times New Roman" panose="02020603050405020304" pitchFamily="18" charset="0"/>
              </a:rPr>
              <a:pPr>
                <a:spcBef>
                  <a:spcPct val="0"/>
                </a:spcBef>
                <a:buFontTx/>
                <a:buNone/>
              </a:pPr>
              <a:t>71</a:t>
            </a:fld>
            <a:endParaRPr lang="en-US" altLang="zh-CN" sz="1400">
              <a:latin typeface="Times New Roman" panose="02020603050405020304" pitchFamily="18" charset="0"/>
            </a:endParaRPr>
          </a:p>
        </p:txBody>
      </p:sp>
      <p:sp>
        <p:nvSpPr>
          <p:cNvPr id="109571" name="Rectangle 1">
            <a:extLst>
              <a:ext uri="{FF2B5EF4-FFF2-40B4-BE49-F238E27FC236}">
                <a16:creationId xmlns:a16="http://schemas.microsoft.com/office/drawing/2014/main" id="{7E0A17D5-E767-E99E-D9D7-C1083B66B12E}"/>
              </a:ext>
            </a:extLst>
          </p:cNvPr>
          <p:cNvSpPr>
            <a:spLocks/>
          </p:cNvSpPr>
          <p:nvPr/>
        </p:nvSpPr>
        <p:spPr bwMode="auto">
          <a:xfrm>
            <a:off x="838200" y="5210175"/>
            <a:ext cx="3556000" cy="457200"/>
          </a:xfrm>
          <a:prstGeom prst="rect">
            <a:avLst/>
          </a:prstGeom>
          <a:solidFill>
            <a:srgbClr val="EFBFBF"/>
          </a:solidFill>
          <a:ln w="25400">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%rsp</a:t>
            </a:r>
          </a:p>
        </p:txBody>
      </p:sp>
      <p:sp>
        <p:nvSpPr>
          <p:cNvPr id="6" name="Rectangle 5">
            <a:extLst>
              <a:ext uri="{FF2B5EF4-FFF2-40B4-BE49-F238E27FC236}">
                <a16:creationId xmlns:a16="http://schemas.microsoft.com/office/drawing/2014/main" id="{0648E973-E589-EEF6-34A3-2E6174855745}"/>
              </a:ext>
            </a:extLst>
          </p:cNvPr>
          <p:cNvSpPr txBox="1">
            <a:spLocks noChangeArrowheads="1"/>
          </p:cNvSpPr>
          <p:nvPr/>
        </p:nvSpPr>
        <p:spPr bwMode="auto">
          <a:xfrm>
            <a:off x="-228600" y="6270625"/>
            <a:ext cx="8443913" cy="717550"/>
          </a:xfrm>
          <a:prstGeom prst="rect">
            <a:avLst/>
          </a:prstGeom>
          <a:noFill/>
          <a:ln>
            <a:noFill/>
          </a:ln>
        </p:spPr>
        <p:txBody>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lvl="1">
              <a:defRPr/>
            </a:pPr>
            <a:r>
              <a:rPr lang="en-US" sz="2000" b="0" kern="0" dirty="0">
                <a:ea typeface="宋体" charset="-122"/>
              </a:rPr>
              <a:t>Can reference low-order 4 bytes (also low-order 1 &amp; 2 bytes)</a:t>
            </a:r>
          </a:p>
        </p:txBody>
      </p:sp>
      <p:sp>
        <p:nvSpPr>
          <p:cNvPr id="109573" name="Rectangle 6">
            <a:extLst>
              <a:ext uri="{FF2B5EF4-FFF2-40B4-BE49-F238E27FC236}">
                <a16:creationId xmlns:a16="http://schemas.microsoft.com/office/drawing/2014/main" id="{0488F1A6-B8D2-9527-5758-B8B6DEE693BE}"/>
              </a:ext>
            </a:extLst>
          </p:cNvPr>
          <p:cNvSpPr>
            <a:spLocks/>
          </p:cNvSpPr>
          <p:nvPr/>
        </p:nvSpPr>
        <p:spPr bwMode="auto">
          <a:xfrm>
            <a:off x="2628900" y="20351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%eax</a:t>
            </a:r>
          </a:p>
        </p:txBody>
      </p:sp>
      <p:sp>
        <p:nvSpPr>
          <p:cNvPr id="109574" name="Rectangle 7">
            <a:extLst>
              <a:ext uri="{FF2B5EF4-FFF2-40B4-BE49-F238E27FC236}">
                <a16:creationId xmlns:a16="http://schemas.microsoft.com/office/drawing/2014/main" id="{C36949DC-5ADA-9CD5-FC18-D44259B5A9D7}"/>
              </a:ext>
            </a:extLst>
          </p:cNvPr>
          <p:cNvSpPr>
            <a:spLocks/>
          </p:cNvSpPr>
          <p:nvPr/>
        </p:nvSpPr>
        <p:spPr bwMode="auto">
          <a:xfrm>
            <a:off x="2628900" y="25685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%ebx</a:t>
            </a:r>
          </a:p>
        </p:txBody>
      </p:sp>
      <p:sp>
        <p:nvSpPr>
          <p:cNvPr id="109575" name="Rectangle 8">
            <a:extLst>
              <a:ext uri="{FF2B5EF4-FFF2-40B4-BE49-F238E27FC236}">
                <a16:creationId xmlns:a16="http://schemas.microsoft.com/office/drawing/2014/main" id="{E6642318-26C4-4AD0-88EE-D06A138957AC}"/>
              </a:ext>
            </a:extLst>
          </p:cNvPr>
          <p:cNvSpPr>
            <a:spLocks/>
          </p:cNvSpPr>
          <p:nvPr/>
        </p:nvSpPr>
        <p:spPr bwMode="auto">
          <a:xfrm>
            <a:off x="2628900" y="31019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%ecx</a:t>
            </a:r>
          </a:p>
        </p:txBody>
      </p:sp>
      <p:sp>
        <p:nvSpPr>
          <p:cNvPr id="109576" name="Rectangle 9">
            <a:extLst>
              <a:ext uri="{FF2B5EF4-FFF2-40B4-BE49-F238E27FC236}">
                <a16:creationId xmlns:a16="http://schemas.microsoft.com/office/drawing/2014/main" id="{6CD2FC05-896A-395D-2074-8AD2399C1EC0}"/>
              </a:ext>
            </a:extLst>
          </p:cNvPr>
          <p:cNvSpPr>
            <a:spLocks/>
          </p:cNvSpPr>
          <p:nvPr/>
        </p:nvSpPr>
        <p:spPr bwMode="auto">
          <a:xfrm>
            <a:off x="2628900" y="36353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%edx</a:t>
            </a:r>
          </a:p>
        </p:txBody>
      </p:sp>
      <p:sp>
        <p:nvSpPr>
          <p:cNvPr id="109577" name="Rectangle 10">
            <a:extLst>
              <a:ext uri="{FF2B5EF4-FFF2-40B4-BE49-F238E27FC236}">
                <a16:creationId xmlns:a16="http://schemas.microsoft.com/office/drawing/2014/main" id="{FAF614C8-168D-927B-8134-9FFDC6D47BEF}"/>
              </a:ext>
            </a:extLst>
          </p:cNvPr>
          <p:cNvSpPr>
            <a:spLocks/>
          </p:cNvSpPr>
          <p:nvPr/>
        </p:nvSpPr>
        <p:spPr bwMode="auto">
          <a:xfrm>
            <a:off x="2628900" y="41687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%esi</a:t>
            </a:r>
          </a:p>
        </p:txBody>
      </p:sp>
      <p:sp>
        <p:nvSpPr>
          <p:cNvPr id="109578" name="Rectangle 11">
            <a:extLst>
              <a:ext uri="{FF2B5EF4-FFF2-40B4-BE49-F238E27FC236}">
                <a16:creationId xmlns:a16="http://schemas.microsoft.com/office/drawing/2014/main" id="{931A0326-D972-CF5B-E672-D274EC9EE664}"/>
              </a:ext>
            </a:extLst>
          </p:cNvPr>
          <p:cNvSpPr>
            <a:spLocks/>
          </p:cNvSpPr>
          <p:nvPr/>
        </p:nvSpPr>
        <p:spPr bwMode="auto">
          <a:xfrm>
            <a:off x="2628900" y="47021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%edi</a:t>
            </a:r>
          </a:p>
        </p:txBody>
      </p:sp>
      <p:sp>
        <p:nvSpPr>
          <p:cNvPr id="109579" name="Rectangle 12">
            <a:extLst>
              <a:ext uri="{FF2B5EF4-FFF2-40B4-BE49-F238E27FC236}">
                <a16:creationId xmlns:a16="http://schemas.microsoft.com/office/drawing/2014/main" id="{49C3AD90-DF35-A7E3-2D7A-A1957B73A1CB}"/>
              </a:ext>
            </a:extLst>
          </p:cNvPr>
          <p:cNvSpPr>
            <a:spLocks/>
          </p:cNvSpPr>
          <p:nvPr/>
        </p:nvSpPr>
        <p:spPr bwMode="auto">
          <a:xfrm>
            <a:off x="2628900" y="5235575"/>
            <a:ext cx="1752600" cy="381000"/>
          </a:xfrm>
          <a:prstGeom prst="rect">
            <a:avLst/>
          </a:prstGeom>
          <a:solidFill>
            <a:srgbClr val="FF9999"/>
          </a:solidFill>
          <a:ln w="12700">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%esp</a:t>
            </a:r>
          </a:p>
        </p:txBody>
      </p:sp>
      <p:sp>
        <p:nvSpPr>
          <p:cNvPr id="109580" name="Rectangle 13">
            <a:extLst>
              <a:ext uri="{FF2B5EF4-FFF2-40B4-BE49-F238E27FC236}">
                <a16:creationId xmlns:a16="http://schemas.microsoft.com/office/drawing/2014/main" id="{3FBBCEE2-AC30-B9E4-2A00-732AD00E8194}"/>
              </a:ext>
            </a:extLst>
          </p:cNvPr>
          <p:cNvSpPr>
            <a:spLocks/>
          </p:cNvSpPr>
          <p:nvPr/>
        </p:nvSpPr>
        <p:spPr bwMode="auto">
          <a:xfrm>
            <a:off x="2628900" y="57562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%ebp</a:t>
            </a:r>
          </a:p>
        </p:txBody>
      </p:sp>
      <p:sp>
        <p:nvSpPr>
          <p:cNvPr id="109581" name="Rectangle 14">
            <a:extLst>
              <a:ext uri="{FF2B5EF4-FFF2-40B4-BE49-F238E27FC236}">
                <a16:creationId xmlns:a16="http://schemas.microsoft.com/office/drawing/2014/main" id="{F7397092-2994-FCFB-3637-FA7E957BD0AF}"/>
              </a:ext>
            </a:extLst>
          </p:cNvPr>
          <p:cNvSpPr>
            <a:spLocks/>
          </p:cNvSpPr>
          <p:nvPr/>
        </p:nvSpPr>
        <p:spPr bwMode="auto">
          <a:xfrm>
            <a:off x="6591300" y="20351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%r8d</a:t>
            </a:r>
          </a:p>
        </p:txBody>
      </p:sp>
      <p:sp>
        <p:nvSpPr>
          <p:cNvPr id="109582" name="Rectangle 15">
            <a:extLst>
              <a:ext uri="{FF2B5EF4-FFF2-40B4-BE49-F238E27FC236}">
                <a16:creationId xmlns:a16="http://schemas.microsoft.com/office/drawing/2014/main" id="{6F5790B4-44E8-5AB9-245B-429B9ADA6416}"/>
              </a:ext>
            </a:extLst>
          </p:cNvPr>
          <p:cNvSpPr>
            <a:spLocks/>
          </p:cNvSpPr>
          <p:nvPr/>
        </p:nvSpPr>
        <p:spPr bwMode="auto">
          <a:xfrm>
            <a:off x="6591300" y="25685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%r9d</a:t>
            </a:r>
          </a:p>
        </p:txBody>
      </p:sp>
      <p:sp>
        <p:nvSpPr>
          <p:cNvPr id="109583" name="Rectangle 16">
            <a:extLst>
              <a:ext uri="{FF2B5EF4-FFF2-40B4-BE49-F238E27FC236}">
                <a16:creationId xmlns:a16="http://schemas.microsoft.com/office/drawing/2014/main" id="{99F09965-63BF-20B8-7B85-921ED1B93902}"/>
              </a:ext>
            </a:extLst>
          </p:cNvPr>
          <p:cNvSpPr>
            <a:spLocks/>
          </p:cNvSpPr>
          <p:nvPr/>
        </p:nvSpPr>
        <p:spPr bwMode="auto">
          <a:xfrm>
            <a:off x="6591300" y="31019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%r10d</a:t>
            </a:r>
          </a:p>
        </p:txBody>
      </p:sp>
      <p:sp>
        <p:nvSpPr>
          <p:cNvPr id="109584" name="Rectangle 17">
            <a:extLst>
              <a:ext uri="{FF2B5EF4-FFF2-40B4-BE49-F238E27FC236}">
                <a16:creationId xmlns:a16="http://schemas.microsoft.com/office/drawing/2014/main" id="{42BA233B-C2DA-462F-BF2D-430A8A2D23E9}"/>
              </a:ext>
            </a:extLst>
          </p:cNvPr>
          <p:cNvSpPr>
            <a:spLocks/>
          </p:cNvSpPr>
          <p:nvPr/>
        </p:nvSpPr>
        <p:spPr bwMode="auto">
          <a:xfrm>
            <a:off x="6591300" y="36353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%r11d</a:t>
            </a:r>
          </a:p>
        </p:txBody>
      </p:sp>
      <p:sp>
        <p:nvSpPr>
          <p:cNvPr id="109585" name="Rectangle 18">
            <a:extLst>
              <a:ext uri="{FF2B5EF4-FFF2-40B4-BE49-F238E27FC236}">
                <a16:creationId xmlns:a16="http://schemas.microsoft.com/office/drawing/2014/main" id="{2B6DD1C9-3F85-1D15-CC4F-A0F8DF7985D3}"/>
              </a:ext>
            </a:extLst>
          </p:cNvPr>
          <p:cNvSpPr>
            <a:spLocks/>
          </p:cNvSpPr>
          <p:nvPr/>
        </p:nvSpPr>
        <p:spPr bwMode="auto">
          <a:xfrm>
            <a:off x="6591300" y="41687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%r12d</a:t>
            </a:r>
          </a:p>
        </p:txBody>
      </p:sp>
      <p:sp>
        <p:nvSpPr>
          <p:cNvPr id="109586" name="Rectangle 19">
            <a:extLst>
              <a:ext uri="{FF2B5EF4-FFF2-40B4-BE49-F238E27FC236}">
                <a16:creationId xmlns:a16="http://schemas.microsoft.com/office/drawing/2014/main" id="{ABEB10E3-16A1-B98E-B113-BB74AD95DF32}"/>
              </a:ext>
            </a:extLst>
          </p:cNvPr>
          <p:cNvSpPr>
            <a:spLocks/>
          </p:cNvSpPr>
          <p:nvPr/>
        </p:nvSpPr>
        <p:spPr bwMode="auto">
          <a:xfrm>
            <a:off x="6591300" y="47021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%r13d</a:t>
            </a:r>
          </a:p>
        </p:txBody>
      </p:sp>
      <p:sp>
        <p:nvSpPr>
          <p:cNvPr id="109587" name="Rectangle 20">
            <a:extLst>
              <a:ext uri="{FF2B5EF4-FFF2-40B4-BE49-F238E27FC236}">
                <a16:creationId xmlns:a16="http://schemas.microsoft.com/office/drawing/2014/main" id="{3EBDE208-C633-217E-57ED-5676345A0F49}"/>
              </a:ext>
            </a:extLst>
          </p:cNvPr>
          <p:cNvSpPr>
            <a:spLocks/>
          </p:cNvSpPr>
          <p:nvPr/>
        </p:nvSpPr>
        <p:spPr bwMode="auto">
          <a:xfrm>
            <a:off x="6591300" y="52355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%r14d</a:t>
            </a:r>
          </a:p>
        </p:txBody>
      </p:sp>
      <p:sp>
        <p:nvSpPr>
          <p:cNvPr id="109588" name="Rectangle 21">
            <a:extLst>
              <a:ext uri="{FF2B5EF4-FFF2-40B4-BE49-F238E27FC236}">
                <a16:creationId xmlns:a16="http://schemas.microsoft.com/office/drawing/2014/main" id="{F4F7EBED-743F-CD15-3920-5B0D5AF2DB6D}"/>
              </a:ext>
            </a:extLst>
          </p:cNvPr>
          <p:cNvSpPr>
            <a:spLocks/>
          </p:cNvSpPr>
          <p:nvPr/>
        </p:nvSpPr>
        <p:spPr bwMode="auto">
          <a:xfrm>
            <a:off x="6591300" y="5768975"/>
            <a:ext cx="1765300" cy="381000"/>
          </a:xfrm>
          <a:prstGeom prst="rect">
            <a:avLst/>
          </a:prstGeom>
          <a:solidFill>
            <a:srgbClr val="D8D8D8"/>
          </a:solidFill>
          <a:ln w="9525">
            <a:solidFill>
              <a:schemeClr val="tx1"/>
            </a:solidFill>
            <a:miter lim="800000"/>
            <a:headEnd/>
            <a:tailEnd/>
          </a:ln>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%r15d</a:t>
            </a:r>
          </a:p>
        </p:txBody>
      </p:sp>
      <p:sp>
        <p:nvSpPr>
          <p:cNvPr id="109589" name="Rectangle 22">
            <a:extLst>
              <a:ext uri="{FF2B5EF4-FFF2-40B4-BE49-F238E27FC236}">
                <a16:creationId xmlns:a16="http://schemas.microsoft.com/office/drawing/2014/main" id="{BBE0B6CC-CFA4-6E52-1793-7C0184BF328B}"/>
              </a:ext>
            </a:extLst>
          </p:cNvPr>
          <p:cNvSpPr>
            <a:spLocks/>
          </p:cNvSpPr>
          <p:nvPr/>
        </p:nvSpPr>
        <p:spPr bwMode="auto">
          <a:xfrm>
            <a:off x="4800600" y="20097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%r8</a:t>
            </a:r>
          </a:p>
        </p:txBody>
      </p:sp>
      <p:sp>
        <p:nvSpPr>
          <p:cNvPr id="109590" name="Rectangle 23">
            <a:extLst>
              <a:ext uri="{FF2B5EF4-FFF2-40B4-BE49-F238E27FC236}">
                <a16:creationId xmlns:a16="http://schemas.microsoft.com/office/drawing/2014/main" id="{874C0CBF-8538-FB8E-AD3B-832BFC82A512}"/>
              </a:ext>
            </a:extLst>
          </p:cNvPr>
          <p:cNvSpPr>
            <a:spLocks/>
          </p:cNvSpPr>
          <p:nvPr/>
        </p:nvSpPr>
        <p:spPr bwMode="auto">
          <a:xfrm>
            <a:off x="4800600" y="25431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%r9</a:t>
            </a:r>
          </a:p>
        </p:txBody>
      </p:sp>
      <p:sp>
        <p:nvSpPr>
          <p:cNvPr id="109591" name="Rectangle 24">
            <a:extLst>
              <a:ext uri="{FF2B5EF4-FFF2-40B4-BE49-F238E27FC236}">
                <a16:creationId xmlns:a16="http://schemas.microsoft.com/office/drawing/2014/main" id="{5853628F-A2A2-4597-6855-24574002E566}"/>
              </a:ext>
            </a:extLst>
          </p:cNvPr>
          <p:cNvSpPr>
            <a:spLocks/>
          </p:cNvSpPr>
          <p:nvPr/>
        </p:nvSpPr>
        <p:spPr bwMode="auto">
          <a:xfrm>
            <a:off x="4800600" y="30765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%r10</a:t>
            </a:r>
          </a:p>
        </p:txBody>
      </p:sp>
      <p:sp>
        <p:nvSpPr>
          <p:cNvPr id="109592" name="Rectangle 25">
            <a:extLst>
              <a:ext uri="{FF2B5EF4-FFF2-40B4-BE49-F238E27FC236}">
                <a16:creationId xmlns:a16="http://schemas.microsoft.com/office/drawing/2014/main" id="{4F0F5E52-9019-50EB-EB09-DAD162A851A6}"/>
              </a:ext>
            </a:extLst>
          </p:cNvPr>
          <p:cNvSpPr>
            <a:spLocks/>
          </p:cNvSpPr>
          <p:nvPr/>
        </p:nvSpPr>
        <p:spPr bwMode="auto">
          <a:xfrm>
            <a:off x="4800600" y="36099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%r11</a:t>
            </a:r>
          </a:p>
        </p:txBody>
      </p:sp>
      <p:sp>
        <p:nvSpPr>
          <p:cNvPr id="109593" name="Rectangle 26">
            <a:extLst>
              <a:ext uri="{FF2B5EF4-FFF2-40B4-BE49-F238E27FC236}">
                <a16:creationId xmlns:a16="http://schemas.microsoft.com/office/drawing/2014/main" id="{F5DD24F5-B12F-903E-9DE9-96CC90750EFC}"/>
              </a:ext>
            </a:extLst>
          </p:cNvPr>
          <p:cNvSpPr>
            <a:spLocks/>
          </p:cNvSpPr>
          <p:nvPr/>
        </p:nvSpPr>
        <p:spPr bwMode="auto">
          <a:xfrm>
            <a:off x="4800600" y="41433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%r12</a:t>
            </a:r>
          </a:p>
        </p:txBody>
      </p:sp>
      <p:sp>
        <p:nvSpPr>
          <p:cNvPr id="109594" name="Rectangle 27">
            <a:extLst>
              <a:ext uri="{FF2B5EF4-FFF2-40B4-BE49-F238E27FC236}">
                <a16:creationId xmlns:a16="http://schemas.microsoft.com/office/drawing/2014/main" id="{4406699D-C076-D792-80E4-6F4EDFAF5498}"/>
              </a:ext>
            </a:extLst>
          </p:cNvPr>
          <p:cNvSpPr>
            <a:spLocks/>
          </p:cNvSpPr>
          <p:nvPr/>
        </p:nvSpPr>
        <p:spPr bwMode="auto">
          <a:xfrm>
            <a:off x="4800600" y="46767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%r13</a:t>
            </a:r>
          </a:p>
        </p:txBody>
      </p:sp>
      <p:sp>
        <p:nvSpPr>
          <p:cNvPr id="109595" name="Rectangle 28">
            <a:extLst>
              <a:ext uri="{FF2B5EF4-FFF2-40B4-BE49-F238E27FC236}">
                <a16:creationId xmlns:a16="http://schemas.microsoft.com/office/drawing/2014/main" id="{77FDFA5F-F26F-8F05-2B79-691BA16FC2BA}"/>
              </a:ext>
            </a:extLst>
          </p:cNvPr>
          <p:cNvSpPr>
            <a:spLocks/>
          </p:cNvSpPr>
          <p:nvPr/>
        </p:nvSpPr>
        <p:spPr bwMode="auto">
          <a:xfrm>
            <a:off x="4800600" y="52101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%r14</a:t>
            </a:r>
          </a:p>
        </p:txBody>
      </p:sp>
      <p:sp>
        <p:nvSpPr>
          <p:cNvPr id="109596" name="Rectangle 29">
            <a:extLst>
              <a:ext uri="{FF2B5EF4-FFF2-40B4-BE49-F238E27FC236}">
                <a16:creationId xmlns:a16="http://schemas.microsoft.com/office/drawing/2014/main" id="{EC6DD4A9-FD79-167D-8059-B04672AF51C9}"/>
              </a:ext>
            </a:extLst>
          </p:cNvPr>
          <p:cNvSpPr>
            <a:spLocks/>
          </p:cNvSpPr>
          <p:nvPr/>
        </p:nvSpPr>
        <p:spPr bwMode="auto">
          <a:xfrm>
            <a:off x="4800600" y="57435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%r15</a:t>
            </a:r>
          </a:p>
        </p:txBody>
      </p:sp>
      <p:sp>
        <p:nvSpPr>
          <p:cNvPr id="109597" name="Rectangle 30">
            <a:extLst>
              <a:ext uri="{FF2B5EF4-FFF2-40B4-BE49-F238E27FC236}">
                <a16:creationId xmlns:a16="http://schemas.microsoft.com/office/drawing/2014/main" id="{4864A232-BCF4-83DA-BD82-27701B7FAF7A}"/>
              </a:ext>
            </a:extLst>
          </p:cNvPr>
          <p:cNvSpPr>
            <a:spLocks/>
          </p:cNvSpPr>
          <p:nvPr/>
        </p:nvSpPr>
        <p:spPr bwMode="auto">
          <a:xfrm>
            <a:off x="838200" y="20097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%rax</a:t>
            </a:r>
          </a:p>
        </p:txBody>
      </p:sp>
      <p:sp>
        <p:nvSpPr>
          <p:cNvPr id="109598" name="Rectangle 31">
            <a:extLst>
              <a:ext uri="{FF2B5EF4-FFF2-40B4-BE49-F238E27FC236}">
                <a16:creationId xmlns:a16="http://schemas.microsoft.com/office/drawing/2014/main" id="{02A1180C-04A9-CEA7-E9B2-C7A90DF390D0}"/>
              </a:ext>
            </a:extLst>
          </p:cNvPr>
          <p:cNvSpPr>
            <a:spLocks/>
          </p:cNvSpPr>
          <p:nvPr/>
        </p:nvSpPr>
        <p:spPr bwMode="auto">
          <a:xfrm>
            <a:off x="838200" y="25431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%rbx</a:t>
            </a:r>
          </a:p>
        </p:txBody>
      </p:sp>
      <p:sp>
        <p:nvSpPr>
          <p:cNvPr id="109599" name="Rectangle 32">
            <a:extLst>
              <a:ext uri="{FF2B5EF4-FFF2-40B4-BE49-F238E27FC236}">
                <a16:creationId xmlns:a16="http://schemas.microsoft.com/office/drawing/2014/main" id="{1AB56433-B729-2D9D-E070-F00BD7119AAF}"/>
              </a:ext>
            </a:extLst>
          </p:cNvPr>
          <p:cNvSpPr>
            <a:spLocks/>
          </p:cNvSpPr>
          <p:nvPr/>
        </p:nvSpPr>
        <p:spPr bwMode="auto">
          <a:xfrm>
            <a:off x="838200" y="30765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%rcx</a:t>
            </a:r>
          </a:p>
        </p:txBody>
      </p:sp>
      <p:sp>
        <p:nvSpPr>
          <p:cNvPr id="109600" name="Rectangle 33">
            <a:extLst>
              <a:ext uri="{FF2B5EF4-FFF2-40B4-BE49-F238E27FC236}">
                <a16:creationId xmlns:a16="http://schemas.microsoft.com/office/drawing/2014/main" id="{92FA7A78-45A4-2C17-66D8-0157ED28483C}"/>
              </a:ext>
            </a:extLst>
          </p:cNvPr>
          <p:cNvSpPr>
            <a:spLocks/>
          </p:cNvSpPr>
          <p:nvPr/>
        </p:nvSpPr>
        <p:spPr bwMode="auto">
          <a:xfrm>
            <a:off x="838200" y="36099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%rdx</a:t>
            </a:r>
          </a:p>
        </p:txBody>
      </p:sp>
      <p:sp>
        <p:nvSpPr>
          <p:cNvPr id="109601" name="Rectangle 34">
            <a:extLst>
              <a:ext uri="{FF2B5EF4-FFF2-40B4-BE49-F238E27FC236}">
                <a16:creationId xmlns:a16="http://schemas.microsoft.com/office/drawing/2014/main" id="{C3326BED-247E-6B0B-4DCE-870D07A22A06}"/>
              </a:ext>
            </a:extLst>
          </p:cNvPr>
          <p:cNvSpPr>
            <a:spLocks/>
          </p:cNvSpPr>
          <p:nvPr/>
        </p:nvSpPr>
        <p:spPr bwMode="auto">
          <a:xfrm>
            <a:off x="838200" y="41433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%rsi</a:t>
            </a:r>
          </a:p>
        </p:txBody>
      </p:sp>
      <p:sp>
        <p:nvSpPr>
          <p:cNvPr id="109602" name="Rectangle 35">
            <a:extLst>
              <a:ext uri="{FF2B5EF4-FFF2-40B4-BE49-F238E27FC236}">
                <a16:creationId xmlns:a16="http://schemas.microsoft.com/office/drawing/2014/main" id="{D62559C3-E233-09D8-5A36-11B635E240CD}"/>
              </a:ext>
            </a:extLst>
          </p:cNvPr>
          <p:cNvSpPr>
            <a:spLocks/>
          </p:cNvSpPr>
          <p:nvPr/>
        </p:nvSpPr>
        <p:spPr bwMode="auto">
          <a:xfrm>
            <a:off x="838200" y="46767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%rdi</a:t>
            </a:r>
          </a:p>
        </p:txBody>
      </p:sp>
      <p:sp>
        <p:nvSpPr>
          <p:cNvPr id="109603" name="Rectangle 36">
            <a:extLst>
              <a:ext uri="{FF2B5EF4-FFF2-40B4-BE49-F238E27FC236}">
                <a16:creationId xmlns:a16="http://schemas.microsoft.com/office/drawing/2014/main" id="{04ABFDD0-D124-E452-3A52-937D77A75AFB}"/>
              </a:ext>
            </a:extLst>
          </p:cNvPr>
          <p:cNvSpPr>
            <a:spLocks/>
          </p:cNvSpPr>
          <p:nvPr/>
        </p:nvSpPr>
        <p:spPr bwMode="auto">
          <a:xfrm>
            <a:off x="838200" y="5743575"/>
            <a:ext cx="3556000" cy="457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8100" tIns="38100" rIns="38100" bIns="38100"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400">
                <a:latin typeface="Courier New Bold" panose="02070309020205020404" pitchFamily="49" charset="0"/>
                <a:ea typeface="Courier New Bold" panose="02070309020205020404" pitchFamily="49" charset="0"/>
                <a:cs typeface="Courier New Bold" panose="02070309020205020404" pitchFamily="49" charset="0"/>
                <a:sym typeface="Courier New Bold" panose="02070309020205020404" pitchFamily="49" charset="0"/>
              </a:rPr>
              <a:t>%rbp</a:t>
            </a:r>
          </a:p>
        </p:txBody>
      </p:sp>
      <p:sp>
        <p:nvSpPr>
          <p:cNvPr id="38" name="Rectangle 4">
            <a:extLst>
              <a:ext uri="{FF2B5EF4-FFF2-40B4-BE49-F238E27FC236}">
                <a16:creationId xmlns:a16="http://schemas.microsoft.com/office/drawing/2014/main" id="{0D10CC08-3841-0436-DAA0-97BFBC05D356}"/>
              </a:ext>
            </a:extLst>
          </p:cNvPr>
          <p:cNvSpPr txBox="1">
            <a:spLocks noChangeArrowheads="1"/>
          </p:cNvSpPr>
          <p:nvPr/>
        </p:nvSpPr>
        <p:spPr bwMode="auto">
          <a:xfrm>
            <a:off x="457200" y="1322388"/>
            <a:ext cx="7591425" cy="762000"/>
          </a:xfrm>
          <a:prstGeom prst="rect">
            <a:avLst/>
          </a:prstGeom>
          <a:noFill/>
          <a:ln>
            <a:noFill/>
          </a:ln>
        </p:spPr>
        <p:txBody>
          <a:bodyPr anchor="ctr"/>
          <a:lst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Comic Sans MS" pitchFamily="66" charset="0"/>
              </a:defRPr>
            </a:lvl2pPr>
            <a:lvl3pPr algn="l" rtl="0" eaLnBrk="0" fontAlgn="base" hangingPunct="0">
              <a:spcBef>
                <a:spcPct val="0"/>
              </a:spcBef>
              <a:spcAft>
                <a:spcPct val="0"/>
              </a:spcAft>
              <a:defRPr sz="2800" b="1">
                <a:solidFill>
                  <a:schemeClr val="tx2"/>
                </a:solidFill>
                <a:latin typeface="Comic Sans MS" pitchFamily="66" charset="0"/>
              </a:defRPr>
            </a:lvl3pPr>
            <a:lvl4pPr algn="l" rtl="0" eaLnBrk="0" fontAlgn="base" hangingPunct="0">
              <a:spcBef>
                <a:spcPct val="0"/>
              </a:spcBef>
              <a:spcAft>
                <a:spcPct val="0"/>
              </a:spcAft>
              <a:defRPr sz="2800" b="1">
                <a:solidFill>
                  <a:schemeClr val="tx2"/>
                </a:solidFill>
                <a:latin typeface="Comic Sans MS" pitchFamily="66" charset="0"/>
              </a:defRPr>
            </a:lvl4pPr>
            <a:lvl5pPr algn="l" rtl="0" eaLnBrk="0" fontAlgn="base" hangingPunct="0">
              <a:spcBef>
                <a:spcPct val="0"/>
              </a:spcBef>
              <a:spcAft>
                <a:spcPct val="0"/>
              </a:spcAft>
              <a:defRPr sz="2800" b="1">
                <a:solidFill>
                  <a:schemeClr val="tx2"/>
                </a:solidFill>
                <a:latin typeface="Comic Sans MS" pitchFamily="66" charset="0"/>
              </a:defRPr>
            </a:lvl5pPr>
            <a:lvl6pPr marL="457200" algn="l" rtl="0" eaLnBrk="0" fontAlgn="base" hangingPunct="0">
              <a:spcBef>
                <a:spcPct val="0"/>
              </a:spcBef>
              <a:spcAft>
                <a:spcPct val="0"/>
              </a:spcAft>
              <a:defRPr sz="2800" b="1">
                <a:solidFill>
                  <a:schemeClr val="tx2"/>
                </a:solidFill>
                <a:latin typeface="Comic Sans MS" pitchFamily="66" charset="0"/>
              </a:defRPr>
            </a:lvl6pPr>
            <a:lvl7pPr marL="914400" algn="l" rtl="0" eaLnBrk="0" fontAlgn="base" hangingPunct="0">
              <a:spcBef>
                <a:spcPct val="0"/>
              </a:spcBef>
              <a:spcAft>
                <a:spcPct val="0"/>
              </a:spcAft>
              <a:defRPr sz="2800" b="1">
                <a:solidFill>
                  <a:schemeClr val="tx2"/>
                </a:solidFill>
                <a:latin typeface="Comic Sans MS" pitchFamily="66" charset="0"/>
              </a:defRPr>
            </a:lvl7pPr>
            <a:lvl8pPr marL="1371600" algn="l" rtl="0" eaLnBrk="0" fontAlgn="base" hangingPunct="0">
              <a:spcBef>
                <a:spcPct val="0"/>
              </a:spcBef>
              <a:spcAft>
                <a:spcPct val="0"/>
              </a:spcAft>
              <a:defRPr sz="2800" b="1">
                <a:solidFill>
                  <a:schemeClr val="tx2"/>
                </a:solidFill>
                <a:latin typeface="Comic Sans MS" pitchFamily="66" charset="0"/>
              </a:defRPr>
            </a:lvl8pPr>
            <a:lvl9pPr marL="1828800" algn="l" rtl="0" eaLnBrk="0" fontAlgn="base" hangingPunct="0">
              <a:spcBef>
                <a:spcPct val="0"/>
              </a:spcBef>
              <a:spcAft>
                <a:spcPct val="0"/>
              </a:spcAft>
              <a:defRPr sz="2800" b="1">
                <a:solidFill>
                  <a:schemeClr val="tx2"/>
                </a:solidFill>
                <a:latin typeface="Comic Sans MS" pitchFamily="66" charset="0"/>
              </a:defRPr>
            </a:lvl9pPr>
          </a:lstStyle>
          <a:p>
            <a:pPr marL="119063" indent="-119063">
              <a:defRPr/>
            </a:pPr>
            <a:r>
              <a:rPr lang="en-US" sz="2400" kern="0" dirty="0"/>
              <a:t>x86-64 Integer Registers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a:extLst>
              <a:ext uri="{FF2B5EF4-FFF2-40B4-BE49-F238E27FC236}">
                <a16:creationId xmlns:a16="http://schemas.microsoft.com/office/drawing/2014/main" id="{936BAEEC-D3C8-FB6F-7DEA-AFC59BC44336}"/>
              </a:ext>
            </a:extLst>
          </p:cNvPr>
          <p:cNvSpPr>
            <a:spLocks noGrp="1" noChangeArrowheads="1"/>
          </p:cNvSpPr>
          <p:nvPr>
            <p:ph type="title"/>
          </p:nvPr>
        </p:nvSpPr>
        <p:spPr/>
        <p:txBody>
          <a:bodyPr/>
          <a:lstStyle/>
          <a:p>
            <a:r>
              <a:rPr lang="en-US" altLang="zh-CN">
                <a:ea typeface="宋体" panose="02010600030101010101" pitchFamily="2" charset="-122"/>
              </a:rPr>
              <a:t>Some History: IA32 Registers</a:t>
            </a:r>
          </a:p>
        </p:txBody>
      </p:sp>
      <p:grpSp>
        <p:nvGrpSpPr>
          <p:cNvPr id="110594" name="Group 12">
            <a:extLst>
              <a:ext uri="{FF2B5EF4-FFF2-40B4-BE49-F238E27FC236}">
                <a16:creationId xmlns:a16="http://schemas.microsoft.com/office/drawing/2014/main" id="{86F6DD72-B2E4-E5F9-B0DD-FF071C5F291B}"/>
              </a:ext>
            </a:extLst>
          </p:cNvPr>
          <p:cNvGrpSpPr>
            <a:grpSpLocks/>
          </p:cNvGrpSpPr>
          <p:nvPr/>
        </p:nvGrpSpPr>
        <p:grpSpPr bwMode="auto">
          <a:xfrm>
            <a:off x="1295400" y="1522413"/>
            <a:ext cx="5715000" cy="4533900"/>
            <a:chOff x="3984" y="1008"/>
            <a:chExt cx="1584" cy="2256"/>
          </a:xfrm>
        </p:grpSpPr>
        <p:sp>
          <p:nvSpPr>
            <p:cNvPr id="110640" name="Rectangle 4">
              <a:extLst>
                <a:ext uri="{FF2B5EF4-FFF2-40B4-BE49-F238E27FC236}">
                  <a16:creationId xmlns:a16="http://schemas.microsoft.com/office/drawing/2014/main" id="{74511EFA-2D72-1A47-3C6F-C0A200881845}"/>
                </a:ext>
              </a:extLst>
            </p:cNvPr>
            <p:cNvSpPr>
              <a:spLocks noChangeArrowheads="1"/>
            </p:cNvSpPr>
            <p:nvPr/>
          </p:nvSpPr>
          <p:spPr bwMode="auto">
            <a:xfrm>
              <a:off x="3984" y="1008"/>
              <a:ext cx="1584" cy="240"/>
            </a:xfrm>
            <a:prstGeom prst="rect">
              <a:avLst/>
            </a:prstGeom>
            <a:solidFill>
              <a:schemeClr val="bg1"/>
            </a:solidFill>
            <a:ln w="25400">
              <a:solidFill>
                <a:schemeClr val="tx1"/>
              </a:solidFill>
              <a:miter lim="800000"/>
              <a:headEnd/>
              <a:tailEnd/>
            </a:ln>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000">
                  <a:latin typeface="Courier New" panose="02070309020205020404" pitchFamily="49" charset="0"/>
                </a:rPr>
                <a:t>%eax</a:t>
              </a:r>
            </a:p>
          </p:txBody>
        </p:sp>
        <p:sp>
          <p:nvSpPr>
            <p:cNvPr id="110641" name="Rectangle 5">
              <a:extLst>
                <a:ext uri="{FF2B5EF4-FFF2-40B4-BE49-F238E27FC236}">
                  <a16:creationId xmlns:a16="http://schemas.microsoft.com/office/drawing/2014/main" id="{5B2484CB-AD7E-C849-D5EC-076B55580D5A}"/>
                </a:ext>
              </a:extLst>
            </p:cNvPr>
            <p:cNvSpPr>
              <a:spLocks noChangeArrowheads="1"/>
            </p:cNvSpPr>
            <p:nvPr/>
          </p:nvSpPr>
          <p:spPr bwMode="auto">
            <a:xfrm>
              <a:off x="3984" y="1296"/>
              <a:ext cx="1584" cy="240"/>
            </a:xfrm>
            <a:prstGeom prst="rect">
              <a:avLst/>
            </a:prstGeom>
            <a:solidFill>
              <a:schemeClr val="bg1"/>
            </a:solidFill>
            <a:ln w="25400">
              <a:solidFill>
                <a:schemeClr val="tx1"/>
              </a:solidFill>
              <a:miter lim="800000"/>
              <a:headEnd/>
              <a:tailEnd/>
            </a:ln>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000">
                  <a:latin typeface="Courier New" panose="02070309020205020404" pitchFamily="49" charset="0"/>
                </a:rPr>
                <a:t>%ecx</a:t>
              </a:r>
            </a:p>
          </p:txBody>
        </p:sp>
        <p:sp>
          <p:nvSpPr>
            <p:cNvPr id="110642" name="Rectangle 6">
              <a:extLst>
                <a:ext uri="{FF2B5EF4-FFF2-40B4-BE49-F238E27FC236}">
                  <a16:creationId xmlns:a16="http://schemas.microsoft.com/office/drawing/2014/main" id="{00331B58-7A63-D7D2-96C2-FD32D757550D}"/>
                </a:ext>
              </a:extLst>
            </p:cNvPr>
            <p:cNvSpPr>
              <a:spLocks noChangeArrowheads="1"/>
            </p:cNvSpPr>
            <p:nvPr/>
          </p:nvSpPr>
          <p:spPr bwMode="auto">
            <a:xfrm>
              <a:off x="3984" y="1584"/>
              <a:ext cx="1584" cy="240"/>
            </a:xfrm>
            <a:prstGeom prst="rect">
              <a:avLst/>
            </a:prstGeom>
            <a:solidFill>
              <a:schemeClr val="bg1"/>
            </a:solidFill>
            <a:ln w="25400">
              <a:solidFill>
                <a:schemeClr val="tx1"/>
              </a:solidFill>
              <a:miter lim="800000"/>
              <a:headEnd/>
              <a:tailEnd/>
            </a:ln>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000">
                  <a:latin typeface="Courier New" panose="02070309020205020404" pitchFamily="49" charset="0"/>
                </a:rPr>
                <a:t>%edx</a:t>
              </a:r>
            </a:p>
          </p:txBody>
        </p:sp>
        <p:sp>
          <p:nvSpPr>
            <p:cNvPr id="110643" name="Rectangle 7">
              <a:extLst>
                <a:ext uri="{FF2B5EF4-FFF2-40B4-BE49-F238E27FC236}">
                  <a16:creationId xmlns:a16="http://schemas.microsoft.com/office/drawing/2014/main" id="{5A5747BB-49B2-7A81-D996-1768634A8649}"/>
                </a:ext>
              </a:extLst>
            </p:cNvPr>
            <p:cNvSpPr>
              <a:spLocks noChangeArrowheads="1"/>
            </p:cNvSpPr>
            <p:nvPr/>
          </p:nvSpPr>
          <p:spPr bwMode="auto">
            <a:xfrm>
              <a:off x="3984" y="1872"/>
              <a:ext cx="1584" cy="240"/>
            </a:xfrm>
            <a:prstGeom prst="rect">
              <a:avLst/>
            </a:prstGeom>
            <a:solidFill>
              <a:schemeClr val="bg1"/>
            </a:solidFill>
            <a:ln w="25400">
              <a:solidFill>
                <a:schemeClr val="tx1"/>
              </a:solidFill>
              <a:miter lim="800000"/>
              <a:headEnd/>
              <a:tailEnd/>
            </a:ln>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000">
                  <a:latin typeface="Courier New" panose="02070309020205020404" pitchFamily="49" charset="0"/>
                </a:rPr>
                <a:t>%ebx</a:t>
              </a:r>
            </a:p>
          </p:txBody>
        </p:sp>
        <p:sp>
          <p:nvSpPr>
            <p:cNvPr id="110644" name="Rectangle 8">
              <a:extLst>
                <a:ext uri="{FF2B5EF4-FFF2-40B4-BE49-F238E27FC236}">
                  <a16:creationId xmlns:a16="http://schemas.microsoft.com/office/drawing/2014/main" id="{D9816601-0BEB-EBBD-9BE4-E5346DF2DE45}"/>
                </a:ext>
              </a:extLst>
            </p:cNvPr>
            <p:cNvSpPr>
              <a:spLocks noChangeArrowheads="1"/>
            </p:cNvSpPr>
            <p:nvPr/>
          </p:nvSpPr>
          <p:spPr bwMode="auto">
            <a:xfrm>
              <a:off x="3984" y="2160"/>
              <a:ext cx="1584" cy="240"/>
            </a:xfrm>
            <a:prstGeom prst="rect">
              <a:avLst/>
            </a:prstGeom>
            <a:solidFill>
              <a:schemeClr val="bg1"/>
            </a:solidFill>
            <a:ln w="25400">
              <a:solidFill>
                <a:schemeClr val="tx1"/>
              </a:solidFill>
              <a:miter lim="800000"/>
              <a:headEnd/>
              <a:tailEnd/>
            </a:ln>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000">
                  <a:latin typeface="Courier New" panose="02070309020205020404" pitchFamily="49" charset="0"/>
                </a:rPr>
                <a:t>%esi</a:t>
              </a:r>
            </a:p>
          </p:txBody>
        </p:sp>
        <p:sp>
          <p:nvSpPr>
            <p:cNvPr id="110645" name="Rectangle 9">
              <a:extLst>
                <a:ext uri="{FF2B5EF4-FFF2-40B4-BE49-F238E27FC236}">
                  <a16:creationId xmlns:a16="http://schemas.microsoft.com/office/drawing/2014/main" id="{1C8C8B25-0D0C-E82B-CAEA-396198100313}"/>
                </a:ext>
              </a:extLst>
            </p:cNvPr>
            <p:cNvSpPr>
              <a:spLocks noChangeArrowheads="1"/>
            </p:cNvSpPr>
            <p:nvPr/>
          </p:nvSpPr>
          <p:spPr bwMode="auto">
            <a:xfrm>
              <a:off x="3984" y="2448"/>
              <a:ext cx="1584" cy="240"/>
            </a:xfrm>
            <a:prstGeom prst="rect">
              <a:avLst/>
            </a:prstGeom>
            <a:solidFill>
              <a:schemeClr val="bg1"/>
            </a:solidFill>
            <a:ln w="25400">
              <a:solidFill>
                <a:schemeClr val="tx1"/>
              </a:solidFill>
              <a:miter lim="800000"/>
              <a:headEnd/>
              <a:tailEnd/>
            </a:ln>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000">
                  <a:latin typeface="Courier New" panose="02070309020205020404" pitchFamily="49" charset="0"/>
                </a:rPr>
                <a:t>%edi</a:t>
              </a:r>
            </a:p>
          </p:txBody>
        </p:sp>
        <p:sp>
          <p:nvSpPr>
            <p:cNvPr id="110646" name="Rectangle 10">
              <a:extLst>
                <a:ext uri="{FF2B5EF4-FFF2-40B4-BE49-F238E27FC236}">
                  <a16:creationId xmlns:a16="http://schemas.microsoft.com/office/drawing/2014/main" id="{32269FB3-EFDB-8D35-4328-676C52732442}"/>
                </a:ext>
              </a:extLst>
            </p:cNvPr>
            <p:cNvSpPr>
              <a:spLocks noChangeArrowheads="1"/>
            </p:cNvSpPr>
            <p:nvPr/>
          </p:nvSpPr>
          <p:spPr bwMode="auto">
            <a:xfrm>
              <a:off x="3984" y="2736"/>
              <a:ext cx="1584" cy="240"/>
            </a:xfrm>
            <a:prstGeom prst="rect">
              <a:avLst/>
            </a:prstGeom>
            <a:solidFill>
              <a:srgbClr val="EFBFBF"/>
            </a:solidFill>
            <a:ln w="25400">
              <a:solidFill>
                <a:schemeClr val="tx1"/>
              </a:solidFill>
              <a:miter lim="800000"/>
              <a:headEnd/>
              <a:tailEnd/>
            </a:ln>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000">
                  <a:latin typeface="Courier New" panose="02070309020205020404" pitchFamily="49" charset="0"/>
                </a:rPr>
                <a:t>%esp</a:t>
              </a:r>
            </a:p>
          </p:txBody>
        </p:sp>
        <p:sp>
          <p:nvSpPr>
            <p:cNvPr id="110647" name="Rectangle 11">
              <a:extLst>
                <a:ext uri="{FF2B5EF4-FFF2-40B4-BE49-F238E27FC236}">
                  <a16:creationId xmlns:a16="http://schemas.microsoft.com/office/drawing/2014/main" id="{27ED61C1-4126-A5DC-8DC6-7DB3F3F82517}"/>
                </a:ext>
              </a:extLst>
            </p:cNvPr>
            <p:cNvSpPr>
              <a:spLocks noChangeArrowheads="1"/>
            </p:cNvSpPr>
            <p:nvPr/>
          </p:nvSpPr>
          <p:spPr bwMode="auto">
            <a:xfrm>
              <a:off x="3984" y="3024"/>
              <a:ext cx="1584" cy="240"/>
            </a:xfrm>
            <a:prstGeom prst="rect">
              <a:avLst/>
            </a:prstGeom>
            <a:solidFill>
              <a:srgbClr val="EFBFBF"/>
            </a:solidFill>
            <a:ln w="25400">
              <a:solidFill>
                <a:schemeClr val="tx1"/>
              </a:solidFill>
              <a:miter lim="800000"/>
              <a:headEnd/>
              <a:tailEnd/>
            </a:ln>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2000">
                  <a:latin typeface="Courier New" panose="02070309020205020404" pitchFamily="49" charset="0"/>
                </a:rPr>
                <a:t>%ebp</a:t>
              </a:r>
            </a:p>
          </p:txBody>
        </p:sp>
      </p:grpSp>
      <p:grpSp>
        <p:nvGrpSpPr>
          <p:cNvPr id="22" name="Group 21">
            <a:extLst>
              <a:ext uri="{FF2B5EF4-FFF2-40B4-BE49-F238E27FC236}">
                <a16:creationId xmlns:a16="http://schemas.microsoft.com/office/drawing/2014/main" id="{7DE68AEB-BFA6-F28F-DFF3-E4CF4E81682B}"/>
              </a:ext>
            </a:extLst>
          </p:cNvPr>
          <p:cNvGrpSpPr>
            <a:grpSpLocks/>
          </p:cNvGrpSpPr>
          <p:nvPr/>
        </p:nvGrpSpPr>
        <p:grpSpPr bwMode="auto">
          <a:xfrm>
            <a:off x="4184650" y="1593850"/>
            <a:ext cx="2819400" cy="344488"/>
            <a:chOff x="4495800" y="1404970"/>
            <a:chExt cx="2819400" cy="343694"/>
          </a:xfrm>
        </p:grpSpPr>
        <p:sp>
          <p:nvSpPr>
            <p:cNvPr id="13" name="Rectangle 12">
              <a:extLst>
                <a:ext uri="{FF2B5EF4-FFF2-40B4-BE49-F238E27FC236}">
                  <a16:creationId xmlns:a16="http://schemas.microsoft.com/office/drawing/2014/main" id="{71076CE0-7162-BC1C-03A3-3D9A2CEAA7F4}"/>
                </a:ext>
              </a:extLst>
            </p:cNvPr>
            <p:cNvSpPr/>
            <p:nvPr/>
          </p:nvSpPr>
          <p:spPr bwMode="auto">
            <a:xfrm>
              <a:off x="4495800" y="1404970"/>
              <a:ext cx="2819400" cy="342110"/>
            </a:xfrm>
            <a:prstGeom prst="rect">
              <a:avLst/>
            </a:prstGeom>
            <a:solidFill>
              <a:schemeClr val="bg1">
                <a:lumMod val="85000"/>
              </a:schemeClr>
            </a:solidFill>
            <a:ln w="12700" cap="flat" cmpd="sng" algn="ctr">
              <a:solidFill>
                <a:schemeClr val="tx1"/>
              </a:solidFill>
              <a:prstDash val="solid"/>
              <a:round/>
              <a:headEnd type="none" w="med" len="med"/>
              <a:tailEnd type="triangle" w="med" len="med"/>
            </a:ln>
            <a:effectLst/>
          </p:spPr>
          <p:txBody>
            <a:bodyPr/>
            <a:lstStyle/>
            <a:p>
              <a:pPr>
                <a:defRPr/>
              </a:pPr>
              <a:endParaRPr lang="en-US" sz="2400">
                <a:latin typeface="Arial Narrow" pitchFamily="34" charset="0"/>
                <a:ea typeface="宋体" charset="-122"/>
              </a:endParaRPr>
            </a:p>
          </p:txBody>
        </p:sp>
        <p:cxnSp>
          <p:nvCxnSpPr>
            <p:cNvPr id="110639" name="Straight Connector 18">
              <a:extLst>
                <a:ext uri="{FF2B5EF4-FFF2-40B4-BE49-F238E27FC236}">
                  <a16:creationId xmlns:a16="http://schemas.microsoft.com/office/drawing/2014/main" id="{CE62511B-6C41-824C-B44B-202353F5B187}"/>
                </a:ext>
              </a:extLst>
            </p:cNvPr>
            <p:cNvCxnSpPr>
              <a:cxnSpLocks noChangeShapeType="1"/>
              <a:stCxn id="13" idx="0"/>
              <a:endCxn id="13" idx="2"/>
            </p:cNvCxnSpPr>
            <p:nvPr/>
          </p:nvCxnSpPr>
          <p:spPr bwMode="auto">
            <a:xfrm rot="16200000" flipH="1">
              <a:off x="5734050" y="1576420"/>
              <a:ext cx="342900"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cxnSp>
      </p:grpSp>
      <p:grpSp>
        <p:nvGrpSpPr>
          <p:cNvPr id="23" name="Group 22">
            <a:extLst>
              <a:ext uri="{FF2B5EF4-FFF2-40B4-BE49-F238E27FC236}">
                <a16:creationId xmlns:a16="http://schemas.microsoft.com/office/drawing/2014/main" id="{9333A636-7132-B660-D6F2-E0F391744B74}"/>
              </a:ext>
            </a:extLst>
          </p:cNvPr>
          <p:cNvGrpSpPr>
            <a:grpSpLocks/>
          </p:cNvGrpSpPr>
          <p:nvPr/>
        </p:nvGrpSpPr>
        <p:grpSpPr bwMode="auto">
          <a:xfrm>
            <a:off x="4184650" y="2178050"/>
            <a:ext cx="2819400" cy="344488"/>
            <a:chOff x="4495800" y="1404970"/>
            <a:chExt cx="2819400" cy="343694"/>
          </a:xfrm>
        </p:grpSpPr>
        <p:sp>
          <p:nvSpPr>
            <p:cNvPr id="24" name="Rectangle 23">
              <a:extLst>
                <a:ext uri="{FF2B5EF4-FFF2-40B4-BE49-F238E27FC236}">
                  <a16:creationId xmlns:a16="http://schemas.microsoft.com/office/drawing/2014/main" id="{CDBD5577-2988-7B4A-21D8-AD321FF8F4DF}"/>
                </a:ext>
              </a:extLst>
            </p:cNvPr>
            <p:cNvSpPr/>
            <p:nvPr/>
          </p:nvSpPr>
          <p:spPr bwMode="auto">
            <a:xfrm>
              <a:off x="4495800" y="1404970"/>
              <a:ext cx="2819400" cy="342110"/>
            </a:xfrm>
            <a:prstGeom prst="rect">
              <a:avLst/>
            </a:prstGeom>
            <a:solidFill>
              <a:schemeClr val="bg1">
                <a:lumMod val="85000"/>
              </a:schemeClr>
            </a:solidFill>
            <a:ln w="12700" cap="flat" cmpd="sng" algn="ctr">
              <a:solidFill>
                <a:schemeClr val="tx1"/>
              </a:solidFill>
              <a:prstDash val="solid"/>
              <a:round/>
              <a:headEnd type="none" w="med" len="med"/>
              <a:tailEnd type="triangle" w="med" len="med"/>
            </a:ln>
            <a:effectLst/>
          </p:spPr>
          <p:txBody>
            <a:bodyPr/>
            <a:lstStyle/>
            <a:p>
              <a:pPr>
                <a:defRPr/>
              </a:pPr>
              <a:endParaRPr lang="en-US" sz="2400">
                <a:latin typeface="Arial Narrow" pitchFamily="34" charset="0"/>
                <a:ea typeface="宋体" charset="-122"/>
              </a:endParaRPr>
            </a:p>
          </p:txBody>
        </p:sp>
        <p:cxnSp>
          <p:nvCxnSpPr>
            <p:cNvPr id="110637" name="Straight Connector 24">
              <a:extLst>
                <a:ext uri="{FF2B5EF4-FFF2-40B4-BE49-F238E27FC236}">
                  <a16:creationId xmlns:a16="http://schemas.microsoft.com/office/drawing/2014/main" id="{4A7BFA07-9CDB-7A69-0DA1-69A8240C8E7B}"/>
                </a:ext>
              </a:extLst>
            </p:cNvPr>
            <p:cNvCxnSpPr>
              <a:cxnSpLocks noChangeShapeType="1"/>
              <a:stCxn id="24" idx="0"/>
              <a:endCxn id="24" idx="2"/>
            </p:cNvCxnSpPr>
            <p:nvPr/>
          </p:nvCxnSpPr>
          <p:spPr bwMode="auto">
            <a:xfrm rot="16200000" flipH="1">
              <a:off x="5734050" y="1576420"/>
              <a:ext cx="342900"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cxnSp>
      </p:grpSp>
      <p:grpSp>
        <p:nvGrpSpPr>
          <p:cNvPr id="26" name="Group 25">
            <a:extLst>
              <a:ext uri="{FF2B5EF4-FFF2-40B4-BE49-F238E27FC236}">
                <a16:creationId xmlns:a16="http://schemas.microsoft.com/office/drawing/2014/main" id="{D0A36946-261F-879C-0409-F543BE24B3DD}"/>
              </a:ext>
            </a:extLst>
          </p:cNvPr>
          <p:cNvGrpSpPr>
            <a:grpSpLocks/>
          </p:cNvGrpSpPr>
          <p:nvPr/>
        </p:nvGrpSpPr>
        <p:grpSpPr bwMode="auto">
          <a:xfrm>
            <a:off x="4184650" y="2747963"/>
            <a:ext cx="2819400" cy="342900"/>
            <a:chOff x="4495800" y="1404970"/>
            <a:chExt cx="2819400" cy="343694"/>
          </a:xfrm>
        </p:grpSpPr>
        <p:sp>
          <p:nvSpPr>
            <p:cNvPr id="27" name="Rectangle 26">
              <a:extLst>
                <a:ext uri="{FF2B5EF4-FFF2-40B4-BE49-F238E27FC236}">
                  <a16:creationId xmlns:a16="http://schemas.microsoft.com/office/drawing/2014/main" id="{15599753-FB3A-F234-3386-F0C733861A2A}"/>
                </a:ext>
              </a:extLst>
            </p:cNvPr>
            <p:cNvSpPr/>
            <p:nvPr/>
          </p:nvSpPr>
          <p:spPr bwMode="auto">
            <a:xfrm>
              <a:off x="4495800" y="1404970"/>
              <a:ext cx="2819400" cy="343694"/>
            </a:xfrm>
            <a:prstGeom prst="rect">
              <a:avLst/>
            </a:prstGeom>
            <a:solidFill>
              <a:schemeClr val="bg1">
                <a:lumMod val="85000"/>
              </a:schemeClr>
            </a:solidFill>
            <a:ln w="12700" cap="flat" cmpd="sng" algn="ctr">
              <a:solidFill>
                <a:schemeClr val="tx1"/>
              </a:solidFill>
              <a:prstDash val="solid"/>
              <a:round/>
              <a:headEnd type="none" w="med" len="med"/>
              <a:tailEnd type="triangle" w="med" len="med"/>
            </a:ln>
            <a:effectLst/>
          </p:spPr>
          <p:txBody>
            <a:bodyPr/>
            <a:lstStyle/>
            <a:p>
              <a:pPr>
                <a:defRPr/>
              </a:pPr>
              <a:endParaRPr lang="en-US" sz="2400">
                <a:latin typeface="Arial Narrow" pitchFamily="34" charset="0"/>
                <a:ea typeface="宋体" charset="-122"/>
              </a:endParaRPr>
            </a:p>
          </p:txBody>
        </p:sp>
        <p:cxnSp>
          <p:nvCxnSpPr>
            <p:cNvPr id="110635" name="Straight Connector 27">
              <a:extLst>
                <a:ext uri="{FF2B5EF4-FFF2-40B4-BE49-F238E27FC236}">
                  <a16:creationId xmlns:a16="http://schemas.microsoft.com/office/drawing/2014/main" id="{0FE87537-1BEA-6F14-776D-2726623DA0CF}"/>
                </a:ext>
              </a:extLst>
            </p:cNvPr>
            <p:cNvCxnSpPr>
              <a:cxnSpLocks noChangeShapeType="1"/>
              <a:stCxn id="27" idx="0"/>
              <a:endCxn id="27" idx="2"/>
            </p:cNvCxnSpPr>
            <p:nvPr/>
          </p:nvCxnSpPr>
          <p:spPr bwMode="auto">
            <a:xfrm rot="16200000" flipH="1">
              <a:off x="5734050" y="1576420"/>
              <a:ext cx="342900"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cxnSp>
      </p:grpSp>
      <p:grpSp>
        <p:nvGrpSpPr>
          <p:cNvPr id="29" name="Group 28">
            <a:extLst>
              <a:ext uri="{FF2B5EF4-FFF2-40B4-BE49-F238E27FC236}">
                <a16:creationId xmlns:a16="http://schemas.microsoft.com/office/drawing/2014/main" id="{AA95AD31-A78C-835F-8467-2E4DC8FC7931}"/>
              </a:ext>
            </a:extLst>
          </p:cNvPr>
          <p:cNvGrpSpPr>
            <a:grpSpLocks/>
          </p:cNvGrpSpPr>
          <p:nvPr/>
        </p:nvGrpSpPr>
        <p:grpSpPr bwMode="auto">
          <a:xfrm>
            <a:off x="4184650" y="3330575"/>
            <a:ext cx="2819400" cy="344488"/>
            <a:chOff x="4495800" y="1404970"/>
            <a:chExt cx="2819400" cy="343694"/>
          </a:xfrm>
        </p:grpSpPr>
        <p:sp>
          <p:nvSpPr>
            <p:cNvPr id="30" name="Rectangle 29">
              <a:extLst>
                <a:ext uri="{FF2B5EF4-FFF2-40B4-BE49-F238E27FC236}">
                  <a16:creationId xmlns:a16="http://schemas.microsoft.com/office/drawing/2014/main" id="{054025B3-1A3E-3AAF-F6DD-365EC79798CF}"/>
                </a:ext>
              </a:extLst>
            </p:cNvPr>
            <p:cNvSpPr/>
            <p:nvPr/>
          </p:nvSpPr>
          <p:spPr bwMode="auto">
            <a:xfrm>
              <a:off x="4495800" y="1404970"/>
              <a:ext cx="2819400" cy="342110"/>
            </a:xfrm>
            <a:prstGeom prst="rect">
              <a:avLst/>
            </a:prstGeom>
            <a:solidFill>
              <a:schemeClr val="bg1">
                <a:lumMod val="85000"/>
              </a:schemeClr>
            </a:solidFill>
            <a:ln w="12700" cap="flat" cmpd="sng" algn="ctr">
              <a:solidFill>
                <a:schemeClr val="tx1"/>
              </a:solidFill>
              <a:prstDash val="solid"/>
              <a:round/>
              <a:headEnd type="none" w="med" len="med"/>
              <a:tailEnd type="triangle" w="med" len="med"/>
            </a:ln>
            <a:effectLst/>
          </p:spPr>
          <p:txBody>
            <a:bodyPr/>
            <a:lstStyle/>
            <a:p>
              <a:pPr>
                <a:defRPr/>
              </a:pPr>
              <a:endParaRPr lang="en-US" sz="2400">
                <a:latin typeface="Arial Narrow" pitchFamily="34" charset="0"/>
                <a:ea typeface="宋体" charset="-122"/>
              </a:endParaRPr>
            </a:p>
          </p:txBody>
        </p:sp>
        <p:cxnSp>
          <p:nvCxnSpPr>
            <p:cNvPr id="110633" name="Straight Connector 30">
              <a:extLst>
                <a:ext uri="{FF2B5EF4-FFF2-40B4-BE49-F238E27FC236}">
                  <a16:creationId xmlns:a16="http://schemas.microsoft.com/office/drawing/2014/main" id="{D9DB1FE8-B7B4-710A-DCF4-7A88326346AB}"/>
                </a:ext>
              </a:extLst>
            </p:cNvPr>
            <p:cNvCxnSpPr>
              <a:cxnSpLocks noChangeShapeType="1"/>
              <a:stCxn id="30" idx="0"/>
              <a:endCxn id="30" idx="2"/>
            </p:cNvCxnSpPr>
            <p:nvPr/>
          </p:nvCxnSpPr>
          <p:spPr bwMode="auto">
            <a:xfrm rot="16200000" flipH="1">
              <a:off x="5734050" y="1576420"/>
              <a:ext cx="342900" cy="1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33" name="Rectangle 32">
            <a:extLst>
              <a:ext uri="{FF2B5EF4-FFF2-40B4-BE49-F238E27FC236}">
                <a16:creationId xmlns:a16="http://schemas.microsoft.com/office/drawing/2014/main" id="{D80F7780-0C6A-6854-EB46-EF4E7B56FBEC}"/>
              </a:ext>
            </a:extLst>
          </p:cNvPr>
          <p:cNvSpPr/>
          <p:nvPr/>
        </p:nvSpPr>
        <p:spPr bwMode="auto">
          <a:xfrm>
            <a:off x="4184650" y="3906838"/>
            <a:ext cx="2819400" cy="342900"/>
          </a:xfrm>
          <a:prstGeom prst="rect">
            <a:avLst/>
          </a:prstGeom>
          <a:solidFill>
            <a:schemeClr val="bg1">
              <a:lumMod val="85000"/>
            </a:schemeClr>
          </a:solidFill>
          <a:ln w="12700" cap="flat" cmpd="sng" algn="ctr">
            <a:solidFill>
              <a:schemeClr val="tx1"/>
            </a:solidFill>
            <a:prstDash val="solid"/>
            <a:round/>
            <a:headEnd type="none" w="med" len="med"/>
            <a:tailEnd type="triangle" w="med" len="med"/>
          </a:ln>
          <a:effectLst/>
        </p:spPr>
        <p:txBody>
          <a:bodyPr/>
          <a:lstStyle/>
          <a:p>
            <a:pPr>
              <a:defRPr/>
            </a:pPr>
            <a:endParaRPr lang="en-US" sz="2400">
              <a:latin typeface="Arial Narrow" pitchFamily="34" charset="0"/>
              <a:ea typeface="宋体" charset="-122"/>
            </a:endParaRPr>
          </a:p>
        </p:txBody>
      </p:sp>
      <p:sp>
        <p:nvSpPr>
          <p:cNvPr id="36" name="Rectangle 35">
            <a:extLst>
              <a:ext uri="{FF2B5EF4-FFF2-40B4-BE49-F238E27FC236}">
                <a16:creationId xmlns:a16="http://schemas.microsoft.com/office/drawing/2014/main" id="{94A30B56-9B8B-F924-7B21-F92CB6F12B7B}"/>
              </a:ext>
            </a:extLst>
          </p:cNvPr>
          <p:cNvSpPr/>
          <p:nvPr/>
        </p:nvSpPr>
        <p:spPr bwMode="auto">
          <a:xfrm>
            <a:off x="4184650" y="4491038"/>
            <a:ext cx="2819400" cy="342900"/>
          </a:xfrm>
          <a:prstGeom prst="rect">
            <a:avLst/>
          </a:prstGeom>
          <a:solidFill>
            <a:schemeClr val="bg1">
              <a:lumMod val="85000"/>
            </a:schemeClr>
          </a:solidFill>
          <a:ln w="12700" cap="flat" cmpd="sng" algn="ctr">
            <a:solidFill>
              <a:schemeClr val="tx1"/>
            </a:solidFill>
            <a:prstDash val="solid"/>
            <a:round/>
            <a:headEnd type="none" w="med" len="med"/>
            <a:tailEnd type="triangle" w="med" len="med"/>
          </a:ln>
          <a:effectLst/>
        </p:spPr>
        <p:txBody>
          <a:bodyPr/>
          <a:lstStyle/>
          <a:p>
            <a:pPr>
              <a:defRPr/>
            </a:pPr>
            <a:endParaRPr lang="en-US" sz="2400">
              <a:latin typeface="Arial Narrow" pitchFamily="34" charset="0"/>
              <a:ea typeface="宋体" charset="-122"/>
            </a:endParaRPr>
          </a:p>
        </p:txBody>
      </p:sp>
      <p:sp>
        <p:nvSpPr>
          <p:cNvPr id="39" name="Rectangle 38">
            <a:extLst>
              <a:ext uri="{FF2B5EF4-FFF2-40B4-BE49-F238E27FC236}">
                <a16:creationId xmlns:a16="http://schemas.microsoft.com/office/drawing/2014/main" id="{1573879F-7202-9242-60F2-8A8CF82C69EA}"/>
              </a:ext>
            </a:extLst>
          </p:cNvPr>
          <p:cNvSpPr>
            <a:spLocks noChangeArrowheads="1"/>
          </p:cNvSpPr>
          <p:nvPr/>
        </p:nvSpPr>
        <p:spPr bwMode="auto">
          <a:xfrm>
            <a:off x="4184650" y="5060950"/>
            <a:ext cx="2819400" cy="342900"/>
          </a:xfrm>
          <a:prstGeom prst="rect">
            <a:avLst/>
          </a:prstGeom>
          <a:solidFill>
            <a:srgbClr val="FF9999"/>
          </a:solidFill>
          <a:ln w="12700">
            <a:solidFill>
              <a:schemeClr val="tx1"/>
            </a:solidFill>
            <a:round/>
            <a:headEnd/>
            <a:tailEnd type="triangle" w="med" len="med"/>
          </a:ln>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endParaRPr lang="zh-CN" altLang="zh-CN" sz="2400">
              <a:latin typeface="Arial Narrow" panose="020B0604020202020204" pitchFamily="34" charset="0"/>
            </a:endParaRPr>
          </a:p>
        </p:txBody>
      </p:sp>
      <p:sp>
        <p:nvSpPr>
          <p:cNvPr id="42" name="Rectangle 41">
            <a:extLst>
              <a:ext uri="{FF2B5EF4-FFF2-40B4-BE49-F238E27FC236}">
                <a16:creationId xmlns:a16="http://schemas.microsoft.com/office/drawing/2014/main" id="{3B7671A6-61F0-182A-2937-A1AA677D7F1C}"/>
              </a:ext>
            </a:extLst>
          </p:cNvPr>
          <p:cNvSpPr>
            <a:spLocks noChangeArrowheads="1"/>
          </p:cNvSpPr>
          <p:nvPr/>
        </p:nvSpPr>
        <p:spPr bwMode="auto">
          <a:xfrm>
            <a:off x="4184650" y="5643563"/>
            <a:ext cx="2819400" cy="342900"/>
          </a:xfrm>
          <a:prstGeom prst="rect">
            <a:avLst/>
          </a:prstGeom>
          <a:solidFill>
            <a:srgbClr val="FF9999"/>
          </a:solidFill>
          <a:ln w="12700">
            <a:solidFill>
              <a:schemeClr val="tx1"/>
            </a:solidFill>
            <a:round/>
            <a:headEnd/>
            <a:tailEnd type="triangle" w="med" len="med"/>
          </a:ln>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endParaRPr lang="zh-CN" altLang="zh-CN" sz="2000"/>
          </a:p>
        </p:txBody>
      </p:sp>
      <p:sp>
        <p:nvSpPr>
          <p:cNvPr id="53" name="TextBox 52">
            <a:extLst>
              <a:ext uri="{FF2B5EF4-FFF2-40B4-BE49-F238E27FC236}">
                <a16:creationId xmlns:a16="http://schemas.microsoft.com/office/drawing/2014/main" id="{5A326BB8-825B-BCF8-A42D-53E7FB8494D6}"/>
              </a:ext>
            </a:extLst>
          </p:cNvPr>
          <p:cNvSpPr txBox="1">
            <a:spLocks noChangeArrowheads="1"/>
          </p:cNvSpPr>
          <p:nvPr/>
        </p:nvSpPr>
        <p:spPr bwMode="auto">
          <a:xfrm>
            <a:off x="3581400" y="1581150"/>
            <a:ext cx="598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%ax</a:t>
            </a:r>
          </a:p>
        </p:txBody>
      </p:sp>
      <p:sp>
        <p:nvSpPr>
          <p:cNvPr id="54" name="TextBox 53">
            <a:extLst>
              <a:ext uri="{FF2B5EF4-FFF2-40B4-BE49-F238E27FC236}">
                <a16:creationId xmlns:a16="http://schemas.microsoft.com/office/drawing/2014/main" id="{47AE9CF4-C50F-C329-F778-EF98DAED1977}"/>
              </a:ext>
            </a:extLst>
          </p:cNvPr>
          <p:cNvSpPr txBox="1">
            <a:spLocks noChangeArrowheads="1"/>
          </p:cNvSpPr>
          <p:nvPr/>
        </p:nvSpPr>
        <p:spPr bwMode="auto">
          <a:xfrm>
            <a:off x="3581400" y="2165350"/>
            <a:ext cx="598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%cx</a:t>
            </a:r>
          </a:p>
        </p:txBody>
      </p:sp>
      <p:sp>
        <p:nvSpPr>
          <p:cNvPr id="55" name="TextBox 54">
            <a:extLst>
              <a:ext uri="{FF2B5EF4-FFF2-40B4-BE49-F238E27FC236}">
                <a16:creationId xmlns:a16="http://schemas.microsoft.com/office/drawing/2014/main" id="{67DB2400-E05F-DB84-302C-60FDF9CC2872}"/>
              </a:ext>
            </a:extLst>
          </p:cNvPr>
          <p:cNvSpPr txBox="1">
            <a:spLocks noChangeArrowheads="1"/>
          </p:cNvSpPr>
          <p:nvPr/>
        </p:nvSpPr>
        <p:spPr bwMode="auto">
          <a:xfrm>
            <a:off x="3581400" y="2730500"/>
            <a:ext cx="598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%dx</a:t>
            </a:r>
          </a:p>
        </p:txBody>
      </p:sp>
      <p:sp>
        <p:nvSpPr>
          <p:cNvPr id="56" name="TextBox 55">
            <a:extLst>
              <a:ext uri="{FF2B5EF4-FFF2-40B4-BE49-F238E27FC236}">
                <a16:creationId xmlns:a16="http://schemas.microsoft.com/office/drawing/2014/main" id="{FE19F783-34C8-3CD1-E362-A1479DC873B4}"/>
              </a:ext>
            </a:extLst>
          </p:cNvPr>
          <p:cNvSpPr txBox="1">
            <a:spLocks noChangeArrowheads="1"/>
          </p:cNvSpPr>
          <p:nvPr/>
        </p:nvSpPr>
        <p:spPr bwMode="auto">
          <a:xfrm>
            <a:off x="3581400" y="3321050"/>
            <a:ext cx="598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%bx</a:t>
            </a:r>
          </a:p>
        </p:txBody>
      </p:sp>
      <p:sp>
        <p:nvSpPr>
          <p:cNvPr id="57" name="TextBox 56">
            <a:extLst>
              <a:ext uri="{FF2B5EF4-FFF2-40B4-BE49-F238E27FC236}">
                <a16:creationId xmlns:a16="http://schemas.microsoft.com/office/drawing/2014/main" id="{AF6C1149-AFFB-9559-A6BB-6F2C7CBB5720}"/>
              </a:ext>
            </a:extLst>
          </p:cNvPr>
          <p:cNvSpPr txBox="1">
            <a:spLocks noChangeArrowheads="1"/>
          </p:cNvSpPr>
          <p:nvPr/>
        </p:nvSpPr>
        <p:spPr bwMode="auto">
          <a:xfrm>
            <a:off x="3581400" y="3897313"/>
            <a:ext cx="598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%si</a:t>
            </a:r>
          </a:p>
        </p:txBody>
      </p:sp>
      <p:sp>
        <p:nvSpPr>
          <p:cNvPr id="58" name="TextBox 57">
            <a:extLst>
              <a:ext uri="{FF2B5EF4-FFF2-40B4-BE49-F238E27FC236}">
                <a16:creationId xmlns:a16="http://schemas.microsoft.com/office/drawing/2014/main" id="{DF918C02-52F1-2BEB-251E-55A585CF26B5}"/>
              </a:ext>
            </a:extLst>
          </p:cNvPr>
          <p:cNvSpPr txBox="1">
            <a:spLocks noChangeArrowheads="1"/>
          </p:cNvSpPr>
          <p:nvPr/>
        </p:nvSpPr>
        <p:spPr bwMode="auto">
          <a:xfrm>
            <a:off x="3581400" y="4476750"/>
            <a:ext cx="598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%di</a:t>
            </a:r>
          </a:p>
        </p:txBody>
      </p:sp>
      <p:sp>
        <p:nvSpPr>
          <p:cNvPr id="59" name="TextBox 58">
            <a:extLst>
              <a:ext uri="{FF2B5EF4-FFF2-40B4-BE49-F238E27FC236}">
                <a16:creationId xmlns:a16="http://schemas.microsoft.com/office/drawing/2014/main" id="{E969F374-AF29-16F8-BBAD-5D6A63A9A60E}"/>
              </a:ext>
            </a:extLst>
          </p:cNvPr>
          <p:cNvSpPr txBox="1">
            <a:spLocks noChangeArrowheads="1"/>
          </p:cNvSpPr>
          <p:nvPr/>
        </p:nvSpPr>
        <p:spPr bwMode="auto">
          <a:xfrm>
            <a:off x="3581400" y="5046663"/>
            <a:ext cx="598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%sp</a:t>
            </a:r>
          </a:p>
        </p:txBody>
      </p:sp>
      <p:sp>
        <p:nvSpPr>
          <p:cNvPr id="60" name="TextBox 59">
            <a:extLst>
              <a:ext uri="{FF2B5EF4-FFF2-40B4-BE49-F238E27FC236}">
                <a16:creationId xmlns:a16="http://schemas.microsoft.com/office/drawing/2014/main" id="{3CA80F52-60A3-A4B4-C2B5-DB35C229058B}"/>
              </a:ext>
            </a:extLst>
          </p:cNvPr>
          <p:cNvSpPr txBox="1">
            <a:spLocks noChangeArrowheads="1"/>
          </p:cNvSpPr>
          <p:nvPr/>
        </p:nvSpPr>
        <p:spPr bwMode="auto">
          <a:xfrm>
            <a:off x="3581400" y="5632450"/>
            <a:ext cx="598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%bp</a:t>
            </a:r>
          </a:p>
        </p:txBody>
      </p:sp>
      <p:sp>
        <p:nvSpPr>
          <p:cNvPr id="61" name="TextBox 60">
            <a:extLst>
              <a:ext uri="{FF2B5EF4-FFF2-40B4-BE49-F238E27FC236}">
                <a16:creationId xmlns:a16="http://schemas.microsoft.com/office/drawing/2014/main" id="{B1D5D370-B4C5-8165-462B-D49E4631F700}"/>
              </a:ext>
            </a:extLst>
          </p:cNvPr>
          <p:cNvSpPr txBox="1">
            <a:spLocks noChangeArrowheads="1"/>
          </p:cNvSpPr>
          <p:nvPr/>
        </p:nvSpPr>
        <p:spPr bwMode="auto">
          <a:xfrm>
            <a:off x="4572000" y="1581150"/>
            <a:ext cx="598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%ah</a:t>
            </a:r>
          </a:p>
        </p:txBody>
      </p:sp>
      <p:sp>
        <p:nvSpPr>
          <p:cNvPr id="62" name="TextBox 61">
            <a:extLst>
              <a:ext uri="{FF2B5EF4-FFF2-40B4-BE49-F238E27FC236}">
                <a16:creationId xmlns:a16="http://schemas.microsoft.com/office/drawing/2014/main" id="{90956EA0-7047-C9E0-0496-BCC049A6CACA}"/>
              </a:ext>
            </a:extLst>
          </p:cNvPr>
          <p:cNvSpPr txBox="1">
            <a:spLocks noChangeArrowheads="1"/>
          </p:cNvSpPr>
          <p:nvPr/>
        </p:nvSpPr>
        <p:spPr bwMode="auto">
          <a:xfrm>
            <a:off x="4572000" y="2165350"/>
            <a:ext cx="598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%ch</a:t>
            </a:r>
          </a:p>
        </p:txBody>
      </p:sp>
      <p:sp>
        <p:nvSpPr>
          <p:cNvPr id="63" name="TextBox 62">
            <a:extLst>
              <a:ext uri="{FF2B5EF4-FFF2-40B4-BE49-F238E27FC236}">
                <a16:creationId xmlns:a16="http://schemas.microsoft.com/office/drawing/2014/main" id="{9D971C21-85A8-E129-B40C-2EA86EE47F27}"/>
              </a:ext>
            </a:extLst>
          </p:cNvPr>
          <p:cNvSpPr txBox="1">
            <a:spLocks noChangeArrowheads="1"/>
          </p:cNvSpPr>
          <p:nvPr/>
        </p:nvSpPr>
        <p:spPr bwMode="auto">
          <a:xfrm>
            <a:off x="4572000" y="2730500"/>
            <a:ext cx="598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%dh</a:t>
            </a:r>
          </a:p>
        </p:txBody>
      </p:sp>
      <p:sp>
        <p:nvSpPr>
          <p:cNvPr id="64" name="TextBox 63">
            <a:extLst>
              <a:ext uri="{FF2B5EF4-FFF2-40B4-BE49-F238E27FC236}">
                <a16:creationId xmlns:a16="http://schemas.microsoft.com/office/drawing/2014/main" id="{468936BA-62D0-9D39-50F3-71BB64681475}"/>
              </a:ext>
            </a:extLst>
          </p:cNvPr>
          <p:cNvSpPr txBox="1">
            <a:spLocks noChangeArrowheads="1"/>
          </p:cNvSpPr>
          <p:nvPr/>
        </p:nvSpPr>
        <p:spPr bwMode="auto">
          <a:xfrm>
            <a:off x="4572000" y="3321050"/>
            <a:ext cx="598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%bh</a:t>
            </a:r>
          </a:p>
        </p:txBody>
      </p:sp>
      <p:sp>
        <p:nvSpPr>
          <p:cNvPr id="69" name="TextBox 68">
            <a:extLst>
              <a:ext uri="{FF2B5EF4-FFF2-40B4-BE49-F238E27FC236}">
                <a16:creationId xmlns:a16="http://schemas.microsoft.com/office/drawing/2014/main" id="{7F487A56-E139-BC1C-5003-790A33150D81}"/>
              </a:ext>
            </a:extLst>
          </p:cNvPr>
          <p:cNvSpPr txBox="1">
            <a:spLocks noChangeArrowheads="1"/>
          </p:cNvSpPr>
          <p:nvPr/>
        </p:nvSpPr>
        <p:spPr bwMode="auto">
          <a:xfrm>
            <a:off x="5943600" y="1581150"/>
            <a:ext cx="598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%al</a:t>
            </a:r>
          </a:p>
        </p:txBody>
      </p:sp>
      <p:sp>
        <p:nvSpPr>
          <p:cNvPr id="70" name="TextBox 69">
            <a:extLst>
              <a:ext uri="{FF2B5EF4-FFF2-40B4-BE49-F238E27FC236}">
                <a16:creationId xmlns:a16="http://schemas.microsoft.com/office/drawing/2014/main" id="{84164DD3-DBBE-832D-4A93-0DDA25DFCA2F}"/>
              </a:ext>
            </a:extLst>
          </p:cNvPr>
          <p:cNvSpPr txBox="1">
            <a:spLocks noChangeArrowheads="1"/>
          </p:cNvSpPr>
          <p:nvPr/>
        </p:nvSpPr>
        <p:spPr bwMode="auto">
          <a:xfrm>
            <a:off x="5943600" y="2165350"/>
            <a:ext cx="598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%cl</a:t>
            </a:r>
          </a:p>
        </p:txBody>
      </p:sp>
      <p:sp>
        <p:nvSpPr>
          <p:cNvPr id="71" name="TextBox 70">
            <a:extLst>
              <a:ext uri="{FF2B5EF4-FFF2-40B4-BE49-F238E27FC236}">
                <a16:creationId xmlns:a16="http://schemas.microsoft.com/office/drawing/2014/main" id="{FD1E20A7-C50C-F38E-2DEB-3C11975BBD56}"/>
              </a:ext>
            </a:extLst>
          </p:cNvPr>
          <p:cNvSpPr txBox="1">
            <a:spLocks noChangeArrowheads="1"/>
          </p:cNvSpPr>
          <p:nvPr/>
        </p:nvSpPr>
        <p:spPr bwMode="auto">
          <a:xfrm>
            <a:off x="5943600" y="2730500"/>
            <a:ext cx="598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%dl</a:t>
            </a:r>
          </a:p>
        </p:txBody>
      </p:sp>
      <p:sp>
        <p:nvSpPr>
          <p:cNvPr id="72" name="TextBox 71">
            <a:extLst>
              <a:ext uri="{FF2B5EF4-FFF2-40B4-BE49-F238E27FC236}">
                <a16:creationId xmlns:a16="http://schemas.microsoft.com/office/drawing/2014/main" id="{9F20B2A3-7D83-50B9-481B-CB0B92D67B00}"/>
              </a:ext>
            </a:extLst>
          </p:cNvPr>
          <p:cNvSpPr txBox="1">
            <a:spLocks noChangeArrowheads="1"/>
          </p:cNvSpPr>
          <p:nvPr/>
        </p:nvSpPr>
        <p:spPr bwMode="auto">
          <a:xfrm>
            <a:off x="5943600" y="3321050"/>
            <a:ext cx="598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ourier New" panose="02070309020205020404" pitchFamily="49" charset="0"/>
              </a:rPr>
              <a:t>%bl</a:t>
            </a:r>
          </a:p>
        </p:txBody>
      </p:sp>
      <p:sp>
        <p:nvSpPr>
          <p:cNvPr id="73" name="AutoShape 7">
            <a:extLst>
              <a:ext uri="{FF2B5EF4-FFF2-40B4-BE49-F238E27FC236}">
                <a16:creationId xmlns:a16="http://schemas.microsoft.com/office/drawing/2014/main" id="{DBB6B991-F0A0-7EE1-5CCF-721F039824B6}"/>
              </a:ext>
            </a:extLst>
          </p:cNvPr>
          <p:cNvSpPr>
            <a:spLocks/>
          </p:cNvSpPr>
          <p:nvPr/>
        </p:nvSpPr>
        <p:spPr bwMode="auto">
          <a:xfrm rot="5400000">
            <a:off x="5452269" y="4860132"/>
            <a:ext cx="279400" cy="2824162"/>
          </a:xfrm>
          <a:prstGeom prst="rightBrace">
            <a:avLst>
              <a:gd name="adj1" fmla="val 24989"/>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endParaRPr lang="zh-CN" altLang="zh-CN" sz="2000">
              <a:latin typeface="Calibri" panose="020F0502020204030204" pitchFamily="34" charset="0"/>
            </a:endParaRPr>
          </a:p>
        </p:txBody>
      </p:sp>
      <p:sp>
        <p:nvSpPr>
          <p:cNvPr id="74" name="TextBox 73">
            <a:extLst>
              <a:ext uri="{FF2B5EF4-FFF2-40B4-BE49-F238E27FC236}">
                <a16:creationId xmlns:a16="http://schemas.microsoft.com/office/drawing/2014/main" id="{A2573C64-0670-E75F-A4F3-D77D11AE49EE}"/>
              </a:ext>
            </a:extLst>
          </p:cNvPr>
          <p:cNvSpPr txBox="1">
            <a:spLocks noChangeArrowheads="1"/>
          </p:cNvSpPr>
          <p:nvPr/>
        </p:nvSpPr>
        <p:spPr bwMode="auto">
          <a:xfrm>
            <a:off x="3189288" y="6361113"/>
            <a:ext cx="4816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1800">
                <a:latin typeface="Calibri" panose="020F0502020204030204" pitchFamily="34" charset="0"/>
              </a:rPr>
              <a:t>16-bit virtual registers</a:t>
            </a:r>
            <a:r>
              <a:rPr lang="zh-CN" altLang="en-US" sz="1800">
                <a:latin typeface="Calibri" panose="020F0502020204030204" pitchFamily="34" charset="0"/>
              </a:rPr>
              <a:t> </a:t>
            </a:r>
            <a:r>
              <a:rPr lang="en-US" altLang="zh-CN" sz="1800">
                <a:latin typeface="Calibri" panose="020F0502020204030204" pitchFamily="34" charset="0"/>
              </a:rPr>
              <a:t>(backwards compatibility)</a:t>
            </a:r>
          </a:p>
        </p:txBody>
      </p:sp>
      <p:sp>
        <p:nvSpPr>
          <p:cNvPr id="110621" name="AutoShape 7">
            <a:extLst>
              <a:ext uri="{FF2B5EF4-FFF2-40B4-BE49-F238E27FC236}">
                <a16:creationId xmlns:a16="http://schemas.microsoft.com/office/drawing/2014/main" id="{B0720298-BBEA-9844-8521-6871FC681D85}"/>
              </a:ext>
            </a:extLst>
          </p:cNvPr>
          <p:cNvSpPr>
            <a:spLocks/>
          </p:cNvSpPr>
          <p:nvPr/>
        </p:nvSpPr>
        <p:spPr bwMode="auto">
          <a:xfrm rot="10800000">
            <a:off x="914400" y="1522413"/>
            <a:ext cx="279400" cy="3376612"/>
          </a:xfrm>
          <a:prstGeom prst="rightBrace">
            <a:avLst>
              <a:gd name="adj1" fmla="val 2501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endParaRPr lang="zh-CN" altLang="zh-CN" sz="2000">
              <a:latin typeface="Calibri" panose="020F0502020204030204" pitchFamily="34" charset="0"/>
            </a:endParaRPr>
          </a:p>
        </p:txBody>
      </p:sp>
      <p:sp>
        <p:nvSpPr>
          <p:cNvPr id="110622" name="TextBox 75">
            <a:extLst>
              <a:ext uri="{FF2B5EF4-FFF2-40B4-BE49-F238E27FC236}">
                <a16:creationId xmlns:a16="http://schemas.microsoft.com/office/drawing/2014/main" id="{F4C9B6C0-D5F4-03C6-429F-1FD8C201579D}"/>
              </a:ext>
            </a:extLst>
          </p:cNvPr>
          <p:cNvSpPr txBox="1">
            <a:spLocks noChangeArrowheads="1"/>
          </p:cNvSpPr>
          <p:nvPr/>
        </p:nvSpPr>
        <p:spPr bwMode="auto">
          <a:xfrm rot="-5400000">
            <a:off x="-221456" y="3001169"/>
            <a:ext cx="172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a:latin typeface="Calibri" panose="020F0502020204030204" pitchFamily="34" charset="0"/>
              </a:rPr>
              <a:t>general purpose</a:t>
            </a:r>
          </a:p>
        </p:txBody>
      </p:sp>
      <p:sp>
        <p:nvSpPr>
          <p:cNvPr id="77" name="TextBox 76">
            <a:extLst>
              <a:ext uri="{FF2B5EF4-FFF2-40B4-BE49-F238E27FC236}">
                <a16:creationId xmlns:a16="http://schemas.microsoft.com/office/drawing/2014/main" id="{E7263717-C9E9-50FF-A40D-D0F52D635366}"/>
              </a:ext>
            </a:extLst>
          </p:cNvPr>
          <p:cNvSpPr txBox="1"/>
          <p:nvPr/>
        </p:nvSpPr>
        <p:spPr>
          <a:xfrm>
            <a:off x="7554913" y="1581150"/>
            <a:ext cx="1258887" cy="307975"/>
          </a:xfrm>
          <a:prstGeom prst="rect">
            <a:avLst/>
          </a:prstGeom>
          <a:noFill/>
        </p:spPr>
        <p:txBody>
          <a:bodyPr wrap="none">
            <a:spAutoFit/>
          </a:bodyPr>
          <a:lstStyle/>
          <a:p>
            <a:pPr>
              <a:defRPr/>
            </a:pPr>
            <a:r>
              <a:rPr lang="en-US" sz="1400" i="1" dirty="0">
                <a:solidFill>
                  <a:schemeClr val="bg1">
                    <a:lumMod val="50000"/>
                  </a:schemeClr>
                </a:solidFill>
                <a:latin typeface="Courier New" pitchFamily="49" charset="0"/>
                <a:ea typeface="宋体" charset="-122"/>
                <a:cs typeface="Courier New" pitchFamily="49" charset="0"/>
              </a:rPr>
              <a:t>accumulate</a:t>
            </a:r>
          </a:p>
        </p:txBody>
      </p:sp>
      <p:sp>
        <p:nvSpPr>
          <p:cNvPr id="78" name="TextBox 77">
            <a:extLst>
              <a:ext uri="{FF2B5EF4-FFF2-40B4-BE49-F238E27FC236}">
                <a16:creationId xmlns:a16="http://schemas.microsoft.com/office/drawing/2014/main" id="{D34AD5D2-9185-D12E-8140-060425D8C8A1}"/>
              </a:ext>
            </a:extLst>
          </p:cNvPr>
          <p:cNvSpPr txBox="1"/>
          <p:nvPr/>
        </p:nvSpPr>
        <p:spPr>
          <a:xfrm>
            <a:off x="7554913" y="2165350"/>
            <a:ext cx="936625" cy="306388"/>
          </a:xfrm>
          <a:prstGeom prst="rect">
            <a:avLst/>
          </a:prstGeom>
          <a:noFill/>
        </p:spPr>
        <p:txBody>
          <a:bodyPr wrap="none">
            <a:spAutoFit/>
          </a:bodyPr>
          <a:lstStyle/>
          <a:p>
            <a:pPr>
              <a:defRPr/>
            </a:pPr>
            <a:r>
              <a:rPr lang="en-US" sz="1400" i="1" dirty="0">
                <a:solidFill>
                  <a:schemeClr val="bg1">
                    <a:lumMod val="50000"/>
                  </a:schemeClr>
                </a:solidFill>
                <a:latin typeface="Courier New" pitchFamily="49" charset="0"/>
                <a:ea typeface="宋体" charset="-122"/>
                <a:cs typeface="Courier New" pitchFamily="49" charset="0"/>
              </a:rPr>
              <a:t>counter</a:t>
            </a:r>
          </a:p>
        </p:txBody>
      </p:sp>
      <p:sp>
        <p:nvSpPr>
          <p:cNvPr id="79" name="TextBox 78">
            <a:extLst>
              <a:ext uri="{FF2B5EF4-FFF2-40B4-BE49-F238E27FC236}">
                <a16:creationId xmlns:a16="http://schemas.microsoft.com/office/drawing/2014/main" id="{C4147D81-E1AE-283F-3E32-1781EC44403C}"/>
              </a:ext>
            </a:extLst>
          </p:cNvPr>
          <p:cNvSpPr txBox="1"/>
          <p:nvPr/>
        </p:nvSpPr>
        <p:spPr>
          <a:xfrm>
            <a:off x="7554913" y="2730500"/>
            <a:ext cx="614362" cy="307975"/>
          </a:xfrm>
          <a:prstGeom prst="rect">
            <a:avLst/>
          </a:prstGeom>
          <a:noFill/>
        </p:spPr>
        <p:txBody>
          <a:bodyPr wrap="none">
            <a:spAutoFit/>
          </a:bodyPr>
          <a:lstStyle/>
          <a:p>
            <a:pPr>
              <a:defRPr/>
            </a:pPr>
            <a:r>
              <a:rPr lang="en-US" sz="1400" i="1" dirty="0">
                <a:solidFill>
                  <a:schemeClr val="bg1">
                    <a:lumMod val="50000"/>
                  </a:schemeClr>
                </a:solidFill>
                <a:latin typeface="Courier New" pitchFamily="49" charset="0"/>
                <a:ea typeface="宋体" charset="-122"/>
                <a:cs typeface="Courier New" pitchFamily="49" charset="0"/>
              </a:rPr>
              <a:t>data</a:t>
            </a:r>
          </a:p>
        </p:txBody>
      </p:sp>
      <p:sp>
        <p:nvSpPr>
          <p:cNvPr id="80" name="TextBox 79">
            <a:extLst>
              <a:ext uri="{FF2B5EF4-FFF2-40B4-BE49-F238E27FC236}">
                <a16:creationId xmlns:a16="http://schemas.microsoft.com/office/drawing/2014/main" id="{1E28A7A6-A0FA-A81D-3671-9F5A017FF7D2}"/>
              </a:ext>
            </a:extLst>
          </p:cNvPr>
          <p:cNvSpPr txBox="1"/>
          <p:nvPr/>
        </p:nvSpPr>
        <p:spPr>
          <a:xfrm>
            <a:off x="7554913" y="3321050"/>
            <a:ext cx="614362" cy="307975"/>
          </a:xfrm>
          <a:prstGeom prst="rect">
            <a:avLst/>
          </a:prstGeom>
          <a:noFill/>
        </p:spPr>
        <p:txBody>
          <a:bodyPr wrap="none">
            <a:spAutoFit/>
          </a:bodyPr>
          <a:lstStyle/>
          <a:p>
            <a:pPr>
              <a:defRPr/>
            </a:pPr>
            <a:r>
              <a:rPr lang="en-US" sz="1400" i="1" dirty="0">
                <a:solidFill>
                  <a:schemeClr val="bg1">
                    <a:lumMod val="50000"/>
                  </a:schemeClr>
                </a:solidFill>
                <a:latin typeface="Courier New" pitchFamily="49" charset="0"/>
                <a:ea typeface="宋体" charset="-122"/>
                <a:cs typeface="Courier New" pitchFamily="49" charset="0"/>
              </a:rPr>
              <a:t>base</a:t>
            </a:r>
          </a:p>
        </p:txBody>
      </p:sp>
      <p:sp>
        <p:nvSpPr>
          <p:cNvPr id="81" name="TextBox 80">
            <a:extLst>
              <a:ext uri="{FF2B5EF4-FFF2-40B4-BE49-F238E27FC236}">
                <a16:creationId xmlns:a16="http://schemas.microsoft.com/office/drawing/2014/main" id="{AF68133B-5BF2-68A6-4724-BB5089840E9C}"/>
              </a:ext>
            </a:extLst>
          </p:cNvPr>
          <p:cNvSpPr txBox="1"/>
          <p:nvPr/>
        </p:nvSpPr>
        <p:spPr>
          <a:xfrm>
            <a:off x="7554913" y="3816350"/>
            <a:ext cx="936625" cy="522288"/>
          </a:xfrm>
          <a:prstGeom prst="rect">
            <a:avLst/>
          </a:prstGeom>
          <a:noFill/>
        </p:spPr>
        <p:txBody>
          <a:bodyPr wrap="none">
            <a:spAutoFit/>
          </a:bodyPr>
          <a:lstStyle/>
          <a:p>
            <a:pPr>
              <a:defRPr/>
            </a:pPr>
            <a:r>
              <a:rPr lang="en-US" sz="1400" i="1" dirty="0">
                <a:solidFill>
                  <a:schemeClr val="bg1">
                    <a:lumMod val="50000"/>
                  </a:schemeClr>
                </a:solidFill>
                <a:latin typeface="Courier New" pitchFamily="49" charset="0"/>
                <a:ea typeface="宋体" charset="-122"/>
                <a:cs typeface="Courier New" pitchFamily="49" charset="0"/>
              </a:rPr>
              <a:t>source </a:t>
            </a:r>
          </a:p>
          <a:p>
            <a:pPr>
              <a:defRPr/>
            </a:pPr>
            <a:r>
              <a:rPr lang="en-US" sz="1400" i="1" dirty="0">
                <a:solidFill>
                  <a:schemeClr val="bg1">
                    <a:lumMod val="50000"/>
                  </a:schemeClr>
                </a:solidFill>
                <a:latin typeface="Courier New" pitchFamily="49" charset="0"/>
                <a:ea typeface="宋体" charset="-122"/>
                <a:cs typeface="Courier New" pitchFamily="49" charset="0"/>
              </a:rPr>
              <a:t>index</a:t>
            </a:r>
          </a:p>
        </p:txBody>
      </p:sp>
      <p:sp>
        <p:nvSpPr>
          <p:cNvPr id="82" name="TextBox 81">
            <a:extLst>
              <a:ext uri="{FF2B5EF4-FFF2-40B4-BE49-F238E27FC236}">
                <a16:creationId xmlns:a16="http://schemas.microsoft.com/office/drawing/2014/main" id="{5A977266-86FB-B4A4-A73E-6482516CEB47}"/>
              </a:ext>
            </a:extLst>
          </p:cNvPr>
          <p:cNvSpPr txBox="1"/>
          <p:nvPr/>
        </p:nvSpPr>
        <p:spPr>
          <a:xfrm>
            <a:off x="7554913" y="4394200"/>
            <a:ext cx="1366837" cy="522288"/>
          </a:xfrm>
          <a:prstGeom prst="rect">
            <a:avLst/>
          </a:prstGeom>
          <a:noFill/>
        </p:spPr>
        <p:txBody>
          <a:bodyPr wrap="none">
            <a:spAutoFit/>
          </a:bodyPr>
          <a:lstStyle/>
          <a:p>
            <a:pPr>
              <a:defRPr/>
            </a:pPr>
            <a:r>
              <a:rPr lang="en-US" sz="1400" i="1" dirty="0">
                <a:solidFill>
                  <a:schemeClr val="bg1">
                    <a:lumMod val="50000"/>
                  </a:schemeClr>
                </a:solidFill>
                <a:latin typeface="Courier New" pitchFamily="49" charset="0"/>
                <a:ea typeface="宋体" charset="-122"/>
                <a:cs typeface="Courier New" pitchFamily="49" charset="0"/>
              </a:rPr>
              <a:t>destination</a:t>
            </a:r>
          </a:p>
          <a:p>
            <a:pPr>
              <a:defRPr/>
            </a:pPr>
            <a:r>
              <a:rPr lang="en-US" sz="1400" i="1" dirty="0">
                <a:solidFill>
                  <a:schemeClr val="bg1">
                    <a:lumMod val="50000"/>
                  </a:schemeClr>
                </a:solidFill>
                <a:latin typeface="Courier New" pitchFamily="49" charset="0"/>
                <a:ea typeface="宋体" charset="-122"/>
                <a:cs typeface="Courier New" pitchFamily="49" charset="0"/>
              </a:rPr>
              <a:t>index</a:t>
            </a:r>
          </a:p>
        </p:txBody>
      </p:sp>
      <p:sp>
        <p:nvSpPr>
          <p:cNvPr id="83" name="TextBox 82">
            <a:extLst>
              <a:ext uri="{FF2B5EF4-FFF2-40B4-BE49-F238E27FC236}">
                <a16:creationId xmlns:a16="http://schemas.microsoft.com/office/drawing/2014/main" id="{66262A93-92FF-F016-F5D6-7A828A8D0871}"/>
              </a:ext>
            </a:extLst>
          </p:cNvPr>
          <p:cNvSpPr txBox="1">
            <a:spLocks noChangeArrowheads="1"/>
          </p:cNvSpPr>
          <p:nvPr/>
        </p:nvSpPr>
        <p:spPr bwMode="auto">
          <a:xfrm>
            <a:off x="7554913" y="4891088"/>
            <a:ext cx="11493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i="1">
                <a:latin typeface="Courier New" panose="02070309020205020404" pitchFamily="49" charset="0"/>
              </a:rPr>
              <a:t>stack </a:t>
            </a:r>
          </a:p>
          <a:p>
            <a:pPr>
              <a:spcBef>
                <a:spcPct val="0"/>
              </a:spcBef>
              <a:buFontTx/>
              <a:buNone/>
            </a:pPr>
            <a:r>
              <a:rPr lang="en-US" altLang="zh-CN" sz="1800" i="1">
                <a:latin typeface="Courier New" panose="02070309020205020404" pitchFamily="49" charset="0"/>
              </a:rPr>
              <a:t>pointer</a:t>
            </a:r>
          </a:p>
        </p:txBody>
      </p:sp>
      <p:sp>
        <p:nvSpPr>
          <p:cNvPr id="84" name="TextBox 83">
            <a:extLst>
              <a:ext uri="{FF2B5EF4-FFF2-40B4-BE49-F238E27FC236}">
                <a16:creationId xmlns:a16="http://schemas.microsoft.com/office/drawing/2014/main" id="{45D7BC2C-21E1-C939-3C1B-707720F2C5BA}"/>
              </a:ext>
            </a:extLst>
          </p:cNvPr>
          <p:cNvSpPr txBox="1">
            <a:spLocks noChangeArrowheads="1"/>
          </p:cNvSpPr>
          <p:nvPr/>
        </p:nvSpPr>
        <p:spPr bwMode="auto">
          <a:xfrm>
            <a:off x="7554913" y="5502275"/>
            <a:ext cx="11493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r>
              <a:rPr lang="en-US" altLang="zh-CN" sz="1800" i="1">
                <a:latin typeface="Courier New" panose="02070309020205020404" pitchFamily="49" charset="0"/>
              </a:rPr>
              <a:t>base</a:t>
            </a:r>
          </a:p>
          <a:p>
            <a:pPr>
              <a:spcBef>
                <a:spcPct val="0"/>
              </a:spcBef>
              <a:buFontTx/>
              <a:buNone/>
            </a:pPr>
            <a:r>
              <a:rPr lang="en-US" altLang="zh-CN" sz="1800" i="1">
                <a:latin typeface="Courier New" panose="02070309020205020404" pitchFamily="49" charset="0"/>
              </a:rPr>
              <a:t>pointer</a:t>
            </a:r>
          </a:p>
        </p:txBody>
      </p:sp>
      <p:sp>
        <p:nvSpPr>
          <p:cNvPr id="85" name="TextBox 84">
            <a:extLst>
              <a:ext uri="{FF2B5EF4-FFF2-40B4-BE49-F238E27FC236}">
                <a16:creationId xmlns:a16="http://schemas.microsoft.com/office/drawing/2014/main" id="{F3CEC462-D6AD-12FA-445A-06C6024B9B40}"/>
              </a:ext>
            </a:extLst>
          </p:cNvPr>
          <p:cNvSpPr txBox="1">
            <a:spLocks noChangeArrowheads="1"/>
          </p:cNvSpPr>
          <p:nvPr/>
        </p:nvSpPr>
        <p:spPr bwMode="auto">
          <a:xfrm>
            <a:off x="7294563" y="762000"/>
            <a:ext cx="18494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en-US" altLang="zh-CN" sz="1800">
                <a:latin typeface="Calibri" panose="020F0502020204030204" pitchFamily="34" charset="0"/>
              </a:rPr>
              <a:t>Origin</a:t>
            </a:r>
          </a:p>
          <a:p>
            <a:pPr algn="ctr">
              <a:spcBef>
                <a:spcPct val="0"/>
              </a:spcBef>
              <a:buFontTx/>
              <a:buNone/>
            </a:pPr>
            <a:r>
              <a:rPr lang="en-US" altLang="zh-CN" sz="1800">
                <a:latin typeface="Calibri" panose="020F0502020204030204" pitchFamily="34" charset="0"/>
              </a:rPr>
              <a:t>(mostly obsolete)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2"/>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7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4"/>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7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7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6" grpId="0" animBg="1"/>
      <p:bldP spid="39" grpId="0" animBg="1"/>
      <p:bldP spid="42" grpId="0" animBg="1"/>
      <p:bldP spid="53" grpId="0"/>
      <p:bldP spid="54" grpId="0"/>
      <p:bldP spid="55" grpId="0"/>
      <p:bldP spid="56" grpId="0"/>
      <p:bldP spid="57" grpId="0"/>
      <p:bldP spid="58" grpId="0"/>
      <p:bldP spid="59" grpId="0"/>
      <p:bldP spid="60" grpId="0"/>
      <p:bldP spid="61" grpId="0"/>
      <p:bldP spid="62" grpId="0"/>
      <p:bldP spid="63" grpId="0"/>
      <p:bldP spid="64" grpId="0"/>
      <p:bldP spid="69" grpId="0"/>
      <p:bldP spid="70" grpId="0"/>
      <p:bldP spid="71" grpId="0"/>
      <p:bldP spid="72" grpId="0"/>
      <p:bldP spid="73" grpId="0" animBg="1"/>
      <p:bldP spid="74" grpId="0"/>
      <p:bldP spid="77" grpId="0"/>
      <p:bldP spid="78" grpId="0"/>
      <p:bldP spid="79" grpId="0"/>
      <p:bldP spid="80" grpId="0"/>
      <p:bldP spid="81" grpId="0"/>
      <p:bldP spid="82" grpId="0"/>
      <p:bldP spid="83" grpId="0"/>
      <p:bldP spid="84" grpId="0"/>
      <p:bldP spid="8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标题 1">
            <a:extLst>
              <a:ext uri="{FF2B5EF4-FFF2-40B4-BE49-F238E27FC236}">
                <a16:creationId xmlns:a16="http://schemas.microsoft.com/office/drawing/2014/main" id="{50C97CCB-EF10-3B0C-2509-852CC86B5ED8}"/>
              </a:ext>
            </a:extLst>
          </p:cNvPr>
          <p:cNvSpPr>
            <a:spLocks noGrp="1" noChangeArrowheads="1"/>
          </p:cNvSpPr>
          <p:nvPr>
            <p:ph type="title"/>
          </p:nvPr>
        </p:nvSpPr>
        <p:spPr/>
        <p:txBody>
          <a:bodyPr/>
          <a:lstStyle/>
          <a:p>
            <a:r>
              <a:rPr kumimoji="1" lang="zh-CN" altLang="en-US">
                <a:ea typeface="宋体" panose="02010600030101010101" pitchFamily="2" charset="-122"/>
              </a:rPr>
              <a:t>课堂练习</a:t>
            </a:r>
          </a:p>
        </p:txBody>
      </p:sp>
      <p:sp>
        <p:nvSpPr>
          <p:cNvPr id="112642" name="内容占位符 2">
            <a:extLst>
              <a:ext uri="{FF2B5EF4-FFF2-40B4-BE49-F238E27FC236}">
                <a16:creationId xmlns:a16="http://schemas.microsoft.com/office/drawing/2014/main" id="{8D6420D3-C53C-26C3-B19F-62642435B1D1}"/>
              </a:ext>
            </a:extLst>
          </p:cNvPr>
          <p:cNvSpPr>
            <a:spLocks noGrp="1" noChangeArrowheads="1"/>
          </p:cNvSpPr>
          <p:nvPr>
            <p:ph idx="1"/>
          </p:nvPr>
        </p:nvSpPr>
        <p:spPr/>
        <p:txBody>
          <a:bodyPr/>
          <a:lstStyle/>
          <a:p>
            <a:r>
              <a:rPr kumimoji="1" lang="en-US" altLang="zh-CN">
                <a:ea typeface="宋体" panose="02010600030101010101" pitchFamily="2" charset="-122"/>
              </a:rPr>
              <a:t>8086</a:t>
            </a:r>
            <a:r>
              <a:rPr kumimoji="1" lang="zh-CN" altLang="en-US">
                <a:ea typeface="宋体" panose="02010600030101010101" pitchFamily="2" charset="-122"/>
              </a:rPr>
              <a:t>计算机上，如果希望能够寻址到物理地址</a:t>
            </a:r>
            <a:r>
              <a:rPr kumimoji="1" lang="en-US" altLang="zh-CN">
                <a:ea typeface="宋体" panose="02010600030101010101" pitchFamily="2" charset="-122"/>
              </a:rPr>
              <a:t>0x54000</a:t>
            </a:r>
            <a:r>
              <a:rPr kumimoji="1" lang="zh-CN" altLang="en-US">
                <a:ea typeface="宋体" panose="02010600030101010101" pitchFamily="2" charset="-122"/>
              </a:rPr>
              <a:t>，请问段地址的最大、最小分别是多少？</a:t>
            </a:r>
          </a:p>
        </p:txBody>
      </p:sp>
      <p:sp>
        <p:nvSpPr>
          <p:cNvPr id="112643" name="幻灯片编号占位符 3">
            <a:extLst>
              <a:ext uri="{FF2B5EF4-FFF2-40B4-BE49-F238E27FC236}">
                <a16:creationId xmlns:a16="http://schemas.microsoft.com/office/drawing/2014/main" id="{E0AE1660-45EB-6F1F-E32C-C85A97779CC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3057FB1C-94D2-5C41-9CB6-4E549D303BB7}" type="slidenum">
              <a:rPr lang="zh-CN" altLang="en-US" sz="1400" smtClean="0">
                <a:latin typeface="Times New Roman" panose="02020603050405020304" pitchFamily="18" charset="0"/>
              </a:rPr>
              <a:pPr>
                <a:spcBef>
                  <a:spcPct val="0"/>
                </a:spcBef>
                <a:buFontTx/>
                <a:buNone/>
              </a:pPr>
              <a:t>73</a:t>
            </a:fld>
            <a:endParaRPr lang="en-US" altLang="zh-CN" sz="1400">
              <a:latin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灯片编号占位符 5">
            <a:extLst>
              <a:ext uri="{FF2B5EF4-FFF2-40B4-BE49-F238E27FC236}">
                <a16:creationId xmlns:a16="http://schemas.microsoft.com/office/drawing/2014/main" id="{59654DD0-47FF-8126-0C45-5F962F5B04B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spcBef>
                <a:spcPct val="0"/>
              </a:spcBef>
              <a:buFontTx/>
              <a:buNone/>
            </a:pPr>
            <a:fld id="{F2ACA3FA-AF9F-1A47-8047-EAAF5A5DA489}" type="slidenum">
              <a:rPr lang="zh-CN" altLang="en-US" sz="1400" smtClean="0">
                <a:latin typeface="Times New Roman" panose="02020603050405020304" pitchFamily="18" charset="0"/>
              </a:rPr>
              <a:pPr>
                <a:spcBef>
                  <a:spcPct val="0"/>
                </a:spcBef>
                <a:buFontTx/>
                <a:buNone/>
              </a:pPr>
              <a:t>74</a:t>
            </a:fld>
            <a:endParaRPr lang="en-US" altLang="zh-CN" sz="1400">
              <a:latin typeface="Times New Roman" panose="02020603050405020304" pitchFamily="18" charset="0"/>
            </a:endParaRPr>
          </a:p>
        </p:txBody>
      </p:sp>
      <p:sp>
        <p:nvSpPr>
          <p:cNvPr id="113666" name="Rectangle 2">
            <a:extLst>
              <a:ext uri="{FF2B5EF4-FFF2-40B4-BE49-F238E27FC236}">
                <a16:creationId xmlns:a16="http://schemas.microsoft.com/office/drawing/2014/main" id="{89A69838-FA86-A8EF-E0C2-621F2DF78DC4}"/>
              </a:ext>
            </a:extLst>
          </p:cNvPr>
          <p:cNvSpPr>
            <a:spLocks noGrp="1" noChangeArrowheads="1"/>
          </p:cNvSpPr>
          <p:nvPr>
            <p:ph type="title"/>
          </p:nvPr>
        </p:nvSpPr>
        <p:spPr/>
        <p:txBody>
          <a:bodyPr/>
          <a:lstStyle/>
          <a:p>
            <a:r>
              <a:rPr lang="en-US" altLang="zh-CN">
                <a:ea typeface="宋体" panose="02010600030101010101" pitchFamily="2" charset="-122"/>
              </a:rPr>
              <a:t>Outline</a:t>
            </a:r>
          </a:p>
        </p:txBody>
      </p:sp>
      <p:sp>
        <p:nvSpPr>
          <p:cNvPr id="113667" name="Rectangle 3">
            <a:extLst>
              <a:ext uri="{FF2B5EF4-FFF2-40B4-BE49-F238E27FC236}">
                <a16:creationId xmlns:a16="http://schemas.microsoft.com/office/drawing/2014/main" id="{6E066E7F-D6CC-EC6B-DE2E-132F22847773}"/>
              </a:ext>
            </a:extLst>
          </p:cNvPr>
          <p:cNvSpPr>
            <a:spLocks noGrp="1" noChangeArrowheads="1"/>
          </p:cNvSpPr>
          <p:nvPr>
            <p:ph type="body" idx="1"/>
          </p:nvPr>
        </p:nvSpPr>
        <p:spPr/>
        <p:txBody>
          <a:bodyPr/>
          <a:lstStyle/>
          <a:p>
            <a:r>
              <a:rPr kumimoji="1" lang="en-US" altLang="zh-CN">
                <a:ea typeface="宋体" panose="02010600030101010101" pitchFamily="2" charset="-122"/>
              </a:rPr>
              <a:t>CPU</a:t>
            </a:r>
            <a:r>
              <a:rPr kumimoji="1" lang="zh-CN" altLang="en-US">
                <a:ea typeface="宋体" panose="02010600030101010101" pitchFamily="2" charset="-122"/>
              </a:rPr>
              <a:t>发展</a:t>
            </a:r>
            <a:endParaRPr kumimoji="1" lang="en-US" altLang="zh-CN">
              <a:ea typeface="宋体" panose="02010600030101010101" pitchFamily="2" charset="-122"/>
            </a:endParaRPr>
          </a:p>
          <a:p>
            <a:r>
              <a:rPr kumimoji="1" lang="zh-CN" altLang="en-US">
                <a:ea typeface="宋体" panose="02010600030101010101" pitchFamily="2" charset="-122"/>
              </a:rPr>
              <a:t>自下而上：构建计算机体系</a:t>
            </a:r>
            <a:endParaRPr lang="en-US" altLang="zh-CN">
              <a:ea typeface="宋体" panose="02010600030101010101" pitchFamily="2" charset="-122"/>
            </a:endParaRPr>
          </a:p>
          <a:p>
            <a:r>
              <a:rPr lang="en-US" altLang="zh-CN">
                <a:ea typeface="宋体" panose="02010600030101010101" pitchFamily="2" charset="-122"/>
              </a:rPr>
              <a:t>CPU Architecture</a:t>
            </a:r>
          </a:p>
          <a:p>
            <a:r>
              <a:rPr lang="en-US" altLang="zh-CN">
                <a:ea typeface="宋体" panose="02010600030101010101" pitchFamily="2" charset="-122"/>
              </a:rPr>
              <a:t>Memory and Registers</a:t>
            </a:r>
          </a:p>
          <a:p>
            <a:r>
              <a:rPr lang="zh-CN" altLang="en-US" b="1">
                <a:solidFill>
                  <a:srgbClr val="C00000"/>
                </a:solidFill>
                <a:ea typeface="宋体" panose="02010600030101010101" pitchFamily="2" charset="-122"/>
              </a:rPr>
              <a:t>处理器架构实例：华为鲲鹏处理器</a:t>
            </a:r>
            <a:endParaRPr lang="en-US" altLang="zh-CN" b="1">
              <a:solidFill>
                <a:srgbClr val="C00000"/>
              </a:solidFill>
              <a:ea typeface="宋体" panose="02010600030101010101" pitchFamily="2" charset="-122"/>
            </a:endParaRPr>
          </a:p>
          <a:p>
            <a:pPr>
              <a:buFontTx/>
              <a:buNone/>
            </a:pPr>
            <a:endParaRPr lang="en-US" altLang="zh-CN">
              <a:ea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标题 1">
            <a:extLst>
              <a:ext uri="{FF2B5EF4-FFF2-40B4-BE49-F238E27FC236}">
                <a16:creationId xmlns:a16="http://schemas.microsoft.com/office/drawing/2014/main" id="{F57ACC90-E0D3-BF6D-E36C-315533088AAD}"/>
              </a:ext>
            </a:extLst>
          </p:cNvPr>
          <p:cNvSpPr>
            <a:spLocks noGrp="1" noChangeArrowheads="1"/>
          </p:cNvSpPr>
          <p:nvPr>
            <p:ph type="title"/>
          </p:nvPr>
        </p:nvSpPr>
        <p:spPr>
          <a:xfrm>
            <a:off x="549275" y="447675"/>
            <a:ext cx="8045450" cy="485775"/>
          </a:xfrm>
        </p:spPr>
        <p:txBody>
          <a:bodyPr/>
          <a:lstStyle/>
          <a:p>
            <a:r>
              <a:rPr lang="en-US" altLang="zh-CN">
                <a:latin typeface="Huawei Sans"/>
                <a:ea typeface="方正兰亭黑简体"/>
                <a:cs typeface="方正兰亭黑简体"/>
              </a:rPr>
              <a:t>ARM</a:t>
            </a:r>
            <a:r>
              <a:rPr>
                <a:latin typeface="Huawei Sans"/>
                <a:ea typeface="方正兰亭黑简体"/>
                <a:cs typeface="方正兰亭黑简体"/>
              </a:rPr>
              <a:t>公司授权体系</a:t>
            </a:r>
          </a:p>
        </p:txBody>
      </p:sp>
      <p:sp>
        <p:nvSpPr>
          <p:cNvPr id="115714" name="文本占位符 2">
            <a:extLst>
              <a:ext uri="{FF2B5EF4-FFF2-40B4-BE49-F238E27FC236}">
                <a16:creationId xmlns:a16="http://schemas.microsoft.com/office/drawing/2014/main" id="{8510BD5F-7942-8C51-BDC8-08433B43AEFF}"/>
              </a:ext>
            </a:extLst>
          </p:cNvPr>
          <p:cNvSpPr>
            <a:spLocks noGrp="1" noChangeArrowheads="1"/>
          </p:cNvSpPr>
          <p:nvPr>
            <p:ph type="body" sz="quarter" idx="10"/>
          </p:nvPr>
        </p:nvSpPr>
        <p:spPr>
          <a:xfrm>
            <a:off x="549275" y="1597025"/>
            <a:ext cx="8045450" cy="4879975"/>
          </a:xfrm>
        </p:spPr>
        <p:txBody>
          <a:bodyPr/>
          <a:lstStyle/>
          <a:p>
            <a:pPr marL="215900" indent="-215900">
              <a:spcBef>
                <a:spcPts val="450"/>
              </a:spcBef>
            </a:pPr>
            <a:r>
              <a:rPr lang="en-US" altLang="zh-CN">
                <a:latin typeface="Huawei Sans"/>
                <a:ea typeface="方正兰亭黑简体"/>
                <a:cs typeface="Huawei Sans"/>
              </a:rPr>
              <a:t>ARM</a:t>
            </a:r>
            <a:r>
              <a:rPr lang="zh-CN" altLang="en-US">
                <a:latin typeface="Huawei Sans"/>
                <a:ea typeface="方正兰亭黑简体"/>
                <a:cs typeface="Huawei Sans"/>
              </a:rPr>
              <a:t>目前在全球拥有大约</a:t>
            </a:r>
            <a:r>
              <a:rPr lang="en-US" altLang="zh-CN">
                <a:latin typeface="Huawei Sans"/>
                <a:ea typeface="方正兰亭黑简体"/>
                <a:cs typeface="Huawei Sans"/>
              </a:rPr>
              <a:t>1000</a:t>
            </a:r>
            <a:r>
              <a:rPr lang="zh-CN" altLang="en-US">
                <a:latin typeface="Huawei Sans"/>
                <a:ea typeface="方正兰亭黑简体"/>
                <a:cs typeface="Huawei Sans"/>
              </a:rPr>
              <a:t>个授权合作商、</a:t>
            </a:r>
            <a:r>
              <a:rPr lang="en-US" altLang="zh-CN">
                <a:latin typeface="Huawei Sans"/>
                <a:ea typeface="方正兰亭黑简体"/>
                <a:cs typeface="Huawei Sans"/>
              </a:rPr>
              <a:t>320</a:t>
            </a:r>
            <a:r>
              <a:rPr lang="zh-CN" altLang="en-US">
                <a:latin typeface="Huawei Sans"/>
                <a:ea typeface="方正兰亭黑简体"/>
                <a:cs typeface="Huawei Sans"/>
              </a:rPr>
              <a:t>家伙伴，但是购买架构授权的厂家不超过</a:t>
            </a:r>
            <a:r>
              <a:rPr lang="en-US" altLang="zh-CN">
                <a:latin typeface="Huawei Sans"/>
                <a:ea typeface="方正兰亭黑简体"/>
                <a:cs typeface="Huawei Sans"/>
              </a:rPr>
              <a:t>20</a:t>
            </a:r>
            <a:r>
              <a:rPr lang="zh-CN" altLang="en-US">
                <a:latin typeface="Huawei Sans"/>
                <a:ea typeface="方正兰亭黑简体"/>
                <a:cs typeface="Huawei Sans"/>
              </a:rPr>
              <a:t>家，中国有华为、飞腾获得了架构授权。</a:t>
            </a:r>
          </a:p>
        </p:txBody>
      </p:sp>
      <p:sp>
        <p:nvSpPr>
          <p:cNvPr id="4" name="Rectangle 3">
            <a:extLst>
              <a:ext uri="{FF2B5EF4-FFF2-40B4-BE49-F238E27FC236}">
                <a16:creationId xmlns:a16="http://schemas.microsoft.com/office/drawing/2014/main" id="{379CE706-1854-E688-EC12-7E13891BC41F}"/>
              </a:ext>
            </a:extLst>
          </p:cNvPr>
          <p:cNvSpPr/>
          <p:nvPr/>
        </p:nvSpPr>
        <p:spPr>
          <a:xfrm>
            <a:off x="1371600" y="3457575"/>
            <a:ext cx="1916113" cy="2159000"/>
          </a:xfrm>
          <a:prstGeom prst="rect">
            <a:avLst/>
          </a:prstGeom>
          <a:solidFill>
            <a:srgbClr val="00B0F0"/>
          </a:solidFill>
          <a:ln>
            <a:solidFill>
              <a:srgbClr val="00B0F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dirty="0">
              <a:solidFill>
                <a:prstClr val="white"/>
              </a:solidFill>
            </a:endParaRPr>
          </a:p>
        </p:txBody>
      </p:sp>
      <p:sp>
        <p:nvSpPr>
          <p:cNvPr id="5" name="TextBox 4">
            <a:extLst>
              <a:ext uri="{FF2B5EF4-FFF2-40B4-BE49-F238E27FC236}">
                <a16:creationId xmlns:a16="http://schemas.microsoft.com/office/drawing/2014/main" id="{FB1DDC3A-C97E-2551-2113-97D5D48AF819}"/>
              </a:ext>
            </a:extLst>
          </p:cNvPr>
          <p:cNvSpPr txBox="1"/>
          <p:nvPr/>
        </p:nvSpPr>
        <p:spPr>
          <a:xfrm>
            <a:off x="4013200" y="4948238"/>
            <a:ext cx="4368800" cy="742950"/>
          </a:xfrm>
          <a:prstGeom prst="rect">
            <a:avLst/>
          </a:prstGeom>
          <a:noFill/>
          <a:ln>
            <a:solidFill>
              <a:schemeClr val="bg1">
                <a:lumMod val="65000"/>
              </a:schemeClr>
            </a:solidFill>
          </a:ln>
        </p:spPr>
        <p:txBody>
          <a:bodyPr>
            <a:spAutoFit/>
          </a:bodyPr>
          <a:lstStyle/>
          <a:p>
            <a:pPr marL="214313" indent="-214313">
              <a:lnSpc>
                <a:spcPct val="150000"/>
              </a:lnSpc>
              <a:buSzPct val="60000"/>
              <a:buFont typeface="Wingdings" panose="05000000000000000000" pitchFamily="2" charset="2"/>
              <a:buChar char="l"/>
              <a:defRPr/>
            </a:pPr>
            <a:r>
              <a:rPr lang="zh-CN" altLang="en-US" sz="1500" dirty="0">
                <a:solidFill>
                  <a:prstClr val="black"/>
                </a:solidFill>
              </a:rPr>
              <a:t>只能按照</a:t>
            </a:r>
            <a:r>
              <a:rPr lang="en-US" altLang="zh-CN" sz="1500" dirty="0">
                <a:solidFill>
                  <a:prstClr val="black"/>
                </a:solidFill>
              </a:rPr>
              <a:t>ARM</a:t>
            </a:r>
            <a:r>
              <a:rPr lang="zh-CN" altLang="en-US" sz="1500" dirty="0">
                <a:solidFill>
                  <a:prstClr val="black"/>
                </a:solidFill>
              </a:rPr>
              <a:t>设计好的处理器类型、在指定的代工厂进行生产。</a:t>
            </a:r>
            <a:endParaRPr lang="en-US" altLang="zh-CN" sz="1500" dirty="0">
              <a:solidFill>
                <a:prstClr val="black"/>
              </a:solidFill>
            </a:endParaRPr>
          </a:p>
        </p:txBody>
      </p:sp>
      <p:cxnSp>
        <p:nvCxnSpPr>
          <p:cNvPr id="6" name="Straight Connector 5">
            <a:extLst>
              <a:ext uri="{FF2B5EF4-FFF2-40B4-BE49-F238E27FC236}">
                <a16:creationId xmlns:a16="http://schemas.microsoft.com/office/drawing/2014/main" id="{160F1D31-B727-EE65-DF7A-DD7DEFFDA9BF}"/>
              </a:ext>
            </a:extLst>
          </p:cNvPr>
          <p:cNvCxnSpPr/>
          <p:nvPr/>
        </p:nvCxnSpPr>
        <p:spPr>
          <a:xfrm flipV="1">
            <a:off x="1371600" y="4833938"/>
            <a:ext cx="191611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983C094-8D30-A88E-2F79-53186A9BA61E}"/>
              </a:ext>
            </a:extLst>
          </p:cNvPr>
          <p:cNvCxnSpPr/>
          <p:nvPr/>
        </p:nvCxnSpPr>
        <p:spPr>
          <a:xfrm>
            <a:off x="1371600" y="4157663"/>
            <a:ext cx="191611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15719" name="TextBox 7">
            <a:extLst>
              <a:ext uri="{FF2B5EF4-FFF2-40B4-BE49-F238E27FC236}">
                <a16:creationId xmlns:a16="http://schemas.microsoft.com/office/drawing/2014/main" id="{3209FC1B-9762-EFD5-D40D-6DAD2BFB6515}"/>
              </a:ext>
            </a:extLst>
          </p:cNvPr>
          <p:cNvSpPr txBox="1">
            <a:spLocks noChangeArrowheads="1"/>
          </p:cNvSpPr>
          <p:nvPr/>
        </p:nvSpPr>
        <p:spPr bwMode="auto">
          <a:xfrm>
            <a:off x="1295400" y="4945063"/>
            <a:ext cx="19843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500">
                <a:solidFill>
                  <a:schemeClr val="bg1"/>
                </a:solidFill>
              </a:rPr>
              <a:t>处理器优化包</a:t>
            </a:r>
            <a:r>
              <a:rPr lang="en-US" altLang="zh-CN" sz="1500">
                <a:solidFill>
                  <a:schemeClr val="bg1"/>
                </a:solidFill>
              </a:rPr>
              <a:t>/</a:t>
            </a:r>
            <a:r>
              <a:rPr lang="zh-CN" altLang="en-US" sz="1500">
                <a:solidFill>
                  <a:schemeClr val="bg1"/>
                </a:solidFill>
              </a:rPr>
              <a:t>物理</a:t>
            </a:r>
            <a:r>
              <a:rPr lang="en-US" altLang="zh-CN" sz="1500">
                <a:solidFill>
                  <a:schemeClr val="bg1"/>
                </a:solidFill>
              </a:rPr>
              <a:t>IP</a:t>
            </a:r>
            <a:r>
              <a:rPr lang="zh-CN" altLang="en-US" sz="1500">
                <a:solidFill>
                  <a:schemeClr val="bg1"/>
                </a:solidFill>
              </a:rPr>
              <a:t>包授权（</a:t>
            </a:r>
            <a:r>
              <a:rPr lang="en-US" altLang="zh-CN" sz="1500">
                <a:solidFill>
                  <a:schemeClr val="bg1"/>
                </a:solidFill>
              </a:rPr>
              <a:t>POP</a:t>
            </a:r>
            <a:r>
              <a:rPr lang="zh-CN" altLang="en-US" sz="1500">
                <a:solidFill>
                  <a:schemeClr val="bg1"/>
                </a:solidFill>
              </a:rPr>
              <a:t>）</a:t>
            </a:r>
          </a:p>
        </p:txBody>
      </p:sp>
      <p:sp>
        <p:nvSpPr>
          <p:cNvPr id="115720" name="TextBox 8">
            <a:extLst>
              <a:ext uri="{FF2B5EF4-FFF2-40B4-BE49-F238E27FC236}">
                <a16:creationId xmlns:a16="http://schemas.microsoft.com/office/drawing/2014/main" id="{5A7D0904-0914-F89C-1DEE-F0FB00FD003C}"/>
              </a:ext>
            </a:extLst>
          </p:cNvPr>
          <p:cNvSpPr txBox="1">
            <a:spLocks noChangeArrowheads="1"/>
          </p:cNvSpPr>
          <p:nvPr/>
        </p:nvSpPr>
        <p:spPr bwMode="auto">
          <a:xfrm>
            <a:off x="1497013" y="4351338"/>
            <a:ext cx="16668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500">
                <a:solidFill>
                  <a:schemeClr val="bg1"/>
                </a:solidFill>
              </a:rPr>
              <a:t>处理器授权</a:t>
            </a:r>
            <a:endParaRPr lang="en-US" altLang="zh-CN" sz="1500">
              <a:solidFill>
                <a:schemeClr val="bg1"/>
              </a:solidFill>
            </a:endParaRPr>
          </a:p>
        </p:txBody>
      </p:sp>
      <p:sp>
        <p:nvSpPr>
          <p:cNvPr id="115721" name="TextBox 9">
            <a:extLst>
              <a:ext uri="{FF2B5EF4-FFF2-40B4-BE49-F238E27FC236}">
                <a16:creationId xmlns:a16="http://schemas.microsoft.com/office/drawing/2014/main" id="{F46DA0D8-F498-454E-B54C-B1B76802F84C}"/>
              </a:ext>
            </a:extLst>
          </p:cNvPr>
          <p:cNvSpPr txBox="1">
            <a:spLocks noChangeArrowheads="1"/>
          </p:cNvSpPr>
          <p:nvPr/>
        </p:nvSpPr>
        <p:spPr bwMode="auto">
          <a:xfrm>
            <a:off x="1462088" y="3670300"/>
            <a:ext cx="16668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902030302020204" pitchFamily="66" charset="0"/>
              </a:defRPr>
            </a:lvl1pPr>
            <a:lvl2pPr marL="742950" indent="-285750">
              <a:spcBef>
                <a:spcPct val="20000"/>
              </a:spcBef>
              <a:buChar char="–"/>
              <a:defRPr sz="2400">
                <a:solidFill>
                  <a:schemeClr val="tx1"/>
                </a:solidFill>
                <a:latin typeface="Comic Sans MS" panose="030F0902030302020204" pitchFamily="66" charset="0"/>
              </a:defRPr>
            </a:lvl2pPr>
            <a:lvl3pPr marL="1143000" indent="-228600">
              <a:spcBef>
                <a:spcPct val="20000"/>
              </a:spcBef>
              <a:buChar char="•"/>
              <a:defRPr sz="2000">
                <a:solidFill>
                  <a:schemeClr val="tx1"/>
                </a:solidFill>
                <a:latin typeface="Comic Sans MS" panose="030F0902030302020204" pitchFamily="66" charset="0"/>
              </a:defRPr>
            </a:lvl3pPr>
            <a:lvl4pPr marL="1600200" indent="-228600">
              <a:spcBef>
                <a:spcPct val="20000"/>
              </a:spcBef>
              <a:buChar char="–"/>
              <a:defRPr sz="2000">
                <a:solidFill>
                  <a:schemeClr val="tx1"/>
                </a:solidFill>
                <a:latin typeface="Comic Sans MS" panose="030F0902030302020204" pitchFamily="66" charset="0"/>
              </a:defRPr>
            </a:lvl4pPr>
            <a:lvl5pPr marL="2057400" indent="-228600">
              <a:spcBef>
                <a:spcPct val="20000"/>
              </a:spcBef>
              <a:buChar char="»"/>
              <a:defRPr sz="2000">
                <a:solidFill>
                  <a:schemeClr val="tx1"/>
                </a:solidFill>
                <a:latin typeface="Comic Sans MS" panose="030F09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algn="ctr">
              <a:spcBef>
                <a:spcPct val="0"/>
              </a:spcBef>
              <a:buFontTx/>
              <a:buNone/>
            </a:pPr>
            <a:r>
              <a:rPr lang="zh-CN" altLang="en-US" sz="1500">
                <a:solidFill>
                  <a:schemeClr val="bg1"/>
                </a:solidFill>
              </a:rPr>
              <a:t>架构</a:t>
            </a:r>
            <a:r>
              <a:rPr lang="en-US" altLang="zh-CN" sz="1500">
                <a:solidFill>
                  <a:schemeClr val="bg1"/>
                </a:solidFill>
              </a:rPr>
              <a:t>/</a:t>
            </a:r>
            <a:r>
              <a:rPr lang="zh-CN" altLang="en-US" sz="1500">
                <a:solidFill>
                  <a:schemeClr val="bg1"/>
                </a:solidFill>
              </a:rPr>
              <a:t>指令集授权</a:t>
            </a:r>
          </a:p>
        </p:txBody>
      </p:sp>
      <p:sp>
        <p:nvSpPr>
          <p:cNvPr id="11" name="TextBox 10">
            <a:extLst>
              <a:ext uri="{FF2B5EF4-FFF2-40B4-BE49-F238E27FC236}">
                <a16:creationId xmlns:a16="http://schemas.microsoft.com/office/drawing/2014/main" id="{2B7A7F16-047A-A3CE-6966-C44B5B3AC3E8}"/>
              </a:ext>
            </a:extLst>
          </p:cNvPr>
          <p:cNvSpPr txBox="1"/>
          <p:nvPr/>
        </p:nvSpPr>
        <p:spPr>
          <a:xfrm>
            <a:off x="4013200" y="4194175"/>
            <a:ext cx="4368800" cy="742950"/>
          </a:xfrm>
          <a:prstGeom prst="rect">
            <a:avLst/>
          </a:prstGeom>
          <a:noFill/>
          <a:ln>
            <a:solidFill>
              <a:schemeClr val="bg1">
                <a:lumMod val="65000"/>
              </a:schemeClr>
            </a:solidFill>
          </a:ln>
        </p:spPr>
        <p:txBody>
          <a:bodyPr>
            <a:spAutoFit/>
          </a:bodyPr>
          <a:lstStyle/>
          <a:p>
            <a:pPr marL="214313" indent="-214313">
              <a:lnSpc>
                <a:spcPct val="150000"/>
              </a:lnSpc>
              <a:buSzPct val="60000"/>
              <a:buFont typeface="Wingdings" panose="05000000000000000000" pitchFamily="2" charset="2"/>
              <a:buChar char="l"/>
              <a:defRPr/>
            </a:pPr>
            <a:r>
              <a:rPr lang="zh-CN" altLang="en-US" sz="1500" dirty="0">
                <a:solidFill>
                  <a:prstClr val="black"/>
                </a:solidFill>
              </a:rPr>
              <a:t>提供</a:t>
            </a:r>
            <a:r>
              <a:rPr lang="en-US" altLang="zh-CN" sz="1500" dirty="0">
                <a:solidFill>
                  <a:prstClr val="black"/>
                </a:solidFill>
              </a:rPr>
              <a:t>RTL</a:t>
            </a:r>
            <a:r>
              <a:rPr lang="zh-CN" altLang="en-US" sz="1500" dirty="0">
                <a:solidFill>
                  <a:prstClr val="black"/>
                </a:solidFill>
              </a:rPr>
              <a:t>代码，处理器的核数、缓存可以自己配置。自主设计主频、工艺、代工厂等。</a:t>
            </a:r>
            <a:endParaRPr lang="en-US" altLang="zh-CN" sz="1500" dirty="0">
              <a:solidFill>
                <a:prstClr val="black"/>
              </a:solidFill>
            </a:endParaRPr>
          </a:p>
        </p:txBody>
      </p:sp>
      <p:sp>
        <p:nvSpPr>
          <p:cNvPr id="12" name="TextBox 11">
            <a:extLst>
              <a:ext uri="{FF2B5EF4-FFF2-40B4-BE49-F238E27FC236}">
                <a16:creationId xmlns:a16="http://schemas.microsoft.com/office/drawing/2014/main" id="{ABE4F189-5D85-D5C6-8B86-FB3DC4CD4BAF}"/>
              </a:ext>
            </a:extLst>
          </p:cNvPr>
          <p:cNvSpPr txBox="1"/>
          <p:nvPr/>
        </p:nvSpPr>
        <p:spPr>
          <a:xfrm>
            <a:off x="4013200" y="3457575"/>
            <a:ext cx="4368800" cy="742950"/>
          </a:xfrm>
          <a:prstGeom prst="rect">
            <a:avLst/>
          </a:prstGeom>
          <a:solidFill>
            <a:schemeClr val="bg1"/>
          </a:solidFill>
          <a:ln>
            <a:solidFill>
              <a:schemeClr val="bg1">
                <a:lumMod val="65000"/>
              </a:schemeClr>
            </a:solidFill>
          </a:ln>
        </p:spPr>
        <p:txBody>
          <a:bodyPr>
            <a:spAutoFit/>
          </a:bodyPr>
          <a:lstStyle/>
          <a:p>
            <a:pPr marL="214313" indent="-214313">
              <a:lnSpc>
                <a:spcPct val="150000"/>
              </a:lnSpc>
              <a:buSzPct val="60000"/>
              <a:buFont typeface="Wingdings" panose="05000000000000000000" pitchFamily="2" charset="2"/>
              <a:buChar char="l"/>
              <a:defRPr/>
            </a:pPr>
            <a:r>
              <a:rPr lang="zh-CN" altLang="en-US" sz="1500" dirty="0">
                <a:solidFill>
                  <a:prstClr val="black"/>
                </a:solidFill>
              </a:rPr>
              <a:t>按照所授权的架构和指令集（如</a:t>
            </a:r>
            <a:r>
              <a:rPr lang="en-US" altLang="zh-CN" sz="1500" dirty="0">
                <a:solidFill>
                  <a:prstClr val="black"/>
                </a:solidFill>
              </a:rPr>
              <a:t>ARMv8</a:t>
            </a:r>
            <a:r>
              <a:rPr lang="zh-CN" altLang="en-US" sz="1500" dirty="0">
                <a:solidFill>
                  <a:prstClr val="black"/>
                </a:solidFill>
              </a:rPr>
              <a:t>）自行编写代码、设计芯片。</a:t>
            </a:r>
            <a:endParaRPr lang="en-US" altLang="zh-CN" sz="1500" dirty="0">
              <a:solidFill>
                <a:prstClr val="black"/>
              </a:solidFill>
            </a:endParaRPr>
          </a:p>
        </p:txBody>
      </p:sp>
      <p:sp>
        <p:nvSpPr>
          <p:cNvPr id="13" name="Right Arrow 12">
            <a:extLst>
              <a:ext uri="{FF2B5EF4-FFF2-40B4-BE49-F238E27FC236}">
                <a16:creationId xmlns:a16="http://schemas.microsoft.com/office/drawing/2014/main" id="{09FB44AB-1A9B-BDDF-9280-C1C821EF6B5B}"/>
              </a:ext>
            </a:extLst>
          </p:cNvPr>
          <p:cNvSpPr/>
          <p:nvPr/>
        </p:nvSpPr>
        <p:spPr>
          <a:xfrm>
            <a:off x="3370263" y="3733800"/>
            <a:ext cx="509587" cy="166688"/>
          </a:xfrm>
          <a:prstGeom prst="rightArrow">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solidFill>
                <a:prstClr val="white"/>
              </a:solidFill>
            </a:endParaRPr>
          </a:p>
        </p:txBody>
      </p:sp>
      <p:sp>
        <p:nvSpPr>
          <p:cNvPr id="14" name="Right Arrow 13">
            <a:extLst>
              <a:ext uri="{FF2B5EF4-FFF2-40B4-BE49-F238E27FC236}">
                <a16:creationId xmlns:a16="http://schemas.microsoft.com/office/drawing/2014/main" id="{3EDD683A-A681-8B79-8EE5-9113EFB12F7C}"/>
              </a:ext>
            </a:extLst>
          </p:cNvPr>
          <p:cNvSpPr/>
          <p:nvPr/>
        </p:nvSpPr>
        <p:spPr>
          <a:xfrm>
            <a:off x="3368675" y="4465638"/>
            <a:ext cx="509588" cy="166687"/>
          </a:xfrm>
          <a:prstGeom prst="rightArrow">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solidFill>
                <a:prstClr val="white"/>
              </a:solidFill>
            </a:endParaRPr>
          </a:p>
        </p:txBody>
      </p:sp>
      <p:sp>
        <p:nvSpPr>
          <p:cNvPr id="15" name="Right Arrow 14">
            <a:extLst>
              <a:ext uri="{FF2B5EF4-FFF2-40B4-BE49-F238E27FC236}">
                <a16:creationId xmlns:a16="http://schemas.microsoft.com/office/drawing/2014/main" id="{057322F6-E512-6422-0E15-A1606BBEA5CE}"/>
              </a:ext>
            </a:extLst>
          </p:cNvPr>
          <p:cNvSpPr/>
          <p:nvPr/>
        </p:nvSpPr>
        <p:spPr>
          <a:xfrm>
            <a:off x="3367088" y="5121275"/>
            <a:ext cx="511175" cy="165100"/>
          </a:xfrm>
          <a:prstGeom prst="rightArrow">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solidFill>
                <a:prstClr val="white"/>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2">
            <a:extLst>
              <a:ext uri="{FF2B5EF4-FFF2-40B4-BE49-F238E27FC236}">
                <a16:creationId xmlns:a16="http://schemas.microsoft.com/office/drawing/2014/main" id="{7094666E-8485-6628-3BDC-7AF8BEF93359}"/>
              </a:ext>
            </a:extLst>
          </p:cNvPr>
          <p:cNvSpPr>
            <a:spLocks noGrp="1" noChangeArrowheads="1"/>
          </p:cNvSpPr>
          <p:nvPr>
            <p:ph type="title"/>
          </p:nvPr>
        </p:nvSpPr>
        <p:spPr>
          <a:xfrm>
            <a:off x="549275" y="447675"/>
            <a:ext cx="8045450" cy="485775"/>
          </a:xfrm>
        </p:spPr>
        <p:txBody>
          <a:bodyPr/>
          <a:lstStyle/>
          <a:p>
            <a:r>
              <a:rPr lang="en-US" altLang="zh-CN">
                <a:latin typeface="Huawei Sans"/>
                <a:ea typeface="方正兰亭黑简体"/>
                <a:cs typeface="方正兰亭黑简体"/>
              </a:rPr>
              <a:t>ARM</a:t>
            </a:r>
            <a:r>
              <a:rPr>
                <a:latin typeface="Huawei Sans"/>
                <a:ea typeface="方正兰亭黑简体"/>
                <a:cs typeface="方正兰亭黑简体"/>
              </a:rPr>
              <a:t>服务器处理器的优势</a:t>
            </a:r>
          </a:p>
        </p:txBody>
      </p:sp>
      <p:sp>
        <p:nvSpPr>
          <p:cNvPr id="117762" name="文本占位符 3">
            <a:extLst>
              <a:ext uri="{FF2B5EF4-FFF2-40B4-BE49-F238E27FC236}">
                <a16:creationId xmlns:a16="http://schemas.microsoft.com/office/drawing/2014/main" id="{924B8BE9-2D14-BB19-1F87-CDB5AD4A914B}"/>
              </a:ext>
            </a:extLst>
          </p:cNvPr>
          <p:cNvSpPr>
            <a:spLocks noGrp="1" noChangeArrowheads="1"/>
          </p:cNvSpPr>
          <p:nvPr>
            <p:ph type="body" sz="quarter" idx="10"/>
          </p:nvPr>
        </p:nvSpPr>
        <p:spPr>
          <a:xfrm>
            <a:off x="549275" y="1692275"/>
            <a:ext cx="8045450" cy="3660775"/>
          </a:xfrm>
        </p:spPr>
        <p:txBody>
          <a:bodyPr/>
          <a:lstStyle/>
          <a:p>
            <a:pPr marL="215900" indent="-215900">
              <a:spcBef>
                <a:spcPts val="450"/>
              </a:spcBef>
            </a:pPr>
            <a:r>
              <a:rPr lang="zh-CN" altLang="en-US">
                <a:latin typeface="Huawei Sans"/>
                <a:ea typeface="方正兰亭黑简体"/>
                <a:cs typeface="Huawei Sans"/>
              </a:rPr>
              <a:t>低功耗一直以来都是</a:t>
            </a:r>
            <a:r>
              <a:rPr lang="en-US" altLang="zh-CN">
                <a:latin typeface="Huawei Sans"/>
                <a:ea typeface="方正兰亭黑简体"/>
                <a:cs typeface="Huawei Sans"/>
              </a:rPr>
              <a:t>ARM</a:t>
            </a:r>
            <a:r>
              <a:rPr lang="zh-CN" altLang="en-US">
                <a:latin typeface="Huawei Sans"/>
                <a:ea typeface="方正兰亭黑简体"/>
                <a:cs typeface="Huawei Sans"/>
              </a:rPr>
              <a:t>架构芯片最大的优势；</a:t>
            </a:r>
            <a:endParaRPr lang="en-US" altLang="zh-CN">
              <a:latin typeface="Huawei Sans"/>
              <a:ea typeface="方正兰亭黑简体"/>
              <a:cs typeface="Huawei Sans"/>
            </a:endParaRPr>
          </a:p>
          <a:p>
            <a:pPr marL="215900" indent="-215900">
              <a:spcBef>
                <a:spcPts val="450"/>
              </a:spcBef>
            </a:pPr>
            <a:r>
              <a:rPr lang="en-US" altLang="zh-CN">
                <a:latin typeface="Huawei Sans"/>
                <a:ea typeface="方正兰亭黑简体"/>
                <a:cs typeface="Huawei Sans"/>
              </a:rPr>
              <a:t>ARM</a:t>
            </a:r>
            <a:r>
              <a:rPr lang="zh-CN" altLang="en-US">
                <a:latin typeface="Huawei Sans"/>
                <a:ea typeface="方正兰亭黑简体"/>
                <a:cs typeface="Huawei Sans"/>
              </a:rPr>
              <a:t>架构的芯片在成本、集成度方面也有较大的优势；</a:t>
            </a:r>
            <a:endParaRPr lang="en-US" altLang="zh-CN">
              <a:latin typeface="Huawei Sans"/>
              <a:ea typeface="方正兰亭黑简体"/>
              <a:cs typeface="Huawei Sans"/>
            </a:endParaRPr>
          </a:p>
          <a:p>
            <a:pPr marL="215900" indent="-215900">
              <a:spcBef>
                <a:spcPts val="450"/>
              </a:spcBef>
            </a:pPr>
            <a:r>
              <a:rPr lang="zh-CN" altLang="en-US">
                <a:latin typeface="Huawei Sans"/>
                <a:ea typeface="方正兰亭黑简体"/>
                <a:cs typeface="Huawei Sans"/>
              </a:rPr>
              <a:t>端、边、云全场景同构互联与协同；</a:t>
            </a:r>
            <a:endParaRPr lang="en-US" altLang="zh-CN">
              <a:latin typeface="Huawei Sans"/>
              <a:ea typeface="方正兰亭黑简体"/>
              <a:cs typeface="Huawei Sans"/>
            </a:endParaRPr>
          </a:p>
          <a:p>
            <a:pPr marL="215900" indent="-215900">
              <a:spcBef>
                <a:spcPts val="450"/>
              </a:spcBef>
            </a:pPr>
            <a:r>
              <a:rPr lang="zh-CN" altLang="en-US">
                <a:latin typeface="Huawei Sans"/>
                <a:ea typeface="方正兰亭黑简体"/>
                <a:cs typeface="Huawei Sans"/>
              </a:rPr>
              <a:t>更高的并发处理效率；</a:t>
            </a:r>
            <a:endParaRPr lang="en-US" altLang="zh-CN">
              <a:latin typeface="Huawei Sans"/>
              <a:ea typeface="方正兰亭黑简体"/>
              <a:cs typeface="Huawei Sans"/>
            </a:endParaRPr>
          </a:p>
          <a:p>
            <a:pPr marL="215900" indent="-215900">
              <a:spcBef>
                <a:spcPts val="450"/>
              </a:spcBef>
            </a:pPr>
            <a:r>
              <a:rPr lang="zh-CN" altLang="en-US">
                <a:latin typeface="Huawei Sans"/>
                <a:ea typeface="方正兰亭黑简体"/>
                <a:cs typeface="Huawei Sans"/>
              </a:rPr>
              <a:t>多元化的市场供应。</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a:extLst>
              <a:ext uri="{FF2B5EF4-FFF2-40B4-BE49-F238E27FC236}">
                <a16:creationId xmlns:a16="http://schemas.microsoft.com/office/drawing/2014/main" id="{A5748701-E2A3-302E-96F7-F3A42AD9FED7}"/>
              </a:ext>
            </a:extLst>
          </p:cNvPr>
          <p:cNvSpPr/>
          <p:nvPr/>
        </p:nvSpPr>
        <p:spPr>
          <a:xfrm>
            <a:off x="4895850" y="3749675"/>
            <a:ext cx="3375025" cy="1566863"/>
          </a:xfrm>
          <a:prstGeom prst="roundRect">
            <a:avLst>
              <a:gd name="adj" fmla="val 3274"/>
            </a:avLst>
          </a:prstGeom>
          <a:solidFill>
            <a:schemeClr val="bg1">
              <a:lumMod val="85000"/>
            </a:schemeClr>
          </a:solidFill>
          <a:effectLst>
            <a:outerShdw blurRad="50800" dist="38100" dir="2700000" algn="tl"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anchor="ctr"/>
          <a:lstStyle/>
          <a:p>
            <a:pPr algn="ctr">
              <a:defRPr/>
            </a:pPr>
            <a:endParaRPr lang="zh-CN" altLang="en-US" sz="1500"/>
          </a:p>
        </p:txBody>
      </p:sp>
      <p:sp>
        <p:nvSpPr>
          <p:cNvPr id="16" name="圆角矩形 15">
            <a:extLst>
              <a:ext uri="{FF2B5EF4-FFF2-40B4-BE49-F238E27FC236}">
                <a16:creationId xmlns:a16="http://schemas.microsoft.com/office/drawing/2014/main" id="{972FC2EF-F9AA-C217-966B-9E97F4788907}"/>
              </a:ext>
            </a:extLst>
          </p:cNvPr>
          <p:cNvSpPr/>
          <p:nvPr/>
        </p:nvSpPr>
        <p:spPr>
          <a:xfrm>
            <a:off x="842963" y="3763963"/>
            <a:ext cx="3375025" cy="1566862"/>
          </a:xfrm>
          <a:prstGeom prst="roundRect">
            <a:avLst>
              <a:gd name="adj" fmla="val 3274"/>
            </a:avLst>
          </a:prstGeom>
          <a:solidFill>
            <a:schemeClr val="bg1">
              <a:lumMod val="85000"/>
            </a:schemeClr>
          </a:solidFill>
          <a:effectLst>
            <a:outerShdw blurRad="50800" dist="38100" dir="2700000" algn="tl"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anchor="ctr"/>
          <a:lstStyle/>
          <a:p>
            <a:pPr algn="ctr">
              <a:defRPr/>
            </a:pPr>
            <a:endParaRPr lang="zh-CN" altLang="en-US" sz="1500"/>
          </a:p>
        </p:txBody>
      </p:sp>
      <p:pic>
        <p:nvPicPr>
          <p:cNvPr id="119811" name="图片 2">
            <a:extLst>
              <a:ext uri="{FF2B5EF4-FFF2-40B4-BE49-F238E27FC236}">
                <a16:creationId xmlns:a16="http://schemas.microsoft.com/office/drawing/2014/main" id="{78487C79-CF7C-3009-F3A0-A94D85BC84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825" y="1924050"/>
            <a:ext cx="2835275"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01510511-88D1-DD05-6BE8-6001ACCE6D48}"/>
              </a:ext>
            </a:extLst>
          </p:cNvPr>
          <p:cNvSpPr/>
          <p:nvPr/>
        </p:nvSpPr>
        <p:spPr>
          <a:xfrm>
            <a:off x="917575" y="3781425"/>
            <a:ext cx="3089275" cy="309563"/>
          </a:xfrm>
          <a:prstGeom prst="rect">
            <a:avLst/>
          </a:prstGeom>
        </p:spPr>
        <p:txBody>
          <a:bodyPr>
            <a:spAutoFit/>
          </a:bodyPr>
          <a:lstStyle/>
          <a:p>
            <a:pPr marL="216000" indent="-216000">
              <a:lnSpc>
                <a:spcPct val="150000"/>
              </a:lnSpc>
              <a:buSzPct val="80000"/>
              <a:buFont typeface="Wingdings" panose="05000000000000000000" pitchFamily="2" charset="2"/>
              <a:buChar char="l"/>
              <a:defRPr/>
            </a:pPr>
            <a:endParaRPr lang="zh-CN" altLang="en-US" sz="1050" dirty="0">
              <a:latin typeface="Huawei Sans" panose="020C0503030203020204" pitchFamily="34" charset="0"/>
              <a:ea typeface="方正兰亭黑简体" panose="02000000000000000000" pitchFamily="2" charset="-122"/>
              <a:cs typeface="+mn-ea"/>
              <a:sym typeface="+mn-lt"/>
            </a:endParaRPr>
          </a:p>
        </p:txBody>
      </p:sp>
      <p:sp>
        <p:nvSpPr>
          <p:cNvPr id="7" name="矩形 6">
            <a:extLst>
              <a:ext uri="{FF2B5EF4-FFF2-40B4-BE49-F238E27FC236}">
                <a16:creationId xmlns:a16="http://schemas.microsoft.com/office/drawing/2014/main" id="{4347ECCC-D135-1392-8D3D-073F43FE9C3A}"/>
              </a:ext>
            </a:extLst>
          </p:cNvPr>
          <p:cNvSpPr/>
          <p:nvPr/>
        </p:nvSpPr>
        <p:spPr>
          <a:xfrm>
            <a:off x="5256213" y="3362325"/>
            <a:ext cx="2846387" cy="401638"/>
          </a:xfrm>
          <a:prstGeom prst="rect">
            <a:avLst/>
          </a:prstGeom>
          <a:noFill/>
        </p:spPr>
        <p:txBody>
          <a:bodyPr>
            <a:spAutoFit/>
          </a:bodyPr>
          <a:lstStyle/>
          <a:p>
            <a:pPr algn="ctr">
              <a:lnSpc>
                <a:spcPct val="150000"/>
              </a:lnSpc>
              <a:defRPr/>
            </a:pPr>
            <a:r>
              <a:rPr lang="en-US" altLang="zh-CN" sz="1500" dirty="0">
                <a:latin typeface="Huawei Sans" panose="020C0503030203020204" pitchFamily="34" charset="0"/>
                <a:ea typeface="方正兰亭黑简体" panose="02000000000000000000" pitchFamily="2" charset="-122"/>
                <a:cs typeface="+mn-ea"/>
                <a:sym typeface="+mn-lt"/>
              </a:rPr>
              <a:t>7nm</a:t>
            </a:r>
            <a:r>
              <a:rPr lang="zh-CN" altLang="en-US" sz="1500" dirty="0">
                <a:latin typeface="Huawei Sans" panose="020C0503030203020204" pitchFamily="34" charset="0"/>
                <a:ea typeface="方正兰亭黑简体" panose="02000000000000000000" pitchFamily="2" charset="-122"/>
                <a:cs typeface="+mn-ea"/>
                <a:sym typeface="+mn-lt"/>
              </a:rPr>
              <a:t>制程，数据中心</a:t>
            </a:r>
            <a:r>
              <a:rPr lang="en-US" altLang="zh-CN" sz="1500" dirty="0">
                <a:latin typeface="Huawei Sans" panose="020C0503030203020204" pitchFamily="34" charset="0"/>
                <a:ea typeface="方正兰亭黑简体" panose="02000000000000000000" pitchFamily="2" charset="-122"/>
                <a:cs typeface="+mn-ea"/>
                <a:sym typeface="+mn-lt"/>
              </a:rPr>
              <a:t>ARM</a:t>
            </a:r>
            <a:r>
              <a:rPr lang="zh-CN" altLang="en-US" sz="1500" dirty="0">
                <a:latin typeface="Huawei Sans" panose="020C0503030203020204" pitchFamily="34" charset="0"/>
                <a:ea typeface="方正兰亭黑简体" panose="02000000000000000000" pitchFamily="2" charset="-122"/>
                <a:cs typeface="+mn-ea"/>
                <a:sym typeface="+mn-lt"/>
              </a:rPr>
              <a:t>处理</a:t>
            </a:r>
          </a:p>
        </p:txBody>
      </p:sp>
      <p:pic>
        <p:nvPicPr>
          <p:cNvPr id="119814" name="图片 7">
            <a:extLst>
              <a:ext uri="{FF2B5EF4-FFF2-40B4-BE49-F238E27FC236}">
                <a16:creationId xmlns:a16="http://schemas.microsoft.com/office/drawing/2014/main" id="{A03407E9-1944-E73D-256B-DD84CED6BD9B}"/>
              </a:ext>
            </a:extLst>
          </p:cNvPr>
          <p:cNvPicPr>
            <a:picLocks noChangeAspect="1" noChangeArrowheads="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097463" y="2003425"/>
            <a:ext cx="2833687" cy="159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extLst>
              <a:ext uri="{FF2B5EF4-FFF2-40B4-BE49-F238E27FC236}">
                <a16:creationId xmlns:a16="http://schemas.microsoft.com/office/drawing/2014/main" id="{7E93F0D3-182B-5055-BF01-D7DEDE0F00CC}"/>
              </a:ext>
            </a:extLst>
          </p:cNvPr>
          <p:cNvSpPr/>
          <p:nvPr/>
        </p:nvSpPr>
        <p:spPr>
          <a:xfrm>
            <a:off x="4997450" y="3781425"/>
            <a:ext cx="3281363" cy="309563"/>
          </a:xfrm>
          <a:prstGeom prst="rect">
            <a:avLst/>
          </a:prstGeom>
        </p:spPr>
        <p:txBody>
          <a:bodyPr>
            <a:spAutoFit/>
          </a:bodyPr>
          <a:lstStyle/>
          <a:p>
            <a:pPr marL="216000" indent="-216000">
              <a:lnSpc>
                <a:spcPct val="150000"/>
              </a:lnSpc>
              <a:buSzPct val="80000"/>
              <a:buFont typeface="Wingdings" panose="05000000000000000000" pitchFamily="2" charset="2"/>
              <a:buChar char="l"/>
              <a:defRPr/>
            </a:pPr>
            <a:endParaRPr lang="zh-CN" altLang="en-US" sz="1050" dirty="0">
              <a:latin typeface="Huawei Sans" panose="020C0503030203020204" pitchFamily="34" charset="0"/>
              <a:ea typeface="方正兰亭黑简体" panose="02000000000000000000" pitchFamily="2" charset="-122"/>
              <a:cs typeface="+mn-ea"/>
              <a:sym typeface="+mn-lt"/>
            </a:endParaRPr>
          </a:p>
        </p:txBody>
      </p:sp>
      <p:sp>
        <p:nvSpPr>
          <p:cNvPr id="14" name="文本框 13">
            <a:extLst>
              <a:ext uri="{FF2B5EF4-FFF2-40B4-BE49-F238E27FC236}">
                <a16:creationId xmlns:a16="http://schemas.microsoft.com/office/drawing/2014/main" id="{DC7C1182-9A7A-3644-C9F3-ACB93DFB6DD0}"/>
              </a:ext>
            </a:extLst>
          </p:cNvPr>
          <p:cNvSpPr txBox="1"/>
          <p:nvPr/>
        </p:nvSpPr>
        <p:spPr bwMode="auto">
          <a:xfrm>
            <a:off x="2706688" y="3068638"/>
            <a:ext cx="1225550" cy="274637"/>
          </a:xfrm>
          <a:prstGeom prst="rect">
            <a:avLst/>
          </a:prstGeom>
          <a:noFill/>
          <a:ln w="9525" algn="ctr">
            <a:noFill/>
            <a:miter lim="800000"/>
            <a:headEnd/>
            <a:tailEnd/>
          </a:ln>
        </p:spPr>
        <p:txBody>
          <a:bodyPr lIns="65852" tIns="32926" rIns="65852" bIns="32926" anchor="ctr">
            <a:spAutoFit/>
          </a:bodyPr>
          <a:lstStyle/>
          <a:p>
            <a:pPr>
              <a:defRPr/>
            </a:pPr>
            <a:r>
              <a:rPr lang="zh-CN" altLang="en-US" sz="1350" dirty="0">
                <a:latin typeface="Huawei Sans" panose="020C0503030203020204" pitchFamily="34" charset="0"/>
                <a:ea typeface="方正兰亭黑简体" panose="02000000000000000000" pitchFamily="2" charset="-122"/>
              </a:rPr>
              <a:t>鲲鹏</a:t>
            </a:r>
            <a:r>
              <a:rPr lang="en-US" altLang="zh-CN" sz="1350" dirty="0">
                <a:latin typeface="Huawei Sans" panose="020C0503030203020204" pitchFamily="34" charset="0"/>
                <a:ea typeface="方正兰亭黑简体" panose="02000000000000000000" pitchFamily="2" charset="-122"/>
              </a:rPr>
              <a:t>916</a:t>
            </a:r>
            <a:endParaRPr lang="zh-CN" altLang="en-US" sz="1350" dirty="0">
              <a:latin typeface="Huawei Sans" panose="020C0503030203020204" pitchFamily="34" charset="0"/>
              <a:ea typeface="方正兰亭黑简体" panose="02000000000000000000" pitchFamily="2" charset="-122"/>
            </a:endParaRPr>
          </a:p>
        </p:txBody>
      </p:sp>
      <p:sp>
        <p:nvSpPr>
          <p:cNvPr id="15" name="文本框 14">
            <a:extLst>
              <a:ext uri="{FF2B5EF4-FFF2-40B4-BE49-F238E27FC236}">
                <a16:creationId xmlns:a16="http://schemas.microsoft.com/office/drawing/2014/main" id="{0D21ED6B-CB13-B9FC-62B4-27D00BCA32C2}"/>
              </a:ext>
            </a:extLst>
          </p:cNvPr>
          <p:cNvSpPr txBox="1"/>
          <p:nvPr/>
        </p:nvSpPr>
        <p:spPr bwMode="auto">
          <a:xfrm>
            <a:off x="6783388" y="3073400"/>
            <a:ext cx="1225550" cy="274638"/>
          </a:xfrm>
          <a:prstGeom prst="rect">
            <a:avLst/>
          </a:prstGeom>
          <a:noFill/>
          <a:ln w="9525" algn="ctr">
            <a:noFill/>
            <a:miter lim="800000"/>
            <a:headEnd/>
            <a:tailEnd/>
          </a:ln>
        </p:spPr>
        <p:txBody>
          <a:bodyPr lIns="65852" tIns="32926" rIns="65852" bIns="32926" anchor="ctr">
            <a:spAutoFit/>
          </a:bodyPr>
          <a:lstStyle/>
          <a:p>
            <a:pPr>
              <a:defRPr/>
            </a:pPr>
            <a:r>
              <a:rPr lang="zh-CN" altLang="en-US" sz="1350" dirty="0">
                <a:latin typeface="Huawei Sans" panose="020C0503030203020204" pitchFamily="34" charset="0"/>
                <a:ea typeface="方正兰亭黑简体" panose="02000000000000000000" pitchFamily="2" charset="-122"/>
              </a:rPr>
              <a:t>鲲鹏</a:t>
            </a:r>
            <a:r>
              <a:rPr lang="en-US" altLang="zh-CN" sz="1350" dirty="0">
                <a:latin typeface="Huawei Sans" panose="020C0503030203020204" pitchFamily="34" charset="0"/>
                <a:ea typeface="方正兰亭黑简体" panose="02000000000000000000" pitchFamily="2" charset="-122"/>
              </a:rPr>
              <a:t>920</a:t>
            </a:r>
            <a:endParaRPr lang="zh-CN" altLang="en-US" sz="1350" dirty="0">
              <a:latin typeface="Huawei Sans" panose="020C0503030203020204" pitchFamily="34" charset="0"/>
              <a:ea typeface="方正兰亭黑简体" panose="02000000000000000000" pitchFamily="2" charset="-122"/>
            </a:endParaRPr>
          </a:p>
        </p:txBody>
      </p:sp>
      <p:sp>
        <p:nvSpPr>
          <p:cNvPr id="18" name="矩形 17">
            <a:extLst>
              <a:ext uri="{FF2B5EF4-FFF2-40B4-BE49-F238E27FC236}">
                <a16:creationId xmlns:a16="http://schemas.microsoft.com/office/drawing/2014/main" id="{5800EAEC-A1CF-C666-1FBD-CC6DE39EDCB4}"/>
              </a:ext>
            </a:extLst>
          </p:cNvPr>
          <p:cNvSpPr/>
          <p:nvPr/>
        </p:nvSpPr>
        <p:spPr>
          <a:xfrm>
            <a:off x="1238250" y="3427413"/>
            <a:ext cx="2544763" cy="323850"/>
          </a:xfrm>
          <a:prstGeom prst="rect">
            <a:avLst/>
          </a:prstGeom>
        </p:spPr>
        <p:txBody>
          <a:bodyPr wrap="none">
            <a:spAutoFit/>
          </a:bodyPr>
          <a:lstStyle/>
          <a:p>
            <a:pPr>
              <a:defRPr/>
            </a:pPr>
            <a:r>
              <a:rPr lang="zh-CN" altLang="en-US" sz="1500" dirty="0">
                <a:latin typeface="Huawei Sans" panose="020C0503030203020204" pitchFamily="34" charset="0"/>
                <a:ea typeface="方正兰亭黑简体" panose="02000000000000000000" pitchFamily="2" charset="-122"/>
                <a:cs typeface="+mn-ea"/>
                <a:sym typeface="+mn-lt"/>
              </a:rPr>
              <a:t>支持多路互联的</a:t>
            </a:r>
            <a:r>
              <a:rPr lang="en-US" altLang="zh-CN" sz="1500" dirty="0">
                <a:latin typeface="Huawei Sans" panose="020C0503030203020204" pitchFamily="34" charset="0"/>
                <a:ea typeface="方正兰亭黑简体" panose="02000000000000000000" pitchFamily="2" charset="-122"/>
                <a:cs typeface="+mn-ea"/>
                <a:sym typeface="+mn-lt"/>
              </a:rPr>
              <a:t>ARM</a:t>
            </a:r>
            <a:r>
              <a:rPr lang="zh-CN" altLang="en-US" sz="1500" dirty="0">
                <a:latin typeface="Huawei Sans" panose="020C0503030203020204" pitchFamily="34" charset="0"/>
                <a:ea typeface="方正兰亭黑简体" panose="02000000000000000000" pitchFamily="2" charset="-122"/>
                <a:cs typeface="+mn-ea"/>
                <a:sym typeface="+mn-lt"/>
              </a:rPr>
              <a:t>处理器</a:t>
            </a:r>
            <a:r>
              <a:rPr lang="en-US" altLang="zh-CN" sz="1500" dirty="0">
                <a:latin typeface="Huawei Sans" panose="020C0503030203020204" pitchFamily="34" charset="0"/>
                <a:ea typeface="方正兰亭黑简体" panose="02000000000000000000" pitchFamily="2" charset="-122"/>
                <a:cs typeface="+mn-ea"/>
                <a:sym typeface="+mn-lt"/>
              </a:rPr>
              <a:t> </a:t>
            </a:r>
            <a:endParaRPr lang="zh-CN" altLang="en-US" sz="1500" dirty="0">
              <a:latin typeface="Huawei Sans" panose="020C0503030203020204" pitchFamily="34" charset="0"/>
              <a:ea typeface="方正兰亭黑简体" panose="02000000000000000000" pitchFamily="2" charset="-122"/>
              <a:cs typeface="+mn-ea"/>
              <a:sym typeface="+mn-lt"/>
            </a:endParaRPr>
          </a:p>
        </p:txBody>
      </p:sp>
      <p:sp>
        <p:nvSpPr>
          <p:cNvPr id="119819" name="标题 1">
            <a:extLst>
              <a:ext uri="{FF2B5EF4-FFF2-40B4-BE49-F238E27FC236}">
                <a16:creationId xmlns:a16="http://schemas.microsoft.com/office/drawing/2014/main" id="{C100FA27-D42D-E6E7-3A3A-2E6D8C8ADA99}"/>
              </a:ext>
            </a:extLst>
          </p:cNvPr>
          <p:cNvSpPr>
            <a:spLocks noGrp="1" noChangeArrowheads="1"/>
          </p:cNvSpPr>
          <p:nvPr>
            <p:ph type="title"/>
          </p:nvPr>
        </p:nvSpPr>
        <p:spPr>
          <a:xfrm>
            <a:off x="549275" y="447675"/>
            <a:ext cx="8045450" cy="485775"/>
          </a:xfrm>
        </p:spPr>
        <p:txBody>
          <a:bodyPr/>
          <a:lstStyle/>
          <a:p>
            <a:r>
              <a:rPr>
                <a:latin typeface="Huawei Sans"/>
                <a:ea typeface="方正兰亭黑简体"/>
                <a:cs typeface="方正兰亭黑简体"/>
                <a:sym typeface="+mn-lt"/>
              </a:rPr>
              <a:t>鲲鹏处理器</a:t>
            </a:r>
            <a:endParaRPr>
              <a:latin typeface="Huawei Sans"/>
              <a:ea typeface="方正兰亭黑简体"/>
              <a:cs typeface="方正兰亭黑简体"/>
            </a:endParaRPr>
          </a:p>
        </p:txBody>
      </p:sp>
      <p:sp>
        <p:nvSpPr>
          <p:cNvPr id="12" name="文本框 11">
            <a:extLst>
              <a:ext uri="{FF2B5EF4-FFF2-40B4-BE49-F238E27FC236}">
                <a16:creationId xmlns:a16="http://schemas.microsoft.com/office/drawing/2014/main" id="{BD5070E8-9135-DD54-52C5-9455A58DD323}"/>
              </a:ext>
            </a:extLst>
          </p:cNvPr>
          <p:cNvSpPr txBox="1"/>
          <p:nvPr/>
        </p:nvSpPr>
        <p:spPr>
          <a:xfrm>
            <a:off x="930275" y="3794125"/>
            <a:ext cx="2868613" cy="1520825"/>
          </a:xfrm>
          <a:prstGeom prst="rect">
            <a:avLst/>
          </a:prstGeom>
          <a:noFill/>
        </p:spPr>
        <p:txBody>
          <a:bodyPr wrap="none">
            <a:spAutoFit/>
          </a:bodyPr>
          <a:lstStyle/>
          <a:p>
            <a:pPr marL="216000" indent="-216000">
              <a:lnSpc>
                <a:spcPct val="150000"/>
              </a:lnSpc>
              <a:buSzPct val="80000"/>
              <a:buFont typeface="Wingdings" panose="05000000000000000000" pitchFamily="2" charset="2"/>
              <a:buChar char="l"/>
              <a:defRPr/>
            </a:pPr>
            <a:r>
              <a:rPr lang="en-US" altLang="zh-CN" sz="1050" dirty="0">
                <a:latin typeface="Huawei Sans" panose="020C0503030203020204" pitchFamily="34" charset="0"/>
                <a:ea typeface="方正兰亭黑简体" panose="02000000000000000000" pitchFamily="2" charset="-122"/>
                <a:cs typeface="+mn-ea"/>
                <a:sym typeface="+mn-lt"/>
              </a:rPr>
              <a:t>32</a:t>
            </a:r>
            <a:r>
              <a:rPr lang="zh-CN" altLang="en-US" sz="1050" dirty="0">
                <a:latin typeface="Huawei Sans" panose="020C0503030203020204" pitchFamily="34" charset="0"/>
                <a:ea typeface="方正兰亭黑简体" panose="02000000000000000000" pitchFamily="2" charset="-122"/>
                <a:cs typeface="+mn-ea"/>
                <a:sym typeface="+mn-lt"/>
              </a:rPr>
              <a:t>核，</a:t>
            </a:r>
            <a:r>
              <a:rPr lang="en-US" altLang="zh-CN" sz="1050" dirty="0">
                <a:latin typeface="Huawei Sans" panose="020C0503030203020204" pitchFamily="34" charset="0"/>
                <a:ea typeface="方正兰亭黑简体" panose="02000000000000000000" pitchFamily="2" charset="-122"/>
                <a:cs typeface="+mn-ea"/>
                <a:sym typeface="+mn-lt"/>
              </a:rPr>
              <a:t>2.4 GHz</a:t>
            </a:r>
            <a:r>
              <a:rPr lang="zh-CN" altLang="en-US" sz="1050" dirty="0">
                <a:latin typeface="Huawei Sans" panose="020C0503030203020204" pitchFamily="34" charset="0"/>
                <a:ea typeface="方正兰亭黑简体" panose="02000000000000000000" pitchFamily="2" charset="-122"/>
                <a:cs typeface="+mn-ea"/>
                <a:sym typeface="+mn-lt"/>
              </a:rPr>
              <a:t>主频</a:t>
            </a:r>
          </a:p>
          <a:p>
            <a:pPr marL="216000" indent="-216000">
              <a:lnSpc>
                <a:spcPct val="150000"/>
              </a:lnSpc>
              <a:buSzPct val="80000"/>
              <a:buFont typeface="Wingdings" panose="05000000000000000000" pitchFamily="2" charset="2"/>
              <a:buChar char="l"/>
              <a:defRPr/>
            </a:pPr>
            <a:r>
              <a:rPr lang="en-US" altLang="zh-CN" sz="1050" dirty="0">
                <a:latin typeface="Huawei Sans" panose="020C0503030203020204" pitchFamily="34" charset="0"/>
                <a:ea typeface="方正兰亭黑简体" panose="02000000000000000000" pitchFamily="2" charset="-122"/>
                <a:cs typeface="+mn-ea"/>
                <a:sym typeface="+mn-lt"/>
              </a:rPr>
              <a:t>SPECint</a:t>
            </a:r>
            <a:r>
              <a:rPr lang="zh-CN" altLang="en-US" sz="1050" dirty="0">
                <a:latin typeface="Huawei Sans" panose="020C0503030203020204" pitchFamily="34" charset="0"/>
                <a:ea typeface="方正兰亭黑简体" panose="02000000000000000000" pitchFamily="2" charset="-122"/>
                <a:cs typeface="+mn-ea"/>
                <a:sym typeface="+mn-lt"/>
              </a:rPr>
              <a:t>性能匹配业界中端，功耗低至</a:t>
            </a:r>
            <a:r>
              <a:rPr lang="en-US" altLang="zh-CN" sz="1050" dirty="0">
                <a:latin typeface="Huawei Sans" panose="020C0503030203020204" pitchFamily="34" charset="0"/>
                <a:ea typeface="方正兰亭黑简体" panose="02000000000000000000" pitchFamily="2" charset="-122"/>
                <a:cs typeface="+mn-ea"/>
                <a:sym typeface="+mn-lt"/>
              </a:rPr>
              <a:t>75 W</a:t>
            </a:r>
          </a:p>
          <a:p>
            <a:pPr marL="216000" indent="-216000">
              <a:lnSpc>
                <a:spcPct val="150000"/>
              </a:lnSpc>
              <a:buSzPct val="80000"/>
              <a:buFont typeface="Wingdings" panose="05000000000000000000" pitchFamily="2" charset="2"/>
              <a:buChar char="l"/>
              <a:defRPr/>
            </a:pPr>
            <a:r>
              <a:rPr lang="zh-CN" altLang="en-US" sz="1050" dirty="0">
                <a:latin typeface="Huawei Sans" panose="020C0503030203020204" pitchFamily="34" charset="0"/>
                <a:ea typeface="方正兰亭黑简体" panose="02000000000000000000" pitchFamily="2" charset="-122"/>
                <a:cs typeface="+mn-ea"/>
                <a:sym typeface="+mn-lt"/>
              </a:rPr>
              <a:t>支持</a:t>
            </a:r>
            <a:r>
              <a:rPr lang="en-US" altLang="zh-CN" sz="1050" dirty="0">
                <a:latin typeface="Huawei Sans" panose="020C0503030203020204" pitchFamily="34" charset="0"/>
                <a:ea typeface="方正兰亭黑简体" panose="02000000000000000000" pitchFamily="2" charset="-122"/>
                <a:cs typeface="+mn-ea"/>
                <a:sym typeface="+mn-lt"/>
              </a:rPr>
              <a:t>4</a:t>
            </a:r>
            <a:r>
              <a:rPr lang="zh-CN" altLang="en-US" sz="1050" dirty="0">
                <a:latin typeface="Huawei Sans" panose="020C0503030203020204" pitchFamily="34" charset="0"/>
                <a:ea typeface="方正兰亭黑简体" panose="02000000000000000000" pitchFamily="2" charset="-122"/>
                <a:cs typeface="+mn-ea"/>
                <a:sym typeface="+mn-lt"/>
              </a:rPr>
              <a:t>通道</a:t>
            </a:r>
            <a:r>
              <a:rPr lang="en-US" altLang="zh-CN" sz="1050" dirty="0">
                <a:latin typeface="Huawei Sans" panose="020C0503030203020204" pitchFamily="34" charset="0"/>
                <a:ea typeface="方正兰亭黑简体" panose="02000000000000000000" pitchFamily="2" charset="-122"/>
                <a:cs typeface="+mn-ea"/>
                <a:sym typeface="+mn-lt"/>
              </a:rPr>
              <a:t>DDR4</a:t>
            </a:r>
            <a:r>
              <a:rPr lang="zh-CN" altLang="en-US" sz="1050" dirty="0">
                <a:latin typeface="Huawei Sans" panose="020C0503030203020204" pitchFamily="34" charset="0"/>
                <a:ea typeface="方正兰亭黑简体" panose="02000000000000000000" pitchFamily="2" charset="-122"/>
                <a:cs typeface="+mn-ea"/>
                <a:sym typeface="+mn-lt"/>
              </a:rPr>
              <a:t>控制器</a:t>
            </a:r>
          </a:p>
          <a:p>
            <a:pPr marL="216000" indent="-216000">
              <a:lnSpc>
                <a:spcPct val="150000"/>
              </a:lnSpc>
              <a:buSzPct val="80000"/>
              <a:buFont typeface="Wingdings" panose="05000000000000000000" pitchFamily="2" charset="2"/>
              <a:buChar char="l"/>
              <a:defRPr/>
            </a:pPr>
            <a:r>
              <a:rPr lang="zh-CN" altLang="en-US" sz="1050" dirty="0">
                <a:latin typeface="Huawei Sans" panose="020C0503030203020204" pitchFamily="34" charset="0"/>
                <a:ea typeface="方正兰亭黑简体" panose="02000000000000000000" pitchFamily="2" charset="-122"/>
                <a:cs typeface="+mn-ea"/>
                <a:sym typeface="+mn-lt"/>
              </a:rPr>
              <a:t>支持</a:t>
            </a:r>
            <a:r>
              <a:rPr lang="en-US" altLang="zh-CN" sz="1050" dirty="0">
                <a:latin typeface="Huawei Sans" panose="020C0503030203020204" pitchFamily="34" charset="0"/>
                <a:ea typeface="方正兰亭黑简体" panose="02000000000000000000" pitchFamily="2" charset="-122"/>
                <a:cs typeface="+mn-ea"/>
                <a:sym typeface="+mn-lt"/>
              </a:rPr>
              <a:t>PCI-e 3.0</a:t>
            </a:r>
            <a:r>
              <a:rPr lang="zh-CN" altLang="en-US" sz="1050" dirty="0">
                <a:latin typeface="Huawei Sans" panose="020C0503030203020204" pitchFamily="34" charset="0"/>
                <a:ea typeface="方正兰亭黑简体" panose="02000000000000000000" pitchFamily="2" charset="-122"/>
                <a:cs typeface="+mn-ea"/>
                <a:sym typeface="+mn-lt"/>
              </a:rPr>
              <a:t>和</a:t>
            </a:r>
            <a:r>
              <a:rPr lang="en-US" altLang="zh-CN" sz="1050" dirty="0">
                <a:latin typeface="Huawei Sans" panose="020C0503030203020204" pitchFamily="34" charset="0"/>
                <a:ea typeface="方正兰亭黑简体" panose="02000000000000000000" pitchFamily="2" charset="-122"/>
                <a:cs typeface="+mn-ea"/>
                <a:sym typeface="+mn-lt"/>
              </a:rPr>
              <a:t>SAS/SATA 3.0</a:t>
            </a:r>
          </a:p>
          <a:p>
            <a:pPr marL="216000" indent="-216000">
              <a:lnSpc>
                <a:spcPct val="150000"/>
              </a:lnSpc>
              <a:buSzPct val="80000"/>
              <a:buFont typeface="Wingdings" panose="05000000000000000000" pitchFamily="2" charset="2"/>
              <a:buChar char="l"/>
              <a:defRPr/>
            </a:pPr>
            <a:r>
              <a:rPr lang="zh-CN" altLang="en-US" sz="1050" dirty="0">
                <a:latin typeface="Huawei Sans" panose="020C0503030203020204" pitchFamily="34" charset="0"/>
                <a:ea typeface="方正兰亭黑简体" panose="02000000000000000000" pitchFamily="2" charset="-122"/>
                <a:cs typeface="+mn-ea"/>
                <a:sym typeface="+mn-lt"/>
              </a:rPr>
              <a:t>集成板载</a:t>
            </a:r>
            <a:r>
              <a:rPr lang="en-US" altLang="zh-CN" sz="1050" dirty="0">
                <a:latin typeface="Huawei Sans" panose="020C0503030203020204" pitchFamily="34" charset="0"/>
                <a:ea typeface="方正兰亭黑简体" panose="02000000000000000000" pitchFamily="2" charset="-122"/>
                <a:cs typeface="+mn-ea"/>
                <a:sym typeface="+mn-lt"/>
              </a:rPr>
              <a:t>GE/10 GE</a:t>
            </a:r>
            <a:r>
              <a:rPr lang="zh-CN" altLang="en-US" sz="1050" dirty="0">
                <a:latin typeface="Huawei Sans" panose="020C0503030203020204" pitchFamily="34" charset="0"/>
                <a:ea typeface="方正兰亭黑简体" panose="02000000000000000000" pitchFamily="2" charset="-122"/>
                <a:cs typeface="+mn-ea"/>
                <a:sym typeface="+mn-lt"/>
              </a:rPr>
              <a:t>网络</a:t>
            </a:r>
            <a:endParaRPr lang="en-US" altLang="zh-CN" sz="1050" dirty="0">
              <a:latin typeface="Huawei Sans" panose="020C0503030203020204" pitchFamily="34" charset="0"/>
              <a:ea typeface="方正兰亭黑简体" panose="02000000000000000000" pitchFamily="2" charset="-122"/>
              <a:cs typeface="+mn-ea"/>
              <a:sym typeface="+mn-lt"/>
            </a:endParaRPr>
          </a:p>
          <a:p>
            <a:pPr marL="216000" indent="-216000">
              <a:lnSpc>
                <a:spcPct val="150000"/>
              </a:lnSpc>
              <a:buSzPct val="80000"/>
              <a:buFont typeface="Wingdings" panose="05000000000000000000" pitchFamily="2" charset="2"/>
              <a:buChar char="l"/>
              <a:defRPr/>
            </a:pPr>
            <a:r>
              <a:rPr lang="zh-CN" altLang="en-US" sz="1050" dirty="0">
                <a:latin typeface="Huawei Sans" panose="020C0503030203020204" pitchFamily="34" charset="0"/>
                <a:ea typeface="方正兰亭黑简体" panose="02000000000000000000" pitchFamily="2" charset="-122"/>
                <a:cs typeface="+mn-ea"/>
                <a:sym typeface="+mn-lt"/>
              </a:rPr>
              <a:t>支持</a:t>
            </a:r>
            <a:r>
              <a:rPr lang="en-US" altLang="zh-CN" sz="1050" dirty="0">
                <a:latin typeface="Huawei Sans" panose="020C0503030203020204" pitchFamily="34" charset="0"/>
                <a:ea typeface="方正兰亭黑简体" panose="02000000000000000000" pitchFamily="2" charset="-122"/>
                <a:cs typeface="+mn-ea"/>
                <a:sym typeface="+mn-lt"/>
              </a:rPr>
              <a:t>2</a:t>
            </a:r>
            <a:r>
              <a:rPr lang="zh-CN" altLang="en-US" sz="1050" dirty="0">
                <a:latin typeface="Huawei Sans" panose="020C0503030203020204" pitchFamily="34" charset="0"/>
                <a:ea typeface="方正兰亭黑简体" panose="02000000000000000000" pitchFamily="2" charset="-122"/>
                <a:cs typeface="+mn-ea"/>
                <a:sym typeface="+mn-lt"/>
              </a:rPr>
              <a:t>路互联</a:t>
            </a:r>
            <a:endParaRPr lang="zh-CN" altLang="en-US" sz="1050" dirty="0"/>
          </a:p>
        </p:txBody>
      </p:sp>
      <p:sp>
        <p:nvSpPr>
          <p:cNvPr id="13" name="文本框 12">
            <a:extLst>
              <a:ext uri="{FF2B5EF4-FFF2-40B4-BE49-F238E27FC236}">
                <a16:creationId xmlns:a16="http://schemas.microsoft.com/office/drawing/2014/main" id="{3955F479-4E9C-B33F-427E-C2C3B289AF22}"/>
              </a:ext>
            </a:extLst>
          </p:cNvPr>
          <p:cNvSpPr txBox="1"/>
          <p:nvPr/>
        </p:nvSpPr>
        <p:spPr>
          <a:xfrm>
            <a:off x="4994275" y="3763963"/>
            <a:ext cx="3009900" cy="1520825"/>
          </a:xfrm>
          <a:prstGeom prst="rect">
            <a:avLst/>
          </a:prstGeom>
          <a:noFill/>
        </p:spPr>
        <p:txBody>
          <a:bodyPr wrap="none">
            <a:spAutoFit/>
          </a:bodyPr>
          <a:lstStyle/>
          <a:p>
            <a:pPr marL="216000" indent="-216000">
              <a:lnSpc>
                <a:spcPct val="150000"/>
              </a:lnSpc>
              <a:buSzPct val="80000"/>
              <a:buFont typeface="Wingdings" panose="05000000000000000000" pitchFamily="2" charset="2"/>
              <a:buChar char="l"/>
              <a:defRPr/>
            </a:pPr>
            <a:r>
              <a:rPr lang="zh-CN" altLang="en-US" sz="1050" dirty="0">
                <a:latin typeface="Huawei Sans" panose="020C0503030203020204" pitchFamily="34" charset="0"/>
                <a:ea typeface="方正兰亭黑简体" panose="02000000000000000000" pitchFamily="2" charset="-122"/>
                <a:cs typeface="+mn-ea"/>
                <a:sym typeface="+mn-lt"/>
              </a:rPr>
              <a:t>计算核数提升</a:t>
            </a:r>
            <a:r>
              <a:rPr lang="en-US" altLang="zh-CN" sz="1050" dirty="0">
                <a:latin typeface="Huawei Sans" panose="020C0503030203020204" pitchFamily="34" charset="0"/>
                <a:ea typeface="方正兰亭黑简体" panose="02000000000000000000" pitchFamily="2" charset="-122"/>
                <a:cs typeface="+mn-ea"/>
                <a:sym typeface="+mn-lt"/>
              </a:rPr>
              <a:t>1</a:t>
            </a:r>
            <a:r>
              <a:rPr lang="zh-CN" altLang="en-US" sz="1050" dirty="0">
                <a:latin typeface="Huawei Sans" panose="020C0503030203020204" pitchFamily="34" charset="0"/>
                <a:ea typeface="方正兰亭黑简体" panose="02000000000000000000" pitchFamily="2" charset="-122"/>
                <a:cs typeface="+mn-ea"/>
                <a:sym typeface="+mn-lt"/>
              </a:rPr>
              <a:t>倍，最多</a:t>
            </a:r>
            <a:r>
              <a:rPr lang="en-US" altLang="zh-CN" sz="1050" dirty="0">
                <a:latin typeface="Huawei Sans" panose="020C0503030203020204" pitchFamily="34" charset="0"/>
                <a:ea typeface="方正兰亭黑简体" panose="02000000000000000000" pitchFamily="2" charset="-122"/>
                <a:cs typeface="+mn-ea"/>
                <a:sym typeface="+mn-lt"/>
              </a:rPr>
              <a:t>64</a:t>
            </a:r>
            <a:r>
              <a:rPr lang="zh-CN" altLang="en-US" sz="1050" dirty="0">
                <a:latin typeface="Huawei Sans" panose="020C0503030203020204" pitchFamily="34" charset="0"/>
                <a:ea typeface="方正兰亭黑简体" panose="02000000000000000000" pitchFamily="2" charset="-122"/>
                <a:cs typeface="+mn-ea"/>
                <a:sym typeface="+mn-lt"/>
              </a:rPr>
              <a:t>核</a:t>
            </a:r>
          </a:p>
          <a:p>
            <a:pPr marL="216000" indent="-216000">
              <a:lnSpc>
                <a:spcPct val="150000"/>
              </a:lnSpc>
              <a:buSzPct val="80000"/>
              <a:buFont typeface="Wingdings" panose="05000000000000000000" pitchFamily="2" charset="2"/>
              <a:buChar char="l"/>
              <a:defRPr/>
            </a:pPr>
            <a:r>
              <a:rPr lang="en-US" altLang="zh-CN" sz="1050" dirty="0">
                <a:latin typeface="Huawei Sans" panose="020C0503030203020204" pitchFamily="34" charset="0"/>
                <a:ea typeface="方正兰亭黑简体" panose="02000000000000000000" pitchFamily="2" charset="-122"/>
                <a:cs typeface="+mn-ea"/>
                <a:sym typeface="+mn-lt"/>
              </a:rPr>
              <a:t>SPECint</a:t>
            </a:r>
            <a:r>
              <a:rPr lang="zh-CN" altLang="en-US" sz="1050" dirty="0">
                <a:latin typeface="Huawei Sans" panose="020C0503030203020204" pitchFamily="34" charset="0"/>
                <a:ea typeface="方正兰亭黑简体" panose="02000000000000000000" pitchFamily="2" charset="-122"/>
                <a:cs typeface="+mn-ea"/>
                <a:sym typeface="+mn-lt"/>
              </a:rPr>
              <a:t>性能提升超过</a:t>
            </a:r>
            <a:r>
              <a:rPr lang="en-US" altLang="zh-CN" sz="1050" dirty="0">
                <a:latin typeface="Huawei Sans" panose="020C0503030203020204" pitchFamily="34" charset="0"/>
                <a:ea typeface="方正兰亭黑简体" panose="02000000000000000000" pitchFamily="2" charset="-122"/>
                <a:cs typeface="+mn-ea"/>
                <a:sym typeface="+mn-lt"/>
              </a:rPr>
              <a:t>2</a:t>
            </a:r>
            <a:r>
              <a:rPr lang="zh-CN" altLang="en-US" sz="1050" dirty="0">
                <a:latin typeface="Huawei Sans" panose="020C0503030203020204" pitchFamily="34" charset="0"/>
                <a:ea typeface="方正兰亭黑简体" panose="02000000000000000000" pitchFamily="2" charset="-122"/>
                <a:cs typeface="+mn-ea"/>
                <a:sym typeface="+mn-lt"/>
              </a:rPr>
              <a:t>倍</a:t>
            </a:r>
          </a:p>
          <a:p>
            <a:pPr marL="216000" indent="-216000">
              <a:lnSpc>
                <a:spcPct val="150000"/>
              </a:lnSpc>
              <a:buSzPct val="80000"/>
              <a:buFont typeface="Wingdings" panose="05000000000000000000" pitchFamily="2" charset="2"/>
              <a:buChar char="l"/>
              <a:defRPr/>
            </a:pPr>
            <a:r>
              <a:rPr lang="zh-CN" altLang="en-US" sz="1050" dirty="0">
                <a:latin typeface="Huawei Sans" panose="020C0503030203020204" pitchFamily="34" charset="0"/>
                <a:ea typeface="方正兰亭黑简体" panose="02000000000000000000" pitchFamily="2" charset="-122"/>
                <a:cs typeface="+mn-ea"/>
                <a:sym typeface="+mn-lt"/>
              </a:rPr>
              <a:t>内存通道数提升</a:t>
            </a:r>
            <a:r>
              <a:rPr lang="en-US" altLang="zh-CN" sz="1050" dirty="0">
                <a:latin typeface="Huawei Sans" panose="020C0503030203020204" pitchFamily="34" charset="0"/>
                <a:ea typeface="方正兰亭黑简体" panose="02000000000000000000" pitchFamily="2" charset="-122"/>
                <a:cs typeface="+mn-ea"/>
                <a:sym typeface="+mn-lt"/>
              </a:rPr>
              <a:t>1</a:t>
            </a:r>
            <a:r>
              <a:rPr lang="zh-CN" altLang="en-US" sz="1050" dirty="0">
                <a:latin typeface="Huawei Sans" panose="020C0503030203020204" pitchFamily="34" charset="0"/>
                <a:ea typeface="方正兰亭黑简体" panose="02000000000000000000" pitchFamily="2" charset="-122"/>
                <a:cs typeface="+mn-ea"/>
                <a:sym typeface="+mn-lt"/>
              </a:rPr>
              <a:t>倍，支持</a:t>
            </a:r>
            <a:r>
              <a:rPr lang="en-US" altLang="zh-CN" sz="1050" dirty="0">
                <a:latin typeface="Huawei Sans" panose="020C0503030203020204" pitchFamily="34" charset="0"/>
                <a:ea typeface="方正兰亭黑简体" panose="02000000000000000000" pitchFamily="2" charset="-122"/>
                <a:cs typeface="+mn-ea"/>
                <a:sym typeface="+mn-lt"/>
              </a:rPr>
              <a:t>8</a:t>
            </a:r>
            <a:r>
              <a:rPr lang="zh-CN" altLang="en-US" sz="1050" dirty="0">
                <a:latin typeface="Huawei Sans" panose="020C0503030203020204" pitchFamily="34" charset="0"/>
                <a:ea typeface="方正兰亭黑简体" panose="02000000000000000000" pitchFamily="2" charset="-122"/>
                <a:cs typeface="+mn-ea"/>
                <a:sym typeface="+mn-lt"/>
              </a:rPr>
              <a:t>通道</a:t>
            </a:r>
            <a:r>
              <a:rPr lang="en-US" altLang="zh-CN" sz="1050" dirty="0">
                <a:latin typeface="Huawei Sans" panose="020C0503030203020204" pitchFamily="34" charset="0"/>
                <a:ea typeface="方正兰亭黑简体" panose="02000000000000000000" pitchFamily="2" charset="-122"/>
                <a:cs typeface="+mn-ea"/>
                <a:sym typeface="+mn-lt"/>
              </a:rPr>
              <a:t>DDR4</a:t>
            </a:r>
            <a:r>
              <a:rPr lang="zh-CN" altLang="en-US" sz="1050" dirty="0">
                <a:latin typeface="Huawei Sans" panose="020C0503030203020204" pitchFamily="34" charset="0"/>
                <a:ea typeface="方正兰亭黑简体" panose="02000000000000000000" pitchFamily="2" charset="-122"/>
                <a:cs typeface="+mn-ea"/>
                <a:sym typeface="+mn-lt"/>
              </a:rPr>
              <a:t>控制器</a:t>
            </a:r>
          </a:p>
          <a:p>
            <a:pPr marL="216000" indent="-216000">
              <a:lnSpc>
                <a:spcPct val="150000"/>
              </a:lnSpc>
              <a:buSzPct val="80000"/>
              <a:buFont typeface="Wingdings" panose="05000000000000000000" pitchFamily="2" charset="2"/>
              <a:buChar char="l"/>
              <a:defRPr/>
            </a:pPr>
            <a:r>
              <a:rPr lang="zh-CN" altLang="en-US" sz="1050" dirty="0">
                <a:latin typeface="Huawei Sans" panose="020C0503030203020204" pitchFamily="34" charset="0"/>
                <a:ea typeface="方正兰亭黑简体" panose="02000000000000000000" pitchFamily="2" charset="-122"/>
                <a:cs typeface="+mn-ea"/>
                <a:sym typeface="+mn-lt"/>
              </a:rPr>
              <a:t>支持</a:t>
            </a:r>
            <a:r>
              <a:rPr lang="en-US" altLang="zh-CN" sz="1050" dirty="0">
                <a:latin typeface="Huawei Sans" panose="020C0503030203020204" pitchFamily="34" charset="0"/>
                <a:ea typeface="方正兰亭黑简体" panose="02000000000000000000" pitchFamily="2" charset="-122"/>
                <a:cs typeface="+mn-ea"/>
                <a:sym typeface="+mn-lt"/>
              </a:rPr>
              <a:t>PCI-e 4.0</a:t>
            </a:r>
            <a:r>
              <a:rPr lang="zh-CN" altLang="en-US" sz="1050" dirty="0">
                <a:latin typeface="Huawei Sans" panose="020C0503030203020204" pitchFamily="34" charset="0"/>
                <a:ea typeface="方正兰亭黑简体" panose="02000000000000000000" pitchFamily="2" charset="-122"/>
                <a:cs typeface="+mn-ea"/>
                <a:sym typeface="+mn-lt"/>
              </a:rPr>
              <a:t>和</a:t>
            </a:r>
            <a:r>
              <a:rPr lang="en-US" altLang="zh-CN" sz="1050" dirty="0">
                <a:latin typeface="Huawei Sans" panose="020C0503030203020204" pitchFamily="34" charset="0"/>
                <a:ea typeface="方正兰亭黑简体" panose="02000000000000000000" pitchFamily="2" charset="-122"/>
                <a:cs typeface="+mn-ea"/>
                <a:sym typeface="+mn-lt"/>
              </a:rPr>
              <a:t>CCIX</a:t>
            </a:r>
          </a:p>
          <a:p>
            <a:pPr marL="216000" indent="-216000">
              <a:lnSpc>
                <a:spcPct val="150000"/>
              </a:lnSpc>
              <a:buSzPct val="80000"/>
              <a:buFont typeface="Wingdings" panose="05000000000000000000" pitchFamily="2" charset="2"/>
              <a:buChar char="l"/>
              <a:defRPr/>
            </a:pPr>
            <a:r>
              <a:rPr lang="zh-CN" altLang="en-US" sz="1050" dirty="0">
                <a:latin typeface="Huawei Sans" panose="020C0503030203020204" pitchFamily="34" charset="0"/>
                <a:ea typeface="方正兰亭黑简体" panose="02000000000000000000" pitchFamily="2" charset="-122"/>
                <a:cs typeface="+mn-ea"/>
                <a:sym typeface="+mn-lt"/>
              </a:rPr>
              <a:t>集成板载</a:t>
            </a:r>
            <a:r>
              <a:rPr lang="en-US" altLang="zh-CN" sz="1050" dirty="0">
                <a:latin typeface="Huawei Sans" panose="020C0503030203020204" pitchFamily="34" charset="0"/>
                <a:ea typeface="方正兰亭黑简体" panose="02000000000000000000" pitchFamily="2" charset="-122"/>
                <a:cs typeface="+mn-ea"/>
                <a:sym typeface="+mn-lt"/>
              </a:rPr>
              <a:t>100 GE</a:t>
            </a:r>
            <a:r>
              <a:rPr lang="zh-CN" altLang="en-US" sz="1050" dirty="0">
                <a:latin typeface="Huawei Sans" panose="020C0503030203020204" pitchFamily="34" charset="0"/>
                <a:ea typeface="方正兰亭黑简体" panose="02000000000000000000" pitchFamily="2" charset="-122"/>
                <a:cs typeface="+mn-ea"/>
                <a:sym typeface="+mn-lt"/>
              </a:rPr>
              <a:t>网络和加密、压缩加速引擎</a:t>
            </a:r>
          </a:p>
          <a:p>
            <a:pPr marL="216000" indent="-216000">
              <a:lnSpc>
                <a:spcPct val="150000"/>
              </a:lnSpc>
              <a:buSzPct val="80000"/>
              <a:buFont typeface="Wingdings" panose="05000000000000000000" pitchFamily="2" charset="2"/>
              <a:buChar char="l"/>
              <a:defRPr/>
            </a:pPr>
            <a:r>
              <a:rPr lang="zh-CN" altLang="en-US" sz="1050" dirty="0">
                <a:latin typeface="Huawei Sans" panose="020C0503030203020204" pitchFamily="34" charset="0"/>
                <a:ea typeface="方正兰亭黑简体" panose="02000000000000000000" pitchFamily="2" charset="-122"/>
                <a:cs typeface="+mn-ea"/>
                <a:sym typeface="+mn-lt"/>
              </a:rPr>
              <a:t>支持</a:t>
            </a:r>
            <a:r>
              <a:rPr lang="en-US" altLang="zh-CN" sz="1050" dirty="0">
                <a:latin typeface="Huawei Sans" panose="020C0503030203020204" pitchFamily="34" charset="0"/>
                <a:ea typeface="方正兰亭黑简体" panose="02000000000000000000" pitchFamily="2" charset="-122"/>
                <a:cs typeface="+mn-ea"/>
                <a:sym typeface="+mn-lt"/>
              </a:rPr>
              <a:t>2</a:t>
            </a:r>
            <a:r>
              <a:rPr lang="zh-CN" altLang="en-US" sz="1050" dirty="0">
                <a:latin typeface="Huawei Sans" panose="020C0503030203020204" pitchFamily="34" charset="0"/>
                <a:ea typeface="方正兰亭黑简体" panose="02000000000000000000" pitchFamily="2" charset="-122"/>
                <a:cs typeface="+mn-ea"/>
                <a:sym typeface="+mn-lt"/>
              </a:rPr>
              <a:t>路或</a:t>
            </a:r>
            <a:r>
              <a:rPr lang="en-US" altLang="zh-CN" sz="1050" dirty="0">
                <a:latin typeface="Huawei Sans" panose="020C0503030203020204" pitchFamily="34" charset="0"/>
                <a:ea typeface="方正兰亭黑简体" panose="02000000000000000000" pitchFamily="2" charset="-122"/>
                <a:cs typeface="+mn-ea"/>
                <a:sym typeface="+mn-lt"/>
              </a:rPr>
              <a:t>4</a:t>
            </a:r>
            <a:r>
              <a:rPr lang="zh-CN" altLang="en-US" sz="1050" dirty="0">
                <a:latin typeface="Huawei Sans" panose="020C0503030203020204" pitchFamily="34" charset="0"/>
                <a:ea typeface="方正兰亭黑简体" panose="02000000000000000000" pitchFamily="2" charset="-122"/>
                <a:cs typeface="+mn-ea"/>
                <a:sym typeface="+mn-lt"/>
              </a:rPr>
              <a:t>路互联</a:t>
            </a:r>
            <a:endParaRPr lang="zh-CN" alt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7EB912B0-C466-AC8C-F5DD-B09B249215D5}"/>
              </a:ext>
            </a:extLst>
          </p:cNvPr>
          <p:cNvSpPr/>
          <p:nvPr/>
        </p:nvSpPr>
        <p:spPr>
          <a:xfrm flipH="1">
            <a:off x="5370513" y="1931988"/>
            <a:ext cx="2017712" cy="323850"/>
          </a:xfrm>
          <a:prstGeom prst="rect">
            <a:avLst/>
          </a:prstGeom>
        </p:spPr>
        <p:txBody>
          <a:bodyPr>
            <a:spAutoFit/>
          </a:bodyPr>
          <a:lstStyle/>
          <a:p>
            <a:pPr algn="ctr" defTabSz="415242">
              <a:defRPr/>
            </a:pPr>
            <a:r>
              <a:rPr lang="en-US" altLang="zh-CN" sz="1499" dirty="0">
                <a:latin typeface="Huawei Sans" panose="020C0503030203020204" pitchFamily="34" charset="0"/>
                <a:ea typeface="方正兰亭黑简体" panose="02000000000000000000" pitchFamily="2" charset="-122"/>
              </a:rPr>
              <a:t>17</a:t>
            </a:r>
            <a:r>
              <a:rPr lang="zh-CN" altLang="en-US" sz="1499" dirty="0">
                <a:latin typeface="Huawei Sans" panose="020C0503030203020204" pitchFamily="34" charset="0"/>
                <a:ea typeface="方正兰亭黑简体" panose="02000000000000000000" pitchFamily="2" charset="-122"/>
              </a:rPr>
              <a:t>年的工程工艺积累</a:t>
            </a:r>
          </a:p>
        </p:txBody>
      </p:sp>
      <p:sp>
        <p:nvSpPr>
          <p:cNvPr id="41" name="圆角矩形 18">
            <a:extLst>
              <a:ext uri="{FF2B5EF4-FFF2-40B4-BE49-F238E27FC236}">
                <a16:creationId xmlns:a16="http://schemas.microsoft.com/office/drawing/2014/main" id="{2784BFBD-4E5F-D9A7-D713-D9DE7CC328B9}"/>
              </a:ext>
            </a:extLst>
          </p:cNvPr>
          <p:cNvSpPr/>
          <p:nvPr/>
        </p:nvSpPr>
        <p:spPr>
          <a:xfrm>
            <a:off x="4551363" y="2763838"/>
            <a:ext cx="603250" cy="601662"/>
          </a:xfrm>
          <a:prstGeom prst="roundRect">
            <a:avLst>
              <a:gd name="adj" fmla="val 50000"/>
            </a:avLst>
          </a:prstGeom>
          <a:solidFill>
            <a:srgbClr val="0B9CE5"/>
          </a:solidFill>
          <a:ln>
            <a:noFill/>
          </a:ln>
          <a:effectLst/>
        </p:spPr>
        <p:txBody>
          <a:bodyPr lIns="91404" tIns="45702" rIns="91404" bIns="45702"/>
          <a:lstStyle/>
          <a:p>
            <a:pPr>
              <a:buClr>
                <a:srgbClr val="CC9900"/>
              </a:buClr>
              <a:buFont typeface="Wingdings" pitchFamily="2" charset="2"/>
              <a:buChar char="n"/>
              <a:defRPr/>
            </a:pPr>
            <a:endParaRPr lang="zh-CN" altLang="en-US" sz="1599" kern="0" dirty="0">
              <a:solidFill>
                <a:srgbClr val="000000"/>
              </a:solidFill>
              <a:latin typeface="Huawei Sans" panose="020C0503030203020204" pitchFamily="34" charset="0"/>
              <a:ea typeface="方正兰亭黑简体" panose="02000000000000000000" pitchFamily="2" charset="-122"/>
            </a:endParaRPr>
          </a:p>
        </p:txBody>
      </p:sp>
      <p:sp>
        <p:nvSpPr>
          <p:cNvPr id="46" name="圆角矩形 18">
            <a:extLst>
              <a:ext uri="{FF2B5EF4-FFF2-40B4-BE49-F238E27FC236}">
                <a16:creationId xmlns:a16="http://schemas.microsoft.com/office/drawing/2014/main" id="{0FFC123E-6F4F-85ED-5862-29682E2D2146}"/>
              </a:ext>
            </a:extLst>
          </p:cNvPr>
          <p:cNvSpPr/>
          <p:nvPr/>
        </p:nvSpPr>
        <p:spPr>
          <a:xfrm>
            <a:off x="5656263" y="2730500"/>
            <a:ext cx="603250" cy="603250"/>
          </a:xfrm>
          <a:prstGeom prst="roundRect">
            <a:avLst>
              <a:gd name="adj" fmla="val 50000"/>
            </a:avLst>
          </a:prstGeom>
          <a:solidFill>
            <a:srgbClr val="0B9CE5"/>
          </a:solidFill>
          <a:ln>
            <a:noFill/>
          </a:ln>
          <a:effectLst/>
        </p:spPr>
        <p:txBody>
          <a:bodyPr lIns="91404" tIns="45702" rIns="91404" bIns="45702"/>
          <a:lstStyle/>
          <a:p>
            <a:pPr>
              <a:buClr>
                <a:srgbClr val="CC9900"/>
              </a:buClr>
              <a:buFont typeface="Wingdings" pitchFamily="2" charset="2"/>
              <a:buChar char="n"/>
              <a:defRPr/>
            </a:pPr>
            <a:endParaRPr lang="zh-CN" altLang="en-US" sz="1599" kern="0" dirty="0">
              <a:solidFill>
                <a:srgbClr val="000000"/>
              </a:solidFill>
              <a:latin typeface="Huawei Sans" panose="020C0503030203020204" pitchFamily="34" charset="0"/>
              <a:ea typeface="方正兰亭黑简体" panose="02000000000000000000" pitchFamily="2" charset="-122"/>
            </a:endParaRPr>
          </a:p>
        </p:txBody>
      </p:sp>
      <p:sp>
        <p:nvSpPr>
          <p:cNvPr id="47" name="椭圆 46">
            <a:extLst>
              <a:ext uri="{FF2B5EF4-FFF2-40B4-BE49-F238E27FC236}">
                <a16:creationId xmlns:a16="http://schemas.microsoft.com/office/drawing/2014/main" id="{F14BAC81-4C67-381B-6CA8-B45370CB5E51}"/>
              </a:ext>
            </a:extLst>
          </p:cNvPr>
          <p:cNvSpPr/>
          <p:nvPr/>
        </p:nvSpPr>
        <p:spPr>
          <a:xfrm>
            <a:off x="5649913" y="2857500"/>
            <a:ext cx="615950" cy="35718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zh-CN" altLang="en-US" sz="1199" kern="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高速互联</a:t>
            </a:r>
          </a:p>
        </p:txBody>
      </p:sp>
      <p:sp>
        <p:nvSpPr>
          <p:cNvPr id="53" name="圆角矩形 18">
            <a:extLst>
              <a:ext uri="{FF2B5EF4-FFF2-40B4-BE49-F238E27FC236}">
                <a16:creationId xmlns:a16="http://schemas.microsoft.com/office/drawing/2014/main" id="{90F8B7A6-B0DA-3F54-17C8-414620AC2A78}"/>
              </a:ext>
            </a:extLst>
          </p:cNvPr>
          <p:cNvSpPr/>
          <p:nvPr/>
        </p:nvSpPr>
        <p:spPr>
          <a:xfrm>
            <a:off x="6738938" y="2759075"/>
            <a:ext cx="601662" cy="601663"/>
          </a:xfrm>
          <a:prstGeom prst="roundRect">
            <a:avLst>
              <a:gd name="adj" fmla="val 50000"/>
            </a:avLst>
          </a:prstGeom>
          <a:solidFill>
            <a:srgbClr val="0B9CE5"/>
          </a:solidFill>
          <a:ln>
            <a:noFill/>
          </a:ln>
          <a:effectLst/>
        </p:spPr>
        <p:txBody>
          <a:bodyPr lIns="91404" tIns="45702" rIns="91404" bIns="45702"/>
          <a:lstStyle/>
          <a:p>
            <a:pPr>
              <a:buClr>
                <a:srgbClr val="CC9900"/>
              </a:buClr>
              <a:buFont typeface="Wingdings" pitchFamily="2" charset="2"/>
              <a:buChar char="n"/>
              <a:defRPr/>
            </a:pPr>
            <a:endParaRPr lang="zh-CN" altLang="en-US" sz="1599" kern="0" dirty="0">
              <a:solidFill>
                <a:srgbClr val="000000"/>
              </a:solidFill>
              <a:latin typeface="Huawei Sans" panose="020C0503030203020204" pitchFamily="34" charset="0"/>
              <a:ea typeface="方正兰亭黑简体" panose="02000000000000000000" pitchFamily="2" charset="-122"/>
            </a:endParaRPr>
          </a:p>
        </p:txBody>
      </p:sp>
      <p:sp>
        <p:nvSpPr>
          <p:cNvPr id="54" name="椭圆 53">
            <a:extLst>
              <a:ext uri="{FF2B5EF4-FFF2-40B4-BE49-F238E27FC236}">
                <a16:creationId xmlns:a16="http://schemas.microsoft.com/office/drawing/2014/main" id="{17AEE6A6-17EE-282E-733C-B45BFB16475B}"/>
              </a:ext>
            </a:extLst>
          </p:cNvPr>
          <p:cNvSpPr/>
          <p:nvPr/>
        </p:nvSpPr>
        <p:spPr>
          <a:xfrm>
            <a:off x="6731000" y="2879725"/>
            <a:ext cx="615950" cy="355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zh-CN" altLang="en-US" sz="1199" kern="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可靠</a:t>
            </a:r>
            <a:endParaRPr lang="en-US" altLang="zh-CN" sz="1199" kern="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endParaRPr>
          </a:p>
          <a:p>
            <a:pPr algn="ctr">
              <a:defRPr/>
            </a:pPr>
            <a:r>
              <a:rPr lang="zh-CN" altLang="en-US" sz="1199" kern="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设计</a:t>
            </a:r>
          </a:p>
        </p:txBody>
      </p:sp>
      <p:sp>
        <p:nvSpPr>
          <p:cNvPr id="56" name="圆角矩形 18">
            <a:extLst>
              <a:ext uri="{FF2B5EF4-FFF2-40B4-BE49-F238E27FC236}">
                <a16:creationId xmlns:a16="http://schemas.microsoft.com/office/drawing/2014/main" id="{A30573DA-788B-0CB7-4007-9F8FF130FDDA}"/>
              </a:ext>
            </a:extLst>
          </p:cNvPr>
          <p:cNvSpPr/>
          <p:nvPr/>
        </p:nvSpPr>
        <p:spPr>
          <a:xfrm>
            <a:off x="7788275" y="2730500"/>
            <a:ext cx="601663" cy="603250"/>
          </a:xfrm>
          <a:prstGeom prst="roundRect">
            <a:avLst>
              <a:gd name="adj" fmla="val 50000"/>
            </a:avLst>
          </a:prstGeom>
          <a:solidFill>
            <a:srgbClr val="0B9CE5"/>
          </a:solidFill>
          <a:ln>
            <a:noFill/>
          </a:ln>
          <a:effectLst/>
        </p:spPr>
        <p:txBody>
          <a:bodyPr lIns="91404" tIns="45702" rIns="91404" bIns="45702"/>
          <a:lstStyle/>
          <a:p>
            <a:pPr>
              <a:buClr>
                <a:srgbClr val="CC9900"/>
              </a:buClr>
              <a:buFont typeface="Wingdings" pitchFamily="2" charset="2"/>
              <a:buChar char="n"/>
              <a:defRPr/>
            </a:pPr>
            <a:endParaRPr lang="zh-CN" altLang="en-US" sz="1599" kern="0" dirty="0">
              <a:solidFill>
                <a:srgbClr val="000000"/>
              </a:solidFill>
              <a:latin typeface="Huawei Sans" panose="020C0503030203020204" pitchFamily="34" charset="0"/>
              <a:ea typeface="方正兰亭黑简体" panose="02000000000000000000" pitchFamily="2" charset="-122"/>
            </a:endParaRPr>
          </a:p>
        </p:txBody>
      </p:sp>
      <p:sp>
        <p:nvSpPr>
          <p:cNvPr id="57" name="椭圆 56">
            <a:extLst>
              <a:ext uri="{FF2B5EF4-FFF2-40B4-BE49-F238E27FC236}">
                <a16:creationId xmlns:a16="http://schemas.microsoft.com/office/drawing/2014/main" id="{8563CEB3-7B38-A4DE-EC96-9B6627F7D37C}"/>
              </a:ext>
            </a:extLst>
          </p:cNvPr>
          <p:cNvSpPr/>
          <p:nvPr/>
        </p:nvSpPr>
        <p:spPr>
          <a:xfrm>
            <a:off x="7781925" y="2849563"/>
            <a:ext cx="615950" cy="355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zh-CN" altLang="en-US" sz="1199" kern="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质量品控</a:t>
            </a:r>
          </a:p>
        </p:txBody>
      </p:sp>
      <p:sp>
        <p:nvSpPr>
          <p:cNvPr id="63" name="任意多边形: 形状 3">
            <a:extLst>
              <a:ext uri="{FF2B5EF4-FFF2-40B4-BE49-F238E27FC236}">
                <a16:creationId xmlns:a16="http://schemas.microsoft.com/office/drawing/2014/main" id="{7EA84EC6-788E-7D8D-E03C-79043D5E5CE7}"/>
              </a:ext>
            </a:extLst>
          </p:cNvPr>
          <p:cNvSpPr/>
          <p:nvPr/>
        </p:nvSpPr>
        <p:spPr>
          <a:xfrm>
            <a:off x="4341813" y="2532063"/>
            <a:ext cx="1485900" cy="0"/>
          </a:xfrm>
          <a:custGeom>
            <a:avLst/>
            <a:gdLst>
              <a:gd name="connsiteX0" fmla="*/ 0 w 2280920"/>
              <a:gd name="connsiteY0" fmla="*/ 0 h 0"/>
              <a:gd name="connsiteX1" fmla="*/ 2280920 w 2280920"/>
              <a:gd name="connsiteY1" fmla="*/ 0 h 0"/>
            </a:gdLst>
            <a:ahLst/>
            <a:cxnLst>
              <a:cxn ang="0">
                <a:pos x="connsiteX0" y="connsiteY0"/>
              </a:cxn>
              <a:cxn ang="0">
                <a:pos x="connsiteX1" y="connsiteY1"/>
              </a:cxn>
            </a:cxnLst>
            <a:rect l="l" t="t" r="r" b="b"/>
            <a:pathLst>
              <a:path w="2280920">
                <a:moveTo>
                  <a:pt x="0" y="0"/>
                </a:moveTo>
                <a:lnTo>
                  <a:pt x="2280920" y="0"/>
                </a:lnTo>
              </a:path>
            </a:pathLst>
          </a:custGeom>
          <a:noFill/>
          <a:ln>
            <a:solidFill>
              <a:srgbClr val="0B9CE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88">
              <a:solidFill>
                <a:srgbClr val="1D1D1A"/>
              </a:solidFill>
              <a:latin typeface="Huawei Sans" panose="020C0503030203020204" pitchFamily="34" charset="0"/>
              <a:ea typeface="方正兰亭黑简体" panose="02000000000000000000" pitchFamily="2" charset="-122"/>
            </a:endParaRPr>
          </a:p>
        </p:txBody>
      </p:sp>
      <p:sp>
        <p:nvSpPr>
          <p:cNvPr id="64" name="任意多边形: 形状 5">
            <a:extLst>
              <a:ext uri="{FF2B5EF4-FFF2-40B4-BE49-F238E27FC236}">
                <a16:creationId xmlns:a16="http://schemas.microsoft.com/office/drawing/2014/main" id="{7D9EF986-5F9B-B95F-9B65-9659CCBA7C12}"/>
              </a:ext>
            </a:extLst>
          </p:cNvPr>
          <p:cNvSpPr/>
          <p:nvPr/>
        </p:nvSpPr>
        <p:spPr>
          <a:xfrm flipH="1">
            <a:off x="4832350" y="2532063"/>
            <a:ext cx="22225" cy="230187"/>
          </a:xfrm>
          <a:custGeom>
            <a:avLst/>
            <a:gdLst>
              <a:gd name="connsiteX0" fmla="*/ 0 w 0"/>
              <a:gd name="connsiteY0" fmla="*/ 447040 h 447040"/>
              <a:gd name="connsiteX1" fmla="*/ 0 w 0"/>
              <a:gd name="connsiteY1" fmla="*/ 0 h 447040"/>
            </a:gdLst>
            <a:ahLst/>
            <a:cxnLst>
              <a:cxn ang="0">
                <a:pos x="connsiteX0" y="connsiteY0"/>
              </a:cxn>
              <a:cxn ang="0">
                <a:pos x="connsiteX1" y="connsiteY1"/>
              </a:cxn>
            </a:cxnLst>
            <a:rect l="l" t="t" r="r" b="b"/>
            <a:pathLst>
              <a:path h="447040">
                <a:moveTo>
                  <a:pt x="0" y="447040"/>
                </a:moveTo>
                <a:lnTo>
                  <a:pt x="0" y="0"/>
                </a:lnTo>
              </a:path>
            </a:pathLst>
          </a:custGeom>
          <a:noFill/>
          <a:ln>
            <a:solidFill>
              <a:srgbClr val="0B9CE5"/>
            </a:solidFill>
            <a:headEnd type="ova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88">
              <a:solidFill>
                <a:srgbClr val="1D1D1A"/>
              </a:solidFill>
              <a:latin typeface="Huawei Sans" panose="020C0503030203020204" pitchFamily="34" charset="0"/>
              <a:ea typeface="方正兰亭黑简体" panose="02000000000000000000" pitchFamily="2" charset="-122"/>
            </a:endParaRPr>
          </a:p>
        </p:txBody>
      </p:sp>
      <p:sp>
        <p:nvSpPr>
          <p:cNvPr id="66" name="任意多边形: 形状 143">
            <a:extLst>
              <a:ext uri="{FF2B5EF4-FFF2-40B4-BE49-F238E27FC236}">
                <a16:creationId xmlns:a16="http://schemas.microsoft.com/office/drawing/2014/main" id="{FE2DE147-A9B7-397E-93CB-ED1A2883E0F0}"/>
              </a:ext>
            </a:extLst>
          </p:cNvPr>
          <p:cNvSpPr/>
          <p:nvPr/>
        </p:nvSpPr>
        <p:spPr>
          <a:xfrm>
            <a:off x="6475413" y="2528888"/>
            <a:ext cx="1485900" cy="0"/>
          </a:xfrm>
          <a:custGeom>
            <a:avLst/>
            <a:gdLst>
              <a:gd name="connsiteX0" fmla="*/ 0 w 2280920"/>
              <a:gd name="connsiteY0" fmla="*/ 0 h 0"/>
              <a:gd name="connsiteX1" fmla="*/ 2280920 w 2280920"/>
              <a:gd name="connsiteY1" fmla="*/ 0 h 0"/>
            </a:gdLst>
            <a:ahLst/>
            <a:cxnLst>
              <a:cxn ang="0">
                <a:pos x="connsiteX0" y="connsiteY0"/>
              </a:cxn>
              <a:cxn ang="0">
                <a:pos x="connsiteX1" y="connsiteY1"/>
              </a:cxn>
            </a:cxnLst>
            <a:rect l="l" t="t" r="r" b="b"/>
            <a:pathLst>
              <a:path w="2280920">
                <a:moveTo>
                  <a:pt x="0" y="0"/>
                </a:moveTo>
                <a:lnTo>
                  <a:pt x="2280920" y="0"/>
                </a:lnTo>
              </a:path>
            </a:pathLst>
          </a:custGeom>
          <a:noFill/>
          <a:ln>
            <a:solidFill>
              <a:srgbClr val="0B9CE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88">
              <a:solidFill>
                <a:srgbClr val="1D1D1A"/>
              </a:solidFill>
              <a:latin typeface="Huawei Sans" panose="020C0503030203020204" pitchFamily="34" charset="0"/>
              <a:ea typeface="方正兰亭黑简体" panose="02000000000000000000" pitchFamily="2" charset="-122"/>
            </a:endParaRPr>
          </a:p>
        </p:txBody>
      </p:sp>
      <p:sp>
        <p:nvSpPr>
          <p:cNvPr id="67" name="任意多边形: 形状 144">
            <a:extLst>
              <a:ext uri="{FF2B5EF4-FFF2-40B4-BE49-F238E27FC236}">
                <a16:creationId xmlns:a16="http://schemas.microsoft.com/office/drawing/2014/main" id="{7FC2EEED-4B41-272F-9532-329691B384C6}"/>
              </a:ext>
            </a:extLst>
          </p:cNvPr>
          <p:cNvSpPr/>
          <p:nvPr/>
        </p:nvSpPr>
        <p:spPr>
          <a:xfrm flipH="1">
            <a:off x="7026275" y="2527300"/>
            <a:ext cx="22225" cy="230188"/>
          </a:xfrm>
          <a:custGeom>
            <a:avLst/>
            <a:gdLst>
              <a:gd name="connsiteX0" fmla="*/ 0 w 0"/>
              <a:gd name="connsiteY0" fmla="*/ 447040 h 447040"/>
              <a:gd name="connsiteX1" fmla="*/ 0 w 0"/>
              <a:gd name="connsiteY1" fmla="*/ 0 h 447040"/>
            </a:gdLst>
            <a:ahLst/>
            <a:cxnLst>
              <a:cxn ang="0">
                <a:pos x="connsiteX0" y="connsiteY0"/>
              </a:cxn>
              <a:cxn ang="0">
                <a:pos x="connsiteX1" y="connsiteY1"/>
              </a:cxn>
            </a:cxnLst>
            <a:rect l="l" t="t" r="r" b="b"/>
            <a:pathLst>
              <a:path h="447040">
                <a:moveTo>
                  <a:pt x="0" y="447040"/>
                </a:moveTo>
                <a:lnTo>
                  <a:pt x="0" y="0"/>
                </a:lnTo>
              </a:path>
            </a:pathLst>
          </a:custGeom>
          <a:noFill/>
          <a:ln>
            <a:solidFill>
              <a:srgbClr val="0B9CE5"/>
            </a:solidFill>
            <a:headEnd type="ova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88">
              <a:solidFill>
                <a:srgbClr val="1D1D1A"/>
              </a:solidFill>
              <a:latin typeface="Huawei Sans" panose="020C0503030203020204" pitchFamily="34" charset="0"/>
              <a:ea typeface="方正兰亭黑简体" panose="02000000000000000000" pitchFamily="2" charset="-122"/>
            </a:endParaRPr>
          </a:p>
        </p:txBody>
      </p:sp>
      <p:sp>
        <p:nvSpPr>
          <p:cNvPr id="69" name="任意多边形: 形状 146">
            <a:extLst>
              <a:ext uri="{FF2B5EF4-FFF2-40B4-BE49-F238E27FC236}">
                <a16:creationId xmlns:a16="http://schemas.microsoft.com/office/drawing/2014/main" id="{3F46FC1F-F9D8-7214-922E-9F1316C7A7C3}"/>
              </a:ext>
            </a:extLst>
          </p:cNvPr>
          <p:cNvSpPr/>
          <p:nvPr/>
        </p:nvSpPr>
        <p:spPr>
          <a:xfrm flipV="1">
            <a:off x="5019675" y="3560763"/>
            <a:ext cx="1484313" cy="0"/>
          </a:xfrm>
          <a:custGeom>
            <a:avLst/>
            <a:gdLst>
              <a:gd name="connsiteX0" fmla="*/ 0 w 2280920"/>
              <a:gd name="connsiteY0" fmla="*/ 0 h 0"/>
              <a:gd name="connsiteX1" fmla="*/ 2280920 w 2280920"/>
              <a:gd name="connsiteY1" fmla="*/ 0 h 0"/>
            </a:gdLst>
            <a:ahLst/>
            <a:cxnLst>
              <a:cxn ang="0">
                <a:pos x="connsiteX0" y="connsiteY0"/>
              </a:cxn>
              <a:cxn ang="0">
                <a:pos x="connsiteX1" y="connsiteY1"/>
              </a:cxn>
            </a:cxnLst>
            <a:rect l="l" t="t" r="r" b="b"/>
            <a:pathLst>
              <a:path w="2280920">
                <a:moveTo>
                  <a:pt x="0" y="0"/>
                </a:moveTo>
                <a:lnTo>
                  <a:pt x="2280920" y="0"/>
                </a:lnTo>
              </a:path>
            </a:pathLst>
          </a:custGeom>
          <a:noFill/>
          <a:ln>
            <a:solidFill>
              <a:srgbClr val="0B9CE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88">
              <a:solidFill>
                <a:srgbClr val="1D1D1A"/>
              </a:solidFill>
              <a:latin typeface="Huawei Sans" panose="020C0503030203020204" pitchFamily="34" charset="0"/>
              <a:ea typeface="方正兰亭黑简体" panose="02000000000000000000" pitchFamily="2" charset="-122"/>
            </a:endParaRPr>
          </a:p>
        </p:txBody>
      </p:sp>
      <p:sp>
        <p:nvSpPr>
          <p:cNvPr id="70" name="任意多边形: 形状 147">
            <a:extLst>
              <a:ext uri="{FF2B5EF4-FFF2-40B4-BE49-F238E27FC236}">
                <a16:creationId xmlns:a16="http://schemas.microsoft.com/office/drawing/2014/main" id="{0CA0A715-7B8C-21B1-99AD-C723CB6EA9F0}"/>
              </a:ext>
            </a:extLst>
          </p:cNvPr>
          <p:cNvSpPr/>
          <p:nvPr/>
        </p:nvSpPr>
        <p:spPr>
          <a:xfrm flipH="1" flipV="1">
            <a:off x="5943600" y="3330575"/>
            <a:ext cx="23813" cy="230188"/>
          </a:xfrm>
          <a:custGeom>
            <a:avLst/>
            <a:gdLst>
              <a:gd name="connsiteX0" fmla="*/ 0 w 0"/>
              <a:gd name="connsiteY0" fmla="*/ 447040 h 447040"/>
              <a:gd name="connsiteX1" fmla="*/ 0 w 0"/>
              <a:gd name="connsiteY1" fmla="*/ 0 h 447040"/>
            </a:gdLst>
            <a:ahLst/>
            <a:cxnLst>
              <a:cxn ang="0">
                <a:pos x="connsiteX0" y="connsiteY0"/>
              </a:cxn>
              <a:cxn ang="0">
                <a:pos x="connsiteX1" y="connsiteY1"/>
              </a:cxn>
            </a:cxnLst>
            <a:rect l="l" t="t" r="r" b="b"/>
            <a:pathLst>
              <a:path h="447040">
                <a:moveTo>
                  <a:pt x="0" y="447040"/>
                </a:moveTo>
                <a:lnTo>
                  <a:pt x="0" y="0"/>
                </a:lnTo>
              </a:path>
            </a:pathLst>
          </a:custGeom>
          <a:noFill/>
          <a:ln>
            <a:solidFill>
              <a:srgbClr val="0B9CE5"/>
            </a:solidFill>
            <a:headEnd type="ova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88">
              <a:solidFill>
                <a:srgbClr val="1D1D1A"/>
              </a:solidFill>
              <a:latin typeface="Huawei Sans" panose="020C0503030203020204" pitchFamily="34" charset="0"/>
              <a:ea typeface="方正兰亭黑简体" panose="02000000000000000000" pitchFamily="2" charset="-122"/>
            </a:endParaRPr>
          </a:p>
        </p:txBody>
      </p:sp>
      <p:sp>
        <p:nvSpPr>
          <p:cNvPr id="72" name="任意多边形: 形状 149">
            <a:extLst>
              <a:ext uri="{FF2B5EF4-FFF2-40B4-BE49-F238E27FC236}">
                <a16:creationId xmlns:a16="http://schemas.microsoft.com/office/drawing/2014/main" id="{1437AF0E-5258-81D8-523E-BE957CB6ED80}"/>
              </a:ext>
            </a:extLst>
          </p:cNvPr>
          <p:cNvSpPr/>
          <p:nvPr/>
        </p:nvSpPr>
        <p:spPr>
          <a:xfrm flipV="1">
            <a:off x="7078663" y="3529013"/>
            <a:ext cx="1350962" cy="34925"/>
          </a:xfrm>
          <a:custGeom>
            <a:avLst/>
            <a:gdLst>
              <a:gd name="connsiteX0" fmla="*/ 0 w 2280920"/>
              <a:gd name="connsiteY0" fmla="*/ 0 h 0"/>
              <a:gd name="connsiteX1" fmla="*/ 2280920 w 2280920"/>
              <a:gd name="connsiteY1" fmla="*/ 0 h 0"/>
            </a:gdLst>
            <a:ahLst/>
            <a:cxnLst>
              <a:cxn ang="0">
                <a:pos x="connsiteX0" y="connsiteY0"/>
              </a:cxn>
              <a:cxn ang="0">
                <a:pos x="connsiteX1" y="connsiteY1"/>
              </a:cxn>
            </a:cxnLst>
            <a:rect l="l" t="t" r="r" b="b"/>
            <a:pathLst>
              <a:path w="2280920">
                <a:moveTo>
                  <a:pt x="0" y="0"/>
                </a:moveTo>
                <a:lnTo>
                  <a:pt x="2280920" y="0"/>
                </a:lnTo>
              </a:path>
            </a:pathLst>
          </a:custGeom>
          <a:noFill/>
          <a:ln>
            <a:solidFill>
              <a:srgbClr val="0B9CE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88">
              <a:solidFill>
                <a:srgbClr val="1D1D1A"/>
              </a:solidFill>
              <a:latin typeface="Huawei Sans" panose="020C0503030203020204" pitchFamily="34" charset="0"/>
              <a:ea typeface="方正兰亭黑简体" panose="02000000000000000000" pitchFamily="2" charset="-122"/>
            </a:endParaRPr>
          </a:p>
        </p:txBody>
      </p:sp>
      <p:sp>
        <p:nvSpPr>
          <p:cNvPr id="73" name="任意多边形: 形状 150">
            <a:extLst>
              <a:ext uri="{FF2B5EF4-FFF2-40B4-BE49-F238E27FC236}">
                <a16:creationId xmlns:a16="http://schemas.microsoft.com/office/drawing/2014/main" id="{CDD37D3D-C40A-9223-1CBE-2BF1BEA9DDA4}"/>
              </a:ext>
            </a:extLst>
          </p:cNvPr>
          <p:cNvSpPr/>
          <p:nvPr/>
        </p:nvSpPr>
        <p:spPr>
          <a:xfrm flipH="1" flipV="1">
            <a:off x="8075613" y="3330575"/>
            <a:ext cx="22225" cy="230188"/>
          </a:xfrm>
          <a:custGeom>
            <a:avLst/>
            <a:gdLst>
              <a:gd name="connsiteX0" fmla="*/ 0 w 0"/>
              <a:gd name="connsiteY0" fmla="*/ 447040 h 447040"/>
              <a:gd name="connsiteX1" fmla="*/ 0 w 0"/>
              <a:gd name="connsiteY1" fmla="*/ 0 h 447040"/>
            </a:gdLst>
            <a:ahLst/>
            <a:cxnLst>
              <a:cxn ang="0">
                <a:pos x="connsiteX0" y="connsiteY0"/>
              </a:cxn>
              <a:cxn ang="0">
                <a:pos x="connsiteX1" y="connsiteY1"/>
              </a:cxn>
            </a:cxnLst>
            <a:rect l="l" t="t" r="r" b="b"/>
            <a:pathLst>
              <a:path h="447040">
                <a:moveTo>
                  <a:pt x="0" y="447040"/>
                </a:moveTo>
                <a:lnTo>
                  <a:pt x="0" y="0"/>
                </a:lnTo>
              </a:path>
            </a:pathLst>
          </a:custGeom>
          <a:noFill/>
          <a:ln>
            <a:solidFill>
              <a:srgbClr val="0B9CE5"/>
            </a:solidFill>
            <a:headEnd type="ova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788">
              <a:solidFill>
                <a:srgbClr val="1D1D1A"/>
              </a:solidFill>
              <a:latin typeface="Huawei Sans" panose="020C0503030203020204" pitchFamily="34" charset="0"/>
              <a:ea typeface="方正兰亭黑简体" panose="02000000000000000000" pitchFamily="2" charset="-122"/>
            </a:endParaRPr>
          </a:p>
        </p:txBody>
      </p:sp>
      <p:sp>
        <p:nvSpPr>
          <p:cNvPr id="76" name="椭圆 75">
            <a:extLst>
              <a:ext uri="{FF2B5EF4-FFF2-40B4-BE49-F238E27FC236}">
                <a16:creationId xmlns:a16="http://schemas.microsoft.com/office/drawing/2014/main" id="{2D5FDF00-7AFD-B3EC-40B2-8145DC99C11B}"/>
              </a:ext>
            </a:extLst>
          </p:cNvPr>
          <p:cNvSpPr/>
          <p:nvPr/>
        </p:nvSpPr>
        <p:spPr>
          <a:xfrm>
            <a:off x="4545013" y="2889250"/>
            <a:ext cx="615950" cy="355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zh-CN" altLang="en-US" sz="1199" kern="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液冷</a:t>
            </a:r>
          </a:p>
          <a:p>
            <a:pPr algn="ctr">
              <a:defRPr/>
            </a:pPr>
            <a:r>
              <a:rPr lang="zh-CN" altLang="en-US" sz="1199" kern="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散热</a:t>
            </a:r>
          </a:p>
        </p:txBody>
      </p:sp>
      <p:sp>
        <p:nvSpPr>
          <p:cNvPr id="84" name="圆角矩形 83">
            <a:extLst>
              <a:ext uri="{FF2B5EF4-FFF2-40B4-BE49-F238E27FC236}">
                <a16:creationId xmlns:a16="http://schemas.microsoft.com/office/drawing/2014/main" id="{995D5FAC-2364-E961-838A-9B3567403BBA}"/>
              </a:ext>
            </a:extLst>
          </p:cNvPr>
          <p:cNvSpPr/>
          <p:nvPr/>
        </p:nvSpPr>
        <p:spPr>
          <a:xfrm>
            <a:off x="7116763" y="3908425"/>
            <a:ext cx="1465262" cy="1562100"/>
          </a:xfrm>
          <a:prstGeom prst="roundRect">
            <a:avLst>
              <a:gd name="adj" fmla="val 731"/>
            </a:avLst>
          </a:prstGeom>
          <a:gradFill rotWithShape="1">
            <a:gsLst>
              <a:gs pos="0">
                <a:schemeClr val="bg2"/>
              </a:gs>
              <a:gs pos="50000">
                <a:srgbClr val="FFFFFF"/>
              </a:gs>
              <a:gs pos="100000">
                <a:schemeClr val="bg2"/>
              </a:gs>
            </a:gsLst>
            <a:lin ang="5400000" scaled="1"/>
          </a:gradFill>
          <a:ln w="28575" algn="ctr">
            <a:noFill/>
            <a:miter lim="800000"/>
            <a:headEnd/>
            <a:tailEnd/>
          </a:ln>
          <a:effectLst>
            <a:outerShdw blurRad="50800" dist="38100" dir="2700000" algn="tl" rotWithShape="0">
              <a:prstClr val="black">
                <a:alpha val="40000"/>
              </a:prstClr>
            </a:outerShdw>
          </a:effectLst>
        </p:spPr>
        <p:txBody>
          <a:bodyPr wrap="none" lIns="89189" tIns="44597" rIns="89189" bIns="44597" anchor="ctr"/>
          <a:lstStyle/>
          <a:p>
            <a:pPr defTabSz="891822">
              <a:defRPr/>
            </a:pPr>
            <a:endParaRPr lang="zh-CN" altLang="en-US" sz="1199" kern="0">
              <a:solidFill>
                <a:sysClr val="windowText" lastClr="000000"/>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85" name="圆角矩形 84">
            <a:extLst>
              <a:ext uri="{FF2B5EF4-FFF2-40B4-BE49-F238E27FC236}">
                <a16:creationId xmlns:a16="http://schemas.microsoft.com/office/drawing/2014/main" id="{86148C55-4736-CBED-C8FE-A9F768F8DD5C}"/>
              </a:ext>
            </a:extLst>
          </p:cNvPr>
          <p:cNvSpPr/>
          <p:nvPr/>
        </p:nvSpPr>
        <p:spPr>
          <a:xfrm>
            <a:off x="573088" y="3906838"/>
            <a:ext cx="6475412" cy="1562100"/>
          </a:xfrm>
          <a:prstGeom prst="roundRect">
            <a:avLst>
              <a:gd name="adj" fmla="val 731"/>
            </a:avLst>
          </a:prstGeom>
          <a:gradFill rotWithShape="1">
            <a:gsLst>
              <a:gs pos="0">
                <a:schemeClr val="bg2"/>
              </a:gs>
              <a:gs pos="50000">
                <a:srgbClr val="FFFFFF"/>
              </a:gs>
              <a:gs pos="100000">
                <a:schemeClr val="bg2"/>
              </a:gs>
            </a:gsLst>
            <a:lin ang="5400000" scaled="1"/>
          </a:gradFill>
          <a:ln w="28575" algn="ctr">
            <a:noFill/>
            <a:miter lim="800000"/>
            <a:headEnd/>
            <a:tailEnd/>
          </a:ln>
          <a:effectLst>
            <a:outerShdw blurRad="50800" dist="38100" dir="2700000" algn="tl" rotWithShape="0">
              <a:prstClr val="black">
                <a:alpha val="40000"/>
              </a:prstClr>
            </a:outerShdw>
          </a:effectLst>
        </p:spPr>
        <p:txBody>
          <a:bodyPr wrap="none" lIns="89189" tIns="44597" rIns="89189" bIns="44597" anchor="ctr"/>
          <a:lstStyle/>
          <a:p>
            <a:pPr defTabSz="891822">
              <a:defRPr/>
            </a:pPr>
            <a:endParaRPr lang="zh-CN" altLang="en-US" sz="1199" kern="0">
              <a:solidFill>
                <a:sysClr val="windowText" lastClr="000000"/>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121876" name="TaiShan 2290/5280/5290…">
            <a:extLst>
              <a:ext uri="{FF2B5EF4-FFF2-40B4-BE49-F238E27FC236}">
                <a16:creationId xmlns:a16="http://schemas.microsoft.com/office/drawing/2014/main" id="{EC688A53-C400-0DFB-D5CB-751D30A92E45}"/>
              </a:ext>
            </a:extLst>
          </p:cNvPr>
          <p:cNvSpPr txBox="1">
            <a:spLocks noChangeArrowheads="1"/>
          </p:cNvSpPr>
          <p:nvPr/>
        </p:nvSpPr>
        <p:spPr bwMode="auto">
          <a:xfrm>
            <a:off x="1733550" y="4441825"/>
            <a:ext cx="785813"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5060" tIns="15060" rIns="15060" bIns="15060" anchor="ctr">
            <a:spAutoFit/>
          </a:bodyPr>
          <a:lstStyle>
            <a:lvl1pPr marL="342900" indent="-342900" defTabSz="127000">
              <a:spcBef>
                <a:spcPct val="20000"/>
              </a:spcBef>
              <a:buChar char="•"/>
              <a:defRPr sz="2800">
                <a:solidFill>
                  <a:schemeClr val="tx1"/>
                </a:solidFill>
                <a:latin typeface="Comic Sans MS" panose="030F0902030302020204" pitchFamily="66" charset="0"/>
              </a:defRPr>
            </a:lvl1pPr>
            <a:lvl2pPr defTabSz="127000">
              <a:spcBef>
                <a:spcPct val="20000"/>
              </a:spcBef>
              <a:buChar char="–"/>
              <a:defRPr sz="2400">
                <a:solidFill>
                  <a:schemeClr val="tx1"/>
                </a:solidFill>
                <a:latin typeface="Comic Sans MS" panose="030F0902030302020204" pitchFamily="66" charset="0"/>
              </a:defRPr>
            </a:lvl2pPr>
            <a:lvl3pPr marL="1143000" indent="-228600" defTabSz="127000">
              <a:spcBef>
                <a:spcPct val="20000"/>
              </a:spcBef>
              <a:buChar char="•"/>
              <a:defRPr sz="2000">
                <a:solidFill>
                  <a:schemeClr val="tx1"/>
                </a:solidFill>
                <a:latin typeface="Comic Sans MS" panose="030F0902030302020204" pitchFamily="66" charset="0"/>
              </a:defRPr>
            </a:lvl3pPr>
            <a:lvl4pPr marL="1600200" indent="-228600" defTabSz="127000">
              <a:spcBef>
                <a:spcPct val="20000"/>
              </a:spcBef>
              <a:buChar char="–"/>
              <a:defRPr sz="2000">
                <a:solidFill>
                  <a:schemeClr val="tx1"/>
                </a:solidFill>
                <a:latin typeface="Comic Sans MS" panose="030F0902030302020204" pitchFamily="66" charset="0"/>
              </a:defRPr>
            </a:lvl4pPr>
            <a:lvl5pPr marL="2057400" indent="-228600" defTabSz="127000">
              <a:spcBef>
                <a:spcPct val="20000"/>
              </a:spcBef>
              <a:buChar char="»"/>
              <a:defRPr sz="2000">
                <a:solidFill>
                  <a:schemeClr val="tx1"/>
                </a:solidFill>
                <a:latin typeface="Comic Sans MS" panose="030F0902030302020204" pitchFamily="66" charset="0"/>
              </a:defRPr>
            </a:lvl5pPr>
            <a:lvl6pPr marL="25146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marL="0" lvl="1" algn="ctr">
              <a:spcBef>
                <a:spcPct val="0"/>
              </a:spcBef>
              <a:buFontTx/>
              <a:buNone/>
            </a:pPr>
            <a:r>
              <a:rPr lang="en-US" altLang="zh-CN" sz="900">
                <a:latin typeface="Huawei Sans"/>
                <a:ea typeface="方正兰亭黑简体"/>
                <a:cs typeface="Arial" panose="020B0604020202020204" pitchFamily="34" charset="0"/>
                <a:sym typeface="Microsoft YaHei" panose="020B0503020204020204" pitchFamily="34" charset="-122"/>
              </a:rPr>
              <a:t>5280</a:t>
            </a:r>
          </a:p>
          <a:p>
            <a:pPr marL="0" lvl="1" algn="ctr">
              <a:spcBef>
                <a:spcPct val="0"/>
              </a:spcBef>
              <a:buFontTx/>
              <a:buNone/>
            </a:pPr>
            <a:r>
              <a:rPr lang="en-US" altLang="zh-CN" sz="900">
                <a:latin typeface="Huawei Sans"/>
                <a:ea typeface="方正兰亭黑简体"/>
                <a:cs typeface="Huawei Sans"/>
                <a:sym typeface="Microsoft YaHei" panose="020B0503020204020204" pitchFamily="34" charset="-122"/>
              </a:rPr>
              <a:t>4U40</a:t>
            </a:r>
            <a:r>
              <a:rPr lang="zh-CN" altLang="en-US" sz="900">
                <a:latin typeface="Huawei Sans"/>
                <a:ea typeface="方正兰亭黑简体"/>
                <a:cs typeface="Huawei Sans"/>
                <a:sym typeface="Microsoft YaHei" panose="020B0503020204020204" pitchFamily="34" charset="-122"/>
              </a:rPr>
              <a:t>盘存储型</a:t>
            </a:r>
            <a:endParaRPr lang="zh-CN" altLang="en-US" sz="900">
              <a:latin typeface="Huawei Sans"/>
              <a:ea typeface="方正兰亭黑简体"/>
              <a:cs typeface="Huawei Sans"/>
              <a:sym typeface="Helvetica" pitchFamily="2" charset="0"/>
            </a:endParaRPr>
          </a:p>
        </p:txBody>
      </p:sp>
      <p:sp>
        <p:nvSpPr>
          <p:cNvPr id="121877" name="TaiShan X6000…">
            <a:extLst>
              <a:ext uri="{FF2B5EF4-FFF2-40B4-BE49-F238E27FC236}">
                <a16:creationId xmlns:a16="http://schemas.microsoft.com/office/drawing/2014/main" id="{28E11C11-A478-6B5F-8DC0-420442AAB2D4}"/>
              </a:ext>
            </a:extLst>
          </p:cNvPr>
          <p:cNvSpPr txBox="1">
            <a:spLocks noChangeArrowheads="1"/>
          </p:cNvSpPr>
          <p:nvPr/>
        </p:nvSpPr>
        <p:spPr bwMode="auto">
          <a:xfrm>
            <a:off x="5832475" y="4446588"/>
            <a:ext cx="12319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5060" tIns="15060" rIns="15060" bIns="15060" anchor="ctr">
            <a:spAutoFit/>
          </a:bodyPr>
          <a:lstStyle>
            <a:lvl1pPr marL="342900" indent="-342900" defTabSz="127000">
              <a:spcBef>
                <a:spcPct val="20000"/>
              </a:spcBef>
              <a:buChar char="•"/>
              <a:defRPr sz="2800">
                <a:solidFill>
                  <a:schemeClr val="tx1"/>
                </a:solidFill>
                <a:latin typeface="Comic Sans MS" panose="030F0902030302020204" pitchFamily="66" charset="0"/>
              </a:defRPr>
            </a:lvl1pPr>
            <a:lvl2pPr defTabSz="127000">
              <a:spcBef>
                <a:spcPct val="20000"/>
              </a:spcBef>
              <a:buChar char="–"/>
              <a:defRPr sz="2400">
                <a:solidFill>
                  <a:schemeClr val="tx1"/>
                </a:solidFill>
                <a:latin typeface="Comic Sans MS" panose="030F0902030302020204" pitchFamily="66" charset="0"/>
              </a:defRPr>
            </a:lvl2pPr>
            <a:lvl3pPr marL="1143000" indent="-228600" defTabSz="127000">
              <a:spcBef>
                <a:spcPct val="20000"/>
              </a:spcBef>
              <a:buChar char="•"/>
              <a:defRPr sz="2000">
                <a:solidFill>
                  <a:schemeClr val="tx1"/>
                </a:solidFill>
                <a:latin typeface="Comic Sans MS" panose="030F0902030302020204" pitchFamily="66" charset="0"/>
              </a:defRPr>
            </a:lvl3pPr>
            <a:lvl4pPr marL="1600200" indent="-228600" defTabSz="127000">
              <a:spcBef>
                <a:spcPct val="20000"/>
              </a:spcBef>
              <a:buChar char="–"/>
              <a:defRPr sz="2000">
                <a:solidFill>
                  <a:schemeClr val="tx1"/>
                </a:solidFill>
                <a:latin typeface="Comic Sans MS" panose="030F0902030302020204" pitchFamily="66" charset="0"/>
              </a:defRPr>
            </a:lvl4pPr>
            <a:lvl5pPr marL="2057400" indent="-228600" defTabSz="127000">
              <a:spcBef>
                <a:spcPct val="20000"/>
              </a:spcBef>
              <a:buChar char="»"/>
              <a:defRPr sz="2000">
                <a:solidFill>
                  <a:schemeClr val="tx1"/>
                </a:solidFill>
                <a:latin typeface="Comic Sans MS" panose="030F0902030302020204" pitchFamily="66" charset="0"/>
              </a:defRPr>
            </a:lvl5pPr>
            <a:lvl6pPr marL="25146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marL="0" lvl="1" algn="ctr">
              <a:spcBef>
                <a:spcPct val="0"/>
              </a:spcBef>
              <a:buFontTx/>
              <a:buNone/>
            </a:pPr>
            <a:r>
              <a:rPr lang="en-US" altLang="zh-CN" sz="900">
                <a:latin typeface="Huawei Sans"/>
                <a:ea typeface="方正兰亭黑简体"/>
                <a:cs typeface="Arial" panose="020B0604020202020204" pitchFamily="34" charset="0"/>
                <a:sym typeface="Microsoft YaHei" panose="020B0503020204020204" pitchFamily="34" charset="-122"/>
              </a:rPr>
              <a:t>X6000</a:t>
            </a:r>
          </a:p>
          <a:p>
            <a:pPr marL="0" lvl="1" algn="ctr">
              <a:spcBef>
                <a:spcPct val="0"/>
              </a:spcBef>
              <a:buFontTx/>
              <a:buNone/>
            </a:pPr>
            <a:r>
              <a:rPr lang="en-US" altLang="zh-CN" sz="900">
                <a:latin typeface="Huawei Sans"/>
                <a:ea typeface="方正兰亭黑简体"/>
                <a:cs typeface="Huawei Sans"/>
                <a:sym typeface="Microsoft YaHei" panose="020B0503020204020204" pitchFamily="34" charset="-122"/>
              </a:rPr>
              <a:t>2U4</a:t>
            </a:r>
            <a:r>
              <a:rPr lang="zh-CN" altLang="en-US" sz="900">
                <a:latin typeface="Huawei Sans"/>
                <a:ea typeface="方正兰亭黑简体"/>
                <a:cs typeface="Huawei Sans"/>
                <a:sym typeface="Microsoft YaHei" panose="020B0503020204020204" pitchFamily="34" charset="-122"/>
              </a:rPr>
              <a:t>节点高密型</a:t>
            </a:r>
          </a:p>
        </p:txBody>
      </p:sp>
      <p:sp>
        <p:nvSpPr>
          <p:cNvPr id="121878" name="TaiShan 2280…">
            <a:extLst>
              <a:ext uri="{FF2B5EF4-FFF2-40B4-BE49-F238E27FC236}">
                <a16:creationId xmlns:a16="http://schemas.microsoft.com/office/drawing/2014/main" id="{3B310315-BF73-FB91-D642-60C3976E0E6A}"/>
              </a:ext>
            </a:extLst>
          </p:cNvPr>
          <p:cNvSpPr txBox="1">
            <a:spLocks noChangeArrowheads="1"/>
          </p:cNvSpPr>
          <p:nvPr/>
        </p:nvSpPr>
        <p:spPr bwMode="auto">
          <a:xfrm>
            <a:off x="2735263" y="4448175"/>
            <a:ext cx="7858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5060" tIns="15060" rIns="15060" bIns="15060" anchor="ctr">
            <a:spAutoFit/>
          </a:bodyPr>
          <a:lstStyle>
            <a:lvl1pPr marL="342900" indent="-342900" defTabSz="127000">
              <a:spcBef>
                <a:spcPct val="20000"/>
              </a:spcBef>
              <a:buChar char="•"/>
              <a:defRPr sz="2800">
                <a:solidFill>
                  <a:schemeClr val="tx1"/>
                </a:solidFill>
                <a:latin typeface="Comic Sans MS" panose="030F0902030302020204" pitchFamily="66" charset="0"/>
              </a:defRPr>
            </a:lvl1pPr>
            <a:lvl2pPr defTabSz="127000">
              <a:spcBef>
                <a:spcPct val="20000"/>
              </a:spcBef>
              <a:buChar char="–"/>
              <a:defRPr sz="2400">
                <a:solidFill>
                  <a:schemeClr val="tx1"/>
                </a:solidFill>
                <a:latin typeface="Comic Sans MS" panose="030F0902030302020204" pitchFamily="66" charset="0"/>
              </a:defRPr>
            </a:lvl2pPr>
            <a:lvl3pPr marL="1143000" indent="-228600" defTabSz="127000">
              <a:spcBef>
                <a:spcPct val="20000"/>
              </a:spcBef>
              <a:buChar char="•"/>
              <a:defRPr sz="2000">
                <a:solidFill>
                  <a:schemeClr val="tx1"/>
                </a:solidFill>
                <a:latin typeface="Comic Sans MS" panose="030F0902030302020204" pitchFamily="66" charset="0"/>
              </a:defRPr>
            </a:lvl3pPr>
            <a:lvl4pPr marL="1600200" indent="-228600" defTabSz="127000">
              <a:spcBef>
                <a:spcPct val="20000"/>
              </a:spcBef>
              <a:buChar char="–"/>
              <a:defRPr sz="2000">
                <a:solidFill>
                  <a:schemeClr val="tx1"/>
                </a:solidFill>
                <a:latin typeface="Comic Sans MS" panose="030F0902030302020204" pitchFamily="66" charset="0"/>
              </a:defRPr>
            </a:lvl4pPr>
            <a:lvl5pPr marL="2057400" indent="-228600" defTabSz="127000">
              <a:spcBef>
                <a:spcPct val="20000"/>
              </a:spcBef>
              <a:buChar char="»"/>
              <a:defRPr sz="2000">
                <a:solidFill>
                  <a:schemeClr val="tx1"/>
                </a:solidFill>
                <a:latin typeface="Comic Sans MS" panose="030F0902030302020204" pitchFamily="66" charset="0"/>
              </a:defRPr>
            </a:lvl5pPr>
            <a:lvl6pPr marL="25146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marL="0" lvl="1" algn="ctr">
              <a:spcBef>
                <a:spcPct val="0"/>
              </a:spcBef>
              <a:buFontTx/>
              <a:buNone/>
            </a:pPr>
            <a:r>
              <a:rPr lang="en-US" altLang="zh-CN" sz="900">
                <a:latin typeface="Huawei Sans"/>
                <a:ea typeface="方正兰亭黑简体"/>
                <a:cs typeface="Arial" panose="020B0604020202020204" pitchFamily="34" charset="0"/>
                <a:sym typeface="Microsoft YaHei" panose="020B0503020204020204" pitchFamily="34" charset="-122"/>
              </a:rPr>
              <a:t>2280</a:t>
            </a:r>
          </a:p>
          <a:p>
            <a:pPr marL="0" lvl="1" algn="ctr">
              <a:spcBef>
                <a:spcPct val="0"/>
              </a:spcBef>
              <a:buFontTx/>
              <a:buNone/>
            </a:pPr>
            <a:r>
              <a:rPr lang="en-US" altLang="zh-CN" sz="900">
                <a:latin typeface="Huawei Sans"/>
                <a:ea typeface="方正兰亭黑简体"/>
                <a:cs typeface="Huawei Sans"/>
                <a:sym typeface="Microsoft YaHei" panose="020B0503020204020204" pitchFamily="34" charset="-122"/>
              </a:rPr>
              <a:t>2U2</a:t>
            </a:r>
            <a:r>
              <a:rPr lang="zh-CN" altLang="en-US" sz="900">
                <a:latin typeface="Huawei Sans"/>
                <a:ea typeface="方正兰亭黑简体"/>
                <a:cs typeface="Huawei Sans"/>
                <a:sym typeface="Microsoft YaHei" panose="020B0503020204020204" pitchFamily="34" charset="-122"/>
              </a:rPr>
              <a:t>路均衡型</a:t>
            </a:r>
          </a:p>
        </p:txBody>
      </p:sp>
      <p:sp>
        <p:nvSpPr>
          <p:cNvPr id="121879" name="TaiShan 2280…">
            <a:extLst>
              <a:ext uri="{FF2B5EF4-FFF2-40B4-BE49-F238E27FC236}">
                <a16:creationId xmlns:a16="http://schemas.microsoft.com/office/drawing/2014/main" id="{19EFB6D4-D689-270B-4958-E314671719DC}"/>
              </a:ext>
            </a:extLst>
          </p:cNvPr>
          <p:cNvSpPr txBox="1">
            <a:spLocks noChangeArrowheads="1"/>
          </p:cNvSpPr>
          <p:nvPr/>
        </p:nvSpPr>
        <p:spPr bwMode="auto">
          <a:xfrm>
            <a:off x="7480300" y="4456113"/>
            <a:ext cx="7048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5060" tIns="15060" rIns="15060" bIns="15060" anchor="ctr">
            <a:spAutoFit/>
          </a:bodyPr>
          <a:lstStyle>
            <a:lvl1pPr marL="342900" indent="-342900" defTabSz="127000">
              <a:spcBef>
                <a:spcPct val="20000"/>
              </a:spcBef>
              <a:buChar char="•"/>
              <a:defRPr sz="2800">
                <a:solidFill>
                  <a:schemeClr val="tx1"/>
                </a:solidFill>
                <a:latin typeface="Comic Sans MS" panose="030F0902030302020204" pitchFamily="66" charset="0"/>
              </a:defRPr>
            </a:lvl1pPr>
            <a:lvl2pPr defTabSz="127000">
              <a:spcBef>
                <a:spcPct val="20000"/>
              </a:spcBef>
              <a:buChar char="–"/>
              <a:defRPr sz="2400">
                <a:solidFill>
                  <a:schemeClr val="tx1"/>
                </a:solidFill>
                <a:latin typeface="Comic Sans MS" panose="030F0902030302020204" pitchFamily="66" charset="0"/>
              </a:defRPr>
            </a:lvl2pPr>
            <a:lvl3pPr marL="1143000" indent="-228600" defTabSz="127000">
              <a:spcBef>
                <a:spcPct val="20000"/>
              </a:spcBef>
              <a:buChar char="•"/>
              <a:defRPr sz="2000">
                <a:solidFill>
                  <a:schemeClr val="tx1"/>
                </a:solidFill>
                <a:latin typeface="Comic Sans MS" panose="030F0902030302020204" pitchFamily="66" charset="0"/>
              </a:defRPr>
            </a:lvl3pPr>
            <a:lvl4pPr marL="1600200" indent="-228600" defTabSz="127000">
              <a:spcBef>
                <a:spcPct val="20000"/>
              </a:spcBef>
              <a:buChar char="–"/>
              <a:defRPr sz="2000">
                <a:solidFill>
                  <a:schemeClr val="tx1"/>
                </a:solidFill>
                <a:latin typeface="Comic Sans MS" panose="030F0902030302020204" pitchFamily="66" charset="0"/>
              </a:defRPr>
            </a:lvl4pPr>
            <a:lvl5pPr marL="2057400" indent="-228600" defTabSz="127000">
              <a:spcBef>
                <a:spcPct val="20000"/>
              </a:spcBef>
              <a:buChar char="»"/>
              <a:defRPr sz="2000">
                <a:solidFill>
                  <a:schemeClr val="tx1"/>
                </a:solidFill>
                <a:latin typeface="Comic Sans MS" panose="030F0902030302020204" pitchFamily="66" charset="0"/>
              </a:defRPr>
            </a:lvl5pPr>
            <a:lvl6pPr marL="25146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marL="0" lvl="1" algn="ctr">
              <a:spcBef>
                <a:spcPct val="0"/>
              </a:spcBef>
              <a:buFontTx/>
              <a:buNone/>
            </a:pPr>
            <a:r>
              <a:rPr lang="en-US" altLang="zh-CN" sz="900">
                <a:latin typeface="Huawei Sans"/>
                <a:ea typeface="方正兰亭黑简体"/>
                <a:cs typeface="Arial" panose="020B0604020202020204" pitchFamily="34" charset="0"/>
                <a:sym typeface="Microsoft YaHei" panose="020B0503020204020204" pitchFamily="34" charset="-122"/>
              </a:rPr>
              <a:t>2280E</a:t>
            </a:r>
          </a:p>
          <a:p>
            <a:pPr marL="0" lvl="1" algn="ctr">
              <a:spcBef>
                <a:spcPct val="0"/>
              </a:spcBef>
              <a:buFontTx/>
              <a:buNone/>
            </a:pPr>
            <a:r>
              <a:rPr lang="zh-CN" altLang="en-US" sz="900">
                <a:latin typeface="Huawei Sans"/>
                <a:ea typeface="方正兰亭黑简体"/>
                <a:cs typeface="Huawei Sans"/>
                <a:sym typeface="Microsoft YaHei" panose="020B0503020204020204" pitchFamily="34" charset="-122"/>
              </a:rPr>
              <a:t>边缘型</a:t>
            </a:r>
          </a:p>
        </p:txBody>
      </p:sp>
      <p:sp>
        <p:nvSpPr>
          <p:cNvPr id="92" name="直接箭头连接符 27">
            <a:extLst>
              <a:ext uri="{FF2B5EF4-FFF2-40B4-BE49-F238E27FC236}">
                <a16:creationId xmlns:a16="http://schemas.microsoft.com/office/drawing/2014/main" id="{A29E4173-BBCF-2D58-199C-9C3D429B7EA2}"/>
              </a:ext>
            </a:extLst>
          </p:cNvPr>
          <p:cNvSpPr/>
          <p:nvPr/>
        </p:nvSpPr>
        <p:spPr>
          <a:xfrm>
            <a:off x="654050" y="4121150"/>
            <a:ext cx="2698750" cy="1588"/>
          </a:xfrm>
          <a:prstGeom prst="line">
            <a:avLst/>
          </a:prstGeom>
          <a:ln w="19050">
            <a:solidFill>
              <a:srgbClr val="0B9CE5"/>
            </a:solidFill>
            <a:miter lim="400000"/>
            <a:headEnd type="oval"/>
            <a:tailEnd type="oval"/>
          </a:ln>
        </p:spPr>
        <p:txBody>
          <a:bodyPr lIns="54549" tIns="54549" rIns="54549" bIns="54549" anchor="ctr"/>
          <a:lstStyle/>
          <a:p>
            <a:pPr defTabSz="627307">
              <a:defRPr/>
            </a:pPr>
            <a:endParaRPr sz="2249" dirty="0">
              <a:solidFill>
                <a:srgbClr val="1D1D1A"/>
              </a:solidFill>
              <a:latin typeface="Huawei Sans" panose="020C0503030203020204" pitchFamily="34" charset="0"/>
              <a:ea typeface="方正兰亭黑简体" panose="02000000000000000000" pitchFamily="2" charset="-122"/>
              <a:sym typeface="Calibri"/>
            </a:endParaRPr>
          </a:p>
        </p:txBody>
      </p:sp>
      <p:sp>
        <p:nvSpPr>
          <p:cNvPr id="93" name="直接箭头连接符 27">
            <a:extLst>
              <a:ext uri="{FF2B5EF4-FFF2-40B4-BE49-F238E27FC236}">
                <a16:creationId xmlns:a16="http://schemas.microsoft.com/office/drawing/2014/main" id="{EB57FFBD-6E7A-E2B9-EA4A-81721FC94E68}"/>
              </a:ext>
            </a:extLst>
          </p:cNvPr>
          <p:cNvSpPr/>
          <p:nvPr/>
        </p:nvSpPr>
        <p:spPr>
          <a:xfrm flipV="1">
            <a:off x="4291013" y="4116388"/>
            <a:ext cx="2660650" cy="4762"/>
          </a:xfrm>
          <a:prstGeom prst="line">
            <a:avLst/>
          </a:prstGeom>
          <a:ln w="19050">
            <a:solidFill>
              <a:srgbClr val="0B9CE5"/>
            </a:solidFill>
            <a:miter lim="400000"/>
            <a:headEnd type="oval"/>
            <a:tailEnd type="oval"/>
          </a:ln>
        </p:spPr>
        <p:txBody>
          <a:bodyPr lIns="54549" tIns="54549" rIns="54549" bIns="54549" anchor="ctr"/>
          <a:lstStyle/>
          <a:p>
            <a:pPr defTabSz="627307">
              <a:defRPr/>
            </a:pPr>
            <a:endParaRPr sz="2249" dirty="0">
              <a:solidFill>
                <a:srgbClr val="1D1D1A"/>
              </a:solidFill>
              <a:latin typeface="Huawei Sans" panose="020C0503030203020204" pitchFamily="34" charset="0"/>
              <a:ea typeface="方正兰亭黑简体" panose="02000000000000000000" pitchFamily="2" charset="-122"/>
              <a:sym typeface="Calibri"/>
            </a:endParaRPr>
          </a:p>
        </p:txBody>
      </p:sp>
      <p:sp>
        <p:nvSpPr>
          <p:cNvPr id="94" name="直接箭头连接符 27">
            <a:extLst>
              <a:ext uri="{FF2B5EF4-FFF2-40B4-BE49-F238E27FC236}">
                <a16:creationId xmlns:a16="http://schemas.microsoft.com/office/drawing/2014/main" id="{DDDFD7B0-0219-22A7-F973-546594668B97}"/>
              </a:ext>
            </a:extLst>
          </p:cNvPr>
          <p:cNvSpPr/>
          <p:nvPr/>
        </p:nvSpPr>
        <p:spPr>
          <a:xfrm>
            <a:off x="8212138" y="4130675"/>
            <a:ext cx="273050" cy="0"/>
          </a:xfrm>
          <a:prstGeom prst="line">
            <a:avLst/>
          </a:prstGeom>
          <a:ln w="19050">
            <a:solidFill>
              <a:srgbClr val="0B9CE5"/>
            </a:solidFill>
            <a:miter lim="400000"/>
            <a:headEnd type="oval"/>
            <a:tailEnd type="oval"/>
          </a:ln>
        </p:spPr>
        <p:txBody>
          <a:bodyPr lIns="54549" tIns="54549" rIns="54549" bIns="54549" anchor="ctr"/>
          <a:lstStyle/>
          <a:p>
            <a:pPr defTabSz="627307">
              <a:defRPr/>
            </a:pPr>
            <a:endParaRPr sz="2249" dirty="0">
              <a:solidFill>
                <a:srgbClr val="1D1D1A"/>
              </a:solidFill>
              <a:latin typeface="Huawei Sans" panose="020C0503030203020204" pitchFamily="34" charset="0"/>
              <a:ea typeface="方正兰亭黑简体" panose="02000000000000000000" pitchFamily="2" charset="-122"/>
              <a:sym typeface="Calibri"/>
            </a:endParaRPr>
          </a:p>
        </p:txBody>
      </p:sp>
      <p:sp>
        <p:nvSpPr>
          <p:cNvPr id="95" name="直接箭头连接符 27">
            <a:extLst>
              <a:ext uri="{FF2B5EF4-FFF2-40B4-BE49-F238E27FC236}">
                <a16:creationId xmlns:a16="http://schemas.microsoft.com/office/drawing/2014/main" id="{D8F3E6DC-FE1D-C720-2AE4-6D404C328898}"/>
              </a:ext>
            </a:extLst>
          </p:cNvPr>
          <p:cNvSpPr/>
          <p:nvPr/>
        </p:nvSpPr>
        <p:spPr>
          <a:xfrm flipH="1">
            <a:off x="7199313" y="4121150"/>
            <a:ext cx="257175" cy="0"/>
          </a:xfrm>
          <a:prstGeom prst="line">
            <a:avLst/>
          </a:prstGeom>
          <a:ln w="19050">
            <a:solidFill>
              <a:srgbClr val="0B9CE5"/>
            </a:solidFill>
            <a:miter lim="400000"/>
            <a:headEnd type="oval"/>
            <a:tailEnd type="oval"/>
          </a:ln>
        </p:spPr>
        <p:txBody>
          <a:bodyPr lIns="54549" tIns="54549" rIns="54549" bIns="54549" anchor="ctr"/>
          <a:lstStyle/>
          <a:p>
            <a:pPr defTabSz="627307">
              <a:defRPr/>
            </a:pPr>
            <a:endParaRPr sz="2249" dirty="0">
              <a:solidFill>
                <a:srgbClr val="1D1D1A"/>
              </a:solidFill>
              <a:latin typeface="Huawei Sans" panose="020C0503030203020204" pitchFamily="34" charset="0"/>
              <a:ea typeface="方正兰亭黑简体" panose="02000000000000000000" pitchFamily="2" charset="-122"/>
              <a:sym typeface="Calibri"/>
            </a:endParaRPr>
          </a:p>
        </p:txBody>
      </p:sp>
      <p:sp>
        <p:nvSpPr>
          <p:cNvPr id="96" name="矩形 95">
            <a:extLst>
              <a:ext uri="{FF2B5EF4-FFF2-40B4-BE49-F238E27FC236}">
                <a16:creationId xmlns:a16="http://schemas.microsoft.com/office/drawing/2014/main" id="{71E0810A-B6CE-8123-4F75-1662AA572DBC}"/>
              </a:ext>
            </a:extLst>
          </p:cNvPr>
          <p:cNvSpPr/>
          <p:nvPr/>
        </p:nvSpPr>
        <p:spPr>
          <a:xfrm flipH="1">
            <a:off x="2982913" y="3989388"/>
            <a:ext cx="1690687" cy="276225"/>
          </a:xfrm>
          <a:prstGeom prst="rect">
            <a:avLst/>
          </a:prstGeom>
        </p:spPr>
        <p:txBody>
          <a:bodyPr>
            <a:spAutoFit/>
          </a:bodyPr>
          <a:lstStyle/>
          <a:p>
            <a:pPr algn="ctr" defTabSz="415409">
              <a:defRPr/>
            </a:pPr>
            <a:r>
              <a:rPr lang="zh-CN" altLang="en-US" sz="1199" dirty="0">
                <a:latin typeface="Huawei Sans" panose="020C0503030203020204" pitchFamily="34" charset="0"/>
                <a:ea typeface="方正兰亭黑简体" panose="02000000000000000000" pitchFamily="2" charset="-122"/>
              </a:rPr>
              <a:t>数据中心</a:t>
            </a:r>
          </a:p>
        </p:txBody>
      </p:sp>
      <p:sp>
        <p:nvSpPr>
          <p:cNvPr id="97" name="矩形 96">
            <a:extLst>
              <a:ext uri="{FF2B5EF4-FFF2-40B4-BE49-F238E27FC236}">
                <a16:creationId xmlns:a16="http://schemas.microsoft.com/office/drawing/2014/main" id="{C4949B84-5CA1-C587-7FA0-9CC3FDBC122C}"/>
              </a:ext>
            </a:extLst>
          </p:cNvPr>
          <p:cNvSpPr/>
          <p:nvPr/>
        </p:nvSpPr>
        <p:spPr>
          <a:xfrm flipH="1">
            <a:off x="7019925" y="3990975"/>
            <a:ext cx="1625600" cy="276225"/>
          </a:xfrm>
          <a:prstGeom prst="rect">
            <a:avLst/>
          </a:prstGeom>
        </p:spPr>
        <p:txBody>
          <a:bodyPr>
            <a:spAutoFit/>
          </a:bodyPr>
          <a:lstStyle/>
          <a:p>
            <a:pPr algn="ctr" defTabSz="415409">
              <a:defRPr/>
            </a:pPr>
            <a:r>
              <a:rPr lang="zh-CN" altLang="en-US" sz="1199" dirty="0">
                <a:latin typeface="Huawei Sans" panose="020C0503030203020204" pitchFamily="34" charset="0"/>
                <a:ea typeface="方正兰亭黑简体" panose="02000000000000000000" pitchFamily="2" charset="-122"/>
              </a:rPr>
              <a:t>边缘计算</a:t>
            </a:r>
          </a:p>
        </p:txBody>
      </p:sp>
      <p:sp>
        <p:nvSpPr>
          <p:cNvPr id="98" name="矩形 97">
            <a:extLst>
              <a:ext uri="{FF2B5EF4-FFF2-40B4-BE49-F238E27FC236}">
                <a16:creationId xmlns:a16="http://schemas.microsoft.com/office/drawing/2014/main" id="{DAE92E45-5B8A-E108-E812-368EC6979B51}"/>
              </a:ext>
            </a:extLst>
          </p:cNvPr>
          <p:cNvSpPr/>
          <p:nvPr/>
        </p:nvSpPr>
        <p:spPr>
          <a:xfrm flipH="1">
            <a:off x="901700" y="4179888"/>
            <a:ext cx="1752600" cy="254000"/>
          </a:xfrm>
          <a:prstGeom prst="rect">
            <a:avLst/>
          </a:prstGeom>
        </p:spPr>
        <p:txBody>
          <a:bodyPr>
            <a:spAutoFit/>
          </a:bodyPr>
          <a:lstStyle/>
          <a:p>
            <a:pPr algn="ctr" defTabSz="415409">
              <a:defRPr/>
            </a:pPr>
            <a:r>
              <a:rPr lang="zh-CN" altLang="en-US" sz="1049" dirty="0">
                <a:latin typeface="Huawei Sans" panose="020C0503030203020204" pitchFamily="34" charset="0"/>
                <a:ea typeface="方正兰亭黑简体" panose="02000000000000000000" pitchFamily="2" charset="-122"/>
              </a:rPr>
              <a:t>存储密集型</a:t>
            </a:r>
          </a:p>
        </p:txBody>
      </p:sp>
      <p:sp>
        <p:nvSpPr>
          <p:cNvPr id="99" name="矩形 98">
            <a:extLst>
              <a:ext uri="{FF2B5EF4-FFF2-40B4-BE49-F238E27FC236}">
                <a16:creationId xmlns:a16="http://schemas.microsoft.com/office/drawing/2014/main" id="{42220C6B-1FC4-F7A3-C3D8-C3BE648A19D9}"/>
              </a:ext>
            </a:extLst>
          </p:cNvPr>
          <p:cNvSpPr/>
          <p:nvPr/>
        </p:nvSpPr>
        <p:spPr>
          <a:xfrm flipH="1">
            <a:off x="4781550" y="4186238"/>
            <a:ext cx="1754188" cy="254000"/>
          </a:xfrm>
          <a:prstGeom prst="rect">
            <a:avLst/>
          </a:prstGeom>
        </p:spPr>
        <p:txBody>
          <a:bodyPr>
            <a:spAutoFit/>
          </a:bodyPr>
          <a:lstStyle/>
          <a:p>
            <a:pPr algn="ctr" defTabSz="415409">
              <a:defRPr/>
            </a:pPr>
            <a:r>
              <a:rPr lang="zh-CN" altLang="en-US" sz="1049" dirty="0">
                <a:latin typeface="Huawei Sans" panose="020C0503030203020204" pitchFamily="34" charset="0"/>
                <a:ea typeface="方正兰亭黑简体" panose="02000000000000000000" pitchFamily="2" charset="-122"/>
              </a:rPr>
              <a:t>计算密集型</a:t>
            </a:r>
          </a:p>
        </p:txBody>
      </p:sp>
      <p:sp>
        <p:nvSpPr>
          <p:cNvPr id="121888" name="TaiShan 2280…">
            <a:extLst>
              <a:ext uri="{FF2B5EF4-FFF2-40B4-BE49-F238E27FC236}">
                <a16:creationId xmlns:a16="http://schemas.microsoft.com/office/drawing/2014/main" id="{34E55F4D-1BFF-2C95-03BC-11A8904ED2E4}"/>
              </a:ext>
            </a:extLst>
          </p:cNvPr>
          <p:cNvSpPr txBox="1">
            <a:spLocks noChangeArrowheads="1"/>
          </p:cNvSpPr>
          <p:nvPr/>
        </p:nvSpPr>
        <p:spPr bwMode="auto">
          <a:xfrm>
            <a:off x="3784600" y="4430713"/>
            <a:ext cx="9080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5060" tIns="15060" rIns="15060" bIns="15060" anchor="ctr">
            <a:spAutoFit/>
          </a:bodyPr>
          <a:lstStyle>
            <a:lvl1pPr marL="342900" indent="-342900" defTabSz="127000">
              <a:spcBef>
                <a:spcPct val="20000"/>
              </a:spcBef>
              <a:buChar char="•"/>
              <a:defRPr sz="2800">
                <a:solidFill>
                  <a:schemeClr val="tx1"/>
                </a:solidFill>
                <a:latin typeface="Comic Sans MS" panose="030F0902030302020204" pitchFamily="66" charset="0"/>
              </a:defRPr>
            </a:lvl1pPr>
            <a:lvl2pPr defTabSz="127000">
              <a:spcBef>
                <a:spcPct val="20000"/>
              </a:spcBef>
              <a:buChar char="–"/>
              <a:defRPr sz="2400">
                <a:solidFill>
                  <a:schemeClr val="tx1"/>
                </a:solidFill>
                <a:latin typeface="Comic Sans MS" panose="030F0902030302020204" pitchFamily="66" charset="0"/>
              </a:defRPr>
            </a:lvl2pPr>
            <a:lvl3pPr marL="1143000" indent="-228600" defTabSz="127000">
              <a:spcBef>
                <a:spcPct val="20000"/>
              </a:spcBef>
              <a:buChar char="•"/>
              <a:defRPr sz="2000">
                <a:solidFill>
                  <a:schemeClr val="tx1"/>
                </a:solidFill>
                <a:latin typeface="Comic Sans MS" panose="030F0902030302020204" pitchFamily="66" charset="0"/>
              </a:defRPr>
            </a:lvl3pPr>
            <a:lvl4pPr marL="1600200" indent="-228600" defTabSz="127000">
              <a:spcBef>
                <a:spcPct val="20000"/>
              </a:spcBef>
              <a:buChar char="–"/>
              <a:defRPr sz="2000">
                <a:solidFill>
                  <a:schemeClr val="tx1"/>
                </a:solidFill>
                <a:latin typeface="Comic Sans MS" panose="030F0902030302020204" pitchFamily="66" charset="0"/>
              </a:defRPr>
            </a:lvl4pPr>
            <a:lvl5pPr marL="2057400" indent="-228600" defTabSz="127000">
              <a:spcBef>
                <a:spcPct val="20000"/>
              </a:spcBef>
              <a:buChar char="»"/>
              <a:defRPr sz="2000">
                <a:solidFill>
                  <a:schemeClr val="tx1"/>
                </a:solidFill>
                <a:latin typeface="Comic Sans MS" panose="030F0902030302020204" pitchFamily="66" charset="0"/>
              </a:defRPr>
            </a:lvl5pPr>
            <a:lvl6pPr marL="25146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marL="0" lvl="1" algn="ctr">
              <a:spcBef>
                <a:spcPct val="0"/>
              </a:spcBef>
              <a:buFontTx/>
              <a:buNone/>
            </a:pPr>
            <a:r>
              <a:rPr lang="en-US" altLang="zh-CN" sz="900">
                <a:latin typeface="Huawei Sans"/>
                <a:ea typeface="方正兰亭黑简体"/>
                <a:cs typeface="Arial" panose="020B0604020202020204" pitchFamily="34" charset="0"/>
                <a:sym typeface="Microsoft YaHei" panose="020B0503020204020204" pitchFamily="34" charset="-122"/>
              </a:rPr>
              <a:t>1280</a:t>
            </a:r>
          </a:p>
          <a:p>
            <a:pPr marL="0" lvl="1" algn="ctr">
              <a:spcBef>
                <a:spcPct val="0"/>
              </a:spcBef>
              <a:buFontTx/>
              <a:buNone/>
            </a:pPr>
            <a:r>
              <a:rPr lang="en-US" altLang="zh-CN" sz="900">
                <a:latin typeface="Huawei Sans"/>
                <a:ea typeface="方正兰亭黑简体"/>
                <a:cs typeface="Huawei Sans"/>
                <a:sym typeface="Microsoft YaHei" panose="020B0503020204020204" pitchFamily="34" charset="-122"/>
              </a:rPr>
              <a:t>1U2</a:t>
            </a:r>
            <a:r>
              <a:rPr lang="zh-CN" altLang="en-US" sz="900">
                <a:latin typeface="Huawei Sans"/>
                <a:ea typeface="方正兰亭黑简体"/>
                <a:cs typeface="Huawei Sans"/>
                <a:sym typeface="Microsoft YaHei" panose="020B0503020204020204" pitchFamily="34" charset="-122"/>
              </a:rPr>
              <a:t>路高密型</a:t>
            </a:r>
          </a:p>
        </p:txBody>
      </p:sp>
      <p:pic>
        <p:nvPicPr>
          <p:cNvPr id="101" name="图片 100">
            <a:extLst>
              <a:ext uri="{FF2B5EF4-FFF2-40B4-BE49-F238E27FC236}">
                <a16:creationId xmlns:a16="http://schemas.microsoft.com/office/drawing/2014/main" id="{77EF353F-E57F-62B2-0471-9FC5038A5C0E}"/>
              </a:ext>
            </a:extLst>
          </p:cNvPr>
          <p:cNvPicPr>
            <a:picLocks noChangeAspect="1"/>
          </p:cNvPicPr>
          <p:nvPr/>
        </p:nvPicPr>
        <p:blipFill>
          <a:blip r:embed="rId3" cstate="print"/>
          <a:stretch>
            <a:fillRect/>
          </a:stretch>
        </p:blipFill>
        <p:spPr>
          <a:xfrm>
            <a:off x="679450" y="4775200"/>
            <a:ext cx="890588" cy="458788"/>
          </a:xfrm>
          <a:prstGeom prst="rect">
            <a:avLst/>
          </a:prstGeom>
          <a:gradFill rotWithShape="1">
            <a:gsLst>
              <a:gs pos="0">
                <a:srgbClr val="CCCCCC"/>
              </a:gs>
              <a:gs pos="50000">
                <a:srgbClr val="FFFFFF"/>
              </a:gs>
              <a:gs pos="100000">
                <a:srgbClr val="CCCCCC"/>
              </a:gs>
            </a:gsLst>
            <a:lin ang="5400000" scaled="1"/>
          </a:gradFill>
          <a:ln w="28575" algn="ctr">
            <a:noFill/>
            <a:miter lim="800000"/>
            <a:headEnd/>
            <a:tailEnd/>
          </a:ln>
          <a:effectLst>
            <a:outerShdw blurRad="50800" dist="38100" dir="2700000" algn="tl" rotWithShape="0">
              <a:prstClr val="black">
                <a:alpha val="40000"/>
              </a:prstClr>
            </a:outerShdw>
          </a:effectLst>
        </p:spPr>
      </p:pic>
      <p:sp>
        <p:nvSpPr>
          <p:cNvPr id="121890" name="TaiShan 2290/5280/5290…">
            <a:extLst>
              <a:ext uri="{FF2B5EF4-FFF2-40B4-BE49-F238E27FC236}">
                <a16:creationId xmlns:a16="http://schemas.microsoft.com/office/drawing/2014/main" id="{3325B08D-B67C-973C-5FF3-B9B66290CAFC}"/>
              </a:ext>
            </a:extLst>
          </p:cNvPr>
          <p:cNvSpPr txBox="1">
            <a:spLocks noChangeArrowheads="1"/>
          </p:cNvSpPr>
          <p:nvPr/>
        </p:nvSpPr>
        <p:spPr bwMode="auto">
          <a:xfrm>
            <a:off x="731838" y="4441825"/>
            <a:ext cx="785812"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5060" tIns="15060" rIns="15060" bIns="15060" anchor="ctr">
            <a:spAutoFit/>
          </a:bodyPr>
          <a:lstStyle>
            <a:lvl1pPr marL="342900" indent="-342900" defTabSz="127000">
              <a:spcBef>
                <a:spcPct val="20000"/>
              </a:spcBef>
              <a:buChar char="•"/>
              <a:defRPr sz="2800">
                <a:solidFill>
                  <a:schemeClr val="tx1"/>
                </a:solidFill>
                <a:latin typeface="Comic Sans MS" panose="030F0902030302020204" pitchFamily="66" charset="0"/>
              </a:defRPr>
            </a:lvl1pPr>
            <a:lvl2pPr defTabSz="127000">
              <a:spcBef>
                <a:spcPct val="20000"/>
              </a:spcBef>
              <a:buChar char="–"/>
              <a:defRPr sz="2400">
                <a:solidFill>
                  <a:schemeClr val="tx1"/>
                </a:solidFill>
                <a:latin typeface="Comic Sans MS" panose="030F0902030302020204" pitchFamily="66" charset="0"/>
              </a:defRPr>
            </a:lvl2pPr>
            <a:lvl3pPr marL="1143000" indent="-228600" defTabSz="127000">
              <a:spcBef>
                <a:spcPct val="20000"/>
              </a:spcBef>
              <a:buChar char="•"/>
              <a:defRPr sz="2000">
                <a:solidFill>
                  <a:schemeClr val="tx1"/>
                </a:solidFill>
                <a:latin typeface="Comic Sans MS" panose="030F0902030302020204" pitchFamily="66" charset="0"/>
              </a:defRPr>
            </a:lvl3pPr>
            <a:lvl4pPr marL="1600200" indent="-228600" defTabSz="127000">
              <a:spcBef>
                <a:spcPct val="20000"/>
              </a:spcBef>
              <a:buChar char="–"/>
              <a:defRPr sz="2000">
                <a:solidFill>
                  <a:schemeClr val="tx1"/>
                </a:solidFill>
                <a:latin typeface="Comic Sans MS" panose="030F0902030302020204" pitchFamily="66" charset="0"/>
              </a:defRPr>
            </a:lvl4pPr>
            <a:lvl5pPr marL="2057400" indent="-228600" defTabSz="127000">
              <a:spcBef>
                <a:spcPct val="20000"/>
              </a:spcBef>
              <a:buChar char="»"/>
              <a:defRPr sz="2000">
                <a:solidFill>
                  <a:schemeClr val="tx1"/>
                </a:solidFill>
                <a:latin typeface="Comic Sans MS" panose="030F0902030302020204" pitchFamily="66" charset="0"/>
              </a:defRPr>
            </a:lvl5pPr>
            <a:lvl6pPr marL="25146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marL="0" lvl="1" algn="ctr">
              <a:spcBef>
                <a:spcPct val="0"/>
              </a:spcBef>
              <a:buFontTx/>
              <a:buNone/>
            </a:pPr>
            <a:r>
              <a:rPr lang="en-US" altLang="zh-CN" sz="900">
                <a:latin typeface="Huawei Sans"/>
                <a:ea typeface="方正兰亭黑简体"/>
                <a:cs typeface="Arial" panose="020B0604020202020204" pitchFamily="34" charset="0"/>
                <a:sym typeface="Microsoft YaHei" panose="020B0503020204020204" pitchFamily="34" charset="-122"/>
              </a:rPr>
              <a:t>5290</a:t>
            </a:r>
          </a:p>
          <a:p>
            <a:pPr marL="0" lvl="1" algn="ctr">
              <a:spcBef>
                <a:spcPct val="0"/>
              </a:spcBef>
              <a:buFontTx/>
              <a:buNone/>
            </a:pPr>
            <a:r>
              <a:rPr lang="en-US" altLang="zh-CN" sz="900">
                <a:latin typeface="Huawei Sans"/>
                <a:ea typeface="方正兰亭黑简体"/>
                <a:cs typeface="Huawei Sans"/>
                <a:sym typeface="Microsoft YaHei" panose="020B0503020204020204" pitchFamily="34" charset="-122"/>
              </a:rPr>
              <a:t>4U72</a:t>
            </a:r>
            <a:r>
              <a:rPr lang="zh-CN" altLang="en-US" sz="900">
                <a:latin typeface="Huawei Sans"/>
                <a:ea typeface="方正兰亭黑简体"/>
                <a:cs typeface="Huawei Sans"/>
                <a:sym typeface="Microsoft YaHei" panose="020B0503020204020204" pitchFamily="34" charset="-122"/>
              </a:rPr>
              <a:t>盘存储型</a:t>
            </a:r>
            <a:endParaRPr lang="zh-CN" altLang="en-US" sz="900">
              <a:latin typeface="Huawei Sans"/>
              <a:ea typeface="方正兰亭黑简体"/>
              <a:cs typeface="Huawei Sans"/>
              <a:sym typeface="Helvetica" pitchFamily="2" charset="0"/>
            </a:endParaRPr>
          </a:p>
        </p:txBody>
      </p:sp>
      <p:pic>
        <p:nvPicPr>
          <p:cNvPr id="104" name="图片 103">
            <a:extLst>
              <a:ext uri="{FF2B5EF4-FFF2-40B4-BE49-F238E27FC236}">
                <a16:creationId xmlns:a16="http://schemas.microsoft.com/office/drawing/2014/main" id="{1C018217-0A4D-3EB8-899F-A84BC89279D3}"/>
              </a:ext>
            </a:extLst>
          </p:cNvPr>
          <p:cNvPicPr>
            <a:picLocks noChangeAspect="1"/>
          </p:cNvPicPr>
          <p:nvPr/>
        </p:nvPicPr>
        <p:blipFill>
          <a:blip r:embed="rId4" cstate="print"/>
          <a:stretch>
            <a:fillRect/>
          </a:stretch>
        </p:blipFill>
        <p:spPr>
          <a:xfrm>
            <a:off x="2786063" y="4778375"/>
            <a:ext cx="733425" cy="458788"/>
          </a:xfrm>
          <a:prstGeom prst="rect">
            <a:avLst/>
          </a:prstGeom>
          <a:gradFill rotWithShape="1">
            <a:gsLst>
              <a:gs pos="0">
                <a:srgbClr val="CCCCCC"/>
              </a:gs>
              <a:gs pos="50000">
                <a:srgbClr val="FFFFFF"/>
              </a:gs>
              <a:gs pos="100000">
                <a:srgbClr val="CCCCCC"/>
              </a:gs>
            </a:gsLst>
            <a:lin ang="5400000" scaled="1"/>
          </a:gradFill>
          <a:ln w="28575" algn="ctr">
            <a:noFill/>
            <a:miter lim="800000"/>
            <a:headEnd/>
            <a:tailEnd/>
          </a:ln>
          <a:effectLst>
            <a:outerShdw blurRad="50800" dist="38100" dir="2700000" algn="tl" rotWithShape="0">
              <a:prstClr val="black">
                <a:alpha val="40000"/>
              </a:prstClr>
            </a:outerShdw>
          </a:effectLst>
        </p:spPr>
      </p:pic>
      <p:pic>
        <p:nvPicPr>
          <p:cNvPr id="105" name="图片 104">
            <a:extLst>
              <a:ext uri="{FF2B5EF4-FFF2-40B4-BE49-F238E27FC236}">
                <a16:creationId xmlns:a16="http://schemas.microsoft.com/office/drawing/2014/main" id="{14F97058-8054-40B3-A42E-470102C85297}"/>
              </a:ext>
            </a:extLst>
          </p:cNvPr>
          <p:cNvPicPr>
            <a:picLocks noChangeAspect="1"/>
          </p:cNvPicPr>
          <p:nvPr/>
        </p:nvPicPr>
        <p:blipFill>
          <a:blip r:embed="rId5" cstate="print"/>
          <a:stretch>
            <a:fillRect/>
          </a:stretch>
        </p:blipFill>
        <p:spPr>
          <a:xfrm>
            <a:off x="1751013" y="4783138"/>
            <a:ext cx="827087" cy="458787"/>
          </a:xfrm>
          <a:prstGeom prst="rect">
            <a:avLst/>
          </a:prstGeom>
          <a:gradFill rotWithShape="1">
            <a:gsLst>
              <a:gs pos="0">
                <a:srgbClr val="CCCCCC"/>
              </a:gs>
              <a:gs pos="50000">
                <a:srgbClr val="FFFFFF"/>
              </a:gs>
              <a:gs pos="100000">
                <a:srgbClr val="CCCCCC"/>
              </a:gs>
            </a:gsLst>
            <a:lin ang="5400000" scaled="1"/>
          </a:gradFill>
          <a:ln w="28575" algn="ctr">
            <a:noFill/>
            <a:miter lim="800000"/>
            <a:headEnd/>
            <a:tailEnd/>
          </a:ln>
          <a:effectLst>
            <a:outerShdw blurRad="50800" dist="38100" dir="2700000" algn="tl" rotWithShape="0">
              <a:prstClr val="black">
                <a:alpha val="40000"/>
              </a:prstClr>
            </a:outerShdw>
          </a:effectLst>
        </p:spPr>
      </p:pic>
      <p:pic>
        <p:nvPicPr>
          <p:cNvPr id="106" name="图片 105">
            <a:extLst>
              <a:ext uri="{FF2B5EF4-FFF2-40B4-BE49-F238E27FC236}">
                <a16:creationId xmlns:a16="http://schemas.microsoft.com/office/drawing/2014/main" id="{13C6187E-CDF7-3E3D-414B-3355D306C735}"/>
              </a:ext>
            </a:extLst>
          </p:cNvPr>
          <p:cNvPicPr>
            <a:picLocks noChangeAspect="1"/>
          </p:cNvPicPr>
          <p:nvPr/>
        </p:nvPicPr>
        <p:blipFill>
          <a:blip r:embed="rId6" cstate="print"/>
          <a:stretch>
            <a:fillRect/>
          </a:stretch>
        </p:blipFill>
        <p:spPr>
          <a:xfrm>
            <a:off x="5989638" y="4767263"/>
            <a:ext cx="930275" cy="458787"/>
          </a:xfrm>
          <a:prstGeom prst="rect">
            <a:avLst/>
          </a:prstGeom>
          <a:gradFill rotWithShape="1">
            <a:gsLst>
              <a:gs pos="0">
                <a:srgbClr val="CCCCCC"/>
              </a:gs>
              <a:gs pos="50000">
                <a:srgbClr val="FFFFFF"/>
              </a:gs>
              <a:gs pos="100000">
                <a:srgbClr val="CCCCCC"/>
              </a:gs>
            </a:gsLst>
            <a:lin ang="5400000" scaled="1"/>
          </a:gradFill>
          <a:ln w="28575" algn="ctr">
            <a:noFill/>
            <a:miter lim="800000"/>
            <a:headEnd/>
            <a:tailEnd/>
          </a:ln>
          <a:effectLst>
            <a:outerShdw blurRad="50800" dist="38100" dir="2700000" algn="tl" rotWithShape="0">
              <a:prstClr val="black">
                <a:alpha val="40000"/>
              </a:prstClr>
            </a:outerShdw>
          </a:effectLst>
        </p:spPr>
      </p:pic>
      <p:pic>
        <p:nvPicPr>
          <p:cNvPr id="108" name="图片 107">
            <a:extLst>
              <a:ext uri="{FF2B5EF4-FFF2-40B4-BE49-F238E27FC236}">
                <a16:creationId xmlns:a16="http://schemas.microsoft.com/office/drawing/2014/main" id="{9191472C-7DDB-2B95-2C22-DB72736A78DD}"/>
              </a:ext>
            </a:extLst>
          </p:cNvPr>
          <p:cNvPicPr>
            <a:picLocks noChangeAspect="1"/>
          </p:cNvPicPr>
          <p:nvPr/>
        </p:nvPicPr>
        <p:blipFill>
          <a:blip r:embed="rId7" cstate="print"/>
          <a:stretch>
            <a:fillRect/>
          </a:stretch>
        </p:blipFill>
        <p:spPr>
          <a:xfrm>
            <a:off x="7267575" y="4773613"/>
            <a:ext cx="1158875" cy="458787"/>
          </a:xfrm>
          <a:prstGeom prst="rect">
            <a:avLst/>
          </a:prstGeom>
          <a:gradFill rotWithShape="1">
            <a:gsLst>
              <a:gs pos="0">
                <a:srgbClr val="CCCCCC"/>
              </a:gs>
              <a:gs pos="50000">
                <a:srgbClr val="FFFFFF"/>
              </a:gs>
              <a:gs pos="100000">
                <a:srgbClr val="CCCCCC"/>
              </a:gs>
            </a:gsLst>
            <a:lin ang="5400000" scaled="1"/>
          </a:gradFill>
          <a:ln w="28575" algn="ctr">
            <a:noFill/>
            <a:miter lim="800000"/>
            <a:headEnd/>
            <a:tailEnd/>
          </a:ln>
          <a:effectLst>
            <a:outerShdw blurRad="50800" dist="38100" dir="2700000" algn="tl" rotWithShape="0">
              <a:prstClr val="black">
                <a:alpha val="40000"/>
              </a:prstClr>
            </a:outerShdw>
          </a:effectLst>
        </p:spPr>
      </p:pic>
      <p:pic>
        <p:nvPicPr>
          <p:cNvPr id="109" name="图片 108">
            <a:extLst>
              <a:ext uri="{FF2B5EF4-FFF2-40B4-BE49-F238E27FC236}">
                <a16:creationId xmlns:a16="http://schemas.microsoft.com/office/drawing/2014/main" id="{479A11C1-8C8C-3CBB-1D8F-0EBAB22988E7}"/>
              </a:ext>
            </a:extLst>
          </p:cNvPr>
          <p:cNvPicPr>
            <a:picLocks noChangeAspect="1"/>
          </p:cNvPicPr>
          <p:nvPr/>
        </p:nvPicPr>
        <p:blipFill>
          <a:blip r:embed="rId8" cstate="print"/>
          <a:stretch>
            <a:fillRect/>
          </a:stretch>
        </p:blipFill>
        <p:spPr>
          <a:xfrm>
            <a:off x="3825875" y="4756150"/>
            <a:ext cx="869950" cy="458788"/>
          </a:xfrm>
          <a:prstGeom prst="rect">
            <a:avLst/>
          </a:prstGeom>
          <a:gradFill rotWithShape="1">
            <a:gsLst>
              <a:gs pos="0">
                <a:srgbClr val="CCCCCC"/>
              </a:gs>
              <a:gs pos="50000">
                <a:srgbClr val="FFFFFF"/>
              </a:gs>
              <a:gs pos="100000">
                <a:srgbClr val="CCCCCC"/>
              </a:gs>
            </a:gsLst>
            <a:lin ang="5400000" scaled="1"/>
          </a:gradFill>
          <a:ln w="28575" algn="ctr">
            <a:noFill/>
            <a:miter lim="800000"/>
            <a:headEnd/>
            <a:tailEnd/>
          </a:ln>
          <a:effectLst>
            <a:outerShdw blurRad="50800" dist="38100" dir="2700000" algn="tl" rotWithShape="0">
              <a:prstClr val="black">
                <a:alpha val="40000"/>
              </a:prstClr>
            </a:outerShdw>
          </a:effectLst>
        </p:spPr>
      </p:pic>
      <p:pic>
        <p:nvPicPr>
          <p:cNvPr id="111" name="图片 110">
            <a:extLst>
              <a:ext uri="{FF2B5EF4-FFF2-40B4-BE49-F238E27FC236}">
                <a16:creationId xmlns:a16="http://schemas.microsoft.com/office/drawing/2014/main" id="{B1989EB7-FCA2-E68E-4341-846B4AAF23EC}"/>
              </a:ext>
            </a:extLst>
          </p:cNvPr>
          <p:cNvPicPr>
            <a:picLocks noChangeAspect="1"/>
          </p:cNvPicPr>
          <p:nvPr/>
        </p:nvPicPr>
        <p:blipFill>
          <a:blip r:embed="rId9" cstate="print"/>
          <a:stretch>
            <a:fillRect/>
          </a:stretch>
        </p:blipFill>
        <p:spPr>
          <a:xfrm>
            <a:off x="4887913" y="4756150"/>
            <a:ext cx="973137" cy="458788"/>
          </a:xfrm>
          <a:prstGeom prst="rect">
            <a:avLst/>
          </a:prstGeom>
          <a:gradFill rotWithShape="1">
            <a:gsLst>
              <a:gs pos="0">
                <a:srgbClr val="CCCCCC"/>
              </a:gs>
              <a:gs pos="50000">
                <a:srgbClr val="FFFFFF"/>
              </a:gs>
              <a:gs pos="100000">
                <a:srgbClr val="CCCCCC"/>
              </a:gs>
            </a:gsLst>
            <a:lin ang="5400000" scaled="1"/>
          </a:gradFill>
          <a:ln w="28575" algn="ctr">
            <a:noFill/>
            <a:miter lim="800000"/>
            <a:headEnd/>
            <a:tailEnd/>
          </a:ln>
          <a:effectLst>
            <a:outerShdw blurRad="50800" dist="38100" dir="2700000" algn="tl" rotWithShape="0">
              <a:prstClr val="black">
                <a:alpha val="40000"/>
              </a:prstClr>
            </a:outerShdw>
          </a:effectLst>
        </p:spPr>
      </p:pic>
      <p:sp>
        <p:nvSpPr>
          <p:cNvPr id="121897" name="TaiShan 2280…">
            <a:extLst>
              <a:ext uri="{FF2B5EF4-FFF2-40B4-BE49-F238E27FC236}">
                <a16:creationId xmlns:a16="http://schemas.microsoft.com/office/drawing/2014/main" id="{87DCAF31-AD99-C246-083E-15AEE72EB273}"/>
              </a:ext>
            </a:extLst>
          </p:cNvPr>
          <p:cNvSpPr txBox="1">
            <a:spLocks noChangeArrowheads="1"/>
          </p:cNvSpPr>
          <p:nvPr/>
        </p:nvSpPr>
        <p:spPr bwMode="auto">
          <a:xfrm>
            <a:off x="3910013" y="5251450"/>
            <a:ext cx="70326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5060" tIns="15060" rIns="15060" bIns="15060" anchor="ctr">
            <a:spAutoFit/>
          </a:bodyPr>
          <a:lstStyle>
            <a:lvl1pPr marL="342900" indent="-342900" defTabSz="127000">
              <a:spcBef>
                <a:spcPct val="20000"/>
              </a:spcBef>
              <a:buChar char="•"/>
              <a:defRPr sz="2800">
                <a:solidFill>
                  <a:schemeClr val="tx1"/>
                </a:solidFill>
                <a:latin typeface="Comic Sans MS" panose="030F0902030302020204" pitchFamily="66" charset="0"/>
              </a:defRPr>
            </a:lvl1pPr>
            <a:lvl2pPr defTabSz="127000">
              <a:spcBef>
                <a:spcPct val="20000"/>
              </a:spcBef>
              <a:buChar char="–"/>
              <a:defRPr sz="2400">
                <a:solidFill>
                  <a:schemeClr val="tx1"/>
                </a:solidFill>
                <a:latin typeface="Comic Sans MS" panose="030F0902030302020204" pitchFamily="66" charset="0"/>
              </a:defRPr>
            </a:lvl2pPr>
            <a:lvl3pPr marL="1143000" indent="-228600" defTabSz="127000">
              <a:spcBef>
                <a:spcPct val="20000"/>
              </a:spcBef>
              <a:buChar char="•"/>
              <a:defRPr sz="2000">
                <a:solidFill>
                  <a:schemeClr val="tx1"/>
                </a:solidFill>
                <a:latin typeface="Comic Sans MS" panose="030F0902030302020204" pitchFamily="66" charset="0"/>
              </a:defRPr>
            </a:lvl3pPr>
            <a:lvl4pPr marL="1600200" indent="-228600" defTabSz="127000">
              <a:spcBef>
                <a:spcPct val="20000"/>
              </a:spcBef>
              <a:buChar char="–"/>
              <a:defRPr sz="2000">
                <a:solidFill>
                  <a:schemeClr val="tx1"/>
                </a:solidFill>
                <a:latin typeface="Comic Sans MS" panose="030F0902030302020204" pitchFamily="66" charset="0"/>
              </a:defRPr>
            </a:lvl4pPr>
            <a:lvl5pPr marL="2057400" indent="-228600" defTabSz="127000">
              <a:spcBef>
                <a:spcPct val="20000"/>
              </a:spcBef>
              <a:buChar char="»"/>
              <a:defRPr sz="2000">
                <a:solidFill>
                  <a:schemeClr val="tx1"/>
                </a:solidFill>
                <a:latin typeface="Comic Sans MS" panose="030F0902030302020204" pitchFamily="66" charset="0"/>
              </a:defRPr>
            </a:lvl5pPr>
            <a:lvl6pPr marL="25146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marL="0" lvl="1" algn="ctr">
              <a:spcBef>
                <a:spcPct val="0"/>
              </a:spcBef>
              <a:buFontTx/>
              <a:buNone/>
            </a:pPr>
            <a:r>
              <a:rPr lang="en-US" altLang="zh-CN" sz="900">
                <a:latin typeface="Huawei Sans"/>
                <a:ea typeface="方正兰亭黑简体"/>
                <a:cs typeface="Arial" panose="020B0604020202020204" pitchFamily="34" charset="0"/>
                <a:sym typeface="Microsoft YaHei" panose="020B0503020204020204" pitchFamily="34" charset="-122"/>
              </a:rPr>
              <a:t>(</a:t>
            </a:r>
            <a:r>
              <a:rPr lang="zh-CN" altLang="en-US" sz="900">
                <a:latin typeface="Huawei Sans"/>
                <a:ea typeface="方正兰亭黑简体"/>
                <a:cs typeface="Arial" panose="020B0604020202020204" pitchFamily="34" charset="0"/>
                <a:sym typeface="Microsoft YaHei" panose="020B0503020204020204" pitchFamily="34" charset="-122"/>
              </a:rPr>
              <a:t>新产品</a:t>
            </a:r>
            <a:r>
              <a:rPr lang="en-US" altLang="zh-CN" sz="900">
                <a:latin typeface="Huawei Sans"/>
                <a:ea typeface="方正兰亭黑简体"/>
                <a:cs typeface="Arial" panose="020B0604020202020204" pitchFamily="34" charset="0"/>
                <a:sym typeface="Microsoft YaHei" panose="020B0503020204020204" pitchFamily="34" charset="-122"/>
              </a:rPr>
              <a:t>)</a:t>
            </a:r>
            <a:endParaRPr lang="zh-CN" altLang="en-US" sz="900">
              <a:latin typeface="Huawei Sans"/>
              <a:ea typeface="方正兰亭黑简体"/>
              <a:cs typeface="Huawei Sans"/>
              <a:sym typeface="Microsoft YaHei" panose="020B0503020204020204" pitchFamily="34" charset="-122"/>
            </a:endParaRPr>
          </a:p>
        </p:txBody>
      </p:sp>
      <p:sp>
        <p:nvSpPr>
          <p:cNvPr id="121898" name="TaiShan 2280…">
            <a:extLst>
              <a:ext uri="{FF2B5EF4-FFF2-40B4-BE49-F238E27FC236}">
                <a16:creationId xmlns:a16="http://schemas.microsoft.com/office/drawing/2014/main" id="{C1D6F561-A9D7-CB94-B86C-E15FC672ED80}"/>
              </a:ext>
            </a:extLst>
          </p:cNvPr>
          <p:cNvSpPr txBox="1">
            <a:spLocks noChangeArrowheads="1"/>
          </p:cNvSpPr>
          <p:nvPr/>
        </p:nvSpPr>
        <p:spPr bwMode="auto">
          <a:xfrm>
            <a:off x="5043488" y="5259388"/>
            <a:ext cx="70326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5060" tIns="15060" rIns="15060" bIns="15060" anchor="ctr">
            <a:spAutoFit/>
          </a:bodyPr>
          <a:lstStyle>
            <a:lvl1pPr marL="342900" indent="-342900" defTabSz="127000">
              <a:spcBef>
                <a:spcPct val="20000"/>
              </a:spcBef>
              <a:buChar char="•"/>
              <a:defRPr sz="2800">
                <a:solidFill>
                  <a:schemeClr val="tx1"/>
                </a:solidFill>
                <a:latin typeface="Comic Sans MS" panose="030F0902030302020204" pitchFamily="66" charset="0"/>
              </a:defRPr>
            </a:lvl1pPr>
            <a:lvl2pPr defTabSz="127000">
              <a:spcBef>
                <a:spcPct val="20000"/>
              </a:spcBef>
              <a:buChar char="–"/>
              <a:defRPr sz="2400">
                <a:solidFill>
                  <a:schemeClr val="tx1"/>
                </a:solidFill>
                <a:latin typeface="Comic Sans MS" panose="030F0902030302020204" pitchFamily="66" charset="0"/>
              </a:defRPr>
            </a:lvl2pPr>
            <a:lvl3pPr marL="1143000" indent="-228600" defTabSz="127000">
              <a:spcBef>
                <a:spcPct val="20000"/>
              </a:spcBef>
              <a:buChar char="•"/>
              <a:defRPr sz="2000">
                <a:solidFill>
                  <a:schemeClr val="tx1"/>
                </a:solidFill>
                <a:latin typeface="Comic Sans MS" panose="030F0902030302020204" pitchFamily="66" charset="0"/>
              </a:defRPr>
            </a:lvl3pPr>
            <a:lvl4pPr marL="1600200" indent="-228600" defTabSz="127000">
              <a:spcBef>
                <a:spcPct val="20000"/>
              </a:spcBef>
              <a:buChar char="–"/>
              <a:defRPr sz="2000">
                <a:solidFill>
                  <a:schemeClr val="tx1"/>
                </a:solidFill>
                <a:latin typeface="Comic Sans MS" panose="030F0902030302020204" pitchFamily="66" charset="0"/>
              </a:defRPr>
            </a:lvl4pPr>
            <a:lvl5pPr marL="2057400" indent="-228600" defTabSz="127000">
              <a:spcBef>
                <a:spcPct val="20000"/>
              </a:spcBef>
              <a:buChar char="»"/>
              <a:defRPr sz="2000">
                <a:solidFill>
                  <a:schemeClr val="tx1"/>
                </a:solidFill>
                <a:latin typeface="Comic Sans MS" panose="030F0902030302020204" pitchFamily="66" charset="0"/>
              </a:defRPr>
            </a:lvl5pPr>
            <a:lvl6pPr marL="25146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marL="0" lvl="1" algn="ctr">
              <a:spcBef>
                <a:spcPct val="0"/>
              </a:spcBef>
              <a:buFontTx/>
              <a:buNone/>
            </a:pPr>
            <a:r>
              <a:rPr lang="en-US" altLang="zh-CN" sz="900">
                <a:latin typeface="Huawei Sans"/>
                <a:ea typeface="方正兰亭黑简体"/>
                <a:cs typeface="Arial" panose="020B0604020202020204" pitchFamily="34" charset="0"/>
                <a:sym typeface="Microsoft YaHei" panose="020B0503020204020204" pitchFamily="34" charset="-122"/>
              </a:rPr>
              <a:t>(</a:t>
            </a:r>
            <a:r>
              <a:rPr lang="zh-CN" altLang="en-US" sz="900">
                <a:latin typeface="Huawei Sans"/>
                <a:ea typeface="方正兰亭黑简体"/>
                <a:cs typeface="Arial" panose="020B0604020202020204" pitchFamily="34" charset="0"/>
                <a:sym typeface="Microsoft YaHei" panose="020B0503020204020204" pitchFamily="34" charset="-122"/>
              </a:rPr>
              <a:t>新产品</a:t>
            </a:r>
            <a:r>
              <a:rPr lang="en-US" altLang="zh-CN" sz="900">
                <a:latin typeface="Huawei Sans"/>
                <a:ea typeface="方正兰亭黑简体"/>
                <a:cs typeface="Arial" panose="020B0604020202020204" pitchFamily="34" charset="0"/>
                <a:sym typeface="Microsoft YaHei" panose="020B0503020204020204" pitchFamily="34" charset="-122"/>
              </a:rPr>
              <a:t>)</a:t>
            </a:r>
            <a:endParaRPr lang="zh-CN" altLang="en-US" sz="900">
              <a:latin typeface="Huawei Sans"/>
              <a:ea typeface="方正兰亭黑简体"/>
              <a:cs typeface="Huawei Sans"/>
              <a:sym typeface="Microsoft YaHei" panose="020B0503020204020204" pitchFamily="34" charset="-122"/>
            </a:endParaRPr>
          </a:p>
        </p:txBody>
      </p:sp>
      <p:sp>
        <p:nvSpPr>
          <p:cNvPr id="121899" name="TaiShan 2280…">
            <a:extLst>
              <a:ext uri="{FF2B5EF4-FFF2-40B4-BE49-F238E27FC236}">
                <a16:creationId xmlns:a16="http://schemas.microsoft.com/office/drawing/2014/main" id="{E5553342-AABF-6110-B6C8-26A9B703E44C}"/>
              </a:ext>
            </a:extLst>
          </p:cNvPr>
          <p:cNvSpPr txBox="1">
            <a:spLocks noChangeArrowheads="1"/>
          </p:cNvSpPr>
          <p:nvPr/>
        </p:nvSpPr>
        <p:spPr bwMode="auto">
          <a:xfrm>
            <a:off x="773113" y="5259388"/>
            <a:ext cx="70326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5060" tIns="15060" rIns="15060" bIns="15060" anchor="ctr">
            <a:spAutoFit/>
          </a:bodyPr>
          <a:lstStyle>
            <a:lvl1pPr marL="342900" indent="-342900" defTabSz="127000">
              <a:spcBef>
                <a:spcPct val="20000"/>
              </a:spcBef>
              <a:buChar char="•"/>
              <a:defRPr sz="2800">
                <a:solidFill>
                  <a:schemeClr val="tx1"/>
                </a:solidFill>
                <a:latin typeface="Comic Sans MS" panose="030F0902030302020204" pitchFamily="66" charset="0"/>
              </a:defRPr>
            </a:lvl1pPr>
            <a:lvl2pPr defTabSz="127000">
              <a:spcBef>
                <a:spcPct val="20000"/>
              </a:spcBef>
              <a:buChar char="–"/>
              <a:defRPr sz="2400">
                <a:solidFill>
                  <a:schemeClr val="tx1"/>
                </a:solidFill>
                <a:latin typeface="Comic Sans MS" panose="030F0902030302020204" pitchFamily="66" charset="0"/>
              </a:defRPr>
            </a:lvl2pPr>
            <a:lvl3pPr marL="1143000" indent="-228600" defTabSz="127000">
              <a:spcBef>
                <a:spcPct val="20000"/>
              </a:spcBef>
              <a:buChar char="•"/>
              <a:defRPr sz="2000">
                <a:solidFill>
                  <a:schemeClr val="tx1"/>
                </a:solidFill>
                <a:latin typeface="Comic Sans MS" panose="030F0902030302020204" pitchFamily="66" charset="0"/>
              </a:defRPr>
            </a:lvl3pPr>
            <a:lvl4pPr marL="1600200" indent="-228600" defTabSz="127000">
              <a:spcBef>
                <a:spcPct val="20000"/>
              </a:spcBef>
              <a:buChar char="–"/>
              <a:defRPr sz="2000">
                <a:solidFill>
                  <a:schemeClr val="tx1"/>
                </a:solidFill>
                <a:latin typeface="Comic Sans MS" panose="030F0902030302020204" pitchFamily="66" charset="0"/>
              </a:defRPr>
            </a:lvl4pPr>
            <a:lvl5pPr marL="2057400" indent="-228600" defTabSz="127000">
              <a:spcBef>
                <a:spcPct val="20000"/>
              </a:spcBef>
              <a:buChar char="»"/>
              <a:defRPr sz="2000">
                <a:solidFill>
                  <a:schemeClr val="tx1"/>
                </a:solidFill>
                <a:latin typeface="Comic Sans MS" panose="030F0902030302020204" pitchFamily="66" charset="0"/>
              </a:defRPr>
            </a:lvl5pPr>
            <a:lvl6pPr marL="25146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marL="0" lvl="1" algn="ctr">
              <a:spcBef>
                <a:spcPct val="0"/>
              </a:spcBef>
              <a:buFontTx/>
              <a:buNone/>
            </a:pPr>
            <a:r>
              <a:rPr lang="en-US" altLang="zh-CN" sz="900">
                <a:latin typeface="Huawei Sans"/>
                <a:ea typeface="方正兰亭黑简体"/>
                <a:cs typeface="Arial" panose="020B0604020202020204" pitchFamily="34" charset="0"/>
                <a:sym typeface="Microsoft YaHei" panose="020B0503020204020204" pitchFamily="34" charset="-122"/>
              </a:rPr>
              <a:t>(</a:t>
            </a:r>
            <a:r>
              <a:rPr lang="zh-CN" altLang="en-US" sz="900">
                <a:latin typeface="Huawei Sans"/>
                <a:ea typeface="方正兰亭黑简体"/>
                <a:cs typeface="Arial" panose="020B0604020202020204" pitchFamily="34" charset="0"/>
                <a:sym typeface="Microsoft YaHei" panose="020B0503020204020204" pitchFamily="34" charset="-122"/>
              </a:rPr>
              <a:t>新产品</a:t>
            </a:r>
            <a:r>
              <a:rPr lang="en-US" altLang="zh-CN" sz="900">
                <a:latin typeface="Huawei Sans"/>
                <a:ea typeface="方正兰亭黑简体"/>
                <a:cs typeface="Arial" panose="020B0604020202020204" pitchFamily="34" charset="0"/>
                <a:sym typeface="Microsoft YaHei" panose="020B0503020204020204" pitchFamily="34" charset="-122"/>
              </a:rPr>
              <a:t>)</a:t>
            </a:r>
            <a:endParaRPr lang="zh-CN" altLang="en-US" sz="900">
              <a:latin typeface="Huawei Sans"/>
              <a:ea typeface="方正兰亭黑简体"/>
              <a:cs typeface="Huawei Sans"/>
              <a:sym typeface="Microsoft YaHei" panose="020B0503020204020204" pitchFamily="34" charset="-122"/>
            </a:endParaRPr>
          </a:p>
        </p:txBody>
      </p:sp>
      <p:sp>
        <p:nvSpPr>
          <p:cNvPr id="121900" name="TaiShan 2280…">
            <a:extLst>
              <a:ext uri="{FF2B5EF4-FFF2-40B4-BE49-F238E27FC236}">
                <a16:creationId xmlns:a16="http://schemas.microsoft.com/office/drawing/2014/main" id="{B9E9D850-E949-6D68-C084-7659D6C17B03}"/>
              </a:ext>
            </a:extLst>
          </p:cNvPr>
          <p:cNvSpPr txBox="1">
            <a:spLocks noChangeArrowheads="1"/>
          </p:cNvSpPr>
          <p:nvPr/>
        </p:nvSpPr>
        <p:spPr bwMode="auto">
          <a:xfrm>
            <a:off x="7496175" y="5251450"/>
            <a:ext cx="703263"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5060" tIns="15060" rIns="15060" bIns="15060" anchor="ctr">
            <a:spAutoFit/>
          </a:bodyPr>
          <a:lstStyle>
            <a:lvl1pPr marL="342900" indent="-342900" defTabSz="127000">
              <a:spcBef>
                <a:spcPct val="20000"/>
              </a:spcBef>
              <a:buChar char="•"/>
              <a:defRPr sz="2800">
                <a:solidFill>
                  <a:schemeClr val="tx1"/>
                </a:solidFill>
                <a:latin typeface="Comic Sans MS" panose="030F0902030302020204" pitchFamily="66" charset="0"/>
              </a:defRPr>
            </a:lvl1pPr>
            <a:lvl2pPr defTabSz="127000">
              <a:spcBef>
                <a:spcPct val="20000"/>
              </a:spcBef>
              <a:buChar char="–"/>
              <a:defRPr sz="2400">
                <a:solidFill>
                  <a:schemeClr val="tx1"/>
                </a:solidFill>
                <a:latin typeface="Comic Sans MS" panose="030F0902030302020204" pitchFamily="66" charset="0"/>
              </a:defRPr>
            </a:lvl2pPr>
            <a:lvl3pPr marL="1143000" indent="-228600" defTabSz="127000">
              <a:spcBef>
                <a:spcPct val="20000"/>
              </a:spcBef>
              <a:buChar char="•"/>
              <a:defRPr sz="2000">
                <a:solidFill>
                  <a:schemeClr val="tx1"/>
                </a:solidFill>
                <a:latin typeface="Comic Sans MS" panose="030F0902030302020204" pitchFamily="66" charset="0"/>
              </a:defRPr>
            </a:lvl3pPr>
            <a:lvl4pPr marL="1600200" indent="-228600" defTabSz="127000">
              <a:spcBef>
                <a:spcPct val="20000"/>
              </a:spcBef>
              <a:buChar char="–"/>
              <a:defRPr sz="2000">
                <a:solidFill>
                  <a:schemeClr val="tx1"/>
                </a:solidFill>
                <a:latin typeface="Comic Sans MS" panose="030F0902030302020204" pitchFamily="66" charset="0"/>
              </a:defRPr>
            </a:lvl4pPr>
            <a:lvl5pPr marL="2057400" indent="-228600" defTabSz="127000">
              <a:spcBef>
                <a:spcPct val="20000"/>
              </a:spcBef>
              <a:buChar char="»"/>
              <a:defRPr sz="2000">
                <a:solidFill>
                  <a:schemeClr val="tx1"/>
                </a:solidFill>
                <a:latin typeface="Comic Sans MS" panose="030F0902030302020204" pitchFamily="66" charset="0"/>
              </a:defRPr>
            </a:lvl5pPr>
            <a:lvl6pPr marL="25146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marL="0" lvl="1" algn="ctr">
              <a:spcBef>
                <a:spcPct val="0"/>
              </a:spcBef>
              <a:buFontTx/>
              <a:buNone/>
            </a:pPr>
            <a:r>
              <a:rPr lang="en-US" altLang="zh-CN" sz="900">
                <a:latin typeface="Huawei Sans"/>
                <a:ea typeface="方正兰亭黑简体"/>
                <a:cs typeface="Arial" panose="020B0604020202020204" pitchFamily="34" charset="0"/>
                <a:sym typeface="Microsoft YaHei" panose="020B0503020204020204" pitchFamily="34" charset="-122"/>
              </a:rPr>
              <a:t>(</a:t>
            </a:r>
            <a:r>
              <a:rPr lang="zh-CN" altLang="en-US" sz="900">
                <a:latin typeface="Huawei Sans"/>
                <a:ea typeface="方正兰亭黑简体"/>
                <a:cs typeface="Arial" panose="020B0604020202020204" pitchFamily="34" charset="0"/>
                <a:sym typeface="Microsoft YaHei" panose="020B0503020204020204" pitchFamily="34" charset="-122"/>
              </a:rPr>
              <a:t>新产品</a:t>
            </a:r>
            <a:r>
              <a:rPr lang="en-US" altLang="zh-CN" sz="900">
                <a:latin typeface="Huawei Sans"/>
                <a:ea typeface="方正兰亭黑简体"/>
                <a:cs typeface="Arial" panose="020B0604020202020204" pitchFamily="34" charset="0"/>
                <a:sym typeface="Microsoft YaHei" panose="020B0503020204020204" pitchFamily="34" charset="-122"/>
              </a:rPr>
              <a:t>)</a:t>
            </a:r>
            <a:endParaRPr lang="zh-CN" altLang="en-US" sz="900">
              <a:latin typeface="Huawei Sans"/>
              <a:ea typeface="方正兰亭黑简体"/>
              <a:cs typeface="Huawei Sans"/>
              <a:sym typeface="Microsoft YaHei" panose="020B0503020204020204" pitchFamily="34" charset="-122"/>
            </a:endParaRPr>
          </a:p>
        </p:txBody>
      </p:sp>
      <p:sp>
        <p:nvSpPr>
          <p:cNvPr id="121901" name="TaiShan 2280…">
            <a:extLst>
              <a:ext uri="{FF2B5EF4-FFF2-40B4-BE49-F238E27FC236}">
                <a16:creationId xmlns:a16="http://schemas.microsoft.com/office/drawing/2014/main" id="{929F7817-BB3D-4435-3F16-B3DA725F211C}"/>
              </a:ext>
            </a:extLst>
          </p:cNvPr>
          <p:cNvSpPr txBox="1">
            <a:spLocks noChangeArrowheads="1"/>
          </p:cNvSpPr>
          <p:nvPr/>
        </p:nvSpPr>
        <p:spPr bwMode="auto">
          <a:xfrm>
            <a:off x="4889500" y="4448175"/>
            <a:ext cx="9080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5060" tIns="15060" rIns="15060" bIns="15060" anchor="ctr">
            <a:spAutoFit/>
          </a:bodyPr>
          <a:lstStyle>
            <a:lvl1pPr marL="342900" indent="-342900" defTabSz="127000">
              <a:spcBef>
                <a:spcPct val="20000"/>
              </a:spcBef>
              <a:buChar char="•"/>
              <a:defRPr sz="2800">
                <a:solidFill>
                  <a:schemeClr val="tx1"/>
                </a:solidFill>
                <a:latin typeface="Comic Sans MS" panose="030F0902030302020204" pitchFamily="66" charset="0"/>
              </a:defRPr>
            </a:lvl1pPr>
            <a:lvl2pPr defTabSz="127000">
              <a:spcBef>
                <a:spcPct val="20000"/>
              </a:spcBef>
              <a:buChar char="–"/>
              <a:defRPr sz="2400">
                <a:solidFill>
                  <a:schemeClr val="tx1"/>
                </a:solidFill>
                <a:latin typeface="Comic Sans MS" panose="030F0902030302020204" pitchFamily="66" charset="0"/>
              </a:defRPr>
            </a:lvl2pPr>
            <a:lvl3pPr marL="1143000" indent="-228600" defTabSz="127000">
              <a:spcBef>
                <a:spcPct val="20000"/>
              </a:spcBef>
              <a:buChar char="•"/>
              <a:defRPr sz="2000">
                <a:solidFill>
                  <a:schemeClr val="tx1"/>
                </a:solidFill>
                <a:latin typeface="Comic Sans MS" panose="030F0902030302020204" pitchFamily="66" charset="0"/>
              </a:defRPr>
            </a:lvl3pPr>
            <a:lvl4pPr marL="1600200" indent="-228600" defTabSz="127000">
              <a:spcBef>
                <a:spcPct val="20000"/>
              </a:spcBef>
              <a:buChar char="–"/>
              <a:defRPr sz="2000">
                <a:solidFill>
                  <a:schemeClr val="tx1"/>
                </a:solidFill>
                <a:latin typeface="Comic Sans MS" panose="030F0902030302020204" pitchFamily="66" charset="0"/>
              </a:defRPr>
            </a:lvl4pPr>
            <a:lvl5pPr marL="2057400" indent="-228600" defTabSz="127000">
              <a:spcBef>
                <a:spcPct val="20000"/>
              </a:spcBef>
              <a:buChar char="»"/>
              <a:defRPr sz="2000">
                <a:solidFill>
                  <a:schemeClr val="tx1"/>
                </a:solidFill>
                <a:latin typeface="Comic Sans MS" panose="030F0902030302020204" pitchFamily="66" charset="0"/>
              </a:defRPr>
            </a:lvl5pPr>
            <a:lvl6pPr marL="25146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6pPr>
            <a:lvl7pPr marL="29718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7pPr>
            <a:lvl8pPr marL="34290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8pPr>
            <a:lvl9pPr marL="3886200" indent="-228600" defTabSz="127000" eaLnBrk="0" fontAlgn="base" hangingPunct="0">
              <a:spcBef>
                <a:spcPct val="20000"/>
              </a:spcBef>
              <a:spcAft>
                <a:spcPct val="0"/>
              </a:spcAft>
              <a:buChar char="»"/>
              <a:defRPr sz="2000">
                <a:solidFill>
                  <a:schemeClr val="tx1"/>
                </a:solidFill>
                <a:latin typeface="Comic Sans MS" panose="030F0902030302020204" pitchFamily="66" charset="0"/>
              </a:defRPr>
            </a:lvl9pPr>
          </a:lstStyle>
          <a:p>
            <a:pPr marL="0" lvl="1" algn="ctr">
              <a:spcBef>
                <a:spcPct val="0"/>
              </a:spcBef>
              <a:buFontTx/>
              <a:buNone/>
            </a:pPr>
            <a:r>
              <a:rPr lang="en-US" altLang="zh-CN" sz="900">
                <a:latin typeface="Huawei Sans"/>
                <a:ea typeface="方正兰亭黑简体"/>
                <a:cs typeface="Arial" panose="020B0604020202020204" pitchFamily="34" charset="0"/>
                <a:sym typeface="Microsoft YaHei" panose="020B0503020204020204" pitchFamily="34" charset="-122"/>
              </a:rPr>
              <a:t>2480</a:t>
            </a:r>
          </a:p>
          <a:p>
            <a:pPr marL="0" lvl="1" algn="ctr">
              <a:spcBef>
                <a:spcPct val="0"/>
              </a:spcBef>
              <a:buFontTx/>
              <a:buNone/>
            </a:pPr>
            <a:r>
              <a:rPr lang="en-US" altLang="zh-CN" sz="900">
                <a:latin typeface="Huawei Sans"/>
                <a:ea typeface="方正兰亭黑简体"/>
                <a:cs typeface="Huawei Sans"/>
                <a:sym typeface="Microsoft YaHei" panose="020B0503020204020204" pitchFamily="34" charset="-122"/>
              </a:rPr>
              <a:t>2U4</a:t>
            </a:r>
            <a:r>
              <a:rPr lang="zh-CN" altLang="en-US" sz="900">
                <a:latin typeface="Huawei Sans"/>
                <a:ea typeface="方正兰亭黑简体"/>
                <a:cs typeface="Huawei Sans"/>
                <a:sym typeface="Microsoft YaHei" panose="020B0503020204020204" pitchFamily="34" charset="-122"/>
              </a:rPr>
              <a:t>路高性能型</a:t>
            </a:r>
          </a:p>
        </p:txBody>
      </p:sp>
      <p:pic>
        <p:nvPicPr>
          <p:cNvPr id="113" name="Picture 14" descr="C:\Users\Administrator\Desktop\黄巍\文件\用图\图片2.png">
            <a:extLst>
              <a:ext uri="{FF2B5EF4-FFF2-40B4-BE49-F238E27FC236}">
                <a16:creationId xmlns:a16="http://schemas.microsoft.com/office/drawing/2014/main" id="{0AE460CA-9791-7656-3A19-465213DC0284}"/>
              </a:ext>
            </a:extLst>
          </p:cNvPr>
          <p:cNvPicPr>
            <a:picLocks noChangeArrowheads="1"/>
          </p:cNvPicPr>
          <p:nvPr/>
        </p:nvPicPr>
        <p:blipFill>
          <a:blip r:embed="rId10" cstate="email">
            <a:duotone>
              <a:schemeClr val="accent1">
                <a:shade val="45000"/>
                <a:satMod val="135000"/>
              </a:schemeClr>
              <a:prstClr val="white"/>
            </a:duotone>
          </a:blip>
          <a:srcRect/>
          <a:stretch>
            <a:fillRect/>
          </a:stretch>
        </p:blipFill>
        <p:spPr bwMode="auto">
          <a:xfrm>
            <a:off x="639847" y="2629929"/>
            <a:ext cx="3144738" cy="646127"/>
          </a:xfrm>
          <a:prstGeom prst="rect">
            <a:avLst/>
          </a:prstGeom>
          <a:noFill/>
        </p:spPr>
      </p:pic>
      <p:pic>
        <p:nvPicPr>
          <p:cNvPr id="121903" name="图片 2">
            <a:extLst>
              <a:ext uri="{FF2B5EF4-FFF2-40B4-BE49-F238E27FC236}">
                <a16:creationId xmlns:a16="http://schemas.microsoft.com/office/drawing/2014/main" id="{8B5F9CEF-3A80-B915-87E0-F5BA1C1C981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8613" y="1755775"/>
            <a:ext cx="3529012" cy="198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904" name="标题 3">
            <a:extLst>
              <a:ext uri="{FF2B5EF4-FFF2-40B4-BE49-F238E27FC236}">
                <a16:creationId xmlns:a16="http://schemas.microsoft.com/office/drawing/2014/main" id="{A78404CA-A793-6368-F607-AF76B3B99D66}"/>
              </a:ext>
            </a:extLst>
          </p:cNvPr>
          <p:cNvSpPr>
            <a:spLocks noGrp="1" noChangeArrowheads="1"/>
          </p:cNvSpPr>
          <p:nvPr>
            <p:ph type="title"/>
          </p:nvPr>
        </p:nvSpPr>
        <p:spPr>
          <a:xfrm>
            <a:off x="549275" y="447675"/>
            <a:ext cx="8045450" cy="485775"/>
          </a:xfrm>
        </p:spPr>
        <p:txBody>
          <a:bodyPr/>
          <a:lstStyle/>
          <a:p>
            <a:r>
              <a:rPr>
                <a:latin typeface="Huawei Sans"/>
                <a:ea typeface="方正兰亭黑简体"/>
                <a:cs typeface="方正兰亭黑简体"/>
              </a:rPr>
              <a:t>基于鲲鹏</a:t>
            </a:r>
            <a:r>
              <a:rPr lang="en-US" altLang="zh-CN">
                <a:latin typeface="Huawei Sans"/>
                <a:ea typeface="方正兰亭黑简体"/>
                <a:cs typeface="方正兰亭黑简体"/>
              </a:rPr>
              <a:t>920</a:t>
            </a:r>
            <a:r>
              <a:rPr>
                <a:latin typeface="Huawei Sans"/>
                <a:ea typeface="方正兰亭黑简体"/>
                <a:cs typeface="方正兰亭黑简体"/>
              </a:rPr>
              <a:t>的华为</a:t>
            </a:r>
            <a:r>
              <a:rPr lang="en-US" altLang="zh-CN">
                <a:latin typeface="Huawei Sans"/>
                <a:ea typeface="方正兰亭黑简体"/>
                <a:cs typeface="方正兰亭黑简体"/>
              </a:rPr>
              <a:t>TaiShan 200</a:t>
            </a:r>
            <a:r>
              <a:rPr>
                <a:latin typeface="Huawei Sans"/>
                <a:ea typeface="方正兰亭黑简体"/>
                <a:cs typeface="方正兰亭黑简体"/>
              </a:rPr>
              <a:t>服务器</a:t>
            </a:r>
          </a:p>
        </p:txBody>
      </p:sp>
      <p:sp>
        <p:nvSpPr>
          <p:cNvPr id="74" name="矩形 73">
            <a:extLst>
              <a:ext uri="{FF2B5EF4-FFF2-40B4-BE49-F238E27FC236}">
                <a16:creationId xmlns:a16="http://schemas.microsoft.com/office/drawing/2014/main" id="{DCDC084A-8E30-2434-D9C0-4E1B166B6439}"/>
              </a:ext>
            </a:extLst>
          </p:cNvPr>
          <p:cNvSpPr/>
          <p:nvPr/>
        </p:nvSpPr>
        <p:spPr>
          <a:xfrm>
            <a:off x="6983413" y="3554413"/>
            <a:ext cx="1420812" cy="252412"/>
          </a:xfrm>
          <a:prstGeom prst="rect">
            <a:avLst/>
          </a:prstGeom>
          <a:ln>
            <a:noFill/>
          </a:ln>
        </p:spPr>
        <p:txBody>
          <a:bodyPr>
            <a:spAutoFit/>
          </a:bodyPr>
          <a:lstStyle/>
          <a:p>
            <a:pPr algn="ctr" defTabSz="515309">
              <a:defRPr/>
            </a:pPr>
            <a:r>
              <a:rPr lang="zh-CN" altLang="en-US" sz="1049" kern="0" dirty="0">
                <a:solidFill>
                  <a:srgbClr val="1D1D1A"/>
                </a:solidFill>
                <a:latin typeface="Huawei Sans" panose="020C0503030203020204" pitchFamily="34" charset="0"/>
                <a:ea typeface="方正兰亭黑简体" panose="02000000000000000000" pitchFamily="2" charset="-122"/>
              </a:rPr>
              <a:t>故障率低于业界</a:t>
            </a:r>
            <a:r>
              <a:rPr lang="en-US" altLang="zh-CN" sz="1049" kern="0" dirty="0">
                <a:solidFill>
                  <a:srgbClr val="1D1D1A"/>
                </a:solidFill>
                <a:latin typeface="Huawei Sans" panose="020C0503030203020204" pitchFamily="34" charset="0"/>
                <a:ea typeface="方正兰亭黑简体" panose="02000000000000000000" pitchFamily="2" charset="-122"/>
              </a:rPr>
              <a:t>15%</a:t>
            </a:r>
          </a:p>
        </p:txBody>
      </p:sp>
      <p:sp>
        <p:nvSpPr>
          <p:cNvPr id="75" name="矩形 74">
            <a:extLst>
              <a:ext uri="{FF2B5EF4-FFF2-40B4-BE49-F238E27FC236}">
                <a16:creationId xmlns:a16="http://schemas.microsoft.com/office/drawing/2014/main" id="{299A04FB-4EDC-E744-C22E-F11CF0B87BF2}"/>
              </a:ext>
            </a:extLst>
          </p:cNvPr>
          <p:cNvSpPr/>
          <p:nvPr/>
        </p:nvSpPr>
        <p:spPr>
          <a:xfrm>
            <a:off x="4922838" y="3554413"/>
            <a:ext cx="1612900" cy="252412"/>
          </a:xfrm>
          <a:prstGeom prst="rect">
            <a:avLst/>
          </a:prstGeom>
        </p:spPr>
        <p:txBody>
          <a:bodyPr>
            <a:spAutoFit/>
          </a:bodyPr>
          <a:lstStyle/>
          <a:p>
            <a:pPr algn="ctr" defTabSz="515309">
              <a:defRPr/>
            </a:pPr>
            <a:r>
              <a:rPr lang="en-US" altLang="zh-CN" sz="1049" kern="0" dirty="0">
                <a:solidFill>
                  <a:srgbClr val="1D1D1A"/>
                </a:solidFill>
                <a:latin typeface="Huawei Sans" panose="020C0503030203020204" pitchFamily="34" charset="0"/>
                <a:ea typeface="方正兰亭黑简体" panose="02000000000000000000" pitchFamily="2" charset="-122"/>
              </a:rPr>
              <a:t>56G/112G</a:t>
            </a:r>
            <a:r>
              <a:rPr lang="zh-CN" altLang="en-US" sz="1049" kern="0" dirty="0">
                <a:solidFill>
                  <a:srgbClr val="1D1D1A"/>
                </a:solidFill>
                <a:latin typeface="Huawei Sans" panose="020C0503030203020204" pitchFamily="34" charset="0"/>
                <a:ea typeface="方正兰亭黑简体" panose="02000000000000000000" pitchFamily="2" charset="-122"/>
              </a:rPr>
              <a:t>板级高速互联</a:t>
            </a:r>
          </a:p>
        </p:txBody>
      </p:sp>
      <p:sp>
        <p:nvSpPr>
          <p:cNvPr id="77" name="矩形 76">
            <a:extLst>
              <a:ext uri="{FF2B5EF4-FFF2-40B4-BE49-F238E27FC236}">
                <a16:creationId xmlns:a16="http://schemas.microsoft.com/office/drawing/2014/main" id="{0916859B-ABA1-20AC-44D8-AAB5C1E32F4E}"/>
              </a:ext>
            </a:extLst>
          </p:cNvPr>
          <p:cNvSpPr/>
          <p:nvPr/>
        </p:nvSpPr>
        <p:spPr>
          <a:xfrm>
            <a:off x="6365875" y="2279650"/>
            <a:ext cx="1665288" cy="277813"/>
          </a:xfrm>
          <a:prstGeom prst="rect">
            <a:avLst/>
          </a:prstGeom>
        </p:spPr>
        <p:txBody>
          <a:bodyPr>
            <a:spAutoFit/>
          </a:bodyPr>
          <a:lstStyle/>
          <a:p>
            <a:pPr algn="ctr">
              <a:lnSpc>
                <a:spcPct val="125000"/>
              </a:lnSpc>
              <a:defRPr/>
            </a:pPr>
            <a:r>
              <a:rPr lang="zh-CN" altLang="en-US" sz="1049" kern="0" dirty="0">
                <a:solidFill>
                  <a:srgbClr val="1D1D1A"/>
                </a:solidFill>
                <a:latin typeface="Huawei Sans" panose="020C0503030203020204" pitchFamily="34" charset="0"/>
                <a:ea typeface="方正兰亭黑简体" panose="02000000000000000000" pitchFamily="2" charset="-122"/>
              </a:rPr>
              <a:t>无源背板</a:t>
            </a:r>
            <a:r>
              <a:rPr lang="en-US" altLang="zh-CN" sz="1049" kern="0" dirty="0">
                <a:solidFill>
                  <a:srgbClr val="1D1D1A"/>
                </a:solidFill>
                <a:latin typeface="Huawei Sans" panose="020C0503030203020204" pitchFamily="34" charset="0"/>
                <a:ea typeface="方正兰亭黑简体" panose="02000000000000000000" pitchFamily="2" charset="-122"/>
              </a:rPr>
              <a:t>&amp;</a:t>
            </a:r>
            <a:r>
              <a:rPr lang="zh-CN" altLang="en-US" sz="1049" kern="0" dirty="0">
                <a:solidFill>
                  <a:srgbClr val="1D1D1A"/>
                </a:solidFill>
                <a:latin typeface="Huawei Sans" panose="020C0503030203020204" pitchFamily="34" charset="0"/>
                <a:ea typeface="方正兰亭黑简体" panose="02000000000000000000" pitchFamily="2" charset="-122"/>
              </a:rPr>
              <a:t>三重硬盘抗震</a:t>
            </a:r>
          </a:p>
        </p:txBody>
      </p:sp>
      <p:sp>
        <p:nvSpPr>
          <p:cNvPr id="78" name="矩形 77">
            <a:extLst>
              <a:ext uri="{FF2B5EF4-FFF2-40B4-BE49-F238E27FC236}">
                <a16:creationId xmlns:a16="http://schemas.microsoft.com/office/drawing/2014/main" id="{3A6C8E19-3C18-2C3B-D4C0-2F2114AC67BF}"/>
              </a:ext>
            </a:extLst>
          </p:cNvPr>
          <p:cNvSpPr/>
          <p:nvPr/>
        </p:nvSpPr>
        <p:spPr>
          <a:xfrm>
            <a:off x="4216400" y="2284413"/>
            <a:ext cx="1633538" cy="279400"/>
          </a:xfrm>
          <a:prstGeom prst="rect">
            <a:avLst/>
          </a:prstGeom>
        </p:spPr>
        <p:txBody>
          <a:bodyPr>
            <a:spAutoFit/>
          </a:bodyPr>
          <a:lstStyle/>
          <a:p>
            <a:pPr algn="ctr">
              <a:lnSpc>
                <a:spcPct val="125000"/>
              </a:lnSpc>
              <a:defRPr/>
            </a:pPr>
            <a:r>
              <a:rPr lang="en-US" altLang="zh-CN" sz="1049" kern="0" dirty="0">
                <a:solidFill>
                  <a:srgbClr val="1D1D1A"/>
                </a:solidFill>
                <a:latin typeface="Huawei Sans" panose="020C0503030203020204" pitchFamily="34" charset="0"/>
                <a:ea typeface="方正兰亭黑简体" panose="02000000000000000000" pitchFamily="2" charset="-122"/>
              </a:rPr>
              <a:t>40</a:t>
            </a:r>
            <a:r>
              <a:rPr lang="zh-CN" altLang="en-US" sz="1049" kern="0" dirty="0">
                <a:solidFill>
                  <a:srgbClr val="1D1D1A"/>
                </a:solidFill>
                <a:latin typeface="Huawei Sans" panose="020C0503030203020204" pitchFamily="34" charset="0"/>
                <a:ea typeface="方正兰亭黑简体" panose="02000000000000000000" pitchFamily="2" charset="-122"/>
              </a:rPr>
              <a:t>度以上异常高温运行</a:t>
            </a:r>
            <a:endParaRPr lang="en-US" altLang="zh-CN" sz="1049" kern="0" dirty="0">
              <a:solidFill>
                <a:srgbClr val="1D1D1A"/>
              </a:solidFill>
              <a:latin typeface="Huawei Sans" panose="020C0503030203020204" pitchFamily="34" charset="0"/>
              <a:ea typeface="方正兰亭黑简体" panose="02000000000000000000"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文本占位符 7">
            <a:extLst>
              <a:ext uri="{FF2B5EF4-FFF2-40B4-BE49-F238E27FC236}">
                <a16:creationId xmlns:a16="http://schemas.microsoft.com/office/drawing/2014/main" id="{1F065BD5-A9E1-BA9B-C8A1-B53A1F89D6F7}"/>
              </a:ext>
            </a:extLst>
          </p:cNvPr>
          <p:cNvSpPr>
            <a:spLocks noGrp="1" noChangeArrowheads="1"/>
          </p:cNvSpPr>
          <p:nvPr>
            <p:ph type="body" sz="quarter" idx="10"/>
          </p:nvPr>
        </p:nvSpPr>
        <p:spPr>
          <a:xfrm>
            <a:off x="763588" y="1844675"/>
            <a:ext cx="7616825" cy="4083050"/>
          </a:xfrm>
        </p:spPr>
        <p:txBody>
          <a:bodyPr/>
          <a:lstStyle/>
          <a:p>
            <a:r>
              <a:rPr lang="zh-CN" altLang="en-US">
                <a:latin typeface="Huawei Sans"/>
                <a:ea typeface="方正兰亭黑简体"/>
                <a:cs typeface="Huawei Sans"/>
              </a:rPr>
              <a:t>华为官方网站</a:t>
            </a:r>
            <a:endParaRPr lang="en-US" altLang="zh-CN">
              <a:latin typeface="Huawei Sans"/>
              <a:ea typeface="方正兰亭黑简体"/>
              <a:cs typeface="Huawei Sans"/>
            </a:endParaRPr>
          </a:p>
          <a:p>
            <a:pPr lvl="1"/>
            <a:r>
              <a:rPr lang="zh-CN" altLang="en-US">
                <a:ea typeface="方正兰亭黑简体"/>
                <a:cs typeface="Huawei Sans"/>
              </a:rPr>
              <a:t>在线学习：</a:t>
            </a:r>
            <a:r>
              <a:rPr lang="en-US" altLang="zh-CN">
                <a:ea typeface="方正兰亭黑简体"/>
                <a:cs typeface="Huawei Sans"/>
                <a:hlinkClick r:id="rId3"/>
              </a:rPr>
              <a:t>https://e.huawei.com/cn/talent/#/home</a:t>
            </a:r>
            <a:endParaRPr lang="en-US" altLang="zh-CN">
              <a:ea typeface="方正兰亭黑简体"/>
              <a:cs typeface="Huawei Sans"/>
            </a:endParaRPr>
          </a:p>
          <a:p>
            <a:pPr lvl="1"/>
            <a:r>
              <a:rPr lang="zh-CN" altLang="en-US">
                <a:ea typeface="方正兰亭黑简体"/>
                <a:cs typeface="Huawei Sans"/>
              </a:rPr>
              <a:t>企业业务：</a:t>
            </a:r>
            <a:r>
              <a:rPr lang="en-US" altLang="zh-CN">
                <a:ea typeface="方正兰亭黑简体"/>
                <a:cs typeface="Huawei Sans"/>
                <a:hlinkClick r:id="rId4"/>
              </a:rPr>
              <a:t>http://enterprise.huawei.com/cn/</a:t>
            </a:r>
            <a:endParaRPr lang="en-US" altLang="zh-CN">
              <a:ea typeface="方正兰亭黑简体"/>
              <a:cs typeface="Huawei Sans"/>
            </a:endParaRPr>
          </a:p>
          <a:p>
            <a:pPr lvl="1"/>
            <a:r>
              <a:rPr lang="zh-CN" altLang="en-US">
                <a:ea typeface="方正兰亭黑简体"/>
                <a:cs typeface="Huawei Sans"/>
              </a:rPr>
              <a:t>技术支持：</a:t>
            </a:r>
            <a:r>
              <a:rPr lang="en-US" altLang="zh-CN">
                <a:ea typeface="方正兰亭黑简体"/>
                <a:cs typeface="Huawei Sans"/>
                <a:hlinkClick r:id="rId5"/>
              </a:rPr>
              <a:t>http://support.huawei.com/enterprise/</a:t>
            </a:r>
            <a:endParaRPr lang="en-US" altLang="zh-CN">
              <a:ea typeface="方正兰亭黑简体"/>
              <a:cs typeface="Huawei Sans"/>
            </a:endParaRPr>
          </a:p>
          <a:p>
            <a:r>
              <a:rPr lang="zh-CN" altLang="en-US">
                <a:latin typeface="Huawei Sans"/>
                <a:ea typeface="方正兰亭黑简体"/>
                <a:cs typeface="Huawei Sans"/>
              </a:rPr>
              <a:t>热门工具</a:t>
            </a:r>
            <a:endParaRPr lang="en-US" altLang="zh-CN">
              <a:latin typeface="Huawei Sans"/>
              <a:ea typeface="方正兰亭黑简体"/>
              <a:cs typeface="Huawei Sans"/>
            </a:endParaRPr>
          </a:p>
          <a:p>
            <a:pPr lvl="1"/>
            <a:r>
              <a:rPr lang="en-US" altLang="zh-CN">
                <a:ea typeface="宋体" panose="02010600030101010101" pitchFamily="2" charset="-122"/>
              </a:rPr>
              <a:t>HedEx Lite</a:t>
            </a:r>
            <a:endParaRPr lang="zh-CN" altLang="en-US">
              <a:ea typeface="宋体" panose="02010600030101010101" pitchFamily="2" charset="-122"/>
            </a:endParaRPr>
          </a:p>
          <a:p>
            <a:pPr lvl="1"/>
            <a:r>
              <a:rPr lang="zh-CN" altLang="en-US">
                <a:ea typeface="宋体" panose="02010600030101010101" pitchFamily="2" charset="-122"/>
              </a:rPr>
              <a:t>网络资料工具中心</a:t>
            </a:r>
            <a:endParaRPr lang="en-US" altLang="zh-CN">
              <a:ea typeface="宋体" panose="02010600030101010101" pitchFamily="2" charset="-122"/>
            </a:endParaRPr>
          </a:p>
          <a:p>
            <a:pPr lvl="1"/>
            <a:r>
              <a:rPr lang="zh-CN" altLang="en-US">
                <a:ea typeface="宋体" panose="02010600030101010101" pitchFamily="2" charset="-122"/>
              </a:rPr>
              <a:t>信息查询助手</a:t>
            </a:r>
            <a:endParaRPr lang="en-US" altLang="zh-CN">
              <a:ea typeface="宋体" panose="02010600030101010101" pitchFamily="2" charset="-122"/>
            </a:endParaRPr>
          </a:p>
          <a:p>
            <a:endParaRPr lang="zh-CN" altLang="en-US">
              <a:latin typeface="Huawei Sans"/>
              <a:ea typeface="方正兰亭黑简体"/>
              <a:cs typeface="方正兰亭黑简体"/>
              <a:sym typeface="+mn-lt"/>
            </a:endParaRPr>
          </a:p>
        </p:txBody>
      </p:sp>
      <p:pic>
        <p:nvPicPr>
          <p:cNvPr id="123906" name="图片 3">
            <a:extLst>
              <a:ext uri="{FF2B5EF4-FFF2-40B4-BE49-F238E27FC236}">
                <a16:creationId xmlns:a16="http://schemas.microsoft.com/office/drawing/2014/main" id="{F0AA52D3-4C1B-1C65-F765-ED189DE43E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30788" y="3887788"/>
            <a:ext cx="1458912" cy="152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07" name="图片 4">
            <a:extLst>
              <a:ext uri="{FF2B5EF4-FFF2-40B4-BE49-F238E27FC236}">
                <a16:creationId xmlns:a16="http://schemas.microsoft.com/office/drawing/2014/main" id="{872A8594-50CA-9BC5-E4BF-6F1A727F2BA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21450" y="3887788"/>
            <a:ext cx="1458913" cy="152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BB14970C-71E3-1DFE-E7FF-12425FE2C9A0}"/>
              </a:ext>
            </a:extLst>
          </p:cNvPr>
          <p:cNvSpPr/>
          <p:nvPr/>
        </p:nvSpPr>
        <p:spPr>
          <a:xfrm>
            <a:off x="6889750" y="5180013"/>
            <a:ext cx="722313" cy="252412"/>
          </a:xfrm>
          <a:prstGeom prst="rect">
            <a:avLst/>
          </a:prstGeom>
          <a:noFill/>
        </p:spPr>
        <p:txBody>
          <a:bodyPr wrap="none">
            <a:spAutoFit/>
          </a:bodyPr>
          <a:lstStyle/>
          <a:p>
            <a:pPr algn="ctr">
              <a:defRPr/>
            </a:pPr>
            <a:r>
              <a:rPr lang="zh-CN" altLang="en-US" sz="1050" dirty="0">
                <a:latin typeface="Huawei Sans" panose="020C0503030203020204" pitchFamily="34" charset="0"/>
                <a:ea typeface="方正兰亭黑简体" panose="02000000000000000000" pitchFamily="2" charset="-122"/>
              </a:rPr>
              <a:t>热门工具</a:t>
            </a:r>
            <a:endParaRPr lang="en-US" altLang="zh-CN" sz="1050" dirty="0">
              <a:latin typeface="Huawei Sans" panose="020C0503030203020204" pitchFamily="34" charset="0"/>
              <a:ea typeface="方正兰亭黑简体" panose="02000000000000000000" pitchFamily="2" charset="-122"/>
            </a:endParaRPr>
          </a:p>
        </p:txBody>
      </p:sp>
      <p:sp>
        <p:nvSpPr>
          <p:cNvPr id="7" name="矩形 6">
            <a:extLst>
              <a:ext uri="{FF2B5EF4-FFF2-40B4-BE49-F238E27FC236}">
                <a16:creationId xmlns:a16="http://schemas.microsoft.com/office/drawing/2014/main" id="{7F0B3660-30B0-6040-356C-136F5D7533FE}"/>
              </a:ext>
            </a:extLst>
          </p:cNvPr>
          <p:cNvSpPr/>
          <p:nvPr/>
        </p:nvSpPr>
        <p:spPr>
          <a:xfrm>
            <a:off x="5399088" y="5180013"/>
            <a:ext cx="722312" cy="252412"/>
          </a:xfrm>
          <a:prstGeom prst="rect">
            <a:avLst/>
          </a:prstGeom>
          <a:noFill/>
        </p:spPr>
        <p:txBody>
          <a:bodyPr wrap="none">
            <a:spAutoFit/>
          </a:bodyPr>
          <a:lstStyle/>
          <a:p>
            <a:pPr algn="ctr">
              <a:defRPr/>
            </a:pPr>
            <a:r>
              <a:rPr lang="zh-CN" altLang="en-US" sz="1050" dirty="0">
                <a:latin typeface="Huawei Sans" panose="020C0503030203020204" pitchFamily="34" charset="0"/>
                <a:ea typeface="方正兰亭黑简体" panose="02000000000000000000" pitchFamily="2" charset="-122"/>
              </a:rPr>
              <a:t>技术支持</a:t>
            </a:r>
            <a:endParaRPr lang="en-US" altLang="zh-CN" sz="1050" dirty="0">
              <a:latin typeface="Huawei Sans" panose="020C0503030203020204" pitchFamily="34" charset="0"/>
              <a:ea typeface="方正兰亭黑简体" panose="02000000000000000000" pitchFamily="2" charset="-122"/>
            </a:endParaRPr>
          </a:p>
        </p:txBody>
      </p:sp>
      <p:pic>
        <p:nvPicPr>
          <p:cNvPr id="123910" name="图片 8" descr="屏幕剪辑">
            <a:extLst>
              <a:ext uri="{FF2B5EF4-FFF2-40B4-BE49-F238E27FC236}">
                <a16:creationId xmlns:a16="http://schemas.microsoft.com/office/drawing/2014/main" id="{2AA56CE9-E959-5A0A-0CEE-CB2F88DEEFF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46688" y="4114800"/>
            <a:ext cx="1027112"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11" name="图片 9" descr="屏幕剪辑">
            <a:extLst>
              <a:ext uri="{FF2B5EF4-FFF2-40B4-BE49-F238E27FC236}">
                <a16:creationId xmlns:a16="http://schemas.microsoft.com/office/drawing/2014/main" id="{F94763E7-469B-6725-1CD3-103C5DA524B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38938" y="4114800"/>
            <a:ext cx="1025525"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12" name="图片 10">
            <a:extLst>
              <a:ext uri="{FF2B5EF4-FFF2-40B4-BE49-F238E27FC236}">
                <a16:creationId xmlns:a16="http://schemas.microsoft.com/office/drawing/2014/main" id="{EE3AF8EC-2D00-31AB-05FD-C32F3447B5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40746" t="40987" r="40733" b="40492"/>
          <a:stretch>
            <a:fillRect/>
          </a:stretch>
        </p:blipFill>
        <p:spPr bwMode="auto">
          <a:xfrm>
            <a:off x="5624513" y="4510088"/>
            <a:ext cx="2698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13" name="图片 11">
            <a:extLst>
              <a:ext uri="{FF2B5EF4-FFF2-40B4-BE49-F238E27FC236}">
                <a16:creationId xmlns:a16="http://schemas.microsoft.com/office/drawing/2014/main" id="{B287801C-468F-219A-9EB4-82FCF1A6CC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40746" t="40987" r="40733" b="40492"/>
          <a:stretch>
            <a:fillRect/>
          </a:stretch>
        </p:blipFill>
        <p:spPr bwMode="auto">
          <a:xfrm>
            <a:off x="7116763" y="4510088"/>
            <a:ext cx="2698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icfp99">
  <a:themeElements>
    <a:clrScheme name="icfp99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fontScheme name="icfp99">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Comic Sans MS" pitchFamily="66" charset="0"/>
            <a:ea typeface="宋体"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Comic Sans MS" pitchFamily="66" charset="0"/>
            <a:ea typeface="宋体" pitchFamily="2" charset="-122"/>
          </a:defRPr>
        </a:defPPr>
      </a:lstStyle>
    </a:lnDef>
  </a:objectDefaults>
  <a:extraClrSchemeLst>
    <a:extraClrScheme>
      <a:clrScheme name="icfp99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cfp99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cfp99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cfp99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cfp9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cfp9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cfp9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icfp99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Ocean</Template>
  <TotalTime>14041</TotalTime>
  <Words>7032</Words>
  <Application>Microsoft Macintosh PowerPoint</Application>
  <PresentationFormat>全屏显示(4:3)</PresentationFormat>
  <Paragraphs>1060</Paragraphs>
  <Slides>79</Slides>
  <Notes>28</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7</vt:i4>
      </vt:variant>
      <vt:variant>
        <vt:lpstr>幻灯片标题</vt:lpstr>
      </vt:variant>
      <vt:variant>
        <vt:i4>79</vt:i4>
      </vt:variant>
    </vt:vector>
  </HeadingPairs>
  <TitlesOfParts>
    <vt:vector size="105" baseType="lpstr">
      <vt:lpstr>Comic Sans MS</vt:lpstr>
      <vt:lpstr>宋体</vt:lpstr>
      <vt:lpstr>Arial</vt:lpstr>
      <vt:lpstr>Times New Roman</vt:lpstr>
      <vt:lpstr>Huawei Sans</vt:lpstr>
      <vt:lpstr>方正兰亭黑简体</vt:lpstr>
      <vt:lpstr>Microsoft YaHei</vt:lpstr>
      <vt:lpstr>Tahoma</vt:lpstr>
      <vt:lpstr>Courier New</vt:lpstr>
      <vt:lpstr>Wingdings</vt:lpstr>
      <vt:lpstr>Lucida Sans</vt:lpstr>
      <vt:lpstr>黑体</vt:lpstr>
      <vt:lpstr>楷体_GB2312</vt:lpstr>
      <vt:lpstr>Courier New Bold</vt:lpstr>
      <vt:lpstr>Arial Narrow</vt:lpstr>
      <vt:lpstr>Calibri</vt:lpstr>
      <vt:lpstr>+mn-lt</vt:lpstr>
      <vt:lpstr>Helvetica</vt:lpstr>
      <vt:lpstr>icfp99</vt:lpstr>
      <vt:lpstr>Picture</vt:lpstr>
      <vt:lpstr>Word.Document.8</vt:lpstr>
      <vt:lpstr>Word.Picture.8</vt:lpstr>
      <vt:lpstr>Document</vt:lpstr>
      <vt:lpstr>图片</vt:lpstr>
      <vt:lpstr>文档</vt:lpstr>
      <vt:lpstr>Visio</vt:lpstr>
      <vt:lpstr>程序的机器级表示（1）</vt:lpstr>
      <vt:lpstr>Outline</vt:lpstr>
      <vt:lpstr>ENIAC</vt:lpstr>
      <vt:lpstr>企业级计算机：IBM和DEC</vt:lpstr>
      <vt:lpstr>仙童</vt:lpstr>
      <vt:lpstr>Intel x86 CPU</vt:lpstr>
      <vt:lpstr>X86 family</vt:lpstr>
      <vt:lpstr>X86 family</vt:lpstr>
      <vt:lpstr>X86 family</vt:lpstr>
      <vt:lpstr>X86 family</vt:lpstr>
      <vt:lpstr>X86 family</vt:lpstr>
      <vt:lpstr>PowerPoint 演示文稿</vt:lpstr>
      <vt:lpstr>X86 family</vt:lpstr>
      <vt:lpstr>Moor’s Law</vt:lpstr>
      <vt:lpstr>苹果M1 Pro和M1 Max</vt:lpstr>
      <vt:lpstr>Our Coverage</vt:lpstr>
      <vt:lpstr>什么是芯片</vt:lpstr>
      <vt:lpstr>芯片是信息社会的基石 </vt:lpstr>
      <vt:lpstr>芯片行业产业链</vt:lpstr>
      <vt:lpstr>Outline</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自下而上：构建计算机体系</vt:lpstr>
      <vt:lpstr>Outline</vt:lpstr>
      <vt:lpstr>指令集：RISC vs CISC</vt:lpstr>
      <vt:lpstr>ARM与X86架构关键差别：RISC与CISC指令集的差异</vt:lpstr>
      <vt:lpstr>处理器发展趋势</vt:lpstr>
      <vt:lpstr>主流CPU发展路径</vt:lpstr>
      <vt:lpstr>ARM提供更多计算核心</vt:lpstr>
      <vt:lpstr>ARM服务器级别处理器一览</vt:lpstr>
      <vt:lpstr>计算机基础硬件 (1)</vt:lpstr>
      <vt:lpstr>计算机基础硬件 (2)</vt:lpstr>
      <vt:lpstr>计算机基础硬件 (3)</vt:lpstr>
      <vt:lpstr>TaiShan服务器物理结构</vt:lpstr>
      <vt:lpstr>TaiShan服务器逻辑结构</vt:lpstr>
      <vt:lpstr>Outline</vt:lpstr>
      <vt:lpstr>Register</vt:lpstr>
      <vt:lpstr>Register e代表extended，拓展16位</vt:lpstr>
      <vt:lpstr>Register</vt:lpstr>
      <vt:lpstr>Register</vt:lpstr>
      <vt:lpstr>Register</vt:lpstr>
      <vt:lpstr>Memory</vt:lpstr>
      <vt:lpstr>PowerPoint 演示文稿</vt:lpstr>
      <vt:lpstr>Memory</vt:lpstr>
      <vt:lpstr>Memory</vt:lpstr>
      <vt:lpstr>Memory</vt:lpstr>
      <vt:lpstr>逻辑地址 vs. 物理地址</vt:lpstr>
      <vt:lpstr>PowerPoint 演示文稿</vt:lpstr>
      <vt:lpstr>PowerPoint 演示文稿</vt:lpstr>
      <vt:lpstr>程序员可见状态</vt:lpstr>
      <vt:lpstr>程序员可见状态</vt:lpstr>
      <vt:lpstr>程序员可见状态</vt:lpstr>
      <vt:lpstr>程序员可见状态</vt:lpstr>
      <vt:lpstr>Some History: IA32 Registers</vt:lpstr>
      <vt:lpstr>课堂练习</vt:lpstr>
      <vt:lpstr>Outline</vt:lpstr>
      <vt:lpstr>ARM公司授权体系</vt:lpstr>
      <vt:lpstr>ARM服务器处理器的优势</vt:lpstr>
      <vt:lpstr>鲲鹏处理器</vt:lpstr>
      <vt:lpstr>基于鲲鹏920的华为TaiShan 200服务器</vt:lpstr>
      <vt:lpstr>PowerPoint 演示文稿</vt:lpstr>
    </vt:vector>
  </TitlesOfParts>
  <Company>Digital Integrity,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dc:title>
  <dc:creator>Binyu Zang</dc:creator>
  <cp:lastModifiedBy>0 yue</cp:lastModifiedBy>
  <cp:revision>662</cp:revision>
  <dcterms:created xsi:type="dcterms:W3CDTF">2000-01-15T07:54:11Z</dcterms:created>
  <dcterms:modified xsi:type="dcterms:W3CDTF">2024-10-14T08:01:19Z</dcterms:modified>
</cp:coreProperties>
</file>