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9"/>
  </p:notesMasterIdLst>
  <p:handoutMasterIdLst>
    <p:handoutMasterId r:id="rId50"/>
  </p:handoutMasterIdLst>
  <p:sldIdLst>
    <p:sldId id="935" r:id="rId2"/>
    <p:sldId id="843" r:id="rId3"/>
    <p:sldId id="844" r:id="rId4"/>
    <p:sldId id="936" r:id="rId5"/>
    <p:sldId id="937" r:id="rId6"/>
    <p:sldId id="938" r:id="rId7"/>
    <p:sldId id="939" r:id="rId8"/>
    <p:sldId id="940" r:id="rId9"/>
    <p:sldId id="941" r:id="rId10"/>
    <p:sldId id="942" r:id="rId11"/>
    <p:sldId id="975" r:id="rId12"/>
    <p:sldId id="943" r:id="rId13"/>
    <p:sldId id="977" r:id="rId14"/>
    <p:sldId id="944" r:id="rId15"/>
    <p:sldId id="945" r:id="rId16"/>
    <p:sldId id="946" r:id="rId17"/>
    <p:sldId id="947" r:id="rId18"/>
    <p:sldId id="948" r:id="rId19"/>
    <p:sldId id="949" r:id="rId20"/>
    <p:sldId id="950" r:id="rId21"/>
    <p:sldId id="951" r:id="rId22"/>
    <p:sldId id="952" r:id="rId23"/>
    <p:sldId id="953" r:id="rId24"/>
    <p:sldId id="954" r:id="rId25"/>
    <p:sldId id="982" r:id="rId26"/>
    <p:sldId id="983" r:id="rId27"/>
    <p:sldId id="984" r:id="rId28"/>
    <p:sldId id="985" r:id="rId29"/>
    <p:sldId id="986" r:id="rId30"/>
    <p:sldId id="955" r:id="rId31"/>
    <p:sldId id="956" r:id="rId32"/>
    <p:sldId id="957" r:id="rId33"/>
    <p:sldId id="958" r:id="rId34"/>
    <p:sldId id="959" r:id="rId35"/>
    <p:sldId id="960" r:id="rId36"/>
    <p:sldId id="961" r:id="rId37"/>
    <p:sldId id="962" r:id="rId38"/>
    <p:sldId id="978" r:id="rId39"/>
    <p:sldId id="963" r:id="rId40"/>
    <p:sldId id="990" r:id="rId41"/>
    <p:sldId id="991" r:id="rId42"/>
    <p:sldId id="964" r:id="rId43"/>
    <p:sldId id="965" r:id="rId44"/>
    <p:sldId id="979" r:id="rId45"/>
    <p:sldId id="980" r:id="rId46"/>
    <p:sldId id="981" r:id="rId47"/>
    <p:sldId id="967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99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5" autoAdjust="0"/>
    <p:restoredTop sz="87593" autoAdjust="0"/>
  </p:normalViewPr>
  <p:slideViewPr>
    <p:cSldViewPr>
      <p:cViewPr varScale="1">
        <p:scale>
          <a:sx n="101" d="100"/>
          <a:sy n="101" d="100"/>
        </p:scale>
        <p:origin x="187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BB93D-595A-6A47-9042-CD389AD70D14}" type="datetimeFigureOut">
              <a:rPr kumimoji="1" lang="zh-CN" altLang="en-US" smtClean="0"/>
              <a:t>2024/9/30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6AD61-5B70-4C4A-AE1E-76C16B976C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60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BD7EC4-5958-5E48-9ECD-C37CEFF107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58BD407-035D-B749-BE7E-964EF6688A91}" type="slidenum">
              <a:rPr lang="zh-CN" altLang="en-US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  <p:sp>
        <p:nvSpPr>
          <p:cNvPr id="6149" name="页脚占位符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W 87</a:t>
            </a:r>
          </a:p>
        </p:txBody>
      </p:sp>
    </p:spTree>
    <p:extLst>
      <p:ext uri="{BB962C8B-B14F-4D97-AF65-F5344CB8AC3E}">
        <p14:creationId xmlns:p14="http://schemas.microsoft.com/office/powerpoint/2010/main" val="1750914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17072F8-193E-5F49-8F8C-43948A9B9A4B}" type="slidenum">
              <a:rPr lang="zh-CN" altLang="en-US" sz="1200" b="0">
                <a:latin typeface="Times New Roman" charset="0"/>
              </a:rPr>
              <a:pPr/>
              <a:t>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D31FB43-004F-4E4C-BC3C-167FDCF80DAD}" type="slidenum">
              <a:rPr lang="zh-CN" altLang="en-US" sz="1200" b="0">
                <a:latin typeface="Times New Roman" charset="0"/>
              </a:rPr>
              <a:pPr/>
              <a:t>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425"/>
              </a:spcBef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Latex source for equation: </a:t>
            </a:r>
            <a:r>
              <a:rPr lang="en-US">
                <a:latin typeface="Monaco" charset="0"/>
                <a:ea typeface="Monaco" charset="0"/>
                <a:cs typeface="Monaco" charset="0"/>
                <a:sym typeface="Monaco" charset="0"/>
              </a:rPr>
              <a:t>\sum_{k=-j}^i b_k \times 2^k</a:t>
            </a:r>
          </a:p>
        </p:txBody>
      </p:sp>
    </p:spTree>
    <p:extLst>
      <p:ext uri="{BB962C8B-B14F-4D97-AF65-F5344CB8AC3E}">
        <p14:creationId xmlns:p14="http://schemas.microsoft.com/office/powerpoint/2010/main" val="203141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74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494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99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7040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C9F1E-C8D5-0B4A-918E-F97BD3A9B74D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F399E-D056-4440-B945-F1CEDAC4C2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48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20BF8-4C6A-CE47-BB65-680F5FAF8EE4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07FC-2626-BC43-8A07-2FC945D8A2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862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07D9B-B8E2-3440-B5FF-35E6623049B5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E8A4B-9C73-654E-9E74-0B0579787C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22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991E4-A576-FA4E-9BC7-7D925D76667B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EEC89-EB96-0E4A-AE7E-75E5E5DF2A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67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83C60-EC06-E44C-BA1A-9ECB12F2279D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8D27-CEA3-914D-BA48-590CB14047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69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FC550-89FB-254D-8897-7202DD00A8E6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2D94B-2AB7-254F-86FE-4FB0AC2B99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61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E1387-558A-414D-9D9E-11CCB114B7B5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D6F9D-B404-304E-B7EA-B6608CDE43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07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EB455-5F9B-154C-A9F7-3875C14F3012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9F3CA-3073-E443-8874-3D20B09881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0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1116B-030A-B04C-AC3C-ACD809BE3058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99F67-8BAC-A44A-B394-EB2C88DD27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98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D20EA-82F7-DC4C-B638-6BF6CA2A504D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1F283-8809-7348-B23B-7C27D46182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452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45195-F89D-0F44-A28B-8CC5788ACC7B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EA334-F4EA-5046-805E-B689D33751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33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9BD429F4-C11C-804F-B067-3A6D6B4892F9}" type="datetime1">
              <a:rPr lang="zh-CN" altLang="en-US"/>
              <a:pPr>
                <a:defRPr/>
              </a:pPr>
              <a:t>2024/9/30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</a:defRPr>
            </a:lvl1pPr>
          </a:lstStyle>
          <a:p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36C5B5D-5EB9-F644-99F4-AE9637BF6C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987778-CBBD-634E-8DEA-6B5344B71AE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4400" dirty="0">
                <a:latin typeface="SimHei" charset="-122"/>
                <a:ea typeface="SimHei" charset="-122"/>
                <a:cs typeface="SimHei" charset="-122"/>
              </a:rPr>
              <a:t>信息的表示和处理</a:t>
            </a:r>
            <a:r>
              <a:rPr lang="en-US" altLang="zh-CN" sz="4400" dirty="0">
                <a:latin typeface="SimHei" charset="-122"/>
                <a:ea typeface="SimHei" charset="-122"/>
                <a:cs typeface="SimHei" charset="-122"/>
              </a:rPr>
              <a:t>(4)</a:t>
            </a:r>
          </a:p>
        </p:txBody>
      </p:sp>
      <p:sp>
        <p:nvSpPr>
          <p:cNvPr id="6" name="矩形 5"/>
          <p:cNvSpPr/>
          <p:nvPr/>
        </p:nvSpPr>
        <p:spPr>
          <a:xfrm>
            <a:off x="3953081" y="4788827"/>
            <a:ext cx="123783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/>
              <a:t>柴云鹏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/>
              <a:t>2024.9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6001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1A977E-F6EF-FF49-ABF6-3CF9D33E79A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 dirty="0">
                <a:ea typeface="宋体" charset="-122"/>
              </a:rPr>
              <a:t>Floating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1A097B-4BA1-E84D-B505-18F46CAA227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Outline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Background: Fractional binary numbers</a:t>
            </a:r>
          </a:p>
          <a:p>
            <a:r>
              <a:rPr lang="en-US" altLang="zh-CN" dirty="0"/>
              <a:t>IEEE floating point standard: Definition</a:t>
            </a:r>
          </a:p>
          <a:p>
            <a:r>
              <a:rPr lang="en-US" altLang="zh-CN" dirty="0"/>
              <a:t>Example and properties</a:t>
            </a:r>
          </a:p>
          <a:p>
            <a:r>
              <a:rPr lang="en-US" altLang="zh-CN" dirty="0"/>
              <a:t>Rounding, addition, multiplication</a:t>
            </a:r>
          </a:p>
          <a:p>
            <a:r>
              <a:rPr lang="en-US" altLang="zh-CN" dirty="0"/>
              <a:t>Floating point in C</a:t>
            </a:r>
          </a:p>
          <a:p>
            <a:r>
              <a:rPr lang="en-US" altLang="zh-CN" dirty="0"/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Fractional binary numbers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What is 1011.101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323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Group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76281"/>
              </p:ext>
            </p:extLst>
          </p:nvPr>
        </p:nvGraphicFramePr>
        <p:xfrm>
          <a:off x="4076700" y="1439862"/>
          <a:ext cx="584200" cy="2129801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15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37514"/>
              </p:ext>
            </p:extLst>
          </p:nvPr>
        </p:nvGraphicFramePr>
        <p:xfrm>
          <a:off x="3543300" y="4094162"/>
          <a:ext cx="660400" cy="17272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3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86606"/>
              </p:ext>
            </p:extLst>
          </p:nvPr>
        </p:nvGraphicFramePr>
        <p:xfrm>
          <a:off x="863600" y="3548062"/>
          <a:ext cx="6527800" cy="5461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85" name="Rectangle 97"/>
          <p:cNvSpPr>
            <a:spLocks/>
          </p:cNvSpPr>
          <p:nvPr/>
        </p:nvSpPr>
        <p:spPr bwMode="auto">
          <a:xfrm rot="10800000">
            <a:off x="6167438" y="4418012"/>
            <a:ext cx="561975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86" name="Rectangle 98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6870700" cy="155892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Fractional Binary Numbers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12388" name="Freeform 100"/>
          <p:cNvSpPr>
            <a:spLocks/>
          </p:cNvSpPr>
          <p:nvPr/>
        </p:nvSpPr>
        <p:spPr bwMode="auto">
          <a:xfrm>
            <a:off x="4002088" y="3378200"/>
            <a:ext cx="1651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3600"/>
          </a:p>
        </p:txBody>
      </p:sp>
      <p:sp>
        <p:nvSpPr>
          <p:cNvPr id="12389" name="Freeform 101"/>
          <p:cNvSpPr>
            <a:spLocks/>
          </p:cNvSpPr>
          <p:nvPr/>
        </p:nvSpPr>
        <p:spPr bwMode="auto">
          <a:xfrm>
            <a:off x="3467100" y="2946400"/>
            <a:ext cx="698500" cy="53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0" name="Freeform 102"/>
          <p:cNvSpPr>
            <a:spLocks/>
          </p:cNvSpPr>
          <p:nvPr/>
        </p:nvSpPr>
        <p:spPr bwMode="auto">
          <a:xfrm>
            <a:off x="2917825" y="2705100"/>
            <a:ext cx="12446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1" name="Freeform 103"/>
          <p:cNvSpPr>
            <a:spLocks/>
          </p:cNvSpPr>
          <p:nvPr/>
        </p:nvSpPr>
        <p:spPr bwMode="auto">
          <a:xfrm>
            <a:off x="1739900" y="2032000"/>
            <a:ext cx="2425700" cy="14478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2" name="Freeform 104"/>
          <p:cNvSpPr>
            <a:spLocks/>
          </p:cNvSpPr>
          <p:nvPr/>
        </p:nvSpPr>
        <p:spPr bwMode="auto">
          <a:xfrm>
            <a:off x="990600" y="1676400"/>
            <a:ext cx="3175000" cy="180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3" name="Rectangle 105"/>
          <p:cNvSpPr>
            <a:spLocks/>
          </p:cNvSpPr>
          <p:nvPr/>
        </p:nvSpPr>
        <p:spPr bwMode="auto">
          <a:xfrm>
            <a:off x="2073275" y="2781300"/>
            <a:ext cx="560388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94" name="Freeform 106"/>
          <p:cNvSpPr>
            <a:spLocks/>
          </p:cNvSpPr>
          <p:nvPr/>
        </p:nvSpPr>
        <p:spPr bwMode="auto">
          <a:xfrm rot="10800000">
            <a:off x="4260850" y="4138612"/>
            <a:ext cx="3429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5" name="Freeform 107"/>
          <p:cNvSpPr>
            <a:spLocks/>
          </p:cNvSpPr>
          <p:nvPr/>
        </p:nvSpPr>
        <p:spPr bwMode="auto">
          <a:xfrm rot="10800000">
            <a:off x="4248150" y="4138612"/>
            <a:ext cx="977900" cy="393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6" name="Freeform 108"/>
          <p:cNvSpPr>
            <a:spLocks/>
          </p:cNvSpPr>
          <p:nvPr/>
        </p:nvSpPr>
        <p:spPr bwMode="auto">
          <a:xfrm rot="10800000">
            <a:off x="4246563" y="4151312"/>
            <a:ext cx="15748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7" name="Freeform 109"/>
          <p:cNvSpPr>
            <a:spLocks/>
          </p:cNvSpPr>
          <p:nvPr/>
        </p:nvSpPr>
        <p:spPr bwMode="auto">
          <a:xfrm rot="10800000">
            <a:off x="4237038" y="4113212"/>
            <a:ext cx="2717800" cy="137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8" name="Oval 110"/>
          <p:cNvSpPr>
            <a:spLocks/>
          </p:cNvSpPr>
          <p:nvPr/>
        </p:nvSpPr>
        <p:spPr bwMode="auto">
          <a:xfrm>
            <a:off x="4303651" y="3990088"/>
            <a:ext cx="165100" cy="165100"/>
          </a:xfrm>
          <a:prstGeom prst="ellipse">
            <a:avLst/>
          </a:prstGeom>
          <a:solidFill>
            <a:srgbClr val="0000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2399" name="Picture 1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3600" y="5698874"/>
            <a:ext cx="1320800" cy="7810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7362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Fractional Binary Numbers: Examples</a:t>
            </a:r>
          </a:p>
        </p:txBody>
      </p:sp>
      <p:sp>
        <p:nvSpPr>
          <p:cNvPr id="15367" name="Rectangle 7"/>
          <p:cNvSpPr>
            <a:spLocks/>
          </p:cNvSpPr>
          <p:nvPr/>
        </p:nvSpPr>
        <p:spPr bwMode="auto">
          <a:xfrm>
            <a:off x="381000" y="1397000"/>
            <a:ext cx="8382000" cy="52324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54000" indent="-254000" algn="l">
              <a:spcBef>
                <a:spcPts val="575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Value	Representation</a:t>
            </a: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5  3/4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101.11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2  7/8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10.111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1  7/16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1.0111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4100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zh-CN" altLang="en-US" sz="2400" b="0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观察</a:t>
            </a:r>
            <a:endParaRPr lang="en-US" sz="2400" b="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marL="711200" lvl="1" indent="-254000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zh-CN" altLang="en-US" b="0" dirty="0">
                <a:latin typeface="Calibri" charset="0"/>
                <a:ea typeface="Calibri" charset="0"/>
                <a:cs typeface="Calibri" charset="0"/>
                <a:sym typeface="Calibri" charset="0"/>
              </a:rPr>
              <a:t>通过左</a:t>
            </a:r>
            <a:r>
              <a:rPr lang="zh-CN" alt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移小数点可以除以</a:t>
            </a:r>
            <a:r>
              <a:rPr lang="en-US" altLang="zh-CN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r>
            <a:r>
              <a:rPr lang="zh-CN" altLang="en-US" b="0" dirty="0">
                <a:latin typeface="Calibri" charset="0"/>
                <a:ea typeface="Calibri" charset="0"/>
                <a:cs typeface="Calibri" charset="0"/>
                <a:sym typeface="Calibri" charset="0"/>
              </a:rPr>
              <a:t>（无符号数）</a:t>
            </a:r>
            <a:endParaRPr lang="en-US" altLang="zh-CN" b="0" dirty="0">
              <a:latin typeface="Calibri" charset="0"/>
              <a:ea typeface="Calibri" charset="0"/>
              <a:cs typeface="Calibri" charset="0"/>
              <a:sym typeface="Calibri" charset="0"/>
            </a:endParaRPr>
          </a:p>
          <a:p>
            <a:pPr marL="711200" lvl="1" indent="-254000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zh-CN" alt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通过</a:t>
            </a:r>
            <a:r>
              <a:rPr lang="zh-CN" altLang="en-US" b="0" dirty="0">
                <a:latin typeface="Calibri" charset="0"/>
                <a:ea typeface="Calibri" charset="0"/>
                <a:cs typeface="Calibri" charset="0"/>
                <a:sym typeface="Calibri" charset="0"/>
              </a:rPr>
              <a:t>右</a:t>
            </a:r>
            <a:r>
              <a:rPr lang="zh-CN" alt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移小数点可以乘以</a:t>
            </a:r>
            <a:r>
              <a:rPr lang="en-US" altLang="zh-CN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r>
            <a:endParaRPr lang="en-US" sz="2000" b="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zh-CN" alt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数字</a:t>
            </a:r>
            <a:r>
              <a:rPr lang="en-US" altLang="zh-CN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0.111111</a:t>
            </a:r>
            <a:r>
              <a:rPr lang="mr-IN" altLang="zh-CN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…</a:t>
            </a:r>
            <a:r>
              <a:rPr lang="en-US" altLang="zh-CN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.</a:t>
            </a:r>
            <a:r>
              <a:rPr lang="en-US" altLang="zh-CN" sz="2000" b="0" baseline="-25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刚刚比</a:t>
            </a:r>
            <a:r>
              <a:rPr lang="en-US" altLang="zh-CN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1.0</a:t>
            </a:r>
            <a:r>
              <a:rPr lang="zh-CN" alt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小一点</a:t>
            </a:r>
            <a:endParaRPr lang="en-US" sz="2000" b="0" dirty="0">
              <a:solidFill>
                <a:schemeClr val="tx1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b="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1/2 + 1/4 + 1/8 + … + 1/2</a:t>
            </a:r>
            <a:r>
              <a:rPr lang="en-US" sz="2000" b="0" baseline="3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</a:t>
            </a:r>
            <a:r>
              <a:rPr lang="en-US" sz="2000" b="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 + … ➙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b="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Use notation 1.0 – ε</a:t>
            </a:r>
          </a:p>
        </p:txBody>
      </p:sp>
    </p:spTree>
    <p:extLst>
      <p:ext uri="{BB962C8B-B14F-4D97-AF65-F5344CB8AC3E}">
        <p14:creationId xmlns:p14="http://schemas.microsoft.com/office/powerpoint/2010/main" val="123192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Representable Numbers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dirty="0"/>
              <a:t>Limitation #1</a:t>
            </a:r>
          </a:p>
          <a:p>
            <a:pPr marL="552450" lvl="1">
              <a:tabLst>
                <a:tab pos="1828800" algn="l"/>
              </a:tabLst>
            </a:pPr>
            <a:r>
              <a:rPr lang="zh-CN" altLang="en-US" dirty="0"/>
              <a:t>只能精确表示</a:t>
            </a:r>
            <a:r>
              <a:rPr lang="en-US" altLang="zh-CN" dirty="0"/>
              <a:t>x/2</a:t>
            </a:r>
            <a:r>
              <a:rPr lang="en-US" altLang="zh-CN" baseline="30000" dirty="0"/>
              <a:t>k</a:t>
            </a:r>
            <a:r>
              <a:rPr lang="zh-CN" altLang="en-US" dirty="0"/>
              <a:t>形式的数字（</a:t>
            </a:r>
            <a:r>
              <a:rPr lang="en-US" altLang="zh-CN" dirty="0"/>
              <a:t>x</a:t>
            </a:r>
            <a:r>
              <a:rPr lang="zh-CN" altLang="en-US" dirty="0"/>
              <a:t>为整数）</a:t>
            </a:r>
            <a:endParaRPr lang="en-US" dirty="0"/>
          </a:p>
          <a:p>
            <a:pPr marL="838200" lvl="2">
              <a:tabLst>
                <a:tab pos="1828800" algn="l"/>
              </a:tabLst>
            </a:pPr>
            <a:r>
              <a:rPr lang="zh-CN" altLang="en-US" dirty="0"/>
              <a:t>其他数字会是无限小数（循环小数）形式</a:t>
            </a:r>
            <a:endParaRPr lang="en-US" dirty="0"/>
          </a:p>
          <a:p>
            <a:pPr lvl="4">
              <a:tabLst>
                <a:tab pos="1828800" algn="l"/>
              </a:tabLst>
            </a:pPr>
            <a:endParaRPr lang="en-US" sz="200" dirty="0"/>
          </a:p>
          <a:p>
            <a:pPr lvl="1">
              <a:tabLst>
                <a:tab pos="1828800" algn="l"/>
              </a:tabLst>
            </a:pPr>
            <a:r>
              <a:rPr lang="en-US" dirty="0"/>
              <a:t>Value	Representation</a:t>
            </a: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1/3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0.0101010101[01]…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1/5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1/10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baseline="-6000" dirty="0">
              <a:latin typeface="Courier New"/>
              <a:cs typeface="Courier New"/>
              <a:sym typeface="Monaco" charset="0"/>
            </a:endParaRPr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en-US" dirty="0"/>
              <a:t>Limitation #2</a:t>
            </a:r>
          </a:p>
          <a:p>
            <a:pPr marL="552450" lvl="1">
              <a:tabLst>
                <a:tab pos="1828800" algn="l"/>
              </a:tabLst>
            </a:pPr>
            <a:r>
              <a:rPr lang="zh-CN" altLang="en-US" dirty="0"/>
              <a:t>位数有效（</a:t>
            </a:r>
            <a:r>
              <a:rPr lang="en-US" altLang="zh-CN" dirty="0"/>
              <a:t>w bits</a:t>
            </a:r>
            <a:r>
              <a:rPr lang="zh-CN" altLang="en-US" dirty="0"/>
              <a:t>），表达的数字大小范围有限</a:t>
            </a:r>
            <a:endParaRPr lang="en-US" dirty="0"/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Limited range of numbers (very small values?  very large?)</a:t>
            </a:r>
            <a:endParaRPr lang="en-US" dirty="0">
              <a:latin typeface="Monaco" charset="0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1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/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6991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IEEE Floating Point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791200" cy="4419600"/>
          </a:xfrm>
          <a:ln/>
        </p:spPr>
        <p:txBody>
          <a:bodyPr/>
          <a:lstStyle/>
          <a:p>
            <a:r>
              <a:rPr lang="en-US" sz="2400" dirty="0"/>
              <a:t>IEEE Standard 754</a:t>
            </a:r>
          </a:p>
          <a:p>
            <a:pPr marL="552450" lvl="1"/>
            <a:r>
              <a:rPr lang="zh-CN" altLang="en-US" sz="2000" dirty="0"/>
              <a:t>在</a:t>
            </a:r>
            <a:r>
              <a:rPr lang="en-US" altLang="zh-CN" sz="2000" dirty="0"/>
              <a:t>1985</a:t>
            </a:r>
            <a:r>
              <a:rPr lang="zh-CN" altLang="en-US" sz="2000" dirty="0"/>
              <a:t>年建立，作为浮点数运算的统一标准</a:t>
            </a:r>
            <a:endParaRPr lang="en-US" sz="2000" dirty="0"/>
          </a:p>
          <a:p>
            <a:pPr marL="952500" lvl="2"/>
            <a:r>
              <a:rPr lang="zh-CN" altLang="en-US" sz="1800" dirty="0"/>
              <a:t>在此之前，有很多不同（古怪）的设计</a:t>
            </a:r>
            <a:endParaRPr lang="en-US" sz="1800" dirty="0"/>
          </a:p>
          <a:p>
            <a:pPr marL="552450" lvl="1"/>
            <a:r>
              <a:rPr lang="zh-CN" altLang="en-US" sz="2000" dirty="0"/>
              <a:t>所有主流</a:t>
            </a:r>
            <a:r>
              <a:rPr lang="en-US" altLang="zh-CN" sz="2000" dirty="0"/>
              <a:t>CPU</a:t>
            </a:r>
            <a:r>
              <a:rPr lang="zh-CN" altLang="en-US" sz="2000" dirty="0"/>
              <a:t>都支持</a:t>
            </a:r>
            <a:endParaRPr lang="en-US" altLang="zh-CN" sz="2000" dirty="0"/>
          </a:p>
          <a:p>
            <a:r>
              <a:rPr lang="en-US" altLang="zh-CN" sz="2400" dirty="0"/>
              <a:t>William (</a:t>
            </a:r>
            <a:r>
              <a:rPr lang="en-US" altLang="zh-CN" sz="2400" dirty="0" err="1"/>
              <a:t>Velvel</a:t>
            </a:r>
            <a:r>
              <a:rPr lang="en-US" altLang="zh-CN" sz="2400" dirty="0"/>
              <a:t>) Morton </a:t>
            </a:r>
            <a:r>
              <a:rPr lang="en-US" altLang="zh-CN" sz="2400" dirty="0" err="1"/>
              <a:t>Kahan</a:t>
            </a:r>
            <a:r>
              <a:rPr lang="zh-CN" altLang="en-US" sz="2400" dirty="0"/>
              <a:t> 威廉</a:t>
            </a:r>
            <a:r>
              <a:rPr lang="en-US" altLang="zh-CN" sz="2400" dirty="0"/>
              <a:t>·</a:t>
            </a:r>
            <a:r>
              <a:rPr lang="zh-CN" altLang="en-US" sz="2400" dirty="0"/>
              <a:t>卡亨</a:t>
            </a:r>
            <a:endParaRPr lang="en-US" altLang="zh-TW" sz="2400" dirty="0"/>
          </a:p>
          <a:p>
            <a:pPr lvl="1"/>
            <a:r>
              <a:rPr lang="en-US" altLang="zh-CN" sz="2000" dirty="0"/>
              <a:t>1933</a:t>
            </a:r>
            <a:r>
              <a:rPr lang="zh-CN" altLang="en-US" sz="2000" dirty="0"/>
              <a:t> </a:t>
            </a:r>
            <a:r>
              <a:rPr lang="en-US" altLang="zh-CN" sz="2000" dirty="0"/>
              <a:t>–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en-US" altLang="zh-CN" sz="2000" dirty="0"/>
              <a:t>UC</a:t>
            </a:r>
            <a:r>
              <a:rPr lang="zh-CN" altLang="en-US" sz="2000" dirty="0"/>
              <a:t> </a:t>
            </a:r>
            <a:r>
              <a:rPr lang="en-US" altLang="zh-CN" sz="2000" dirty="0"/>
              <a:t>Berkeley</a:t>
            </a:r>
          </a:p>
          <a:p>
            <a:pPr lvl="1"/>
            <a:r>
              <a:rPr lang="en-US" altLang="zh-CN" sz="2000" dirty="0"/>
              <a:t>1989</a:t>
            </a:r>
            <a:r>
              <a:rPr lang="zh-CN" altLang="en-US" sz="2000" dirty="0"/>
              <a:t>年图灵奖，因为数值计算方面的贡献</a:t>
            </a:r>
            <a:endParaRPr lang="en-US" altLang="zh-TW" sz="2000" dirty="0"/>
          </a:p>
          <a:p>
            <a:pPr lvl="1"/>
            <a:r>
              <a:rPr lang="en-US" altLang="zh-TW" sz="2000" dirty="0" err="1"/>
              <a:t>Kahan</a:t>
            </a:r>
            <a:r>
              <a:rPr lang="zh-TW" altLang="en-US" sz="2000" dirty="0"/>
              <a:t>是浮点运算</a:t>
            </a:r>
            <a:r>
              <a:rPr lang="en-US" altLang="zh-TW" sz="2000" dirty="0"/>
              <a:t>IEE</a:t>
            </a:r>
            <a:r>
              <a:rPr lang="zh-TW" altLang="en-US" sz="2000" dirty="0"/>
              <a:t>标准</a:t>
            </a:r>
            <a:r>
              <a:rPr lang="en-US" altLang="zh-TW" sz="2000" dirty="0"/>
              <a:t>IEEE 754</a:t>
            </a:r>
            <a:r>
              <a:rPr lang="zh-TW" altLang="en-US" sz="2000" dirty="0"/>
              <a:t>， </a:t>
            </a:r>
            <a:r>
              <a:rPr lang="en-US" altLang="zh-TW" sz="2000" dirty="0"/>
              <a:t>IEEE 854</a:t>
            </a:r>
            <a:r>
              <a:rPr lang="zh-TW" altLang="en-US" sz="2000" dirty="0"/>
              <a:t>的主要设计师</a:t>
            </a:r>
            <a:endParaRPr kumimoji="1" lang="zh-CN" altLang="en-US" sz="2000" dirty="0"/>
          </a:p>
          <a:p>
            <a:pPr marL="552450" lvl="1"/>
            <a:endParaRPr lang="en-US" sz="2000" dirty="0"/>
          </a:p>
          <a:p>
            <a:endParaRPr 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14800"/>
            <a:ext cx="2895600" cy="20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Numerical Form: </a:t>
            </a:r>
            <a:br>
              <a:rPr lang="en-US" sz="2400" dirty="0"/>
            </a:br>
            <a:r>
              <a:rPr lang="en-US" sz="2400" dirty="0"/>
              <a:t>			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dirty="0"/>
          </a:p>
          <a:p>
            <a:pPr marL="552450" lvl="1"/>
            <a:r>
              <a:rPr lang="en-US" sz="2000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 bit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 dirty="0"/>
              <a:t> determines whether number is negative or positive</a:t>
            </a:r>
          </a:p>
          <a:p>
            <a:pPr marL="552450" lvl="1"/>
            <a:r>
              <a:rPr lang="zh-CN" altLang="en-US" sz="2000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尾数</a:t>
            </a:r>
            <a:r>
              <a:rPr lang="en-US" sz="2000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Significand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000" dirty="0"/>
              <a:t>  normally a fractional value in range [1.0,2.0).</a:t>
            </a:r>
          </a:p>
          <a:p>
            <a:pPr marL="552450" lvl="1"/>
            <a:r>
              <a:rPr lang="zh-CN" altLang="en-US" sz="2000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阶码</a:t>
            </a:r>
            <a:r>
              <a:rPr lang="en-US" sz="2000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Exponent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000" dirty="0"/>
              <a:t> weights value by power of two</a:t>
            </a:r>
          </a:p>
          <a:p>
            <a:endParaRPr lang="en-US" sz="2400" dirty="0"/>
          </a:p>
          <a:p>
            <a:r>
              <a:rPr lang="en-US" sz="2400" dirty="0"/>
              <a:t>Encoding</a:t>
            </a:r>
          </a:p>
          <a:p>
            <a:pPr marL="552450" lvl="1"/>
            <a:r>
              <a:rPr lang="en-US" sz="2000" dirty="0"/>
              <a:t>MSB </a:t>
            </a:r>
            <a:r>
              <a:rPr lang="en-US" sz="2000" dirty="0">
                <a:latin typeface="Monaco" charset="0"/>
                <a:ea typeface="Monaco" charset="0"/>
                <a:cs typeface="Monaco" charset="0"/>
                <a:sym typeface="Monaco" charset="0"/>
              </a:rPr>
              <a:t>s</a:t>
            </a:r>
            <a:r>
              <a:rPr lang="en-US" sz="2000" dirty="0"/>
              <a:t> is sign bit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endParaRPr lang="en-US" sz="2000" dirty="0"/>
          </a:p>
          <a:p>
            <a:pPr marL="552450" lvl="1"/>
            <a:r>
              <a:rPr lang="en-US" sz="2000" dirty="0" err="1">
                <a:ea typeface="Monaco" charset="0"/>
                <a:cs typeface="Monaco" charset="0"/>
                <a:sym typeface="Monaco" charset="0"/>
              </a:rPr>
              <a:t>exp</a:t>
            </a:r>
            <a:r>
              <a:rPr lang="en-US" sz="2000" dirty="0"/>
              <a:t> field encodes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000" dirty="0"/>
              <a:t> (but is not equal to E)</a:t>
            </a:r>
          </a:p>
          <a:p>
            <a:pPr marL="552450" lvl="1"/>
            <a:r>
              <a:rPr lang="en-US" sz="2000" dirty="0" err="1">
                <a:ea typeface="Monaco" charset="0"/>
                <a:cs typeface="Monaco" charset="0"/>
                <a:sym typeface="Monaco" charset="0"/>
              </a:rPr>
              <a:t>frac</a:t>
            </a:r>
            <a:r>
              <a:rPr lang="en-US" sz="2000" dirty="0"/>
              <a:t> field encodes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000" dirty="0"/>
              <a:t> (but is not equal to M)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Representation</a:t>
            </a:r>
          </a:p>
        </p:txBody>
      </p:sp>
      <p:graphicFrame>
        <p:nvGraphicFramePr>
          <p:cNvPr id="19461" name="Group 5"/>
          <p:cNvGraphicFramePr>
            <a:graphicFrameLocks noGrp="1"/>
          </p:cNvGraphicFramePr>
          <p:nvPr/>
        </p:nvGraphicFramePr>
        <p:xfrm>
          <a:off x="711200" y="5689600"/>
          <a:ext cx="7366000" cy="508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76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 Point Representation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b="1" dirty="0"/>
              <a:t>浮点表示法</a:t>
            </a:r>
            <a:endParaRPr lang="en-US" altLang="zh-CN" sz="2400" b="1" dirty="0"/>
          </a:p>
          <a:p>
            <a:pPr lvl="1"/>
            <a:r>
              <a:rPr kumimoji="1" lang="zh-CN" altLang="en-US" sz="2000" dirty="0"/>
              <a:t>举例：</a:t>
            </a:r>
            <a:r>
              <a:rPr kumimoji="1" lang="en-US" altLang="zh-CN" sz="2000" dirty="0"/>
              <a:t>(-1101.0101)</a:t>
            </a:r>
            <a:r>
              <a:rPr kumimoji="1" lang="en-US" altLang="zh-CN" sz="2000" baseline="-25000" dirty="0"/>
              <a:t>2</a:t>
            </a:r>
            <a:r>
              <a:rPr kumimoji="1" lang="en-US" altLang="zh-CN" sz="2000" dirty="0"/>
              <a:t>,m</a:t>
            </a:r>
            <a:r>
              <a:rPr kumimoji="1" lang="zh-CN" altLang="en-US" sz="2000" dirty="0"/>
              <a:t>=</a:t>
            </a:r>
            <a:r>
              <a:rPr kumimoji="1" lang="en-US" altLang="zh-CN" sz="2000" dirty="0"/>
              <a:t>9,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n=3</a:t>
            </a:r>
          </a:p>
          <a:p>
            <a:pPr lvl="1"/>
            <a:r>
              <a:rPr kumimoji="1" lang="zh-CN" altLang="zh-CN" sz="2000" dirty="0"/>
              <a:t>-</a:t>
            </a:r>
            <a:r>
              <a:rPr kumimoji="1" lang="en-US" altLang="zh-CN" sz="2000" dirty="0"/>
              <a:t>0.11010101</a:t>
            </a:r>
            <a:r>
              <a:rPr kumimoji="1" lang="zh-CN" altLang="en-US" sz="2000" dirty="0"/>
              <a:t>*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4</a:t>
            </a:r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r>
              <a:rPr kumimoji="1" lang="zh-CN" altLang="zh-CN" sz="2000" dirty="0"/>
              <a:t>-</a:t>
            </a:r>
            <a:r>
              <a:rPr kumimoji="1" lang="en-US" altLang="zh-CN" sz="2000" dirty="0"/>
              <a:t>0.011010101</a:t>
            </a:r>
            <a:r>
              <a:rPr kumimoji="1" lang="zh-CN" altLang="en-US" sz="2000" dirty="0"/>
              <a:t>*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5</a:t>
            </a:r>
            <a:endParaRPr kumimoji="1" lang="zh-CN" altLang="en-US" sz="2000" baseline="30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281324"/>
              </p:ext>
            </p:extLst>
          </p:nvPr>
        </p:nvGraphicFramePr>
        <p:xfrm>
          <a:off x="899592" y="2895600"/>
          <a:ext cx="6192688" cy="1260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</a:rPr>
                        <a:t>Es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100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110101010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284866"/>
              </p:ext>
            </p:extLst>
          </p:nvPr>
        </p:nvGraphicFramePr>
        <p:xfrm>
          <a:off x="899592" y="5061780"/>
          <a:ext cx="6192688" cy="1260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</a:rPr>
                        <a:t>Es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101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011010101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674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Precision options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000" dirty="0"/>
              <a:t>Single precision: 32 bits (float)</a:t>
            </a:r>
          </a:p>
          <a:p>
            <a:pPr>
              <a:spcBef>
                <a:spcPts val="10000"/>
              </a:spcBef>
            </a:pPr>
            <a:r>
              <a:rPr lang="en-US" sz="2000" dirty="0"/>
              <a:t>Double precision: 64 bits (double)</a:t>
            </a:r>
          </a:p>
          <a:p>
            <a:pPr>
              <a:spcBef>
                <a:spcPts val="10000"/>
              </a:spcBef>
            </a:pPr>
            <a:r>
              <a:rPr lang="en-US" sz="2000" dirty="0"/>
              <a:t>Extended precision: 80 bits (Intel only, long double)</a:t>
            </a:r>
          </a:p>
        </p:txBody>
      </p:sp>
      <p:graphicFrame>
        <p:nvGraphicFramePr>
          <p:cNvPr id="20485" name="Group 5"/>
          <p:cNvGraphicFramePr>
            <a:graphicFrameLocks noGrp="1"/>
          </p:cNvGraphicFramePr>
          <p:nvPr/>
        </p:nvGraphicFramePr>
        <p:xfrm>
          <a:off x="876300" y="19939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09" name="Group 29"/>
          <p:cNvGraphicFramePr>
            <a:graphicFrameLocks noGrp="1"/>
          </p:cNvGraphicFramePr>
          <p:nvPr/>
        </p:nvGraphicFramePr>
        <p:xfrm>
          <a:off x="876300" y="37465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33" name="Group 53"/>
          <p:cNvGraphicFramePr>
            <a:graphicFrameLocks noGrp="1"/>
          </p:cNvGraphicFramePr>
          <p:nvPr/>
        </p:nvGraphicFramePr>
        <p:xfrm>
          <a:off x="876300" y="54991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15-bits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63 or 64-bits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91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浮点数编码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三种情况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06" y="2286000"/>
            <a:ext cx="8256694" cy="325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5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“Normalized” Values</a:t>
            </a:r>
            <a:r>
              <a:rPr lang="en-US" altLang="zh-CN" dirty="0"/>
              <a:t>(</a:t>
            </a:r>
            <a:r>
              <a:rPr lang="zh-CN" altLang="en-US" dirty="0"/>
              <a:t>规格化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When: exp ≠ 000…0 and exp ≠ 111…1</a:t>
            </a:r>
          </a:p>
          <a:p>
            <a:endParaRPr lang="en-US" sz="2400" dirty="0"/>
          </a:p>
          <a:p>
            <a:r>
              <a:rPr lang="en-US" sz="2400" dirty="0"/>
              <a:t>E coded as a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biased</a:t>
            </a:r>
            <a:r>
              <a:rPr lang="en-US" sz="2400" dirty="0"/>
              <a:t> value: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 (</a:t>
            </a:r>
            <a:r>
              <a:rPr lang="zh-CN" alt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移码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)</a:t>
            </a:r>
            <a:endParaRPr lang="en-US" sz="2400" dirty="0"/>
          </a:p>
          <a:p>
            <a:pPr marL="552450" lvl="1"/>
            <a:r>
              <a:rPr lang="en-US" sz="20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Exp</a:t>
            </a:r>
            <a:r>
              <a:rPr lang="en-US" sz="2000" dirty="0"/>
              <a:t>: unsigned value of </a:t>
            </a:r>
            <a:r>
              <a:rPr lang="en-US" sz="2000" dirty="0" err="1">
                <a:latin typeface="Calibri"/>
                <a:ea typeface="Monaco" charset="0"/>
                <a:cs typeface="Calibri"/>
                <a:sym typeface="Monaco" charset="0"/>
              </a:rPr>
              <a:t>exp</a:t>
            </a:r>
            <a:r>
              <a:rPr lang="en-US" sz="2000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r>
              <a:rPr lang="en-US" sz="2000" dirty="0">
                <a:latin typeface="Calibri"/>
                <a:cs typeface="Calibri"/>
              </a:rPr>
              <a:t> </a:t>
            </a:r>
          </a:p>
          <a:p>
            <a:pPr marL="552450" lvl="1"/>
            <a:r>
              <a:rPr lang="en-US" sz="20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sz="2000" dirty="0"/>
              <a:t> = 2</a:t>
            </a:r>
            <a:r>
              <a:rPr lang="en-US" sz="2000" baseline="32000" dirty="0"/>
              <a:t>k-1</a:t>
            </a:r>
            <a:r>
              <a:rPr lang="en-US" sz="2000" dirty="0"/>
              <a:t> - 1, where </a:t>
            </a:r>
            <a:r>
              <a:rPr lang="en-US" sz="20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sz="2000" dirty="0"/>
              <a:t> is number of exponent bits</a:t>
            </a:r>
          </a:p>
          <a:p>
            <a:pPr marL="838200" lvl="2"/>
            <a:r>
              <a:rPr lang="en-US" sz="1800" dirty="0"/>
              <a:t>Single precision: </a:t>
            </a:r>
            <a:r>
              <a:rPr lang="en-US" sz="1800" dirty="0">
                <a:solidFill>
                  <a:srgbClr val="FF0000"/>
                </a:solidFill>
              </a:rPr>
              <a:t>127</a:t>
            </a:r>
            <a:r>
              <a:rPr lang="en-US" sz="1800" dirty="0"/>
              <a:t> (Exp: 1…254, E: -126…127)</a:t>
            </a:r>
          </a:p>
          <a:p>
            <a:pPr marL="838200" lvl="2"/>
            <a:r>
              <a:rPr lang="en-US" sz="1800" dirty="0"/>
              <a:t>Double precision: </a:t>
            </a:r>
            <a:r>
              <a:rPr lang="en-US" sz="1800" dirty="0">
                <a:solidFill>
                  <a:srgbClr val="FF0000"/>
                </a:solidFill>
              </a:rPr>
              <a:t>1023</a:t>
            </a:r>
            <a:r>
              <a:rPr lang="en-US" sz="1800" dirty="0"/>
              <a:t> (Exp: 1…2046, E: -1022…1023)</a:t>
            </a:r>
          </a:p>
          <a:p>
            <a:endParaRPr lang="en-US" sz="2400" dirty="0"/>
          </a:p>
          <a:p>
            <a:r>
              <a:rPr lang="en-US" sz="2400" dirty="0"/>
              <a:t>M coded with implied leading 1: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 =  </a:t>
            </a:r>
            <a:r>
              <a:rPr lang="en-US" sz="2400" dirty="0">
                <a:latin typeface="Calibri"/>
                <a:ea typeface="Monaco" charset="0"/>
                <a:cs typeface="Calibri"/>
                <a:sym typeface="Monaco" charset="0"/>
              </a:rPr>
              <a:t>1.xxx…x</a:t>
            </a:r>
            <a:r>
              <a:rPr lang="en-US" sz="2400" baseline="-6000" dirty="0">
                <a:latin typeface="Calibri"/>
                <a:ea typeface="Monaco" charset="0"/>
                <a:cs typeface="Calibri"/>
                <a:sym typeface="Monaco" charset="0"/>
              </a:rPr>
              <a:t>2</a:t>
            </a:r>
            <a:endParaRPr lang="en-US" sz="2400" dirty="0">
              <a:latin typeface="Calibri"/>
              <a:cs typeface="Calibri"/>
            </a:endParaRPr>
          </a:p>
          <a:p>
            <a:pPr marL="552450" lvl="1"/>
            <a:r>
              <a:rPr lang="en-US" sz="2000" dirty="0">
                <a:latin typeface="Calibri"/>
                <a:cs typeface="Calibri"/>
              </a:rPr>
              <a:t> </a:t>
            </a:r>
            <a:r>
              <a:rPr lang="en-US" sz="2000" dirty="0">
                <a:latin typeface="Calibri"/>
                <a:ea typeface="Monaco" charset="0"/>
                <a:cs typeface="Calibri"/>
                <a:sym typeface="Monaco" charset="0"/>
              </a:rPr>
              <a:t>xxx…x</a:t>
            </a:r>
            <a:r>
              <a:rPr lang="en-US" sz="2000" dirty="0">
                <a:latin typeface="Calibri"/>
                <a:cs typeface="Calibri"/>
              </a:rPr>
              <a:t>: bits of </a:t>
            </a:r>
            <a:r>
              <a:rPr lang="en-US" sz="2000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sz="2000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endParaRPr lang="en-US" sz="2000" dirty="0">
              <a:latin typeface="Calibri"/>
              <a:cs typeface="Calibri"/>
            </a:endParaRPr>
          </a:p>
          <a:p>
            <a:pPr marL="552450" lvl="1"/>
            <a:r>
              <a:rPr lang="en-US" sz="2000" dirty="0">
                <a:latin typeface="Calibri"/>
                <a:cs typeface="Calibri"/>
              </a:rPr>
              <a:t>Minimum when </a:t>
            </a:r>
            <a:r>
              <a:rPr lang="en-US" sz="2000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sz="2000" dirty="0">
                <a:latin typeface="Calibri"/>
                <a:ea typeface="Monaco" charset="0"/>
                <a:cs typeface="Calibri"/>
                <a:sym typeface="Monaco" charset="0"/>
              </a:rPr>
              <a:t>=000…0</a:t>
            </a:r>
            <a:r>
              <a:rPr lang="en-US" sz="2000" dirty="0">
                <a:latin typeface="Calibri"/>
                <a:cs typeface="Calibri"/>
              </a:rPr>
              <a:t> (</a:t>
            </a:r>
            <a:r>
              <a:rPr lang="en-US" sz="2000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sz="2000" dirty="0">
                <a:latin typeface="Calibri"/>
                <a:cs typeface="Calibri"/>
              </a:rPr>
              <a:t> = 1.0)</a:t>
            </a:r>
          </a:p>
          <a:p>
            <a:pPr marL="552450" lvl="1"/>
            <a:r>
              <a:rPr lang="en-US" sz="2000" dirty="0">
                <a:latin typeface="Calibri"/>
                <a:cs typeface="Calibri"/>
              </a:rPr>
              <a:t>Maximum when </a:t>
            </a:r>
            <a:r>
              <a:rPr lang="en-US" sz="2000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sz="2000" dirty="0">
                <a:latin typeface="Calibri"/>
                <a:ea typeface="Monaco" charset="0"/>
                <a:cs typeface="Calibri"/>
                <a:sym typeface="Monaco" charset="0"/>
              </a:rPr>
              <a:t>=111…1</a:t>
            </a:r>
            <a:r>
              <a:rPr lang="en-US" sz="2000" dirty="0">
                <a:latin typeface="Calibri"/>
                <a:cs typeface="Calibri"/>
              </a:rPr>
              <a:t> (</a:t>
            </a:r>
            <a:r>
              <a:rPr lang="en-US" sz="2000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sz="2000" dirty="0">
                <a:latin typeface="Calibri"/>
                <a:cs typeface="Calibri"/>
              </a:rPr>
              <a:t> = 2.0 – ε)</a:t>
            </a:r>
          </a:p>
          <a:p>
            <a:pPr marL="552450" lvl="1"/>
            <a:r>
              <a:rPr lang="en-US" sz="2000" dirty="0"/>
              <a:t>Get </a:t>
            </a:r>
            <a:r>
              <a:rPr lang="en-US" sz="2000" dirty="0">
                <a:solidFill>
                  <a:srgbClr val="FF0000"/>
                </a:solidFill>
              </a:rPr>
              <a:t>extra</a:t>
            </a:r>
            <a:r>
              <a:rPr lang="en-US" sz="2000" dirty="0"/>
              <a:t> leading bit for “</a:t>
            </a:r>
            <a:r>
              <a:rPr lang="en-US" sz="2000" dirty="0">
                <a:solidFill>
                  <a:srgbClr val="FF0000"/>
                </a:solidFill>
              </a:rPr>
              <a:t>free</a:t>
            </a:r>
            <a:r>
              <a:rPr lang="en-US" sz="2000" dirty="0"/>
              <a:t>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0" y="533400"/>
            <a:ext cx="1917513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v = (–1)</a:t>
            </a:r>
            <a:r>
              <a:rPr lang="en-US" baseline="32000" dirty="0"/>
              <a:t>s</a:t>
            </a:r>
            <a:r>
              <a:rPr lang="en-US" dirty="0"/>
              <a:t>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2</a:t>
            </a:r>
            <a:r>
              <a:rPr lang="en-US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5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93270" y="5816600"/>
            <a:ext cx="355600" cy="355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151965" y="5816600"/>
            <a:ext cx="1779495" cy="355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048000" y="5816600"/>
            <a:ext cx="5066555" cy="355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8733" y="552978"/>
            <a:ext cx="7366000" cy="573088"/>
          </a:xfrm>
        </p:spPr>
        <p:txBody>
          <a:bodyPr/>
          <a:lstStyle/>
          <a:p>
            <a:r>
              <a:rPr lang="en-US" dirty="0"/>
              <a:t>Normalized Encoding Example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3598" y="1371600"/>
            <a:ext cx="8255000" cy="5029200"/>
          </a:xfrm>
        </p:spPr>
        <p:txBody>
          <a:bodyPr/>
          <a:lstStyle/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Value: </a:t>
            </a:r>
            <a:r>
              <a:rPr lang="en-US" sz="1800" dirty="0">
                <a:latin typeface="Courier New"/>
                <a:cs typeface="Courier New"/>
              </a:rPr>
              <a:t>float F = 15213.0;</a:t>
            </a:r>
          </a:p>
          <a:p>
            <a:pPr marL="560388" lvl="1" indent="-222250" defTabSz="895350">
              <a:lnSpc>
                <a:spcPct val="90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dirty="0"/>
              <a:t>15213</a:t>
            </a:r>
            <a:r>
              <a:rPr lang="en-US" sz="1800" b="0" baseline="-25000" dirty="0"/>
              <a:t>10</a:t>
            </a:r>
            <a:r>
              <a:rPr lang="en-US" sz="1800" b="0" dirty="0"/>
              <a:t>  = 11101101101101</a:t>
            </a:r>
            <a:r>
              <a:rPr lang="en-US" sz="1800" b="0" baseline="-25000" dirty="0"/>
              <a:t>2  </a:t>
            </a:r>
            <a:r>
              <a:rPr lang="en-US" sz="1800" b="0" dirty="0"/>
              <a:t> </a:t>
            </a:r>
          </a:p>
          <a:p>
            <a:pPr marL="560388" lvl="1" indent="-222250" defTabSz="895350">
              <a:lnSpc>
                <a:spcPct val="90000"/>
              </a:lnSpc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dirty="0"/>
              <a:t>                     </a:t>
            </a:r>
            <a:r>
              <a:rPr lang="en-US" sz="1800" b="0" dirty="0"/>
              <a:t>= 1.1101101101101</a:t>
            </a:r>
            <a:r>
              <a:rPr lang="en-US" sz="1800" b="0" baseline="-25000" dirty="0"/>
              <a:t>2</a:t>
            </a:r>
            <a:r>
              <a:rPr lang="en-US" sz="1800" b="0" dirty="0"/>
              <a:t> x 2</a:t>
            </a:r>
            <a:r>
              <a:rPr lang="en-US" sz="1800" b="0" baseline="30000" dirty="0"/>
              <a:t>13</a:t>
            </a:r>
            <a:endParaRPr lang="en-US" sz="1800" b="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 err="1"/>
              <a:t>Significand</a:t>
            </a:r>
            <a:endParaRPr lang="en-US" sz="2000" dirty="0"/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M</a:t>
            </a:r>
            <a:r>
              <a:rPr lang="en-US" sz="1800" dirty="0"/>
              <a:t> 	= 	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1.</a:t>
            </a:r>
            <a:r>
              <a:rPr lang="en-US" sz="1800" b="1" u="sng" dirty="0">
                <a:latin typeface="Courier New" pitchFamily="49" charset="0"/>
                <a:cs typeface="Courier New" pitchFamily="49" charset="0"/>
              </a:rPr>
              <a:t>1101101101101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1" dirty="0" err="1">
                <a:latin typeface="Courier New" pitchFamily="49" charset="0"/>
              </a:rPr>
              <a:t>frac</a:t>
            </a:r>
            <a:r>
              <a:rPr lang="en-US" sz="1800" b="1" dirty="0">
                <a:latin typeface="Courier New" pitchFamily="49" charset="0"/>
              </a:rPr>
              <a:t>	= 	  </a:t>
            </a:r>
            <a:r>
              <a:rPr lang="en-US" sz="1800" b="1" u="sng" dirty="0">
                <a:latin typeface="Courier New" pitchFamily="49" charset="0"/>
              </a:rPr>
              <a:t>1101101101101</a:t>
            </a:r>
            <a:r>
              <a:rPr lang="en-US" sz="1800" b="1" dirty="0">
                <a:latin typeface="Courier New" pitchFamily="49" charset="0"/>
              </a:rPr>
              <a:t>0000000000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  <a:endParaRPr lang="en-US" sz="1800" b="1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Exponent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	</a:t>
            </a:r>
            <a:r>
              <a:rPr lang="en-US" sz="1800" dirty="0"/>
              <a:t> 	= 	13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Bias</a:t>
            </a:r>
            <a:r>
              <a:rPr lang="en-US" sz="1800" dirty="0"/>
              <a:t> 	= 	127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Exp</a:t>
            </a:r>
            <a:r>
              <a:rPr lang="en-US" sz="1800" dirty="0"/>
              <a:t> 	= 	140 	=	</a:t>
            </a:r>
            <a:r>
              <a:rPr lang="en-US" sz="1800" b="1" dirty="0">
                <a:latin typeface="Courier New" pitchFamily="49" charset="0"/>
              </a:rPr>
              <a:t>10001100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b="1" baseline="-25000" dirty="0">
              <a:latin typeface="Courier New" pitchFamily="49" charset="0"/>
            </a:endParaRPr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Result:</a:t>
            </a:r>
            <a:br>
              <a:rPr lang="en-US" sz="2000" dirty="0"/>
            </a:br>
            <a:br>
              <a:rPr lang="en-US" sz="2000" dirty="0"/>
            </a:br>
            <a:r>
              <a:rPr lang="en-US" sz="2800" dirty="0">
                <a:latin typeface="Courier New" pitchFamily="49" charset="0"/>
              </a:rPr>
              <a:t>0 10001100 11011011011010000000000 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85625" y="61722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3971" y="6172200"/>
            <a:ext cx="7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exp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8452" y="6172200"/>
            <a:ext cx="92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frac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0" y="540603"/>
            <a:ext cx="2064989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v = (–1)</a:t>
            </a:r>
            <a:r>
              <a:rPr lang="en-US" baseline="32000" dirty="0"/>
              <a:t>s</a:t>
            </a:r>
            <a:r>
              <a:rPr lang="en-US" dirty="0"/>
              <a:t>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2</a:t>
            </a:r>
            <a:r>
              <a:rPr lang="en-US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 = 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/>
              <a:t>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Denormalized</a:t>
            </a:r>
            <a:r>
              <a:rPr lang="en-US" dirty="0"/>
              <a:t> Values (</a:t>
            </a:r>
            <a:r>
              <a:rPr lang="zh-CN" altLang="en-US" dirty="0"/>
              <a:t>非规格化</a:t>
            </a:r>
            <a:r>
              <a:rPr lang="en-US" dirty="0"/>
              <a:t>)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Condition: </a:t>
            </a:r>
            <a:r>
              <a:rPr lang="en-US" sz="2400" dirty="0">
                <a:latin typeface="Calibri"/>
                <a:ea typeface="Monaco" charset="0"/>
                <a:cs typeface="Calibri"/>
                <a:sym typeface="Monaco" charset="0"/>
              </a:rPr>
              <a:t>exp = 000…0</a:t>
            </a:r>
            <a:endParaRPr lang="en-US" sz="2400" dirty="0">
              <a:latin typeface="Calibri"/>
              <a:cs typeface="Calibri"/>
            </a:endParaRPr>
          </a:p>
          <a:p>
            <a:endParaRPr lang="en-US" sz="2400" dirty="0"/>
          </a:p>
          <a:p>
            <a:r>
              <a:rPr lang="en-US" sz="2400" dirty="0"/>
              <a:t>Exponent value: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= 1 – Bias (instead of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= 0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r>
              <a:rPr lang="en-US" sz="2400" dirty="0"/>
              <a:t>)</a:t>
            </a:r>
          </a:p>
          <a:p>
            <a:pPr lvl="1"/>
            <a:r>
              <a:rPr lang="zh-CN" altLang="en-US" sz="2000" dirty="0"/>
              <a:t>为了平滑过度到规格化浮点数（</a:t>
            </a:r>
            <a:r>
              <a:rPr lang="en-US" altLang="zh-CN" sz="2000" dirty="0"/>
              <a:t>1.xxx * 2</a:t>
            </a:r>
            <a:r>
              <a:rPr lang="en-US" altLang="zh-CN" sz="2000" baseline="30000" dirty="0"/>
              <a:t>-126</a:t>
            </a:r>
            <a:r>
              <a:rPr lang="en-US" altLang="zh-CN" sz="2000" dirty="0"/>
              <a:t>)</a:t>
            </a:r>
          </a:p>
          <a:p>
            <a:pPr lvl="1"/>
            <a:r>
              <a:rPr lang="zh-CN" altLang="en-US" sz="2000" dirty="0"/>
              <a:t>非规格化：</a:t>
            </a:r>
            <a:r>
              <a:rPr lang="en-US" altLang="zh-CN" sz="2000" dirty="0"/>
              <a:t>0.xxx * 2</a:t>
            </a:r>
            <a:r>
              <a:rPr lang="en-US" altLang="zh-CN" sz="2000" baseline="30000" dirty="0"/>
              <a:t>-126</a:t>
            </a:r>
            <a:endParaRPr lang="en-US" sz="2000" baseline="30000" dirty="0"/>
          </a:p>
          <a:p>
            <a:r>
              <a:rPr lang="en-US" altLang="zh-CN" sz="2400" dirty="0"/>
              <a:t>M</a:t>
            </a:r>
            <a:r>
              <a:rPr lang="zh-CN" altLang="en-US" sz="2400" dirty="0"/>
              <a:t>没有隐藏的</a:t>
            </a:r>
            <a:r>
              <a:rPr lang="en-US" altLang="zh-CN" sz="2400" dirty="0"/>
              <a:t>1</a:t>
            </a:r>
            <a:r>
              <a:rPr lang="zh-CN" altLang="en-US" sz="2400" dirty="0"/>
              <a:t>，方便表示</a:t>
            </a:r>
            <a:r>
              <a:rPr lang="en-US" altLang="zh-CN" sz="2400" dirty="0"/>
              <a:t>0</a:t>
            </a:r>
            <a:r>
              <a:rPr lang="zh-CN" altLang="en-US" sz="2400" dirty="0"/>
              <a:t>及接近</a:t>
            </a:r>
            <a:r>
              <a:rPr lang="en-US" altLang="zh-CN" sz="2400" dirty="0"/>
              <a:t>0</a:t>
            </a:r>
            <a:r>
              <a:rPr lang="zh-CN" altLang="en-US" sz="2400" dirty="0"/>
              <a:t>的数字</a:t>
            </a:r>
            <a:r>
              <a:rPr lang="en-US" sz="2400" dirty="0"/>
              <a:t>: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= 0.xxx…x</a:t>
            </a:r>
            <a:r>
              <a:rPr lang="en-US" sz="2400" baseline="-6000" dirty="0"/>
              <a:t>2</a:t>
            </a:r>
            <a:endParaRPr lang="en-US" sz="2400" dirty="0"/>
          </a:p>
          <a:p>
            <a:r>
              <a:rPr lang="en-US" sz="2400" dirty="0"/>
              <a:t>Cases</a:t>
            </a:r>
          </a:p>
          <a:p>
            <a:pPr marL="552450" lvl="1"/>
            <a:r>
              <a:rPr lang="en-US" sz="2000" dirty="0"/>
              <a:t>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sz="2000" dirty="0"/>
              <a:t> = 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sz="2000" dirty="0"/>
              <a:t>, </a:t>
            </a:r>
            <a:r>
              <a:rPr lang="en-US" sz="20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sz="2000" dirty="0"/>
              <a:t> = 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sz="2000" b="1" dirty="0">
              <a:latin typeface="Courier New"/>
              <a:cs typeface="Courier New"/>
            </a:endParaRPr>
          </a:p>
          <a:p>
            <a:pPr marL="838200" lvl="2"/>
            <a:r>
              <a:rPr lang="zh-CN" altLang="en-US" sz="1800" dirty="0"/>
              <a:t>表示</a:t>
            </a:r>
            <a:r>
              <a:rPr lang="en-US" altLang="zh-CN" sz="1800" dirty="0"/>
              <a:t>0</a:t>
            </a:r>
          </a:p>
          <a:p>
            <a:pPr marL="838200" lvl="2"/>
            <a:r>
              <a:rPr lang="zh-CN" altLang="en-US" sz="1800" dirty="0"/>
              <a:t>但是根据</a:t>
            </a:r>
            <a:r>
              <a:rPr lang="en-US" altLang="zh-CN" sz="1800" dirty="0"/>
              <a:t>S</a:t>
            </a:r>
            <a:r>
              <a:rPr lang="zh-CN" altLang="en-US" sz="1800" dirty="0"/>
              <a:t>为</a:t>
            </a:r>
            <a:r>
              <a:rPr lang="en-US" altLang="zh-CN" sz="1800" dirty="0"/>
              <a:t>0</a:t>
            </a:r>
            <a:r>
              <a:rPr lang="zh-CN" altLang="en-US" sz="1800" dirty="0"/>
              <a:t>或</a:t>
            </a:r>
            <a:r>
              <a:rPr lang="en-US" altLang="zh-CN" sz="1800" dirty="0"/>
              <a:t>1</a:t>
            </a:r>
            <a:r>
              <a:rPr lang="zh-CN" altLang="en-US" sz="1800" dirty="0"/>
              <a:t>，可以表示</a:t>
            </a:r>
            <a:r>
              <a:rPr lang="en-US" sz="1800" dirty="0"/>
              <a:t> +0 and –0</a:t>
            </a:r>
          </a:p>
          <a:p>
            <a:pPr marL="552450" lvl="1"/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sz="2000" dirty="0"/>
              <a:t> = 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sz="2000" dirty="0"/>
              <a:t>, </a:t>
            </a:r>
            <a:r>
              <a:rPr lang="en-US" sz="20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sz="2000" dirty="0"/>
              <a:t> ≠ 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sz="2000" b="1" dirty="0">
              <a:latin typeface="Courier New"/>
              <a:cs typeface="Courier New"/>
            </a:endParaRPr>
          </a:p>
          <a:p>
            <a:pPr marL="838200" lvl="2"/>
            <a:r>
              <a:rPr lang="zh-CN" altLang="en-US" sz="1800" dirty="0"/>
              <a:t>用于表示接近于</a:t>
            </a:r>
            <a:r>
              <a:rPr lang="en-US" sz="1800" dirty="0"/>
              <a:t> 0.0</a:t>
            </a:r>
            <a:r>
              <a:rPr lang="zh-CN" altLang="en-US" sz="1800" dirty="0"/>
              <a:t>的数字</a:t>
            </a:r>
            <a:endParaRPr lang="en-US" sz="1800" dirty="0"/>
          </a:p>
        </p:txBody>
      </p:sp>
      <p:sp>
        <p:nvSpPr>
          <p:cNvPr id="6" name="Rectangle 5"/>
          <p:cNvSpPr/>
          <p:nvPr/>
        </p:nvSpPr>
        <p:spPr>
          <a:xfrm>
            <a:off x="6938851" y="540603"/>
            <a:ext cx="1917513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v = (–1)</a:t>
            </a:r>
            <a:r>
              <a:rPr lang="en-US" baseline="32000" dirty="0"/>
              <a:t>s</a:t>
            </a:r>
            <a:r>
              <a:rPr lang="en-US" dirty="0"/>
              <a:t>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2</a:t>
            </a:r>
            <a:r>
              <a:rPr lang="en-US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 = 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dirty="0"/>
              <a:t>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6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Values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Condition: </a:t>
            </a:r>
            <a:r>
              <a:rPr lang="en-US" sz="2400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sz="2400" dirty="0"/>
              <a:t> = </a:t>
            </a:r>
            <a:r>
              <a:rPr lang="en-US" sz="2400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endParaRPr lang="en-US" sz="2400" b="1" dirty="0">
              <a:latin typeface="Courier New"/>
              <a:cs typeface="Courier New"/>
            </a:endParaRPr>
          </a:p>
          <a:p>
            <a:endParaRPr lang="en-US" sz="2400" dirty="0"/>
          </a:p>
          <a:p>
            <a:r>
              <a:rPr lang="en-US" sz="2400" dirty="0"/>
              <a:t>Case: </a:t>
            </a:r>
            <a:r>
              <a:rPr lang="en-US" sz="2400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sz="2400" dirty="0"/>
              <a:t> = </a:t>
            </a:r>
            <a:r>
              <a:rPr lang="en-US" sz="2400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sz="2400" dirty="0"/>
              <a:t>, </a:t>
            </a:r>
            <a:r>
              <a:rPr lang="en-US" sz="24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sz="2400" dirty="0"/>
              <a:t> = </a:t>
            </a:r>
            <a:r>
              <a:rPr lang="en-US" sz="24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sz="2400" b="1" dirty="0">
              <a:latin typeface="Courier New"/>
              <a:cs typeface="Courier New"/>
            </a:endParaRPr>
          </a:p>
          <a:p>
            <a:pPr marL="552450" lvl="1"/>
            <a:r>
              <a:rPr lang="en-US" sz="2000" dirty="0"/>
              <a:t>Represents value </a:t>
            </a:r>
            <a:r>
              <a:rPr lang="en-US" sz="2000" dirty="0">
                <a:sym typeface="Symbol"/>
              </a:rPr>
              <a:t></a:t>
            </a:r>
            <a:r>
              <a:rPr lang="en-US" sz="2000" dirty="0"/>
              <a:t> </a:t>
            </a:r>
          </a:p>
          <a:p>
            <a:pPr marL="552450" lvl="1"/>
            <a:r>
              <a:rPr lang="zh-CN" altLang="en-US" sz="2000" dirty="0"/>
              <a:t>用来表示</a:t>
            </a:r>
            <a:r>
              <a:rPr lang="en-US" altLang="zh-CN" sz="2000" dirty="0"/>
              <a:t>overflow</a:t>
            </a:r>
            <a:endParaRPr lang="en-US" sz="2000" dirty="0"/>
          </a:p>
          <a:p>
            <a:pPr marL="552450" lvl="1"/>
            <a:r>
              <a:rPr lang="zh-CN" altLang="en-US" sz="2000" dirty="0"/>
              <a:t>包括</a:t>
            </a:r>
            <a:r>
              <a:rPr lang="en-US" altLang="zh-CN" sz="2000" dirty="0"/>
              <a:t>+</a:t>
            </a:r>
            <a:r>
              <a:rPr lang="en-US" altLang="zh-CN" sz="2000" dirty="0">
                <a:sym typeface="Symbol"/>
              </a:rPr>
              <a:t></a:t>
            </a:r>
            <a:r>
              <a:rPr lang="zh-CN" altLang="en-US" sz="2000" dirty="0">
                <a:sym typeface="Symbol"/>
              </a:rPr>
              <a:t>和</a:t>
            </a:r>
            <a:r>
              <a:rPr lang="en-US" altLang="zh-CN" sz="2000" dirty="0"/>
              <a:t>−</a:t>
            </a:r>
            <a:r>
              <a:rPr lang="en-US" altLang="zh-CN" sz="2000" dirty="0">
                <a:sym typeface="Symbol"/>
              </a:rPr>
              <a:t></a:t>
            </a:r>
            <a:endParaRPr lang="en-US" sz="2000" dirty="0"/>
          </a:p>
          <a:p>
            <a:pPr marL="552450" lvl="1"/>
            <a:r>
              <a:rPr lang="en-US" sz="2000" dirty="0"/>
              <a:t>E.g., 1.0/0.0 = −1.0/−0.0 = +</a:t>
            </a:r>
            <a:r>
              <a:rPr lang="en-US" sz="2000" dirty="0">
                <a:sym typeface="Symbol"/>
              </a:rPr>
              <a:t></a:t>
            </a:r>
            <a:r>
              <a:rPr lang="en-US" sz="2000" dirty="0"/>
              <a:t>,  1.0/−0.0 = −</a:t>
            </a:r>
            <a:r>
              <a:rPr lang="en-US" sz="2000" dirty="0">
                <a:sym typeface="Symbol"/>
              </a:rPr>
              <a:t></a:t>
            </a:r>
            <a:endParaRPr lang="en-US" sz="2000" dirty="0"/>
          </a:p>
          <a:p>
            <a:endParaRPr lang="en-US" sz="2400" dirty="0"/>
          </a:p>
          <a:p>
            <a:r>
              <a:rPr lang="en-US" sz="2400" dirty="0"/>
              <a:t>Case: </a:t>
            </a:r>
            <a:r>
              <a:rPr lang="en-US" sz="2400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sz="2400" dirty="0"/>
              <a:t> = </a:t>
            </a:r>
            <a:r>
              <a:rPr lang="en-US" sz="2400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sz="2400" dirty="0"/>
              <a:t>, </a:t>
            </a:r>
            <a:r>
              <a:rPr lang="en-US" sz="24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sz="2400" dirty="0"/>
              <a:t> ≠ </a:t>
            </a:r>
            <a:r>
              <a:rPr lang="en-US" sz="24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sz="2400" b="1" dirty="0">
              <a:latin typeface="Courier New"/>
              <a:cs typeface="Courier New"/>
            </a:endParaRPr>
          </a:p>
          <a:p>
            <a:pPr marL="552450" lvl="1"/>
            <a:r>
              <a:rPr lang="en-US" sz="2000" dirty="0"/>
              <a:t>Not-a-Number (</a:t>
            </a:r>
            <a:r>
              <a:rPr lang="en-US" sz="2000" dirty="0" err="1"/>
              <a:t>NaN</a:t>
            </a:r>
            <a:r>
              <a:rPr lang="en-US" sz="2000" dirty="0"/>
              <a:t>)</a:t>
            </a:r>
          </a:p>
          <a:p>
            <a:pPr marL="552450" lvl="1"/>
            <a:r>
              <a:rPr lang="zh-CN" altLang="en-US" sz="2000" dirty="0"/>
              <a:t>表示无法得到一个数值（出错</a:t>
            </a:r>
            <a:r>
              <a:rPr lang="en-US" altLang="zh-CN" sz="2000" dirty="0"/>
              <a:t>/</a:t>
            </a:r>
            <a:r>
              <a:rPr lang="zh-CN" altLang="en-US" sz="2000" dirty="0"/>
              <a:t>未定义）</a:t>
            </a:r>
            <a:endParaRPr lang="en-US" sz="2000" dirty="0"/>
          </a:p>
          <a:p>
            <a:pPr marL="552450" lvl="1"/>
            <a:r>
              <a:rPr lang="en-US" sz="2000" dirty="0">
                <a:ea typeface="Apple Symbols" charset="0"/>
                <a:cs typeface="Apple Symbols" charset="0"/>
              </a:rPr>
              <a:t>E.g., 0/0, </a:t>
            </a:r>
            <a:r>
              <a:rPr lang="en-US" sz="2000" dirty="0" err="1">
                <a:ea typeface="Apple Symbols" charset="0"/>
                <a:cs typeface="Apple Symbols" charset="0"/>
              </a:rPr>
              <a:t>sqrt</a:t>
            </a:r>
            <a:r>
              <a:rPr lang="en-US" sz="2000" dirty="0">
                <a:ea typeface="Apple Symbols" charset="0"/>
                <a:cs typeface="Apple Symbols" charset="0"/>
              </a:rPr>
              <a:t>(–1), </a:t>
            </a:r>
            <a:r>
              <a:rPr lang="en-US" sz="2000" dirty="0">
                <a:sym typeface="Symbol"/>
              </a:rPr>
              <a:t></a:t>
            </a:r>
            <a:r>
              <a:rPr lang="en-US" sz="2000" dirty="0">
                <a:ea typeface="Apple Symbols" charset="0"/>
                <a:cs typeface="Apple Symbols" charset="0"/>
              </a:rPr>
              <a:t> − </a:t>
            </a:r>
            <a:r>
              <a:rPr lang="en-US" sz="2000" dirty="0">
                <a:sym typeface="Symbol"/>
              </a:rPr>
              <a:t></a:t>
            </a:r>
            <a:r>
              <a:rPr lang="en-US" sz="2000" dirty="0">
                <a:ea typeface="Apple Symbols" charset="0"/>
                <a:cs typeface="Apple Symbols" charset="0"/>
              </a:rPr>
              <a:t>, </a:t>
            </a:r>
            <a:r>
              <a:rPr lang="en-US" sz="2000" dirty="0">
                <a:sym typeface="Symbol"/>
              </a:rPr>
              <a:t></a:t>
            </a:r>
            <a:r>
              <a:rPr lang="en-US" sz="2000" dirty="0">
                <a:ea typeface="Apple Symbols" charset="0"/>
                <a:cs typeface="Apple Symbols" charset="0"/>
              </a:rPr>
              <a:t> </a:t>
            </a:r>
            <a:r>
              <a:rPr lang="en-US" sz="2000" dirty="0">
                <a:ea typeface="Apple Symbols" charset="0"/>
                <a:cs typeface="Apple Symbols" charset="0"/>
                <a:sym typeface="Symbol"/>
              </a:rPr>
              <a:t></a:t>
            </a:r>
            <a:r>
              <a:rPr lang="en-US" sz="2000" dirty="0">
                <a:ea typeface="Apple Symbols" charset="0"/>
                <a:cs typeface="Apple Symbols" charset="0"/>
              </a:rPr>
              <a:t> 0</a:t>
            </a:r>
            <a:endParaRPr 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02" y="533400"/>
            <a:ext cx="4833197" cy="19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6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83550" cy="1095375"/>
          </a:xfrm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Visualization: Floating Point Encodings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838200" y="2960688"/>
            <a:ext cx="7315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838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81534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8153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267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8153400" y="3570288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86868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3048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304800" y="3636963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8382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4" name="Rectangle 14"/>
          <p:cNvSpPr>
            <a:spLocks/>
          </p:cNvSpPr>
          <p:nvPr/>
        </p:nvSpPr>
        <p:spPr bwMode="auto">
          <a:xfrm>
            <a:off x="7772400" y="2451100"/>
            <a:ext cx="37670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+</a:t>
            </a:r>
            <a:r>
              <a:rPr lang="en-US" sz="1800" dirty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5" name="Rectangle 15"/>
          <p:cNvSpPr>
            <a:spLocks/>
          </p:cNvSpPr>
          <p:nvPr/>
        </p:nvSpPr>
        <p:spPr bwMode="auto">
          <a:xfrm>
            <a:off x="715963" y="2427288"/>
            <a:ext cx="37670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6" name="Rectangle 16"/>
          <p:cNvSpPr>
            <a:spLocks/>
          </p:cNvSpPr>
          <p:nvPr/>
        </p:nvSpPr>
        <p:spPr bwMode="auto">
          <a:xfrm>
            <a:off x="3886200" y="3405188"/>
            <a:ext cx="331822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ea typeface="Symbol" pitchFamily="18" charset="2"/>
                <a:cs typeface="Symbol" pitchFamily="18" charset="2"/>
                <a:sym typeface="Symbol"/>
              </a:rPr>
              <a:t>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0</a:t>
            </a:r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5867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8" name="Rectangle 18"/>
          <p:cNvSpPr>
            <a:spLocks/>
          </p:cNvSpPr>
          <p:nvPr/>
        </p:nvSpPr>
        <p:spPr bwMode="auto">
          <a:xfrm>
            <a:off x="4737100" y="2579688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+Denorm</a:t>
            </a:r>
          </a:p>
        </p:txBody>
      </p:sp>
      <p:sp>
        <p:nvSpPr>
          <p:cNvPr id="25619" name="Rectangle 19"/>
          <p:cNvSpPr>
            <a:spLocks/>
          </p:cNvSpPr>
          <p:nvPr/>
        </p:nvSpPr>
        <p:spPr bwMode="auto">
          <a:xfrm>
            <a:off x="609600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+Normalized</a:t>
            </a:r>
          </a:p>
        </p:txBody>
      </p:sp>
      <p:sp>
        <p:nvSpPr>
          <p:cNvPr id="25620" name="Rectangle 20"/>
          <p:cNvSpPr>
            <a:spLocks/>
          </p:cNvSpPr>
          <p:nvPr/>
        </p:nvSpPr>
        <p:spPr bwMode="auto">
          <a:xfrm>
            <a:off x="3048000" y="2593975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 err="1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Denorm</a:t>
            </a:r>
            <a:endParaRPr lang="en-US" sz="1800" dirty="0">
              <a:solidFill>
                <a:schemeClr val="tx1"/>
              </a:solidFill>
              <a:latin typeface="+mn-lt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>
            <a:off x="3048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2" name="Rectangle 22"/>
          <p:cNvSpPr>
            <a:spLocks/>
          </p:cNvSpPr>
          <p:nvPr/>
        </p:nvSpPr>
        <p:spPr bwMode="auto">
          <a:xfrm>
            <a:off x="140335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Normalized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4724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4495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7924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1143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rot="10800000" flipH="1">
            <a:off x="4191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rot="10800000">
            <a:off x="4572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9" name="Rectangle 29"/>
          <p:cNvSpPr>
            <a:spLocks/>
          </p:cNvSpPr>
          <p:nvPr/>
        </p:nvSpPr>
        <p:spPr bwMode="auto">
          <a:xfrm>
            <a:off x="4572000" y="3408363"/>
            <a:ext cx="33983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+0</a:t>
            </a:r>
          </a:p>
        </p:txBody>
      </p:sp>
      <p:sp>
        <p:nvSpPr>
          <p:cNvPr id="25630" name="Rectangle 30"/>
          <p:cNvSpPr>
            <a:spLocks/>
          </p:cNvSpPr>
          <p:nvPr/>
        </p:nvSpPr>
        <p:spPr bwMode="auto">
          <a:xfrm>
            <a:off x="320675" y="32559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25631" name="Rectangle 31"/>
          <p:cNvSpPr>
            <a:spLocks/>
          </p:cNvSpPr>
          <p:nvPr/>
        </p:nvSpPr>
        <p:spPr bwMode="auto">
          <a:xfrm>
            <a:off x="8161338" y="31797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2" name="矩形 1"/>
          <p:cNvSpPr/>
          <p:nvPr/>
        </p:nvSpPr>
        <p:spPr>
          <a:xfrm>
            <a:off x="1092668" y="4724400"/>
            <a:ext cx="59939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有限范围内的一些采样点，与实数完全不同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998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Today: Floating Point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Background: Fractional binary numbers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IEEE floating point standard: Definition</a:t>
            </a:r>
            <a:endParaRPr lang="en-US"/>
          </a:p>
          <a:p>
            <a:pPr marL="215900" indent="-215900"/>
            <a:r>
              <a:rPr lang="en-US">
                <a:ea typeface="Calibri" charset="0"/>
                <a:cs typeface="Calibri" charset="0"/>
              </a:rPr>
              <a:t>Example and properties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Rounding, addition, multiplication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Floating point in C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Sum</a:t>
            </a:r>
            <a:r>
              <a:rPr lang="en-US">
                <a:solidFill>
                  <a:srgbClr val="B3B3B3"/>
                </a:solidFill>
                <a:ea typeface="Calibri" charset="0"/>
                <a:cs typeface="Calibri" charset="0"/>
              </a:rPr>
              <a:t>m</a:t>
            </a: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ary</a:t>
            </a:r>
            <a:endParaRPr lang="en-US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10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Tiny Floating Point Example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755900"/>
            <a:ext cx="8382000" cy="4076700"/>
          </a:xfrm>
          <a:ln/>
        </p:spPr>
        <p:txBody>
          <a:bodyPr/>
          <a:lstStyle/>
          <a:p>
            <a:r>
              <a:rPr lang="en-US" dirty="0"/>
              <a:t>8-bit Floating Point Representation</a:t>
            </a:r>
          </a:p>
          <a:p>
            <a:pPr marL="552450" lvl="1"/>
            <a:r>
              <a:rPr lang="zh-CN" altLang="en-US" dirty="0"/>
              <a:t>符号为</a:t>
            </a:r>
            <a:r>
              <a:rPr lang="en-US" altLang="zh-CN" dirty="0"/>
              <a:t>S</a:t>
            </a:r>
            <a:r>
              <a:rPr lang="zh-CN" altLang="en-US" dirty="0"/>
              <a:t>是最左边的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  <a:endParaRPr lang="en-US" dirty="0"/>
          </a:p>
          <a:p>
            <a:pPr marL="552450" lvl="1"/>
            <a:r>
              <a:rPr lang="zh-CN" altLang="en-US" dirty="0"/>
              <a:t>下面</a:t>
            </a:r>
            <a:r>
              <a:rPr lang="en-US" altLang="zh-CN" dirty="0"/>
              <a:t>4</a:t>
            </a:r>
            <a:r>
              <a:rPr lang="zh-CN" altLang="en-US" dirty="0"/>
              <a:t>位是阶码，偏置</a:t>
            </a:r>
            <a:r>
              <a:rPr lang="en-US" altLang="zh-CN" dirty="0"/>
              <a:t>bias=2</a:t>
            </a:r>
            <a:r>
              <a:rPr lang="en-US" altLang="zh-CN" baseline="30000" dirty="0"/>
              <a:t>3</a:t>
            </a:r>
            <a:r>
              <a:rPr lang="en-US" altLang="zh-CN" dirty="0"/>
              <a:t>-1=7</a:t>
            </a:r>
            <a:endParaRPr lang="en-US" dirty="0"/>
          </a:p>
          <a:p>
            <a:pPr marL="552450" lvl="1"/>
            <a:r>
              <a:rPr lang="zh-CN" altLang="en-US" dirty="0"/>
              <a:t>最后三位是尾数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其他规则采用</a:t>
            </a:r>
            <a:r>
              <a:rPr lang="en-US" altLang="zh-CN" dirty="0"/>
              <a:t>IEEE</a:t>
            </a:r>
            <a:r>
              <a:rPr lang="zh-CN" altLang="en-US" dirty="0"/>
              <a:t> </a:t>
            </a:r>
            <a:r>
              <a:rPr lang="en-US" altLang="zh-CN" dirty="0"/>
              <a:t>754</a:t>
            </a:r>
            <a:r>
              <a:rPr lang="zh-CN" altLang="en-US" dirty="0"/>
              <a:t>标准</a:t>
            </a:r>
            <a:endParaRPr lang="en-US" dirty="0"/>
          </a:p>
          <a:p>
            <a:pPr marL="552450" lvl="1"/>
            <a:r>
              <a:rPr lang="zh-CN" altLang="en-US" dirty="0"/>
              <a:t>规格化、非规划化</a:t>
            </a:r>
            <a:endParaRPr lang="en-US" altLang="zh-CN" dirty="0"/>
          </a:p>
          <a:p>
            <a:pPr marL="552450" lvl="1"/>
            <a:r>
              <a:rPr lang="en-US" altLang="zh-CN" dirty="0"/>
              <a:t>0, </a:t>
            </a:r>
            <a:r>
              <a:rPr lang="en-US" altLang="zh-CN" dirty="0" err="1"/>
              <a:t>NaN</a:t>
            </a:r>
            <a:r>
              <a:rPr lang="en-US" altLang="zh-CN" dirty="0"/>
              <a:t>, </a:t>
            </a:r>
            <a:r>
              <a:rPr lang="zh-CN" altLang="en-US" dirty="0"/>
              <a:t>无穷大的表示</a:t>
            </a:r>
            <a:endParaRPr lang="en-US" dirty="0"/>
          </a:p>
        </p:txBody>
      </p:sp>
      <p:graphicFrame>
        <p:nvGraphicFramePr>
          <p:cNvPr id="27653" name="Group 5"/>
          <p:cNvGraphicFramePr>
            <a:graphicFrameLocks noGrp="1"/>
          </p:cNvGraphicFramePr>
          <p:nvPr/>
        </p:nvGraphicFramePr>
        <p:xfrm>
          <a:off x="1955800" y="15748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042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76200" y="3124200"/>
            <a:ext cx="8928100" cy="2895600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10668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49250" y="12386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743075"/>
            <a:ext cx="1514838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819400"/>
            <a:ext cx="155972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denorm</a:t>
            </a: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3124200"/>
            <a:ext cx="146995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114800"/>
            <a:ext cx="1846659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706035"/>
            <a:ext cx="185627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715000"/>
            <a:ext cx="132087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421864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183016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540603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7013693" y="2002477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-m</a:t>
            </a:r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*2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2-2^(k-1)</a:t>
            </a:r>
            <a:endParaRPr lang="zh-CN" altLang="en-US" sz="1800" baseline="30000" dirty="0">
              <a:solidFill>
                <a:srgbClr val="7030A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38400" y="838200"/>
            <a:ext cx="5132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</a:t>
            </a:r>
            <a:r>
              <a:rPr lang="zh-CN" altLang="en-US" sz="16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位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72718" y="845808"/>
            <a:ext cx="5132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k</a:t>
            </a:r>
            <a:r>
              <a:rPr lang="zh-CN" altLang="en-US" sz="16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位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71610" y="2526268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(1-2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-m</a:t>
            </a:r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)*2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2-2^(k-1)</a:t>
            </a:r>
            <a:endParaRPr lang="zh-CN" altLang="en-US" sz="1800" baseline="30000" dirty="0">
              <a:solidFill>
                <a:srgbClr val="7030A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914942" y="3396734"/>
            <a:ext cx="1435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1*2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2-2^(k-1)</a:t>
            </a:r>
            <a:endParaRPr lang="zh-CN" altLang="en-US" sz="1800" baseline="30000" dirty="0">
              <a:solidFill>
                <a:srgbClr val="7030A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943403" y="5454134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(2-2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-m</a:t>
            </a:r>
            <a:r>
              <a:rPr lang="en-US" altLang="zh-CN" sz="18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)*2</a:t>
            </a:r>
            <a:r>
              <a:rPr lang="en-US" altLang="zh-CN" sz="1800" baseline="30000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2^(k-1)-1</a:t>
            </a:r>
            <a:endParaRPr lang="zh-CN" altLang="en-US" sz="1800" baseline="30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398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0" name="Object 1024"/>
          <p:cNvGraphicFramePr>
            <a:graphicFrameLocks noChangeAspect="1"/>
          </p:cNvGraphicFramePr>
          <p:nvPr/>
        </p:nvGraphicFramePr>
        <p:xfrm>
          <a:off x="381000" y="4419600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52500" progId="Excel.Sheet.8">
                  <p:embed/>
                </p:oleObj>
              </mc:Choice>
              <mc:Fallback>
                <p:oleObj name="Worksheet" r:id="rId2" imgW="7848600" imgH="9525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Distribution of Values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6-bit IEEE-like format</a:t>
            </a:r>
          </a:p>
          <a:p>
            <a:pPr marL="552450" lvl="1"/>
            <a:r>
              <a:rPr lang="en-US" sz="2000" dirty="0"/>
              <a:t>e = 3 exponent bits</a:t>
            </a:r>
          </a:p>
          <a:p>
            <a:pPr marL="552450" lvl="1"/>
            <a:r>
              <a:rPr lang="en-US" sz="2000" dirty="0"/>
              <a:t>f = 2 fraction bits</a:t>
            </a:r>
          </a:p>
          <a:p>
            <a:pPr marL="552450" lvl="1"/>
            <a:r>
              <a:rPr lang="en-US" sz="2000" dirty="0"/>
              <a:t>Bias is 2</a:t>
            </a:r>
            <a:r>
              <a:rPr lang="en-US" sz="2000" baseline="30000" dirty="0"/>
              <a:t>3-1</a:t>
            </a:r>
            <a:r>
              <a:rPr lang="en-US" sz="2000" dirty="0"/>
              <a:t>-1 = 3</a:t>
            </a:r>
          </a:p>
          <a:p>
            <a:pPr marL="552450" lvl="1"/>
            <a:endParaRPr lang="en-US" sz="2000" dirty="0"/>
          </a:p>
          <a:p>
            <a:r>
              <a:rPr lang="en-US" sz="2400" dirty="0"/>
              <a:t>Notice how the distribution gets denser toward zero. 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5486400" y="3810000"/>
            <a:ext cx="1082349" cy="369332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8 values</a:t>
            </a: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/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" name="Straight Arrow Connector 35"/>
          <p:cNvCxnSpPr>
            <a:stCxn id="29703" idx="1"/>
          </p:cNvCxnSpPr>
          <p:nvPr/>
        </p:nvCxnSpPr>
        <p:spPr bwMode="auto">
          <a:xfrm rot="10800000" flipV="1">
            <a:off x="4572000" y="3994666"/>
            <a:ext cx="914400" cy="42493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45912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Distribution of Values (close-up view)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6-bit IEEE-like format</a:t>
            </a:r>
          </a:p>
          <a:p>
            <a:pPr marL="552450" lvl="1"/>
            <a:r>
              <a:rPr lang="en-US" sz="2000" dirty="0"/>
              <a:t>e = 3 exponent bits</a:t>
            </a:r>
          </a:p>
          <a:p>
            <a:pPr marL="552450" lvl="1"/>
            <a:r>
              <a:rPr lang="en-US" sz="2000" dirty="0"/>
              <a:t>f = 2 fraction bits</a:t>
            </a:r>
          </a:p>
          <a:p>
            <a:pPr marL="552450" lvl="1"/>
            <a:r>
              <a:rPr lang="en-US" sz="2000" dirty="0"/>
              <a:t>Bias is 3</a:t>
            </a:r>
          </a:p>
        </p:txBody>
      </p:sp>
      <p:graphicFrame>
        <p:nvGraphicFramePr>
          <p:cNvPr id="30726" name="Group 6"/>
          <p:cNvGraphicFramePr>
            <a:graphicFrameLocks noGrp="1"/>
          </p:cNvGraphicFramePr>
          <p:nvPr/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751" name="Object 1024"/>
          <p:cNvGraphicFramePr>
            <a:graphicFrameLocks noChangeAspect="1"/>
          </p:cNvGraphicFramePr>
          <p:nvPr/>
        </p:nvGraphicFramePr>
        <p:xfrm>
          <a:off x="404813" y="3924300"/>
          <a:ext cx="83359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65200" progId="Excel.Sheet.8">
                  <p:embed/>
                </p:oleObj>
              </mc:Choice>
              <mc:Fallback>
                <p:oleObj name="Worksheet" r:id="rId2" imgW="7848600" imgH="9652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3924300"/>
                        <a:ext cx="83359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080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Properties of </a:t>
            </a:r>
            <a:r>
              <a:rPr lang="en-US"/>
              <a:t>the IEEE Encoding</a:t>
            </a:r>
            <a:endParaRPr 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zh-CN" altLang="en-US" sz="2400" dirty="0"/>
              <a:t>浮点数</a:t>
            </a:r>
            <a:r>
              <a:rPr lang="en-US" altLang="zh-CN" sz="2400" dirty="0"/>
              <a:t>0</a:t>
            </a:r>
            <a:r>
              <a:rPr lang="zh-CN" altLang="en-US" sz="2400" dirty="0"/>
              <a:t>和整型</a:t>
            </a:r>
            <a:r>
              <a:rPr lang="en-US" altLang="zh-CN" sz="2400" dirty="0"/>
              <a:t>0</a:t>
            </a:r>
            <a:r>
              <a:rPr lang="zh-CN" altLang="en-US" sz="2400" dirty="0"/>
              <a:t>在二进制形式上一样</a:t>
            </a:r>
            <a:endParaRPr lang="en-US" altLang="zh-CN" sz="2400" dirty="0"/>
          </a:p>
          <a:p>
            <a:pPr lvl="1"/>
            <a:r>
              <a:rPr lang="zh-CN" altLang="en-US" sz="2000" dirty="0"/>
              <a:t>所有</a:t>
            </a:r>
            <a:r>
              <a:rPr lang="en-US" altLang="zh-CN" sz="2000" dirty="0"/>
              <a:t>bits</a:t>
            </a:r>
            <a:r>
              <a:rPr lang="zh-CN" altLang="en-US" sz="2000" dirty="0"/>
              <a:t>都是</a:t>
            </a:r>
            <a:r>
              <a:rPr lang="en-US" altLang="zh-CN" sz="2000" dirty="0"/>
              <a:t>0</a:t>
            </a:r>
            <a:r>
              <a:rPr lang="zh-CN" altLang="en-US" sz="2000" dirty="0"/>
              <a:t>（</a:t>
            </a:r>
            <a:r>
              <a:rPr lang="en-US" altLang="zh-CN" sz="2000" dirty="0"/>
              <a:t>+0</a:t>
            </a:r>
            <a:r>
              <a:rPr lang="zh-CN" altLang="en-US" sz="2000" dirty="0"/>
              <a:t>）</a:t>
            </a:r>
            <a:endParaRPr lang="en-US" sz="2000" dirty="0"/>
          </a:p>
          <a:p>
            <a:endParaRPr lang="en-US" sz="2400" dirty="0"/>
          </a:p>
          <a:p>
            <a:r>
              <a:rPr lang="zh-CN" altLang="en-US" sz="2400" dirty="0"/>
              <a:t>几乎总可以使用</a:t>
            </a:r>
            <a:r>
              <a:rPr lang="en-US" altLang="zh-CN" sz="2400" dirty="0"/>
              <a:t>unsigned integer</a:t>
            </a:r>
            <a:r>
              <a:rPr lang="zh-CN" altLang="en-US" sz="2400" dirty="0"/>
              <a:t>的比较大小方式</a:t>
            </a:r>
            <a:endParaRPr lang="en-US" sz="2400" dirty="0"/>
          </a:p>
          <a:p>
            <a:pPr marL="552450" lvl="1"/>
            <a:r>
              <a:rPr lang="zh-CN" altLang="en-US" sz="2000" dirty="0"/>
              <a:t>必须首先比较符号位</a:t>
            </a:r>
            <a:endParaRPr lang="en-US" altLang="zh-CN" sz="2000" dirty="0"/>
          </a:p>
          <a:p>
            <a:pPr marL="552450" lvl="1"/>
            <a:r>
              <a:rPr lang="zh-CN" altLang="en-US" sz="2000" dirty="0"/>
              <a:t>必须考虑</a:t>
            </a:r>
            <a:r>
              <a:rPr lang="en-US" altLang="zh-CN" sz="2000" dirty="0"/>
              <a:t>-0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0</a:t>
            </a:r>
            <a:endParaRPr lang="en-US" sz="2000" dirty="0"/>
          </a:p>
          <a:p>
            <a:pPr marL="552450" lvl="1"/>
            <a:r>
              <a:rPr lang="en-US" altLang="zh-CN" sz="2000" dirty="0" err="1"/>
              <a:t>NaNs</a:t>
            </a:r>
            <a:r>
              <a:rPr lang="zh-CN" altLang="en-US" sz="2000" dirty="0"/>
              <a:t>的问题</a:t>
            </a:r>
            <a:endParaRPr lang="en-US" altLang="zh-CN" sz="2000" dirty="0"/>
          </a:p>
          <a:p>
            <a:pPr marL="952500" lvl="2"/>
            <a:r>
              <a:rPr lang="zh-CN" altLang="en-US" sz="1600" dirty="0"/>
              <a:t>比任何其他值都大</a:t>
            </a:r>
            <a:endParaRPr lang="en-US" altLang="zh-CN" sz="1600" dirty="0"/>
          </a:p>
          <a:p>
            <a:pPr marL="952500" lvl="2"/>
            <a:r>
              <a:rPr lang="en-US" altLang="zh-CN" sz="1600" dirty="0" err="1"/>
              <a:t>NaNs</a:t>
            </a:r>
            <a:r>
              <a:rPr lang="zh-CN" altLang="en-US" sz="1600" dirty="0"/>
              <a:t>有多个值</a:t>
            </a:r>
            <a:endParaRPr lang="en-US" altLang="zh-CN" sz="1600" dirty="0"/>
          </a:p>
          <a:p>
            <a:pPr marL="552450" lvl="1"/>
            <a:r>
              <a:rPr lang="zh-CN" altLang="en-US" dirty="0"/>
              <a:t>其他情况</a:t>
            </a:r>
            <a:r>
              <a:rPr lang="en-US" altLang="zh-CN" dirty="0"/>
              <a:t>OK</a:t>
            </a:r>
          </a:p>
          <a:p>
            <a:pPr marL="952500" lvl="2"/>
            <a:r>
              <a:rPr lang="zh-CN" altLang="en-US" dirty="0"/>
              <a:t>非规格化</a:t>
            </a:r>
            <a:r>
              <a:rPr lang="en-US" altLang="zh-CN" dirty="0"/>
              <a:t>&lt; </a:t>
            </a:r>
            <a:r>
              <a:rPr lang="zh-CN" altLang="en-US" dirty="0"/>
              <a:t>规格化</a:t>
            </a:r>
            <a:endParaRPr lang="en-US" altLang="zh-CN" dirty="0"/>
          </a:p>
          <a:p>
            <a:pPr marL="952500" lvl="2"/>
            <a:r>
              <a:rPr lang="zh-CN" altLang="en-US" dirty="0"/>
              <a:t>规格化</a:t>
            </a:r>
            <a:r>
              <a:rPr lang="en-US" altLang="zh-CN" dirty="0"/>
              <a:t> &lt; </a:t>
            </a:r>
            <a:r>
              <a:rPr lang="zh-CN" altLang="en-US" dirty="0"/>
              <a:t>无穷大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6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Creating Floating Point Number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sz="2400" dirty="0"/>
              <a:t>Steps</a:t>
            </a:r>
          </a:p>
          <a:p>
            <a:pPr marL="552450" lvl="1">
              <a:tabLst>
                <a:tab pos="1828800" algn="l"/>
              </a:tabLst>
            </a:pPr>
            <a:r>
              <a:rPr lang="zh-CN" altLang="en-US" sz="2000" dirty="0"/>
              <a:t>规格化，首位为</a:t>
            </a:r>
            <a:r>
              <a:rPr lang="en-US" sz="2000" dirty="0"/>
              <a:t> 1</a:t>
            </a:r>
          </a:p>
          <a:p>
            <a:pPr marL="552450" lvl="1">
              <a:tabLst>
                <a:tab pos="1828800" algn="l"/>
              </a:tabLst>
            </a:pPr>
            <a:r>
              <a:rPr lang="zh-CN" altLang="en-US" sz="2000" dirty="0"/>
              <a:t>尾数部分进行</a:t>
            </a:r>
            <a:r>
              <a:rPr lang="en-US" altLang="zh-CN" sz="2000" dirty="0"/>
              <a:t>round</a:t>
            </a:r>
            <a:endParaRPr lang="en-US" sz="2000" dirty="0"/>
          </a:p>
          <a:p>
            <a:pPr marL="552450" lvl="1">
              <a:tabLst>
                <a:tab pos="1828800" algn="l"/>
              </a:tabLst>
            </a:pPr>
            <a:r>
              <a:rPr lang="zh-CN" altLang="en-US" sz="2000" dirty="0"/>
              <a:t>后规格化</a:t>
            </a:r>
            <a:r>
              <a:rPr lang="en-US" altLang="zh-CN" sz="2000" dirty="0"/>
              <a:t>(</a:t>
            </a:r>
            <a:r>
              <a:rPr lang="en-US" sz="2000" dirty="0" err="1"/>
              <a:t>Postnormalize</a:t>
            </a:r>
            <a:r>
              <a:rPr lang="en-US" sz="2000" dirty="0"/>
              <a:t>)</a:t>
            </a:r>
            <a:r>
              <a:rPr lang="zh-CN" altLang="en-US" sz="2000" dirty="0"/>
              <a:t>处理</a:t>
            </a:r>
            <a:r>
              <a:rPr lang="en-US" altLang="zh-CN" sz="2000" dirty="0"/>
              <a:t>round</a:t>
            </a:r>
            <a:r>
              <a:rPr lang="zh-CN" altLang="en-US" sz="2000" dirty="0"/>
              <a:t>带来的问题</a:t>
            </a:r>
            <a:endParaRPr lang="en-US" sz="2000" dirty="0"/>
          </a:p>
          <a:p>
            <a:pPr>
              <a:tabLst>
                <a:tab pos="1828800" algn="l"/>
              </a:tabLst>
            </a:pPr>
            <a:endParaRPr lang="en-US" sz="2400" dirty="0"/>
          </a:p>
          <a:p>
            <a:pPr>
              <a:tabLst>
                <a:tab pos="1828800" algn="l"/>
              </a:tabLst>
            </a:pPr>
            <a:r>
              <a:rPr lang="en-US" sz="2400" dirty="0"/>
              <a:t>Case Study</a:t>
            </a:r>
          </a:p>
          <a:p>
            <a:pPr marL="552450" lvl="1">
              <a:tabLst>
                <a:tab pos="1828800" algn="l"/>
              </a:tabLst>
            </a:pPr>
            <a:r>
              <a:rPr lang="en-US" sz="2000" dirty="0"/>
              <a:t>Convert 8-bit unsigned numbers to tiny floating point format</a:t>
            </a: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2000" dirty="0"/>
              <a:t>Example Numbers</a:t>
            </a: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128</a:t>
            </a:r>
            <a:r>
              <a:rPr lang="en-US" sz="16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10000000</a:t>
            </a:r>
            <a:endParaRPr lang="en-US" sz="16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r>
              <a:rPr lang="en-US" sz="16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00001101</a:t>
            </a:r>
            <a:endParaRPr lang="en-US" sz="16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33</a:t>
            </a:r>
            <a:r>
              <a:rPr lang="en-US" sz="16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00010001</a:t>
            </a:r>
            <a:endParaRPr lang="en-US" sz="16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35</a:t>
            </a:r>
            <a:r>
              <a:rPr lang="en-US" sz="16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00010011</a:t>
            </a:r>
            <a:endParaRPr lang="en-US" sz="16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138</a:t>
            </a:r>
            <a:r>
              <a:rPr lang="en-US" sz="16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10001010</a:t>
            </a:r>
            <a:endParaRPr lang="en-US" sz="16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 63</a:t>
            </a:r>
            <a:r>
              <a:rPr lang="en-US" sz="16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00111111</a:t>
            </a:r>
            <a:endParaRPr lang="en-US" sz="1600" b="1" dirty="0">
              <a:latin typeface="Courier New"/>
              <a:cs typeface="Courier New"/>
              <a:sym typeface="Monaco" charset="0"/>
            </a:endParaRPr>
          </a:p>
        </p:txBody>
      </p:sp>
      <p:graphicFrame>
        <p:nvGraphicFramePr>
          <p:cNvPr id="49157" name="Group 5"/>
          <p:cNvGraphicFramePr>
            <a:graphicFrameLocks noGrp="1"/>
          </p:cNvGraphicFramePr>
          <p:nvPr/>
        </p:nvGraphicFramePr>
        <p:xfrm>
          <a:off x="4686300" y="14097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2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Normalize</a:t>
            </a:r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Requirement</a:t>
            </a:r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Set binary point so that numbers of form 1.xxxxx</a:t>
            </a:r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Adjust all to have leading one</a:t>
            </a:r>
          </a:p>
          <a:p>
            <a:pPr marL="838200" lvl="2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Decrement exponent as shift left</a:t>
            </a: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Binary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Exponent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10000000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00001101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1.1010000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3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00010001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1.0001000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19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00010011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1.0011000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10001010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1.0001010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63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00111111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1.1111100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5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</p:txBody>
      </p:sp>
      <p:graphicFrame>
        <p:nvGraphicFramePr>
          <p:cNvPr id="50181" name="Group 5"/>
          <p:cNvGraphicFramePr>
            <a:graphicFrameLocks noGrp="1"/>
          </p:cNvGraphicFramePr>
          <p:nvPr/>
        </p:nvGraphicFramePr>
        <p:xfrm>
          <a:off x="4267200" y="2286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70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1158" y="1600200"/>
            <a:ext cx="8382000" cy="3987800"/>
          </a:xfrm>
          <a:ln/>
        </p:spPr>
        <p:txBody>
          <a:bodyPr/>
          <a:lstStyle/>
          <a:p>
            <a:pPr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zh-CN" altLang="en-US" dirty="0"/>
              <a:t>向偶数舍入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1.101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17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19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1.010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1010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63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1.111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1100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903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Postnormalize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Issue</a:t>
            </a:r>
          </a:p>
          <a:p>
            <a:pPr marL="552450" lvl="1"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Rounding </a:t>
            </a:r>
            <a:r>
              <a:rPr lang="zh-CN" altLang="en-US" dirty="0"/>
              <a:t>可能导致 </a:t>
            </a:r>
            <a:r>
              <a:rPr lang="en-US" dirty="0"/>
              <a:t>overflow</a:t>
            </a:r>
          </a:p>
          <a:p>
            <a:pPr marL="552450" lvl="1"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zh-CN" altLang="en-US" dirty="0"/>
              <a:t>可能需要右移</a:t>
            </a:r>
            <a:r>
              <a:rPr lang="en-US" altLang="zh-CN" dirty="0"/>
              <a:t>M</a:t>
            </a:r>
            <a:r>
              <a:rPr lang="zh-CN" altLang="en-US" dirty="0"/>
              <a:t>，增加</a:t>
            </a:r>
            <a:r>
              <a:rPr lang="en-US" altLang="zh-CN" dirty="0"/>
              <a:t>E</a:t>
            </a:r>
            <a:endParaRPr lang="en-US" dirty="0"/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Adjusted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Result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128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1.101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16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19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20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134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63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1.000/6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64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97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622300"/>
          </a:xfrm>
          <a:ln/>
        </p:spPr>
        <p:txBody>
          <a:bodyPr/>
          <a:lstStyle/>
          <a:p>
            <a:pPr marL="119063" indent="-119063"/>
            <a:r>
              <a:rPr lang="en-US"/>
              <a:t>Interesting Numbers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876800"/>
          </a:xfrm>
          <a:ln/>
        </p:spPr>
        <p:txBody>
          <a:bodyPr/>
          <a:lstStyle/>
          <a:p>
            <a:pPr>
              <a:buNone/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i="1" dirty="0"/>
              <a:t>Description	exp	</a:t>
            </a:r>
            <a:r>
              <a:rPr lang="en-US" sz="2000" i="1" dirty="0" err="1"/>
              <a:t>frac</a:t>
            </a:r>
            <a:r>
              <a:rPr lang="en-US" sz="2000" i="1" dirty="0"/>
              <a:t>	Numeric Value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Zero	00…00	00…00	0.0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Smallest Pos. </a:t>
            </a:r>
            <a:r>
              <a:rPr lang="en-US" sz="2000" dirty="0" err="1"/>
              <a:t>Denorm</a:t>
            </a:r>
            <a:r>
              <a:rPr lang="en-US" sz="2000" dirty="0"/>
              <a:t>.	00…00	00…01	2</a:t>
            </a:r>
            <a:r>
              <a:rPr lang="en-US" sz="2000" baseline="32000" dirty="0"/>
              <a:t>– {23,52}</a:t>
            </a:r>
            <a:r>
              <a:rPr lang="en-US" sz="2000" dirty="0"/>
              <a:t>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1.4 x 10</a:t>
            </a:r>
            <a:r>
              <a:rPr lang="en-US" sz="1800" baseline="32000" dirty="0"/>
              <a:t>–45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4.9 x 10</a:t>
            </a:r>
            <a:r>
              <a:rPr lang="en-US" sz="1800" baseline="32000" dirty="0"/>
              <a:t>–324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Largest </a:t>
            </a:r>
            <a:r>
              <a:rPr lang="en-US" sz="2000" dirty="0" err="1"/>
              <a:t>Denormalized</a:t>
            </a:r>
            <a:r>
              <a:rPr lang="en-US" sz="2000" dirty="0"/>
              <a:t>	00…00	11…11	(1.0 – ε)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1.18 x 10</a:t>
            </a:r>
            <a:r>
              <a:rPr lang="en-US" sz="1800" baseline="32000" dirty="0"/>
              <a:t>–38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2.2 x 10</a:t>
            </a:r>
            <a:r>
              <a:rPr lang="en-US" sz="1800" baseline="32000" dirty="0"/>
              <a:t>–308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Smallest Pos. Normalized	00…01	00…00	1.0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Just larger than largest </a:t>
            </a:r>
            <a:r>
              <a:rPr lang="en-US" sz="1800" dirty="0" err="1"/>
              <a:t>denormalized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One	01…11	00…00	1.0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 Largest Normalized	11…10	11…11	(2.0 – ε) x 2</a:t>
            </a:r>
            <a:r>
              <a:rPr lang="en-US" sz="2000" baseline="32000" dirty="0"/>
              <a:t>{127,1023}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3.4 x 10</a:t>
            </a:r>
            <a:r>
              <a:rPr lang="en-US" sz="1800" baseline="32000" dirty="0"/>
              <a:t>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1.8 x 10</a:t>
            </a:r>
            <a:r>
              <a:rPr lang="en-US" sz="1800" baseline="32000" dirty="0"/>
              <a:t>308</a:t>
            </a:r>
          </a:p>
        </p:txBody>
      </p:sp>
      <p:sp>
        <p:nvSpPr>
          <p:cNvPr id="31749" name="Rectangle 5"/>
          <p:cNvSpPr>
            <a:spLocks/>
          </p:cNvSpPr>
          <p:nvPr/>
        </p:nvSpPr>
        <p:spPr bwMode="auto">
          <a:xfrm>
            <a:off x="5753100" y="414338"/>
            <a:ext cx="2819400" cy="4572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{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single,double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3657600" y="6096000"/>
            <a:ext cx="31213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宇宙所有原子的数量</a:t>
            </a:r>
            <a:r>
              <a:rPr lang="en-US" altLang="zh-CN" dirty="0"/>
              <a:t>10</a:t>
            </a:r>
            <a:r>
              <a:rPr lang="en-US" altLang="zh-CN" baseline="30000" dirty="0"/>
              <a:t>80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22489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/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594347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Operations: Basic Idea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+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+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>
              <a:latin typeface="Courier New Bold" charset="0"/>
              <a:sym typeface="Courier New Bold" charset="0"/>
            </a:endParaRP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</a:t>
            </a:r>
            <a:r>
              <a:rPr lang="en-US" dirty="0">
                <a:latin typeface="Courier New Bold" charset="0"/>
                <a:cs typeface="Courier New Bold" charset="0"/>
                <a:sym typeface="Symbol"/>
              </a:rPr>
              <a:t>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</a:t>
            </a:r>
            <a:r>
              <a:rPr lang="en-US" dirty="0">
                <a:latin typeface="Courier New Bold" charset="0"/>
                <a:cs typeface="Courier New Bold" charset="0"/>
                <a:sym typeface="Symbol"/>
              </a:rPr>
              <a:t>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/>
          </a:p>
          <a:p>
            <a:r>
              <a:rPr lang="en-US" dirty="0"/>
              <a:t>Basic idea</a:t>
            </a:r>
          </a:p>
          <a:p>
            <a:pPr marL="552450" lvl="1"/>
            <a:r>
              <a:rPr lang="zh-CN" altLang="en-US" dirty="0"/>
              <a:t>首先</a:t>
            </a:r>
            <a:r>
              <a:rPr lang="zh-CN" altLang="en-US" dirty="0">
                <a:solidFill>
                  <a:srgbClr val="C00000"/>
                </a:solidFill>
              </a:rPr>
              <a:t>计算精确结果</a:t>
            </a:r>
            <a:endParaRPr lang="en-US" altLang="zh-CN" dirty="0">
              <a:solidFill>
                <a:srgbClr val="C00000"/>
              </a:solidFill>
            </a:endParaRPr>
          </a:p>
          <a:p>
            <a:pPr marL="552450" lvl="1"/>
            <a:r>
              <a:rPr lang="zh-CN" altLang="en-US" dirty="0"/>
              <a:t>然后去适配精度，进行溢出</a:t>
            </a:r>
            <a:r>
              <a:rPr lang="en-US" altLang="zh-CN" dirty="0"/>
              <a:t>/</a:t>
            </a:r>
            <a:r>
              <a:rPr lang="zh-CN" altLang="en-US" dirty="0"/>
              <a:t>舍入</a:t>
            </a:r>
            <a:endParaRPr lang="en-US" altLang="zh-CN" dirty="0"/>
          </a:p>
          <a:p>
            <a:pPr marL="952500" lvl="2"/>
            <a:r>
              <a:rPr lang="zh-CN" altLang="en-US" dirty="0"/>
              <a:t>当阶过大时，可能</a:t>
            </a:r>
            <a:r>
              <a:rPr lang="zh-CN" altLang="en-US" dirty="0">
                <a:solidFill>
                  <a:srgbClr val="C00000"/>
                </a:solidFill>
              </a:rPr>
              <a:t>溢出</a:t>
            </a:r>
            <a:r>
              <a:rPr lang="zh-CN" altLang="en-US" dirty="0"/>
              <a:t>，变为</a:t>
            </a:r>
            <a:r>
              <a:rPr lang="en-US" altLang="zh-CN" dirty="0"/>
              <a:t>+/- </a:t>
            </a:r>
            <a:r>
              <a:rPr lang="en-US" altLang="zh-CN" dirty="0">
                <a:sym typeface="Symbol"/>
              </a:rPr>
              <a:t></a:t>
            </a:r>
          </a:p>
          <a:p>
            <a:pPr marL="952500" lvl="2"/>
            <a:r>
              <a:rPr lang="zh-CN" altLang="en-US" dirty="0">
                <a:sym typeface="Symbol"/>
              </a:rPr>
              <a:t>尾数可能需要</a:t>
            </a:r>
            <a:r>
              <a:rPr lang="zh-CN" altLang="en-US" dirty="0">
                <a:solidFill>
                  <a:srgbClr val="C00000"/>
                </a:solidFill>
                <a:sym typeface="Symbol"/>
              </a:rPr>
              <a:t>舍入</a:t>
            </a:r>
            <a:endParaRPr lang="en-US" altLang="zh-CN" dirty="0">
              <a:solidFill>
                <a:srgbClr val="C00000"/>
              </a:solidFill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253099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419600"/>
          </a:xfrm>
          <a:ln/>
        </p:spPr>
        <p:txBody>
          <a:bodyPr/>
          <a:lstStyle/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Rounding Modes (illustrate with $ rounding)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	$1.40	$1.60	$1.50	$2.50	–$1.50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zh-CN" altLang="en-US" dirty="0"/>
              <a:t>向</a:t>
            </a:r>
            <a:r>
              <a:rPr lang="en-US" altLang="zh-CN" dirty="0"/>
              <a:t>0</a:t>
            </a:r>
            <a:r>
              <a:rPr lang="zh-CN" altLang="en-US" dirty="0"/>
              <a:t>舍入</a:t>
            </a:r>
            <a:r>
              <a:rPr lang="en-US" dirty="0"/>
              <a:t>	$1	$1	$1	$2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zh-CN" altLang="en-US" dirty="0"/>
              <a:t>向下舍入</a:t>
            </a:r>
            <a:r>
              <a:rPr lang="en-US" dirty="0"/>
              <a:t>(−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	$1	$1	$1	$2	–$2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zh-CN" altLang="en-US" dirty="0"/>
              <a:t>向上舍入</a:t>
            </a:r>
            <a:r>
              <a:rPr lang="en-US" dirty="0"/>
              <a:t>(+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 	$2	$2	$2	$3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zh-CN" altLang="en-US" dirty="0"/>
              <a:t>就近舍入</a:t>
            </a:r>
            <a:r>
              <a:rPr lang="en-US" dirty="0"/>
              <a:t>(default)	$1	$2	$2	$2	–$2</a:t>
            </a:r>
          </a:p>
          <a:p>
            <a:pPr marL="952500" lvl="2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zh-CN" altLang="en-US" dirty="0"/>
              <a:t>向偶数舍入（距离两边一样的中间结果，向偶数舍入）</a:t>
            </a: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2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Closer Look at </a:t>
            </a:r>
            <a:r>
              <a:rPr lang="en-US" dirty="0">
                <a:solidFill>
                  <a:srgbClr val="FF0000"/>
                </a:solidFill>
              </a:rPr>
              <a:t>Round-To-Even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5435600"/>
          </a:xfrm>
          <a:ln/>
        </p:spPr>
        <p:txBody>
          <a:bodyPr/>
          <a:lstStyle/>
          <a:p>
            <a:r>
              <a:rPr lang="zh-CN" altLang="en-US" sz="2400" dirty="0"/>
              <a:t>默认的舍入模式</a:t>
            </a:r>
            <a:endParaRPr lang="en-US" altLang="zh-CN" sz="2000" dirty="0"/>
          </a:p>
          <a:p>
            <a:pPr marL="552450" lvl="1"/>
            <a:r>
              <a:rPr lang="zh-CN" altLang="en-US" sz="2000" dirty="0"/>
              <a:t>如果不用汇编语言，很难改为其他</a:t>
            </a:r>
            <a:r>
              <a:rPr lang="en-US" altLang="zh-CN" sz="2000" dirty="0"/>
              <a:t>round</a:t>
            </a:r>
            <a:r>
              <a:rPr lang="zh-CN" altLang="en-US" sz="2000" dirty="0"/>
              <a:t>模式</a:t>
            </a:r>
            <a:endParaRPr lang="en-US" sz="2000" dirty="0"/>
          </a:p>
          <a:p>
            <a:pPr marL="552450" lvl="1"/>
            <a:r>
              <a:rPr lang="zh-CN" altLang="en-US" sz="2000" dirty="0"/>
              <a:t>其他模式都是静态偏移</a:t>
            </a:r>
            <a:endParaRPr lang="en-US" altLang="zh-CN" sz="2000" dirty="0"/>
          </a:p>
          <a:p>
            <a:pPr marL="952500" lvl="2"/>
            <a:r>
              <a:rPr lang="en-US" sz="1600" dirty="0"/>
              <a:t>round</a:t>
            </a:r>
            <a:r>
              <a:rPr lang="zh-CN" altLang="en-US" sz="1600" dirty="0"/>
              <a:t>的方向是确定的</a:t>
            </a:r>
            <a:endParaRPr lang="en-US" altLang="zh-CN" sz="1600" dirty="0"/>
          </a:p>
          <a:p>
            <a:pPr marL="552450" lvl="1"/>
            <a:r>
              <a:rPr lang="zh-CN" altLang="en-US" sz="2000" dirty="0"/>
              <a:t>所以</a:t>
            </a:r>
            <a:r>
              <a:rPr lang="en-US" altLang="zh-CN" sz="2000" dirty="0"/>
              <a:t>round-to-even</a:t>
            </a:r>
            <a:r>
              <a:rPr lang="zh-CN" altLang="en-US" sz="2000" dirty="0"/>
              <a:t>的好处是数字有两个</a:t>
            </a:r>
            <a:r>
              <a:rPr lang="en-US" altLang="zh-CN" sz="2000" dirty="0"/>
              <a:t>round</a:t>
            </a:r>
            <a:r>
              <a:rPr lang="zh-CN" altLang="en-US" sz="2000" dirty="0"/>
              <a:t>方向，可以避免</a:t>
            </a:r>
            <a:r>
              <a:rPr lang="en-US" altLang="zh-CN" sz="2000" dirty="0"/>
              <a:t>/</a:t>
            </a:r>
            <a:r>
              <a:rPr lang="zh-CN" altLang="en-US" sz="2000" dirty="0"/>
              <a:t>减小统计偏差</a:t>
            </a:r>
            <a:endParaRPr lang="en-US" dirty="0"/>
          </a:p>
          <a:p>
            <a:endParaRPr lang="en-US" sz="2400" dirty="0"/>
          </a:p>
          <a:p>
            <a:r>
              <a:rPr lang="zh-CN" altLang="en-US" sz="2400" dirty="0"/>
              <a:t>应用在</a:t>
            </a:r>
            <a:r>
              <a:rPr lang="en-US" altLang="zh-CN" sz="2400" dirty="0"/>
              <a:t>10</a:t>
            </a:r>
            <a:r>
              <a:rPr lang="zh-CN" altLang="en-US" sz="2400" dirty="0"/>
              <a:t>进制数字上的例子</a:t>
            </a:r>
            <a:endParaRPr lang="en-US" altLang="zh-CN" sz="2400" dirty="0"/>
          </a:p>
          <a:p>
            <a:pPr lvl="1"/>
            <a:r>
              <a:rPr lang="en-US" sz="2000" dirty="0"/>
              <a:t>E.g., round to nearest hundredth</a:t>
            </a:r>
            <a:endParaRPr lang="en-US" sz="1600" dirty="0"/>
          </a:p>
          <a:p>
            <a:pPr marL="838200" lvl="2">
              <a:buNone/>
            </a:pPr>
            <a:r>
              <a:rPr lang="en-US" sz="1800" dirty="0"/>
              <a:t>	7.8949999	7.89	(Less than half way)</a:t>
            </a:r>
          </a:p>
          <a:p>
            <a:pPr marL="838200" lvl="2">
              <a:buNone/>
            </a:pPr>
            <a:r>
              <a:rPr lang="en-US" sz="1800" dirty="0"/>
              <a:t>	7.8950001	7.90	(Greater than half way)</a:t>
            </a:r>
          </a:p>
          <a:p>
            <a:pPr marL="838200" lvl="2">
              <a:buNone/>
            </a:pPr>
            <a:r>
              <a:rPr lang="en-US" sz="1800" dirty="0"/>
              <a:t>	7.8950000	7.90	(Half way—round up)</a:t>
            </a:r>
          </a:p>
          <a:p>
            <a:pPr marL="838200" lvl="2">
              <a:buNone/>
            </a:pPr>
            <a:r>
              <a:rPr lang="en-US" sz="1800" dirty="0"/>
              <a:t>	7.8850000	7.88	(Half way—round down)</a:t>
            </a:r>
          </a:p>
        </p:txBody>
      </p:sp>
    </p:spTree>
    <p:extLst>
      <p:ext uri="{BB962C8B-B14F-4D97-AF65-F5344CB8AC3E}">
        <p14:creationId xmlns:p14="http://schemas.microsoft.com/office/powerpoint/2010/main" val="221757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 Binary Numbers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zh-CN" altLang="en-US" sz="2400" dirty="0"/>
              <a:t>二进制小数</a:t>
            </a:r>
            <a:endParaRPr lang="en-US" sz="2400" dirty="0"/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“Even” </a:t>
            </a:r>
            <a:r>
              <a:rPr lang="zh-CN" altLang="en-US" sz="2000" dirty="0"/>
              <a:t>当最小的数字是</a:t>
            </a:r>
            <a:r>
              <a:rPr lang="en-US" altLang="zh-CN" sz="2000" dirty="0"/>
              <a:t>0</a:t>
            </a:r>
            <a:r>
              <a:rPr lang="zh-CN" altLang="en-US" sz="2000" dirty="0"/>
              <a:t>时</a:t>
            </a:r>
            <a:endParaRPr lang="en-US" sz="2000" b="1" dirty="0">
              <a:latin typeface="Courier New"/>
              <a:cs typeface="Courier New"/>
            </a:endParaRP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“Half way” </a:t>
            </a:r>
            <a:r>
              <a:rPr lang="zh-CN" altLang="en-US" sz="2000" dirty="0"/>
              <a:t>当</a:t>
            </a:r>
            <a:r>
              <a:rPr lang="en-US" altLang="zh-CN" sz="2000" dirty="0"/>
              <a:t>bits</a:t>
            </a:r>
            <a:r>
              <a:rPr lang="zh-CN" altLang="en-US" sz="2000" dirty="0"/>
              <a:t>正好在中间位置时</a:t>
            </a:r>
            <a:r>
              <a:rPr lang="en-US" sz="2000" dirty="0"/>
              <a:t> = </a:t>
            </a:r>
            <a:r>
              <a:rPr lang="en-US" sz="1600" b="1" dirty="0">
                <a:latin typeface="Courier New"/>
                <a:ea typeface="Monaco" charset="0"/>
                <a:cs typeface="Courier New"/>
                <a:sym typeface="Monaco" charset="0"/>
              </a:rPr>
              <a:t>100…</a:t>
            </a:r>
            <a:r>
              <a:rPr lang="en-US" sz="1600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latin typeface="Courier New"/>
              <a:cs typeface="Courier New"/>
            </a:endParaRPr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endParaRPr lang="en-US" sz="2400" dirty="0"/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400" dirty="0"/>
              <a:t>Examples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Round to nearest 1/4 (2 bits right of binary point)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Value	Binary	Rounded	Action	Rounded Value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2 </a:t>
            </a:r>
            <a:r>
              <a:rPr lang="zh-CN" altLang="en-US" sz="2000" dirty="0"/>
              <a:t> </a:t>
            </a:r>
            <a:r>
              <a:rPr lang="en-US" sz="2000" dirty="0"/>
              <a:t>3/32	10.00</a:t>
            </a:r>
            <a:r>
              <a:rPr lang="en-US" sz="2000" dirty="0">
                <a:solidFill>
                  <a:srgbClr val="980002"/>
                </a:solidFill>
              </a:rPr>
              <a:t>011</a:t>
            </a:r>
            <a:r>
              <a:rPr lang="en-US" sz="2000" baseline="-6000" dirty="0"/>
              <a:t>2</a:t>
            </a:r>
            <a:r>
              <a:rPr lang="en-US" sz="2000" dirty="0"/>
              <a:t>	10.00</a:t>
            </a:r>
            <a:r>
              <a:rPr lang="en-US" sz="2000" baseline="-6000" dirty="0"/>
              <a:t>2</a:t>
            </a:r>
            <a:r>
              <a:rPr lang="en-US" sz="2000" dirty="0"/>
              <a:t>	(&lt;1/2—down)	2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2 </a:t>
            </a:r>
            <a:r>
              <a:rPr lang="zh-CN" altLang="en-US" sz="2000" dirty="0"/>
              <a:t> </a:t>
            </a:r>
            <a:r>
              <a:rPr lang="en-US" sz="2000" dirty="0"/>
              <a:t>3/16	10.00</a:t>
            </a:r>
            <a:r>
              <a:rPr lang="en-US" sz="2000" dirty="0">
                <a:solidFill>
                  <a:srgbClr val="980002"/>
                </a:solidFill>
              </a:rPr>
              <a:t>110</a:t>
            </a:r>
            <a:r>
              <a:rPr lang="en-US" sz="2000" baseline="-6000" dirty="0"/>
              <a:t>2</a:t>
            </a:r>
            <a:r>
              <a:rPr lang="en-US" sz="2000" dirty="0"/>
              <a:t>	10.01</a:t>
            </a:r>
            <a:r>
              <a:rPr lang="en-US" sz="2000" baseline="-6000" dirty="0"/>
              <a:t>2</a:t>
            </a:r>
            <a:r>
              <a:rPr lang="en-US" sz="2000" dirty="0"/>
              <a:t>	(&gt;1/2—up)	2 1/4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2 </a:t>
            </a:r>
            <a:r>
              <a:rPr lang="zh-CN" altLang="en-US" sz="2000" dirty="0"/>
              <a:t> </a:t>
            </a:r>
            <a:r>
              <a:rPr lang="en-US" sz="2000" dirty="0"/>
              <a:t>7/8	10.11</a:t>
            </a:r>
            <a:r>
              <a:rPr lang="en-US" sz="2000" dirty="0">
                <a:solidFill>
                  <a:srgbClr val="980002"/>
                </a:solidFill>
              </a:rPr>
              <a:t>100</a:t>
            </a:r>
            <a:r>
              <a:rPr lang="en-US" sz="2000" baseline="-6000" dirty="0"/>
              <a:t>2</a:t>
            </a:r>
            <a:r>
              <a:rPr lang="en-US" sz="2000" dirty="0"/>
              <a:t>	11.00</a:t>
            </a:r>
            <a:r>
              <a:rPr lang="en-US" sz="2000" baseline="-6000" dirty="0"/>
              <a:t>2</a:t>
            </a:r>
            <a:r>
              <a:rPr lang="en-US" sz="2000" dirty="0"/>
              <a:t>	(  1/2—up)	3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sz="2000" dirty="0"/>
              <a:t>2 </a:t>
            </a:r>
            <a:r>
              <a:rPr lang="zh-CN" altLang="en-US" sz="2000" dirty="0"/>
              <a:t> </a:t>
            </a:r>
            <a:r>
              <a:rPr lang="en-US" sz="2000" dirty="0"/>
              <a:t>5/8	10.10</a:t>
            </a:r>
            <a:r>
              <a:rPr lang="en-US" sz="2000" dirty="0">
                <a:solidFill>
                  <a:srgbClr val="980002"/>
                </a:solidFill>
              </a:rPr>
              <a:t>100</a:t>
            </a:r>
            <a:r>
              <a:rPr lang="en-US" sz="2000" baseline="-6000" dirty="0"/>
              <a:t>2</a:t>
            </a:r>
            <a:r>
              <a:rPr lang="en-US" sz="2000" dirty="0"/>
              <a:t>	10.10</a:t>
            </a:r>
            <a:r>
              <a:rPr lang="en-US" sz="2000" baseline="-6000" dirty="0"/>
              <a:t>2</a:t>
            </a:r>
            <a:r>
              <a:rPr lang="en-US" sz="2000" dirty="0"/>
              <a:t>	(  1/2—down)	2 1/2</a:t>
            </a:r>
          </a:p>
        </p:txBody>
      </p:sp>
    </p:spTree>
    <p:extLst>
      <p:ext uri="{BB962C8B-B14F-4D97-AF65-F5344CB8AC3E}">
        <p14:creationId xmlns:p14="http://schemas.microsoft.com/office/powerpoint/2010/main" val="1190309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altLang="zh-CN" dirty="0"/>
              <a:t>Floating Point </a:t>
            </a:r>
            <a:r>
              <a:rPr lang="en-US" dirty="0"/>
              <a:t>Multiplication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000" dirty="0">
                <a:solidFill>
                  <a:srgbClr val="980002"/>
                </a:solidFill>
              </a:rPr>
              <a:t>(–1)</a:t>
            </a:r>
            <a:r>
              <a:rPr lang="en-US" sz="2000" baseline="32000" dirty="0">
                <a:solidFill>
                  <a:srgbClr val="980002"/>
                </a:solidFill>
              </a:rPr>
              <a:t>s1</a:t>
            </a:r>
            <a:r>
              <a:rPr lang="en-US" sz="2000" dirty="0">
                <a:solidFill>
                  <a:srgbClr val="980002"/>
                </a:solidFill>
              </a:rPr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 dirty="0">
                <a:solidFill>
                  <a:srgbClr val="980002"/>
                </a:solidFill>
              </a:rPr>
              <a:t>  2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sz="2000" dirty="0">
                <a:solidFill>
                  <a:srgbClr val="980002"/>
                </a:solidFill>
              </a:rPr>
              <a:t>   x   (–1)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 dirty="0">
                <a:solidFill>
                  <a:srgbClr val="980002"/>
                </a:solidFill>
              </a:rPr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 dirty="0">
                <a:solidFill>
                  <a:srgbClr val="980002"/>
                </a:solidFill>
              </a:rPr>
              <a:t>  2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sz="2000" dirty="0">
              <a:solidFill>
                <a:srgbClr val="980002"/>
              </a:solidFill>
            </a:endParaRPr>
          </a:p>
          <a:p>
            <a:r>
              <a:rPr lang="en-US" sz="2000" dirty="0"/>
              <a:t>Exact Result: </a:t>
            </a:r>
            <a:r>
              <a:rPr lang="en-US" sz="2000" dirty="0">
                <a:solidFill>
                  <a:srgbClr val="980002"/>
                </a:solidFill>
              </a:rPr>
              <a:t>(–1)</a:t>
            </a:r>
            <a:r>
              <a:rPr lang="en-US" sz="2000" baseline="32000" dirty="0">
                <a:solidFill>
                  <a:srgbClr val="980002"/>
                </a:solidFill>
              </a:rPr>
              <a:t>s</a:t>
            </a:r>
            <a:r>
              <a:rPr lang="en-US" sz="2000" dirty="0">
                <a:solidFill>
                  <a:srgbClr val="980002"/>
                </a:solidFill>
              </a:rPr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000" dirty="0">
                <a:solidFill>
                  <a:srgbClr val="980002"/>
                </a:solidFill>
              </a:rPr>
              <a:t>  2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000" dirty="0"/>
          </a:p>
          <a:p>
            <a:pPr marL="552450" lvl="1"/>
            <a:r>
              <a:rPr lang="en-US" sz="1800" dirty="0"/>
              <a:t>Sign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sz="1800" dirty="0"/>
              <a:t>: 		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s1</a:t>
            </a:r>
            <a:r>
              <a:rPr lang="en-US" sz="1800" dirty="0"/>
              <a:t> ^ 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s2</a:t>
            </a:r>
            <a:endParaRPr lang="en-US" sz="1800" dirty="0"/>
          </a:p>
          <a:p>
            <a:pPr marL="552450" lvl="1"/>
            <a:r>
              <a:rPr lang="en-US" sz="1800" dirty="0" err="1"/>
              <a:t>Significand</a:t>
            </a:r>
            <a:r>
              <a:rPr lang="en-US" sz="1800" dirty="0"/>
              <a:t>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sz="1800" dirty="0"/>
              <a:t>: 	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M1</a:t>
            </a:r>
            <a:r>
              <a:rPr lang="en-US" sz="1800" dirty="0"/>
              <a:t> x  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M2</a:t>
            </a:r>
            <a:endParaRPr lang="en-US" sz="1800" dirty="0"/>
          </a:p>
          <a:p>
            <a:pPr marL="552450" lvl="1"/>
            <a:r>
              <a:rPr lang="en-US" sz="1800" dirty="0"/>
              <a:t>Exponent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sz="1800" dirty="0"/>
              <a:t>: 	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sz="1800" dirty="0"/>
              <a:t> + 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sz="1800" dirty="0"/>
          </a:p>
          <a:p>
            <a:endParaRPr lang="en-US" sz="2000" dirty="0"/>
          </a:p>
          <a:p>
            <a:r>
              <a:rPr lang="zh-CN" altLang="en-US" sz="2000" dirty="0"/>
              <a:t>结果修正</a:t>
            </a:r>
            <a:endParaRPr lang="en-US" sz="2000" dirty="0"/>
          </a:p>
          <a:p>
            <a:pPr marL="552450" lvl="1"/>
            <a:r>
              <a:rPr lang="zh-CN" altLang="en-US" sz="1800" dirty="0"/>
              <a:t>如果</a:t>
            </a:r>
            <a:r>
              <a:rPr lang="en-US" altLang="zh-CN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altLang="zh-CN" sz="1800" dirty="0"/>
              <a:t> ≥ 2,</a:t>
            </a:r>
            <a:r>
              <a:rPr lang="zh-CN" altLang="en-US" sz="1800" dirty="0"/>
              <a:t> </a:t>
            </a:r>
            <a:r>
              <a:rPr lang="en-US" altLang="zh-CN" sz="1800" dirty="0"/>
              <a:t>M</a:t>
            </a:r>
            <a:r>
              <a:rPr lang="zh-CN" altLang="en-US" sz="1800" dirty="0"/>
              <a:t>右移，对应增大</a:t>
            </a:r>
            <a:r>
              <a:rPr lang="en-US" altLang="zh-CN" sz="1800" dirty="0"/>
              <a:t>E</a:t>
            </a:r>
            <a:endParaRPr lang="en-US" sz="1800" dirty="0"/>
          </a:p>
          <a:p>
            <a:pPr marL="552450" lvl="1"/>
            <a:r>
              <a:rPr lang="zh-CN" altLang="en-US" sz="1800" dirty="0"/>
              <a:t>如果</a:t>
            </a:r>
            <a:r>
              <a:rPr lang="en-US" altLang="zh-CN" sz="1800" dirty="0"/>
              <a:t>E</a:t>
            </a:r>
            <a:r>
              <a:rPr lang="zh-CN" altLang="en-US" sz="1800" dirty="0"/>
              <a:t>越界，就</a:t>
            </a:r>
            <a:r>
              <a:rPr lang="en-US" altLang="zh-CN" sz="1800" dirty="0"/>
              <a:t>overflow</a:t>
            </a:r>
            <a:endParaRPr lang="en-US" sz="1800" dirty="0"/>
          </a:p>
          <a:p>
            <a:pPr marL="552450" lvl="1"/>
            <a:r>
              <a:rPr lang="zh-CN" altLang="en-US" sz="1800" dirty="0"/>
              <a:t>最后</a:t>
            </a:r>
            <a:r>
              <a:rPr lang="en-US" altLang="zh-CN" sz="1800" dirty="0"/>
              <a:t>M</a:t>
            </a:r>
            <a:r>
              <a:rPr lang="zh-CN" altLang="en-US" sz="1800" dirty="0"/>
              <a:t>的值再进行舍入</a:t>
            </a:r>
            <a:endParaRPr lang="en-US" sz="1800" dirty="0"/>
          </a:p>
          <a:p>
            <a:endParaRPr lang="en-US" sz="2000" dirty="0"/>
          </a:p>
          <a:p>
            <a:r>
              <a:rPr lang="zh-CN" altLang="en-US" sz="2000" dirty="0"/>
              <a:t>实现</a:t>
            </a:r>
            <a:endParaRPr lang="en-US" sz="2000" dirty="0"/>
          </a:p>
          <a:p>
            <a:pPr marL="552450" lvl="1"/>
            <a:r>
              <a:rPr lang="zh-CN" altLang="en-US" sz="1800" dirty="0"/>
              <a:t>复杂度最高的部分是尾数的乘法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1898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Addition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419600"/>
          </a:xfrm>
          <a:ln/>
        </p:spPr>
        <p:txBody>
          <a:bodyPr/>
          <a:lstStyle/>
          <a:p>
            <a:pPr>
              <a:tabLst>
                <a:tab pos="2049463" algn="l"/>
              </a:tabLst>
            </a:pPr>
            <a:r>
              <a:rPr lang="en-US" sz="2000" dirty="0">
                <a:solidFill>
                  <a:srgbClr val="980002"/>
                </a:solidFill>
              </a:rPr>
              <a:t>(–1)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sz="2000" dirty="0">
                <a:solidFill>
                  <a:srgbClr val="980002"/>
                </a:solidFill>
              </a:rPr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 dirty="0">
                <a:solidFill>
                  <a:srgbClr val="980002"/>
                </a:solidFill>
              </a:rPr>
              <a:t>  2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sz="2000" dirty="0">
                <a:solidFill>
                  <a:srgbClr val="980002"/>
                </a:solidFill>
              </a:rPr>
              <a:t>   +   (-1)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 dirty="0">
                <a:solidFill>
                  <a:srgbClr val="980002"/>
                </a:solidFill>
              </a:rPr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 dirty="0">
                <a:solidFill>
                  <a:srgbClr val="980002"/>
                </a:solidFill>
              </a:rPr>
              <a:t>  2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sz="2000" dirty="0">
              <a:solidFill>
                <a:srgbClr val="980002"/>
              </a:solidFill>
            </a:endParaRPr>
          </a:p>
          <a:p>
            <a:pPr marL="317500" lvl="1" indent="0">
              <a:tabLst>
                <a:tab pos="2049463" algn="l"/>
              </a:tabLst>
            </a:pPr>
            <a:r>
              <a:rPr lang="zh-CN" altLang="en-US" sz="1800" dirty="0"/>
              <a:t>假设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sz="1800" dirty="0"/>
              <a:t> &gt;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r>
              <a:rPr lang="zh-CN" alt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，首先对阶，</a:t>
            </a:r>
            <a:r>
              <a:rPr lang="en-US" altLang="zh-CN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E2-&gt;E1, M2</a:t>
            </a:r>
            <a:r>
              <a:rPr lang="zh-CN" alt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变小</a:t>
            </a:r>
            <a:endParaRPr lang="en-US" sz="1800" dirty="0"/>
          </a:p>
          <a:p>
            <a:pPr>
              <a:tabLst>
                <a:tab pos="2049463" algn="l"/>
              </a:tabLst>
            </a:pPr>
            <a:endParaRPr lang="en-US" sz="2000" dirty="0"/>
          </a:p>
          <a:p>
            <a:pPr>
              <a:tabLst>
                <a:tab pos="2049463" algn="l"/>
              </a:tabLst>
            </a:pPr>
            <a:r>
              <a:rPr lang="zh-CN" altLang="en-US" sz="2000" dirty="0"/>
              <a:t>准确结果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980002"/>
                </a:solidFill>
              </a:rPr>
              <a:t>(–1)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 dirty="0">
                <a:solidFill>
                  <a:srgbClr val="980002"/>
                </a:solidFill>
              </a:rPr>
              <a:t> </a:t>
            </a:r>
            <a:r>
              <a:rPr lang="en-US" sz="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000" dirty="0">
                <a:solidFill>
                  <a:srgbClr val="980002"/>
                </a:solidFill>
              </a:rPr>
              <a:t>  2</a:t>
            </a:r>
            <a:r>
              <a:rPr lang="en-US" sz="2000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000" dirty="0"/>
          </a:p>
          <a:p>
            <a:pPr marL="317500" lvl="1" indent="0">
              <a:tabLst>
                <a:tab pos="2049463" algn="l"/>
              </a:tabLst>
            </a:pPr>
            <a:r>
              <a:rPr lang="en-US" sz="1800" dirty="0"/>
              <a:t>Sign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sz="1800" dirty="0"/>
              <a:t>, significand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sz="1800" dirty="0"/>
              <a:t>: </a:t>
            </a:r>
          </a:p>
          <a:p>
            <a:pPr marL="838200" lvl="2">
              <a:tabLst>
                <a:tab pos="2049463" algn="l"/>
              </a:tabLst>
            </a:pPr>
            <a:r>
              <a:rPr lang="en-US" sz="1600" dirty="0"/>
              <a:t>Result of signed align &amp; add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sz="1800" dirty="0"/>
              <a:t>Exponent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sz="1800" dirty="0"/>
              <a:t>: 	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endParaRPr lang="en-US" sz="1800" dirty="0"/>
          </a:p>
          <a:p>
            <a:pPr>
              <a:tabLst>
                <a:tab pos="2049463" algn="l"/>
              </a:tabLst>
            </a:pPr>
            <a:endParaRPr lang="en-US" sz="2000" dirty="0"/>
          </a:p>
          <a:p>
            <a:pPr>
              <a:tabLst>
                <a:tab pos="2049463" algn="l"/>
              </a:tabLst>
            </a:pPr>
            <a:r>
              <a:rPr lang="zh-CN" altLang="en-US" sz="2000" dirty="0"/>
              <a:t>修正：</a:t>
            </a:r>
            <a:endParaRPr lang="en-US" sz="2000" dirty="0"/>
          </a:p>
          <a:p>
            <a:pPr marL="317500" lvl="1" indent="0">
              <a:tabLst>
                <a:tab pos="2049463" algn="l"/>
              </a:tabLst>
            </a:pPr>
            <a:r>
              <a:rPr lang="zh-CN" alt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如果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sz="1800" dirty="0"/>
              <a:t> ≥ 2, </a:t>
            </a:r>
            <a:r>
              <a:rPr lang="zh-CN" altLang="en-US" sz="1800" dirty="0"/>
              <a:t>右移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sz="1800" dirty="0"/>
              <a:t>, </a:t>
            </a:r>
            <a:r>
              <a:rPr lang="zh-CN" altLang="en-US" sz="1800" dirty="0"/>
              <a:t>增加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sz="1800" dirty="0"/>
              <a:t> </a:t>
            </a:r>
          </a:p>
          <a:p>
            <a:pPr marL="317500" lvl="1" indent="0">
              <a:tabLst>
                <a:tab pos="2049463" algn="l"/>
              </a:tabLst>
            </a:pPr>
            <a:r>
              <a:rPr lang="zh-CN" alt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如果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sz="1800" dirty="0"/>
              <a:t> &lt; 1, </a:t>
            </a:r>
            <a:r>
              <a:rPr lang="zh-CN" altLang="en-US" sz="1800" dirty="0"/>
              <a:t>将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sz="1800" dirty="0"/>
              <a:t> </a:t>
            </a:r>
            <a:r>
              <a:rPr lang="zh-CN" altLang="en-US" sz="1800" dirty="0"/>
              <a:t>左移</a:t>
            </a:r>
            <a:r>
              <a:rPr lang="en-US" sz="1800" dirty="0"/>
              <a:t>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sz="1800" dirty="0"/>
              <a:t> </a:t>
            </a:r>
            <a:r>
              <a:rPr lang="zh-CN" altLang="en-US" sz="1800" dirty="0"/>
              <a:t>位到合法区间</a:t>
            </a:r>
            <a:r>
              <a:rPr lang="en-US" sz="1800" dirty="0"/>
              <a:t>,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sz="1800" dirty="0"/>
              <a:t> </a:t>
            </a:r>
            <a:r>
              <a:rPr lang="zh-CN" altLang="en-US" sz="1800" dirty="0"/>
              <a:t>减小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zh-CN" alt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（可能规格化，可能非规格化）</a:t>
            </a:r>
            <a:endParaRPr lang="en-US" sz="1800" dirty="0"/>
          </a:p>
          <a:p>
            <a:pPr marL="317500" lvl="1" indent="0">
              <a:tabLst>
                <a:tab pos="2049463" algn="l"/>
              </a:tabLst>
            </a:pPr>
            <a:r>
              <a:rPr lang="zh-CN" altLang="en-US" sz="1800" dirty="0"/>
              <a:t>如果</a:t>
            </a:r>
            <a:r>
              <a:rPr lang="en-US" altLang="zh-CN" sz="1800" dirty="0"/>
              <a:t>E</a:t>
            </a:r>
            <a:r>
              <a:rPr lang="zh-CN" altLang="en-US" sz="1800" dirty="0"/>
              <a:t>超过边界，则</a:t>
            </a:r>
            <a:r>
              <a:rPr lang="en-US" altLang="zh-CN" sz="1800" dirty="0"/>
              <a:t>o</a:t>
            </a:r>
            <a:r>
              <a:rPr lang="en-US" sz="1800" dirty="0"/>
              <a:t>verflow</a:t>
            </a:r>
          </a:p>
          <a:p>
            <a:pPr marL="317500" lvl="1" indent="0">
              <a:tabLst>
                <a:tab pos="2049463" algn="l"/>
              </a:tabLst>
            </a:pPr>
            <a:r>
              <a:rPr lang="zh-CN" altLang="en-US" sz="1800" dirty="0"/>
              <a:t>如果</a:t>
            </a:r>
            <a:r>
              <a:rPr lang="en-US" altLang="zh-CN" sz="1800" dirty="0"/>
              <a:t>M</a:t>
            </a:r>
            <a:r>
              <a:rPr lang="zh-CN" altLang="en-US" sz="1800" dirty="0"/>
              <a:t>位数过长，则进行舍入</a:t>
            </a:r>
            <a:endParaRPr lang="en-US" sz="1800" dirty="0"/>
          </a:p>
        </p:txBody>
      </p:sp>
      <p:sp>
        <p:nvSpPr>
          <p:cNvPr id="39941" name="Rectangle 5"/>
          <p:cNvSpPr>
            <a:spLocks/>
          </p:cNvSpPr>
          <p:nvPr/>
        </p:nvSpPr>
        <p:spPr bwMode="auto">
          <a:xfrm>
            <a:off x="5067300" y="2540000"/>
            <a:ext cx="17907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2" name="Rectangle 6"/>
          <p:cNvSpPr>
            <a:spLocks/>
          </p:cNvSpPr>
          <p:nvPr/>
        </p:nvSpPr>
        <p:spPr bwMode="auto">
          <a:xfrm>
            <a:off x="6645275" y="3086100"/>
            <a:ext cx="22225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68580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>
            <a:off x="88519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6870700" y="2349500"/>
            <a:ext cx="19685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6" name="Rectangle 10"/>
          <p:cNvSpPr>
            <a:spLocks/>
          </p:cNvSpPr>
          <p:nvPr/>
        </p:nvSpPr>
        <p:spPr bwMode="auto">
          <a:xfrm>
            <a:off x="7567613" y="2119313"/>
            <a:ext cx="771045" cy="307777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E1</a:t>
            </a:r>
            <a:r>
              <a:rPr lang="en-US" sz="2000">
                <a:solidFill>
                  <a:schemeClr val="tx1"/>
                </a:solidFill>
                <a:latin typeface="Arial Narrow Bold" charset="0"/>
                <a:ea typeface="Arial Narrow Bold" charset="0"/>
                <a:cs typeface="Arial Narrow Bold" charset="0"/>
                <a:sym typeface="Arial Narrow Bold" charset="0"/>
              </a:rPr>
              <a:t>–</a:t>
            </a:r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E2</a:t>
            </a:r>
          </a:p>
        </p:txBody>
      </p:sp>
      <p:sp>
        <p:nvSpPr>
          <p:cNvPr id="39947" name="Rectangle 11"/>
          <p:cNvSpPr>
            <a:spLocks/>
          </p:cNvSpPr>
          <p:nvPr/>
        </p:nvSpPr>
        <p:spPr bwMode="auto">
          <a:xfrm>
            <a:off x="4697413" y="2949575"/>
            <a:ext cx="254877" cy="61555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4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+</a:t>
            </a: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4826000" y="3683000"/>
            <a:ext cx="40894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9" name="Rectangle 13"/>
          <p:cNvSpPr>
            <a:spLocks/>
          </p:cNvSpPr>
          <p:nvPr/>
        </p:nvSpPr>
        <p:spPr bwMode="auto">
          <a:xfrm>
            <a:off x="5067300" y="3835400"/>
            <a:ext cx="37846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57800" y="1524000"/>
            <a:ext cx="3443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Get binary points lined up</a:t>
            </a:r>
          </a:p>
        </p:txBody>
      </p:sp>
    </p:spTree>
    <p:extLst>
      <p:ext uri="{BB962C8B-B14F-4D97-AF65-F5344CB8AC3E}">
        <p14:creationId xmlns:p14="http://schemas.microsoft.com/office/powerpoint/2010/main" val="960872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7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en-US" dirty="0"/>
              <a:t>Mathematical Properties of FP Add</a:t>
            </a:r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000" dirty="0"/>
              <a:t>是否符合阿贝尔群的特征</a:t>
            </a:r>
            <a:endParaRPr lang="en-US" sz="2000" dirty="0"/>
          </a:p>
          <a:p>
            <a:pPr lvl="1"/>
            <a:r>
              <a:rPr lang="zh-CN" altLang="en-US" sz="1800" dirty="0"/>
              <a:t>加法的封闭性</a:t>
            </a:r>
            <a:r>
              <a:rPr lang="en-US" sz="1800" dirty="0"/>
              <a:t>?			</a:t>
            </a:r>
          </a:p>
          <a:p>
            <a:pPr lvl="2"/>
            <a:r>
              <a:rPr lang="zh-CN" altLang="en-US" sz="1600" dirty="0"/>
              <a:t>但是有可能产生无穷或</a:t>
            </a:r>
            <a:r>
              <a:rPr lang="en-US" altLang="zh-CN" sz="1600" dirty="0" err="1"/>
              <a:t>NaN</a:t>
            </a:r>
            <a:endParaRPr lang="en-US" sz="1600" dirty="0"/>
          </a:p>
          <a:p>
            <a:pPr lvl="1"/>
            <a:r>
              <a:rPr lang="zh-CN" altLang="en-US" sz="1800" dirty="0"/>
              <a:t>交换律</a:t>
            </a:r>
            <a:r>
              <a:rPr lang="en-US" sz="1800" dirty="0"/>
              <a:t>? </a:t>
            </a:r>
          </a:p>
          <a:p>
            <a:pPr lvl="1"/>
            <a:r>
              <a:rPr lang="zh-CN" altLang="en-US" sz="1800" dirty="0"/>
              <a:t>结合律</a:t>
            </a:r>
            <a:r>
              <a:rPr lang="en-US" sz="1800" dirty="0"/>
              <a:t>?</a:t>
            </a:r>
          </a:p>
          <a:p>
            <a:pPr lvl="2"/>
            <a:r>
              <a:rPr lang="en-US" sz="1600" dirty="0"/>
              <a:t>Overflow and inexactness of rounding</a:t>
            </a:r>
          </a:p>
          <a:p>
            <a:pPr lvl="2"/>
            <a:r>
              <a:rPr lang="en-US" sz="1600" dirty="0">
                <a:latin typeface="Courier New"/>
                <a:cs typeface="Courier New"/>
              </a:rPr>
              <a:t>(3.14+1e10)-1e10 = 0, 3.14+(1e10-1e10) = 3.14</a:t>
            </a:r>
          </a:p>
          <a:p>
            <a:pPr lvl="1"/>
            <a:r>
              <a:rPr lang="en-US" sz="1800" dirty="0"/>
              <a:t>0 </a:t>
            </a:r>
            <a:r>
              <a:rPr lang="zh-CN" altLang="en-US" sz="1800" dirty="0"/>
              <a:t>是加法单位元</a:t>
            </a:r>
            <a:r>
              <a:rPr lang="en-US" sz="1800" dirty="0"/>
              <a:t>? </a:t>
            </a:r>
          </a:p>
          <a:p>
            <a:pPr lvl="1"/>
            <a:r>
              <a:rPr lang="zh-CN" altLang="en-US" sz="1800" dirty="0"/>
              <a:t>每个元素都有加法逆元？</a:t>
            </a:r>
            <a:endParaRPr lang="en-US" sz="1800" dirty="0"/>
          </a:p>
          <a:p>
            <a:pPr lvl="2"/>
            <a:r>
              <a:rPr lang="en-US" sz="1600" dirty="0"/>
              <a:t>Yes, </a:t>
            </a:r>
            <a:r>
              <a:rPr lang="zh-CN" altLang="en-US" sz="1600" dirty="0"/>
              <a:t>除了</a:t>
            </a:r>
            <a:r>
              <a:rPr lang="en-US" sz="1600" dirty="0"/>
              <a:t>infinities &amp; </a:t>
            </a:r>
            <a:r>
              <a:rPr lang="en-US" sz="1600" dirty="0" err="1"/>
              <a:t>NaNs</a:t>
            </a:r>
            <a:endParaRPr lang="en-US" sz="1600" dirty="0"/>
          </a:p>
          <a:p>
            <a:r>
              <a:rPr lang="zh-CN" altLang="en-US" sz="2000" dirty="0"/>
              <a:t>单调性</a:t>
            </a:r>
            <a:endParaRPr lang="en-US" sz="2000" dirty="0"/>
          </a:p>
          <a:p>
            <a:pPr lvl="1"/>
            <a:r>
              <a:rPr lang="en-US" sz="1800" dirty="0">
                <a:sym typeface="Calibri Italic" charset="0"/>
              </a:rPr>
              <a:t>a</a:t>
            </a:r>
            <a:r>
              <a:rPr lang="en-US" sz="1800" dirty="0"/>
              <a:t> ≥ </a:t>
            </a:r>
            <a:r>
              <a:rPr lang="en-US" sz="1800" dirty="0">
                <a:sym typeface="Calibri Italic" charset="0"/>
              </a:rPr>
              <a:t>b</a:t>
            </a:r>
            <a:r>
              <a:rPr lang="en-US" sz="1800" dirty="0"/>
              <a:t> ⇒ </a:t>
            </a:r>
            <a:r>
              <a:rPr lang="en-US" sz="1800" dirty="0" err="1">
                <a:sym typeface="Calibri Italic" charset="0"/>
              </a:rPr>
              <a:t>a</a:t>
            </a:r>
            <a:r>
              <a:rPr lang="en-US" sz="1800" dirty="0" err="1"/>
              <a:t>+</a:t>
            </a:r>
            <a:r>
              <a:rPr lang="en-US" sz="1800" dirty="0" err="1">
                <a:sym typeface="Calibri Italic" charset="0"/>
              </a:rPr>
              <a:t>c</a:t>
            </a:r>
            <a:r>
              <a:rPr lang="en-US" sz="1800" dirty="0"/>
              <a:t> ≥ </a:t>
            </a:r>
            <a:r>
              <a:rPr lang="en-US" sz="1800" dirty="0" err="1">
                <a:sym typeface="Calibri Italic" charset="0"/>
              </a:rPr>
              <a:t>b</a:t>
            </a:r>
            <a:r>
              <a:rPr lang="en-US" sz="1800" dirty="0" err="1"/>
              <a:t>+</a:t>
            </a:r>
            <a:r>
              <a:rPr lang="en-US" sz="1800" dirty="0" err="1">
                <a:sym typeface="Calibri Italic" charset="0"/>
              </a:rPr>
              <a:t>c</a:t>
            </a:r>
            <a:r>
              <a:rPr lang="en-US" sz="1800" dirty="0"/>
              <a:t>?</a:t>
            </a:r>
          </a:p>
          <a:p>
            <a:pPr lvl="2"/>
            <a:r>
              <a:rPr lang="zh-CN" altLang="en-US" sz="1600" dirty="0"/>
              <a:t>除了</a:t>
            </a:r>
            <a:r>
              <a:rPr lang="en-US" sz="1600" dirty="0"/>
              <a:t>infinities &amp; </a:t>
            </a:r>
            <a:r>
              <a:rPr lang="en-US" sz="1600" dirty="0" err="1"/>
              <a:t>NaNs</a:t>
            </a:r>
            <a:endParaRPr lang="en-US" sz="1600" dirty="0"/>
          </a:p>
        </p:txBody>
      </p:sp>
      <p:sp>
        <p:nvSpPr>
          <p:cNvPr id="40969" name="Rectangle 9"/>
          <p:cNvSpPr>
            <a:spLocks/>
          </p:cNvSpPr>
          <p:nvPr/>
        </p:nvSpPr>
        <p:spPr bwMode="auto">
          <a:xfrm>
            <a:off x="5465763" y="17907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0" name="Rectangle 10"/>
          <p:cNvSpPr>
            <a:spLocks/>
          </p:cNvSpPr>
          <p:nvPr/>
        </p:nvSpPr>
        <p:spPr bwMode="auto">
          <a:xfrm>
            <a:off x="5468938" y="25146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1" name="Rectangle 11"/>
          <p:cNvSpPr>
            <a:spLocks/>
          </p:cNvSpPr>
          <p:nvPr/>
        </p:nvSpPr>
        <p:spPr bwMode="auto">
          <a:xfrm>
            <a:off x="5443538" y="3815682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2" name="Rectangle 12"/>
          <p:cNvSpPr>
            <a:spLocks/>
          </p:cNvSpPr>
          <p:nvPr/>
        </p:nvSpPr>
        <p:spPr bwMode="auto">
          <a:xfrm>
            <a:off x="5465763" y="28829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0973" name="Rectangle 13"/>
          <p:cNvSpPr>
            <a:spLocks/>
          </p:cNvSpPr>
          <p:nvPr/>
        </p:nvSpPr>
        <p:spPr bwMode="auto">
          <a:xfrm>
            <a:off x="5257800" y="4262054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  <p:sp>
        <p:nvSpPr>
          <p:cNvPr id="40974" name="Rectangle 14"/>
          <p:cNvSpPr>
            <a:spLocks/>
          </p:cNvSpPr>
          <p:nvPr/>
        </p:nvSpPr>
        <p:spPr bwMode="auto">
          <a:xfrm>
            <a:off x="5392354" y="5320632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</p:spTree>
    <p:extLst>
      <p:ext uri="{BB962C8B-B14F-4D97-AF65-F5344CB8AC3E}">
        <p14:creationId xmlns:p14="http://schemas.microsoft.com/office/powerpoint/2010/main" val="301687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Mathematical Properties of FP Add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FP</a:t>
            </a:r>
            <a:r>
              <a:rPr kumimoji="1" lang="zh-CN" altLang="en-US" dirty="0"/>
              <a:t>加法不具有结合率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对编译器有很大影响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例如</a:t>
            </a:r>
            <a:r>
              <a:rPr kumimoji="1" lang="en-US" altLang="zh-CN" dirty="0"/>
              <a:t>x = a + b + c; y = b + c + d;</a:t>
            </a:r>
          </a:p>
          <a:p>
            <a:pPr lvl="2"/>
            <a:r>
              <a:rPr kumimoji="1" lang="zh-CN" altLang="en-US" dirty="0"/>
              <a:t>编译器试图优化，减少一次运算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t = b + c;</a:t>
            </a:r>
          </a:p>
          <a:p>
            <a:pPr lvl="3"/>
            <a:r>
              <a:rPr kumimoji="1" lang="en-US" altLang="zh-CN" dirty="0"/>
              <a:t>x = a + t;</a:t>
            </a:r>
          </a:p>
          <a:p>
            <a:pPr lvl="3"/>
            <a:r>
              <a:rPr kumimoji="1" lang="en-US" altLang="zh-CN" dirty="0"/>
              <a:t>y = t + d</a:t>
            </a:r>
          </a:p>
          <a:p>
            <a:pPr lvl="2"/>
            <a:r>
              <a:rPr kumimoji="1" lang="zh-CN" altLang="en-US" dirty="0"/>
              <a:t>这样可能产生不同的值，编译器一般会做保守的选择，避免对程序功能产生影响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39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Mathematical Properties of FP Mult</a:t>
            </a:r>
          </a:p>
        </p:txBody>
      </p:sp>
      <p:sp>
        <p:nvSpPr>
          <p:cNvPr id="41992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152400"/>
            <a:r>
              <a:rPr lang="zh-CN" altLang="en-US" sz="2200" dirty="0"/>
              <a:t>属性</a:t>
            </a:r>
            <a:endParaRPr lang="en-US" altLang="zh-CN" sz="2200" dirty="0"/>
          </a:p>
          <a:p>
            <a:pPr marL="552450" lvl="1"/>
            <a:r>
              <a:rPr lang="zh-CN" altLang="en-US" sz="1800" dirty="0"/>
              <a:t>乘法是否封闭？</a:t>
            </a:r>
            <a:endParaRPr lang="en-US" sz="1800" dirty="0"/>
          </a:p>
          <a:p>
            <a:pPr marL="838200" lvl="2"/>
            <a:r>
              <a:rPr lang="zh-CN" altLang="en-US" sz="1600" dirty="0"/>
              <a:t>但可能产生</a:t>
            </a:r>
            <a:r>
              <a:rPr lang="en-US" sz="1600" dirty="0"/>
              <a:t> infinity or </a:t>
            </a:r>
            <a:r>
              <a:rPr lang="en-US" sz="1600" dirty="0" err="1"/>
              <a:t>NaN</a:t>
            </a:r>
            <a:endParaRPr lang="en-US" sz="1600" dirty="0"/>
          </a:p>
          <a:p>
            <a:pPr marL="552450" lvl="1"/>
            <a:r>
              <a:rPr lang="zh-CN" altLang="en-US" sz="1800" dirty="0"/>
              <a:t>交换律</a:t>
            </a:r>
            <a:r>
              <a:rPr lang="en-US" sz="1800" dirty="0"/>
              <a:t>?</a:t>
            </a:r>
          </a:p>
          <a:p>
            <a:pPr marL="552450" lvl="1"/>
            <a:r>
              <a:rPr lang="zh-CN" altLang="en-US" sz="1800" dirty="0"/>
              <a:t>结合率</a:t>
            </a:r>
            <a:r>
              <a:rPr lang="en-US" sz="1800" dirty="0"/>
              <a:t>?</a:t>
            </a:r>
          </a:p>
          <a:p>
            <a:pPr marL="838200" lvl="2"/>
            <a:r>
              <a:rPr lang="zh-CN" altLang="en-US" sz="1600" dirty="0"/>
              <a:t>可能导致溢出，或者由于舍入带来的不精确</a:t>
            </a:r>
            <a:endParaRPr lang="en-US" sz="1600" dirty="0"/>
          </a:p>
          <a:p>
            <a:pPr marL="838200" lvl="2"/>
            <a:r>
              <a:rPr lang="en-US" sz="1600" dirty="0"/>
              <a:t>Possibility of overflow, inexactness of rounding</a:t>
            </a:r>
          </a:p>
          <a:p>
            <a:pPr marL="838200" lvl="2"/>
            <a:r>
              <a:rPr lang="en-US" sz="1600" dirty="0"/>
              <a:t>Ex: </a:t>
            </a:r>
            <a:r>
              <a:rPr lang="en-US" sz="1600" dirty="0">
                <a:latin typeface="Courier New"/>
              </a:rPr>
              <a:t>(1e20*1e20)*1e-20</a:t>
            </a:r>
            <a:r>
              <a:rPr lang="en-US" sz="1600" dirty="0"/>
              <a:t>= </a:t>
            </a:r>
            <a:r>
              <a:rPr lang="en-US" sz="1600" dirty="0" err="1">
                <a:latin typeface="Courier New"/>
                <a:cs typeface="Courier New"/>
              </a:rPr>
              <a:t>inf</a:t>
            </a:r>
            <a:r>
              <a:rPr lang="en-US" sz="1600" dirty="0"/>
              <a:t>, </a:t>
            </a:r>
            <a:r>
              <a:rPr lang="en-US" sz="1600" dirty="0">
                <a:latin typeface="Courier New"/>
                <a:cs typeface="Courier New"/>
              </a:rPr>
              <a:t>1e20*(1e20*1e-20)</a:t>
            </a:r>
            <a:r>
              <a:rPr lang="en-US" sz="1600" dirty="0"/>
              <a:t>= </a:t>
            </a:r>
            <a:r>
              <a:rPr lang="en-US" sz="1600" dirty="0">
                <a:latin typeface="Courier New"/>
                <a:cs typeface="Courier New"/>
              </a:rPr>
              <a:t>1e20</a:t>
            </a:r>
          </a:p>
          <a:p>
            <a:pPr marL="552450" lvl="1"/>
            <a:r>
              <a:rPr lang="en-US" sz="1800" dirty="0"/>
              <a:t>1</a:t>
            </a:r>
            <a:r>
              <a:rPr lang="zh-CN" altLang="en-US" sz="1800" dirty="0"/>
              <a:t>是乘法的单位元？</a:t>
            </a:r>
            <a:endParaRPr lang="en-US" sz="1800" dirty="0"/>
          </a:p>
          <a:p>
            <a:pPr marL="552450" lvl="1"/>
            <a:r>
              <a:rPr lang="zh-CN" altLang="en-US" sz="1800" dirty="0"/>
              <a:t>乘法对加法的分配率？</a:t>
            </a:r>
            <a:endParaRPr lang="en-US" sz="1800" dirty="0"/>
          </a:p>
          <a:p>
            <a:pPr marL="838200" lvl="2"/>
            <a:r>
              <a:rPr lang="zh-CN" altLang="en-US" sz="1600" dirty="0"/>
              <a:t>可能导致溢出，或者由于舍入带来的不精确</a:t>
            </a:r>
            <a:endParaRPr lang="en-US" sz="1600" dirty="0"/>
          </a:p>
          <a:p>
            <a:pPr marL="838200" lvl="2"/>
            <a:r>
              <a:rPr lang="en-US" sz="1600" dirty="0">
                <a:latin typeface="Courier New"/>
                <a:cs typeface="Courier New"/>
              </a:rPr>
              <a:t>1e20*(1e20-1e20)</a:t>
            </a:r>
            <a:r>
              <a:rPr lang="en-US" sz="1600" dirty="0"/>
              <a:t>= </a:t>
            </a:r>
            <a:r>
              <a:rPr lang="en-US" sz="1600" dirty="0">
                <a:latin typeface="Courier New"/>
                <a:cs typeface="Courier New"/>
              </a:rPr>
              <a:t>0.0</a:t>
            </a:r>
            <a:r>
              <a:rPr lang="en-US" sz="1600" dirty="0"/>
              <a:t>,  </a:t>
            </a:r>
            <a:r>
              <a:rPr lang="en-US" sz="1600" dirty="0">
                <a:latin typeface="Courier New"/>
                <a:cs typeface="Courier New"/>
              </a:rPr>
              <a:t>1e20*1e20 – 1e20*1e20 </a:t>
            </a:r>
            <a:r>
              <a:rPr lang="en-US" sz="1600" dirty="0"/>
              <a:t>= </a:t>
            </a:r>
            <a:r>
              <a:rPr lang="en-US" sz="1600" dirty="0" err="1">
                <a:latin typeface="Courier New"/>
                <a:cs typeface="Courier New"/>
              </a:rPr>
              <a:t>NaN</a:t>
            </a:r>
            <a:endParaRPr lang="en-US" sz="1600" dirty="0">
              <a:latin typeface="Courier New"/>
              <a:cs typeface="Courier New"/>
            </a:endParaRPr>
          </a:p>
          <a:p>
            <a:pPr marL="431800" indent="-342900"/>
            <a:r>
              <a:rPr lang="zh-CN" altLang="en-US" sz="2000" dirty="0"/>
              <a:t>单调性</a:t>
            </a:r>
            <a:endParaRPr lang="en-US" sz="2000" dirty="0"/>
          </a:p>
          <a:p>
            <a:pPr marL="552450" lvl="1"/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sz="1800" dirty="0"/>
              <a:t> ≥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sz="1800" dirty="0"/>
              <a:t>  &amp;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sz="1800" dirty="0"/>
              <a:t> ≥ 0  ⇒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sz="1800" dirty="0"/>
              <a:t> *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sz="1800" dirty="0"/>
              <a:t> ≥ 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sz="1800" dirty="0"/>
              <a:t> *</a:t>
            </a:r>
            <a:r>
              <a:rPr lang="en-US" sz="180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sz="1800" dirty="0"/>
              <a:t>?</a:t>
            </a:r>
          </a:p>
          <a:p>
            <a:pPr marL="838200" lvl="2"/>
            <a:r>
              <a:rPr lang="zh-CN" altLang="en-US" sz="1600" dirty="0"/>
              <a:t>除了</a:t>
            </a:r>
            <a:r>
              <a:rPr lang="en-US" sz="1600" dirty="0"/>
              <a:t>infinities &amp; </a:t>
            </a:r>
            <a:r>
              <a:rPr lang="en-US" sz="1600" dirty="0" err="1"/>
              <a:t>NaNs</a:t>
            </a:r>
            <a:endParaRPr lang="en-US" sz="1600" dirty="0"/>
          </a:p>
        </p:txBody>
      </p:sp>
      <p:sp>
        <p:nvSpPr>
          <p:cNvPr id="41993" name="Rectangle 9"/>
          <p:cNvSpPr>
            <a:spLocks/>
          </p:cNvSpPr>
          <p:nvPr/>
        </p:nvSpPr>
        <p:spPr bwMode="auto">
          <a:xfrm>
            <a:off x="6303963" y="2008188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4" name="Rectangle 10"/>
          <p:cNvSpPr>
            <a:spLocks/>
          </p:cNvSpPr>
          <p:nvPr/>
        </p:nvSpPr>
        <p:spPr bwMode="auto">
          <a:xfrm>
            <a:off x="6281738" y="253457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5" name="Rectangle 11"/>
          <p:cNvSpPr>
            <a:spLocks/>
          </p:cNvSpPr>
          <p:nvPr/>
        </p:nvSpPr>
        <p:spPr bwMode="auto">
          <a:xfrm>
            <a:off x="6281738" y="28956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1996" name="Rectangle 12"/>
          <p:cNvSpPr>
            <a:spLocks/>
          </p:cNvSpPr>
          <p:nvPr/>
        </p:nvSpPr>
        <p:spPr bwMode="auto">
          <a:xfrm>
            <a:off x="6281738" y="40513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7" name="Rectangle 13"/>
          <p:cNvSpPr>
            <a:spLocks/>
          </p:cNvSpPr>
          <p:nvPr/>
        </p:nvSpPr>
        <p:spPr bwMode="auto">
          <a:xfrm>
            <a:off x="6303963" y="4361037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1998" name="Rectangle 14"/>
          <p:cNvSpPr>
            <a:spLocks/>
          </p:cNvSpPr>
          <p:nvPr/>
        </p:nvSpPr>
        <p:spPr bwMode="auto">
          <a:xfrm>
            <a:off x="6018212" y="5437822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</p:spTree>
    <p:extLst>
      <p:ext uri="{BB962C8B-B14F-4D97-AF65-F5344CB8AC3E}">
        <p14:creationId xmlns:p14="http://schemas.microsoft.com/office/powerpoint/2010/main" val="2447369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Ariane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r>
              <a:rPr lang="zh-CN" altLang="en-US" dirty="0"/>
              <a:t>: 浮点溢出的高昂代价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2" indent="-342900"/>
            <a:r>
              <a:rPr lang="en-US" altLang="zh-CN" dirty="0"/>
              <a:t>1996.6.4</a:t>
            </a:r>
            <a:r>
              <a:rPr lang="zh-CN" altLang="en-US" dirty="0"/>
              <a:t>，</a:t>
            </a:r>
            <a:r>
              <a:rPr lang="en-US" altLang="zh-CN" dirty="0"/>
              <a:t>Ariane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火箭发射</a:t>
            </a:r>
            <a:r>
              <a:rPr lang="en-US" altLang="zh-CN" dirty="0"/>
              <a:t>37</a:t>
            </a:r>
            <a:r>
              <a:rPr lang="zh-CN" altLang="en-US" dirty="0"/>
              <a:t>秒后爆炸（损失</a:t>
            </a:r>
            <a:r>
              <a:rPr lang="en-US" altLang="zh-CN" dirty="0"/>
              <a:t>5</a:t>
            </a:r>
            <a:r>
              <a:rPr lang="zh-CN" altLang="en-US" dirty="0"/>
              <a:t>亿美金）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7" b="13417"/>
          <a:stretch>
            <a:fillRect/>
          </a:stretch>
        </p:blipFill>
        <p:spPr bwMode="auto">
          <a:xfrm>
            <a:off x="539750" y="2060575"/>
            <a:ext cx="8207375" cy="450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557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Ariane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: 浮点溢出的高昂代价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7772400" cy="4419600"/>
          </a:xfrm>
        </p:spPr>
        <p:txBody>
          <a:bodyPr/>
          <a:lstStyle/>
          <a:p>
            <a:pPr lvl="1"/>
            <a:r>
              <a:rPr lang="zh-CN" altLang="en-US" dirty="0"/>
              <a:t>原因：导航系统向控制引擎喷嘴的计算机发送了一个无效数据，没有发送飞行控制信息，而是发送了一个诊断位模式，表明将</a:t>
            </a:r>
            <a:r>
              <a:rPr lang="en-US" altLang="zh-CN" dirty="0"/>
              <a:t>64</a:t>
            </a:r>
            <a:r>
              <a:rPr lang="zh-CN" altLang="en-US" dirty="0"/>
              <a:t>位浮点数转为</a:t>
            </a:r>
            <a:r>
              <a:rPr lang="en-US" altLang="zh-CN" dirty="0"/>
              <a:t>16</a:t>
            </a:r>
            <a:r>
              <a:rPr lang="zh-CN" altLang="en-US" dirty="0"/>
              <a:t>位有符号位时溢出；</a:t>
            </a:r>
            <a:endParaRPr lang="en-US" altLang="zh-CN" dirty="0"/>
          </a:p>
          <a:p>
            <a:pPr lvl="1"/>
            <a:r>
              <a:rPr lang="en-US" altLang="zh-CN" dirty="0" err="1"/>
              <a:t>Ariene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火箭的速度不会超过</a:t>
            </a:r>
            <a:r>
              <a:rPr lang="en-US" altLang="zh-CN" dirty="0"/>
              <a:t>16</a:t>
            </a:r>
            <a:r>
              <a:rPr lang="zh-CN" altLang="en-US" dirty="0"/>
              <a:t>位浮点数；</a:t>
            </a:r>
            <a:endParaRPr lang="en-US" altLang="zh-CN" dirty="0"/>
          </a:p>
          <a:p>
            <a:pPr lvl="1"/>
            <a:r>
              <a:rPr lang="en-US" altLang="zh-CN" dirty="0" err="1"/>
              <a:t>Ariene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速度比</a:t>
            </a:r>
            <a:r>
              <a:rPr lang="en-US" altLang="zh-CN" dirty="0" err="1"/>
              <a:t>Ariene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高出</a:t>
            </a:r>
            <a:r>
              <a:rPr lang="en-US" altLang="zh-CN" dirty="0"/>
              <a:t>5</a:t>
            </a:r>
            <a:r>
              <a:rPr lang="zh-CN" altLang="en-US" dirty="0"/>
              <a:t>倍，但直接重用了</a:t>
            </a:r>
            <a:r>
              <a:rPr lang="en-US" altLang="zh-CN" dirty="0" err="1"/>
              <a:t>Ariene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的代码；</a:t>
            </a:r>
            <a:endParaRPr lang="en-US" altLang="zh-CN" dirty="0"/>
          </a:p>
          <a:p>
            <a:pPr lvl="1"/>
            <a:r>
              <a:rPr lang="zh-CN" altLang="en-US" dirty="0"/>
              <a:t>将大的浮点数转换为整数是一种常见的程序错误来源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5894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/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8622976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in C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z="2400" dirty="0"/>
              <a:t>C Guarantees Two Levels</a:t>
            </a:r>
          </a:p>
          <a:p>
            <a:pPr marL="317500" lvl="1" indent="0"/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sz="2000" dirty="0"/>
              <a:t>	single precision</a:t>
            </a:r>
          </a:p>
          <a:p>
            <a:pPr marL="317500" lvl="1" indent="0"/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sz="2000" dirty="0"/>
              <a:t>	double precision</a:t>
            </a:r>
          </a:p>
          <a:p>
            <a:pPr>
              <a:spcBef>
                <a:spcPts val="1600"/>
              </a:spcBef>
            </a:pPr>
            <a:r>
              <a:rPr lang="en-US" sz="2400" dirty="0"/>
              <a:t>Conversions/Casting</a:t>
            </a:r>
          </a:p>
          <a:p>
            <a:pPr marL="317500" lvl="1" indent="0"/>
            <a:r>
              <a:rPr lang="en-US" sz="2000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/>
              <a:t>,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zh-CN" altLang="en-US" sz="2000" dirty="0"/>
              <a:t>和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zh-CN" altLang="en-US" sz="2000" dirty="0"/>
              <a:t>之间的转换会改变</a:t>
            </a:r>
            <a:r>
              <a:rPr lang="en-US" altLang="zh-CN" sz="2000" dirty="0"/>
              <a:t>bit</a:t>
            </a:r>
            <a:r>
              <a:rPr lang="zh-CN" altLang="en-US" sz="2000" dirty="0"/>
              <a:t>值</a:t>
            </a:r>
            <a:endParaRPr lang="en-US" sz="2000" dirty="0"/>
          </a:p>
          <a:p>
            <a:pPr marL="317500" lvl="1" indent="0"/>
            <a:r>
              <a:rPr lang="en-US" sz="2000" dirty="0"/>
              <a:t>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sz="2000" dirty="0"/>
              <a:t>/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sz="2000" dirty="0"/>
              <a:t> → </a:t>
            </a:r>
            <a:r>
              <a:rPr lang="en-US" sz="2000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endParaRPr lang="en-US" sz="2000" dirty="0"/>
          </a:p>
          <a:p>
            <a:pPr marL="838200" lvl="2"/>
            <a:r>
              <a:rPr lang="zh-CN" altLang="en-US" sz="1800" dirty="0"/>
              <a:t>去掉小数部分</a:t>
            </a:r>
            <a:endParaRPr lang="en-US" sz="1800" dirty="0"/>
          </a:p>
          <a:p>
            <a:pPr marL="838200" lvl="2"/>
            <a:r>
              <a:rPr lang="zh-CN" altLang="en-US" sz="1800" dirty="0"/>
              <a:t>向</a:t>
            </a:r>
            <a:r>
              <a:rPr lang="en-US" altLang="zh-CN" sz="1800" dirty="0"/>
              <a:t>0</a:t>
            </a:r>
            <a:r>
              <a:rPr lang="zh-CN" altLang="en-US" sz="1800" dirty="0"/>
              <a:t>舍入</a:t>
            </a:r>
            <a:endParaRPr lang="en-US" sz="1800" dirty="0"/>
          </a:p>
          <a:p>
            <a:pPr marL="838200" lvl="2"/>
            <a:r>
              <a:rPr lang="zh-CN" altLang="en-US" sz="1800" dirty="0"/>
              <a:t>当超过范围或</a:t>
            </a:r>
            <a:r>
              <a:rPr lang="en-US" altLang="zh-CN" sz="1800" dirty="0" err="1"/>
              <a:t>NaN</a:t>
            </a:r>
            <a:r>
              <a:rPr lang="zh-CN" altLang="en-US" sz="1800" dirty="0"/>
              <a:t>时没有定义，一般设为</a:t>
            </a:r>
            <a:r>
              <a:rPr lang="en-US" altLang="zh-CN" sz="1800" dirty="0" err="1"/>
              <a:t>Tmin</a:t>
            </a:r>
            <a:r>
              <a:rPr lang="zh-CN" altLang="en-US" sz="1800" dirty="0"/>
              <a:t>（可能过大整数得到负数</a:t>
            </a:r>
            <a:r>
              <a:rPr lang="en-US" altLang="zh-CN" sz="1800" dirty="0" err="1"/>
              <a:t>Tmin</a:t>
            </a:r>
            <a:r>
              <a:rPr lang="zh-CN" altLang="en-US" sz="1800" dirty="0"/>
              <a:t>）</a:t>
            </a:r>
            <a:endParaRPr lang="en-US" sz="1800" dirty="0"/>
          </a:p>
          <a:p>
            <a:pPr marL="317500" lvl="1" indent="0"/>
            <a:r>
              <a:rPr lang="en-US" sz="2000" dirty="0"/>
              <a:t> </a:t>
            </a:r>
            <a:r>
              <a:rPr lang="en-US" sz="2000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/>
              <a:t> →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endParaRPr lang="en-US" sz="2000" dirty="0"/>
          </a:p>
          <a:p>
            <a:pPr marL="838200" lvl="2"/>
            <a:r>
              <a:rPr lang="zh-CN" altLang="en-US" sz="1800" dirty="0"/>
              <a:t>精确的转换，</a:t>
            </a:r>
            <a:r>
              <a:rPr lang="en-US" altLang="zh-CN" sz="1800" dirty="0" err="1"/>
              <a:t>int</a:t>
            </a:r>
            <a:r>
              <a:rPr lang="zh-CN" altLang="en-US" sz="1800" dirty="0"/>
              <a:t>数值</a:t>
            </a:r>
            <a:r>
              <a:rPr lang="en-US" altLang="zh-CN" sz="1800" dirty="0"/>
              <a:t> &lt; 53 bit </a:t>
            </a:r>
            <a:endParaRPr lang="en-US" sz="1800" dirty="0"/>
          </a:p>
          <a:p>
            <a:pPr marL="317500" lvl="1" indent="0"/>
            <a:r>
              <a:rPr lang="en-US" sz="2000" dirty="0"/>
              <a:t> </a:t>
            </a:r>
            <a:r>
              <a:rPr lang="en-US" sz="2000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/>
              <a:t> → </a:t>
            </a:r>
            <a:r>
              <a:rPr lang="en-US" sz="2000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endParaRPr lang="en-US" sz="2000" dirty="0"/>
          </a:p>
          <a:p>
            <a:pPr marL="838200" lvl="2"/>
            <a:r>
              <a:rPr lang="zh-CN" altLang="en-US" sz="1800" dirty="0"/>
              <a:t>按照舍入模式来进行舍入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71720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 Point</a:t>
            </a:r>
            <a:r>
              <a:rPr lang="zh-CN" altLang="en-US" dirty="0"/>
              <a:t> </a:t>
            </a:r>
            <a:r>
              <a:rPr lang="en-US" altLang="zh-CN" dirty="0"/>
              <a:t>Comparison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不能用</a:t>
            </a:r>
            <a:r>
              <a:rPr kumimoji="1" lang="en-US" altLang="zh-CN" dirty="0"/>
              <a:t>==, !=</a:t>
            </a:r>
            <a:r>
              <a:rPr kumimoji="1" lang="zh-CN" altLang="en-US" dirty="0"/>
              <a:t>判定浮点数相等或不等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0.1</a:t>
            </a:r>
            <a:r>
              <a:rPr kumimoji="1" lang="zh-CN" altLang="en-US" dirty="0"/>
              <a:t>这样</a:t>
            </a:r>
            <a:r>
              <a:rPr kumimoji="1" lang="en-US" altLang="zh-CN" dirty="0"/>
              <a:t>10</a:t>
            </a:r>
            <a:r>
              <a:rPr kumimoji="1" lang="zh-CN" altLang="en-US" dirty="0"/>
              <a:t>进展整齐的数在二进制下可能无法精确表示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要进行近似；而且数字在处理几次之后，会得到一些误差（舍入导致）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所以，可能两个</a:t>
            </a:r>
            <a:r>
              <a:rPr kumimoji="1" lang="en-US" altLang="zh-CN" dirty="0"/>
              <a:t>0.1</a:t>
            </a:r>
            <a:r>
              <a:rPr kumimoji="1" lang="zh-CN" altLang="en-US" dirty="0"/>
              <a:t>的二进制的表达不完全一样</a:t>
            </a:r>
            <a:endParaRPr kumimoji="1" lang="en-US" altLang="zh-CN" dirty="0"/>
          </a:p>
          <a:p>
            <a:r>
              <a:rPr kumimoji="1" lang="zh-CN" altLang="en-US" dirty="0"/>
              <a:t>采用</a:t>
            </a:r>
            <a:r>
              <a:rPr kumimoji="1" lang="en-US" altLang="zh-CN" dirty="0" err="1"/>
              <a:t>fabs</a:t>
            </a:r>
            <a:r>
              <a:rPr kumimoji="1" lang="en-US" altLang="zh-CN" dirty="0"/>
              <a:t>(f1-f2) &lt;= precision</a:t>
            </a:r>
          </a:p>
          <a:p>
            <a:pPr lvl="1"/>
            <a:r>
              <a:rPr kumimoji="1" lang="en-US" altLang="zh-CN" dirty="0"/>
              <a:t>precision</a:t>
            </a:r>
            <a:r>
              <a:rPr kumimoji="1" lang="zh-CN" altLang="en-US" dirty="0"/>
              <a:t>为自己预设的精度，如</a:t>
            </a:r>
            <a:r>
              <a:rPr kumimoji="1" lang="en-US" altLang="zh-CN" dirty="0"/>
              <a:t>1e-6</a:t>
            </a:r>
          </a:p>
          <a:p>
            <a:r>
              <a:rPr kumimoji="1" lang="zh-CN" altLang="en-US" dirty="0"/>
              <a:t>但以上</a:t>
            </a:r>
            <a:r>
              <a:rPr kumimoji="1" lang="en-US" altLang="zh-CN" dirty="0"/>
              <a:t>precision</a:t>
            </a:r>
            <a:r>
              <a:rPr kumimoji="1" lang="zh-CN" altLang="en-US" dirty="0"/>
              <a:t>是绝对精度，如果浮点数非常大，可能用</a:t>
            </a:r>
            <a:r>
              <a:rPr kumimoji="1" lang="en-US" altLang="zh-CN" dirty="0"/>
              <a:t>1e-6</a:t>
            </a:r>
            <a:r>
              <a:rPr kumimoji="1" lang="zh-CN" altLang="en-US" dirty="0"/>
              <a:t>就不合适了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应该用相对精度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5463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 Point</a:t>
            </a:r>
            <a:r>
              <a:rPr lang="zh-CN" altLang="en-US" dirty="0"/>
              <a:t> </a:t>
            </a:r>
            <a:r>
              <a:rPr lang="en-US" altLang="zh-CN" dirty="0"/>
              <a:t>Comparison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419600"/>
          </a:xfrm>
        </p:spPr>
        <p:txBody>
          <a:bodyPr/>
          <a:lstStyle/>
          <a:p>
            <a:pPr latinLnBrk="1"/>
            <a:r>
              <a:rPr lang="zh-CN" altLang="en-US" dirty="0"/>
              <a:t>相对误差和绝对误差结合的方式</a:t>
            </a:r>
            <a:endParaRPr lang="en-US" altLang="zh-CN" dirty="0"/>
          </a:p>
          <a:p>
            <a:pPr lvl="1" latinLnBrk="1"/>
            <a:r>
              <a:rPr lang="en-US" altLang="zh-CN" sz="2000" dirty="0"/>
              <a:t>bool </a:t>
            </a:r>
            <a:r>
              <a:rPr lang="en-US" altLang="zh-CN" sz="2000" dirty="0" err="1"/>
              <a:t>IsEqual</a:t>
            </a:r>
            <a:r>
              <a:rPr lang="en-US" altLang="zh-CN" sz="2000" dirty="0"/>
              <a:t>(float a, float b, float </a:t>
            </a:r>
            <a:r>
              <a:rPr lang="en-US" altLang="zh-CN" sz="2000" dirty="0" err="1"/>
              <a:t>absError</a:t>
            </a:r>
            <a:r>
              <a:rPr lang="en-US" altLang="zh-CN" sz="2000" dirty="0"/>
              <a:t>, float </a:t>
            </a:r>
            <a:r>
              <a:rPr lang="en-US" altLang="zh-CN" sz="2000" dirty="0" err="1"/>
              <a:t>relError</a:t>
            </a:r>
            <a:r>
              <a:rPr lang="en-US" altLang="zh-CN" sz="2000" dirty="0"/>
              <a:t> )</a:t>
            </a:r>
            <a:r>
              <a:rPr lang="zh-CN" altLang="en-US" sz="2000" dirty="0"/>
              <a:t> </a:t>
            </a:r>
            <a:r>
              <a:rPr lang="en-US" altLang="zh-CN" sz="2000" dirty="0"/>
              <a:t>{</a:t>
            </a:r>
          </a:p>
          <a:p>
            <a:pPr lvl="1" latinLnBrk="1"/>
            <a:r>
              <a:rPr lang="en-US" altLang="zh-CN" sz="2000" dirty="0"/>
              <a:t>         if (a==b) return true;</a:t>
            </a:r>
          </a:p>
          <a:p>
            <a:pPr lvl="1" latinLnBrk="1"/>
            <a:r>
              <a:rPr lang="en-US" altLang="zh-CN" sz="2000" dirty="0"/>
              <a:t>        if (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(a-b)&lt;</a:t>
            </a:r>
            <a:r>
              <a:rPr lang="en-US" altLang="zh-CN" sz="2000" dirty="0" err="1"/>
              <a:t>absError</a:t>
            </a:r>
            <a:r>
              <a:rPr lang="en-US" altLang="zh-CN" sz="2000" dirty="0"/>
              <a:t> ) return true;</a:t>
            </a:r>
          </a:p>
          <a:p>
            <a:pPr lvl="1" latinLnBrk="1"/>
            <a:r>
              <a:rPr lang="en-US" altLang="zh-CN" sz="2000" dirty="0"/>
              <a:t>        if (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(a)&lt;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(b)) return  (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((a-b</a:t>
            </a:r>
            <a:r>
              <a:rPr lang="en-US" altLang="zh-CN" sz="2000"/>
              <a:t>)/a)&lt;</a:t>
            </a:r>
            <a:r>
              <a:rPr lang="en-US" altLang="zh-CN" sz="2000" dirty="0" err="1"/>
              <a:t>relError</a:t>
            </a:r>
            <a:r>
              <a:rPr lang="en-US" altLang="zh-CN" sz="2000" dirty="0"/>
              <a:t> ) ? true : false;</a:t>
            </a:r>
          </a:p>
          <a:p>
            <a:pPr lvl="1" latinLnBrk="1"/>
            <a:r>
              <a:rPr lang="en-US" altLang="zh-CN" sz="2000" dirty="0"/>
              <a:t>       return  (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((a-b)/b&lt;</a:t>
            </a:r>
            <a:r>
              <a:rPr lang="en-US" altLang="zh-CN" sz="2000" dirty="0" err="1"/>
              <a:t>relError</a:t>
            </a:r>
            <a:r>
              <a:rPr lang="en-US" altLang="zh-CN" sz="2000" dirty="0"/>
              <a:t> ) ? true : false;</a:t>
            </a:r>
          </a:p>
          <a:p>
            <a:pPr lvl="1" latinLnBrk="1"/>
            <a:r>
              <a:rPr lang="en-US" altLang="zh-CN" sz="2000" dirty="0"/>
              <a:t>}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6437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 Point</a:t>
            </a:r>
            <a:r>
              <a:rPr lang="zh-CN" altLang="en-US" dirty="0"/>
              <a:t> </a:t>
            </a:r>
            <a:r>
              <a:rPr lang="en-US" altLang="zh-CN" dirty="0"/>
              <a:t>Comparison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76800"/>
          </a:xfrm>
        </p:spPr>
        <p:txBody>
          <a:bodyPr/>
          <a:lstStyle/>
          <a:p>
            <a:r>
              <a:rPr kumimoji="1" lang="en-US" altLang="zh-CN" dirty="0"/>
              <a:t>Float</a:t>
            </a:r>
            <a:r>
              <a:rPr kumimoji="1" lang="zh-CN" altLang="en-US" dirty="0"/>
              <a:t>的二进制串按照</a:t>
            </a:r>
            <a:r>
              <a:rPr kumimoji="1" lang="en-US" altLang="zh-CN" dirty="0" err="1"/>
              <a:t>int</a:t>
            </a:r>
            <a:r>
              <a:rPr kumimoji="1" lang="zh-CN" altLang="en-US" dirty="0"/>
              <a:t>理解进行比较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覆盖了绝对误差和相对误差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因为阶码不相等，一般</a:t>
            </a:r>
            <a:r>
              <a:rPr kumimoji="1" lang="en-US" altLang="zh-CN" dirty="0"/>
              <a:t>i1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i2</a:t>
            </a:r>
            <a:r>
              <a:rPr kumimoji="1" lang="zh-CN" altLang="en-US" dirty="0"/>
              <a:t>的差值很大</a:t>
            </a:r>
            <a:endParaRPr kumimoji="1" lang="en-US" altLang="zh-CN" dirty="0"/>
          </a:p>
          <a:p>
            <a:pPr lvl="1" latinLnBrk="1"/>
            <a:r>
              <a:rPr lang="de-DE" altLang="zh-CN" sz="2000" dirty="0" err="1"/>
              <a:t>bool</a:t>
            </a:r>
            <a:r>
              <a:rPr lang="de-DE" altLang="zh-CN" sz="2000" dirty="0"/>
              <a:t> </a:t>
            </a:r>
            <a:r>
              <a:rPr lang="de-DE" altLang="zh-CN" sz="2000" dirty="0" err="1"/>
              <a:t>IsEqual</a:t>
            </a:r>
            <a:r>
              <a:rPr lang="de-DE" altLang="zh-CN" sz="2000" dirty="0"/>
              <a:t>(</a:t>
            </a:r>
            <a:r>
              <a:rPr lang="de-DE" altLang="zh-CN" sz="2000" dirty="0" err="1"/>
              <a:t>float</a:t>
            </a:r>
            <a:r>
              <a:rPr lang="de-DE" altLang="zh-CN" sz="2000" dirty="0"/>
              <a:t> f1, </a:t>
            </a:r>
            <a:r>
              <a:rPr lang="de-DE" altLang="zh-CN" sz="2000" dirty="0" err="1"/>
              <a:t>float</a:t>
            </a:r>
            <a:r>
              <a:rPr lang="de-DE" altLang="zh-CN" sz="2000" dirty="0"/>
              <a:t> f2, </a:t>
            </a:r>
            <a:r>
              <a:rPr lang="de-DE" altLang="zh-CN" sz="2000" dirty="0" err="1"/>
              <a:t>int</a:t>
            </a:r>
            <a:r>
              <a:rPr lang="de-DE" altLang="zh-CN" sz="2000" dirty="0"/>
              <a:t> </a:t>
            </a:r>
            <a:r>
              <a:rPr lang="de-DE" altLang="zh-CN" sz="2000" dirty="0" err="1"/>
              <a:t>absDelta</a:t>
            </a:r>
            <a:r>
              <a:rPr lang="de-DE" altLang="zh-CN" sz="2000" dirty="0"/>
              <a:t>)</a:t>
            </a:r>
          </a:p>
          <a:p>
            <a:pPr lvl="1" latinLnBrk="1"/>
            <a:r>
              <a:rPr lang="de-DE" altLang="zh-CN" sz="2000" dirty="0"/>
              <a:t>{</a:t>
            </a:r>
          </a:p>
          <a:p>
            <a:pPr lvl="1" latinLnBrk="1"/>
            <a:r>
              <a:rPr lang="de-DE" altLang="zh-CN" sz="2000" dirty="0"/>
              <a:t>       </a:t>
            </a:r>
            <a:r>
              <a:rPr lang="de-DE" altLang="zh-CN" sz="2000" dirty="0" err="1"/>
              <a:t>int</a:t>
            </a:r>
            <a:r>
              <a:rPr lang="de-DE" altLang="zh-CN" sz="2000" dirty="0"/>
              <a:t> i1, i2;</a:t>
            </a:r>
          </a:p>
          <a:p>
            <a:pPr lvl="1" latinLnBrk="1"/>
            <a:r>
              <a:rPr lang="de-DE" altLang="zh-CN" sz="2000" dirty="0"/>
              <a:t>       i1 = * (</a:t>
            </a:r>
            <a:r>
              <a:rPr lang="de-DE" altLang="zh-CN" sz="2000" dirty="0" err="1"/>
              <a:t>int</a:t>
            </a:r>
            <a:r>
              <a:rPr lang="de-DE" altLang="zh-CN" sz="2000" dirty="0"/>
              <a:t>*) &amp;f1;</a:t>
            </a:r>
          </a:p>
          <a:p>
            <a:pPr lvl="1" latinLnBrk="1"/>
            <a:r>
              <a:rPr lang="de-DE" altLang="zh-CN" sz="2000" dirty="0"/>
              <a:t>       </a:t>
            </a:r>
            <a:r>
              <a:rPr lang="de-DE" altLang="zh-CN" sz="2000" dirty="0" err="1"/>
              <a:t>memcpy</a:t>
            </a:r>
            <a:r>
              <a:rPr lang="de-DE" altLang="zh-CN" sz="2000" dirty="0"/>
              <a:t>(&amp;i2, &amp;f2, </a:t>
            </a:r>
            <a:r>
              <a:rPr lang="de-DE" altLang="zh-CN" sz="2000" dirty="0" err="1"/>
              <a:t>sizeof</a:t>
            </a:r>
            <a:r>
              <a:rPr lang="de-DE" altLang="zh-CN" sz="2000" dirty="0"/>
              <a:t>(</a:t>
            </a:r>
            <a:r>
              <a:rPr lang="de-DE" altLang="zh-CN" sz="2000" dirty="0" err="1"/>
              <a:t>float</a:t>
            </a:r>
            <a:r>
              <a:rPr lang="de-DE" altLang="zh-CN" sz="2000" dirty="0"/>
              <a:t>));</a:t>
            </a:r>
          </a:p>
          <a:p>
            <a:pPr lvl="1" latinLnBrk="1"/>
            <a:r>
              <a:rPr lang="de-DE" altLang="zh-CN" sz="2000" dirty="0"/>
              <a:t>       </a:t>
            </a:r>
            <a:r>
              <a:rPr lang="de-DE" altLang="zh-CN" sz="2000" dirty="0" err="1"/>
              <a:t>int</a:t>
            </a:r>
            <a:r>
              <a:rPr lang="de-DE" altLang="zh-CN" sz="2000" dirty="0"/>
              <a:t> </a:t>
            </a:r>
            <a:r>
              <a:rPr lang="de-DE" altLang="zh-CN" sz="2000" dirty="0" err="1"/>
              <a:t>mask</a:t>
            </a:r>
            <a:r>
              <a:rPr lang="de-DE" altLang="zh-CN" sz="2000" dirty="0"/>
              <a:t> = 1&lt;&lt;31;</a:t>
            </a:r>
          </a:p>
          <a:p>
            <a:pPr lvl="1" latinLnBrk="1"/>
            <a:r>
              <a:rPr lang="de-DE" altLang="zh-CN" sz="2000" dirty="0"/>
              <a:t>       </a:t>
            </a:r>
            <a:r>
              <a:rPr lang="de-DE" altLang="zh-CN" sz="2000" dirty="0" err="1"/>
              <a:t>return</a:t>
            </a:r>
            <a:r>
              <a:rPr lang="de-DE" altLang="zh-CN" sz="2000" dirty="0"/>
              <a:t>   ((</a:t>
            </a:r>
            <a:r>
              <a:rPr lang="de-DE" altLang="zh-CN" sz="2000" dirty="0" err="1"/>
              <a:t>abs</a:t>
            </a:r>
            <a:r>
              <a:rPr lang="de-DE" altLang="zh-CN" sz="2000" dirty="0"/>
              <a:t>(i1-i2)</a:t>
            </a:r>
            <a:r>
              <a:rPr lang="en-US" altLang="zh-CN" sz="2000" dirty="0"/>
              <a:t>&amp;</a:t>
            </a:r>
            <a:r>
              <a:rPr lang="de-DE" altLang="zh-CN" sz="2000" dirty="0"/>
              <a:t>~</a:t>
            </a:r>
            <a:r>
              <a:rPr lang="de-DE" altLang="zh-CN" sz="2000" dirty="0" err="1"/>
              <a:t>mask</a:t>
            </a:r>
            <a:r>
              <a:rPr lang="de-DE" altLang="zh-CN" sz="2000" dirty="0"/>
              <a:t>)&lt;</a:t>
            </a:r>
            <a:r>
              <a:rPr lang="de-DE" altLang="zh-CN" sz="2000" dirty="0" err="1"/>
              <a:t>absDelta</a:t>
            </a:r>
            <a:r>
              <a:rPr lang="de-DE" altLang="zh-CN" sz="2000" dirty="0"/>
              <a:t>) ? </a:t>
            </a:r>
            <a:r>
              <a:rPr lang="de-DE" altLang="zh-CN" sz="2000" dirty="0" err="1"/>
              <a:t>true</a:t>
            </a:r>
            <a:r>
              <a:rPr lang="de-DE" altLang="zh-CN" sz="2000" dirty="0"/>
              <a:t> : </a:t>
            </a:r>
            <a:r>
              <a:rPr lang="de-DE" altLang="zh-CN" sz="2000" dirty="0" err="1"/>
              <a:t>false</a:t>
            </a:r>
            <a:r>
              <a:rPr lang="de-DE" altLang="zh-CN" sz="2000" dirty="0"/>
              <a:t>;</a:t>
            </a:r>
          </a:p>
          <a:p>
            <a:pPr lvl="1" latinLnBrk="1"/>
            <a:r>
              <a:rPr lang="de-DE" altLang="zh-CN" sz="2000" dirty="0"/>
              <a:t>}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11313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Summary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zh-CN" sz="2400" dirty="0"/>
              <a:t>IEEE</a:t>
            </a:r>
            <a:r>
              <a:rPr lang="zh-CN" altLang="en-US" sz="2400" dirty="0"/>
              <a:t>浮点数标准有清晰的数学属性</a:t>
            </a:r>
            <a:endParaRPr lang="en-US" sz="2400" dirty="0"/>
          </a:p>
          <a:p>
            <a:r>
              <a:rPr lang="zh-CN" altLang="en-US" sz="2400" dirty="0"/>
              <a:t>浮点数表示数字的形式是</a:t>
            </a:r>
            <a:r>
              <a:rPr lang="en-US" sz="2400" dirty="0"/>
              <a:t> M x 2</a:t>
            </a:r>
            <a:r>
              <a:rPr lang="en-US" sz="2400" baseline="32000" dirty="0"/>
              <a:t>E</a:t>
            </a:r>
            <a:endParaRPr lang="en-US" sz="2400" dirty="0"/>
          </a:p>
          <a:p>
            <a:r>
              <a:rPr lang="zh-CN" altLang="en-US" sz="2400" dirty="0"/>
              <a:t>和实数代数不一样</a:t>
            </a:r>
            <a:endParaRPr lang="en-US" altLang="zh-CN" sz="2400" dirty="0"/>
          </a:p>
          <a:p>
            <a:pPr lvl="1"/>
            <a:r>
              <a:rPr lang="zh-CN" altLang="en-US" sz="2000" dirty="0"/>
              <a:t>违反结合率和分配率</a:t>
            </a:r>
            <a:endParaRPr lang="en-US" altLang="zh-CN" sz="2000" dirty="0"/>
          </a:p>
          <a:p>
            <a:pPr lvl="1"/>
            <a:r>
              <a:rPr lang="zh-CN" altLang="en-US" sz="2000" dirty="0"/>
              <a:t>使</a:t>
            </a:r>
            <a:r>
              <a:rPr lang="en-US" altLang="zh-CN" sz="2000" dirty="0"/>
              <a:t>compiler</a:t>
            </a:r>
            <a:r>
              <a:rPr lang="zh-CN" altLang="en-US" sz="2000" dirty="0"/>
              <a:t>和一些严格的计算型应用程序很难做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8943558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11700</TotalTime>
  <Words>3476</Words>
  <Application>Microsoft Macintosh PowerPoint</Application>
  <PresentationFormat>全屏显示(4:3)</PresentationFormat>
  <Paragraphs>617</Paragraphs>
  <Slides>47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7" baseType="lpstr">
      <vt:lpstr>SimHei</vt:lpstr>
      <vt:lpstr>宋体</vt:lpstr>
      <vt:lpstr>Arial Narrow Bold Italic</vt:lpstr>
      <vt:lpstr>Calibri Bold</vt:lpstr>
      <vt:lpstr>Calibri Bold Italic</vt:lpstr>
      <vt:lpstr>Calibri Italic</vt:lpstr>
      <vt:lpstr>Times</vt:lpstr>
      <vt:lpstr>Apple Symbols</vt:lpstr>
      <vt:lpstr>Arial Narrow Bold</vt:lpstr>
      <vt:lpstr>Calibri</vt:lpstr>
      <vt:lpstr>Comic Sans MS</vt:lpstr>
      <vt:lpstr>Courier New</vt:lpstr>
      <vt:lpstr>Courier New Bold</vt:lpstr>
      <vt:lpstr>Monaco</vt:lpstr>
      <vt:lpstr>Symbol</vt:lpstr>
      <vt:lpstr>Times New Roman</vt:lpstr>
      <vt:lpstr>Wingdings</vt:lpstr>
      <vt:lpstr>Wingdings 2</vt:lpstr>
      <vt:lpstr>icfp99</vt:lpstr>
      <vt:lpstr>Worksheet</vt:lpstr>
      <vt:lpstr>信息的表示和处理(4)</vt:lpstr>
      <vt:lpstr>Floating Point</vt:lpstr>
      <vt:lpstr>Outline</vt:lpstr>
      <vt:lpstr>Fractional binary numbers</vt:lpstr>
      <vt:lpstr>Fractional Binary Numbers</vt:lpstr>
      <vt:lpstr>Fractional Binary Numbers: Examples</vt:lpstr>
      <vt:lpstr>Representable Numbers</vt:lpstr>
      <vt:lpstr>Today: Floating Point</vt:lpstr>
      <vt:lpstr>IEEE Floating Point</vt:lpstr>
      <vt:lpstr>Floating Point Representation</vt:lpstr>
      <vt:lpstr>Floating Point Representation</vt:lpstr>
      <vt:lpstr>Precision options</vt:lpstr>
      <vt:lpstr>浮点数编码</vt:lpstr>
      <vt:lpstr>“Normalized” Values(规格化)</vt:lpstr>
      <vt:lpstr>Normalized Encoding Example</vt:lpstr>
      <vt:lpstr>Denormalized Values (非规格化)</vt:lpstr>
      <vt:lpstr>Special Values</vt:lpstr>
      <vt:lpstr>Visualization: Floating Point Encodings</vt:lpstr>
      <vt:lpstr>Today: Floating Point</vt:lpstr>
      <vt:lpstr>Tiny Floating Point Example</vt:lpstr>
      <vt:lpstr>Dynamic Range (Positive Only)</vt:lpstr>
      <vt:lpstr>Distribution of Values</vt:lpstr>
      <vt:lpstr>Distribution of Values (close-up view)</vt:lpstr>
      <vt:lpstr>Special Properties of the IEEE Encoding</vt:lpstr>
      <vt:lpstr>Creating Floating Point Number</vt:lpstr>
      <vt:lpstr>Normalize</vt:lpstr>
      <vt:lpstr>Rounding</vt:lpstr>
      <vt:lpstr>Postnormalize</vt:lpstr>
      <vt:lpstr>Interesting Numbers</vt:lpstr>
      <vt:lpstr>Today: Floating Point</vt:lpstr>
      <vt:lpstr>Floating Point Operations: Basic Idea</vt:lpstr>
      <vt:lpstr>Rounding</vt:lpstr>
      <vt:lpstr>Closer Look at Round-To-Even</vt:lpstr>
      <vt:lpstr>Rounding Binary Numbers</vt:lpstr>
      <vt:lpstr>Floating Point Multiplication</vt:lpstr>
      <vt:lpstr>Floating Point Addition</vt:lpstr>
      <vt:lpstr>Mathematical Properties of FP Add</vt:lpstr>
      <vt:lpstr>Mathematical Properties of FP Add</vt:lpstr>
      <vt:lpstr>Mathematical Properties of FP Mult</vt:lpstr>
      <vt:lpstr>Ariane 5: 浮点溢出的高昂代价</vt:lpstr>
      <vt:lpstr>Ariane 5: 浮点溢出的高昂代价</vt:lpstr>
      <vt:lpstr>Today: Floating Point</vt:lpstr>
      <vt:lpstr>Floating Point in C</vt:lpstr>
      <vt:lpstr>Floating Point Comparison</vt:lpstr>
      <vt:lpstr>Floating Point Comparison</vt:lpstr>
      <vt:lpstr>Floating Point Comparison</vt:lpstr>
      <vt:lpstr>Summary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7025</cp:lastModifiedBy>
  <cp:revision>846</cp:revision>
  <dcterms:created xsi:type="dcterms:W3CDTF">2000-01-15T07:54:11Z</dcterms:created>
  <dcterms:modified xsi:type="dcterms:W3CDTF">2024-09-30T05:51:27Z</dcterms:modified>
</cp:coreProperties>
</file>