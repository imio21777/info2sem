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8"/>
  </p:notesMasterIdLst>
  <p:handoutMasterIdLst>
    <p:handoutMasterId r:id="rId89"/>
  </p:handoutMasterIdLst>
  <p:sldIdLst>
    <p:sldId id="1145" r:id="rId2"/>
    <p:sldId id="455" r:id="rId3"/>
    <p:sldId id="605" r:id="rId4"/>
    <p:sldId id="883" r:id="rId5"/>
    <p:sldId id="882" r:id="rId6"/>
    <p:sldId id="885" r:id="rId7"/>
    <p:sldId id="890" r:id="rId8"/>
    <p:sldId id="893" r:id="rId9"/>
    <p:sldId id="892" r:id="rId10"/>
    <p:sldId id="825" r:id="rId11"/>
    <p:sldId id="994" r:id="rId12"/>
    <p:sldId id="896" r:id="rId13"/>
    <p:sldId id="895" r:id="rId14"/>
    <p:sldId id="995" r:id="rId15"/>
    <p:sldId id="996" r:id="rId16"/>
    <p:sldId id="997" r:id="rId17"/>
    <p:sldId id="998" r:id="rId18"/>
    <p:sldId id="1082" r:id="rId19"/>
    <p:sldId id="999" r:id="rId20"/>
    <p:sldId id="1000" r:id="rId21"/>
    <p:sldId id="1001" r:id="rId22"/>
    <p:sldId id="1002" r:id="rId23"/>
    <p:sldId id="1003" r:id="rId24"/>
    <p:sldId id="1004" r:id="rId25"/>
    <p:sldId id="1005" r:id="rId26"/>
    <p:sldId id="1006" r:id="rId27"/>
    <p:sldId id="1007" r:id="rId28"/>
    <p:sldId id="1008" r:id="rId29"/>
    <p:sldId id="1009" r:id="rId30"/>
    <p:sldId id="1010" r:id="rId31"/>
    <p:sldId id="1011" r:id="rId32"/>
    <p:sldId id="1012" r:id="rId33"/>
    <p:sldId id="1013" r:id="rId34"/>
    <p:sldId id="1014" r:id="rId35"/>
    <p:sldId id="1015" r:id="rId36"/>
    <p:sldId id="1016" r:id="rId37"/>
    <p:sldId id="1146" r:id="rId38"/>
    <p:sldId id="1017" r:id="rId39"/>
    <p:sldId id="1083" r:id="rId40"/>
    <p:sldId id="1084" r:id="rId41"/>
    <p:sldId id="1149" r:id="rId42"/>
    <p:sldId id="1150" r:id="rId43"/>
    <p:sldId id="1085" r:id="rId44"/>
    <p:sldId id="1086" r:id="rId45"/>
    <p:sldId id="1089" r:id="rId46"/>
    <p:sldId id="1090" r:id="rId47"/>
    <p:sldId id="1091" r:id="rId48"/>
    <p:sldId id="1092" r:id="rId49"/>
    <p:sldId id="1093" r:id="rId50"/>
    <p:sldId id="1094" r:id="rId51"/>
    <p:sldId id="1095" r:id="rId52"/>
    <p:sldId id="1096" r:id="rId53"/>
    <p:sldId id="1097" r:id="rId54"/>
    <p:sldId id="1098" r:id="rId55"/>
    <p:sldId id="1099" r:id="rId56"/>
    <p:sldId id="1100" r:id="rId57"/>
    <p:sldId id="1101" r:id="rId58"/>
    <p:sldId id="1102" r:id="rId59"/>
    <p:sldId id="1103" r:id="rId60"/>
    <p:sldId id="1104" r:id="rId61"/>
    <p:sldId id="1105" r:id="rId62"/>
    <p:sldId id="1106" r:id="rId63"/>
    <p:sldId id="1107" r:id="rId64"/>
    <p:sldId id="1108" r:id="rId65"/>
    <p:sldId id="1109" r:id="rId66"/>
    <p:sldId id="1110" r:id="rId67"/>
    <p:sldId id="1111" r:id="rId68"/>
    <p:sldId id="1112" r:id="rId69"/>
    <p:sldId id="1113" r:id="rId70"/>
    <p:sldId id="1114" r:id="rId71"/>
    <p:sldId id="1115" r:id="rId72"/>
    <p:sldId id="1116" r:id="rId73"/>
    <p:sldId id="1117" r:id="rId74"/>
    <p:sldId id="1118" r:id="rId75"/>
    <p:sldId id="1119" r:id="rId76"/>
    <p:sldId id="1120" r:id="rId77"/>
    <p:sldId id="1121" r:id="rId78"/>
    <p:sldId id="1122" r:id="rId79"/>
    <p:sldId id="1123" r:id="rId80"/>
    <p:sldId id="1154" r:id="rId81"/>
    <p:sldId id="1155" r:id="rId82"/>
    <p:sldId id="1156" r:id="rId83"/>
    <p:sldId id="1157" r:id="rId84"/>
    <p:sldId id="1158" r:id="rId85"/>
    <p:sldId id="1159" r:id="rId86"/>
    <p:sldId id="1160" r:id="rId8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000000"/>
        </a:solidFill>
        <a:latin typeface="Times New Roman" charset="0"/>
        <a:ea typeface="宋体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000000"/>
        </a:solidFill>
        <a:latin typeface="Times New Roman" charset="0"/>
        <a:ea typeface="宋体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000000"/>
        </a:solidFill>
        <a:latin typeface="Times New Roman" charset="0"/>
        <a:ea typeface="宋体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000000"/>
        </a:solidFill>
        <a:latin typeface="Times New Roman" charset="0"/>
        <a:ea typeface="宋体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rgbClr val="000000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000000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000000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000000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000000"/>
        </a:solidFill>
        <a:latin typeface="Times New Roman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20"/>
    <a:srgbClr val="FF8020"/>
    <a:srgbClr val="FF6000"/>
    <a:srgbClr val="FF5000"/>
    <a:srgbClr val="FF4000"/>
    <a:srgbClr val="FF6400"/>
    <a:srgbClr val="FF7F00"/>
    <a:srgbClr val="F2D1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7" autoAdjust="0"/>
    <p:restoredTop sz="82177" autoAdjust="0"/>
  </p:normalViewPr>
  <p:slideViewPr>
    <p:cSldViewPr>
      <p:cViewPr varScale="1">
        <p:scale>
          <a:sx n="104" d="100"/>
          <a:sy n="104" d="100"/>
        </p:scale>
        <p:origin x="223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5A495E-6EED-8B41-8AC2-638116AAC848}" type="datetimeFigureOut">
              <a:rPr lang="zh-CN" altLang="en-US"/>
              <a:pPr>
                <a:defRPr/>
              </a:pPr>
              <a:t>2024/11/11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D3A2609-4ADB-894D-8549-9B0A69E6C16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AB2E9FA-B6B1-3C43-A29B-B558DC597C2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C3782075-D00C-3047-B3D0-01A01C64C04B}" type="slidenum">
              <a:rPr lang="zh-CN" altLang="en-US" sz="1200" b="0">
                <a:latin typeface="Times New Roman" charset="0"/>
              </a:rPr>
              <a:pPr/>
              <a:t>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799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C51B5C73-A4AA-6647-8AFF-B425D79A5000}" type="slidenum">
              <a:rPr lang="zh-CN" altLang="en-US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74CA066A-3C48-8942-A713-19B8FB4A8E2B}" type="slidenum">
              <a:rPr lang="zh-CN" altLang="en-US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E753BD3D-0221-8A40-8AD2-E76457935AE6}" type="slidenum">
              <a:rPr lang="zh-CN" altLang="en-US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CE66D7CD-1AC9-DB42-B358-2360BEE30E55}" type="slidenum">
              <a:rPr lang="zh-CN" altLang="en-US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219787A1-CF90-E747-AAB7-60650ACBB640}" type="slidenum">
              <a:rPr lang="zh-CN" altLang="en-US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BA7D416D-B3A1-BD41-AA66-EB0382995E6A}" type="slidenum">
              <a:rPr lang="zh-CN" altLang="en-US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CC5E6871-652A-EE43-8741-DCA7DB587C68}" type="slidenum">
              <a:rPr lang="zh-CN" altLang="en-US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B9C0C680-F593-EE40-821A-0219AFA4E328}" type="slidenum">
              <a:rPr lang="zh-CN" altLang="en-US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EF04A77E-B5B3-BA4D-8668-1A8D61193111}" type="slidenum">
              <a:rPr lang="zh-CN" altLang="en-US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BF31ADFC-03D3-C047-9BE3-08C5156768CF}" type="slidenum">
              <a:rPr lang="zh-CN" altLang="en-US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9CF26FDB-9054-E64D-A8B4-79D332A664C4}" type="slidenum">
              <a:rPr lang="zh-CN" altLang="en-US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CE37F5B4-DB15-7F4F-9F1A-D3D6E8A096E8}" type="slidenum">
              <a:rPr lang="zh-CN" altLang="en-US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A292FDB8-56D2-FD4B-91D6-9805EDE7B61B}" type="slidenum">
              <a:rPr lang="zh-CN" altLang="en-US"/>
              <a:pPr>
                <a:spcBef>
                  <a:spcPct val="0"/>
                </a:spcBef>
              </a:pPr>
              <a:t>14</a:t>
            </a:fld>
            <a:endParaRPr lang="en-US" altLang="zh-CN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9E850FC5-1A68-144F-9BA9-FB872A35F344}" type="slidenum">
              <a:rPr lang="zh-CN" altLang="en-US"/>
              <a:pPr>
                <a:spcBef>
                  <a:spcPct val="0"/>
                </a:spcBef>
              </a:pPr>
              <a:t>15</a:t>
            </a:fld>
            <a:endParaRPr lang="en-US" altLang="zh-CN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52E79F90-052F-CB4E-A167-12C4DAC27B07}" type="slidenum">
              <a:rPr lang="zh-CN" altLang="en-US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D52A03D7-D142-424B-A8DF-A09C7DE2695A}" type="slidenum">
              <a:rPr lang="zh-CN" altLang="en-US"/>
              <a:pPr>
                <a:spcBef>
                  <a:spcPct val="0"/>
                </a:spcBef>
              </a:pPr>
              <a:t>17</a:t>
            </a:fld>
            <a:endParaRPr lang="en-US" altLang="zh-CN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2CABA194-05A5-5B42-9DEF-1874078528C2}" type="slidenum">
              <a:rPr lang="zh-CN" altLang="en-US"/>
              <a:pPr>
                <a:spcBef>
                  <a:spcPct val="0"/>
                </a:spcBef>
              </a:pPr>
              <a:t>18</a:t>
            </a:fld>
            <a:endParaRPr lang="en-US" altLang="zh-CN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452BAA46-33D3-1F4E-8404-E1F0996DE370}" type="slidenum">
              <a:rPr lang="zh-CN" altLang="en-US"/>
              <a:pPr>
                <a:spcBef>
                  <a:spcPct val="0"/>
                </a:spcBef>
              </a:pPr>
              <a:t>19</a:t>
            </a:fld>
            <a:endParaRPr lang="en-US" altLang="zh-CN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44BFBFA2-9874-8746-9881-6A013D9A454D}" type="slidenum">
              <a:rPr lang="zh-CN" altLang="en-US"/>
              <a:pPr>
                <a:spcBef>
                  <a:spcPct val="0"/>
                </a:spcBef>
              </a:pPr>
              <a:t>20</a:t>
            </a:fld>
            <a:endParaRPr lang="en-US" altLang="zh-CN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B8A3ACED-6B80-CC42-8037-28015C9B6716}" type="slidenum">
              <a:rPr lang="zh-CN" altLang="en-US"/>
              <a:pPr>
                <a:spcBef>
                  <a:spcPct val="0"/>
                </a:spcBef>
              </a:pPr>
              <a:t>21</a:t>
            </a:fld>
            <a:endParaRPr lang="en-US" altLang="zh-CN"/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E7CBB05F-F62D-7F49-9146-26E16827F88A}" type="slidenum">
              <a:rPr lang="zh-CN" altLang="en-US"/>
              <a:pPr>
                <a:spcBef>
                  <a:spcPct val="0"/>
                </a:spcBef>
              </a:pPr>
              <a:t>22</a:t>
            </a:fld>
            <a:endParaRPr lang="en-US" altLang="zh-CN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BCD2D4F9-26B8-D647-8AF4-6CA2B9D8E698}" type="slidenum">
              <a:rPr lang="zh-CN" altLang="en-US"/>
              <a:pPr>
                <a:spcBef>
                  <a:spcPct val="0"/>
                </a:spcBef>
              </a:pPr>
              <a:t>23</a:t>
            </a:fld>
            <a:endParaRPr lang="en-US" altLang="zh-CN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177F6A70-F821-A549-987C-837F43F622C9}" type="slidenum">
              <a:rPr lang="zh-CN" altLang="en-US"/>
              <a:pPr>
                <a:spcBef>
                  <a:spcPct val="0"/>
                </a:spcBef>
              </a:pPr>
              <a:t>24</a:t>
            </a:fld>
            <a:endParaRPr lang="en-US" altLang="zh-CN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1D6FCD7A-01A8-8048-BBC6-794C25754D5F}" type="slidenum">
              <a:rPr lang="zh-CN" altLang="en-US"/>
              <a:pPr>
                <a:spcBef>
                  <a:spcPct val="0"/>
                </a:spcBef>
              </a:pPr>
              <a:t>25</a:t>
            </a:fld>
            <a:endParaRPr lang="en-US" altLang="zh-CN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0F0FB5C4-3B50-AE4E-A43D-C8BE95EB2852}" type="slidenum">
              <a:rPr lang="zh-CN" altLang="en-US"/>
              <a:pPr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C0722867-D559-B74B-A219-51BE960F756D}" type="slidenum">
              <a:rPr lang="zh-CN" altLang="en-US"/>
              <a:pPr>
                <a:spcBef>
                  <a:spcPct val="0"/>
                </a:spcBef>
              </a:pPr>
              <a:t>27</a:t>
            </a:fld>
            <a:endParaRPr lang="en-US" altLang="zh-CN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FC6F14AE-3B0D-6549-82CE-2AEAC9C02A90}" type="slidenum">
              <a:rPr lang="zh-CN" altLang="en-US"/>
              <a:pPr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EBA8C777-BCB5-C04A-872F-1C9F4A62AF2C}" type="slidenum">
              <a:rPr lang="zh-CN" altLang="en-US"/>
              <a:pPr>
                <a:spcBef>
                  <a:spcPct val="0"/>
                </a:spcBef>
              </a:pPr>
              <a:t>29</a:t>
            </a:fld>
            <a:endParaRPr lang="en-US" altLang="zh-CN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51F05EFD-5BE0-064A-A25B-F62640254DD1}" type="slidenum">
              <a:rPr lang="zh-CN" altLang="en-US"/>
              <a:pPr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B163D440-DAEE-7A4C-B776-9FFB59E790B9}" type="slidenum">
              <a:rPr lang="zh-CN" altLang="en-US"/>
              <a:pPr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6D827D78-9CDF-D54C-BE97-CEFC93939E90}" type="slidenum">
              <a:rPr lang="zh-CN" altLang="en-US"/>
              <a:pPr>
                <a:spcBef>
                  <a:spcPct val="0"/>
                </a:spcBef>
              </a:pPr>
              <a:t>32</a:t>
            </a:fld>
            <a:endParaRPr lang="en-US" altLang="zh-CN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ACEEDB1B-06F1-4C45-9BDC-6F9B9DD31E9D}" type="slidenum">
              <a:rPr lang="zh-CN" altLang="en-US"/>
              <a:pPr>
                <a:spcBef>
                  <a:spcPct val="0"/>
                </a:spcBef>
              </a:pPr>
              <a:t>33</a:t>
            </a:fld>
            <a:endParaRPr lang="en-US" altLang="zh-CN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B94D2802-76F2-4C4E-A856-7E08D2EEF8EC}" type="slidenum">
              <a:rPr lang="zh-CN" altLang="en-US"/>
              <a:pPr>
                <a:spcBef>
                  <a:spcPct val="0"/>
                </a:spcBef>
              </a:pPr>
              <a:t>34</a:t>
            </a:fld>
            <a:endParaRPr lang="en-US" altLang="zh-CN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F7613599-F271-A04B-8BB0-B48C4FCB5980}" type="slidenum">
              <a:rPr lang="zh-CN" altLang="en-US"/>
              <a:pPr>
                <a:spcBef>
                  <a:spcPct val="0"/>
                </a:spcBef>
              </a:pPr>
              <a:t>35</a:t>
            </a:fld>
            <a:endParaRPr lang="en-US" altLang="zh-CN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9AD6199A-8D97-4941-98C3-9A4AF26F8B48}" type="slidenum">
              <a:rPr lang="zh-CN" altLang="en-US"/>
              <a:pPr>
                <a:spcBef>
                  <a:spcPct val="0"/>
                </a:spcBef>
              </a:pPr>
              <a:t>36</a:t>
            </a:fld>
            <a:endParaRPr lang="en-US" altLang="zh-CN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CD34C94E-6716-514A-AD93-C570FFE625EC}" type="slidenum">
              <a:rPr lang="zh-CN" altLang="en-US"/>
              <a:pPr>
                <a:spcBef>
                  <a:spcPct val="0"/>
                </a:spcBef>
              </a:pPr>
              <a:t>38</a:t>
            </a:fld>
            <a:endParaRPr lang="en-US" altLang="zh-CN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36EE1884-1065-B344-9754-00C966CF3FB1}" type="slidenum">
              <a:rPr lang="zh-CN" altLang="en-US"/>
              <a:pPr>
                <a:spcBef>
                  <a:spcPct val="0"/>
                </a:spcBef>
              </a:pPr>
              <a:t>39</a:t>
            </a:fld>
            <a:endParaRPr lang="en-US" altLang="zh-CN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5988FE61-62A6-F74D-B421-52D33D475D94}" type="slidenum">
              <a:rPr lang="zh-CN" altLang="en-US"/>
              <a:pPr>
                <a:spcBef>
                  <a:spcPct val="0"/>
                </a:spcBef>
              </a:pPr>
              <a:t>40</a:t>
            </a:fld>
            <a:endParaRPr lang="en-US" altLang="zh-CN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3464967E-799E-EB4E-933B-8060EBBD6468}" type="slidenum">
              <a:rPr lang="zh-CN" altLang="en-US"/>
              <a:pPr>
                <a:spcBef>
                  <a:spcPct val="0"/>
                </a:spcBef>
              </a:pPr>
              <a:t>41</a:t>
            </a:fld>
            <a:endParaRPr lang="en-US" altLang="zh-CN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69380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4936CE60-772E-6249-B2C4-CCF6B62E5B94}" type="slidenum">
              <a:rPr lang="zh-CN" altLang="en-US"/>
              <a:pPr>
                <a:spcBef>
                  <a:spcPct val="0"/>
                </a:spcBef>
              </a:pPr>
              <a:t>42</a:t>
            </a:fld>
            <a:endParaRPr lang="en-US" altLang="zh-CN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70531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BEA9C233-1F8F-444A-892B-8413F7562993}" type="slidenum">
              <a:rPr lang="zh-CN" altLang="en-US"/>
              <a:pPr>
                <a:spcBef>
                  <a:spcPct val="0"/>
                </a:spcBef>
              </a:pPr>
              <a:t>43</a:t>
            </a:fld>
            <a:endParaRPr lang="en-US" altLang="zh-CN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BD382A24-2D3B-DF4E-9D80-E42EB9E87716}" type="slidenum">
              <a:rPr lang="zh-CN" altLang="en-US"/>
              <a:pPr>
                <a:spcBef>
                  <a:spcPct val="0"/>
                </a:spcBef>
              </a:pPr>
              <a:t>44</a:t>
            </a:fld>
            <a:endParaRPr lang="en-US" altLang="zh-CN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BEF80430-6ECC-B04D-A0B4-3AD2CD914EF2}" type="slidenum">
              <a:rPr lang="zh-CN" altLang="en-US"/>
              <a:pPr>
                <a:spcBef>
                  <a:spcPct val="0"/>
                </a:spcBef>
              </a:pPr>
              <a:t>45</a:t>
            </a:fld>
            <a:endParaRPr lang="en-US" altLang="zh-CN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94D45818-456C-644C-B751-E7F86B24A8FD}" type="slidenum">
              <a:rPr lang="zh-CN" altLang="en-US"/>
              <a:pPr>
                <a:spcBef>
                  <a:spcPct val="0"/>
                </a:spcBef>
              </a:pPr>
              <a:t>46</a:t>
            </a:fld>
            <a:endParaRPr lang="en-US" altLang="zh-CN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E914B42B-BDC9-6840-A98D-C1BA4394C548}" type="slidenum">
              <a:rPr lang="zh-CN" altLang="en-US"/>
              <a:pPr>
                <a:spcBef>
                  <a:spcPct val="0"/>
                </a:spcBef>
              </a:pPr>
              <a:t>47</a:t>
            </a:fld>
            <a:endParaRPr lang="en-US" altLang="zh-CN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280E875D-0CC0-E948-8072-607A4223BDCC}" type="slidenum">
              <a:rPr lang="zh-CN" altLang="en-US"/>
              <a:pPr>
                <a:spcBef>
                  <a:spcPct val="0"/>
                </a:spcBef>
              </a:pPr>
              <a:t>48</a:t>
            </a:fld>
            <a:endParaRPr lang="en-US" altLang="zh-CN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06EBDA11-73EC-4046-87DA-FF7ED9AEDE12}" type="slidenum">
              <a:rPr lang="zh-CN" altLang="en-US"/>
              <a:pPr>
                <a:spcBef>
                  <a:spcPct val="0"/>
                </a:spcBef>
              </a:pPr>
              <a:t>49</a:t>
            </a:fld>
            <a:endParaRPr lang="en-US" altLang="zh-CN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ED88482B-DAA4-934E-BA20-34D63D63A11E}" type="slidenum">
              <a:rPr lang="zh-CN" altLang="en-US"/>
              <a:pPr>
                <a:spcBef>
                  <a:spcPct val="0"/>
                </a:spcBef>
              </a:pPr>
              <a:t>50</a:t>
            </a:fld>
            <a:endParaRPr lang="en-US" altLang="zh-CN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CE880C99-4AB0-2945-8FC9-EE329E47CBA9}" type="slidenum">
              <a:rPr lang="zh-CN" altLang="en-US"/>
              <a:pPr>
                <a:spcBef>
                  <a:spcPct val="0"/>
                </a:spcBef>
              </a:pPr>
              <a:t>51</a:t>
            </a:fld>
            <a:endParaRPr lang="en-US" altLang="zh-CN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D60D8F3A-07CF-A541-ADE1-6DA0832607BA}" type="slidenum">
              <a:rPr lang="zh-CN" altLang="en-US"/>
              <a:pPr>
                <a:spcBef>
                  <a:spcPct val="0"/>
                </a:spcBef>
              </a:pPr>
              <a:t>52</a:t>
            </a:fld>
            <a:endParaRPr lang="en-US" altLang="zh-CN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D442D8BA-2790-3B4D-837E-FF92AD5B7DC0}" type="slidenum">
              <a:rPr lang="zh-CN" altLang="en-US"/>
              <a:pPr>
                <a:spcBef>
                  <a:spcPct val="0"/>
                </a:spcBef>
              </a:pPr>
              <a:t>53</a:t>
            </a:fld>
            <a:endParaRPr lang="en-US" altLang="zh-CN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F09A8EE4-A465-A24A-9244-079DEE1C7B91}" type="slidenum">
              <a:rPr lang="zh-CN" altLang="en-US"/>
              <a:pPr>
                <a:spcBef>
                  <a:spcPct val="0"/>
                </a:spcBef>
              </a:pPr>
              <a:t>54</a:t>
            </a:fld>
            <a:endParaRPr lang="en-US" altLang="zh-CN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2A1588C2-1542-4C4C-BD35-B94C374E53DF}" type="slidenum">
              <a:rPr lang="zh-CN" altLang="en-US"/>
              <a:pPr>
                <a:spcBef>
                  <a:spcPct val="0"/>
                </a:spcBef>
              </a:pPr>
              <a:t>55</a:t>
            </a:fld>
            <a:endParaRPr lang="en-US" altLang="zh-CN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FB43B847-3004-B845-8929-6FE0214A2C4C}" type="slidenum">
              <a:rPr lang="zh-CN" altLang="en-US"/>
              <a:pPr>
                <a:spcBef>
                  <a:spcPct val="0"/>
                </a:spcBef>
              </a:pPr>
              <a:t>56</a:t>
            </a:fld>
            <a:endParaRPr lang="en-US" altLang="zh-CN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1DC36570-8776-9A40-9D57-3F7A70DB3E97}" type="slidenum">
              <a:rPr lang="zh-CN" altLang="en-US"/>
              <a:pPr>
                <a:spcBef>
                  <a:spcPct val="0"/>
                </a:spcBef>
              </a:pPr>
              <a:t>57</a:t>
            </a:fld>
            <a:endParaRPr lang="en-US" altLang="zh-CN"/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67E2DDF2-CC28-1C41-92DE-B630CB95B8DA}" type="slidenum">
              <a:rPr lang="zh-CN" altLang="en-US"/>
              <a:pPr>
                <a:spcBef>
                  <a:spcPct val="0"/>
                </a:spcBef>
              </a:pPr>
              <a:t>58</a:t>
            </a:fld>
            <a:endParaRPr lang="en-US" altLang="zh-CN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07B7836B-C50C-544D-8347-1DDD7C814D9A}" type="slidenum">
              <a:rPr lang="zh-CN" altLang="en-US"/>
              <a:pPr>
                <a:spcBef>
                  <a:spcPct val="0"/>
                </a:spcBef>
              </a:pPr>
              <a:t>59</a:t>
            </a:fld>
            <a:endParaRPr lang="en-US" altLang="zh-CN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8A91A0DC-F043-3144-A452-92FAEA4E822E}" type="slidenum">
              <a:rPr lang="zh-CN" altLang="en-US"/>
              <a:pPr>
                <a:spcBef>
                  <a:spcPct val="0"/>
                </a:spcBef>
              </a:pPr>
              <a:t>60</a:t>
            </a:fld>
            <a:endParaRPr lang="en-US" altLang="zh-CN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1D99887A-44A8-C74B-8BEC-10A5DE30C73C}" type="slidenum">
              <a:rPr lang="zh-CN" altLang="en-US"/>
              <a:pPr>
                <a:spcBef>
                  <a:spcPct val="0"/>
                </a:spcBef>
              </a:pPr>
              <a:t>61</a:t>
            </a:fld>
            <a:endParaRPr lang="en-US" altLang="zh-CN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6B8BF716-8277-4440-9EBB-D0D35CD27DC6}" type="slidenum">
              <a:rPr lang="zh-CN" altLang="en-US"/>
              <a:pPr>
                <a:spcBef>
                  <a:spcPct val="0"/>
                </a:spcBef>
              </a:pPr>
              <a:t>62</a:t>
            </a:fld>
            <a:endParaRPr lang="en-US" altLang="zh-CN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251BE30F-467F-5342-9E55-A62717146147}" type="slidenum">
              <a:rPr lang="zh-CN" altLang="en-US"/>
              <a:pPr>
                <a:spcBef>
                  <a:spcPct val="0"/>
                </a:spcBef>
              </a:pPr>
              <a:t>63</a:t>
            </a:fld>
            <a:endParaRPr lang="en-US" altLang="zh-CN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54387D12-99A5-904F-A94F-B510B92337B5}" type="slidenum">
              <a:rPr lang="zh-CN" altLang="en-US"/>
              <a:pPr>
                <a:spcBef>
                  <a:spcPct val="0"/>
                </a:spcBef>
              </a:pPr>
              <a:t>64</a:t>
            </a:fld>
            <a:endParaRPr lang="en-US" altLang="zh-CN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5C4F90C6-8676-5944-9732-CAD184B60A77}" type="slidenum">
              <a:rPr lang="zh-CN" altLang="en-US"/>
              <a:pPr>
                <a:spcBef>
                  <a:spcPct val="0"/>
                </a:spcBef>
              </a:pPr>
              <a:t>65</a:t>
            </a:fld>
            <a:endParaRPr lang="en-US" altLang="zh-CN"/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A15DC3CE-1967-2144-BDC9-BC6A9196C987}" type="slidenum">
              <a:rPr lang="zh-CN" altLang="en-US"/>
              <a:pPr>
                <a:spcBef>
                  <a:spcPct val="0"/>
                </a:spcBef>
              </a:pPr>
              <a:t>66</a:t>
            </a:fld>
            <a:endParaRPr lang="en-US" altLang="zh-CN"/>
          </a:p>
        </p:txBody>
      </p:sp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3A305530-BBAD-FD44-A9AD-BE174D4040A7}" type="slidenum">
              <a:rPr lang="zh-CN" altLang="en-US"/>
              <a:pPr>
                <a:spcBef>
                  <a:spcPct val="0"/>
                </a:spcBef>
              </a:pPr>
              <a:t>67</a:t>
            </a:fld>
            <a:endParaRPr lang="en-US" altLang="zh-CN"/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C575E508-4B23-5A4F-8C71-8820853F4C38}" type="slidenum">
              <a:rPr lang="zh-CN" altLang="en-US"/>
              <a:pPr>
                <a:spcBef>
                  <a:spcPct val="0"/>
                </a:spcBef>
              </a:pPr>
              <a:t>68</a:t>
            </a:fld>
            <a:endParaRPr lang="en-US" altLang="zh-CN"/>
          </a:p>
        </p:txBody>
      </p:sp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611EF053-A610-C34D-9338-0FA349F05203}" type="slidenum">
              <a:rPr lang="zh-CN" altLang="en-US"/>
              <a:pPr>
                <a:spcBef>
                  <a:spcPct val="0"/>
                </a:spcBef>
              </a:pPr>
              <a:t>69</a:t>
            </a:fld>
            <a:endParaRPr lang="en-US" altLang="zh-CN"/>
          </a:p>
        </p:txBody>
      </p:sp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85F815AE-C9BD-094E-B11C-B184F3A28BDC}" type="slidenum">
              <a:rPr lang="zh-CN" altLang="en-US"/>
              <a:pPr>
                <a:spcBef>
                  <a:spcPct val="0"/>
                </a:spcBef>
              </a:pPr>
              <a:t>70</a:t>
            </a:fld>
            <a:endParaRPr lang="en-US" altLang="zh-CN"/>
          </a:p>
        </p:txBody>
      </p:sp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CC16A62D-C9CC-444B-A68F-69BDFABE0E2D}" type="slidenum">
              <a:rPr lang="zh-CN" altLang="en-US"/>
              <a:pPr>
                <a:spcBef>
                  <a:spcPct val="0"/>
                </a:spcBef>
              </a:pPr>
              <a:t>71</a:t>
            </a:fld>
            <a:endParaRPr lang="en-US" altLang="zh-CN"/>
          </a:p>
        </p:txBody>
      </p:sp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D0DEB525-F3CD-ED46-8B38-E15E252ACE53}" type="slidenum">
              <a:rPr lang="zh-CN" altLang="en-US"/>
              <a:pPr>
                <a:spcBef>
                  <a:spcPct val="0"/>
                </a:spcBef>
              </a:pPr>
              <a:t>72</a:t>
            </a:fld>
            <a:endParaRPr lang="en-US" altLang="zh-CN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0E47C913-B7B1-4A4F-A041-9065CECE5069}" type="slidenum">
              <a:rPr lang="zh-CN" altLang="en-US"/>
              <a:pPr>
                <a:spcBef>
                  <a:spcPct val="0"/>
                </a:spcBef>
              </a:pPr>
              <a:t>73</a:t>
            </a:fld>
            <a:endParaRPr lang="en-US" altLang="zh-CN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C2012B05-EB92-394E-8948-A41F039E1E06}" type="slidenum">
              <a:rPr lang="zh-CN" altLang="en-US"/>
              <a:pPr>
                <a:spcBef>
                  <a:spcPct val="0"/>
                </a:spcBef>
              </a:pPr>
              <a:t>74</a:t>
            </a:fld>
            <a:endParaRPr lang="en-US" altLang="zh-CN"/>
          </a:p>
        </p:txBody>
      </p:sp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873E84B0-DBE0-2047-AC40-2124E69EC14F}" type="slidenum">
              <a:rPr lang="zh-CN" altLang="en-US"/>
              <a:pPr>
                <a:spcBef>
                  <a:spcPct val="0"/>
                </a:spcBef>
              </a:pPr>
              <a:t>75</a:t>
            </a:fld>
            <a:endParaRPr lang="en-US" altLang="zh-CN"/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25963358-7610-764F-BA68-87659E379679}" type="slidenum">
              <a:rPr lang="zh-CN" altLang="en-US"/>
              <a:pPr>
                <a:spcBef>
                  <a:spcPct val="0"/>
                </a:spcBef>
              </a:pPr>
              <a:t>76</a:t>
            </a:fld>
            <a:endParaRPr lang="en-US" altLang="zh-CN"/>
          </a:p>
        </p:txBody>
      </p:sp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3764B88E-D1DF-D646-83B3-20005D91B5C4}" type="slidenum">
              <a:rPr lang="zh-CN" altLang="en-US"/>
              <a:pPr>
                <a:spcBef>
                  <a:spcPct val="0"/>
                </a:spcBef>
              </a:pPr>
              <a:t>77</a:t>
            </a:fld>
            <a:endParaRPr lang="en-US" altLang="zh-CN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CE5C570E-8CA1-484D-86DB-6577359E4DFB}" type="slidenum">
              <a:rPr lang="zh-CN" altLang="en-US"/>
              <a:pPr>
                <a:spcBef>
                  <a:spcPct val="0"/>
                </a:spcBef>
              </a:pPr>
              <a:t>78</a:t>
            </a:fld>
            <a:endParaRPr lang="en-US" altLang="zh-CN"/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</a:pPr>
            <a:fld id="{A80ACA52-3174-4946-BEB6-825419C5AB59}" type="slidenum">
              <a:rPr lang="zh-CN" altLang="en-US"/>
              <a:pPr>
                <a:spcBef>
                  <a:spcPct val="0"/>
                </a:spcBef>
              </a:pPr>
              <a:t>79</a:t>
            </a:fld>
            <a:endParaRPr lang="en-US" altLang="zh-CN"/>
          </a:p>
        </p:txBody>
      </p:sp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rep; ret: 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AMD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的分支预测器中存在一个问题，即单字节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ret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紧跟在您引用的代码（以及其他一些情况）中的条件跳转之后，并且解决方法是添加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rep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前缀，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CPU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会忽略该前缀，但是修正预测变量。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AB2E9FA-B6B1-3C43-A29B-B558DC597C29}" type="slidenum">
              <a:rPr lang="zh-CN" altLang="en-US" smtClean="0"/>
              <a:pPr>
                <a:defRPr/>
              </a:pPr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367981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在两种条件下无法发挥</a:t>
            </a:r>
            <a:r>
              <a:rPr lang="en" altLang="zh-CN" sz="1200" b="0" i="0" u="none" strike="noStrike" kern="1200" dirty="0" err="1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cpu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的分支预测功能：</a:t>
            </a:r>
            <a:br>
              <a:rPr lang="zh-CN" altLang="en-US" dirty="0"/>
            </a:b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1&gt; 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一个分支，里面带有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near-return</a:t>
            </a:r>
            <a:r>
              <a:rPr lang="zh-CN" altLang="e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（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opcode C3h</a:t>
            </a:r>
            <a:r>
              <a:rPr lang="zh-CN" altLang="e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），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例如</a:t>
            </a:r>
            <a:br>
              <a:rPr lang="zh-CN" altLang="en-US" dirty="0"/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label</a:t>
            </a:r>
            <a:r>
              <a:rPr lang="zh-CN" altLang="e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：</a:t>
            </a:r>
            <a:br>
              <a:rPr lang="en" altLang="zh-CN" dirty="0"/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    ret</a:t>
            </a:r>
            <a:br>
              <a:rPr lang="en" altLang="zh-CN" dirty="0"/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2&gt; 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一个判断条件紧跟着就是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near-return</a:t>
            </a:r>
            <a:r>
              <a:rPr lang="zh-CN" altLang="e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例如</a:t>
            </a:r>
            <a:br>
              <a:rPr lang="zh-CN" altLang="en-US" dirty="0"/>
            </a:br>
            <a:r>
              <a:rPr lang="en" altLang="zh-CN" sz="1200" b="0" i="0" u="none" strike="noStrike" kern="1200" dirty="0" err="1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jle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 label2</a:t>
            </a:r>
            <a:br>
              <a:rPr lang="en" altLang="zh-CN" dirty="0"/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    ret</a:t>
            </a:r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为了使得代码还是能够用得上</a:t>
            </a:r>
            <a:r>
              <a:rPr lang="en" altLang="zh-CN" sz="1200" b="0" i="0" u="none" strike="noStrike" kern="1200" dirty="0" err="1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cpu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的分支预测（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branch prediction</a:t>
            </a:r>
            <a:r>
              <a:rPr lang="zh-CN" altLang="e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），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最简单的解决办法就是在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ret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前面插入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rep</a:t>
            </a:r>
            <a:r>
              <a:rPr lang="zh-CN" altLang="e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这称之为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two-byte ret</a:t>
            </a:r>
            <a:r>
              <a:rPr lang="zh-CN" altLang="en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使得性能可以提高。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AB2E9FA-B6B1-3C43-A29B-B558DC597C29}" type="slidenum">
              <a:rPr lang="zh-CN" altLang="en-US" smtClean="0"/>
              <a:pPr>
                <a:defRPr/>
              </a:pPr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139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E61196-9743-C645-BD05-627D4EB946A6}" type="datetime1">
              <a:rPr lang="zh-CN" altLang="en-US"/>
              <a:pPr>
                <a:defRPr/>
              </a:pPr>
              <a:t>2024/11/11</a:t>
            </a:fld>
            <a:endParaRPr lang="en-US" altLang="zh-CN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2514600" y="6248400"/>
            <a:ext cx="411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9294D4-891A-3741-9456-96060EDA368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9124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5D0B61-DE59-1542-9F54-0BFD3E3DA1FD}" type="datetime1">
              <a:rPr lang="zh-CN" altLang="en-US"/>
              <a:pPr>
                <a:defRPr/>
              </a:pPr>
              <a:t>2024/11/11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592595-FF89-6947-BA84-B94E6EBB8DF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2408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B380A9-292A-594E-8F55-39A453335A1C}" type="datetime1">
              <a:rPr lang="zh-CN" altLang="en-US"/>
              <a:pPr>
                <a:defRPr/>
              </a:pPr>
              <a:t>2024/11/11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938C32-D575-9340-ABBF-7AC5203A580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5576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5D2F7B-C08A-7742-999B-88F2006D5D5F}" type="datetime1">
              <a:rPr lang="zh-CN" altLang="en-US"/>
              <a:pPr>
                <a:defRPr/>
              </a:pPr>
              <a:t>2024/11/11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797B11-C625-E044-A32D-A4DECF4E6F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5593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55880B-D978-CA4F-91D1-3C0659185A65}" type="datetime1">
              <a:rPr lang="zh-CN" altLang="en-US"/>
              <a:pPr>
                <a:defRPr/>
              </a:pPr>
              <a:t>2024/11/11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EBA24A-FE43-2145-831E-9B5176DE0A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069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197F6-E746-C24E-B4A0-B5ACF5855322}" type="datetime1">
              <a:rPr lang="zh-CN" altLang="en-US"/>
              <a:pPr>
                <a:defRPr/>
              </a:pPr>
              <a:t>2024/11/11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B6025E-AC19-854F-9839-7D7649250BD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826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348957-29C6-4B40-826C-A645CC1E8D95}" type="datetime1">
              <a:rPr lang="zh-CN" altLang="en-US"/>
              <a:pPr>
                <a:defRPr/>
              </a:pPr>
              <a:t>2024/11/11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DEDFD-D12A-5A46-ADF5-58D7BFDC49F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7985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8497EE-48F3-E54F-A5D5-DA0D1C8C69D8}" type="datetime1">
              <a:rPr lang="zh-CN" altLang="en-US"/>
              <a:pPr>
                <a:defRPr/>
              </a:pPr>
              <a:t>2024/11/11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1B777B-0B91-2848-A97C-1A62EA4E06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000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BB9C4D-1E60-8A4F-BABD-B0D658C9062F}" type="datetime1">
              <a:rPr lang="zh-CN" altLang="en-US"/>
              <a:pPr>
                <a:defRPr/>
              </a:pPr>
              <a:t>2024/11/11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D0515-B120-1D40-A77F-7ECE9607E60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9226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61C275-9F56-FF4B-845A-FC1E959828A7}" type="datetime1">
              <a:rPr lang="zh-CN" altLang="en-US"/>
              <a:pPr>
                <a:defRPr/>
              </a:pPr>
              <a:t>2024/11/11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345684-0F68-9F40-A450-2461F9232E2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127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457200"/>
            <a:ext cx="207645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E6977E-6461-BC4B-B06F-4E57A3F37338}" type="datetime1">
              <a:rPr lang="zh-CN" altLang="en-US"/>
              <a:pPr>
                <a:defRPr/>
              </a:pPr>
              <a:t>2024/11/11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2555A-FACA-F940-8E1F-7212EB0CC6B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494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772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305800" cy="44196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07D831-2F68-324C-8707-3FECBE55814F}" type="datetime1">
              <a:rPr lang="zh-CN" altLang="en-US"/>
              <a:pPr>
                <a:defRPr/>
              </a:pPr>
              <a:t>2024/11/11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43977-C568-D14B-BAED-DF3342EBED0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149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1722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kumimoji="0" sz="1400" b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333C5784-86E4-E44B-84E2-C967BE1FA9CE}" type="datetime1">
              <a:rPr lang="zh-CN" altLang="en-US"/>
              <a:pPr>
                <a:defRPr/>
              </a:pPr>
              <a:t>2024/11/11</a:t>
            </a:fld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172200"/>
            <a:ext cx="411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1722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08ED7BC-9F7F-1D45-8C08-C9DB283AB6B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089C94-3A08-524D-BD08-7D8D71B7E99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zh-CN" altLang="en-US" sz="3600" dirty="0">
                <a:ea typeface="宋体" charset="-122"/>
              </a:rPr>
              <a:t>程序的机器级表示（</a:t>
            </a:r>
            <a:r>
              <a:rPr lang="en-US" altLang="zh-CN" sz="3600" dirty="0">
                <a:ea typeface="宋体" charset="-122"/>
              </a:rPr>
              <a:t>5</a:t>
            </a:r>
            <a:r>
              <a:rPr lang="zh-CN" altLang="en-US" sz="3600" dirty="0">
                <a:ea typeface="宋体" charset="-122"/>
              </a:rPr>
              <a:t>）</a:t>
            </a:r>
            <a:endParaRPr lang="en-US" altLang="zh-CN" sz="3600" dirty="0">
              <a:ea typeface="宋体" charset="-122"/>
            </a:endParaRPr>
          </a:p>
        </p:txBody>
      </p:sp>
      <p:sp>
        <p:nvSpPr>
          <p:cNvPr id="16387" name="矩形 3"/>
          <p:cNvSpPr>
            <a:spLocks noChangeArrowheads="1"/>
          </p:cNvSpPr>
          <p:nvPr/>
        </p:nvSpPr>
        <p:spPr bwMode="auto">
          <a:xfrm>
            <a:off x="3905792" y="4789488"/>
            <a:ext cx="133241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dirty="0"/>
              <a:t>柴云鹏</a:t>
            </a:r>
            <a:endParaRPr lang="en-US" altLang="zh-CN" sz="2400" dirty="0"/>
          </a:p>
          <a:p>
            <a:pPr algn="ctr">
              <a:spcBef>
                <a:spcPct val="0"/>
              </a:spcBef>
              <a:buFontTx/>
              <a:buNone/>
            </a:pPr>
            <a:endParaRPr lang="en-US" altLang="zh-CN" sz="2400" dirty="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 dirty="0"/>
              <a:t>2024.11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50769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032E20-27EE-7C42-B6E1-3AE55330A88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600">
                <a:ea typeface="宋体" charset="-122"/>
              </a:rPr>
              <a:t>Procedure Call</a:t>
            </a:r>
            <a:endParaRPr lang="en-US" altLang="zh-CN" sz="3600">
              <a:latin typeface="方正姚体" charset="0"/>
              <a:ea typeface="方正姚体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3754D7-4F1E-294C-9658-A332F761F765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Outline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dirty="0">
                <a:ea typeface="宋体" charset="-122"/>
              </a:rPr>
              <a:t>Procedure call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ea typeface="宋体" charset="-122"/>
              </a:rPr>
              <a:t>Stack frame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ea typeface="宋体" charset="-122"/>
              </a:rPr>
              <a:t>Calling conventions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ea typeface="宋体" charset="-122"/>
              </a:rPr>
              <a:t>Recursive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921A5A-A754-0D49-A3E2-20ECA6BF38F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Execution 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within</a:t>
            </a:r>
            <a:r>
              <a:rPr lang="en-US" altLang="zh-CN" dirty="0">
                <a:ea typeface="宋体" charset="-122"/>
              </a:rPr>
              <a:t> Procedure/Function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Data Movement </a:t>
            </a:r>
            <a:r>
              <a:rPr lang="en-US" altLang="zh-CN" sz="2400">
                <a:ea typeface="宋体" charset="-122"/>
              </a:rPr>
              <a:t>(e.g., </a:t>
            </a:r>
            <a:r>
              <a:rPr lang="en-US" altLang="zh-CN" sz="2400">
                <a:solidFill>
                  <a:srgbClr val="0000FF"/>
                </a:solidFill>
                <a:ea typeface="宋体" charset="-122"/>
              </a:rPr>
              <a:t>movl $-17, (%esp)</a:t>
            </a:r>
            <a:r>
              <a:rPr lang="en-US" altLang="zh-CN" sz="2400">
                <a:ea typeface="宋体" charset="-122"/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Arithmetic Operations 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(e.g., </a:t>
            </a:r>
            <a:r>
              <a:rPr lang="en-US" altLang="zh-CN" sz="2400">
                <a:solidFill>
                  <a:srgbClr val="0000FF"/>
                </a:solidFill>
                <a:ea typeface="宋体" charset="-122"/>
              </a:rPr>
              <a:t>incl 8(%eax)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)</a:t>
            </a:r>
            <a:endParaRPr lang="en-US" altLang="zh-CN">
              <a:ea typeface="宋体" charset="-122"/>
            </a:endParaRPr>
          </a:p>
          <a:p>
            <a:pPr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Logical Operations 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(e.g., </a:t>
            </a:r>
            <a:r>
              <a:rPr lang="en-US" altLang="zh-CN" sz="2400">
                <a:solidFill>
                  <a:srgbClr val="0000FF"/>
                </a:solidFill>
                <a:ea typeface="宋体" charset="-122"/>
              </a:rPr>
              <a:t>xorl 8(%esp), %eax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)</a:t>
            </a:r>
            <a:endParaRPr lang="en-US" altLang="zh-CN">
              <a:ea typeface="宋体" charset="-122"/>
            </a:endParaRPr>
          </a:p>
          <a:p>
            <a:pPr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Condition Codes 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(e.g., </a:t>
            </a:r>
            <a:r>
              <a:rPr lang="en-US" altLang="zh-CN" sz="2400">
                <a:solidFill>
                  <a:srgbClr val="0000FF"/>
                </a:solidFill>
                <a:ea typeface="宋体" charset="-122"/>
              </a:rPr>
              <a:t>cmpl %eax, %edx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)</a:t>
            </a:r>
            <a:endParaRPr lang="en-US" altLang="zh-CN">
              <a:ea typeface="宋体" charset="-122"/>
            </a:endParaRPr>
          </a:p>
          <a:p>
            <a:pPr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Jump Instructions 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(e.g., </a:t>
            </a:r>
            <a:r>
              <a:rPr lang="en-US" altLang="zh-CN" sz="2400">
                <a:solidFill>
                  <a:srgbClr val="0000FF"/>
                </a:solidFill>
                <a:ea typeface="宋体" charset="-122"/>
              </a:rPr>
              <a:t>jg .L5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)</a:t>
            </a:r>
            <a:endParaRPr lang="en-US" altLang="zh-CN">
              <a:ea typeface="宋体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5391150"/>
            <a:ext cx="7391400" cy="781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20000"/>
              </a:spcBef>
              <a:defRPr/>
            </a:pPr>
            <a:r>
              <a:rPr kumimoji="0" lang="en-US" altLang="zh-CN" sz="3200" b="0" kern="0" dirty="0">
                <a:latin typeface="Comic Sans MS"/>
                <a:ea typeface="宋体" panose="02010600030101010101" pitchFamily="2" charset="-122"/>
              </a:rPr>
              <a:t>How to execute </a:t>
            </a:r>
            <a:r>
              <a:rPr kumimoji="0" lang="en-US" altLang="zh-CN" sz="3200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cross</a:t>
            </a:r>
            <a:r>
              <a:rPr kumimoji="0" lang="en-US" altLang="zh-CN" sz="3200" b="0" kern="0" dirty="0">
                <a:latin typeface="Comic Sans MS"/>
                <a:ea typeface="宋体" panose="02010600030101010101" pitchFamily="2" charset="-122"/>
              </a:rPr>
              <a:t> procedures?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A35823-D782-7842-8E2B-B7F530BC4292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Procedure/Function call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50292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Another type of unconditional JUMP</a:t>
            </a: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SAME:</a:t>
            </a:r>
          </a:p>
          <a:p>
            <a:pPr lvl="2">
              <a:lnSpc>
                <a:spcPct val="140000"/>
              </a:lnSpc>
            </a:pPr>
            <a:r>
              <a:rPr lang="en-US" altLang="zh-CN" sz="2400" dirty="0">
                <a:ea typeface="宋体" charset="-122"/>
              </a:rPr>
              <a:t>Control from one part to another</a:t>
            </a: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DIFF:</a:t>
            </a:r>
          </a:p>
          <a:p>
            <a:pPr lvl="2">
              <a:lnSpc>
                <a:spcPct val="140000"/>
              </a:lnSpc>
            </a:pPr>
            <a:r>
              <a:rPr lang="en-US" altLang="zh-CN" sz="2400" dirty="0">
                <a:ea typeface="宋体" charset="-122"/>
              </a:rPr>
              <a:t>Return</a:t>
            </a:r>
            <a:r>
              <a:rPr lang="zh-CN" altLang="en-US" sz="2400" dirty="0">
                <a:ea typeface="宋体" charset="-122"/>
              </a:rPr>
              <a:t>：往返</a:t>
            </a:r>
            <a:r>
              <a:rPr lang="en-US" altLang="zh-CN" sz="2400" dirty="0">
                <a:ea typeface="宋体" charset="-122"/>
              </a:rPr>
              <a:t> vs. </a:t>
            </a:r>
            <a:r>
              <a:rPr lang="zh-CN" altLang="en-US" sz="2400" dirty="0">
                <a:ea typeface="宋体" charset="-122"/>
              </a:rPr>
              <a:t>单程</a:t>
            </a:r>
            <a:endParaRPr lang="en-US" altLang="zh-CN" sz="2400" dirty="0">
              <a:ea typeface="宋体" charset="-122"/>
            </a:endParaRPr>
          </a:p>
          <a:p>
            <a:pPr lvl="2">
              <a:lnSpc>
                <a:spcPct val="140000"/>
              </a:lnSpc>
            </a:pPr>
            <a:r>
              <a:rPr lang="en-US" altLang="zh-CN" sz="2400" dirty="0">
                <a:ea typeface="宋体" charset="-122"/>
              </a:rPr>
              <a:t>Passing data (arguments, return values)</a:t>
            </a:r>
          </a:p>
          <a:p>
            <a:pPr lvl="2">
              <a:lnSpc>
                <a:spcPct val="140000"/>
              </a:lnSpc>
            </a:pPr>
            <a:r>
              <a:rPr lang="en-US" altLang="zh-CN" sz="2400" dirty="0">
                <a:ea typeface="宋体" charset="-122"/>
              </a:rPr>
              <a:t>Local variable</a:t>
            </a:r>
          </a:p>
          <a:p>
            <a:pPr lvl="2">
              <a:lnSpc>
                <a:spcPct val="140000"/>
              </a:lnSpc>
            </a:pPr>
            <a:r>
              <a:rPr lang="en-US" altLang="zh-CN" sz="2400" dirty="0">
                <a:ea typeface="宋体" charset="-122"/>
              </a:rPr>
              <a:t>Registers</a:t>
            </a:r>
            <a:r>
              <a:rPr lang="zh-CN" altLang="en-US" sz="2400" dirty="0">
                <a:ea typeface="宋体" charset="-122"/>
              </a:rPr>
              <a:t>：保存离开时的状态</a:t>
            </a:r>
            <a:endParaRPr lang="en-US" altLang="zh-CN" sz="2400" dirty="0">
              <a:ea typeface="宋体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0FA58B-8194-F546-99DC-E2F04E5F6CC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Basic Concept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700" y="1557338"/>
            <a:ext cx="8153400" cy="4648200"/>
          </a:xfrm>
        </p:spPr>
        <p:txBody>
          <a:bodyPr/>
          <a:lstStyle/>
          <a:p>
            <a:pPr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Terminology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Caller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 err="1">
                <a:ea typeface="宋体" pitchFamily="2" charset="-122"/>
              </a:rPr>
              <a:t>Callee</a:t>
            </a:r>
            <a:endParaRPr lang="en-US" altLang="zh-CN" dirty="0">
              <a:ea typeface="宋体" pitchFamily="2" charset="-122"/>
            </a:endParaRP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endParaRPr lang="en-US" altLang="zh-CN" sz="1600" dirty="0">
              <a:ea typeface="宋体" pitchFamily="2" charset="-122"/>
            </a:endParaRPr>
          </a:p>
          <a:p>
            <a:pPr>
              <a:lnSpc>
                <a:spcPct val="140000"/>
              </a:lnSpc>
              <a:defRPr/>
            </a:pPr>
            <a:endParaRPr lang="en-US" altLang="zh-CN" dirty="0">
              <a:ea typeface="宋体" pitchFamily="2" charset="-122"/>
            </a:endParaRPr>
          </a:p>
          <a:p>
            <a:pPr marL="457200" lvl="1" indent="0">
              <a:lnSpc>
                <a:spcPct val="140000"/>
              </a:lnSpc>
              <a:buFontTx/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3733800" y="2514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en-US" altLang="zh-CN" sz="2400" b="0">
                <a:solidFill>
                  <a:schemeClr val="accent2"/>
                </a:solidFill>
              </a:rPr>
              <a:t>f()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5257800" y="3352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en-US" altLang="zh-CN" sz="2400" b="0">
                <a:solidFill>
                  <a:schemeClr val="accent2"/>
                </a:solidFill>
              </a:rPr>
              <a:t>g()</a:t>
            </a:r>
          </a:p>
        </p:txBody>
      </p:sp>
      <p:cxnSp>
        <p:nvCxnSpPr>
          <p:cNvPr id="3" name="Straight Arrow Connector 2"/>
          <p:cNvCxnSpPr>
            <a:cxnSpLocks noChangeShapeType="1"/>
          </p:cNvCxnSpPr>
          <p:nvPr/>
        </p:nvCxnSpPr>
        <p:spPr bwMode="auto">
          <a:xfrm>
            <a:off x="4248150" y="2895600"/>
            <a:ext cx="1066800" cy="6096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343400" y="2743200"/>
            <a:ext cx="1390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en-US" altLang="zh-CN" sz="2400" b="0">
                <a:solidFill>
                  <a:srgbClr val="FF0000"/>
                </a:solidFill>
              </a:rPr>
              <a:t>call-1</a:t>
            </a:r>
          </a:p>
        </p:txBody>
      </p:sp>
      <p:sp>
        <p:nvSpPr>
          <p:cNvPr id="47" name="Text Box 9"/>
          <p:cNvSpPr txBox="1">
            <a:spLocks noChangeArrowheads="1"/>
          </p:cNvSpPr>
          <p:nvPr/>
        </p:nvSpPr>
        <p:spPr bwMode="auto">
          <a:xfrm>
            <a:off x="6858000" y="38862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en-US" altLang="zh-CN" sz="2400" b="0">
                <a:solidFill>
                  <a:schemeClr val="accent2"/>
                </a:solidFill>
              </a:rPr>
              <a:t>h()</a:t>
            </a:r>
          </a:p>
        </p:txBody>
      </p:sp>
      <p:cxnSp>
        <p:nvCxnSpPr>
          <p:cNvPr id="48" name="Straight Arrow Connector 47"/>
          <p:cNvCxnSpPr>
            <a:cxnSpLocks noChangeShapeType="1"/>
          </p:cNvCxnSpPr>
          <p:nvPr/>
        </p:nvCxnSpPr>
        <p:spPr bwMode="auto">
          <a:xfrm>
            <a:off x="5791200" y="3733800"/>
            <a:ext cx="1066800" cy="3048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Text Box 9"/>
          <p:cNvSpPr txBox="1">
            <a:spLocks noChangeArrowheads="1"/>
          </p:cNvSpPr>
          <p:nvPr/>
        </p:nvSpPr>
        <p:spPr bwMode="auto">
          <a:xfrm>
            <a:off x="5410200" y="3957638"/>
            <a:ext cx="1371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en-US" altLang="zh-CN" sz="2400" b="0">
                <a:solidFill>
                  <a:srgbClr val="FF0000"/>
                </a:solidFill>
              </a:rPr>
              <a:t>call-2</a:t>
            </a:r>
          </a:p>
        </p:txBody>
      </p:sp>
      <p:sp>
        <p:nvSpPr>
          <p:cNvPr id="51" name="Rectangle 3"/>
          <p:cNvSpPr txBox="1">
            <a:spLocks noChangeArrowheads="1"/>
          </p:cNvSpPr>
          <p:nvPr/>
        </p:nvSpPr>
        <p:spPr bwMode="auto">
          <a:xfrm>
            <a:off x="3581400" y="4648200"/>
            <a:ext cx="2497138" cy="1828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40000"/>
              </a:lnSpc>
              <a:defRPr/>
            </a:pPr>
            <a:r>
              <a:rPr lang="en-US" altLang="zh-CN" b="0" dirty="0">
                <a:ea typeface="宋体" pitchFamily="2" charset="-122"/>
              </a:rPr>
              <a:t>call-1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b="0" dirty="0">
                <a:ea typeface="宋体" pitchFamily="2" charset="-122"/>
              </a:rPr>
              <a:t>Caller: f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b="0" dirty="0" err="1">
                <a:ea typeface="宋体" panose="02010600030101010101" pitchFamily="2" charset="-122"/>
              </a:rPr>
              <a:t>Callee</a:t>
            </a:r>
            <a:r>
              <a:rPr lang="en-US" altLang="zh-CN" b="0" dirty="0">
                <a:ea typeface="宋体" panose="02010600030101010101" pitchFamily="2" charset="-122"/>
              </a:rPr>
              <a:t>: g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endParaRPr lang="en-US" altLang="zh-CN" sz="1600" b="0" dirty="0">
              <a:ea typeface="宋体" pitchFamily="2" charset="-122"/>
            </a:endParaRPr>
          </a:p>
          <a:p>
            <a:pPr>
              <a:lnSpc>
                <a:spcPct val="140000"/>
              </a:lnSpc>
              <a:defRPr/>
            </a:pPr>
            <a:endParaRPr lang="en-US" altLang="zh-CN" b="0" dirty="0">
              <a:ea typeface="宋体" pitchFamily="2" charset="-122"/>
            </a:endParaRPr>
          </a:p>
          <a:p>
            <a:pPr marL="457200" lvl="1" indent="0">
              <a:lnSpc>
                <a:spcPct val="140000"/>
              </a:lnSpc>
              <a:buFontTx/>
              <a:buNone/>
              <a:defRPr/>
            </a:pPr>
            <a:endParaRPr lang="en-US" altLang="zh-CN" b="0" dirty="0">
              <a:ea typeface="宋体" pitchFamily="2" charset="-122"/>
            </a:endParaRPr>
          </a:p>
        </p:txBody>
      </p:sp>
      <p:sp>
        <p:nvSpPr>
          <p:cNvPr id="52" name="Rectangle 3"/>
          <p:cNvSpPr txBox="1">
            <a:spLocks noChangeArrowheads="1"/>
          </p:cNvSpPr>
          <p:nvPr/>
        </p:nvSpPr>
        <p:spPr bwMode="auto">
          <a:xfrm>
            <a:off x="5732463" y="4648200"/>
            <a:ext cx="2497137" cy="1828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40000"/>
              </a:lnSpc>
              <a:defRPr/>
            </a:pPr>
            <a:r>
              <a:rPr lang="en-US" altLang="zh-CN" b="0" dirty="0">
                <a:ea typeface="宋体" pitchFamily="2" charset="-122"/>
              </a:rPr>
              <a:t>call-2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b="0" dirty="0">
                <a:ea typeface="宋体" pitchFamily="2" charset="-122"/>
              </a:rPr>
              <a:t>Caller: g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b="0" dirty="0" err="1">
                <a:ea typeface="宋体" panose="02010600030101010101" pitchFamily="2" charset="-122"/>
              </a:rPr>
              <a:t>Callee</a:t>
            </a:r>
            <a:r>
              <a:rPr lang="en-US" altLang="zh-CN" b="0" dirty="0">
                <a:ea typeface="宋体" panose="02010600030101010101" pitchFamily="2" charset="-122"/>
              </a:rPr>
              <a:t>: h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endParaRPr lang="en-US" altLang="zh-CN" sz="1600" b="0" dirty="0">
              <a:ea typeface="宋体" pitchFamily="2" charset="-122"/>
            </a:endParaRPr>
          </a:p>
          <a:p>
            <a:pPr>
              <a:lnSpc>
                <a:spcPct val="140000"/>
              </a:lnSpc>
              <a:defRPr/>
            </a:pPr>
            <a:endParaRPr lang="en-US" altLang="zh-CN" b="0" dirty="0">
              <a:ea typeface="宋体" pitchFamily="2" charset="-122"/>
            </a:endParaRPr>
          </a:p>
          <a:p>
            <a:pPr marL="457200" lvl="1" indent="0">
              <a:lnSpc>
                <a:spcPct val="140000"/>
              </a:lnSpc>
              <a:buFontTx/>
              <a:buNone/>
              <a:defRPr/>
            </a:pPr>
            <a:endParaRPr lang="en-US" altLang="zh-CN" b="0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47" grpId="0"/>
      <p:bldP spid="50" grpId="0"/>
      <p:bldP spid="51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CFD800-3F98-AB4E-B7A8-34BB3EE2E9B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Basic Concept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700" y="1557338"/>
            <a:ext cx="8153400" cy="4648200"/>
          </a:xfrm>
        </p:spPr>
        <p:txBody>
          <a:bodyPr/>
          <a:lstStyle/>
          <a:p>
            <a:pPr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Terminology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Caller: g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 err="1">
                <a:ea typeface="宋体" pitchFamily="2" charset="-122"/>
              </a:rPr>
              <a:t>Callee</a:t>
            </a:r>
            <a:r>
              <a:rPr lang="en-US" altLang="zh-CN" dirty="0">
                <a:ea typeface="宋体" pitchFamily="2" charset="-122"/>
              </a:rPr>
              <a:t>: f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endParaRPr lang="en-US" altLang="zh-CN" sz="1600" dirty="0">
              <a:ea typeface="宋体" pitchFamily="2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Control Flow</a:t>
            </a:r>
          </a:p>
          <a:p>
            <a:pPr lvl="1"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e.g. </a:t>
            </a:r>
            <a:r>
              <a:rPr lang="en-US" altLang="zh-CN" dirty="0" err="1">
                <a:ea typeface="宋体" pitchFamily="2" charset="-122"/>
              </a:rPr>
              <a:t>int</a:t>
            </a:r>
            <a:r>
              <a:rPr lang="en-US" altLang="zh-CN" dirty="0">
                <a:ea typeface="宋体" pitchFamily="2" charset="-122"/>
              </a:rPr>
              <a:t> g()  {  return 1 ; }</a:t>
            </a:r>
          </a:p>
          <a:p>
            <a:pPr lvl="1"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		 </a:t>
            </a:r>
            <a:r>
              <a:rPr lang="en-US" altLang="zh-CN" dirty="0" err="1">
                <a:ea typeface="宋体" pitchFamily="2" charset="-122"/>
              </a:rPr>
              <a:t>int</a:t>
            </a:r>
            <a:r>
              <a:rPr lang="en-US" altLang="zh-CN" dirty="0">
                <a:ea typeface="宋体" pitchFamily="2" charset="-122"/>
              </a:rPr>
              <a:t> f()  { return g() ; }</a:t>
            </a:r>
          </a:p>
          <a:p>
            <a:pPr lvl="1"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		 </a:t>
            </a:r>
            <a:r>
              <a:rPr lang="en-US" altLang="zh-CN" dirty="0" err="1">
                <a:ea typeface="宋体" pitchFamily="2" charset="-122"/>
              </a:rPr>
              <a:t>int</a:t>
            </a:r>
            <a:r>
              <a:rPr lang="en-US" altLang="zh-CN" dirty="0">
                <a:ea typeface="宋体" pitchFamily="2" charset="-122"/>
              </a:rPr>
              <a:t> main() { g(); return f(); }</a:t>
            </a:r>
          </a:p>
          <a:p>
            <a:pPr marL="457200" lvl="1" indent="0">
              <a:lnSpc>
                <a:spcPct val="140000"/>
              </a:lnSpc>
              <a:buFontTx/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26628" name="Text Box 9"/>
          <p:cNvSpPr txBox="1">
            <a:spLocks noChangeArrowheads="1"/>
          </p:cNvSpPr>
          <p:nvPr/>
        </p:nvSpPr>
        <p:spPr bwMode="auto">
          <a:xfrm>
            <a:off x="3200400" y="20574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en-US" altLang="zh-CN" sz="2400" b="0">
                <a:solidFill>
                  <a:schemeClr val="accent2"/>
                </a:solidFill>
              </a:rPr>
              <a:t>g()</a:t>
            </a:r>
          </a:p>
        </p:txBody>
      </p:sp>
      <p:sp>
        <p:nvSpPr>
          <p:cNvPr id="26629" name="Text Box 9"/>
          <p:cNvSpPr txBox="1">
            <a:spLocks noChangeArrowheads="1"/>
          </p:cNvSpPr>
          <p:nvPr/>
        </p:nvSpPr>
        <p:spPr bwMode="auto">
          <a:xfrm>
            <a:off x="4724400" y="2895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en-US" altLang="zh-CN" sz="2400" b="0">
                <a:solidFill>
                  <a:schemeClr val="accent2"/>
                </a:solidFill>
              </a:rPr>
              <a:t>f()</a:t>
            </a:r>
          </a:p>
        </p:txBody>
      </p:sp>
      <p:cxnSp>
        <p:nvCxnSpPr>
          <p:cNvPr id="26630" name="Straight Arrow Connector 2"/>
          <p:cNvCxnSpPr>
            <a:cxnSpLocks noChangeShapeType="1"/>
          </p:cNvCxnSpPr>
          <p:nvPr/>
        </p:nvCxnSpPr>
        <p:spPr bwMode="auto">
          <a:xfrm>
            <a:off x="3714750" y="2438400"/>
            <a:ext cx="1066800" cy="6096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1" name="Text Box 9"/>
          <p:cNvSpPr txBox="1">
            <a:spLocks noChangeArrowheads="1"/>
          </p:cNvSpPr>
          <p:nvPr/>
        </p:nvSpPr>
        <p:spPr bwMode="auto">
          <a:xfrm>
            <a:off x="3943350" y="2286000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en-US" altLang="zh-CN" sz="2400" b="0">
                <a:solidFill>
                  <a:srgbClr val="FF0000"/>
                </a:solidFill>
              </a:rPr>
              <a:t>call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5962650" y="2890838"/>
            <a:ext cx="1295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en-US" altLang="zh-CN" sz="2400" b="0">
                <a:solidFill>
                  <a:schemeClr val="accent2"/>
                </a:solidFill>
              </a:rPr>
              <a:t>main()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7200900" y="3505200"/>
            <a:ext cx="647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en-US" altLang="zh-CN" sz="2400" b="0">
                <a:solidFill>
                  <a:schemeClr val="accent2"/>
                </a:solidFill>
              </a:rPr>
              <a:t>g()</a:t>
            </a:r>
          </a:p>
        </p:txBody>
      </p:sp>
      <p:cxnSp>
        <p:nvCxnSpPr>
          <p:cNvPr id="12" name="Straight Arrow Connector 11"/>
          <p:cNvCxnSpPr>
            <a:cxnSpLocks noChangeShapeType="1"/>
          </p:cNvCxnSpPr>
          <p:nvPr/>
        </p:nvCxnSpPr>
        <p:spPr bwMode="auto">
          <a:xfrm flipH="1">
            <a:off x="6477000" y="3276600"/>
            <a:ext cx="9525" cy="522288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Arrow Connector 14"/>
          <p:cNvCxnSpPr>
            <a:cxnSpLocks noChangeShapeType="1"/>
          </p:cNvCxnSpPr>
          <p:nvPr/>
        </p:nvCxnSpPr>
        <p:spPr bwMode="auto">
          <a:xfrm>
            <a:off x="6496050" y="3798888"/>
            <a:ext cx="819150" cy="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7239000" y="4414838"/>
            <a:ext cx="647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en-US" altLang="zh-CN" sz="2400" b="0">
                <a:solidFill>
                  <a:schemeClr val="accent2"/>
                </a:solidFill>
              </a:rPr>
              <a:t>f()</a:t>
            </a:r>
          </a:p>
        </p:txBody>
      </p:sp>
      <p:cxnSp>
        <p:nvCxnSpPr>
          <p:cNvPr id="19" name="Straight Arrow Connector 18"/>
          <p:cNvCxnSpPr>
            <a:cxnSpLocks noChangeShapeType="1"/>
          </p:cNvCxnSpPr>
          <p:nvPr/>
        </p:nvCxnSpPr>
        <p:spPr bwMode="auto">
          <a:xfrm flipH="1">
            <a:off x="6477000" y="4191000"/>
            <a:ext cx="990600" cy="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Straight Arrow Connector 20"/>
          <p:cNvCxnSpPr>
            <a:cxnSpLocks noChangeShapeType="1"/>
          </p:cNvCxnSpPr>
          <p:nvPr/>
        </p:nvCxnSpPr>
        <p:spPr bwMode="auto">
          <a:xfrm>
            <a:off x="6457950" y="4191000"/>
            <a:ext cx="0" cy="446088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22"/>
          <p:cNvCxnSpPr>
            <a:cxnSpLocks noChangeShapeType="1"/>
          </p:cNvCxnSpPr>
          <p:nvPr/>
        </p:nvCxnSpPr>
        <p:spPr bwMode="auto">
          <a:xfrm>
            <a:off x="7467600" y="3962400"/>
            <a:ext cx="0" cy="2286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Arrow Connector 25"/>
          <p:cNvCxnSpPr>
            <a:cxnSpLocks noChangeShapeType="1"/>
          </p:cNvCxnSpPr>
          <p:nvPr/>
        </p:nvCxnSpPr>
        <p:spPr bwMode="auto">
          <a:xfrm>
            <a:off x="6515100" y="4637088"/>
            <a:ext cx="819150" cy="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Arrow Connector 26"/>
          <p:cNvCxnSpPr>
            <a:cxnSpLocks noChangeShapeType="1"/>
          </p:cNvCxnSpPr>
          <p:nvPr/>
        </p:nvCxnSpPr>
        <p:spPr bwMode="auto">
          <a:xfrm flipH="1">
            <a:off x="6477000" y="5638800"/>
            <a:ext cx="990600" cy="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Arrow Connector 27"/>
          <p:cNvCxnSpPr>
            <a:cxnSpLocks noChangeShapeType="1"/>
          </p:cNvCxnSpPr>
          <p:nvPr/>
        </p:nvCxnSpPr>
        <p:spPr bwMode="auto">
          <a:xfrm>
            <a:off x="7467600" y="4800600"/>
            <a:ext cx="0" cy="2286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Straight Arrow Connector 28"/>
          <p:cNvCxnSpPr>
            <a:cxnSpLocks noChangeShapeType="1"/>
          </p:cNvCxnSpPr>
          <p:nvPr/>
        </p:nvCxnSpPr>
        <p:spPr bwMode="auto">
          <a:xfrm>
            <a:off x="7486650" y="5029200"/>
            <a:ext cx="590550" cy="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Arrow Connector 29"/>
          <p:cNvCxnSpPr>
            <a:cxnSpLocks noChangeShapeType="1"/>
          </p:cNvCxnSpPr>
          <p:nvPr/>
        </p:nvCxnSpPr>
        <p:spPr bwMode="auto">
          <a:xfrm flipH="1">
            <a:off x="7486650" y="5410200"/>
            <a:ext cx="742950" cy="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Text Box 9"/>
          <p:cNvSpPr txBox="1">
            <a:spLocks noChangeArrowheads="1"/>
          </p:cNvSpPr>
          <p:nvPr/>
        </p:nvSpPr>
        <p:spPr bwMode="auto">
          <a:xfrm>
            <a:off x="7962900" y="4724400"/>
            <a:ext cx="647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en-US" altLang="zh-CN" sz="2400" b="0">
                <a:solidFill>
                  <a:schemeClr val="accent2"/>
                </a:solidFill>
              </a:rPr>
              <a:t>g()</a:t>
            </a:r>
          </a:p>
        </p:txBody>
      </p:sp>
      <p:cxnSp>
        <p:nvCxnSpPr>
          <p:cNvPr id="33" name="Straight Arrow Connector 32"/>
          <p:cNvCxnSpPr>
            <a:cxnSpLocks noChangeShapeType="1"/>
          </p:cNvCxnSpPr>
          <p:nvPr/>
        </p:nvCxnSpPr>
        <p:spPr bwMode="auto">
          <a:xfrm>
            <a:off x="8229600" y="5181600"/>
            <a:ext cx="0" cy="2286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Straight Arrow Connector 33"/>
          <p:cNvCxnSpPr>
            <a:cxnSpLocks noChangeShapeType="1"/>
          </p:cNvCxnSpPr>
          <p:nvPr/>
        </p:nvCxnSpPr>
        <p:spPr bwMode="auto">
          <a:xfrm>
            <a:off x="7467600" y="5410200"/>
            <a:ext cx="0" cy="2286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Straight Arrow Connector 34"/>
          <p:cNvCxnSpPr>
            <a:cxnSpLocks noChangeShapeType="1"/>
          </p:cNvCxnSpPr>
          <p:nvPr/>
        </p:nvCxnSpPr>
        <p:spPr bwMode="auto">
          <a:xfrm>
            <a:off x="6457950" y="5638800"/>
            <a:ext cx="0" cy="4572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7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8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C2C8CE-9555-214C-8024-7E26302B6FFE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Procedure/Function Implementation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648200"/>
          </a:xfrm>
        </p:spPr>
        <p:txBody>
          <a:bodyPr/>
          <a:lstStyle/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>
                <a:ea typeface="宋体" charset="-122"/>
              </a:rPr>
              <a:t> Invoke callee</a:t>
            </a: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>
                <a:ea typeface="宋体" charset="-122"/>
              </a:rPr>
              <a:t> Return to caller</a:t>
            </a: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>
                <a:ea typeface="宋体" charset="-122"/>
              </a:rPr>
              <a:t> Passing data</a:t>
            </a: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>
                <a:ea typeface="宋体" charset="-122"/>
              </a:rPr>
              <a:t> Registers</a:t>
            </a: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>
                <a:ea typeface="宋体" charset="-122"/>
              </a:rPr>
              <a:t> Local variable</a:t>
            </a:r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41CDAC-0176-344F-8C76-FD9C63794E25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Procedure/Function Implementation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648200"/>
          </a:xfrm>
        </p:spPr>
        <p:txBody>
          <a:bodyPr/>
          <a:lstStyle/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 dirty="0">
                <a:ea typeface="宋体" charset="-122"/>
              </a:rPr>
              <a:t> Invoke callee: </a:t>
            </a:r>
            <a:r>
              <a:rPr lang="en-US" altLang="zh-CN" sz="2800" dirty="0">
                <a:solidFill>
                  <a:srgbClr val="0000FF"/>
                </a:solidFill>
                <a:ea typeface="宋体" charset="-122"/>
              </a:rPr>
              <a:t>call </a:t>
            </a:r>
            <a:r>
              <a:rPr lang="en-US" altLang="zh-CN" sz="2800" dirty="0">
                <a:ea typeface="宋体" charset="-122"/>
              </a:rPr>
              <a:t>(new instructions)</a:t>
            </a: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 dirty="0">
                <a:ea typeface="宋体" charset="-122"/>
              </a:rPr>
              <a:t> Return to caller</a:t>
            </a:r>
            <a:endParaRPr lang="en-US" altLang="zh-CN" sz="2800" dirty="0">
              <a:solidFill>
                <a:srgbClr val="00CC66"/>
              </a:solidFill>
              <a:ea typeface="宋体" charset="-122"/>
            </a:endParaRP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 dirty="0">
                <a:ea typeface="宋体" charset="-122"/>
              </a:rPr>
              <a:t> Passing data</a:t>
            </a:r>
            <a:endParaRPr lang="en-US" altLang="zh-CN" sz="2800" dirty="0">
              <a:solidFill>
                <a:srgbClr val="0000FF"/>
              </a:solidFill>
              <a:ea typeface="宋体" charset="-122"/>
            </a:endParaRP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 dirty="0">
                <a:ea typeface="宋体" charset="-122"/>
              </a:rPr>
              <a:t> Registers</a:t>
            </a:r>
            <a:endParaRPr lang="en-US" altLang="zh-CN" sz="2800" dirty="0">
              <a:solidFill>
                <a:srgbClr val="0000FF"/>
              </a:solidFill>
              <a:ea typeface="宋体" charset="-122"/>
            </a:endParaRP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 dirty="0">
                <a:ea typeface="宋体" charset="-122"/>
              </a:rPr>
              <a:t> Local variable</a:t>
            </a:r>
            <a:endParaRPr lang="en-US" altLang="zh-CN" dirty="0">
              <a:solidFill>
                <a:srgbClr val="0000FF"/>
              </a:solidFill>
              <a:ea typeface="宋体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793426-2681-DC4F-9EB9-515D9055725A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Invoke Callee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800600"/>
          </a:xfrm>
        </p:spPr>
        <p:txBody>
          <a:bodyPr/>
          <a:lstStyle/>
          <a:p>
            <a:pPr>
              <a:lnSpc>
                <a:spcPct val="140000"/>
              </a:lnSpc>
              <a:defRPr/>
            </a:pPr>
            <a:r>
              <a:rPr kumimoji="1" lang="en-US" altLang="zh-CN" dirty="0">
                <a:ea typeface="宋体" pitchFamily="2" charset="-122"/>
              </a:rPr>
              <a:t>Instruction </a:t>
            </a: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sz="26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call </a:t>
            </a:r>
            <a:r>
              <a:rPr kumimoji="1" lang="en-US" altLang="zh-CN" sz="2600" b="1" i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label</a:t>
            </a:r>
            <a:r>
              <a:rPr kumimoji="1" lang="en-US" altLang="zh-CN" sz="26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(direct)</a:t>
            </a: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sz="26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call </a:t>
            </a:r>
            <a:r>
              <a:rPr kumimoji="1" lang="en-US" altLang="zh-CN" sz="2600" b="1" i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*operand</a:t>
            </a:r>
            <a:r>
              <a:rPr kumimoji="1" lang="en-US" altLang="zh-CN" sz="26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kumimoji="1" lang="en-US" altLang="zh-CN" sz="26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(indirect)</a:t>
            </a:r>
          </a:p>
          <a:p>
            <a:pPr>
              <a:lnSpc>
                <a:spcPct val="140000"/>
              </a:lnSpc>
              <a:defRPr/>
            </a:pPr>
            <a:r>
              <a:rPr kumimoji="1" lang="en-US" altLang="zh-CN" dirty="0">
                <a:ea typeface="宋体" pitchFamily="2" charset="-122"/>
              </a:rPr>
              <a:t>Behavior description (by hardware)</a:t>
            </a: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dirty="0">
                <a:ea typeface="宋体" pitchFamily="2" charset="-122"/>
              </a:rPr>
              <a:t>Save </a:t>
            </a:r>
            <a:r>
              <a:rPr kumimoji="1" lang="en-US" altLang="zh-CN" i="1" dirty="0">
                <a:solidFill>
                  <a:srgbClr val="FF0000"/>
                </a:solidFill>
                <a:ea typeface="宋体" pitchFamily="2" charset="-122"/>
              </a:rPr>
              <a:t>return address</a:t>
            </a:r>
            <a:r>
              <a:rPr kumimoji="1" lang="en-US" altLang="zh-CN" dirty="0">
                <a:ea typeface="宋体" pitchFamily="2" charset="-122"/>
              </a:rPr>
              <a:t>  in the stack</a:t>
            </a:r>
            <a:r>
              <a:rPr kumimoji="1" lang="zh-CN" altLang="en-US" dirty="0">
                <a:ea typeface="宋体" pitchFamily="2" charset="-122"/>
              </a:rPr>
              <a:t> </a:t>
            </a:r>
            <a:r>
              <a:rPr kumimoji="1" lang="en-US" altLang="zh-CN" dirty="0">
                <a:ea typeface="宋体" pitchFamily="2" charset="-122"/>
              </a:rPr>
              <a:t>(call</a:t>
            </a:r>
            <a:r>
              <a:rPr kumimoji="1" lang="zh-CN" altLang="en-US" dirty="0">
                <a:ea typeface="宋体" pitchFamily="2" charset="-122"/>
              </a:rPr>
              <a:t>下一条指令</a:t>
            </a:r>
            <a:r>
              <a:rPr kumimoji="1" lang="en-US" altLang="zh-CN" dirty="0">
                <a:ea typeface="宋体" pitchFamily="2" charset="-122"/>
              </a:rPr>
              <a:t>)</a:t>
            </a:r>
            <a:endParaRPr kumimoji="1" lang="en-US" altLang="zh-CN" i="1" dirty="0">
              <a:ea typeface="宋体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dirty="0">
                <a:ea typeface="宋体" pitchFamily="2" charset="-122"/>
              </a:rPr>
              <a:t>Jump to the </a:t>
            </a:r>
            <a:r>
              <a:rPr kumimoji="1" lang="en-US" altLang="zh-CN" i="1" dirty="0">
                <a:solidFill>
                  <a:srgbClr val="FF0000"/>
                </a:solidFill>
                <a:ea typeface="宋体" pitchFamily="2" charset="-122"/>
              </a:rPr>
              <a:t>entry</a:t>
            </a:r>
            <a:r>
              <a:rPr kumimoji="1" lang="en-US" altLang="zh-CN" dirty="0">
                <a:solidFill>
                  <a:srgbClr val="FF0000"/>
                </a:solidFill>
                <a:ea typeface="宋体" pitchFamily="2" charset="-122"/>
              </a:rPr>
              <a:t> </a:t>
            </a:r>
            <a:r>
              <a:rPr kumimoji="1" lang="en-US" altLang="zh-CN" dirty="0">
                <a:ea typeface="宋体" pitchFamily="2" charset="-122"/>
              </a:rPr>
              <a:t>of </a:t>
            </a:r>
            <a:r>
              <a:rPr kumimoji="1" lang="en-US" altLang="zh-CN" dirty="0" err="1">
                <a:ea typeface="宋体" pitchFamily="2" charset="-122"/>
              </a:rPr>
              <a:t>callee</a:t>
            </a:r>
            <a:endParaRPr kumimoji="1" lang="en-US" altLang="zh-CN" dirty="0">
              <a:ea typeface="宋体" pitchFamily="2" charset="-122"/>
            </a:endParaRP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endParaRPr kumimoji="1" lang="en-US" altLang="zh-CN" sz="1600" dirty="0">
              <a:ea typeface="宋体" pitchFamily="2" charset="-122"/>
            </a:endParaRP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kumimoji="1" lang="en-US" altLang="zh-CN" dirty="0">
                <a:ea typeface="宋体" pitchFamily="2" charset="-122"/>
              </a:rPr>
              <a:t>		call = push + </a:t>
            </a:r>
            <a:r>
              <a:rPr kumimoji="1" lang="en-US" altLang="zh-CN" dirty="0" err="1">
                <a:ea typeface="宋体" pitchFamily="2" charset="-122"/>
              </a:rPr>
              <a:t>jmp</a:t>
            </a:r>
            <a:endParaRPr kumimoji="1" lang="en-US" altLang="zh-CN" dirty="0">
              <a:ea typeface="宋体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0" y="5495925"/>
            <a:ext cx="2133600" cy="904875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>
            <a:spAutoFit/>
          </a:bodyPr>
          <a:lstStyle/>
          <a:p>
            <a:pPr lvl="1" indent="-369888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0000FF"/>
                </a:solidFill>
                <a:latin typeface="Comic Sans MS"/>
                <a:ea typeface="宋体" panose="02010600030101010101" pitchFamily="2" charset="-122"/>
              </a:rPr>
              <a:t>push </a:t>
            </a:r>
            <a:r>
              <a:rPr kumimoji="0" lang="en-US" altLang="zh-CN" b="0" kern="0" dirty="0" err="1">
                <a:solidFill>
                  <a:srgbClr val="0000FF"/>
                </a:solidFill>
                <a:latin typeface="Comic Sans MS"/>
                <a:ea typeface="宋体" panose="02010600030101010101" pitchFamily="2" charset="-122"/>
              </a:rPr>
              <a:t>retaddr</a:t>
            </a:r>
            <a:endParaRPr kumimoji="0" lang="en-US" altLang="zh-CN" b="0" kern="0" dirty="0">
              <a:solidFill>
                <a:srgbClr val="0000FF"/>
              </a:solidFill>
              <a:latin typeface="Comic Sans MS"/>
              <a:ea typeface="宋体" panose="02010600030101010101" pitchFamily="2" charset="-122"/>
            </a:endParaRPr>
          </a:p>
          <a:p>
            <a:pPr lvl="1" indent="-369888">
              <a:spcBef>
                <a:spcPct val="20000"/>
              </a:spcBef>
              <a:defRPr/>
            </a:pPr>
            <a:r>
              <a:rPr kumimoji="0" lang="en-US" altLang="zh-CN" b="0" kern="0" dirty="0" err="1">
                <a:solidFill>
                  <a:srgbClr val="0000FF"/>
                </a:solidFill>
                <a:latin typeface="Comic Sans MS"/>
                <a:ea typeface="宋体" panose="02010600030101010101" pitchFamily="2" charset="-122"/>
              </a:rPr>
              <a:t>jmp</a:t>
            </a:r>
            <a:r>
              <a:rPr kumimoji="0" lang="en-US" altLang="zh-CN" b="0" kern="0" dirty="0">
                <a:solidFill>
                  <a:srgbClr val="0000FF"/>
                </a:solidFill>
                <a:latin typeface="Comic Sans MS"/>
                <a:ea typeface="宋体" panose="02010600030101010101" pitchFamily="2" charset="-122"/>
              </a:rPr>
              <a:t> </a:t>
            </a:r>
            <a:r>
              <a:rPr kumimoji="0" lang="en-US" altLang="zh-CN" b="0" kern="0" dirty="0" err="1">
                <a:solidFill>
                  <a:srgbClr val="0000FF"/>
                </a:solidFill>
                <a:latin typeface="Comic Sans MS"/>
                <a:ea typeface="宋体" panose="02010600030101010101" pitchFamily="2" charset="-122"/>
              </a:rPr>
              <a:t>callee</a:t>
            </a:r>
            <a:endParaRPr kumimoji="0" lang="en-US" altLang="zh-CN" b="0" kern="0" dirty="0">
              <a:solidFill>
                <a:srgbClr val="0000FF"/>
              </a:solidFill>
              <a:latin typeface="Comic Sans MS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97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Execution of call and ret</a:t>
            </a: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228600" y="1371600"/>
            <a:ext cx="8077200" cy="3505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US" altLang="zh-CN" sz="2000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//beginning of function sum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altLang="zh-CN" sz="2000" dirty="0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08048394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&lt;sum&gt;: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8048394:  55			push	%</a:t>
            </a:r>
            <a:r>
              <a:rPr lang="en-US" altLang="zh-CN" sz="20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ebp</a:t>
            </a:r>
            <a:endParaRPr lang="en-US" altLang="zh-CN" sz="2000" dirty="0"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   . . .</a:t>
            </a:r>
          </a:p>
          <a:p>
            <a:pPr marL="457200" indent="-457200">
              <a:buFont typeface="+mj-lt"/>
              <a:buAutoNum type="arabicPeriod" startAt="3"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80483a4:			ret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   . . .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//call to sum from main</a:t>
            </a:r>
          </a:p>
          <a:p>
            <a:pPr marL="457200" indent="-457200">
              <a:buFont typeface="+mj-lt"/>
              <a:buAutoNum type="arabicPeriod" startAt="4"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80483dc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:  e8 b3 </a:t>
            </a:r>
            <a:r>
              <a:rPr lang="en-US" altLang="zh-CN" sz="20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ff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ff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ff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	call	8048394&lt;sum&gt;  </a:t>
            </a:r>
          </a:p>
          <a:p>
            <a:pPr marL="457200" indent="-457200">
              <a:buFont typeface="+mj-lt"/>
              <a:buAutoNum type="arabicPeriod" startAt="4"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dirty="0">
                <a:solidFill>
                  <a:srgbClr val="FF9933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80483e1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:  83 c4 14		add	$0x14, %</a:t>
            </a:r>
            <a:r>
              <a:rPr lang="en-US" altLang="zh-CN" sz="20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esp</a:t>
            </a:r>
            <a:endParaRPr lang="en-US" altLang="zh-CN" sz="2000" dirty="0">
              <a:latin typeface="Courier New" pitchFamily="49" charset="0"/>
              <a:ea typeface="宋体" pitchFamily="2" charset="-122"/>
              <a:cs typeface="Courier New" pitchFamily="49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9600" y="5516563"/>
          <a:ext cx="2362200" cy="111442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Verdana" pitchFamily="34" charset="0"/>
                          <a:cs typeface="Courier New" pitchFamily="49" charset="0"/>
                        </a:rPr>
                        <a:t>%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Verdana" pitchFamily="34" charset="0"/>
                          <a:cs typeface="Courier New" pitchFamily="49" charset="0"/>
                        </a:rPr>
                        <a:t>eip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Verdana" pitchFamily="34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0x080483dc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%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esp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0xff9bc960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ret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-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833" name="Rectangle 17"/>
          <p:cNvSpPr>
            <a:spLocks noChangeArrowheads="1"/>
          </p:cNvSpPr>
          <p:nvPr/>
        </p:nvSpPr>
        <p:spPr bwMode="auto">
          <a:xfrm>
            <a:off x="609600" y="5440363"/>
            <a:ext cx="2362200" cy="1143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cxnSp>
        <p:nvCxnSpPr>
          <p:cNvPr id="34834" name="Straight Connector 18"/>
          <p:cNvCxnSpPr>
            <a:cxnSpLocks noChangeShapeType="1"/>
          </p:cNvCxnSpPr>
          <p:nvPr/>
        </p:nvCxnSpPr>
        <p:spPr bwMode="auto">
          <a:xfrm>
            <a:off x="609600" y="5897563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5" name="Straight Connector 19"/>
          <p:cNvCxnSpPr>
            <a:cxnSpLocks noChangeShapeType="1"/>
          </p:cNvCxnSpPr>
          <p:nvPr/>
        </p:nvCxnSpPr>
        <p:spPr bwMode="auto">
          <a:xfrm>
            <a:off x="1371600" y="5440363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6" name="Straight Connector 20"/>
          <p:cNvCxnSpPr>
            <a:cxnSpLocks noChangeShapeType="1"/>
          </p:cNvCxnSpPr>
          <p:nvPr/>
        </p:nvCxnSpPr>
        <p:spPr bwMode="auto">
          <a:xfrm>
            <a:off x="609600" y="6278563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276600" y="5516563"/>
          <a:ext cx="2362200" cy="111442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Verdana" pitchFamily="34" charset="0"/>
                          <a:cs typeface="Courier New" pitchFamily="49" charset="0"/>
                        </a:rPr>
                        <a:t>%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Verdana" pitchFamily="34" charset="0"/>
                          <a:cs typeface="Courier New" pitchFamily="49" charset="0"/>
                        </a:rPr>
                        <a:t>eip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Verdana" pitchFamily="34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0x08048394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%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esp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0xff9bc95c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ret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0x080483e1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9933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851" name="Rectangle 22"/>
          <p:cNvSpPr>
            <a:spLocks noChangeArrowheads="1"/>
          </p:cNvSpPr>
          <p:nvPr/>
        </p:nvSpPr>
        <p:spPr bwMode="auto">
          <a:xfrm>
            <a:off x="3276600" y="5440363"/>
            <a:ext cx="2362200" cy="1143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cxnSp>
        <p:nvCxnSpPr>
          <p:cNvPr id="34852" name="Straight Connector 23"/>
          <p:cNvCxnSpPr>
            <a:cxnSpLocks noChangeShapeType="1"/>
          </p:cNvCxnSpPr>
          <p:nvPr/>
        </p:nvCxnSpPr>
        <p:spPr bwMode="auto">
          <a:xfrm>
            <a:off x="3276600" y="5897563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53" name="Straight Connector 24"/>
          <p:cNvCxnSpPr>
            <a:cxnSpLocks noChangeShapeType="1"/>
          </p:cNvCxnSpPr>
          <p:nvPr/>
        </p:nvCxnSpPr>
        <p:spPr bwMode="auto">
          <a:xfrm>
            <a:off x="4038600" y="5440363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54" name="Straight Connector 25"/>
          <p:cNvCxnSpPr>
            <a:cxnSpLocks noChangeShapeType="1"/>
          </p:cNvCxnSpPr>
          <p:nvPr/>
        </p:nvCxnSpPr>
        <p:spPr bwMode="auto">
          <a:xfrm>
            <a:off x="3276600" y="6278563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55" name="TextBox 2"/>
          <p:cNvSpPr txBox="1">
            <a:spLocks noChangeArrowheads="1"/>
          </p:cNvSpPr>
          <p:nvPr/>
        </p:nvSpPr>
        <p:spPr bwMode="auto">
          <a:xfrm>
            <a:off x="609600" y="5029200"/>
            <a:ext cx="2362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Courier New" charset="0"/>
                <a:cs typeface="Courier New" charset="0"/>
              </a:rPr>
              <a:t>Executing call</a:t>
            </a:r>
            <a:endParaRPr lang="zh-CN" altLang="en-US" sz="2000">
              <a:solidFill>
                <a:srgbClr val="000000"/>
              </a:solidFill>
              <a:latin typeface="Courier New" charset="0"/>
              <a:cs typeface="Courier New" charset="0"/>
            </a:endParaRPr>
          </a:p>
        </p:txBody>
      </p:sp>
      <p:sp>
        <p:nvSpPr>
          <p:cNvPr id="34856" name="TextBox 32"/>
          <p:cNvSpPr txBox="1">
            <a:spLocks noChangeArrowheads="1"/>
          </p:cNvSpPr>
          <p:nvPr/>
        </p:nvSpPr>
        <p:spPr bwMode="auto">
          <a:xfrm>
            <a:off x="3276600" y="5029200"/>
            <a:ext cx="2362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Courier New" charset="0"/>
                <a:cs typeface="Courier New" charset="0"/>
              </a:rPr>
              <a:t>After call</a:t>
            </a:r>
            <a:endParaRPr lang="zh-CN" altLang="en-US" sz="2000">
              <a:solidFill>
                <a:srgbClr val="000000"/>
              </a:solidFill>
              <a:latin typeface="Courier New" charset="0"/>
              <a:cs typeface="Courier New" charset="0"/>
            </a:endParaRPr>
          </a:p>
        </p:txBody>
      </p:sp>
      <p:cxnSp>
        <p:nvCxnSpPr>
          <p:cNvPr id="34857" name="Straight Connector 4"/>
          <p:cNvCxnSpPr>
            <a:cxnSpLocks noChangeShapeType="1"/>
          </p:cNvCxnSpPr>
          <p:nvPr/>
        </p:nvCxnSpPr>
        <p:spPr bwMode="auto">
          <a:xfrm>
            <a:off x="228600" y="48006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E2FA62-569B-B04B-A0F3-F25FD35ABFB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Procedure/Function Implementation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648200"/>
          </a:xfrm>
        </p:spPr>
        <p:txBody>
          <a:bodyPr/>
          <a:lstStyle/>
          <a:p>
            <a:pPr marL="441325" lvl="1" indent="-346075">
              <a:lnSpc>
                <a:spcPct val="140000"/>
              </a:lnSpc>
              <a:buFont typeface="Wingdings" charset="2"/>
              <a:buChar char="ü"/>
            </a:pPr>
            <a:r>
              <a:rPr lang="en-US" altLang="zh-CN" sz="2800">
                <a:solidFill>
                  <a:srgbClr val="FF0000"/>
                </a:solidFill>
                <a:ea typeface="宋体" charset="-122"/>
              </a:rPr>
              <a:t> </a:t>
            </a:r>
            <a:r>
              <a:rPr lang="en-US" altLang="zh-CN" sz="2800">
                <a:ea typeface="宋体" charset="-122"/>
              </a:rPr>
              <a:t>Invoke callee: </a:t>
            </a:r>
            <a:r>
              <a:rPr lang="en-US" altLang="zh-CN" sz="2800">
                <a:solidFill>
                  <a:srgbClr val="0000FF"/>
                </a:solidFill>
                <a:ea typeface="宋体" charset="-122"/>
              </a:rPr>
              <a:t>call </a:t>
            </a:r>
            <a:r>
              <a:rPr lang="en-US" altLang="zh-CN" sz="2800">
                <a:ea typeface="宋体" charset="-122"/>
              </a:rPr>
              <a:t>(new instructions)</a:t>
            </a: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>
                <a:ea typeface="宋体" charset="-122"/>
              </a:rPr>
              <a:t> Return to caller: </a:t>
            </a:r>
            <a:r>
              <a:rPr lang="en-US" altLang="zh-CN" sz="2800">
                <a:solidFill>
                  <a:srgbClr val="0000FF"/>
                </a:solidFill>
                <a:ea typeface="宋体" charset="-122"/>
              </a:rPr>
              <a:t>ret</a:t>
            </a:r>
            <a:r>
              <a:rPr lang="en-US" altLang="zh-CN" sz="2800">
                <a:ea typeface="宋体" charset="-122"/>
              </a:rPr>
              <a:t> (new instructions)</a:t>
            </a:r>
            <a:endParaRPr lang="en-US" altLang="zh-CN" sz="2800">
              <a:solidFill>
                <a:srgbClr val="00CC66"/>
              </a:solidFill>
              <a:ea typeface="宋体" charset="-122"/>
            </a:endParaRP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>
                <a:ea typeface="宋体" charset="-122"/>
              </a:rPr>
              <a:t> Passing data</a:t>
            </a:r>
            <a:endParaRPr lang="en-US" altLang="zh-CN" sz="2800">
              <a:solidFill>
                <a:srgbClr val="0000FF"/>
              </a:solidFill>
              <a:ea typeface="宋体" charset="-122"/>
            </a:endParaRP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>
                <a:ea typeface="宋体" charset="-122"/>
              </a:rPr>
              <a:t> Registers</a:t>
            </a:r>
            <a:endParaRPr lang="en-US" altLang="zh-CN" sz="2800">
              <a:solidFill>
                <a:srgbClr val="0000FF"/>
              </a:solidFill>
              <a:ea typeface="宋体" charset="-122"/>
            </a:endParaRP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>
                <a:ea typeface="宋体" charset="-122"/>
              </a:rPr>
              <a:t> Local variable</a:t>
            </a:r>
            <a:endParaRPr lang="en-US" altLang="zh-CN">
              <a:solidFill>
                <a:srgbClr val="0000FF"/>
              </a:solidFill>
              <a:ea typeface="宋体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E3EB2E-BEC7-5A44-BB3C-124466A9E5E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Return to Caller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800600"/>
          </a:xfrm>
        </p:spPr>
        <p:txBody>
          <a:bodyPr/>
          <a:lstStyle/>
          <a:p>
            <a:pPr>
              <a:lnSpc>
                <a:spcPct val="140000"/>
              </a:lnSpc>
              <a:defRPr/>
            </a:pPr>
            <a:r>
              <a:rPr kumimoji="1" lang="en-US" altLang="zh-CN" dirty="0">
                <a:ea typeface="宋体" pitchFamily="2" charset="-122"/>
              </a:rPr>
              <a:t>Instruction </a:t>
            </a: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sz="26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ret</a:t>
            </a:r>
            <a:endParaRPr kumimoji="1" lang="en-US" altLang="zh-CN" sz="2600" b="1" dirty="0"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>
              <a:lnSpc>
                <a:spcPct val="140000"/>
              </a:lnSpc>
              <a:defRPr/>
            </a:pPr>
            <a:r>
              <a:rPr kumimoji="1" lang="en-US" altLang="zh-CN" dirty="0">
                <a:ea typeface="宋体" pitchFamily="2" charset="-122"/>
              </a:rPr>
              <a:t>Behavior description (by hardware)</a:t>
            </a: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dirty="0">
                <a:ea typeface="宋体" pitchFamily="2" charset="-122"/>
              </a:rPr>
              <a:t>Pop </a:t>
            </a:r>
            <a:r>
              <a:rPr kumimoji="1" lang="en-US" altLang="zh-CN" i="1" dirty="0">
                <a:solidFill>
                  <a:srgbClr val="FF0000"/>
                </a:solidFill>
                <a:ea typeface="宋体" pitchFamily="2" charset="-122"/>
              </a:rPr>
              <a:t>return address</a:t>
            </a:r>
            <a:r>
              <a:rPr kumimoji="1" lang="en-US" altLang="zh-CN" dirty="0">
                <a:ea typeface="宋体" pitchFamily="2" charset="-122"/>
              </a:rPr>
              <a:t>  from stack</a:t>
            </a:r>
            <a:endParaRPr kumimoji="1" lang="en-US" altLang="zh-CN" i="1" dirty="0">
              <a:ea typeface="宋体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dirty="0">
                <a:ea typeface="宋体" pitchFamily="2" charset="-122"/>
              </a:rPr>
              <a:t>Jump to </a:t>
            </a:r>
            <a:r>
              <a:rPr kumimoji="1" lang="en-US" altLang="zh-CN" i="1" dirty="0">
                <a:solidFill>
                  <a:srgbClr val="FF0000"/>
                </a:solidFill>
                <a:ea typeface="宋体" pitchFamily="2" charset="-122"/>
              </a:rPr>
              <a:t>return address</a:t>
            </a:r>
            <a:r>
              <a:rPr kumimoji="1" lang="en-US" altLang="zh-CN" dirty="0">
                <a:solidFill>
                  <a:srgbClr val="FF0000"/>
                </a:solidFill>
                <a:ea typeface="宋体" pitchFamily="2" charset="-122"/>
              </a:rPr>
              <a:t>  </a:t>
            </a:r>
            <a:r>
              <a:rPr kumimoji="1" lang="en-US" altLang="zh-CN" dirty="0">
                <a:ea typeface="宋体" pitchFamily="2" charset="-122"/>
              </a:rPr>
              <a:t>in caller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endParaRPr kumimoji="1" lang="en-US" altLang="zh-CN" sz="1600" dirty="0">
              <a:ea typeface="宋体" pitchFamily="2" charset="-122"/>
            </a:endParaRP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kumimoji="1" lang="en-US" altLang="zh-CN" dirty="0">
                <a:solidFill>
                  <a:srgbClr val="000000"/>
                </a:solidFill>
                <a:ea typeface="宋体" pitchFamily="2" charset="-122"/>
              </a:rPr>
              <a:t>		ret = pop + </a:t>
            </a:r>
            <a:r>
              <a:rPr kumimoji="1" lang="en-US" altLang="zh-CN" dirty="0" err="1">
                <a:solidFill>
                  <a:srgbClr val="000000"/>
                </a:solidFill>
                <a:ea typeface="宋体" pitchFamily="2" charset="-122"/>
              </a:rPr>
              <a:t>jmp</a:t>
            </a:r>
            <a:endParaRPr kumimoji="1" lang="en-US" altLang="zh-CN" dirty="0">
              <a:solidFill>
                <a:srgbClr val="000000"/>
              </a:solidFill>
              <a:ea typeface="宋体" pitchFamily="2" charset="-122"/>
            </a:endParaRP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endParaRPr kumimoji="1" lang="en-US" altLang="zh-CN" sz="1600" dirty="0">
              <a:ea typeface="宋体" pitchFamily="2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62600" y="4876800"/>
            <a:ext cx="2133600" cy="904875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>
            <a:spAutoFit/>
          </a:bodyPr>
          <a:lstStyle/>
          <a:p>
            <a:pPr lvl="1" indent="-369888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0000FF"/>
                </a:solidFill>
                <a:latin typeface="Comic Sans MS"/>
                <a:ea typeface="宋体" panose="02010600030101010101" pitchFamily="2" charset="-122"/>
              </a:rPr>
              <a:t>pop </a:t>
            </a:r>
            <a:r>
              <a:rPr kumimoji="0" lang="en-US" altLang="zh-CN" b="0" kern="0" dirty="0" err="1">
                <a:solidFill>
                  <a:srgbClr val="0000FF"/>
                </a:solidFill>
                <a:latin typeface="Comic Sans MS"/>
                <a:ea typeface="宋体" panose="02010600030101010101" pitchFamily="2" charset="-122"/>
              </a:rPr>
              <a:t>retaddr</a:t>
            </a:r>
            <a:endParaRPr kumimoji="0" lang="en-US" altLang="zh-CN" b="0" kern="0" dirty="0">
              <a:solidFill>
                <a:srgbClr val="0000FF"/>
              </a:solidFill>
              <a:latin typeface="Comic Sans MS"/>
              <a:ea typeface="宋体" panose="02010600030101010101" pitchFamily="2" charset="-122"/>
            </a:endParaRPr>
          </a:p>
          <a:p>
            <a:pPr lvl="1" indent="-369888">
              <a:spcBef>
                <a:spcPct val="20000"/>
              </a:spcBef>
              <a:defRPr/>
            </a:pPr>
            <a:r>
              <a:rPr kumimoji="0" lang="en-US" altLang="zh-CN" b="0" kern="0" dirty="0" err="1">
                <a:solidFill>
                  <a:srgbClr val="0000FF"/>
                </a:solidFill>
                <a:latin typeface="Comic Sans MS"/>
                <a:ea typeface="宋体" panose="02010600030101010101" pitchFamily="2" charset="-122"/>
              </a:rPr>
              <a:t>jmp</a:t>
            </a:r>
            <a:r>
              <a:rPr kumimoji="0" lang="en-US" altLang="zh-CN" b="0" kern="0" dirty="0">
                <a:solidFill>
                  <a:srgbClr val="0000FF"/>
                </a:solidFill>
                <a:latin typeface="Comic Sans MS"/>
                <a:ea typeface="宋体" panose="02010600030101010101" pitchFamily="2" charset="-122"/>
              </a:rPr>
              <a:t> </a:t>
            </a:r>
            <a:r>
              <a:rPr kumimoji="0" lang="en-US" altLang="zh-CN" b="0" kern="0" dirty="0" err="1">
                <a:solidFill>
                  <a:srgbClr val="0000FF"/>
                </a:solidFill>
                <a:latin typeface="Comic Sans MS"/>
                <a:ea typeface="宋体" panose="02010600030101010101" pitchFamily="2" charset="-122"/>
              </a:rPr>
              <a:t>retaddr</a:t>
            </a:r>
            <a:endParaRPr kumimoji="0" lang="en-US" altLang="zh-CN" b="0" kern="0" dirty="0">
              <a:solidFill>
                <a:srgbClr val="0000FF"/>
              </a:solidFill>
              <a:latin typeface="Comic Sans MS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97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5C79B7-8484-E543-ADF4-59BDB86FAAAB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Execution of call and ret</a:t>
            </a: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228600" y="1371600"/>
            <a:ext cx="8077200" cy="3505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US" altLang="zh-CN" sz="2000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//beginning of function sum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altLang="zh-CN" sz="2000" dirty="0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08048394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&lt;sum&gt;: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8048394:  55			push	%</a:t>
            </a:r>
            <a:r>
              <a:rPr lang="en-US" altLang="zh-CN" sz="20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ebp</a:t>
            </a:r>
            <a:endParaRPr lang="en-US" altLang="zh-CN" sz="2000" dirty="0"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   . . .</a:t>
            </a:r>
          </a:p>
          <a:p>
            <a:pPr marL="457200" indent="-457200">
              <a:buFont typeface="+mj-lt"/>
              <a:buAutoNum type="arabicPeriod" startAt="3"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80483a4:			ret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   . . .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//call to sum from main</a:t>
            </a:r>
          </a:p>
          <a:p>
            <a:pPr marL="457200" indent="-457200">
              <a:buFont typeface="+mj-lt"/>
              <a:buAutoNum type="arabicPeriod" startAt="4"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80483dc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:  e8 b3 </a:t>
            </a:r>
            <a:r>
              <a:rPr lang="en-US" altLang="zh-CN" sz="20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ff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ff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ff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	call	8048394&lt;sum&gt;  </a:t>
            </a:r>
          </a:p>
          <a:p>
            <a:pPr marL="457200" indent="-457200">
              <a:buFont typeface="+mj-lt"/>
              <a:buAutoNum type="arabicPeriod" startAt="4"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dirty="0">
                <a:solidFill>
                  <a:srgbClr val="FF9933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80483e1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:  83 c4 14		add	$0x14, %</a:t>
            </a:r>
            <a:r>
              <a:rPr lang="en-US" altLang="zh-CN" sz="20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esp</a:t>
            </a:r>
            <a:endParaRPr lang="en-US" altLang="zh-CN" sz="2000" dirty="0">
              <a:latin typeface="Courier New" pitchFamily="49" charset="0"/>
              <a:ea typeface="宋体" pitchFamily="2" charset="-122"/>
              <a:cs typeface="Courier New" pitchFamily="49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276600" y="5516563"/>
          <a:ext cx="2362200" cy="111442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Verdana" pitchFamily="34" charset="0"/>
                          <a:cs typeface="Courier New" pitchFamily="49" charset="0"/>
                        </a:rPr>
                        <a:t>%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Verdana" pitchFamily="34" charset="0"/>
                          <a:cs typeface="Courier New" pitchFamily="49" charset="0"/>
                        </a:rPr>
                        <a:t>eip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Verdana" pitchFamily="34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0x080483a4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%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esp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0xff9bc95c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ret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0x080483e1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9933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978" name="Rectangle 22"/>
          <p:cNvSpPr>
            <a:spLocks noChangeArrowheads="1"/>
          </p:cNvSpPr>
          <p:nvPr/>
        </p:nvSpPr>
        <p:spPr bwMode="auto">
          <a:xfrm>
            <a:off x="3276600" y="5440363"/>
            <a:ext cx="2362200" cy="1143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cxnSp>
        <p:nvCxnSpPr>
          <p:cNvPr id="40979" name="Straight Connector 23"/>
          <p:cNvCxnSpPr>
            <a:cxnSpLocks noChangeShapeType="1"/>
          </p:cNvCxnSpPr>
          <p:nvPr/>
        </p:nvCxnSpPr>
        <p:spPr bwMode="auto">
          <a:xfrm>
            <a:off x="3276600" y="5897563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0" name="Straight Connector 24"/>
          <p:cNvCxnSpPr>
            <a:cxnSpLocks noChangeShapeType="1"/>
          </p:cNvCxnSpPr>
          <p:nvPr/>
        </p:nvCxnSpPr>
        <p:spPr bwMode="auto">
          <a:xfrm>
            <a:off x="4038600" y="5440363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1" name="Straight Connector 25"/>
          <p:cNvCxnSpPr>
            <a:cxnSpLocks noChangeShapeType="1"/>
          </p:cNvCxnSpPr>
          <p:nvPr/>
        </p:nvCxnSpPr>
        <p:spPr bwMode="auto">
          <a:xfrm>
            <a:off x="3276600" y="6278563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943600" y="5516563"/>
          <a:ext cx="2362200" cy="111442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Verdana" pitchFamily="34" charset="0"/>
                          <a:cs typeface="Courier New" pitchFamily="49" charset="0"/>
                        </a:rPr>
                        <a:t>%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Verdana" pitchFamily="34" charset="0"/>
                          <a:cs typeface="Courier New" pitchFamily="49" charset="0"/>
                        </a:rPr>
                        <a:t>eip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Verdana" pitchFamily="34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0x080483e1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9933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%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esp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0xff9bc960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ret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-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996" name="Rectangle 27"/>
          <p:cNvSpPr>
            <a:spLocks noChangeArrowheads="1"/>
          </p:cNvSpPr>
          <p:nvPr/>
        </p:nvSpPr>
        <p:spPr bwMode="auto">
          <a:xfrm>
            <a:off x="5943600" y="5440363"/>
            <a:ext cx="2362200" cy="1143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cxnSp>
        <p:nvCxnSpPr>
          <p:cNvPr id="40997" name="Straight Connector 28"/>
          <p:cNvCxnSpPr>
            <a:cxnSpLocks noChangeShapeType="1"/>
          </p:cNvCxnSpPr>
          <p:nvPr/>
        </p:nvCxnSpPr>
        <p:spPr bwMode="auto">
          <a:xfrm>
            <a:off x="5943600" y="5897563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98" name="Straight Connector 29"/>
          <p:cNvCxnSpPr>
            <a:cxnSpLocks noChangeShapeType="1"/>
          </p:cNvCxnSpPr>
          <p:nvPr/>
        </p:nvCxnSpPr>
        <p:spPr bwMode="auto">
          <a:xfrm>
            <a:off x="6705600" y="5440363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99" name="Straight Connector 30"/>
          <p:cNvCxnSpPr>
            <a:cxnSpLocks noChangeShapeType="1"/>
          </p:cNvCxnSpPr>
          <p:nvPr/>
        </p:nvCxnSpPr>
        <p:spPr bwMode="auto">
          <a:xfrm>
            <a:off x="5943600" y="6278563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00" name="TextBox 32"/>
          <p:cNvSpPr txBox="1">
            <a:spLocks noChangeArrowheads="1"/>
          </p:cNvSpPr>
          <p:nvPr/>
        </p:nvSpPr>
        <p:spPr bwMode="auto">
          <a:xfrm>
            <a:off x="3276600" y="5029200"/>
            <a:ext cx="2362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Courier New" charset="0"/>
                <a:cs typeface="Courier New" charset="0"/>
              </a:rPr>
              <a:t>executing ret</a:t>
            </a:r>
            <a:endParaRPr lang="zh-CN" altLang="en-US" sz="2000">
              <a:solidFill>
                <a:srgbClr val="000000"/>
              </a:solidFill>
              <a:latin typeface="Courier New" charset="0"/>
              <a:cs typeface="Courier New" charset="0"/>
            </a:endParaRPr>
          </a:p>
        </p:txBody>
      </p:sp>
      <p:sp>
        <p:nvSpPr>
          <p:cNvPr id="41001" name="TextBox 33"/>
          <p:cNvSpPr txBox="1">
            <a:spLocks noChangeArrowheads="1"/>
          </p:cNvSpPr>
          <p:nvPr/>
        </p:nvSpPr>
        <p:spPr bwMode="auto">
          <a:xfrm>
            <a:off x="5943600" y="5029200"/>
            <a:ext cx="2362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Courier New" charset="0"/>
                <a:cs typeface="Courier New" charset="0"/>
              </a:rPr>
              <a:t>After ret</a:t>
            </a:r>
            <a:endParaRPr lang="zh-CN" altLang="en-US" sz="2000">
              <a:solidFill>
                <a:srgbClr val="000000"/>
              </a:solidFill>
              <a:latin typeface="Courier New" charset="0"/>
              <a:cs typeface="Courier New" charset="0"/>
            </a:endParaRPr>
          </a:p>
        </p:txBody>
      </p:sp>
      <p:cxnSp>
        <p:nvCxnSpPr>
          <p:cNvPr id="41002" name="Straight Connector 4"/>
          <p:cNvCxnSpPr>
            <a:cxnSpLocks noChangeShapeType="1"/>
          </p:cNvCxnSpPr>
          <p:nvPr/>
        </p:nvCxnSpPr>
        <p:spPr bwMode="auto">
          <a:xfrm>
            <a:off x="228600" y="48006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CDBF8B-DE56-264D-84D3-5BF4E4119BA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Procedure/Function Implementation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648200"/>
          </a:xfrm>
        </p:spPr>
        <p:txBody>
          <a:bodyPr/>
          <a:lstStyle/>
          <a:p>
            <a:pPr marL="441325" lvl="1" indent="-346075">
              <a:lnSpc>
                <a:spcPct val="140000"/>
              </a:lnSpc>
              <a:buFont typeface="Wingdings" charset="2"/>
              <a:buChar char="ü"/>
            </a:pPr>
            <a:r>
              <a:rPr lang="en-US" altLang="zh-CN" sz="2800">
                <a:solidFill>
                  <a:srgbClr val="FF0000"/>
                </a:solidFill>
                <a:ea typeface="宋体" charset="-122"/>
              </a:rPr>
              <a:t> </a:t>
            </a:r>
            <a:r>
              <a:rPr lang="en-US" altLang="zh-CN" sz="2800">
                <a:ea typeface="宋体" charset="-122"/>
              </a:rPr>
              <a:t>Invoke callee: </a:t>
            </a:r>
            <a:r>
              <a:rPr lang="en-US" altLang="zh-CN" sz="2800">
                <a:solidFill>
                  <a:srgbClr val="0000FF"/>
                </a:solidFill>
                <a:ea typeface="宋体" charset="-122"/>
              </a:rPr>
              <a:t>call </a:t>
            </a:r>
            <a:r>
              <a:rPr lang="en-US" altLang="zh-CN" sz="2800">
                <a:ea typeface="宋体" charset="-122"/>
              </a:rPr>
              <a:t>(new instructions)</a:t>
            </a:r>
          </a:p>
          <a:p>
            <a:pPr marL="441325" lvl="1" indent="-346075">
              <a:lnSpc>
                <a:spcPct val="140000"/>
              </a:lnSpc>
              <a:buFont typeface="Wingdings" charset="2"/>
              <a:buChar char="ü"/>
            </a:pPr>
            <a:r>
              <a:rPr lang="en-US" altLang="zh-CN" sz="2800">
                <a:solidFill>
                  <a:srgbClr val="FF0000"/>
                </a:solidFill>
                <a:ea typeface="宋体" charset="-122"/>
              </a:rPr>
              <a:t> </a:t>
            </a:r>
            <a:r>
              <a:rPr lang="en-US" altLang="zh-CN" sz="2800">
                <a:ea typeface="宋体" charset="-122"/>
              </a:rPr>
              <a:t>Return to caller: </a:t>
            </a:r>
            <a:r>
              <a:rPr lang="en-US" altLang="zh-CN" sz="2800">
                <a:solidFill>
                  <a:srgbClr val="0000FF"/>
                </a:solidFill>
                <a:ea typeface="宋体" charset="-122"/>
              </a:rPr>
              <a:t>ret</a:t>
            </a:r>
            <a:r>
              <a:rPr lang="en-US" altLang="zh-CN" sz="2800">
                <a:ea typeface="宋体" charset="-122"/>
              </a:rPr>
              <a:t> (new instructions)</a:t>
            </a:r>
            <a:endParaRPr lang="en-US" altLang="zh-CN" sz="2800">
              <a:solidFill>
                <a:srgbClr val="00CC66"/>
              </a:solidFill>
              <a:ea typeface="宋体" charset="-122"/>
            </a:endParaRP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>
                <a:ea typeface="宋体" charset="-122"/>
              </a:rPr>
              <a:t> Passing data: </a:t>
            </a:r>
            <a:r>
              <a:rPr lang="en-US" altLang="zh-CN" sz="2800">
                <a:solidFill>
                  <a:srgbClr val="0000FF"/>
                </a:solidFill>
                <a:ea typeface="宋体" charset="-122"/>
              </a:rPr>
              <a:t>stack</a:t>
            </a:r>
            <a:r>
              <a:rPr lang="en-US" altLang="zh-CN" sz="2800">
                <a:ea typeface="宋体" charset="-122"/>
              </a:rPr>
              <a:t>, </a:t>
            </a:r>
            <a:r>
              <a:rPr lang="en-US" altLang="zh-CN" sz="2800">
                <a:solidFill>
                  <a:srgbClr val="0000FF"/>
                </a:solidFill>
                <a:ea typeface="宋体" charset="-122"/>
              </a:rPr>
              <a:t>register</a:t>
            </a: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>
                <a:ea typeface="宋体" charset="-122"/>
              </a:rPr>
              <a:t> Registers</a:t>
            </a:r>
            <a:endParaRPr lang="en-US" altLang="zh-CN" sz="2800">
              <a:solidFill>
                <a:srgbClr val="0000FF"/>
              </a:solidFill>
              <a:ea typeface="宋体" charset="-122"/>
            </a:endParaRP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>
                <a:ea typeface="宋体" charset="-122"/>
              </a:rPr>
              <a:t> Local variable</a:t>
            </a:r>
            <a:endParaRPr lang="en-US" altLang="zh-CN">
              <a:solidFill>
                <a:srgbClr val="0000FF"/>
              </a:solidFill>
              <a:ea typeface="宋体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AD3CA7-4EE8-6C48-91E0-1067B994CD3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Stack Frame </a:t>
            </a:r>
            <a:r>
              <a:rPr lang="en-US" altLang="zh-CN" dirty="0">
                <a:ea typeface="宋体" charset="-122"/>
              </a:rPr>
              <a:t>Structure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The portion of stack allocated for a procedure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A stack frame is delimited by </a:t>
            </a: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The 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frame pointer </a:t>
            </a: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%</a:t>
            </a:r>
            <a:r>
              <a:rPr lang="en-US" altLang="zh-CN" dirty="0" err="1">
                <a:solidFill>
                  <a:srgbClr val="0000FF"/>
                </a:solidFill>
                <a:ea typeface="宋体" charset="-122"/>
              </a:rPr>
              <a:t>ebp</a:t>
            </a:r>
            <a:endParaRPr lang="en-US" altLang="zh-CN" dirty="0">
              <a:solidFill>
                <a:srgbClr val="0000FF"/>
              </a:solidFill>
              <a:ea typeface="宋体" charset="-122"/>
            </a:endParaRP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The stack pointer </a:t>
            </a: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%</a:t>
            </a:r>
            <a:r>
              <a:rPr lang="en-US" altLang="zh-CN" dirty="0" err="1">
                <a:solidFill>
                  <a:srgbClr val="0000FF"/>
                </a:solidFill>
                <a:ea typeface="宋体" charset="-122"/>
              </a:rPr>
              <a:t>esp</a:t>
            </a:r>
            <a:endParaRPr lang="en-US" altLang="zh-CN" dirty="0">
              <a:solidFill>
                <a:srgbClr val="0000FF"/>
              </a:solidFill>
              <a:ea typeface="宋体" charset="-122"/>
            </a:endParaRPr>
          </a:p>
          <a:p>
            <a:pPr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The stack pointer can move when the procedure is executing (dynamic)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The frame pointer is 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static </a:t>
            </a:r>
            <a:r>
              <a:rPr lang="en-US" altLang="zh-CN" dirty="0">
                <a:ea typeface="宋体" charset="-122"/>
              </a:rPr>
              <a:t>(%</a:t>
            </a:r>
            <a:r>
              <a:rPr lang="en-US" altLang="zh-CN" dirty="0" err="1">
                <a:ea typeface="宋体" charset="-122"/>
              </a:rPr>
              <a:t>ebp</a:t>
            </a:r>
            <a:r>
              <a:rPr lang="en-US" altLang="zh-CN" dirty="0">
                <a:ea typeface="宋体" charset="-122"/>
              </a:rPr>
              <a:t>)</a:t>
            </a:r>
          </a:p>
        </p:txBody>
      </p:sp>
      <p:graphicFrame>
        <p:nvGraphicFramePr>
          <p:cNvPr id="1074204" name="Group 28"/>
          <p:cNvGraphicFramePr>
            <a:graphicFrameLocks noGrp="1"/>
          </p:cNvGraphicFramePr>
          <p:nvPr/>
        </p:nvGraphicFramePr>
        <p:xfrm>
          <a:off x="7331075" y="2819400"/>
          <a:ext cx="1447800" cy="97155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5066" name="Group 27"/>
          <p:cNvGrpSpPr>
            <a:grpSpLocks/>
          </p:cNvGrpSpPr>
          <p:nvPr/>
        </p:nvGrpSpPr>
        <p:grpSpPr bwMode="auto">
          <a:xfrm>
            <a:off x="6096000" y="2743200"/>
            <a:ext cx="1235075" cy="1182688"/>
            <a:chOff x="3686" y="1200"/>
            <a:chExt cx="778" cy="745"/>
          </a:xfrm>
        </p:grpSpPr>
        <p:sp>
          <p:nvSpPr>
            <p:cNvPr id="45067" name="Text Box 16"/>
            <p:cNvSpPr txBox="1">
              <a:spLocks noChangeArrowheads="1"/>
            </p:cNvSpPr>
            <p:nvPr/>
          </p:nvSpPr>
          <p:spPr bwMode="auto">
            <a:xfrm>
              <a:off x="3686" y="1200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45068" name="Text Box 17"/>
            <p:cNvSpPr txBox="1">
              <a:spLocks noChangeArrowheads="1"/>
            </p:cNvSpPr>
            <p:nvPr/>
          </p:nvSpPr>
          <p:spPr bwMode="auto">
            <a:xfrm>
              <a:off x="3696" y="1654"/>
              <a:ext cx="5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45069" name="Line 18"/>
            <p:cNvSpPr>
              <a:spLocks noChangeShapeType="1"/>
            </p:cNvSpPr>
            <p:nvPr/>
          </p:nvSpPr>
          <p:spPr bwMode="auto">
            <a:xfrm>
              <a:off x="4224" y="136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5070" name="Line 19"/>
            <p:cNvSpPr>
              <a:spLocks noChangeShapeType="1"/>
            </p:cNvSpPr>
            <p:nvPr/>
          </p:nvSpPr>
          <p:spPr bwMode="auto">
            <a:xfrm flipV="1">
              <a:off x="4224" y="1798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A09ECD-0E3C-CE4D-A239-EEAF425A7B8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Stack Frame Structure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>
                <a:ea typeface="宋体" charset="-122"/>
              </a:rPr>
              <a:t>主函数、子函数共享同一个</a:t>
            </a:r>
            <a:r>
              <a:rPr lang="en-US" altLang="zh-CN" dirty="0">
                <a:ea typeface="宋体" charset="-122"/>
              </a:rPr>
              <a:t>system stack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call: </a:t>
            </a:r>
            <a:r>
              <a:rPr kumimoji="1" lang="en-US" altLang="zh-CN" dirty="0">
                <a:ea typeface="宋体" charset="-122"/>
              </a:rPr>
              <a:t>save </a:t>
            </a:r>
            <a:r>
              <a:rPr kumimoji="1" lang="en-US" altLang="zh-CN" i="1" dirty="0">
                <a:solidFill>
                  <a:srgbClr val="FF0000"/>
                </a:solidFill>
                <a:ea typeface="宋体" charset="-122"/>
              </a:rPr>
              <a:t>return address</a:t>
            </a:r>
            <a:r>
              <a:rPr kumimoji="1" lang="en-US" altLang="zh-CN" dirty="0">
                <a:ea typeface="宋体" charset="-122"/>
              </a:rPr>
              <a:t>  in the stack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ret: </a:t>
            </a:r>
            <a:r>
              <a:rPr kumimoji="1" lang="en-US" altLang="zh-CN" dirty="0">
                <a:ea typeface="宋体" charset="-122"/>
              </a:rPr>
              <a:t>pop </a:t>
            </a:r>
            <a:r>
              <a:rPr kumimoji="1" lang="en-US" altLang="zh-CN" i="1" dirty="0">
                <a:solidFill>
                  <a:srgbClr val="FF0000"/>
                </a:solidFill>
                <a:ea typeface="宋体" charset="-122"/>
              </a:rPr>
              <a:t>return address</a:t>
            </a:r>
            <a:r>
              <a:rPr kumimoji="1" lang="en-US" altLang="zh-CN" dirty="0">
                <a:ea typeface="宋体" charset="-122"/>
              </a:rPr>
              <a:t>  from stack</a:t>
            </a:r>
            <a:endParaRPr lang="en-US" altLang="zh-CN" dirty="0">
              <a:ea typeface="宋体" charset="-122"/>
            </a:endParaRP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The end of caller’s stack frame</a:t>
            </a:r>
          </a:p>
        </p:txBody>
      </p:sp>
      <p:graphicFrame>
        <p:nvGraphicFramePr>
          <p:cNvPr id="1074204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0960"/>
              </p:ext>
            </p:extLst>
          </p:nvPr>
        </p:nvGraphicFramePr>
        <p:xfrm>
          <a:off x="6218237" y="5257800"/>
          <a:ext cx="1431925" cy="1143000"/>
        </p:xfrm>
        <a:graphic>
          <a:graphicData uri="http://schemas.openxmlformats.org/drawingml/2006/table">
            <a:tbl>
              <a:tblPr/>
              <a:tblGrid>
                <a:gridCol w="14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Callee</a:t>
                      </a:r>
                      <a:b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7114" name="Group 27"/>
          <p:cNvGrpSpPr>
            <a:grpSpLocks/>
          </p:cNvGrpSpPr>
          <p:nvPr/>
        </p:nvGrpSpPr>
        <p:grpSpPr bwMode="auto">
          <a:xfrm>
            <a:off x="4983162" y="5024438"/>
            <a:ext cx="1235075" cy="1376362"/>
            <a:chOff x="3686" y="1078"/>
            <a:chExt cx="778" cy="867"/>
          </a:xfrm>
        </p:grpSpPr>
        <p:sp>
          <p:nvSpPr>
            <p:cNvPr id="47129" name="Text Box 16"/>
            <p:cNvSpPr txBox="1">
              <a:spLocks noChangeArrowheads="1"/>
            </p:cNvSpPr>
            <p:nvPr/>
          </p:nvSpPr>
          <p:spPr bwMode="auto">
            <a:xfrm>
              <a:off x="3686" y="1078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47130" name="Text Box 17"/>
            <p:cNvSpPr txBox="1">
              <a:spLocks noChangeArrowheads="1"/>
            </p:cNvSpPr>
            <p:nvPr/>
          </p:nvSpPr>
          <p:spPr bwMode="auto">
            <a:xfrm>
              <a:off x="3696" y="1654"/>
              <a:ext cx="5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47131" name="Line 18"/>
            <p:cNvSpPr>
              <a:spLocks noChangeShapeType="1"/>
            </p:cNvSpPr>
            <p:nvPr/>
          </p:nvSpPr>
          <p:spPr bwMode="auto">
            <a:xfrm>
              <a:off x="4224" y="12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7132" name="Line 19"/>
            <p:cNvSpPr>
              <a:spLocks noChangeShapeType="1"/>
            </p:cNvSpPr>
            <p:nvPr/>
          </p:nvSpPr>
          <p:spPr bwMode="auto">
            <a:xfrm flipV="1">
              <a:off x="4224" y="1798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11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23784"/>
              </p:ext>
            </p:extLst>
          </p:nvPr>
        </p:nvGraphicFramePr>
        <p:xfrm>
          <a:off x="6218237" y="4860925"/>
          <a:ext cx="1431925" cy="396875"/>
        </p:xfrm>
        <a:graphic>
          <a:graphicData uri="http://schemas.openxmlformats.org/drawingml/2006/table">
            <a:tbl>
              <a:tblPr/>
              <a:tblGrid>
                <a:gridCol w="14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718918"/>
              </p:ext>
            </p:extLst>
          </p:nvPr>
        </p:nvGraphicFramePr>
        <p:xfrm>
          <a:off x="6218237" y="3810000"/>
          <a:ext cx="1431925" cy="1447800"/>
        </p:xfrm>
        <a:graphic>
          <a:graphicData uri="http://schemas.openxmlformats.org/drawingml/2006/table">
            <a:tbl>
              <a:tblPr/>
              <a:tblGrid>
                <a:gridCol w="14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7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127" name="Rectangle 12"/>
          <p:cNvSpPr>
            <a:spLocks noChangeArrowheads="1"/>
          </p:cNvSpPr>
          <p:nvPr/>
        </p:nvSpPr>
        <p:spPr bwMode="auto">
          <a:xfrm>
            <a:off x="6218237" y="3810000"/>
            <a:ext cx="1431925" cy="1444625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47128" name="Rectangle 14"/>
          <p:cNvSpPr>
            <a:spLocks noChangeArrowheads="1"/>
          </p:cNvSpPr>
          <p:nvPr/>
        </p:nvSpPr>
        <p:spPr bwMode="auto">
          <a:xfrm>
            <a:off x="6218237" y="5260975"/>
            <a:ext cx="1431925" cy="1139825"/>
          </a:xfrm>
          <a:prstGeom prst="rect">
            <a:avLst/>
          </a:prstGeom>
          <a:solidFill>
            <a:srgbClr val="FFCCFF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22F549-7B1B-5943-A7E9-C81CAAAA32B8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Frame Chain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6065838" cy="15240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Pointers (%</a:t>
            </a:r>
            <a:r>
              <a:rPr lang="en-US" altLang="zh-CN" dirty="0" err="1">
                <a:ea typeface="宋体" pitchFamily="2" charset="-122"/>
              </a:rPr>
              <a:t>ebp</a:t>
            </a:r>
            <a:r>
              <a:rPr lang="en-US" altLang="zh-CN" dirty="0">
                <a:ea typeface="宋体" pitchFamily="2" charset="-122"/>
              </a:rPr>
              <a:t>/%</a:t>
            </a:r>
            <a:r>
              <a:rPr lang="en-US" altLang="zh-CN" dirty="0" err="1">
                <a:ea typeface="宋体" pitchFamily="2" charset="-122"/>
              </a:rPr>
              <a:t>esp</a:t>
            </a:r>
            <a:r>
              <a:rPr lang="en-US" altLang="zh-CN" dirty="0">
                <a:ea typeface="宋体" pitchFamily="2" charset="-122"/>
              </a:rPr>
              <a:t>) only delimit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topmost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frame </a:t>
            </a:r>
          </a:p>
        </p:txBody>
      </p:sp>
      <p:graphicFrame>
        <p:nvGraphicFramePr>
          <p:cNvPr id="1076296" name="Group 72"/>
          <p:cNvGraphicFramePr>
            <a:graphicFrameLocks noGrp="1"/>
          </p:cNvGraphicFramePr>
          <p:nvPr/>
        </p:nvGraphicFramePr>
        <p:xfrm>
          <a:off x="6750050" y="3124200"/>
          <a:ext cx="1752600" cy="9144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9164" name="组合 19"/>
          <p:cNvGrpSpPr>
            <a:grpSpLocks/>
          </p:cNvGrpSpPr>
          <p:nvPr/>
        </p:nvGrpSpPr>
        <p:grpSpPr bwMode="auto">
          <a:xfrm>
            <a:off x="5438775" y="3268663"/>
            <a:ext cx="1266825" cy="461962"/>
            <a:chOff x="5210175" y="3352800"/>
            <a:chExt cx="1266825" cy="461962"/>
          </a:xfrm>
        </p:grpSpPr>
        <p:sp>
          <p:nvSpPr>
            <p:cNvPr id="49169" name="Text Box 27"/>
            <p:cNvSpPr txBox="1">
              <a:spLocks noChangeArrowheads="1"/>
            </p:cNvSpPr>
            <p:nvPr/>
          </p:nvSpPr>
          <p:spPr bwMode="auto">
            <a:xfrm>
              <a:off x="5210175" y="3352800"/>
              <a:ext cx="9715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49170" name="Line 29"/>
            <p:cNvSpPr>
              <a:spLocks noChangeShapeType="1"/>
            </p:cNvSpPr>
            <p:nvPr/>
          </p:nvSpPr>
          <p:spPr bwMode="auto">
            <a:xfrm>
              <a:off x="6096000" y="3662362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9165" name="组合 18"/>
          <p:cNvGrpSpPr>
            <a:grpSpLocks/>
          </p:cNvGrpSpPr>
          <p:nvPr/>
        </p:nvGrpSpPr>
        <p:grpSpPr bwMode="auto">
          <a:xfrm>
            <a:off x="5457825" y="3810000"/>
            <a:ext cx="1250950" cy="461963"/>
            <a:chOff x="5226050" y="4271962"/>
            <a:chExt cx="1250950" cy="461963"/>
          </a:xfrm>
        </p:grpSpPr>
        <p:sp>
          <p:nvSpPr>
            <p:cNvPr id="49167" name="Text Box 28"/>
            <p:cNvSpPr txBox="1">
              <a:spLocks noChangeArrowheads="1"/>
            </p:cNvSpPr>
            <p:nvPr/>
          </p:nvSpPr>
          <p:spPr bwMode="auto">
            <a:xfrm>
              <a:off x="5226050" y="4271962"/>
              <a:ext cx="920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49168" name="Line 30"/>
            <p:cNvSpPr>
              <a:spLocks noChangeShapeType="1"/>
            </p:cNvSpPr>
            <p:nvPr/>
          </p:nvSpPr>
          <p:spPr bwMode="auto">
            <a:xfrm>
              <a:off x="6096000" y="4500562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9166" name="Rectangle 18"/>
          <p:cNvSpPr>
            <a:spLocks noChangeArrowheads="1"/>
          </p:cNvSpPr>
          <p:nvPr/>
        </p:nvSpPr>
        <p:spPr bwMode="auto">
          <a:xfrm>
            <a:off x="6751638" y="3124200"/>
            <a:ext cx="1751012" cy="914400"/>
          </a:xfrm>
          <a:prstGeom prst="rect">
            <a:avLst/>
          </a:prstGeom>
          <a:solidFill>
            <a:srgbClr val="FFFFCC">
              <a:alpha val="29803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FC4C46-D7CE-8546-8D39-79A37AE6F54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Frame Chain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6065838" cy="15240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Pointers (%</a:t>
            </a:r>
            <a:r>
              <a:rPr lang="en-US" altLang="zh-CN" dirty="0" err="1">
                <a:ea typeface="宋体" pitchFamily="2" charset="-122"/>
              </a:rPr>
              <a:t>ebp</a:t>
            </a:r>
            <a:r>
              <a:rPr lang="en-US" altLang="zh-CN" dirty="0">
                <a:ea typeface="宋体" pitchFamily="2" charset="-122"/>
              </a:rPr>
              <a:t>/%</a:t>
            </a:r>
            <a:r>
              <a:rPr lang="en-US" altLang="zh-CN" dirty="0" err="1">
                <a:ea typeface="宋体" pitchFamily="2" charset="-122"/>
              </a:rPr>
              <a:t>esp</a:t>
            </a:r>
            <a:r>
              <a:rPr lang="en-US" altLang="zh-CN" dirty="0">
                <a:ea typeface="宋体" pitchFamily="2" charset="-122"/>
              </a:rPr>
              <a:t>) only delimit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topmost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frame 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Frames are chained</a:t>
            </a:r>
          </a:p>
        </p:txBody>
      </p:sp>
      <p:graphicFrame>
        <p:nvGraphicFramePr>
          <p:cNvPr id="1076296" name="Group 72"/>
          <p:cNvGraphicFramePr>
            <a:graphicFrameLocks noGrp="1"/>
          </p:cNvGraphicFramePr>
          <p:nvPr/>
        </p:nvGraphicFramePr>
        <p:xfrm>
          <a:off x="6750050" y="3124200"/>
          <a:ext cx="1752600" cy="9144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1212" name="组合 19"/>
          <p:cNvGrpSpPr>
            <a:grpSpLocks/>
          </p:cNvGrpSpPr>
          <p:nvPr/>
        </p:nvGrpSpPr>
        <p:grpSpPr bwMode="auto">
          <a:xfrm>
            <a:off x="5438775" y="3268663"/>
            <a:ext cx="1266825" cy="461962"/>
            <a:chOff x="5210175" y="3352800"/>
            <a:chExt cx="1266825" cy="461962"/>
          </a:xfrm>
        </p:grpSpPr>
        <p:sp>
          <p:nvSpPr>
            <p:cNvPr id="51218" name="Text Box 27"/>
            <p:cNvSpPr txBox="1">
              <a:spLocks noChangeArrowheads="1"/>
            </p:cNvSpPr>
            <p:nvPr/>
          </p:nvSpPr>
          <p:spPr bwMode="auto">
            <a:xfrm>
              <a:off x="5210175" y="3352800"/>
              <a:ext cx="9715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51219" name="Line 29"/>
            <p:cNvSpPr>
              <a:spLocks noChangeShapeType="1"/>
            </p:cNvSpPr>
            <p:nvPr/>
          </p:nvSpPr>
          <p:spPr bwMode="auto">
            <a:xfrm>
              <a:off x="6096000" y="3662362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1213" name="组合 18"/>
          <p:cNvGrpSpPr>
            <a:grpSpLocks/>
          </p:cNvGrpSpPr>
          <p:nvPr/>
        </p:nvGrpSpPr>
        <p:grpSpPr bwMode="auto">
          <a:xfrm>
            <a:off x="5457825" y="3810000"/>
            <a:ext cx="1250950" cy="461963"/>
            <a:chOff x="5226050" y="4271962"/>
            <a:chExt cx="1250950" cy="461963"/>
          </a:xfrm>
        </p:grpSpPr>
        <p:sp>
          <p:nvSpPr>
            <p:cNvPr id="51216" name="Text Box 28"/>
            <p:cNvSpPr txBox="1">
              <a:spLocks noChangeArrowheads="1"/>
            </p:cNvSpPr>
            <p:nvPr/>
          </p:nvSpPr>
          <p:spPr bwMode="auto">
            <a:xfrm>
              <a:off x="5226050" y="4271962"/>
              <a:ext cx="920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51217" name="Line 30"/>
            <p:cNvSpPr>
              <a:spLocks noChangeShapeType="1"/>
            </p:cNvSpPr>
            <p:nvPr/>
          </p:nvSpPr>
          <p:spPr bwMode="auto">
            <a:xfrm>
              <a:off x="6096000" y="4500562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1214" name="Rectangle 18"/>
          <p:cNvSpPr>
            <a:spLocks noChangeArrowheads="1"/>
          </p:cNvSpPr>
          <p:nvPr/>
        </p:nvSpPr>
        <p:spPr bwMode="auto">
          <a:xfrm>
            <a:off x="6751638" y="3124200"/>
            <a:ext cx="1751012" cy="914400"/>
          </a:xfrm>
          <a:prstGeom prst="rect">
            <a:avLst/>
          </a:prstGeom>
          <a:solidFill>
            <a:srgbClr val="FFFFCC">
              <a:alpha val="29803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3048000"/>
            <a:ext cx="45720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   1.  call </a:t>
            </a:r>
            <a:r>
              <a:rPr kumimoji="0" lang="en-US" altLang="zh-CN" b="0" kern="0" dirty="0" err="1">
                <a:latin typeface="Comic Sans MS"/>
                <a:ea typeface="宋体" panose="02010600030101010101" pitchFamily="2" charset="-122"/>
              </a:rPr>
              <a:t>callee</a:t>
            </a:r>
            <a:endParaRPr kumimoji="0" lang="en-US" altLang="zh-CN" b="0" kern="0" dirty="0">
              <a:latin typeface="Comic Sans MS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062B1F-E55B-184B-B38F-670523510FB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Frame Chain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6065838" cy="205263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Pointers (%</a:t>
            </a:r>
            <a:r>
              <a:rPr lang="en-US" altLang="zh-CN" dirty="0" err="1">
                <a:ea typeface="宋体" pitchFamily="2" charset="-122"/>
              </a:rPr>
              <a:t>ebp</a:t>
            </a:r>
            <a:r>
              <a:rPr lang="en-US" altLang="zh-CN" dirty="0">
                <a:ea typeface="宋体" pitchFamily="2" charset="-122"/>
              </a:rPr>
              <a:t>/%</a:t>
            </a:r>
            <a:r>
              <a:rPr lang="en-US" altLang="zh-CN" dirty="0" err="1">
                <a:ea typeface="宋体" pitchFamily="2" charset="-122"/>
              </a:rPr>
              <a:t>esp</a:t>
            </a:r>
            <a:r>
              <a:rPr lang="en-US" altLang="zh-CN" dirty="0">
                <a:ea typeface="宋体" pitchFamily="2" charset="-122"/>
              </a:rPr>
              <a:t>) only delimit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topmost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frame 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Frames are chained</a:t>
            </a:r>
          </a:p>
        </p:txBody>
      </p:sp>
      <p:graphicFrame>
        <p:nvGraphicFramePr>
          <p:cNvPr id="1076296" name="Group 72"/>
          <p:cNvGraphicFramePr>
            <a:graphicFrameLocks noGrp="1"/>
          </p:cNvGraphicFramePr>
          <p:nvPr/>
        </p:nvGraphicFramePr>
        <p:xfrm>
          <a:off x="6750050" y="3124200"/>
          <a:ext cx="1752600" cy="13716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3262" name="组合 19"/>
          <p:cNvGrpSpPr>
            <a:grpSpLocks/>
          </p:cNvGrpSpPr>
          <p:nvPr/>
        </p:nvGrpSpPr>
        <p:grpSpPr bwMode="auto">
          <a:xfrm>
            <a:off x="5438775" y="3268663"/>
            <a:ext cx="1266825" cy="461962"/>
            <a:chOff x="5210175" y="3352800"/>
            <a:chExt cx="1266825" cy="461962"/>
          </a:xfrm>
        </p:grpSpPr>
        <p:sp>
          <p:nvSpPr>
            <p:cNvPr id="53268" name="Text Box 27"/>
            <p:cNvSpPr txBox="1">
              <a:spLocks noChangeArrowheads="1"/>
            </p:cNvSpPr>
            <p:nvPr/>
          </p:nvSpPr>
          <p:spPr bwMode="auto">
            <a:xfrm>
              <a:off x="5210175" y="3352800"/>
              <a:ext cx="9715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53269" name="Line 29"/>
            <p:cNvSpPr>
              <a:spLocks noChangeShapeType="1"/>
            </p:cNvSpPr>
            <p:nvPr/>
          </p:nvSpPr>
          <p:spPr bwMode="auto">
            <a:xfrm>
              <a:off x="6096000" y="3662362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3263" name="组合 18"/>
          <p:cNvGrpSpPr>
            <a:grpSpLocks/>
          </p:cNvGrpSpPr>
          <p:nvPr/>
        </p:nvGrpSpPr>
        <p:grpSpPr bwMode="auto">
          <a:xfrm>
            <a:off x="5457825" y="4257675"/>
            <a:ext cx="1250950" cy="461963"/>
            <a:chOff x="5226050" y="4271962"/>
            <a:chExt cx="1250950" cy="461963"/>
          </a:xfrm>
        </p:grpSpPr>
        <p:sp>
          <p:nvSpPr>
            <p:cNvPr id="53266" name="Text Box 28"/>
            <p:cNvSpPr txBox="1">
              <a:spLocks noChangeArrowheads="1"/>
            </p:cNvSpPr>
            <p:nvPr/>
          </p:nvSpPr>
          <p:spPr bwMode="auto">
            <a:xfrm>
              <a:off x="5226050" y="4271962"/>
              <a:ext cx="920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53267" name="Line 30"/>
            <p:cNvSpPr>
              <a:spLocks noChangeShapeType="1"/>
            </p:cNvSpPr>
            <p:nvPr/>
          </p:nvSpPr>
          <p:spPr bwMode="auto">
            <a:xfrm>
              <a:off x="6096000" y="4500562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3264" name="Rectangle 18"/>
          <p:cNvSpPr>
            <a:spLocks noChangeArrowheads="1"/>
          </p:cNvSpPr>
          <p:nvPr/>
        </p:nvSpPr>
        <p:spPr bwMode="auto">
          <a:xfrm>
            <a:off x="6746875" y="3109913"/>
            <a:ext cx="1751013" cy="1371600"/>
          </a:xfrm>
          <a:prstGeom prst="rect">
            <a:avLst/>
          </a:prstGeom>
          <a:solidFill>
            <a:srgbClr val="FFFFCC">
              <a:alpha val="29803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3048000"/>
            <a:ext cx="4572000" cy="223520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   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1.  call 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callee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 err="1">
                <a:latin typeface="Comic Sans MS"/>
                <a:ea typeface="宋体" panose="02010600030101010101" pitchFamily="2" charset="-122"/>
              </a:rPr>
              <a:t>callee</a:t>
            </a: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:</a:t>
            </a: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   </a:t>
            </a:r>
            <a:r>
              <a:rPr kumimoji="0" lang="en-US" altLang="zh-CN" b="0" kern="0" dirty="0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2.  push %</a:t>
            </a:r>
            <a:r>
              <a:rPr kumimoji="0" lang="en-US" altLang="zh-CN" b="0" kern="0" dirty="0" err="1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chemeClr val="tx1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   3.  </a:t>
            </a:r>
            <a:r>
              <a:rPr kumimoji="0" lang="en-US" altLang="zh-CN" b="0" kern="0" dirty="0" err="1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mov</a:t>
            </a:r>
            <a:r>
              <a:rPr kumimoji="0" lang="en-US" altLang="zh-CN" b="0" kern="0" dirty="0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 %</a:t>
            </a:r>
            <a:r>
              <a:rPr kumimoji="0" lang="en-US" altLang="zh-CN" b="0" kern="0" dirty="0" err="1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esp</a:t>
            </a:r>
            <a:r>
              <a:rPr kumimoji="0" lang="en-US" altLang="zh-CN" b="0" kern="0" dirty="0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, %</a:t>
            </a:r>
            <a:r>
              <a:rPr kumimoji="0" lang="en-US" altLang="zh-CN" b="0" kern="0" dirty="0" err="1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chemeClr val="tx1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6296" name="Group 72"/>
          <p:cNvGraphicFramePr>
            <a:graphicFrameLocks noGrp="1"/>
          </p:cNvGraphicFramePr>
          <p:nvPr/>
        </p:nvGraphicFramePr>
        <p:xfrm>
          <a:off x="6750050" y="3124200"/>
          <a:ext cx="1752600" cy="18288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%</a:t>
                      </a: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5309" name="Rectangle 19"/>
          <p:cNvSpPr>
            <a:spLocks noChangeArrowheads="1"/>
          </p:cNvSpPr>
          <p:nvPr/>
        </p:nvSpPr>
        <p:spPr bwMode="auto">
          <a:xfrm>
            <a:off x="6742113" y="4476750"/>
            <a:ext cx="1751012" cy="476250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55310" name="Rectangle 18"/>
          <p:cNvSpPr>
            <a:spLocks noChangeArrowheads="1"/>
          </p:cNvSpPr>
          <p:nvPr/>
        </p:nvSpPr>
        <p:spPr bwMode="auto">
          <a:xfrm>
            <a:off x="6746875" y="3109913"/>
            <a:ext cx="1751013" cy="1371600"/>
          </a:xfrm>
          <a:prstGeom prst="rect">
            <a:avLst/>
          </a:prstGeom>
          <a:solidFill>
            <a:srgbClr val="FFFFCC">
              <a:alpha val="29803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5531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1530BB-21C7-6447-A072-ED47395298DB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53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Frame Chain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6065838" cy="205263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Pointers (%</a:t>
            </a:r>
            <a:r>
              <a:rPr lang="en-US" altLang="zh-CN" dirty="0" err="1">
                <a:ea typeface="宋体" pitchFamily="2" charset="-122"/>
              </a:rPr>
              <a:t>ebp</a:t>
            </a:r>
            <a:r>
              <a:rPr lang="en-US" altLang="zh-CN" dirty="0">
                <a:ea typeface="宋体" pitchFamily="2" charset="-122"/>
              </a:rPr>
              <a:t>/%</a:t>
            </a:r>
            <a:r>
              <a:rPr lang="en-US" altLang="zh-CN" dirty="0" err="1">
                <a:ea typeface="宋体" pitchFamily="2" charset="-122"/>
              </a:rPr>
              <a:t>esp</a:t>
            </a:r>
            <a:r>
              <a:rPr lang="en-US" altLang="zh-CN" dirty="0">
                <a:ea typeface="宋体" pitchFamily="2" charset="-122"/>
              </a:rPr>
              <a:t>) only delimit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topmost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frame 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Frames are chained</a:t>
            </a:r>
          </a:p>
        </p:txBody>
      </p:sp>
      <p:grpSp>
        <p:nvGrpSpPr>
          <p:cNvPr id="55314" name="组合 19"/>
          <p:cNvGrpSpPr>
            <a:grpSpLocks/>
          </p:cNvGrpSpPr>
          <p:nvPr/>
        </p:nvGrpSpPr>
        <p:grpSpPr bwMode="auto">
          <a:xfrm>
            <a:off x="5438775" y="3268663"/>
            <a:ext cx="1266825" cy="461962"/>
            <a:chOff x="5210175" y="3352800"/>
            <a:chExt cx="1266825" cy="461962"/>
          </a:xfrm>
        </p:grpSpPr>
        <p:sp>
          <p:nvSpPr>
            <p:cNvPr id="55320" name="Text Box 27"/>
            <p:cNvSpPr txBox="1">
              <a:spLocks noChangeArrowheads="1"/>
            </p:cNvSpPr>
            <p:nvPr/>
          </p:nvSpPr>
          <p:spPr bwMode="auto">
            <a:xfrm>
              <a:off x="5210175" y="3352800"/>
              <a:ext cx="9715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55321" name="Line 29"/>
            <p:cNvSpPr>
              <a:spLocks noChangeShapeType="1"/>
            </p:cNvSpPr>
            <p:nvPr/>
          </p:nvSpPr>
          <p:spPr bwMode="auto">
            <a:xfrm>
              <a:off x="6096000" y="3662362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5315" name="组合 18"/>
          <p:cNvGrpSpPr>
            <a:grpSpLocks/>
          </p:cNvGrpSpPr>
          <p:nvPr/>
        </p:nvGrpSpPr>
        <p:grpSpPr bwMode="auto">
          <a:xfrm>
            <a:off x="5457825" y="4719638"/>
            <a:ext cx="1250950" cy="461962"/>
            <a:chOff x="5226050" y="4271962"/>
            <a:chExt cx="1250950" cy="461963"/>
          </a:xfrm>
        </p:grpSpPr>
        <p:sp>
          <p:nvSpPr>
            <p:cNvPr id="55318" name="Text Box 28"/>
            <p:cNvSpPr txBox="1">
              <a:spLocks noChangeArrowheads="1"/>
            </p:cNvSpPr>
            <p:nvPr/>
          </p:nvSpPr>
          <p:spPr bwMode="auto">
            <a:xfrm>
              <a:off x="5226050" y="4271962"/>
              <a:ext cx="920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55319" name="Line 30"/>
            <p:cNvSpPr>
              <a:spLocks noChangeShapeType="1"/>
            </p:cNvSpPr>
            <p:nvPr/>
          </p:nvSpPr>
          <p:spPr bwMode="auto">
            <a:xfrm>
              <a:off x="6096000" y="4500562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" name="Rectangle 5"/>
          <p:cNvSpPr/>
          <p:nvPr/>
        </p:nvSpPr>
        <p:spPr>
          <a:xfrm>
            <a:off x="457200" y="3048000"/>
            <a:ext cx="4572000" cy="223520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   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1.  call 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callee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 err="1">
                <a:latin typeface="Comic Sans MS"/>
                <a:ea typeface="宋体" panose="02010600030101010101" pitchFamily="2" charset="-122"/>
              </a:rPr>
              <a:t>callee</a:t>
            </a: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:</a:t>
            </a: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   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2.  push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   3.  </a:t>
            </a:r>
            <a:r>
              <a:rPr kumimoji="0" lang="en-US" altLang="zh-CN" b="0" kern="0" dirty="0" err="1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mov</a:t>
            </a:r>
            <a:r>
              <a:rPr kumimoji="0" lang="en-US" altLang="zh-CN" b="0" kern="0" dirty="0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 %</a:t>
            </a:r>
            <a:r>
              <a:rPr kumimoji="0" lang="en-US" altLang="zh-CN" b="0" kern="0" dirty="0" err="1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esp</a:t>
            </a:r>
            <a:r>
              <a:rPr kumimoji="0" lang="en-US" altLang="zh-CN" b="0" kern="0" dirty="0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, %</a:t>
            </a:r>
            <a:r>
              <a:rPr kumimoji="0" lang="en-US" altLang="zh-CN" b="0" kern="0" dirty="0" err="1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chemeClr val="tx1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5" name="弧形 14"/>
          <p:cNvSpPr/>
          <p:nvPr/>
        </p:nvSpPr>
        <p:spPr bwMode="auto">
          <a:xfrm>
            <a:off x="8153400" y="3581400"/>
            <a:ext cx="838200" cy="1066800"/>
          </a:xfrm>
          <a:prstGeom prst="arc">
            <a:avLst>
              <a:gd name="adj1" fmla="val 16200000"/>
              <a:gd name="adj2" fmla="val 526099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6296" name="Group 72"/>
          <p:cNvGraphicFramePr>
            <a:graphicFrameLocks noGrp="1"/>
          </p:cNvGraphicFramePr>
          <p:nvPr/>
        </p:nvGraphicFramePr>
        <p:xfrm>
          <a:off x="6750050" y="3124200"/>
          <a:ext cx="1752600" cy="18288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357" name="Rectangle 19"/>
          <p:cNvSpPr>
            <a:spLocks noChangeArrowheads="1"/>
          </p:cNvSpPr>
          <p:nvPr/>
        </p:nvSpPr>
        <p:spPr bwMode="auto">
          <a:xfrm>
            <a:off x="6742113" y="4476750"/>
            <a:ext cx="1751012" cy="476250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57358" name="Rectangle 18"/>
          <p:cNvSpPr>
            <a:spLocks noChangeArrowheads="1"/>
          </p:cNvSpPr>
          <p:nvPr/>
        </p:nvSpPr>
        <p:spPr bwMode="auto">
          <a:xfrm>
            <a:off x="6746875" y="3109913"/>
            <a:ext cx="1751013" cy="1371600"/>
          </a:xfrm>
          <a:prstGeom prst="rect">
            <a:avLst/>
          </a:prstGeom>
          <a:solidFill>
            <a:srgbClr val="FFFFCC">
              <a:alpha val="29803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5735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02AD26-765C-4541-BA90-9875D2AB98D2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73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Frame Chain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6065838" cy="205263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Pointers (%</a:t>
            </a:r>
            <a:r>
              <a:rPr lang="en-US" altLang="zh-CN" dirty="0" err="1">
                <a:ea typeface="宋体" pitchFamily="2" charset="-122"/>
              </a:rPr>
              <a:t>ebp</a:t>
            </a:r>
            <a:r>
              <a:rPr lang="en-US" altLang="zh-CN" dirty="0">
                <a:ea typeface="宋体" pitchFamily="2" charset="-122"/>
              </a:rPr>
              <a:t>/%</a:t>
            </a:r>
            <a:r>
              <a:rPr lang="en-US" altLang="zh-CN" dirty="0" err="1">
                <a:ea typeface="宋体" pitchFamily="2" charset="-122"/>
              </a:rPr>
              <a:t>esp</a:t>
            </a:r>
            <a:r>
              <a:rPr lang="en-US" altLang="zh-CN" dirty="0">
                <a:ea typeface="宋体" pitchFamily="2" charset="-122"/>
              </a:rPr>
              <a:t>) only delimit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topmost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frame 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Frames are chained</a:t>
            </a:r>
          </a:p>
        </p:txBody>
      </p:sp>
      <p:sp>
        <p:nvSpPr>
          <p:cNvPr id="57362" name="Text Box 27"/>
          <p:cNvSpPr txBox="1">
            <a:spLocks noChangeArrowheads="1"/>
          </p:cNvSpPr>
          <p:nvPr/>
        </p:nvSpPr>
        <p:spPr bwMode="auto">
          <a:xfrm>
            <a:off x="5438775" y="3268663"/>
            <a:ext cx="971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%ebp</a:t>
            </a:r>
          </a:p>
        </p:txBody>
      </p:sp>
      <p:sp>
        <p:nvSpPr>
          <p:cNvPr id="57363" name="Line 29"/>
          <p:cNvSpPr>
            <a:spLocks noChangeShapeType="1"/>
          </p:cNvSpPr>
          <p:nvPr/>
        </p:nvSpPr>
        <p:spPr bwMode="auto">
          <a:xfrm>
            <a:off x="6324600" y="3578225"/>
            <a:ext cx="381000" cy="1374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57364" name="组合 18"/>
          <p:cNvGrpSpPr>
            <a:grpSpLocks/>
          </p:cNvGrpSpPr>
          <p:nvPr/>
        </p:nvGrpSpPr>
        <p:grpSpPr bwMode="auto">
          <a:xfrm>
            <a:off x="5457825" y="4719638"/>
            <a:ext cx="1250950" cy="461962"/>
            <a:chOff x="5226050" y="4271962"/>
            <a:chExt cx="1250950" cy="461963"/>
          </a:xfrm>
        </p:grpSpPr>
        <p:sp>
          <p:nvSpPr>
            <p:cNvPr id="57367" name="Text Box 28"/>
            <p:cNvSpPr txBox="1">
              <a:spLocks noChangeArrowheads="1"/>
            </p:cNvSpPr>
            <p:nvPr/>
          </p:nvSpPr>
          <p:spPr bwMode="auto">
            <a:xfrm>
              <a:off x="5226050" y="4271962"/>
              <a:ext cx="920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57368" name="Line 30"/>
            <p:cNvSpPr>
              <a:spLocks noChangeShapeType="1"/>
            </p:cNvSpPr>
            <p:nvPr/>
          </p:nvSpPr>
          <p:spPr bwMode="auto">
            <a:xfrm>
              <a:off x="6096000" y="4500562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" name="Rectangle 5"/>
          <p:cNvSpPr/>
          <p:nvPr/>
        </p:nvSpPr>
        <p:spPr>
          <a:xfrm>
            <a:off x="457200" y="3124200"/>
            <a:ext cx="4572000" cy="223520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   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1.  call 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callee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 err="1">
                <a:latin typeface="Comic Sans MS"/>
                <a:ea typeface="宋体" panose="02010600030101010101" pitchFamily="2" charset="-122"/>
              </a:rPr>
              <a:t>callee</a:t>
            </a: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:</a:t>
            </a: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   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2.  push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  3.  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mov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esp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,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5" name="弧形 14"/>
          <p:cNvSpPr/>
          <p:nvPr/>
        </p:nvSpPr>
        <p:spPr bwMode="auto">
          <a:xfrm>
            <a:off x="8153400" y="3581400"/>
            <a:ext cx="838200" cy="1066800"/>
          </a:xfrm>
          <a:prstGeom prst="arc">
            <a:avLst>
              <a:gd name="adj1" fmla="val 16200000"/>
              <a:gd name="adj2" fmla="val 526099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6296" name="Group 72"/>
          <p:cNvGraphicFramePr>
            <a:graphicFrameLocks noGrp="1"/>
          </p:cNvGraphicFramePr>
          <p:nvPr/>
        </p:nvGraphicFramePr>
        <p:xfrm>
          <a:off x="6750050" y="3124200"/>
          <a:ext cx="1752600" cy="27432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9409" name="Rectangle 19"/>
          <p:cNvSpPr>
            <a:spLocks noChangeArrowheads="1"/>
          </p:cNvSpPr>
          <p:nvPr/>
        </p:nvSpPr>
        <p:spPr bwMode="auto">
          <a:xfrm>
            <a:off x="6742113" y="4476750"/>
            <a:ext cx="1751012" cy="1390650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59410" name="Rectangle 18"/>
          <p:cNvSpPr>
            <a:spLocks noChangeArrowheads="1"/>
          </p:cNvSpPr>
          <p:nvPr/>
        </p:nvSpPr>
        <p:spPr bwMode="auto">
          <a:xfrm>
            <a:off x="6746875" y="3109913"/>
            <a:ext cx="1751013" cy="1371600"/>
          </a:xfrm>
          <a:prstGeom prst="rect">
            <a:avLst/>
          </a:prstGeom>
          <a:solidFill>
            <a:srgbClr val="FFFFCC">
              <a:alpha val="29803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5941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06F706-B3C7-FD4D-A0B6-1D1787C876B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9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Frame Chain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6065838" cy="15240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Pointers (%</a:t>
            </a:r>
            <a:r>
              <a:rPr lang="en-US" altLang="zh-CN" dirty="0" err="1">
                <a:ea typeface="宋体" pitchFamily="2" charset="-122"/>
              </a:rPr>
              <a:t>ebp</a:t>
            </a:r>
            <a:r>
              <a:rPr lang="en-US" altLang="zh-CN" dirty="0">
                <a:ea typeface="宋体" pitchFamily="2" charset="-122"/>
              </a:rPr>
              <a:t>/%</a:t>
            </a:r>
            <a:r>
              <a:rPr lang="en-US" altLang="zh-CN" dirty="0" err="1">
                <a:ea typeface="宋体" pitchFamily="2" charset="-122"/>
              </a:rPr>
              <a:t>esp</a:t>
            </a:r>
            <a:r>
              <a:rPr lang="en-US" altLang="zh-CN" dirty="0">
                <a:ea typeface="宋体" pitchFamily="2" charset="-122"/>
              </a:rPr>
              <a:t>) only delimit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topmost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frame 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Frames are chained</a:t>
            </a:r>
          </a:p>
        </p:txBody>
      </p:sp>
      <p:sp>
        <p:nvSpPr>
          <p:cNvPr id="59414" name="Text Box 27"/>
          <p:cNvSpPr txBox="1">
            <a:spLocks noChangeArrowheads="1"/>
          </p:cNvSpPr>
          <p:nvPr/>
        </p:nvSpPr>
        <p:spPr bwMode="auto">
          <a:xfrm>
            <a:off x="5438775" y="3268663"/>
            <a:ext cx="971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%ebp</a:t>
            </a:r>
          </a:p>
        </p:txBody>
      </p:sp>
      <p:sp>
        <p:nvSpPr>
          <p:cNvPr id="59415" name="Line 29"/>
          <p:cNvSpPr>
            <a:spLocks noChangeShapeType="1"/>
          </p:cNvSpPr>
          <p:nvPr/>
        </p:nvSpPr>
        <p:spPr bwMode="auto">
          <a:xfrm>
            <a:off x="6324600" y="3578225"/>
            <a:ext cx="381000" cy="1374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59416" name="组合 18"/>
          <p:cNvGrpSpPr>
            <a:grpSpLocks/>
          </p:cNvGrpSpPr>
          <p:nvPr/>
        </p:nvGrpSpPr>
        <p:grpSpPr bwMode="auto">
          <a:xfrm>
            <a:off x="5457825" y="5592763"/>
            <a:ext cx="1250950" cy="461962"/>
            <a:chOff x="5226050" y="4271962"/>
            <a:chExt cx="1250950" cy="461963"/>
          </a:xfrm>
        </p:grpSpPr>
        <p:sp>
          <p:nvSpPr>
            <p:cNvPr id="59419" name="Text Box 28"/>
            <p:cNvSpPr txBox="1">
              <a:spLocks noChangeArrowheads="1"/>
            </p:cNvSpPr>
            <p:nvPr/>
          </p:nvSpPr>
          <p:spPr bwMode="auto">
            <a:xfrm>
              <a:off x="5226050" y="4271962"/>
              <a:ext cx="920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59420" name="Line 30"/>
            <p:cNvSpPr>
              <a:spLocks noChangeShapeType="1"/>
            </p:cNvSpPr>
            <p:nvPr/>
          </p:nvSpPr>
          <p:spPr bwMode="auto">
            <a:xfrm>
              <a:off x="6096000" y="4500562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" name="Rectangle 5"/>
          <p:cNvSpPr/>
          <p:nvPr/>
        </p:nvSpPr>
        <p:spPr>
          <a:xfrm>
            <a:off x="457200" y="3048000"/>
            <a:ext cx="4572000" cy="3563938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   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1.  call 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callee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 err="1">
                <a:latin typeface="Comic Sans MS"/>
                <a:ea typeface="宋体" panose="02010600030101010101" pitchFamily="2" charset="-122"/>
              </a:rPr>
              <a:t>callee</a:t>
            </a: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:</a:t>
            </a: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  2.  push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  3.  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mov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esp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,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	   . . . </a:t>
            </a: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n-2.  </a:t>
            </a:r>
            <a:r>
              <a:rPr kumimoji="0" lang="en-US" altLang="zh-CN" b="0" kern="0" dirty="0" err="1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mov</a:t>
            </a:r>
            <a:r>
              <a:rPr kumimoji="0" lang="en-US" altLang="zh-CN" b="0" kern="0" dirty="0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 %</a:t>
            </a:r>
            <a:r>
              <a:rPr kumimoji="0" lang="en-US" altLang="zh-CN" b="0" kern="0" dirty="0" err="1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ebp</a:t>
            </a:r>
            <a:r>
              <a:rPr kumimoji="0" lang="en-US" altLang="zh-CN" b="0" kern="0" dirty="0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, %</a:t>
            </a:r>
            <a:r>
              <a:rPr kumimoji="0" lang="en-US" altLang="zh-CN" b="0" kern="0" dirty="0" err="1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esp</a:t>
            </a:r>
            <a:endParaRPr kumimoji="0" lang="en-US" altLang="zh-CN" b="0" kern="0" dirty="0">
              <a:solidFill>
                <a:schemeClr val="tx1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n-1.  pop %</a:t>
            </a:r>
            <a:r>
              <a:rPr kumimoji="0" lang="en-US" altLang="zh-CN" b="0" kern="0" dirty="0" err="1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chemeClr val="tx1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   n.  ret</a:t>
            </a:r>
          </a:p>
        </p:txBody>
      </p:sp>
      <p:sp>
        <p:nvSpPr>
          <p:cNvPr id="29" name="弧形 28"/>
          <p:cNvSpPr/>
          <p:nvPr/>
        </p:nvSpPr>
        <p:spPr bwMode="auto">
          <a:xfrm>
            <a:off x="8153400" y="3581400"/>
            <a:ext cx="838200" cy="1066800"/>
          </a:xfrm>
          <a:prstGeom prst="arc">
            <a:avLst>
              <a:gd name="adj1" fmla="val 16200000"/>
              <a:gd name="adj2" fmla="val 526099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6296" name="Group 72"/>
          <p:cNvGraphicFramePr>
            <a:graphicFrameLocks noGrp="1"/>
          </p:cNvGraphicFramePr>
          <p:nvPr/>
        </p:nvGraphicFramePr>
        <p:xfrm>
          <a:off x="6750050" y="3124200"/>
          <a:ext cx="1752600" cy="27432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1457" name="Rectangle 19"/>
          <p:cNvSpPr>
            <a:spLocks noChangeArrowheads="1"/>
          </p:cNvSpPr>
          <p:nvPr/>
        </p:nvSpPr>
        <p:spPr bwMode="auto">
          <a:xfrm>
            <a:off x="6742113" y="4476750"/>
            <a:ext cx="1751012" cy="1390650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61458" name="Rectangle 18"/>
          <p:cNvSpPr>
            <a:spLocks noChangeArrowheads="1"/>
          </p:cNvSpPr>
          <p:nvPr/>
        </p:nvSpPr>
        <p:spPr bwMode="auto">
          <a:xfrm>
            <a:off x="6746875" y="3109913"/>
            <a:ext cx="1751013" cy="1371600"/>
          </a:xfrm>
          <a:prstGeom prst="rect">
            <a:avLst/>
          </a:prstGeom>
          <a:solidFill>
            <a:srgbClr val="FFFFCC">
              <a:alpha val="29803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6145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F1FA34-2DF5-5142-B70F-23B8DCA5345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61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Frame Chain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6065838" cy="15240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Pointers (%</a:t>
            </a:r>
            <a:r>
              <a:rPr lang="en-US" altLang="zh-CN" dirty="0" err="1">
                <a:ea typeface="宋体" pitchFamily="2" charset="-122"/>
              </a:rPr>
              <a:t>ebp</a:t>
            </a:r>
            <a:r>
              <a:rPr lang="en-US" altLang="zh-CN" dirty="0">
                <a:ea typeface="宋体" pitchFamily="2" charset="-122"/>
              </a:rPr>
              <a:t>/%</a:t>
            </a:r>
            <a:r>
              <a:rPr lang="en-US" altLang="zh-CN" dirty="0" err="1">
                <a:ea typeface="宋体" pitchFamily="2" charset="-122"/>
              </a:rPr>
              <a:t>esp</a:t>
            </a:r>
            <a:r>
              <a:rPr lang="en-US" altLang="zh-CN" dirty="0">
                <a:ea typeface="宋体" pitchFamily="2" charset="-122"/>
              </a:rPr>
              <a:t>) only delimit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topmost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frame 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Frames are chained</a:t>
            </a:r>
          </a:p>
        </p:txBody>
      </p:sp>
      <p:sp>
        <p:nvSpPr>
          <p:cNvPr id="61462" name="Text Box 27"/>
          <p:cNvSpPr txBox="1">
            <a:spLocks noChangeArrowheads="1"/>
          </p:cNvSpPr>
          <p:nvPr/>
        </p:nvSpPr>
        <p:spPr bwMode="auto">
          <a:xfrm>
            <a:off x="5438775" y="3268663"/>
            <a:ext cx="971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%ebp</a:t>
            </a:r>
          </a:p>
        </p:txBody>
      </p:sp>
      <p:sp>
        <p:nvSpPr>
          <p:cNvPr id="61463" name="Line 29"/>
          <p:cNvSpPr>
            <a:spLocks noChangeShapeType="1"/>
          </p:cNvSpPr>
          <p:nvPr/>
        </p:nvSpPr>
        <p:spPr bwMode="auto">
          <a:xfrm>
            <a:off x="6324600" y="3578225"/>
            <a:ext cx="381000" cy="1374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1464" name="组合 18"/>
          <p:cNvGrpSpPr>
            <a:grpSpLocks/>
          </p:cNvGrpSpPr>
          <p:nvPr/>
        </p:nvGrpSpPr>
        <p:grpSpPr bwMode="auto">
          <a:xfrm>
            <a:off x="5457825" y="4724400"/>
            <a:ext cx="1250950" cy="461963"/>
            <a:chOff x="5226050" y="4271962"/>
            <a:chExt cx="1250950" cy="461963"/>
          </a:xfrm>
        </p:grpSpPr>
        <p:sp>
          <p:nvSpPr>
            <p:cNvPr id="61467" name="Text Box 28"/>
            <p:cNvSpPr txBox="1">
              <a:spLocks noChangeArrowheads="1"/>
            </p:cNvSpPr>
            <p:nvPr/>
          </p:nvSpPr>
          <p:spPr bwMode="auto">
            <a:xfrm>
              <a:off x="5226050" y="4271962"/>
              <a:ext cx="920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61468" name="Line 30"/>
            <p:cNvSpPr>
              <a:spLocks noChangeShapeType="1"/>
            </p:cNvSpPr>
            <p:nvPr/>
          </p:nvSpPr>
          <p:spPr bwMode="auto">
            <a:xfrm>
              <a:off x="6096000" y="4500562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" name="Rectangle 5"/>
          <p:cNvSpPr/>
          <p:nvPr/>
        </p:nvSpPr>
        <p:spPr>
          <a:xfrm>
            <a:off x="457200" y="3048000"/>
            <a:ext cx="4572000" cy="3563938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   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1.  call 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callee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 err="1">
                <a:latin typeface="Comic Sans MS"/>
                <a:ea typeface="宋体" panose="02010600030101010101" pitchFamily="2" charset="-122"/>
              </a:rPr>
              <a:t>callee</a:t>
            </a: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:</a:t>
            </a: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   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2.  push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  3.  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mov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esp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,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	   . . . </a:t>
            </a: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n-2.  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mov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ebp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,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esp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n-1.  pop %</a:t>
            </a:r>
            <a:r>
              <a:rPr kumimoji="0" lang="en-US" altLang="zh-CN" b="0" kern="0" dirty="0" err="1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chemeClr val="tx1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   n.  ret</a:t>
            </a:r>
          </a:p>
        </p:txBody>
      </p:sp>
      <p:sp>
        <p:nvSpPr>
          <p:cNvPr id="29" name="弧形 28"/>
          <p:cNvSpPr/>
          <p:nvPr/>
        </p:nvSpPr>
        <p:spPr bwMode="auto">
          <a:xfrm>
            <a:off x="8153400" y="3581400"/>
            <a:ext cx="838200" cy="1066800"/>
          </a:xfrm>
          <a:prstGeom prst="arc">
            <a:avLst>
              <a:gd name="adj1" fmla="val 16200000"/>
              <a:gd name="adj2" fmla="val 526099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6296" name="Group 72"/>
          <p:cNvGraphicFramePr>
            <a:graphicFrameLocks noGrp="1"/>
          </p:cNvGraphicFramePr>
          <p:nvPr/>
        </p:nvGraphicFramePr>
        <p:xfrm>
          <a:off x="6750050" y="3124200"/>
          <a:ext cx="1752600" cy="27432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3505" name="Rectangle 18"/>
          <p:cNvSpPr>
            <a:spLocks noChangeArrowheads="1"/>
          </p:cNvSpPr>
          <p:nvPr/>
        </p:nvSpPr>
        <p:spPr bwMode="auto">
          <a:xfrm>
            <a:off x="6746875" y="3109913"/>
            <a:ext cx="1751013" cy="1371600"/>
          </a:xfrm>
          <a:prstGeom prst="rect">
            <a:avLst/>
          </a:prstGeom>
          <a:solidFill>
            <a:srgbClr val="FFFFCC">
              <a:alpha val="29803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635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FB4F9B-FE02-A149-B7F6-8AFC6B5E6006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63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Frame Chain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6065838" cy="15240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Pointers (%</a:t>
            </a:r>
            <a:r>
              <a:rPr lang="en-US" altLang="zh-CN" dirty="0" err="1">
                <a:ea typeface="宋体" pitchFamily="2" charset="-122"/>
              </a:rPr>
              <a:t>ebp</a:t>
            </a:r>
            <a:r>
              <a:rPr lang="en-US" altLang="zh-CN" dirty="0">
                <a:ea typeface="宋体" pitchFamily="2" charset="-122"/>
              </a:rPr>
              <a:t>/%</a:t>
            </a:r>
            <a:r>
              <a:rPr lang="en-US" altLang="zh-CN" dirty="0" err="1">
                <a:ea typeface="宋体" pitchFamily="2" charset="-122"/>
              </a:rPr>
              <a:t>esp</a:t>
            </a:r>
            <a:r>
              <a:rPr lang="en-US" altLang="zh-CN" dirty="0">
                <a:ea typeface="宋体" pitchFamily="2" charset="-122"/>
              </a:rPr>
              <a:t>) only delimit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topmost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frame 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Frames are chained</a:t>
            </a:r>
          </a:p>
        </p:txBody>
      </p:sp>
      <p:sp>
        <p:nvSpPr>
          <p:cNvPr id="63509" name="Text Box 27"/>
          <p:cNvSpPr txBox="1">
            <a:spLocks noChangeArrowheads="1"/>
          </p:cNvSpPr>
          <p:nvPr/>
        </p:nvSpPr>
        <p:spPr bwMode="auto">
          <a:xfrm>
            <a:off x="5438775" y="3268663"/>
            <a:ext cx="971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%ebp</a:t>
            </a:r>
          </a:p>
        </p:txBody>
      </p:sp>
      <p:sp>
        <p:nvSpPr>
          <p:cNvPr id="63510" name="Line 29"/>
          <p:cNvSpPr>
            <a:spLocks noChangeShapeType="1"/>
          </p:cNvSpPr>
          <p:nvPr/>
        </p:nvSpPr>
        <p:spPr bwMode="auto">
          <a:xfrm>
            <a:off x="6324600" y="3578225"/>
            <a:ext cx="381000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3511" name="组合 18"/>
          <p:cNvGrpSpPr>
            <a:grpSpLocks/>
          </p:cNvGrpSpPr>
          <p:nvPr/>
        </p:nvGrpSpPr>
        <p:grpSpPr bwMode="auto">
          <a:xfrm>
            <a:off x="5457825" y="4267200"/>
            <a:ext cx="1250950" cy="461963"/>
            <a:chOff x="5226050" y="4271962"/>
            <a:chExt cx="1250950" cy="461963"/>
          </a:xfrm>
        </p:grpSpPr>
        <p:sp>
          <p:nvSpPr>
            <p:cNvPr id="63513" name="Text Box 28"/>
            <p:cNvSpPr txBox="1">
              <a:spLocks noChangeArrowheads="1"/>
            </p:cNvSpPr>
            <p:nvPr/>
          </p:nvSpPr>
          <p:spPr bwMode="auto">
            <a:xfrm>
              <a:off x="5226050" y="4271962"/>
              <a:ext cx="920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63514" name="Line 30"/>
            <p:cNvSpPr>
              <a:spLocks noChangeShapeType="1"/>
            </p:cNvSpPr>
            <p:nvPr/>
          </p:nvSpPr>
          <p:spPr bwMode="auto">
            <a:xfrm>
              <a:off x="6096000" y="4500562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" name="Rectangle 5"/>
          <p:cNvSpPr/>
          <p:nvPr/>
        </p:nvSpPr>
        <p:spPr>
          <a:xfrm>
            <a:off x="457200" y="3048000"/>
            <a:ext cx="4572000" cy="3563938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   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1.  call 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callee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 err="1">
                <a:latin typeface="Comic Sans MS"/>
                <a:ea typeface="宋体" panose="02010600030101010101" pitchFamily="2" charset="-122"/>
              </a:rPr>
              <a:t>callee</a:t>
            </a: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:</a:t>
            </a: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   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2.  push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  3.  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mov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esp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,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	   . . . </a:t>
            </a: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n-2.  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mov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ebp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,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esp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n-1.  pop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   n.  ret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6296" name="Group 72"/>
          <p:cNvGraphicFramePr>
            <a:graphicFrameLocks noGrp="1"/>
          </p:cNvGraphicFramePr>
          <p:nvPr/>
        </p:nvGraphicFramePr>
        <p:xfrm>
          <a:off x="6750050" y="3124200"/>
          <a:ext cx="1752600" cy="27432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5553" name="Rectangle 18"/>
          <p:cNvSpPr>
            <a:spLocks noChangeArrowheads="1"/>
          </p:cNvSpPr>
          <p:nvPr/>
        </p:nvSpPr>
        <p:spPr bwMode="auto">
          <a:xfrm>
            <a:off x="6746875" y="3109913"/>
            <a:ext cx="1751013" cy="928687"/>
          </a:xfrm>
          <a:prstGeom prst="rect">
            <a:avLst/>
          </a:prstGeom>
          <a:solidFill>
            <a:srgbClr val="FFFFCC">
              <a:alpha val="29803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65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33CF2E-537A-2E43-8B52-F042A298D305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65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Frame Chain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6065838" cy="15240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Pointers (%</a:t>
            </a:r>
            <a:r>
              <a:rPr lang="en-US" altLang="zh-CN" dirty="0" err="1">
                <a:ea typeface="宋体" pitchFamily="2" charset="-122"/>
              </a:rPr>
              <a:t>ebp</a:t>
            </a:r>
            <a:r>
              <a:rPr lang="en-US" altLang="zh-CN" dirty="0">
                <a:ea typeface="宋体" pitchFamily="2" charset="-122"/>
              </a:rPr>
              <a:t>/%</a:t>
            </a:r>
            <a:r>
              <a:rPr lang="en-US" altLang="zh-CN" dirty="0" err="1">
                <a:ea typeface="宋体" pitchFamily="2" charset="-122"/>
              </a:rPr>
              <a:t>esp</a:t>
            </a:r>
            <a:r>
              <a:rPr lang="en-US" altLang="zh-CN" dirty="0">
                <a:ea typeface="宋体" pitchFamily="2" charset="-122"/>
              </a:rPr>
              <a:t>) only delimit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topmost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frame 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Frames are chained</a:t>
            </a:r>
          </a:p>
        </p:txBody>
      </p:sp>
      <p:sp>
        <p:nvSpPr>
          <p:cNvPr id="65557" name="Text Box 27"/>
          <p:cNvSpPr txBox="1">
            <a:spLocks noChangeArrowheads="1"/>
          </p:cNvSpPr>
          <p:nvPr/>
        </p:nvSpPr>
        <p:spPr bwMode="auto">
          <a:xfrm>
            <a:off x="5438775" y="3268663"/>
            <a:ext cx="971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%ebp</a:t>
            </a:r>
          </a:p>
        </p:txBody>
      </p:sp>
      <p:sp>
        <p:nvSpPr>
          <p:cNvPr id="65558" name="Line 29"/>
          <p:cNvSpPr>
            <a:spLocks noChangeShapeType="1"/>
          </p:cNvSpPr>
          <p:nvPr/>
        </p:nvSpPr>
        <p:spPr bwMode="auto">
          <a:xfrm>
            <a:off x="6324600" y="3578225"/>
            <a:ext cx="381000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5559" name="组合 18"/>
          <p:cNvGrpSpPr>
            <a:grpSpLocks/>
          </p:cNvGrpSpPr>
          <p:nvPr/>
        </p:nvGrpSpPr>
        <p:grpSpPr bwMode="auto">
          <a:xfrm>
            <a:off x="5457825" y="3810000"/>
            <a:ext cx="1250950" cy="461963"/>
            <a:chOff x="5226050" y="4271962"/>
            <a:chExt cx="1250950" cy="461963"/>
          </a:xfrm>
        </p:grpSpPr>
        <p:sp>
          <p:nvSpPr>
            <p:cNvPr id="65561" name="Text Box 28"/>
            <p:cNvSpPr txBox="1">
              <a:spLocks noChangeArrowheads="1"/>
            </p:cNvSpPr>
            <p:nvPr/>
          </p:nvSpPr>
          <p:spPr bwMode="auto">
            <a:xfrm>
              <a:off x="5226050" y="4271962"/>
              <a:ext cx="920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65562" name="Line 30"/>
            <p:cNvSpPr>
              <a:spLocks noChangeShapeType="1"/>
            </p:cNvSpPr>
            <p:nvPr/>
          </p:nvSpPr>
          <p:spPr bwMode="auto">
            <a:xfrm>
              <a:off x="6096000" y="4500562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" name="Rectangle 5"/>
          <p:cNvSpPr/>
          <p:nvPr/>
        </p:nvSpPr>
        <p:spPr>
          <a:xfrm>
            <a:off x="457200" y="3048000"/>
            <a:ext cx="4572000" cy="3563938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   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1.  call 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callee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 err="1">
                <a:latin typeface="Comic Sans MS"/>
                <a:ea typeface="宋体" panose="02010600030101010101" pitchFamily="2" charset="-122"/>
              </a:rPr>
              <a:t>callee</a:t>
            </a: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:</a:t>
            </a: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latin typeface="Comic Sans MS"/>
                <a:ea typeface="宋体" panose="02010600030101010101" pitchFamily="2" charset="-122"/>
              </a:rPr>
              <a:t>   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2.  push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  3.  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mov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esp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,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	   . . . </a:t>
            </a: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n-2.  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mov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ebp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,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esp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n-1.  pop %</a:t>
            </a:r>
            <a:r>
              <a:rPr kumimoji="0" lang="en-US" altLang="zh-CN" b="0" kern="0" dirty="0" err="1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rgbClr val="FF0000"/>
              </a:solidFill>
              <a:latin typeface="Comic Sans MS"/>
              <a:ea typeface="宋体" panose="02010600030101010101" pitchFamily="2" charset="-122"/>
            </a:endParaRPr>
          </a:p>
          <a:p>
            <a:pPr lvl="1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chemeClr val="tx1"/>
                </a:solidFill>
                <a:latin typeface="Comic Sans MS"/>
                <a:ea typeface="宋体" panose="02010600030101010101" pitchFamily="2" charset="-122"/>
              </a:rPr>
              <a:t>   </a:t>
            </a:r>
            <a:r>
              <a:rPr kumimoji="0" lang="en-US" altLang="zh-CN" b="0" kern="0" dirty="0">
                <a:solidFill>
                  <a:srgbClr val="FF0000"/>
                </a:solidFill>
                <a:latin typeface="Comic Sans MS"/>
                <a:ea typeface="宋体" panose="02010600030101010101" pitchFamily="2" charset="-122"/>
              </a:rPr>
              <a:t>n.  ret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34200" y="6248400"/>
            <a:ext cx="1295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D3164E-A126-BB45-A084-F341EEC7B9C0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Frame Chain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6065838" cy="205263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Pointers (%</a:t>
            </a:r>
            <a:r>
              <a:rPr lang="en-US" altLang="zh-CN" dirty="0" err="1">
                <a:ea typeface="宋体" pitchFamily="2" charset="-122"/>
              </a:rPr>
              <a:t>ebp</a:t>
            </a:r>
            <a:r>
              <a:rPr lang="en-US" altLang="zh-CN" dirty="0">
                <a:ea typeface="宋体" pitchFamily="2" charset="-122"/>
              </a:rPr>
              <a:t>/%</a:t>
            </a:r>
            <a:r>
              <a:rPr lang="en-US" altLang="zh-CN" dirty="0" err="1">
                <a:ea typeface="宋体" pitchFamily="2" charset="-122"/>
              </a:rPr>
              <a:t>esp</a:t>
            </a:r>
            <a:r>
              <a:rPr lang="en-US" altLang="zh-CN" dirty="0">
                <a:ea typeface="宋体" pitchFamily="2" charset="-122"/>
              </a:rPr>
              <a:t>) only delimit 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topmost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frame </a:t>
            </a:r>
          </a:p>
          <a:p>
            <a:pPr marL="0" indent="0">
              <a:buFontTx/>
              <a:buNone/>
              <a:defRPr/>
            </a:pPr>
            <a:endParaRPr lang="en-US" altLang="zh-CN" sz="1600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Frames are chained</a:t>
            </a:r>
          </a:p>
        </p:txBody>
      </p:sp>
      <p:graphicFrame>
        <p:nvGraphicFramePr>
          <p:cNvPr id="1076296" name="Group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88304"/>
              </p:ext>
            </p:extLst>
          </p:nvPr>
        </p:nvGraphicFramePr>
        <p:xfrm>
          <a:off x="6521450" y="1371600"/>
          <a:ext cx="1752600" cy="5275265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178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ol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d %</a:t>
                      </a:r>
                      <a:r>
                        <a:rPr kumimoji="1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1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21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1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99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1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178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7606" name="Text Box 27"/>
          <p:cNvSpPr txBox="1">
            <a:spLocks noChangeArrowheads="1"/>
          </p:cNvSpPr>
          <p:nvPr/>
        </p:nvSpPr>
        <p:spPr bwMode="auto">
          <a:xfrm>
            <a:off x="5210175" y="5405438"/>
            <a:ext cx="971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%ebp</a:t>
            </a:r>
          </a:p>
        </p:txBody>
      </p:sp>
      <p:sp>
        <p:nvSpPr>
          <p:cNvPr id="67607" name="Text Box 28"/>
          <p:cNvSpPr txBox="1">
            <a:spLocks noChangeArrowheads="1"/>
          </p:cNvSpPr>
          <p:nvPr/>
        </p:nvSpPr>
        <p:spPr bwMode="auto">
          <a:xfrm>
            <a:off x="5226050" y="6319838"/>
            <a:ext cx="920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%esp</a:t>
            </a:r>
          </a:p>
        </p:txBody>
      </p:sp>
      <p:sp>
        <p:nvSpPr>
          <p:cNvPr id="67608" name="Line 29"/>
          <p:cNvSpPr>
            <a:spLocks noChangeShapeType="1"/>
          </p:cNvSpPr>
          <p:nvPr/>
        </p:nvSpPr>
        <p:spPr bwMode="auto">
          <a:xfrm>
            <a:off x="6096000" y="5634038"/>
            <a:ext cx="381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609" name="Line 30"/>
          <p:cNvSpPr>
            <a:spLocks noChangeShapeType="1"/>
          </p:cNvSpPr>
          <p:nvPr/>
        </p:nvSpPr>
        <p:spPr bwMode="auto">
          <a:xfrm>
            <a:off x="6096000" y="6548438"/>
            <a:ext cx="381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610" name="Text Box 32"/>
          <p:cNvSpPr txBox="1">
            <a:spLocks noChangeArrowheads="1"/>
          </p:cNvSpPr>
          <p:nvPr/>
        </p:nvSpPr>
        <p:spPr bwMode="auto">
          <a:xfrm>
            <a:off x="8655050" y="47244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sz="1800">
              <a:latin typeface="Times New Roman" charset="0"/>
            </a:endParaRPr>
          </a:p>
        </p:txBody>
      </p:sp>
      <p:cxnSp>
        <p:nvCxnSpPr>
          <p:cNvPr id="67611" name="AutoShape 37"/>
          <p:cNvCxnSpPr>
            <a:cxnSpLocks noChangeShapeType="1"/>
          </p:cNvCxnSpPr>
          <p:nvPr/>
        </p:nvCxnSpPr>
        <p:spPr bwMode="auto">
          <a:xfrm flipV="1">
            <a:off x="8305800" y="4205288"/>
            <a:ext cx="1588" cy="1150937"/>
          </a:xfrm>
          <a:prstGeom prst="curvedConnector3">
            <a:avLst>
              <a:gd name="adj1" fmla="val 44800014"/>
            </a:avLst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612" name="AutoShape 42"/>
          <p:cNvCxnSpPr>
            <a:cxnSpLocks noChangeShapeType="1"/>
          </p:cNvCxnSpPr>
          <p:nvPr/>
        </p:nvCxnSpPr>
        <p:spPr bwMode="auto">
          <a:xfrm flipV="1">
            <a:off x="8275638" y="1398588"/>
            <a:ext cx="1587" cy="1150937"/>
          </a:xfrm>
          <a:prstGeom prst="curvedConnector3">
            <a:avLst>
              <a:gd name="adj1" fmla="val 44800014"/>
            </a:avLst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613" name="AutoShape 43"/>
          <p:cNvCxnSpPr>
            <a:cxnSpLocks noChangeShapeType="1"/>
          </p:cNvCxnSpPr>
          <p:nvPr/>
        </p:nvCxnSpPr>
        <p:spPr bwMode="auto">
          <a:xfrm rot="10800000" flipH="1">
            <a:off x="6521450" y="2797175"/>
            <a:ext cx="1588" cy="1152525"/>
          </a:xfrm>
          <a:prstGeom prst="curvedConnector3">
            <a:avLst>
              <a:gd name="adj1" fmla="val -46400014"/>
            </a:avLst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614" name="Rectangle 3"/>
          <p:cNvSpPr>
            <a:spLocks noChangeArrowheads="1"/>
          </p:cNvSpPr>
          <p:nvPr/>
        </p:nvSpPr>
        <p:spPr bwMode="auto">
          <a:xfrm>
            <a:off x="6523038" y="5253038"/>
            <a:ext cx="1751012" cy="1376362"/>
          </a:xfrm>
          <a:prstGeom prst="rect">
            <a:avLst/>
          </a:prstGeom>
          <a:solidFill>
            <a:srgbClr val="FFCCFF">
              <a:alpha val="29803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67615" name="Rectangle 18"/>
          <p:cNvSpPr>
            <a:spLocks noChangeArrowheads="1"/>
          </p:cNvSpPr>
          <p:nvPr/>
        </p:nvSpPr>
        <p:spPr bwMode="auto">
          <a:xfrm>
            <a:off x="6523038" y="3729038"/>
            <a:ext cx="1751012" cy="1524000"/>
          </a:xfrm>
          <a:prstGeom prst="rect">
            <a:avLst/>
          </a:prstGeom>
          <a:solidFill>
            <a:srgbClr val="FFFFCC">
              <a:alpha val="29803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67616" name="Rectangle 19"/>
          <p:cNvSpPr>
            <a:spLocks noChangeArrowheads="1"/>
          </p:cNvSpPr>
          <p:nvPr/>
        </p:nvSpPr>
        <p:spPr bwMode="auto">
          <a:xfrm>
            <a:off x="6523038" y="2357438"/>
            <a:ext cx="1751012" cy="1376362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C5AD1D-030C-CE4A-A680-D8A47A55262D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Restore Caller %ebp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800600"/>
          </a:xfrm>
        </p:spPr>
        <p:txBody>
          <a:bodyPr/>
          <a:lstStyle/>
          <a:p>
            <a:pPr>
              <a:lnSpc>
                <a:spcPct val="140000"/>
              </a:lnSpc>
              <a:defRPr/>
            </a:pPr>
            <a:r>
              <a:rPr kumimoji="1" lang="en-US" altLang="zh-CN" dirty="0">
                <a:ea typeface="宋体" pitchFamily="2" charset="-122"/>
              </a:rPr>
              <a:t>Instruction </a:t>
            </a: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sz="26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leave</a:t>
            </a:r>
            <a:endParaRPr kumimoji="1" lang="en-US" altLang="zh-CN" sz="2600" b="1" dirty="0"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>
              <a:lnSpc>
                <a:spcPct val="140000"/>
              </a:lnSpc>
              <a:defRPr/>
            </a:pPr>
            <a:r>
              <a:rPr kumimoji="1" lang="en-US" altLang="zh-CN" dirty="0">
                <a:ea typeface="宋体" pitchFamily="2" charset="-122"/>
              </a:rPr>
              <a:t>Behavior description (by hardware)</a:t>
            </a: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dirty="0">
                <a:ea typeface="宋体" pitchFamily="2" charset="-122"/>
              </a:rPr>
              <a:t>Adjust %</a:t>
            </a:r>
            <a:r>
              <a:rPr kumimoji="1" lang="en-US" altLang="zh-CN" dirty="0" err="1">
                <a:ea typeface="宋体" pitchFamily="2" charset="-122"/>
              </a:rPr>
              <a:t>esp</a:t>
            </a:r>
            <a:r>
              <a:rPr kumimoji="1" lang="en-US" altLang="zh-CN" dirty="0">
                <a:ea typeface="宋体" pitchFamily="2" charset="-122"/>
              </a:rPr>
              <a:t> to </a:t>
            </a:r>
            <a:r>
              <a:rPr kumimoji="1" lang="en-US" altLang="zh-CN" dirty="0" err="1">
                <a:ea typeface="宋体" pitchFamily="2" charset="-122"/>
              </a:rPr>
              <a:t>callee</a:t>
            </a:r>
            <a:r>
              <a:rPr kumimoji="1" lang="en-US" altLang="zh-CN" dirty="0">
                <a:ea typeface="宋体" pitchFamily="2" charset="-122"/>
              </a:rPr>
              <a:t> %</a:t>
            </a:r>
            <a:r>
              <a:rPr kumimoji="1" lang="en-US" altLang="zh-CN" dirty="0" err="1">
                <a:ea typeface="宋体" pitchFamily="2" charset="-122"/>
              </a:rPr>
              <a:t>ebp</a:t>
            </a:r>
            <a:endParaRPr kumimoji="1" lang="en-US" altLang="zh-CN" dirty="0">
              <a:ea typeface="宋体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dirty="0">
                <a:ea typeface="宋体" pitchFamily="2" charset="-122"/>
              </a:rPr>
              <a:t>Pop </a:t>
            </a:r>
            <a:r>
              <a:rPr kumimoji="1" lang="en-US" altLang="zh-CN" i="1" dirty="0">
                <a:solidFill>
                  <a:srgbClr val="FF0000"/>
                </a:solidFill>
                <a:ea typeface="宋体" pitchFamily="2" charset="-122"/>
              </a:rPr>
              <a:t>caller %</a:t>
            </a:r>
            <a:r>
              <a:rPr kumimoji="1" lang="en-US" altLang="zh-CN" i="1" dirty="0" err="1">
                <a:solidFill>
                  <a:srgbClr val="FF0000"/>
                </a:solidFill>
                <a:ea typeface="宋体" pitchFamily="2" charset="-122"/>
              </a:rPr>
              <a:t>ebp</a:t>
            </a:r>
            <a:r>
              <a:rPr kumimoji="1" lang="en-US" altLang="zh-CN" dirty="0">
                <a:ea typeface="宋体" pitchFamily="2" charset="-122"/>
              </a:rPr>
              <a:t> from stack</a:t>
            </a:r>
            <a:endParaRPr kumimoji="1" lang="en-US" altLang="zh-CN" i="1" dirty="0">
              <a:ea typeface="宋体" pitchFamily="2" charset="-122"/>
            </a:endParaRP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endParaRPr kumimoji="1" lang="en-US" altLang="zh-CN" sz="1600" dirty="0">
              <a:ea typeface="宋体" pitchFamily="2" charset="-122"/>
            </a:endParaRP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kumimoji="1" lang="en-US" altLang="zh-CN" dirty="0">
                <a:solidFill>
                  <a:srgbClr val="000000"/>
                </a:solidFill>
                <a:ea typeface="宋体" pitchFamily="2" charset="-122"/>
              </a:rPr>
              <a:t>		leave = </a:t>
            </a:r>
            <a:r>
              <a:rPr kumimoji="1" lang="en-US" altLang="zh-CN" dirty="0" err="1">
                <a:solidFill>
                  <a:srgbClr val="000000"/>
                </a:solidFill>
                <a:ea typeface="宋体" pitchFamily="2" charset="-122"/>
              </a:rPr>
              <a:t>mov</a:t>
            </a:r>
            <a:r>
              <a:rPr kumimoji="1" lang="en-US" altLang="zh-CN" dirty="0">
                <a:solidFill>
                  <a:srgbClr val="000000"/>
                </a:solidFill>
                <a:ea typeface="宋体" pitchFamily="2" charset="-122"/>
              </a:rPr>
              <a:t> + pop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endParaRPr kumimoji="1" lang="en-US" altLang="zh-CN" sz="1600" dirty="0">
              <a:ea typeface="宋体" pitchFamily="2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62600" y="4876800"/>
            <a:ext cx="2590800" cy="904875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>
            <a:spAutoFit/>
          </a:bodyPr>
          <a:lstStyle/>
          <a:p>
            <a:pPr lvl="1" indent="-369888">
              <a:spcBef>
                <a:spcPct val="20000"/>
              </a:spcBef>
              <a:defRPr/>
            </a:pPr>
            <a:r>
              <a:rPr kumimoji="0" lang="en-US" altLang="zh-CN" b="0" kern="0" dirty="0" err="1">
                <a:solidFill>
                  <a:srgbClr val="0000FF"/>
                </a:solidFill>
                <a:latin typeface="Comic Sans MS"/>
                <a:ea typeface="宋体" panose="02010600030101010101" pitchFamily="2" charset="-122"/>
              </a:rPr>
              <a:t>mov</a:t>
            </a:r>
            <a:r>
              <a:rPr kumimoji="0" lang="en-US" altLang="zh-CN" b="0" kern="0" dirty="0">
                <a:solidFill>
                  <a:srgbClr val="0000FF"/>
                </a:solidFill>
                <a:latin typeface="Comic Sans MS"/>
                <a:ea typeface="宋体" panose="02010600030101010101" pitchFamily="2" charset="-122"/>
              </a:rPr>
              <a:t> %</a:t>
            </a:r>
            <a:r>
              <a:rPr kumimoji="0" lang="en-US" altLang="zh-CN" b="0" kern="0" dirty="0" err="1">
                <a:solidFill>
                  <a:srgbClr val="0000FF"/>
                </a:solidFill>
                <a:latin typeface="Comic Sans MS"/>
                <a:ea typeface="宋体" panose="02010600030101010101" pitchFamily="2" charset="-122"/>
              </a:rPr>
              <a:t>ebp</a:t>
            </a:r>
            <a:r>
              <a:rPr kumimoji="0" lang="en-US" altLang="zh-CN" b="0" kern="0" dirty="0">
                <a:solidFill>
                  <a:srgbClr val="0000FF"/>
                </a:solidFill>
                <a:latin typeface="Comic Sans MS"/>
                <a:ea typeface="宋体" panose="02010600030101010101" pitchFamily="2" charset="-122"/>
              </a:rPr>
              <a:t>, %</a:t>
            </a:r>
            <a:r>
              <a:rPr kumimoji="0" lang="en-US" altLang="zh-CN" b="0" kern="0" dirty="0" err="1">
                <a:solidFill>
                  <a:srgbClr val="0000FF"/>
                </a:solidFill>
                <a:latin typeface="Comic Sans MS"/>
                <a:ea typeface="宋体" panose="02010600030101010101" pitchFamily="2" charset="-122"/>
              </a:rPr>
              <a:t>esp</a:t>
            </a:r>
            <a:endParaRPr kumimoji="0" lang="en-US" altLang="zh-CN" b="0" kern="0" dirty="0">
              <a:solidFill>
                <a:srgbClr val="0000FF"/>
              </a:solidFill>
              <a:latin typeface="Comic Sans MS"/>
              <a:ea typeface="宋体" panose="02010600030101010101" pitchFamily="2" charset="-122"/>
            </a:endParaRPr>
          </a:p>
          <a:p>
            <a:pPr lvl="1" indent="-369888">
              <a:spcBef>
                <a:spcPct val="20000"/>
              </a:spcBef>
              <a:defRPr/>
            </a:pPr>
            <a:r>
              <a:rPr kumimoji="0" lang="en-US" altLang="zh-CN" b="0" kern="0" dirty="0">
                <a:solidFill>
                  <a:srgbClr val="0000FF"/>
                </a:solidFill>
                <a:latin typeface="Comic Sans MS"/>
                <a:ea typeface="宋体" panose="02010600030101010101" pitchFamily="2" charset="-122"/>
              </a:rPr>
              <a:t>pop %</a:t>
            </a:r>
            <a:r>
              <a:rPr kumimoji="0" lang="en-US" altLang="zh-CN" b="0" kern="0" dirty="0" err="1">
                <a:solidFill>
                  <a:srgbClr val="0000FF"/>
                </a:solidFill>
                <a:latin typeface="Comic Sans MS"/>
                <a:ea typeface="宋体" panose="02010600030101010101" pitchFamily="2" charset="-122"/>
              </a:rPr>
              <a:t>ebp</a:t>
            </a:r>
            <a:endParaRPr kumimoji="0" lang="en-US" altLang="zh-CN" b="0" kern="0" dirty="0">
              <a:solidFill>
                <a:srgbClr val="0000FF"/>
              </a:solidFill>
              <a:latin typeface="Comic Sans MS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97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49DEF1-1BBD-A348-A1FC-934E24E594D6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Execution of call and ret</a:t>
            </a: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228600" y="1371600"/>
            <a:ext cx="8077200" cy="3505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US" altLang="zh-CN" sz="2000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//beginning of function sum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altLang="zh-CN" sz="2000" dirty="0">
                <a:solidFill>
                  <a:srgbClr val="0070C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08048394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&lt;sum&gt;: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8048394:  55			push	%</a:t>
            </a:r>
            <a:r>
              <a:rPr lang="en-US" altLang="zh-CN" sz="20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ebp</a:t>
            </a:r>
            <a:endParaRPr lang="en-US" altLang="zh-CN" sz="2000" dirty="0"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indent="0"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   . . .</a:t>
            </a:r>
          </a:p>
          <a:p>
            <a:pPr marL="457200" indent="-457200">
              <a:buFont typeface="+mj-lt"/>
              <a:buAutoNum type="arabicPeriod" startAt="3"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80483a4:			ret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   . . .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//call to sum from main</a:t>
            </a:r>
          </a:p>
          <a:p>
            <a:pPr marL="457200" indent="-457200">
              <a:buFont typeface="+mj-lt"/>
              <a:buAutoNum type="arabicPeriod" startAt="4"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80483dc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:  e8 b3 </a:t>
            </a:r>
            <a:r>
              <a:rPr lang="en-US" altLang="zh-CN" sz="20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ff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ff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ff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	call	8048394&lt;sum&gt;  </a:t>
            </a:r>
          </a:p>
          <a:p>
            <a:pPr marL="457200" indent="-457200">
              <a:buFont typeface="+mj-lt"/>
              <a:buAutoNum type="arabicPeriod" startAt="4"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dirty="0">
                <a:solidFill>
                  <a:srgbClr val="FF9933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80483e1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:  83 c4 14		add	$0x14, %</a:t>
            </a:r>
            <a:r>
              <a:rPr lang="en-US" altLang="zh-CN" sz="20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esp</a:t>
            </a:r>
            <a:endParaRPr lang="en-US" altLang="zh-CN" sz="2000" dirty="0">
              <a:latin typeface="Courier New" pitchFamily="49" charset="0"/>
              <a:ea typeface="宋体" pitchFamily="2" charset="-122"/>
              <a:cs typeface="Courier New" pitchFamily="49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9600" y="5516563"/>
          <a:ext cx="2362200" cy="111442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Verdana" pitchFamily="34" charset="0"/>
                          <a:cs typeface="Courier New" pitchFamily="49" charset="0"/>
                        </a:rPr>
                        <a:t>%eip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Verdana" pitchFamily="34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0x080483dc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%esp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0xff9bc960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ret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-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1698" name="Rectangle 17"/>
          <p:cNvSpPr>
            <a:spLocks noChangeArrowheads="1"/>
          </p:cNvSpPr>
          <p:nvPr/>
        </p:nvSpPr>
        <p:spPr bwMode="auto">
          <a:xfrm>
            <a:off x="609600" y="5440363"/>
            <a:ext cx="2362200" cy="1143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cxnSp>
        <p:nvCxnSpPr>
          <p:cNvPr id="71699" name="Straight Connector 18"/>
          <p:cNvCxnSpPr>
            <a:cxnSpLocks noChangeShapeType="1"/>
          </p:cNvCxnSpPr>
          <p:nvPr/>
        </p:nvCxnSpPr>
        <p:spPr bwMode="auto">
          <a:xfrm>
            <a:off x="609600" y="5897563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00" name="Straight Connector 19"/>
          <p:cNvCxnSpPr>
            <a:cxnSpLocks noChangeShapeType="1"/>
          </p:cNvCxnSpPr>
          <p:nvPr/>
        </p:nvCxnSpPr>
        <p:spPr bwMode="auto">
          <a:xfrm>
            <a:off x="1371600" y="5440363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01" name="Straight Connector 20"/>
          <p:cNvCxnSpPr>
            <a:cxnSpLocks noChangeShapeType="1"/>
          </p:cNvCxnSpPr>
          <p:nvPr/>
        </p:nvCxnSpPr>
        <p:spPr bwMode="auto">
          <a:xfrm>
            <a:off x="609600" y="6278563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276600" y="5516563"/>
          <a:ext cx="2362200" cy="111442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Verdana" pitchFamily="34" charset="0"/>
                          <a:cs typeface="Courier New" pitchFamily="49" charset="0"/>
                        </a:rPr>
                        <a:t>%eip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Verdana" pitchFamily="34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0x08048394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%esp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0xff9bc95c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ret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0x080483e1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9933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1716" name="Rectangle 22"/>
          <p:cNvSpPr>
            <a:spLocks noChangeArrowheads="1"/>
          </p:cNvSpPr>
          <p:nvPr/>
        </p:nvSpPr>
        <p:spPr bwMode="auto">
          <a:xfrm>
            <a:off x="3276600" y="5440363"/>
            <a:ext cx="2362200" cy="1143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cxnSp>
        <p:nvCxnSpPr>
          <p:cNvPr id="71717" name="Straight Connector 23"/>
          <p:cNvCxnSpPr>
            <a:cxnSpLocks noChangeShapeType="1"/>
          </p:cNvCxnSpPr>
          <p:nvPr/>
        </p:nvCxnSpPr>
        <p:spPr bwMode="auto">
          <a:xfrm>
            <a:off x="3276600" y="5897563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18" name="Straight Connector 24"/>
          <p:cNvCxnSpPr>
            <a:cxnSpLocks noChangeShapeType="1"/>
          </p:cNvCxnSpPr>
          <p:nvPr/>
        </p:nvCxnSpPr>
        <p:spPr bwMode="auto">
          <a:xfrm>
            <a:off x="4038600" y="5440363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19" name="Straight Connector 25"/>
          <p:cNvCxnSpPr>
            <a:cxnSpLocks noChangeShapeType="1"/>
          </p:cNvCxnSpPr>
          <p:nvPr/>
        </p:nvCxnSpPr>
        <p:spPr bwMode="auto">
          <a:xfrm>
            <a:off x="3276600" y="6278563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943600" y="5516563"/>
          <a:ext cx="2362200" cy="111442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Verdana" pitchFamily="34" charset="0"/>
                          <a:cs typeface="Courier New" pitchFamily="49" charset="0"/>
                        </a:rPr>
                        <a:t>%eip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Verdana" pitchFamily="34" charset="0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33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0x080483e1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9933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%esp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0xff9bc960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ret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-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1734" name="Rectangle 27"/>
          <p:cNvSpPr>
            <a:spLocks noChangeArrowheads="1"/>
          </p:cNvSpPr>
          <p:nvPr/>
        </p:nvSpPr>
        <p:spPr bwMode="auto">
          <a:xfrm>
            <a:off x="5943600" y="5440363"/>
            <a:ext cx="2362200" cy="11430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cxnSp>
        <p:nvCxnSpPr>
          <p:cNvPr id="71735" name="Straight Connector 28"/>
          <p:cNvCxnSpPr>
            <a:cxnSpLocks noChangeShapeType="1"/>
          </p:cNvCxnSpPr>
          <p:nvPr/>
        </p:nvCxnSpPr>
        <p:spPr bwMode="auto">
          <a:xfrm>
            <a:off x="5943600" y="5897563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36" name="Straight Connector 29"/>
          <p:cNvCxnSpPr>
            <a:cxnSpLocks noChangeShapeType="1"/>
          </p:cNvCxnSpPr>
          <p:nvPr/>
        </p:nvCxnSpPr>
        <p:spPr bwMode="auto">
          <a:xfrm>
            <a:off x="6705600" y="5440363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37" name="Straight Connector 30"/>
          <p:cNvCxnSpPr>
            <a:cxnSpLocks noChangeShapeType="1"/>
          </p:cNvCxnSpPr>
          <p:nvPr/>
        </p:nvCxnSpPr>
        <p:spPr bwMode="auto">
          <a:xfrm>
            <a:off x="5943600" y="6278563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738" name="TextBox 2"/>
          <p:cNvSpPr txBox="1">
            <a:spLocks noChangeArrowheads="1"/>
          </p:cNvSpPr>
          <p:nvPr/>
        </p:nvSpPr>
        <p:spPr bwMode="auto">
          <a:xfrm>
            <a:off x="609600" y="5029200"/>
            <a:ext cx="2362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Courier New" charset="0"/>
                <a:cs typeface="Courier New" charset="0"/>
              </a:rPr>
              <a:t>Executing call</a:t>
            </a:r>
            <a:endParaRPr lang="zh-CN" altLang="en-US" sz="2000">
              <a:solidFill>
                <a:srgbClr val="000000"/>
              </a:solidFill>
              <a:latin typeface="Courier New" charset="0"/>
              <a:cs typeface="Courier New" charset="0"/>
            </a:endParaRPr>
          </a:p>
        </p:txBody>
      </p:sp>
      <p:sp>
        <p:nvSpPr>
          <p:cNvPr id="71739" name="TextBox 32"/>
          <p:cNvSpPr txBox="1">
            <a:spLocks noChangeArrowheads="1"/>
          </p:cNvSpPr>
          <p:nvPr/>
        </p:nvSpPr>
        <p:spPr bwMode="auto">
          <a:xfrm>
            <a:off x="3276600" y="5029200"/>
            <a:ext cx="2362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Courier New" charset="0"/>
                <a:cs typeface="Courier New" charset="0"/>
              </a:rPr>
              <a:t>After call</a:t>
            </a:r>
            <a:endParaRPr lang="zh-CN" altLang="en-US" sz="2000">
              <a:solidFill>
                <a:srgbClr val="000000"/>
              </a:solidFill>
              <a:latin typeface="Courier New" charset="0"/>
              <a:cs typeface="Courier New" charset="0"/>
            </a:endParaRPr>
          </a:p>
        </p:txBody>
      </p:sp>
      <p:sp>
        <p:nvSpPr>
          <p:cNvPr id="71740" name="TextBox 33"/>
          <p:cNvSpPr txBox="1">
            <a:spLocks noChangeArrowheads="1"/>
          </p:cNvSpPr>
          <p:nvPr/>
        </p:nvSpPr>
        <p:spPr bwMode="auto">
          <a:xfrm>
            <a:off x="5943600" y="5029200"/>
            <a:ext cx="2362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Courier New" charset="0"/>
                <a:cs typeface="Courier New" charset="0"/>
              </a:rPr>
              <a:t>After ret</a:t>
            </a:r>
            <a:endParaRPr lang="zh-CN" altLang="en-US" sz="2000">
              <a:solidFill>
                <a:srgbClr val="000000"/>
              </a:solidFill>
              <a:latin typeface="Courier New" charset="0"/>
              <a:cs typeface="Courier New" charset="0"/>
            </a:endParaRPr>
          </a:p>
        </p:txBody>
      </p:sp>
      <p:cxnSp>
        <p:nvCxnSpPr>
          <p:cNvPr id="71741" name="Straight Connector 4"/>
          <p:cNvCxnSpPr>
            <a:cxnSpLocks noChangeShapeType="1"/>
          </p:cNvCxnSpPr>
          <p:nvPr/>
        </p:nvCxnSpPr>
        <p:spPr bwMode="auto">
          <a:xfrm>
            <a:off x="228600" y="48006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81000" y="5897563"/>
            <a:ext cx="8229600" cy="381000"/>
          </a:xfrm>
          <a:prstGeom prst="rect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2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66800"/>
            <a:ext cx="74041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2" name="TextBox 4"/>
          <p:cNvSpPr txBox="1">
            <a:spLocks noChangeArrowheads="1"/>
          </p:cNvSpPr>
          <p:nvPr/>
        </p:nvSpPr>
        <p:spPr bwMode="auto">
          <a:xfrm>
            <a:off x="2895600" y="1905000"/>
            <a:ext cx="2743200" cy="523875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FF00"/>
                </a:solidFill>
                <a:latin typeface="Times New Roman" charset="0"/>
              </a:rPr>
              <a:t>User stack</a:t>
            </a:r>
            <a:r>
              <a:rPr lang="zh-CN" altLang="en-US" dirty="0">
                <a:solidFill>
                  <a:srgbClr val="FFFF00"/>
                </a:solidFill>
                <a:latin typeface="Times New Roman" charset="0"/>
              </a:rPr>
              <a:t> </a:t>
            </a:r>
            <a:endParaRPr lang="en-US" altLang="zh-CN" dirty="0">
              <a:solidFill>
                <a:srgbClr val="FFFF00"/>
              </a:solidFill>
              <a:latin typeface="Times New Roman" charset="0"/>
            </a:endParaRPr>
          </a:p>
        </p:txBody>
      </p:sp>
      <p:sp>
        <p:nvSpPr>
          <p:cNvPr id="7373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34A93C-7C8C-8C4B-A9FE-6F8E9AA6950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Memory Layout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Group 28"/>
          <p:cNvGraphicFramePr>
            <a:graphicFrameLocks noGrp="1"/>
          </p:cNvGraphicFramePr>
          <p:nvPr/>
        </p:nvGraphicFramePr>
        <p:xfrm>
          <a:off x="6721475" y="3565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 1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Group 28"/>
          <p:cNvGraphicFramePr>
            <a:graphicFrameLocks noGrp="1"/>
          </p:cNvGraphicFramePr>
          <p:nvPr/>
        </p:nvGraphicFramePr>
        <p:xfrm>
          <a:off x="6721475" y="3184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. . . . . .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Group 28"/>
          <p:cNvGraphicFramePr>
            <a:graphicFrameLocks noGrp="1"/>
          </p:cNvGraphicFramePr>
          <p:nvPr/>
        </p:nvGraphicFramePr>
        <p:xfrm>
          <a:off x="6721475" y="2803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 N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79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E3338B-B29B-B446-963A-6D49F8CE481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75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Passing Data: Arguments</a:t>
            </a:r>
          </a:p>
        </p:txBody>
      </p:sp>
      <p:sp>
        <p:nvSpPr>
          <p:cNvPr id="757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Pushed by Caller</a:t>
            </a: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Saved in caller frame</a:t>
            </a: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Just upon of return address</a:t>
            </a: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From Nth to 1</a:t>
            </a:r>
            <a:r>
              <a:rPr lang="en-US" altLang="zh-CN" baseline="30000" dirty="0">
                <a:ea typeface="宋体" charset="-122"/>
              </a:rPr>
              <a:t>st </a:t>
            </a:r>
            <a:r>
              <a:rPr lang="en-US" altLang="zh-CN" dirty="0">
                <a:ea typeface="宋体" charset="-122"/>
              </a:rPr>
              <a:t>(from 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right to left</a:t>
            </a:r>
            <a:r>
              <a:rPr lang="en-US" altLang="zh-CN" dirty="0">
                <a:ea typeface="宋体" charset="-122"/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Used by </a:t>
            </a:r>
            <a:r>
              <a:rPr lang="en-US" altLang="zh-CN" dirty="0" err="1">
                <a:ea typeface="宋体" charset="-122"/>
              </a:rPr>
              <a:t>Callee</a:t>
            </a:r>
            <a:endParaRPr lang="en-US" altLang="zh-CN" dirty="0">
              <a:ea typeface="宋体" charset="-122"/>
            </a:endParaRP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Relative to </a:t>
            </a: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%</a:t>
            </a:r>
            <a:r>
              <a:rPr lang="en-US" altLang="zh-CN" dirty="0" err="1">
                <a:solidFill>
                  <a:srgbClr val="0000FF"/>
                </a:solidFill>
                <a:ea typeface="宋体" charset="-122"/>
              </a:rPr>
              <a:t>ebp</a:t>
            </a:r>
            <a:endParaRPr lang="en-US" altLang="zh-CN" dirty="0">
              <a:solidFill>
                <a:srgbClr val="0000FF"/>
              </a:solidFill>
              <a:ea typeface="宋体" charset="-122"/>
            </a:endParaRP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Offset: 8 + 4*</a:t>
            </a:r>
            <a:r>
              <a:rPr lang="en-US" altLang="zh-CN" dirty="0" err="1">
                <a:ea typeface="宋体" charset="-122"/>
              </a:rPr>
              <a:t>i</a:t>
            </a:r>
            <a:r>
              <a:rPr lang="en-US" altLang="zh-CN" dirty="0">
                <a:ea typeface="宋体" charset="-122"/>
              </a:rPr>
              <a:t> + </a:t>
            </a: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%</a:t>
            </a:r>
            <a:r>
              <a:rPr lang="en-US" altLang="zh-CN" dirty="0" err="1">
                <a:solidFill>
                  <a:srgbClr val="0000FF"/>
                </a:solidFill>
                <a:ea typeface="宋体" charset="-122"/>
              </a:rPr>
              <a:t>ebp</a:t>
            </a:r>
            <a:endParaRPr lang="en-US" altLang="zh-CN" dirty="0">
              <a:solidFill>
                <a:srgbClr val="0000FF"/>
              </a:solidFill>
              <a:ea typeface="宋体" charset="-122"/>
            </a:endParaRPr>
          </a:p>
        </p:txBody>
      </p:sp>
      <p:graphicFrame>
        <p:nvGraphicFramePr>
          <p:cNvPr id="19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849799"/>
              </p:ext>
            </p:extLst>
          </p:nvPr>
        </p:nvGraphicFramePr>
        <p:xfrm>
          <a:off x="6721475" y="4343400"/>
          <a:ext cx="1660525" cy="1395984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Callee</a:t>
                      </a:r>
                      <a:b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5804" name="Group 27"/>
          <p:cNvGrpSpPr>
            <a:grpSpLocks/>
          </p:cNvGrpSpPr>
          <p:nvPr/>
        </p:nvGrpSpPr>
        <p:grpSpPr bwMode="auto">
          <a:xfrm>
            <a:off x="5486400" y="4419600"/>
            <a:ext cx="1235075" cy="1371599"/>
            <a:chOff x="3686" y="1273"/>
            <a:chExt cx="778" cy="864"/>
          </a:xfrm>
        </p:grpSpPr>
        <p:sp>
          <p:nvSpPr>
            <p:cNvPr id="75819" name="Text Box 16"/>
            <p:cNvSpPr txBox="1">
              <a:spLocks noChangeArrowheads="1"/>
            </p:cNvSpPr>
            <p:nvPr/>
          </p:nvSpPr>
          <p:spPr bwMode="auto">
            <a:xfrm>
              <a:off x="3686" y="1273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dirty="0">
                  <a:solidFill>
                    <a:srgbClr val="0000FF"/>
                  </a:solidFill>
                  <a:latin typeface="Times New Roman" charset="0"/>
                </a:rPr>
                <a:t>%</a:t>
              </a:r>
              <a:r>
                <a:rPr lang="en-US" altLang="zh-CN" sz="2400" dirty="0" err="1">
                  <a:solidFill>
                    <a:srgbClr val="0000FF"/>
                  </a:solidFill>
                  <a:latin typeface="Times New Roman" charset="0"/>
                </a:rPr>
                <a:t>ebp</a:t>
              </a:r>
              <a:endParaRPr lang="en-US" altLang="zh-CN" sz="2400" dirty="0">
                <a:solidFill>
                  <a:srgbClr val="0000FF"/>
                </a:solidFill>
                <a:latin typeface="Times New Roman" charset="0"/>
              </a:endParaRPr>
            </a:p>
          </p:txBody>
        </p:sp>
        <p:sp>
          <p:nvSpPr>
            <p:cNvPr id="75820" name="Text Box 17"/>
            <p:cNvSpPr txBox="1">
              <a:spLocks noChangeArrowheads="1"/>
            </p:cNvSpPr>
            <p:nvPr/>
          </p:nvSpPr>
          <p:spPr bwMode="auto">
            <a:xfrm>
              <a:off x="3696" y="1938"/>
              <a:ext cx="580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75821" name="Line 18"/>
            <p:cNvSpPr>
              <a:spLocks noChangeShapeType="1"/>
            </p:cNvSpPr>
            <p:nvPr/>
          </p:nvSpPr>
          <p:spPr bwMode="auto">
            <a:xfrm>
              <a:off x="4224" y="142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5822" name="Line 19"/>
            <p:cNvSpPr>
              <a:spLocks noChangeShapeType="1"/>
            </p:cNvSpPr>
            <p:nvPr/>
          </p:nvSpPr>
          <p:spPr bwMode="auto">
            <a:xfrm flipV="1">
              <a:off x="4224" y="2108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25" name="Group 28"/>
          <p:cNvGraphicFramePr>
            <a:graphicFrameLocks noGrp="1"/>
          </p:cNvGraphicFramePr>
          <p:nvPr/>
        </p:nvGraphicFramePr>
        <p:xfrm>
          <a:off x="6721475" y="3946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Group 28"/>
          <p:cNvGraphicFramePr>
            <a:graphicFrameLocks noGrp="1"/>
          </p:cNvGraphicFramePr>
          <p:nvPr/>
        </p:nvGraphicFramePr>
        <p:xfrm>
          <a:off x="6721475" y="1828800"/>
          <a:ext cx="1660525" cy="25146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14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817" name="Rectangle 26"/>
          <p:cNvSpPr>
            <a:spLocks noChangeArrowheads="1"/>
          </p:cNvSpPr>
          <p:nvPr/>
        </p:nvSpPr>
        <p:spPr bwMode="auto">
          <a:xfrm>
            <a:off x="6721475" y="1828800"/>
            <a:ext cx="1660525" cy="2511425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75818" name="Rectangle 27"/>
          <p:cNvSpPr>
            <a:spLocks noChangeArrowheads="1"/>
          </p:cNvSpPr>
          <p:nvPr/>
        </p:nvSpPr>
        <p:spPr bwMode="auto">
          <a:xfrm>
            <a:off x="6721475" y="4337622"/>
            <a:ext cx="1660525" cy="1383094"/>
          </a:xfrm>
          <a:prstGeom prst="rect">
            <a:avLst/>
          </a:prstGeom>
          <a:solidFill>
            <a:srgbClr val="FFCCFF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en-US" altLang="zh-CN" sz="2400" dirty="0">
              <a:solidFill>
                <a:srgbClr val="000000"/>
              </a:solidFill>
              <a:latin typeface="Times New Roman" charset="0"/>
            </a:endParaRPr>
          </a:p>
          <a:p>
            <a:pPr>
              <a:buFontTx/>
              <a:buNone/>
            </a:pPr>
            <a:endParaRPr lang="en-US" altLang="zh-CN" sz="2400" dirty="0">
              <a:solidFill>
                <a:srgbClr val="000000"/>
              </a:solidFill>
              <a:latin typeface="Times New Roman" charset="0"/>
            </a:endParaRPr>
          </a:p>
          <a:p>
            <a:pPr>
              <a:buFontTx/>
              <a:buNone/>
            </a:pPr>
            <a:endParaRPr lang="en-US" altLang="zh-CN" sz="2400" dirty="0">
              <a:solidFill>
                <a:srgbClr val="000000"/>
              </a:solidFill>
              <a:latin typeface="Times New Roman" charset="0"/>
            </a:endParaRPr>
          </a:p>
          <a:p>
            <a:pPr>
              <a:buFontTx/>
              <a:buNone/>
            </a:pPr>
            <a:endParaRPr lang="zh-CN" altLang="en-US" sz="24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1F7169DF-6E70-DE4E-A82C-1CD61C1D7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6023" y="4300179"/>
            <a:ext cx="14590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charset="0"/>
              </a:rPr>
              <a:t>old %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charset="0"/>
              </a:rPr>
              <a:t>ebp</a:t>
            </a:r>
            <a:endParaRPr lang="en-US" altLang="zh-CN" sz="2400" dirty="0">
              <a:solidFill>
                <a:srgbClr val="0000FF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Group 28"/>
          <p:cNvGraphicFramePr>
            <a:graphicFrameLocks noGrp="1"/>
          </p:cNvGraphicFramePr>
          <p:nvPr/>
        </p:nvGraphicFramePr>
        <p:xfrm>
          <a:off x="6721475" y="2803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 N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783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055462-98DD-A34B-9DEE-9331C20A2C8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778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Passing Data: Arguments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00200"/>
            <a:ext cx="7772400" cy="4419600"/>
          </a:xfrm>
        </p:spPr>
        <p:txBody>
          <a:bodyPr/>
          <a:lstStyle/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push argument N</a:t>
            </a:r>
          </a:p>
          <a:p>
            <a:pPr>
              <a:lnSpc>
                <a:spcPct val="140000"/>
              </a:lnSpc>
              <a:defRPr/>
            </a:pPr>
            <a:endParaRPr lang="en-US" altLang="zh-CN" dirty="0">
              <a:ea typeface="宋体" pitchFamily="2" charset="-122"/>
            </a:endParaRPr>
          </a:p>
        </p:txBody>
      </p:sp>
      <p:grpSp>
        <p:nvGrpSpPr>
          <p:cNvPr id="77834" name="Group 27"/>
          <p:cNvGrpSpPr>
            <a:grpSpLocks/>
          </p:cNvGrpSpPr>
          <p:nvPr/>
        </p:nvGrpSpPr>
        <p:grpSpPr bwMode="auto">
          <a:xfrm>
            <a:off x="5486400" y="1595438"/>
            <a:ext cx="1235075" cy="1804987"/>
            <a:chOff x="3686" y="1078"/>
            <a:chExt cx="778" cy="1137"/>
          </a:xfrm>
        </p:grpSpPr>
        <p:sp>
          <p:nvSpPr>
            <p:cNvPr id="77842" name="Text Box 16"/>
            <p:cNvSpPr txBox="1">
              <a:spLocks noChangeArrowheads="1"/>
            </p:cNvSpPr>
            <p:nvPr/>
          </p:nvSpPr>
          <p:spPr bwMode="auto">
            <a:xfrm>
              <a:off x="3686" y="1078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77843" name="Text Box 17"/>
            <p:cNvSpPr txBox="1">
              <a:spLocks noChangeArrowheads="1"/>
            </p:cNvSpPr>
            <p:nvPr/>
          </p:nvSpPr>
          <p:spPr bwMode="auto">
            <a:xfrm>
              <a:off x="3696" y="1863"/>
              <a:ext cx="580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77844" name="Line 18"/>
            <p:cNvSpPr>
              <a:spLocks noChangeShapeType="1"/>
            </p:cNvSpPr>
            <p:nvPr/>
          </p:nvSpPr>
          <p:spPr bwMode="auto">
            <a:xfrm>
              <a:off x="4224" y="12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45" name="Line 19"/>
            <p:cNvSpPr>
              <a:spLocks noChangeShapeType="1"/>
            </p:cNvSpPr>
            <p:nvPr/>
          </p:nvSpPr>
          <p:spPr bwMode="auto">
            <a:xfrm flipV="1">
              <a:off x="4224" y="2040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26" name="Group 28"/>
          <p:cNvGraphicFramePr>
            <a:graphicFrameLocks noGrp="1"/>
          </p:cNvGraphicFramePr>
          <p:nvPr/>
        </p:nvGraphicFramePr>
        <p:xfrm>
          <a:off x="6721475" y="1828800"/>
          <a:ext cx="1660525" cy="1373188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3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694" marB="456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7841" name="Rectangle 26"/>
          <p:cNvSpPr>
            <a:spLocks noChangeArrowheads="1"/>
          </p:cNvSpPr>
          <p:nvPr/>
        </p:nvSpPr>
        <p:spPr bwMode="auto">
          <a:xfrm>
            <a:off x="6721475" y="1828800"/>
            <a:ext cx="1660525" cy="1373188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Group 28"/>
          <p:cNvGraphicFramePr>
            <a:graphicFrameLocks noGrp="1"/>
          </p:cNvGraphicFramePr>
          <p:nvPr/>
        </p:nvGraphicFramePr>
        <p:xfrm>
          <a:off x="6721475" y="3565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 1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Group 28"/>
          <p:cNvGraphicFramePr>
            <a:graphicFrameLocks noGrp="1"/>
          </p:cNvGraphicFramePr>
          <p:nvPr/>
        </p:nvGraphicFramePr>
        <p:xfrm>
          <a:off x="6721475" y="3184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. . . . . .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Group 28"/>
          <p:cNvGraphicFramePr>
            <a:graphicFrameLocks noGrp="1"/>
          </p:cNvGraphicFramePr>
          <p:nvPr/>
        </p:nvGraphicFramePr>
        <p:xfrm>
          <a:off x="6721475" y="2803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 N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89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6367AA-745B-8B4A-AFA8-4861D0F2A4F6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79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Passing Data: Arguments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00200"/>
            <a:ext cx="7772400" cy="4419600"/>
          </a:xfrm>
        </p:spPr>
        <p:txBody>
          <a:bodyPr/>
          <a:lstStyle/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push argument N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. . . 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push argument 1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lnSpc>
                <a:spcPct val="140000"/>
              </a:lnSpc>
              <a:defRPr/>
            </a:pPr>
            <a:endParaRPr lang="en-US" altLang="zh-CN" dirty="0">
              <a:ea typeface="宋体" pitchFamily="2" charset="-122"/>
            </a:endParaRPr>
          </a:p>
        </p:txBody>
      </p:sp>
      <p:grpSp>
        <p:nvGrpSpPr>
          <p:cNvPr id="79894" name="Group 27"/>
          <p:cNvGrpSpPr>
            <a:grpSpLocks/>
          </p:cNvGrpSpPr>
          <p:nvPr/>
        </p:nvGrpSpPr>
        <p:grpSpPr bwMode="auto">
          <a:xfrm>
            <a:off x="5486400" y="1595438"/>
            <a:ext cx="1235075" cy="2566987"/>
            <a:chOff x="3686" y="1078"/>
            <a:chExt cx="778" cy="1617"/>
          </a:xfrm>
        </p:grpSpPr>
        <p:sp>
          <p:nvSpPr>
            <p:cNvPr id="79902" name="Text Box 16"/>
            <p:cNvSpPr txBox="1">
              <a:spLocks noChangeArrowheads="1"/>
            </p:cNvSpPr>
            <p:nvPr/>
          </p:nvSpPr>
          <p:spPr bwMode="auto">
            <a:xfrm>
              <a:off x="3686" y="1078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79903" name="Text Box 17"/>
            <p:cNvSpPr txBox="1">
              <a:spLocks noChangeArrowheads="1"/>
            </p:cNvSpPr>
            <p:nvPr/>
          </p:nvSpPr>
          <p:spPr bwMode="auto">
            <a:xfrm>
              <a:off x="3696" y="2343"/>
              <a:ext cx="580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79904" name="Line 18"/>
            <p:cNvSpPr>
              <a:spLocks noChangeShapeType="1"/>
            </p:cNvSpPr>
            <p:nvPr/>
          </p:nvSpPr>
          <p:spPr bwMode="auto">
            <a:xfrm>
              <a:off x="4224" y="12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9905" name="Line 19"/>
            <p:cNvSpPr>
              <a:spLocks noChangeShapeType="1"/>
            </p:cNvSpPr>
            <p:nvPr/>
          </p:nvSpPr>
          <p:spPr bwMode="auto">
            <a:xfrm flipV="1">
              <a:off x="4224" y="2520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26" name="Group 28"/>
          <p:cNvGraphicFramePr>
            <a:graphicFrameLocks noGrp="1"/>
          </p:cNvGraphicFramePr>
          <p:nvPr/>
        </p:nvGraphicFramePr>
        <p:xfrm>
          <a:off x="6721475" y="1828800"/>
          <a:ext cx="1660525" cy="213042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0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901" name="Rectangle 26"/>
          <p:cNvSpPr>
            <a:spLocks noChangeArrowheads="1"/>
          </p:cNvSpPr>
          <p:nvPr/>
        </p:nvSpPr>
        <p:spPr bwMode="auto">
          <a:xfrm>
            <a:off x="6721475" y="1828800"/>
            <a:ext cx="1660525" cy="2130425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Group 28"/>
          <p:cNvGraphicFramePr>
            <a:graphicFrameLocks noGrp="1"/>
          </p:cNvGraphicFramePr>
          <p:nvPr/>
        </p:nvGraphicFramePr>
        <p:xfrm>
          <a:off x="6721475" y="3565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 1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Group 28"/>
          <p:cNvGraphicFramePr>
            <a:graphicFrameLocks noGrp="1"/>
          </p:cNvGraphicFramePr>
          <p:nvPr/>
        </p:nvGraphicFramePr>
        <p:xfrm>
          <a:off x="6721475" y="3184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. . . . . .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Group 28"/>
          <p:cNvGraphicFramePr>
            <a:graphicFrameLocks noGrp="1"/>
          </p:cNvGraphicFramePr>
          <p:nvPr/>
        </p:nvGraphicFramePr>
        <p:xfrm>
          <a:off x="6721475" y="2803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 N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93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9D9D5C-E862-244D-AA2B-EDF040A862BD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1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Passing Data: Arguments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595438"/>
            <a:ext cx="7772400" cy="4419600"/>
          </a:xfrm>
        </p:spPr>
        <p:txBody>
          <a:bodyPr/>
          <a:lstStyle/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push argument N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. . . 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push argument 1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call </a:t>
            </a:r>
            <a:r>
              <a:rPr lang="en-US" altLang="zh-CN" dirty="0" err="1">
                <a:ea typeface="宋体" pitchFamily="2" charset="-122"/>
              </a:rPr>
              <a:t>callee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140000"/>
              </a:lnSpc>
              <a:defRPr/>
            </a:pPr>
            <a:endParaRPr lang="en-US" altLang="zh-CN" dirty="0">
              <a:ea typeface="宋体" pitchFamily="2" charset="-122"/>
            </a:endParaRPr>
          </a:p>
        </p:txBody>
      </p:sp>
      <p:grpSp>
        <p:nvGrpSpPr>
          <p:cNvPr id="81942" name="Group 27"/>
          <p:cNvGrpSpPr>
            <a:grpSpLocks/>
          </p:cNvGrpSpPr>
          <p:nvPr/>
        </p:nvGrpSpPr>
        <p:grpSpPr bwMode="auto">
          <a:xfrm>
            <a:off x="5486400" y="1595438"/>
            <a:ext cx="1235075" cy="2784475"/>
            <a:chOff x="3686" y="1078"/>
            <a:chExt cx="778" cy="1754"/>
          </a:xfrm>
        </p:grpSpPr>
        <p:sp>
          <p:nvSpPr>
            <p:cNvPr id="81956" name="Text Box 16"/>
            <p:cNvSpPr txBox="1">
              <a:spLocks noChangeArrowheads="1"/>
            </p:cNvSpPr>
            <p:nvPr/>
          </p:nvSpPr>
          <p:spPr bwMode="auto">
            <a:xfrm>
              <a:off x="3686" y="1078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81957" name="Text Box 17"/>
            <p:cNvSpPr txBox="1">
              <a:spLocks noChangeArrowheads="1"/>
            </p:cNvSpPr>
            <p:nvPr/>
          </p:nvSpPr>
          <p:spPr bwMode="auto">
            <a:xfrm>
              <a:off x="3696" y="2591"/>
              <a:ext cx="58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81958" name="Line 18"/>
            <p:cNvSpPr>
              <a:spLocks noChangeShapeType="1"/>
            </p:cNvSpPr>
            <p:nvPr/>
          </p:nvSpPr>
          <p:spPr bwMode="auto">
            <a:xfrm>
              <a:off x="4224" y="12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1959" name="Line 19"/>
            <p:cNvSpPr>
              <a:spLocks noChangeShapeType="1"/>
            </p:cNvSpPr>
            <p:nvPr/>
          </p:nvSpPr>
          <p:spPr bwMode="auto">
            <a:xfrm flipV="1">
              <a:off x="4224" y="2760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25" name="Group 28"/>
          <p:cNvGraphicFramePr>
            <a:graphicFrameLocks noGrp="1"/>
          </p:cNvGraphicFramePr>
          <p:nvPr/>
        </p:nvGraphicFramePr>
        <p:xfrm>
          <a:off x="6721475" y="3946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Group 28"/>
          <p:cNvGraphicFramePr>
            <a:graphicFrameLocks noGrp="1"/>
          </p:cNvGraphicFramePr>
          <p:nvPr/>
        </p:nvGraphicFramePr>
        <p:xfrm>
          <a:off x="6721475" y="1828800"/>
          <a:ext cx="1660525" cy="25146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14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955" name="Rectangle 26"/>
          <p:cNvSpPr>
            <a:spLocks noChangeArrowheads="1"/>
          </p:cNvSpPr>
          <p:nvPr/>
        </p:nvSpPr>
        <p:spPr bwMode="auto">
          <a:xfrm>
            <a:off x="6721475" y="1828800"/>
            <a:ext cx="1660525" cy="2511425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00200"/>
            <a:ext cx="7772400" cy="4419600"/>
          </a:xfrm>
        </p:spPr>
        <p:txBody>
          <a:bodyPr/>
          <a:lstStyle/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push argument N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. . . 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push argument 1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call </a:t>
            </a:r>
            <a:r>
              <a:rPr lang="en-US" altLang="zh-CN" dirty="0" err="1">
                <a:ea typeface="宋体" pitchFamily="2" charset="-122"/>
              </a:rPr>
              <a:t>callee</a:t>
            </a:r>
            <a:endParaRPr lang="en-US" altLang="zh-CN" dirty="0">
              <a:ea typeface="宋体" pitchFamily="2" charset="-122"/>
            </a:endParaRP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push %</a:t>
            </a:r>
            <a:r>
              <a:rPr lang="en-US" altLang="zh-CN" dirty="0" err="1">
                <a:ea typeface="宋体" pitchFamily="2" charset="-122"/>
              </a:rPr>
              <a:t>ebp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140000"/>
              </a:lnSpc>
              <a:defRPr/>
            </a:pPr>
            <a:endParaRPr lang="en-US" altLang="zh-CN" dirty="0">
              <a:ea typeface="宋体" pitchFamily="2" charset="-122"/>
            </a:endParaRPr>
          </a:p>
        </p:txBody>
      </p:sp>
      <p:graphicFrame>
        <p:nvGraphicFramePr>
          <p:cNvPr id="18" name="Group 28"/>
          <p:cNvGraphicFramePr>
            <a:graphicFrameLocks noGrp="1"/>
          </p:cNvGraphicFramePr>
          <p:nvPr/>
        </p:nvGraphicFramePr>
        <p:xfrm>
          <a:off x="6721475" y="4343400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%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Group 28"/>
          <p:cNvGraphicFramePr>
            <a:graphicFrameLocks noGrp="1"/>
          </p:cNvGraphicFramePr>
          <p:nvPr/>
        </p:nvGraphicFramePr>
        <p:xfrm>
          <a:off x="6721475" y="3565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 1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Group 28"/>
          <p:cNvGraphicFramePr>
            <a:graphicFrameLocks noGrp="1"/>
          </p:cNvGraphicFramePr>
          <p:nvPr/>
        </p:nvGraphicFramePr>
        <p:xfrm>
          <a:off x="6721475" y="3184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. . . . . .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Group 28"/>
          <p:cNvGraphicFramePr>
            <a:graphicFrameLocks noGrp="1"/>
          </p:cNvGraphicFramePr>
          <p:nvPr/>
        </p:nvGraphicFramePr>
        <p:xfrm>
          <a:off x="6721475" y="2803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 N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9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DB9CAD-6FBB-E947-83AC-B5E82A13F776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39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Passing Data: Arguments</a:t>
            </a:r>
          </a:p>
        </p:txBody>
      </p:sp>
      <p:grpSp>
        <p:nvGrpSpPr>
          <p:cNvPr id="83996" name="Group 27"/>
          <p:cNvGrpSpPr>
            <a:grpSpLocks/>
          </p:cNvGrpSpPr>
          <p:nvPr/>
        </p:nvGrpSpPr>
        <p:grpSpPr bwMode="auto">
          <a:xfrm>
            <a:off x="5486400" y="1819275"/>
            <a:ext cx="1235075" cy="3133725"/>
            <a:chOff x="3686" y="1078"/>
            <a:chExt cx="778" cy="1974"/>
          </a:xfrm>
        </p:grpSpPr>
        <p:sp>
          <p:nvSpPr>
            <p:cNvPr id="84018" name="Text Box 16"/>
            <p:cNvSpPr txBox="1">
              <a:spLocks noChangeArrowheads="1"/>
            </p:cNvSpPr>
            <p:nvPr/>
          </p:nvSpPr>
          <p:spPr bwMode="auto">
            <a:xfrm>
              <a:off x="3686" y="1078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84019" name="Text Box 17"/>
            <p:cNvSpPr txBox="1">
              <a:spLocks noChangeArrowheads="1"/>
            </p:cNvSpPr>
            <p:nvPr/>
          </p:nvSpPr>
          <p:spPr bwMode="auto">
            <a:xfrm>
              <a:off x="3696" y="2761"/>
              <a:ext cx="5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84020" name="Line 18"/>
            <p:cNvSpPr>
              <a:spLocks noChangeShapeType="1"/>
            </p:cNvSpPr>
            <p:nvPr/>
          </p:nvSpPr>
          <p:spPr bwMode="auto">
            <a:xfrm>
              <a:off x="4224" y="12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4021" name="Line 19"/>
            <p:cNvSpPr>
              <a:spLocks noChangeShapeType="1"/>
            </p:cNvSpPr>
            <p:nvPr/>
          </p:nvSpPr>
          <p:spPr bwMode="auto">
            <a:xfrm flipV="1">
              <a:off x="4224" y="2905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25" name="Group 28"/>
          <p:cNvGraphicFramePr>
            <a:graphicFrameLocks noGrp="1"/>
          </p:cNvGraphicFramePr>
          <p:nvPr/>
        </p:nvGraphicFramePr>
        <p:xfrm>
          <a:off x="6721475" y="3962400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Group 28"/>
          <p:cNvGraphicFramePr>
            <a:graphicFrameLocks noGrp="1"/>
          </p:cNvGraphicFramePr>
          <p:nvPr/>
        </p:nvGraphicFramePr>
        <p:xfrm>
          <a:off x="6721475" y="1814513"/>
          <a:ext cx="1660525" cy="25146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14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009" name="Rectangle 26"/>
          <p:cNvSpPr>
            <a:spLocks noChangeArrowheads="1"/>
          </p:cNvSpPr>
          <p:nvPr/>
        </p:nvSpPr>
        <p:spPr bwMode="auto">
          <a:xfrm>
            <a:off x="6721475" y="1450975"/>
            <a:ext cx="1660525" cy="2511425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graphicFrame>
        <p:nvGraphicFramePr>
          <p:cNvPr id="16" name="Group 28"/>
          <p:cNvGraphicFramePr>
            <a:graphicFrameLocks noGrp="1"/>
          </p:cNvGraphicFramePr>
          <p:nvPr/>
        </p:nvGraphicFramePr>
        <p:xfrm>
          <a:off x="6721475" y="4343400"/>
          <a:ext cx="1660525" cy="15240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Callee</a:t>
                      </a:r>
                      <a:b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016" name="Rectangle 16"/>
          <p:cNvSpPr>
            <a:spLocks noChangeArrowheads="1"/>
          </p:cNvSpPr>
          <p:nvPr/>
        </p:nvSpPr>
        <p:spPr bwMode="auto">
          <a:xfrm>
            <a:off x="6705600" y="4346575"/>
            <a:ext cx="1660525" cy="1520825"/>
          </a:xfrm>
          <a:prstGeom prst="rect">
            <a:avLst/>
          </a:prstGeom>
          <a:solidFill>
            <a:srgbClr val="FFCCFF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9" name="弧形 18"/>
          <p:cNvSpPr/>
          <p:nvPr/>
        </p:nvSpPr>
        <p:spPr bwMode="auto">
          <a:xfrm>
            <a:off x="7924800" y="1787525"/>
            <a:ext cx="1066800" cy="2743200"/>
          </a:xfrm>
          <a:prstGeom prst="arc">
            <a:avLst>
              <a:gd name="adj1" fmla="val 15911568"/>
              <a:gd name="adj2" fmla="val 5642491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Group 28"/>
          <p:cNvGraphicFramePr>
            <a:graphicFrameLocks noGrp="1"/>
          </p:cNvGraphicFramePr>
          <p:nvPr/>
        </p:nvGraphicFramePr>
        <p:xfrm>
          <a:off x="6721475" y="4343400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Group 28"/>
          <p:cNvGraphicFramePr>
            <a:graphicFrameLocks noGrp="1"/>
          </p:cNvGraphicFramePr>
          <p:nvPr/>
        </p:nvGraphicFramePr>
        <p:xfrm>
          <a:off x="6721475" y="3565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 1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Group 28"/>
          <p:cNvGraphicFramePr>
            <a:graphicFrameLocks noGrp="1"/>
          </p:cNvGraphicFramePr>
          <p:nvPr/>
        </p:nvGraphicFramePr>
        <p:xfrm>
          <a:off x="6721475" y="3184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. . . . . .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Group 28"/>
          <p:cNvGraphicFramePr>
            <a:graphicFrameLocks noGrp="1"/>
          </p:cNvGraphicFramePr>
          <p:nvPr/>
        </p:nvGraphicFramePr>
        <p:xfrm>
          <a:off x="6721475" y="2803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 N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04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157C49-A08E-5445-BEFE-EDADBB12D001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6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Passing Data: Arguments</a:t>
            </a:r>
          </a:p>
        </p:txBody>
      </p:sp>
      <p:sp>
        <p:nvSpPr>
          <p:cNvPr id="86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00200"/>
            <a:ext cx="7772400" cy="4800600"/>
          </a:xfrm>
        </p:spPr>
        <p:txBody>
          <a:bodyPr/>
          <a:lstStyle/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ea typeface="宋体" charset="-122"/>
              </a:rPr>
              <a:t>push argument N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ea typeface="宋体" charset="-122"/>
              </a:rPr>
              <a:t>. . . 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ea typeface="宋体" charset="-122"/>
              </a:rPr>
              <a:t>push argument 1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ea typeface="宋体" charset="-122"/>
              </a:rPr>
              <a:t>call callee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ea typeface="宋体" charset="-122"/>
              </a:rPr>
              <a:t>push %ebp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ea typeface="宋体" charset="-122"/>
              </a:rPr>
              <a:t>mov %esp, %ebp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ea typeface="宋体" charset="-122"/>
              </a:rPr>
              <a:t>. . .</a:t>
            </a:r>
          </a:p>
        </p:txBody>
      </p:sp>
      <p:grpSp>
        <p:nvGrpSpPr>
          <p:cNvPr id="86044" name="Group 27"/>
          <p:cNvGrpSpPr>
            <a:grpSpLocks/>
          </p:cNvGrpSpPr>
          <p:nvPr/>
        </p:nvGrpSpPr>
        <p:grpSpPr bwMode="auto">
          <a:xfrm>
            <a:off x="4572000" y="4414838"/>
            <a:ext cx="2149475" cy="461962"/>
            <a:chOff x="3110" y="1078"/>
            <a:chExt cx="1354" cy="291"/>
          </a:xfrm>
        </p:grpSpPr>
        <p:sp>
          <p:nvSpPr>
            <p:cNvPr id="86066" name="Text Box 16"/>
            <p:cNvSpPr txBox="1">
              <a:spLocks noChangeArrowheads="1"/>
            </p:cNvSpPr>
            <p:nvPr/>
          </p:nvSpPr>
          <p:spPr bwMode="auto">
            <a:xfrm>
              <a:off x="3686" y="1078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86067" name="Text Box 17"/>
            <p:cNvSpPr txBox="1">
              <a:spLocks noChangeArrowheads="1"/>
            </p:cNvSpPr>
            <p:nvPr/>
          </p:nvSpPr>
          <p:spPr bwMode="auto">
            <a:xfrm>
              <a:off x="3110" y="1078"/>
              <a:ext cx="68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 /</a:t>
              </a:r>
            </a:p>
          </p:txBody>
        </p:sp>
        <p:sp>
          <p:nvSpPr>
            <p:cNvPr id="86068" name="Line 18"/>
            <p:cNvSpPr>
              <a:spLocks noChangeShapeType="1"/>
            </p:cNvSpPr>
            <p:nvPr/>
          </p:nvSpPr>
          <p:spPr bwMode="auto">
            <a:xfrm>
              <a:off x="4224" y="12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25" name="Group 28"/>
          <p:cNvGraphicFramePr>
            <a:graphicFrameLocks noGrp="1"/>
          </p:cNvGraphicFramePr>
          <p:nvPr/>
        </p:nvGraphicFramePr>
        <p:xfrm>
          <a:off x="6721475" y="39465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Group 28"/>
          <p:cNvGraphicFramePr>
            <a:graphicFrameLocks noGrp="1"/>
          </p:cNvGraphicFramePr>
          <p:nvPr/>
        </p:nvGraphicFramePr>
        <p:xfrm>
          <a:off x="6721475" y="1828800"/>
          <a:ext cx="1660525" cy="25146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14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057" name="Rectangle 26"/>
          <p:cNvSpPr>
            <a:spLocks noChangeArrowheads="1"/>
          </p:cNvSpPr>
          <p:nvPr/>
        </p:nvSpPr>
        <p:spPr bwMode="auto">
          <a:xfrm>
            <a:off x="6721475" y="1828800"/>
            <a:ext cx="1660525" cy="2511425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graphicFrame>
        <p:nvGraphicFramePr>
          <p:cNvPr id="16" name="Group 28"/>
          <p:cNvGraphicFramePr>
            <a:graphicFrameLocks noGrp="1"/>
          </p:cNvGraphicFramePr>
          <p:nvPr/>
        </p:nvGraphicFramePr>
        <p:xfrm>
          <a:off x="6721475" y="4343400"/>
          <a:ext cx="1660525" cy="15240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Callee</a:t>
                      </a:r>
                      <a:b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064" name="Rectangle 16"/>
          <p:cNvSpPr>
            <a:spLocks noChangeArrowheads="1"/>
          </p:cNvSpPr>
          <p:nvPr/>
        </p:nvSpPr>
        <p:spPr bwMode="auto">
          <a:xfrm>
            <a:off x="6721475" y="4346575"/>
            <a:ext cx="1660525" cy="1520825"/>
          </a:xfrm>
          <a:prstGeom prst="rect">
            <a:avLst/>
          </a:prstGeom>
          <a:solidFill>
            <a:srgbClr val="FFCCFF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9" name="弧形 18"/>
          <p:cNvSpPr/>
          <p:nvPr/>
        </p:nvSpPr>
        <p:spPr bwMode="auto">
          <a:xfrm>
            <a:off x="7924800" y="1787525"/>
            <a:ext cx="1066800" cy="2743200"/>
          </a:xfrm>
          <a:prstGeom prst="arc">
            <a:avLst>
              <a:gd name="adj1" fmla="val 15911568"/>
              <a:gd name="adj2" fmla="val 5642491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Passing Data: Arguments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latin typeface="Tahoma" charset="0"/>
                <a:ea typeface="宋体" charset="0"/>
              </a:rPr>
              <a:t>X86 64</a:t>
            </a:r>
            <a:r>
              <a:rPr kumimoji="1" lang="zh-CN" altLang="en-US" dirty="0">
                <a:latin typeface="Tahoma" charset="0"/>
                <a:ea typeface="宋体" charset="0"/>
              </a:rPr>
              <a:t>位，传参数先用寄存器</a:t>
            </a:r>
            <a:endParaRPr lang="en-US" altLang="zh-CN" dirty="0">
              <a:latin typeface="Tahoma" charset="0"/>
              <a:ea typeface="宋体" charset="0"/>
            </a:endParaRPr>
          </a:p>
          <a:p>
            <a:pPr lvl="1"/>
            <a:r>
              <a:rPr lang="en-US" altLang="zh-CN" dirty="0">
                <a:latin typeface="Tahoma" charset="0"/>
                <a:ea typeface="宋体" charset="0"/>
              </a:rPr>
              <a:t>%</a:t>
            </a:r>
            <a:r>
              <a:rPr lang="en-US" altLang="zh-CN" dirty="0" err="1">
                <a:latin typeface="Tahoma" charset="0"/>
                <a:ea typeface="宋体" charset="0"/>
              </a:rPr>
              <a:t>rdi</a:t>
            </a:r>
            <a:r>
              <a:rPr lang="zh-CN" altLang="en-US" dirty="0">
                <a:latin typeface="Tahoma" charset="0"/>
                <a:ea typeface="宋体" charset="0"/>
              </a:rPr>
              <a:t>，</a:t>
            </a:r>
            <a:r>
              <a:rPr lang="en-US" altLang="zh-CN" dirty="0">
                <a:latin typeface="Tahoma" charset="0"/>
                <a:ea typeface="宋体" charset="0"/>
              </a:rPr>
              <a:t>%</a:t>
            </a:r>
            <a:r>
              <a:rPr lang="en-US" altLang="zh-CN" dirty="0" err="1">
                <a:latin typeface="Tahoma" charset="0"/>
                <a:ea typeface="宋体" charset="0"/>
              </a:rPr>
              <a:t>rsi</a:t>
            </a:r>
            <a:r>
              <a:rPr lang="zh-CN" altLang="en-US" dirty="0">
                <a:latin typeface="Tahoma" charset="0"/>
                <a:ea typeface="宋体" charset="0"/>
              </a:rPr>
              <a:t>，</a:t>
            </a:r>
            <a:r>
              <a:rPr lang="en-US" altLang="zh-CN" dirty="0">
                <a:latin typeface="Tahoma" charset="0"/>
                <a:ea typeface="宋体" charset="0"/>
              </a:rPr>
              <a:t>%</a:t>
            </a:r>
            <a:r>
              <a:rPr lang="en-US" altLang="zh-CN" dirty="0" err="1">
                <a:latin typeface="Tahoma" charset="0"/>
                <a:ea typeface="宋体" charset="0"/>
              </a:rPr>
              <a:t>rdx</a:t>
            </a:r>
            <a:r>
              <a:rPr lang="zh-CN" altLang="en-US" dirty="0">
                <a:latin typeface="Tahoma" charset="0"/>
                <a:ea typeface="宋体" charset="0"/>
              </a:rPr>
              <a:t>，</a:t>
            </a:r>
            <a:r>
              <a:rPr lang="en-US" altLang="zh-CN" dirty="0">
                <a:latin typeface="Tahoma" charset="0"/>
                <a:ea typeface="宋体" charset="0"/>
              </a:rPr>
              <a:t>%</a:t>
            </a:r>
            <a:r>
              <a:rPr lang="en-US" altLang="zh-CN" dirty="0" err="1">
                <a:latin typeface="Tahoma" charset="0"/>
                <a:ea typeface="宋体" charset="0"/>
              </a:rPr>
              <a:t>rcx</a:t>
            </a:r>
            <a:r>
              <a:rPr lang="zh-CN" altLang="en-US" dirty="0">
                <a:latin typeface="Tahoma" charset="0"/>
                <a:ea typeface="宋体" charset="0"/>
              </a:rPr>
              <a:t>，</a:t>
            </a:r>
            <a:r>
              <a:rPr lang="en-US" altLang="zh-CN" dirty="0">
                <a:latin typeface="Tahoma" charset="0"/>
                <a:ea typeface="宋体" charset="0"/>
              </a:rPr>
              <a:t>%r8</a:t>
            </a:r>
            <a:r>
              <a:rPr lang="zh-CN" altLang="en-US" dirty="0">
                <a:latin typeface="Tahoma" charset="0"/>
                <a:ea typeface="宋体" charset="0"/>
              </a:rPr>
              <a:t>，</a:t>
            </a:r>
            <a:r>
              <a:rPr lang="en-US" altLang="zh-CN" dirty="0">
                <a:latin typeface="Tahoma" charset="0"/>
                <a:ea typeface="宋体" charset="0"/>
              </a:rPr>
              <a:t>%r9 </a:t>
            </a:r>
            <a:r>
              <a:rPr lang="zh-CN" altLang="en-US" dirty="0">
                <a:latin typeface="Tahoma" charset="0"/>
                <a:ea typeface="宋体" charset="0"/>
              </a:rPr>
              <a:t>用作函数</a:t>
            </a:r>
            <a:r>
              <a:rPr lang="zh-CN" altLang="en-US" b="1" dirty="0">
                <a:latin typeface="Tahoma" charset="0"/>
                <a:ea typeface="宋体" charset="0"/>
              </a:rPr>
              <a:t>参数</a:t>
            </a:r>
            <a:r>
              <a:rPr lang="zh-CN" altLang="en-US" dirty="0">
                <a:latin typeface="Tahoma" charset="0"/>
                <a:ea typeface="宋体" charset="0"/>
              </a:rPr>
              <a:t>，依次对应第</a:t>
            </a:r>
            <a:r>
              <a:rPr lang="en-US" altLang="zh-CN" dirty="0">
                <a:latin typeface="Tahoma" charset="0"/>
                <a:ea typeface="宋体" charset="0"/>
              </a:rPr>
              <a:t>1</a:t>
            </a:r>
            <a:r>
              <a:rPr lang="zh-CN" altLang="en-US" b="1" dirty="0">
                <a:latin typeface="Tahoma" charset="0"/>
                <a:ea typeface="宋体" charset="0"/>
              </a:rPr>
              <a:t>参数</a:t>
            </a:r>
            <a:r>
              <a:rPr lang="zh-CN" altLang="en-US" dirty="0">
                <a:latin typeface="Tahoma" charset="0"/>
                <a:ea typeface="宋体" charset="0"/>
              </a:rPr>
              <a:t>，第</a:t>
            </a:r>
            <a:r>
              <a:rPr lang="en-US" altLang="zh-CN" dirty="0">
                <a:latin typeface="Tahoma" charset="0"/>
                <a:ea typeface="宋体" charset="0"/>
              </a:rPr>
              <a:t>2</a:t>
            </a:r>
            <a:r>
              <a:rPr lang="zh-CN" altLang="en-US" b="1" dirty="0">
                <a:latin typeface="Tahoma" charset="0"/>
                <a:ea typeface="宋体" charset="0"/>
              </a:rPr>
              <a:t>参数</a:t>
            </a:r>
            <a:r>
              <a:rPr lang="is-IS" altLang="zh-CN" dirty="0">
                <a:latin typeface="Tahoma" charset="0"/>
                <a:ea typeface="宋体" charset="0"/>
              </a:rPr>
              <a:t>…</a:t>
            </a:r>
            <a:r>
              <a:rPr lang="en-US" altLang="zh-CN" dirty="0">
                <a:latin typeface="Tahoma" charset="0"/>
                <a:ea typeface="宋体" charset="0"/>
              </a:rPr>
              <a:t>.</a:t>
            </a:r>
            <a:r>
              <a:rPr lang="zh-CN" altLang="en-US" dirty="0">
                <a:latin typeface="Tahoma" charset="0"/>
                <a:ea typeface="宋体" charset="0"/>
              </a:rPr>
              <a:t>第</a:t>
            </a:r>
            <a:r>
              <a:rPr lang="en-US" altLang="zh-CN" dirty="0">
                <a:latin typeface="Tahoma" charset="0"/>
                <a:ea typeface="宋体" charset="0"/>
              </a:rPr>
              <a:t>6</a:t>
            </a:r>
            <a:r>
              <a:rPr lang="zh-CN" altLang="en-US" dirty="0">
                <a:latin typeface="Tahoma" charset="0"/>
                <a:ea typeface="宋体" charset="0"/>
              </a:rPr>
              <a:t>个参数（从左到右）</a:t>
            </a:r>
            <a:endParaRPr lang="en-US" altLang="zh-CN" dirty="0">
              <a:latin typeface="Tahoma" charset="0"/>
              <a:ea typeface="宋体" charset="0"/>
            </a:endParaRPr>
          </a:p>
          <a:p>
            <a:pPr lvl="1"/>
            <a:r>
              <a:rPr lang="zh-CN" altLang="en-US" dirty="0">
                <a:latin typeface="Tahoma" charset="0"/>
                <a:ea typeface="宋体" charset="0"/>
              </a:rPr>
              <a:t>剩余参数还和以前的算法一样，从右往左依次入栈</a:t>
            </a:r>
            <a:endParaRPr lang="en-US" altLang="zh-CN" dirty="0">
              <a:latin typeface="Tahoma" charset="0"/>
              <a:ea typeface="宋体" charset="0"/>
            </a:endParaRPr>
          </a:p>
          <a:p>
            <a:pPr lvl="1"/>
            <a:r>
              <a:rPr lang="zh-CN" altLang="en-US" dirty="0">
                <a:latin typeface="Tahoma" charset="0"/>
                <a:ea typeface="宋体" charset="0"/>
              </a:rPr>
              <a:t>例如</a:t>
            </a:r>
            <a:r>
              <a:rPr lang="en-US" altLang="zh-CN" dirty="0" err="1">
                <a:latin typeface="Tahoma" charset="0"/>
                <a:ea typeface="宋体" charset="0"/>
              </a:rPr>
              <a:t>func</a:t>
            </a:r>
            <a:r>
              <a:rPr lang="en-US" altLang="zh-CN" dirty="0">
                <a:latin typeface="Tahoma" charset="0"/>
                <a:ea typeface="宋体" charset="0"/>
              </a:rPr>
              <a:t>(p1, p2, p3, p4, p5, p6, p7, p8)</a:t>
            </a:r>
          </a:p>
          <a:p>
            <a:pPr lvl="2"/>
            <a:r>
              <a:rPr lang="en-US" altLang="zh-CN" dirty="0">
                <a:latin typeface="Tahoma" charset="0"/>
                <a:ea typeface="宋体" charset="0"/>
              </a:rPr>
              <a:t>p1: %</a:t>
            </a:r>
            <a:r>
              <a:rPr lang="en-US" altLang="zh-CN" dirty="0" err="1">
                <a:latin typeface="Tahoma" charset="0"/>
                <a:ea typeface="宋体" charset="0"/>
              </a:rPr>
              <a:t>rdi</a:t>
            </a:r>
            <a:r>
              <a:rPr lang="zh-CN" altLang="en-US" dirty="0">
                <a:latin typeface="Tahoma" charset="0"/>
                <a:ea typeface="宋体" charset="0"/>
              </a:rPr>
              <a:t>, </a:t>
            </a:r>
            <a:r>
              <a:rPr lang="en-US" altLang="zh-CN" dirty="0">
                <a:latin typeface="Tahoma" charset="0"/>
                <a:ea typeface="宋体" charset="0"/>
              </a:rPr>
              <a:t>p2:</a:t>
            </a:r>
            <a:r>
              <a:rPr lang="zh-CN" altLang="en-US" dirty="0">
                <a:latin typeface="Tahoma" charset="0"/>
                <a:ea typeface="宋体" charset="0"/>
              </a:rPr>
              <a:t> </a:t>
            </a:r>
            <a:r>
              <a:rPr lang="en-US" altLang="zh-CN" dirty="0">
                <a:latin typeface="Tahoma" charset="0"/>
                <a:ea typeface="宋体" charset="0"/>
              </a:rPr>
              <a:t>%</a:t>
            </a:r>
            <a:r>
              <a:rPr lang="en-US" altLang="zh-CN" dirty="0" err="1">
                <a:latin typeface="Tahoma" charset="0"/>
                <a:ea typeface="宋体" charset="0"/>
              </a:rPr>
              <a:t>rsi</a:t>
            </a:r>
            <a:r>
              <a:rPr lang="en-US" altLang="zh-CN" dirty="0">
                <a:latin typeface="Tahoma" charset="0"/>
                <a:ea typeface="宋体" charset="0"/>
              </a:rPr>
              <a:t>,</a:t>
            </a:r>
            <a:r>
              <a:rPr lang="zh-CN" altLang="en-US" dirty="0">
                <a:latin typeface="Tahoma" charset="0"/>
                <a:ea typeface="宋体" charset="0"/>
              </a:rPr>
              <a:t> </a:t>
            </a:r>
            <a:r>
              <a:rPr lang="en-US" altLang="zh-CN" dirty="0">
                <a:latin typeface="Tahoma" charset="0"/>
                <a:ea typeface="宋体" charset="0"/>
              </a:rPr>
              <a:t>p3:</a:t>
            </a:r>
            <a:r>
              <a:rPr lang="zh-CN" altLang="en-US" dirty="0">
                <a:latin typeface="Tahoma" charset="0"/>
                <a:ea typeface="宋体" charset="0"/>
              </a:rPr>
              <a:t> </a:t>
            </a:r>
            <a:r>
              <a:rPr lang="en-US" altLang="zh-CN" dirty="0">
                <a:latin typeface="Tahoma" charset="0"/>
                <a:ea typeface="宋体" charset="0"/>
              </a:rPr>
              <a:t>%</a:t>
            </a:r>
            <a:r>
              <a:rPr lang="en-US" altLang="zh-CN" dirty="0" err="1">
                <a:latin typeface="Tahoma" charset="0"/>
                <a:ea typeface="宋体" charset="0"/>
              </a:rPr>
              <a:t>rdx</a:t>
            </a:r>
            <a:r>
              <a:rPr lang="en-US" altLang="zh-CN" dirty="0">
                <a:latin typeface="Tahoma" charset="0"/>
                <a:ea typeface="宋体" charset="0"/>
              </a:rPr>
              <a:t>,</a:t>
            </a:r>
            <a:r>
              <a:rPr lang="zh-CN" altLang="en-US" dirty="0">
                <a:latin typeface="Tahoma" charset="0"/>
                <a:ea typeface="宋体" charset="0"/>
              </a:rPr>
              <a:t> </a:t>
            </a:r>
            <a:r>
              <a:rPr lang="en-US" altLang="zh-CN" dirty="0">
                <a:latin typeface="Tahoma" charset="0"/>
                <a:ea typeface="宋体" charset="0"/>
              </a:rPr>
              <a:t>p4:</a:t>
            </a:r>
            <a:r>
              <a:rPr lang="zh-CN" altLang="en-US" dirty="0">
                <a:latin typeface="Tahoma" charset="0"/>
                <a:ea typeface="宋体" charset="0"/>
              </a:rPr>
              <a:t> </a:t>
            </a:r>
            <a:r>
              <a:rPr lang="en-US" altLang="zh-CN" dirty="0">
                <a:latin typeface="Tahoma" charset="0"/>
                <a:ea typeface="宋体" charset="0"/>
              </a:rPr>
              <a:t>%</a:t>
            </a:r>
            <a:r>
              <a:rPr lang="en-US" altLang="zh-CN" dirty="0" err="1">
                <a:latin typeface="Tahoma" charset="0"/>
                <a:ea typeface="宋体" charset="0"/>
              </a:rPr>
              <a:t>rcx</a:t>
            </a:r>
            <a:r>
              <a:rPr lang="en-US" altLang="zh-CN" dirty="0">
                <a:latin typeface="Tahoma" charset="0"/>
                <a:ea typeface="宋体" charset="0"/>
              </a:rPr>
              <a:t>,</a:t>
            </a:r>
            <a:r>
              <a:rPr lang="zh-CN" altLang="en-US" dirty="0">
                <a:latin typeface="Tahoma" charset="0"/>
                <a:ea typeface="宋体" charset="0"/>
              </a:rPr>
              <a:t> </a:t>
            </a:r>
            <a:r>
              <a:rPr lang="en-US" altLang="zh-CN" dirty="0">
                <a:latin typeface="Tahoma" charset="0"/>
                <a:ea typeface="宋体" charset="0"/>
              </a:rPr>
              <a:t>p5:</a:t>
            </a:r>
            <a:r>
              <a:rPr lang="zh-CN" altLang="en-US" dirty="0">
                <a:latin typeface="Tahoma" charset="0"/>
                <a:ea typeface="宋体" charset="0"/>
              </a:rPr>
              <a:t> </a:t>
            </a:r>
            <a:r>
              <a:rPr lang="en-US" altLang="zh-CN" dirty="0">
                <a:latin typeface="Tahoma" charset="0"/>
                <a:ea typeface="宋体" charset="0"/>
              </a:rPr>
              <a:t>%r8,</a:t>
            </a:r>
            <a:r>
              <a:rPr lang="zh-CN" altLang="en-US" dirty="0">
                <a:latin typeface="Tahoma" charset="0"/>
                <a:ea typeface="宋体" charset="0"/>
              </a:rPr>
              <a:t> </a:t>
            </a:r>
            <a:r>
              <a:rPr lang="en-US" altLang="zh-CN" dirty="0">
                <a:latin typeface="Tahoma" charset="0"/>
                <a:ea typeface="宋体" charset="0"/>
              </a:rPr>
              <a:t>p6:</a:t>
            </a:r>
            <a:r>
              <a:rPr lang="zh-CN" altLang="en-US" dirty="0">
                <a:latin typeface="Tahoma" charset="0"/>
                <a:ea typeface="宋体" charset="0"/>
              </a:rPr>
              <a:t> </a:t>
            </a:r>
            <a:r>
              <a:rPr lang="en-US" altLang="zh-CN" dirty="0">
                <a:latin typeface="Tahoma" charset="0"/>
                <a:ea typeface="宋体" charset="0"/>
              </a:rPr>
              <a:t>%r9</a:t>
            </a:r>
          </a:p>
          <a:p>
            <a:pPr lvl="2"/>
            <a:r>
              <a:rPr lang="zh-CN" altLang="en-US" dirty="0">
                <a:latin typeface="Tahoma" charset="0"/>
                <a:ea typeface="宋体" charset="0"/>
              </a:rPr>
              <a:t>栈：</a:t>
            </a:r>
            <a:r>
              <a:rPr lang="zh-CN" altLang="zh-CN" dirty="0">
                <a:latin typeface="Tahoma" charset="0"/>
                <a:ea typeface="宋体" charset="0"/>
              </a:rPr>
              <a:t>(</a:t>
            </a:r>
            <a:r>
              <a:rPr lang="zh-CN" altLang="en-US" dirty="0">
                <a:latin typeface="Tahoma" charset="0"/>
                <a:ea typeface="宋体" charset="0"/>
              </a:rPr>
              <a:t>低地址）</a:t>
            </a:r>
            <a:r>
              <a:rPr lang="zh-CN" altLang="en-US" dirty="0">
                <a:latin typeface="Tahoma" charset="0"/>
                <a:ea typeface="宋体" charset="0"/>
                <a:sym typeface="Wingdings"/>
              </a:rPr>
              <a:t></a:t>
            </a:r>
            <a:r>
              <a:rPr lang="en-US" altLang="zh-CN" dirty="0">
                <a:latin typeface="Tahoma" charset="0"/>
                <a:ea typeface="宋体" charset="0"/>
                <a:sym typeface="Wingdings"/>
              </a:rPr>
              <a:t>ret</a:t>
            </a:r>
            <a:r>
              <a:rPr lang="zh-CN" altLang="en-US" dirty="0">
                <a:latin typeface="Tahoma" charset="0"/>
                <a:ea typeface="宋体" charset="0"/>
                <a:sym typeface="Wingdings"/>
              </a:rPr>
              <a:t> </a:t>
            </a:r>
            <a:r>
              <a:rPr lang="en-US" altLang="zh-CN" dirty="0" err="1">
                <a:latin typeface="Tahoma" charset="0"/>
                <a:ea typeface="宋体" charset="0"/>
                <a:sym typeface="Wingdings"/>
              </a:rPr>
              <a:t>addr</a:t>
            </a:r>
            <a:r>
              <a:rPr lang="en-US" altLang="zh-CN" dirty="0">
                <a:latin typeface="Tahoma" charset="0"/>
                <a:ea typeface="宋体" charset="0"/>
                <a:sym typeface="Wingdings"/>
              </a:rPr>
              <a:t>,</a:t>
            </a:r>
            <a:r>
              <a:rPr lang="zh-CN" altLang="en-US" dirty="0">
                <a:latin typeface="Tahoma" charset="0"/>
                <a:ea typeface="宋体" charset="0"/>
                <a:sym typeface="Wingdings"/>
              </a:rPr>
              <a:t> </a:t>
            </a:r>
            <a:r>
              <a:rPr lang="en-US" altLang="zh-CN" dirty="0">
                <a:latin typeface="Tahoma" charset="0"/>
                <a:ea typeface="宋体" charset="0"/>
                <a:sym typeface="Wingdings"/>
              </a:rPr>
              <a:t>p7,</a:t>
            </a:r>
            <a:r>
              <a:rPr lang="zh-CN" altLang="en-US" dirty="0">
                <a:latin typeface="Tahoma" charset="0"/>
                <a:ea typeface="宋体" charset="0"/>
                <a:sym typeface="Wingdings"/>
              </a:rPr>
              <a:t> </a:t>
            </a:r>
            <a:r>
              <a:rPr lang="en-US" altLang="zh-CN" dirty="0">
                <a:latin typeface="Tahoma" charset="0"/>
                <a:ea typeface="宋体" charset="0"/>
                <a:sym typeface="Wingdings"/>
              </a:rPr>
              <a:t>p8</a:t>
            </a:r>
            <a:r>
              <a:rPr lang="zh-CN" altLang="en-US" dirty="0">
                <a:latin typeface="Tahoma" charset="0"/>
                <a:ea typeface="宋体" charset="0"/>
                <a:sym typeface="Wingdings"/>
              </a:rPr>
              <a:t>（高地址）</a:t>
            </a:r>
            <a:endParaRPr lang="en-US" altLang="zh-CN" dirty="0">
              <a:latin typeface="Tahoma" charset="0"/>
              <a:ea typeface="宋体" charset="0"/>
            </a:endParaRP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592595-FF89-6947-BA84-B94E6EBB8DFC}" type="slidenum">
              <a:rPr lang="zh-CN" altLang="en-US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06459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41F7F2-7FD6-6A4E-A280-E5A91E6B9692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Passing Data: Return Value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kumimoji="1" lang="en-US" altLang="zh-CN" dirty="0">
                <a:ea typeface="宋体" charset="-122"/>
              </a:rPr>
              <a:t>Specific register to keep the return value </a:t>
            </a:r>
          </a:p>
          <a:p>
            <a:pPr lvl="1">
              <a:lnSpc>
                <a:spcPct val="140000"/>
              </a:lnSpc>
            </a:pPr>
            <a:r>
              <a:rPr kumimoji="1" lang="en-US" altLang="zh-CN" dirty="0">
                <a:solidFill>
                  <a:srgbClr val="FF0000"/>
                </a:solidFill>
                <a:ea typeface="宋体" charset="-122"/>
              </a:rPr>
              <a:t>%</a:t>
            </a:r>
            <a:r>
              <a:rPr kumimoji="1" lang="en-US" altLang="zh-CN" dirty="0" err="1">
                <a:solidFill>
                  <a:srgbClr val="FF0000"/>
                </a:solidFill>
                <a:ea typeface="宋体" charset="-122"/>
              </a:rPr>
              <a:t>eax</a:t>
            </a:r>
            <a:r>
              <a:rPr kumimoji="1" lang="en-US" altLang="zh-CN" dirty="0">
                <a:solidFill>
                  <a:srgbClr val="FF0000"/>
                </a:solidFill>
                <a:ea typeface="宋体" charset="-122"/>
              </a:rPr>
              <a:t> / %</a:t>
            </a:r>
            <a:r>
              <a:rPr kumimoji="1" lang="en-US" altLang="zh-CN" dirty="0" err="1">
                <a:solidFill>
                  <a:srgbClr val="FF0000"/>
                </a:solidFill>
                <a:ea typeface="宋体" charset="-122"/>
              </a:rPr>
              <a:t>rax</a:t>
            </a:r>
            <a:r>
              <a:rPr kumimoji="1" lang="en-US" altLang="zh-CN" dirty="0">
                <a:ea typeface="宋体" charset="-122"/>
              </a:rPr>
              <a:t> is used to pass the result of </a:t>
            </a:r>
            <a:r>
              <a:rPr kumimoji="1" lang="en-US" altLang="zh-CN" dirty="0" err="1">
                <a:ea typeface="宋体" charset="-122"/>
              </a:rPr>
              <a:t>callee</a:t>
            </a:r>
            <a:r>
              <a:rPr kumimoji="1" lang="en-US" altLang="zh-CN" dirty="0">
                <a:ea typeface="宋体" charset="-122"/>
              </a:rPr>
              <a:t> to caller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9DE71D-7B1D-314E-8420-8162934BD0BF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Procedure/Function Implementation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648200"/>
          </a:xfrm>
        </p:spPr>
        <p:txBody>
          <a:bodyPr/>
          <a:lstStyle/>
          <a:p>
            <a:pPr marL="441325" lvl="1" indent="-346075">
              <a:lnSpc>
                <a:spcPct val="140000"/>
              </a:lnSpc>
              <a:buFont typeface="Wingdings" charset="2"/>
              <a:buChar char="ü"/>
            </a:pPr>
            <a:r>
              <a:rPr lang="en-US" altLang="zh-CN" sz="2800" dirty="0">
                <a:solidFill>
                  <a:srgbClr val="FF0000"/>
                </a:solidFill>
                <a:ea typeface="宋体" charset="-122"/>
              </a:rPr>
              <a:t> </a:t>
            </a:r>
            <a:r>
              <a:rPr lang="en-US" altLang="zh-CN" sz="2800" dirty="0">
                <a:ea typeface="宋体" charset="-122"/>
              </a:rPr>
              <a:t>Invoke callee: </a:t>
            </a:r>
            <a:r>
              <a:rPr lang="en-US" altLang="zh-CN" sz="2800" dirty="0">
                <a:solidFill>
                  <a:srgbClr val="0000FF"/>
                </a:solidFill>
                <a:ea typeface="宋体" charset="-122"/>
              </a:rPr>
              <a:t>call </a:t>
            </a:r>
            <a:r>
              <a:rPr lang="en-US" altLang="zh-CN" sz="2800" dirty="0">
                <a:ea typeface="宋体" charset="-122"/>
              </a:rPr>
              <a:t>(new instructions)</a:t>
            </a:r>
          </a:p>
          <a:p>
            <a:pPr marL="441325" lvl="1" indent="-346075">
              <a:lnSpc>
                <a:spcPct val="140000"/>
              </a:lnSpc>
              <a:buFont typeface="Wingdings" charset="2"/>
              <a:buChar char="ü"/>
            </a:pPr>
            <a:r>
              <a:rPr lang="en-US" altLang="zh-CN" sz="2800" dirty="0">
                <a:solidFill>
                  <a:srgbClr val="FF0000"/>
                </a:solidFill>
                <a:ea typeface="宋体" charset="-122"/>
              </a:rPr>
              <a:t> </a:t>
            </a:r>
            <a:r>
              <a:rPr lang="en-US" altLang="zh-CN" sz="2800" dirty="0">
                <a:ea typeface="宋体" charset="-122"/>
              </a:rPr>
              <a:t>Return to caller: </a:t>
            </a:r>
            <a:r>
              <a:rPr lang="en-US" altLang="zh-CN" sz="2800" dirty="0">
                <a:solidFill>
                  <a:srgbClr val="0000FF"/>
                </a:solidFill>
                <a:ea typeface="宋体" charset="-122"/>
              </a:rPr>
              <a:t>ret</a:t>
            </a:r>
            <a:r>
              <a:rPr lang="en-US" altLang="zh-CN" sz="2800" dirty="0">
                <a:ea typeface="宋体" charset="-122"/>
              </a:rPr>
              <a:t> (new instructions)</a:t>
            </a:r>
            <a:endParaRPr lang="en-US" altLang="zh-CN" sz="2800" dirty="0">
              <a:solidFill>
                <a:srgbClr val="00CC66"/>
              </a:solidFill>
              <a:ea typeface="宋体" charset="-122"/>
            </a:endParaRPr>
          </a:p>
          <a:p>
            <a:pPr marL="441325" lvl="1" indent="-346075">
              <a:lnSpc>
                <a:spcPct val="140000"/>
              </a:lnSpc>
              <a:buFont typeface="Wingdings" charset="2"/>
              <a:buChar char="ü"/>
            </a:pPr>
            <a:r>
              <a:rPr lang="en-US" altLang="zh-CN" sz="2800" dirty="0">
                <a:solidFill>
                  <a:srgbClr val="FF0000"/>
                </a:solidFill>
                <a:ea typeface="宋体" charset="-122"/>
              </a:rPr>
              <a:t> </a:t>
            </a:r>
            <a:r>
              <a:rPr lang="en-US" altLang="zh-CN" sz="2800" dirty="0">
                <a:ea typeface="宋体" charset="-122"/>
              </a:rPr>
              <a:t>Passing data: </a:t>
            </a:r>
            <a:r>
              <a:rPr lang="en-US" altLang="zh-CN" sz="2800" dirty="0">
                <a:solidFill>
                  <a:srgbClr val="0000FF"/>
                </a:solidFill>
                <a:ea typeface="宋体" charset="-122"/>
              </a:rPr>
              <a:t>stack</a:t>
            </a:r>
            <a:r>
              <a:rPr lang="en-US" altLang="zh-CN" sz="2800" dirty="0">
                <a:ea typeface="宋体" charset="-122"/>
              </a:rPr>
              <a:t>, </a:t>
            </a:r>
            <a:r>
              <a:rPr lang="en-US" altLang="zh-CN" sz="2800" dirty="0">
                <a:solidFill>
                  <a:srgbClr val="0000FF"/>
                </a:solidFill>
                <a:ea typeface="宋体" charset="-122"/>
              </a:rPr>
              <a:t>register</a:t>
            </a: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 dirty="0">
                <a:ea typeface="宋体" charset="-122"/>
              </a:rPr>
              <a:t> Registers: </a:t>
            </a:r>
            <a:r>
              <a:rPr lang="en-US" altLang="zh-CN" sz="2800" dirty="0">
                <a:solidFill>
                  <a:srgbClr val="0000FF"/>
                </a:solidFill>
                <a:ea typeface="宋体" charset="-122"/>
              </a:rPr>
              <a:t>calling convention</a:t>
            </a: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 dirty="0">
                <a:ea typeface="宋体" charset="-122"/>
              </a:rPr>
              <a:t> Local variable</a:t>
            </a:r>
            <a:endParaRPr lang="en-US" altLang="zh-CN" dirty="0">
              <a:solidFill>
                <a:srgbClr val="0000FF"/>
              </a:solidFill>
              <a:ea typeface="宋体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ACD293-2D4D-134C-8351-CA2555852CE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Calling Convention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153400" cy="4800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ea typeface="宋体" charset="-122"/>
              </a:rPr>
              <a:t>Registers act as a 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single resource shared </a:t>
            </a:r>
            <a:r>
              <a:rPr lang="en-US" altLang="zh-CN" dirty="0">
                <a:ea typeface="宋体" charset="-122"/>
              </a:rPr>
              <a:t>by all of the procedures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Only 1</a:t>
            </a:r>
            <a:r>
              <a:rPr lang="en-US" altLang="zh-CN" dirty="0">
                <a:ea typeface="宋体" charset="-122"/>
              </a:rPr>
              <a:t> procedure can be active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宋体" charset="-122"/>
              </a:rPr>
              <a:t>Partition registers between caller and </a:t>
            </a:r>
            <a:r>
              <a:rPr lang="en-US" altLang="zh-CN" dirty="0" err="1">
                <a:ea typeface="宋体" charset="-122"/>
              </a:rPr>
              <a:t>callee</a:t>
            </a:r>
            <a:r>
              <a:rPr lang="en-US" altLang="zh-CN" dirty="0">
                <a:ea typeface="宋体" charset="-122"/>
              </a:rPr>
              <a:t> (</a:t>
            </a:r>
            <a:r>
              <a:rPr lang="zh-CN" altLang="en-US" dirty="0">
                <a:ea typeface="宋体" charset="-122"/>
              </a:rPr>
              <a:t>必须遵守惯例</a:t>
            </a:r>
            <a:r>
              <a:rPr lang="en-US" altLang="zh-CN" dirty="0">
                <a:ea typeface="宋体" charset="-122"/>
              </a:rPr>
              <a:t>)</a:t>
            </a:r>
          </a:p>
          <a:p>
            <a:pPr lvl="2">
              <a:lnSpc>
                <a:spcPct val="120000"/>
              </a:lnSpc>
            </a:pPr>
            <a:r>
              <a:rPr lang="en-US" altLang="zh-CN" sz="2400" dirty="0">
                <a:ea typeface="宋体" charset="-122"/>
              </a:rPr>
              <a:t>Caller-save register</a:t>
            </a:r>
          </a:p>
          <a:p>
            <a:pPr lvl="2">
              <a:lnSpc>
                <a:spcPct val="120000"/>
              </a:lnSpc>
            </a:pPr>
            <a:r>
              <a:rPr lang="en-US" altLang="zh-CN" sz="2400" dirty="0" err="1">
                <a:ea typeface="宋体" charset="-122"/>
              </a:rPr>
              <a:t>Callee</a:t>
            </a:r>
            <a:r>
              <a:rPr lang="en-US" altLang="zh-CN" sz="2400" dirty="0">
                <a:ea typeface="宋体" charset="-122"/>
              </a:rPr>
              <a:t>-save register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宋体" charset="-122"/>
              </a:rPr>
              <a:t>Only consider the registers used by the procedure </a:t>
            </a:r>
            <a:endParaRPr lang="en-US" altLang="zh-CN" sz="2800" dirty="0">
              <a:ea typeface="宋体" charset="-122"/>
            </a:endParaRPr>
          </a:p>
          <a:p>
            <a:pPr lvl="1">
              <a:lnSpc>
                <a:spcPct val="120000"/>
              </a:lnSpc>
            </a:pPr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298D0F-760F-674A-B5A3-314FE108C521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Calling Convention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pPr>
              <a:lnSpc>
                <a:spcPct val="140000"/>
              </a:lnSpc>
              <a:defRPr/>
            </a:pPr>
            <a:r>
              <a:rPr lang="en-US" altLang="zh-CN" dirty="0" err="1">
                <a:ea typeface="宋体" pitchFamily="2" charset="-122"/>
              </a:rPr>
              <a:t>Callee</a:t>
            </a:r>
            <a:r>
              <a:rPr lang="en-US" altLang="zh-CN" dirty="0">
                <a:ea typeface="宋体" pitchFamily="2" charset="-122"/>
              </a:rPr>
              <a:t>-save registers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%</a:t>
            </a:r>
            <a:r>
              <a:rPr lang="en-US" altLang="zh-CN" dirty="0" err="1">
                <a:solidFill>
                  <a:srgbClr val="0000FF"/>
                </a:solidFill>
                <a:ea typeface="宋体" pitchFamily="2" charset="-122"/>
              </a:rPr>
              <a:t>rbx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, %</a:t>
            </a:r>
            <a:r>
              <a:rPr lang="en-US" altLang="zh-CN" dirty="0" err="1">
                <a:solidFill>
                  <a:srgbClr val="0000FF"/>
                </a:solidFill>
                <a:ea typeface="宋体" pitchFamily="2" charset="-122"/>
              </a:rPr>
              <a:t>rbp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, %r12~%r14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Saved by </a:t>
            </a:r>
            <a:r>
              <a:rPr lang="en-US" altLang="zh-CN" dirty="0" err="1">
                <a:ea typeface="宋体" pitchFamily="2" charset="-122"/>
              </a:rPr>
              <a:t>callee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Caller can use these registers freely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endParaRPr lang="en-US" altLang="zh-CN" sz="1200" dirty="0">
              <a:ea typeface="宋体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dirty="0" err="1">
                <a:ea typeface="宋体" pitchFamily="2" charset="-122"/>
              </a:rPr>
              <a:t>Callee</a:t>
            </a:r>
            <a:r>
              <a:rPr lang="en-US" altLang="zh-CN" dirty="0">
                <a:ea typeface="宋体" pitchFamily="2" charset="-122"/>
              </a:rPr>
              <a:t> must save them before using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 err="1">
                <a:ea typeface="宋体" pitchFamily="2" charset="-122"/>
              </a:rPr>
              <a:t>Callee</a:t>
            </a:r>
            <a:r>
              <a:rPr lang="en-US" altLang="zh-CN" dirty="0">
                <a:ea typeface="宋体" pitchFamily="2" charset="-122"/>
              </a:rPr>
              <a:t> must restore them before return</a:t>
            </a:r>
          </a:p>
        </p:txBody>
      </p:sp>
      <p:sp>
        <p:nvSpPr>
          <p:cNvPr id="5" name="Rectangle 8"/>
          <p:cNvSpPr>
            <a:spLocks/>
          </p:cNvSpPr>
          <p:nvPr/>
        </p:nvSpPr>
        <p:spPr bwMode="auto">
          <a:xfrm>
            <a:off x="6477000" y="7620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6" name="Rectangle 11"/>
          <p:cNvSpPr>
            <a:spLocks/>
          </p:cNvSpPr>
          <p:nvPr/>
        </p:nvSpPr>
        <p:spPr bwMode="auto">
          <a:xfrm>
            <a:off x="6477000" y="3048000"/>
            <a:ext cx="2540000" cy="3810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" name="AutoShape 14"/>
          <p:cNvSpPr>
            <a:spLocks/>
          </p:cNvSpPr>
          <p:nvPr/>
        </p:nvSpPr>
        <p:spPr bwMode="auto">
          <a:xfrm>
            <a:off x="6019800" y="762000"/>
            <a:ext cx="304800" cy="22098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AutoShape 15"/>
          <p:cNvSpPr>
            <a:spLocks/>
          </p:cNvSpPr>
          <p:nvPr/>
        </p:nvSpPr>
        <p:spPr bwMode="auto">
          <a:xfrm>
            <a:off x="5791200" y="2590800"/>
            <a:ext cx="304800" cy="8382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39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" name="Rectangle 17"/>
          <p:cNvSpPr>
            <a:spLocks/>
          </p:cNvSpPr>
          <p:nvPr/>
        </p:nvSpPr>
        <p:spPr bwMode="auto">
          <a:xfrm>
            <a:off x="4648200" y="1371600"/>
            <a:ext cx="1262062" cy="635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Callee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-saved</a:t>
            </a:r>
            <a:endParaRPr lang="en-US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Temporaries</a:t>
            </a:r>
          </a:p>
        </p:txBody>
      </p:sp>
      <p:sp>
        <p:nvSpPr>
          <p:cNvPr id="10" name="Rectangle 18"/>
          <p:cNvSpPr>
            <a:spLocks/>
          </p:cNvSpPr>
          <p:nvPr/>
        </p:nvSpPr>
        <p:spPr bwMode="auto">
          <a:xfrm>
            <a:off x="5010150" y="2819400"/>
            <a:ext cx="755650" cy="355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Special</a:t>
            </a:r>
          </a:p>
        </p:txBody>
      </p:sp>
      <p:sp>
        <p:nvSpPr>
          <p:cNvPr id="11" name="Rectangle 8"/>
          <p:cNvSpPr>
            <a:spLocks/>
          </p:cNvSpPr>
          <p:nvPr/>
        </p:nvSpPr>
        <p:spPr bwMode="auto">
          <a:xfrm>
            <a:off x="6477000" y="25908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rbp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2" name="Rectangle 8"/>
          <p:cNvSpPr>
            <a:spLocks/>
          </p:cNvSpPr>
          <p:nvPr/>
        </p:nvSpPr>
        <p:spPr bwMode="auto">
          <a:xfrm>
            <a:off x="6477000" y="12192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</a:t>
            </a:r>
          </a:p>
        </p:txBody>
      </p:sp>
      <p:sp>
        <p:nvSpPr>
          <p:cNvPr id="13" name="Rectangle 8"/>
          <p:cNvSpPr>
            <a:spLocks/>
          </p:cNvSpPr>
          <p:nvPr/>
        </p:nvSpPr>
        <p:spPr bwMode="auto">
          <a:xfrm>
            <a:off x="6477000" y="16764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</a:t>
            </a:r>
          </a:p>
        </p:txBody>
      </p:sp>
      <p:sp>
        <p:nvSpPr>
          <p:cNvPr id="14" name="Rectangle 8"/>
          <p:cNvSpPr>
            <a:spLocks/>
          </p:cNvSpPr>
          <p:nvPr/>
        </p:nvSpPr>
        <p:spPr bwMode="auto">
          <a:xfrm>
            <a:off x="6477000" y="21336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</a:t>
            </a:r>
          </a:p>
        </p:txBody>
      </p:sp>
    </p:spTree>
    <p:extLst>
      <p:ext uri="{BB962C8B-B14F-4D97-AF65-F5344CB8AC3E}">
        <p14:creationId xmlns:p14="http://schemas.microsoft.com/office/powerpoint/2010/main" val="8830990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2DCAD1-B6E6-1546-8236-6E9E5AC35101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Callee-save Registers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00200"/>
            <a:ext cx="7772400" cy="4800600"/>
          </a:xfrm>
        </p:spPr>
        <p:txBody>
          <a:bodyPr/>
          <a:lstStyle/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ea typeface="宋体" charset="-122"/>
              </a:rPr>
              <a:t>call callee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ea typeface="宋体" charset="-122"/>
              </a:rPr>
              <a:t>push %ebp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ea typeface="宋体" charset="-122"/>
              </a:rPr>
              <a:t>mov %esp, %ebp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push %ebx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ea typeface="宋体" charset="-122"/>
              </a:rPr>
              <a:t>. . .</a:t>
            </a:r>
          </a:p>
        </p:txBody>
      </p:sp>
      <p:graphicFrame>
        <p:nvGraphicFramePr>
          <p:cNvPr id="34" name="Group 28"/>
          <p:cNvGraphicFramePr>
            <a:graphicFrameLocks noGrp="1"/>
          </p:cNvGraphicFramePr>
          <p:nvPr/>
        </p:nvGraphicFramePr>
        <p:xfrm>
          <a:off x="6721475" y="2378075"/>
          <a:ext cx="1660525" cy="395302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251" marB="4525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Group 28"/>
          <p:cNvGraphicFramePr>
            <a:graphicFrameLocks noGrp="1"/>
          </p:cNvGraphicFramePr>
          <p:nvPr/>
        </p:nvGraphicFramePr>
        <p:xfrm>
          <a:off x="6721475" y="2743200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ebx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Group 28"/>
          <p:cNvGraphicFramePr>
            <a:graphicFrameLocks noGrp="1"/>
          </p:cNvGraphicFramePr>
          <p:nvPr/>
        </p:nvGraphicFramePr>
        <p:xfrm>
          <a:off x="6721475" y="2378075"/>
          <a:ext cx="1660525" cy="173672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367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Callee</a:t>
                      </a:r>
                      <a:b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0374" name="Group 27"/>
          <p:cNvGrpSpPr>
            <a:grpSpLocks/>
          </p:cNvGrpSpPr>
          <p:nvPr/>
        </p:nvGrpSpPr>
        <p:grpSpPr bwMode="auto">
          <a:xfrm>
            <a:off x="5486400" y="2444750"/>
            <a:ext cx="1235075" cy="935038"/>
            <a:chOff x="3686" y="1078"/>
            <a:chExt cx="778" cy="589"/>
          </a:xfrm>
        </p:grpSpPr>
        <p:sp>
          <p:nvSpPr>
            <p:cNvPr id="100382" name="Text Box 16"/>
            <p:cNvSpPr txBox="1">
              <a:spLocks noChangeArrowheads="1"/>
            </p:cNvSpPr>
            <p:nvPr/>
          </p:nvSpPr>
          <p:spPr bwMode="auto">
            <a:xfrm>
              <a:off x="3686" y="1078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00383" name="Text Box 17"/>
            <p:cNvSpPr txBox="1">
              <a:spLocks noChangeArrowheads="1"/>
            </p:cNvSpPr>
            <p:nvPr/>
          </p:nvSpPr>
          <p:spPr bwMode="auto">
            <a:xfrm>
              <a:off x="3696" y="1347"/>
              <a:ext cx="580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00384" name="Line 18"/>
            <p:cNvSpPr>
              <a:spLocks noChangeShapeType="1"/>
            </p:cNvSpPr>
            <p:nvPr/>
          </p:nvSpPr>
          <p:spPr bwMode="auto">
            <a:xfrm>
              <a:off x="4224" y="12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0385" name="Line 19"/>
            <p:cNvSpPr>
              <a:spLocks noChangeShapeType="1"/>
            </p:cNvSpPr>
            <p:nvPr/>
          </p:nvSpPr>
          <p:spPr bwMode="auto">
            <a:xfrm flipV="1">
              <a:off x="4224" y="1506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43" name="Group 28"/>
          <p:cNvGraphicFramePr>
            <a:graphicFrameLocks noGrp="1"/>
          </p:cNvGraphicFramePr>
          <p:nvPr/>
        </p:nvGraphicFramePr>
        <p:xfrm>
          <a:off x="6721475" y="1981200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0381" name="Rectangle 43"/>
          <p:cNvSpPr>
            <a:spLocks noChangeArrowheads="1"/>
          </p:cNvSpPr>
          <p:nvPr/>
        </p:nvSpPr>
        <p:spPr bwMode="auto">
          <a:xfrm>
            <a:off x="6721475" y="2379663"/>
            <a:ext cx="1660525" cy="1735137"/>
          </a:xfrm>
          <a:prstGeom prst="rect">
            <a:avLst/>
          </a:prstGeom>
          <a:solidFill>
            <a:srgbClr val="FFCCFF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127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E1563A-E0CE-DE46-BEE7-262C1836B23F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Calling Convention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153400" cy="4800600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Caller-save registers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0000FF"/>
                </a:solidFill>
                <a:ea typeface="宋体" pitchFamily="2" charset="-122"/>
              </a:rPr>
              <a:t>所有其他寄存器（除了</a:t>
            </a: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%</a:t>
            </a:r>
            <a:r>
              <a:rPr lang="en-US" altLang="zh-CN" dirty="0" err="1">
                <a:solidFill>
                  <a:srgbClr val="0000FF"/>
                </a:solidFill>
                <a:ea typeface="宋体" pitchFamily="2" charset="-122"/>
              </a:rPr>
              <a:t>rsp</a:t>
            </a:r>
            <a:r>
              <a:rPr lang="zh-CN" altLang="en-US" dirty="0">
                <a:solidFill>
                  <a:srgbClr val="0000FF"/>
                </a:solidFill>
                <a:ea typeface="宋体" pitchFamily="2" charset="-122"/>
              </a:rPr>
              <a:t>不需要保存）</a:t>
            </a:r>
            <a:endParaRPr lang="en-US" altLang="zh-CN" dirty="0">
              <a:solidFill>
                <a:srgbClr val="0000FF"/>
              </a:solidFill>
              <a:ea typeface="宋体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Saved by caller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 err="1">
                <a:ea typeface="宋体" pitchFamily="2" charset="-122"/>
              </a:rPr>
              <a:t>Callee</a:t>
            </a:r>
            <a:r>
              <a:rPr lang="en-US" altLang="zh-CN" dirty="0">
                <a:ea typeface="宋体" pitchFamily="2" charset="-122"/>
              </a:rPr>
              <a:t> can use these registers freely</a:t>
            </a:r>
          </a:p>
          <a:p>
            <a:pPr marL="0" indent="0">
              <a:lnSpc>
                <a:spcPct val="120000"/>
              </a:lnSpc>
              <a:buFontTx/>
              <a:buNone/>
              <a:defRPr/>
            </a:pPr>
            <a:endParaRPr lang="en-US" altLang="zh-CN" sz="1200" dirty="0">
              <a:ea typeface="宋体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The contents in these registers may be changed after return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Caller must restore them if it tries to use them after calling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Group 28"/>
          <p:cNvGraphicFramePr>
            <a:graphicFrameLocks noGrp="1"/>
          </p:cNvGraphicFramePr>
          <p:nvPr/>
        </p:nvGraphicFramePr>
        <p:xfrm>
          <a:off x="6721475" y="2951163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eax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Group 28"/>
          <p:cNvGraphicFramePr>
            <a:graphicFrameLocks noGrp="1"/>
          </p:cNvGraphicFramePr>
          <p:nvPr/>
        </p:nvGraphicFramePr>
        <p:xfrm>
          <a:off x="6721475" y="4094163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 1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Group 28"/>
          <p:cNvGraphicFramePr>
            <a:graphicFrameLocks noGrp="1"/>
          </p:cNvGraphicFramePr>
          <p:nvPr/>
        </p:nvGraphicFramePr>
        <p:xfrm>
          <a:off x="6721475" y="3713163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. . . . . .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Group 28"/>
          <p:cNvGraphicFramePr>
            <a:graphicFrameLocks noGrp="1"/>
          </p:cNvGraphicFramePr>
          <p:nvPr/>
        </p:nvGraphicFramePr>
        <p:xfrm>
          <a:off x="6721475" y="3332163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 N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628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97048B-3909-CE4D-9E54-5E9DAA1DD7A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96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Caller-save Registers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00200"/>
            <a:ext cx="7772400" cy="4419600"/>
          </a:xfrm>
        </p:spPr>
        <p:txBody>
          <a:bodyPr/>
          <a:lstStyle/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push %</a:t>
            </a:r>
            <a:r>
              <a:rPr lang="en-US" altLang="zh-CN" dirty="0" err="1">
                <a:solidFill>
                  <a:srgbClr val="0000FF"/>
                </a:solidFill>
                <a:ea typeface="宋体" pitchFamily="2" charset="-122"/>
              </a:rPr>
              <a:t>eax</a:t>
            </a:r>
            <a:endParaRPr lang="en-US" altLang="zh-CN" dirty="0">
              <a:solidFill>
                <a:srgbClr val="0000FF"/>
              </a:solidFill>
              <a:ea typeface="宋体" pitchFamily="2" charset="-122"/>
            </a:endParaRP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push argument N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. . . 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push argument 1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ea typeface="宋体" pitchFamily="2" charset="-122"/>
              </a:rPr>
              <a:t>call </a:t>
            </a:r>
            <a:r>
              <a:rPr lang="en-US" altLang="zh-CN" dirty="0" err="1">
                <a:ea typeface="宋体" pitchFamily="2" charset="-122"/>
              </a:rPr>
              <a:t>callee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140000"/>
              </a:lnSpc>
              <a:defRPr/>
            </a:pPr>
            <a:endParaRPr lang="en-US" altLang="zh-CN" dirty="0">
              <a:ea typeface="宋体" pitchFamily="2" charset="-122"/>
            </a:endParaRPr>
          </a:p>
        </p:txBody>
      </p:sp>
      <p:grpSp>
        <p:nvGrpSpPr>
          <p:cNvPr id="96284" name="Group 27"/>
          <p:cNvGrpSpPr>
            <a:grpSpLocks/>
          </p:cNvGrpSpPr>
          <p:nvPr/>
        </p:nvGrpSpPr>
        <p:grpSpPr bwMode="auto">
          <a:xfrm>
            <a:off x="5486400" y="1905000"/>
            <a:ext cx="1235075" cy="3200400"/>
            <a:chOff x="3686" y="796"/>
            <a:chExt cx="778" cy="2016"/>
          </a:xfrm>
        </p:grpSpPr>
        <p:sp>
          <p:nvSpPr>
            <p:cNvPr id="96298" name="Text Box 16"/>
            <p:cNvSpPr txBox="1">
              <a:spLocks noChangeArrowheads="1"/>
            </p:cNvSpPr>
            <p:nvPr/>
          </p:nvSpPr>
          <p:spPr bwMode="auto">
            <a:xfrm>
              <a:off x="3686" y="796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96299" name="Text Box 17"/>
            <p:cNvSpPr txBox="1">
              <a:spLocks noChangeArrowheads="1"/>
            </p:cNvSpPr>
            <p:nvPr/>
          </p:nvSpPr>
          <p:spPr bwMode="auto">
            <a:xfrm>
              <a:off x="3696" y="2521"/>
              <a:ext cx="5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96300" name="Line 18"/>
            <p:cNvSpPr>
              <a:spLocks noChangeShapeType="1"/>
            </p:cNvSpPr>
            <p:nvPr/>
          </p:nvSpPr>
          <p:spPr bwMode="auto">
            <a:xfrm>
              <a:off x="4224" y="96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6301" name="Line 19"/>
            <p:cNvSpPr>
              <a:spLocks noChangeShapeType="1"/>
            </p:cNvSpPr>
            <p:nvPr/>
          </p:nvSpPr>
          <p:spPr bwMode="auto">
            <a:xfrm flipV="1">
              <a:off x="4224" y="2665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25" name="Group 28"/>
          <p:cNvGraphicFramePr>
            <a:graphicFrameLocks noGrp="1"/>
          </p:cNvGraphicFramePr>
          <p:nvPr/>
        </p:nvGraphicFramePr>
        <p:xfrm>
          <a:off x="6721475" y="4475163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Group 28"/>
          <p:cNvGraphicFramePr>
            <a:graphicFrameLocks noGrp="1"/>
          </p:cNvGraphicFramePr>
          <p:nvPr/>
        </p:nvGraphicFramePr>
        <p:xfrm>
          <a:off x="6721475" y="1906588"/>
          <a:ext cx="1660525" cy="296545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654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6297" name="Rectangle 26"/>
          <p:cNvSpPr>
            <a:spLocks noChangeArrowheads="1"/>
          </p:cNvSpPr>
          <p:nvPr/>
        </p:nvSpPr>
        <p:spPr bwMode="auto">
          <a:xfrm>
            <a:off x="6721475" y="1906588"/>
            <a:ext cx="1660525" cy="2962275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9113A0-0D74-8D48-98E5-DD4B61DC2BF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Procedure/Function Implementation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648200"/>
          </a:xfrm>
        </p:spPr>
        <p:txBody>
          <a:bodyPr/>
          <a:lstStyle/>
          <a:p>
            <a:pPr marL="441325" lvl="1" indent="-346075">
              <a:lnSpc>
                <a:spcPct val="140000"/>
              </a:lnSpc>
              <a:buFont typeface="Wingdings" charset="2"/>
              <a:buChar char="ü"/>
            </a:pPr>
            <a:r>
              <a:rPr lang="en-US" altLang="zh-CN" sz="2800">
                <a:solidFill>
                  <a:srgbClr val="FF0000"/>
                </a:solidFill>
                <a:ea typeface="宋体" charset="-122"/>
              </a:rPr>
              <a:t> </a:t>
            </a:r>
            <a:r>
              <a:rPr lang="en-US" altLang="zh-CN" sz="2800">
                <a:ea typeface="宋体" charset="-122"/>
              </a:rPr>
              <a:t>Invoke callee: </a:t>
            </a:r>
            <a:r>
              <a:rPr lang="en-US" altLang="zh-CN" sz="2800">
                <a:solidFill>
                  <a:srgbClr val="0000FF"/>
                </a:solidFill>
                <a:ea typeface="宋体" charset="-122"/>
              </a:rPr>
              <a:t>call </a:t>
            </a:r>
            <a:r>
              <a:rPr lang="en-US" altLang="zh-CN" sz="2800">
                <a:ea typeface="宋体" charset="-122"/>
              </a:rPr>
              <a:t>(new instructions)</a:t>
            </a:r>
          </a:p>
          <a:p>
            <a:pPr marL="441325" lvl="1" indent="-346075">
              <a:lnSpc>
                <a:spcPct val="140000"/>
              </a:lnSpc>
              <a:buFont typeface="Wingdings" charset="2"/>
              <a:buChar char="ü"/>
            </a:pPr>
            <a:r>
              <a:rPr lang="en-US" altLang="zh-CN" sz="2800">
                <a:solidFill>
                  <a:srgbClr val="FF0000"/>
                </a:solidFill>
                <a:ea typeface="宋体" charset="-122"/>
              </a:rPr>
              <a:t> </a:t>
            </a:r>
            <a:r>
              <a:rPr lang="en-US" altLang="zh-CN" sz="2800">
                <a:ea typeface="宋体" charset="-122"/>
              </a:rPr>
              <a:t>Return to caller: </a:t>
            </a:r>
            <a:r>
              <a:rPr lang="en-US" altLang="zh-CN" sz="2800">
                <a:solidFill>
                  <a:srgbClr val="0000FF"/>
                </a:solidFill>
                <a:ea typeface="宋体" charset="-122"/>
              </a:rPr>
              <a:t>ret</a:t>
            </a:r>
            <a:r>
              <a:rPr lang="en-US" altLang="zh-CN" sz="2800">
                <a:ea typeface="宋体" charset="-122"/>
              </a:rPr>
              <a:t> (new instructions)</a:t>
            </a:r>
            <a:endParaRPr lang="en-US" altLang="zh-CN" sz="2800">
              <a:solidFill>
                <a:srgbClr val="00CC66"/>
              </a:solidFill>
              <a:ea typeface="宋体" charset="-122"/>
            </a:endParaRPr>
          </a:p>
          <a:p>
            <a:pPr marL="441325" lvl="1" indent="-346075">
              <a:lnSpc>
                <a:spcPct val="140000"/>
              </a:lnSpc>
              <a:buFont typeface="Wingdings" charset="2"/>
              <a:buChar char="ü"/>
            </a:pPr>
            <a:r>
              <a:rPr lang="en-US" altLang="zh-CN" sz="2800">
                <a:solidFill>
                  <a:srgbClr val="FF0000"/>
                </a:solidFill>
                <a:ea typeface="宋体" charset="-122"/>
              </a:rPr>
              <a:t> </a:t>
            </a:r>
            <a:r>
              <a:rPr lang="en-US" altLang="zh-CN" sz="2800">
                <a:ea typeface="宋体" charset="-122"/>
              </a:rPr>
              <a:t>Passing data: </a:t>
            </a:r>
            <a:r>
              <a:rPr lang="en-US" altLang="zh-CN" sz="2800">
                <a:solidFill>
                  <a:srgbClr val="0000FF"/>
                </a:solidFill>
                <a:ea typeface="宋体" charset="-122"/>
              </a:rPr>
              <a:t>stack</a:t>
            </a:r>
            <a:r>
              <a:rPr lang="en-US" altLang="zh-CN" sz="2800">
                <a:ea typeface="宋体" charset="-122"/>
              </a:rPr>
              <a:t>, </a:t>
            </a:r>
            <a:r>
              <a:rPr lang="en-US" altLang="zh-CN" sz="2800">
                <a:solidFill>
                  <a:srgbClr val="0000FF"/>
                </a:solidFill>
                <a:ea typeface="宋体" charset="-122"/>
              </a:rPr>
              <a:t>register</a:t>
            </a:r>
          </a:p>
          <a:p>
            <a:pPr marL="441325" lvl="1" indent="-346075">
              <a:lnSpc>
                <a:spcPct val="140000"/>
              </a:lnSpc>
              <a:buFont typeface="Wingdings" charset="2"/>
              <a:buChar char="ü"/>
            </a:pPr>
            <a:r>
              <a:rPr lang="en-US" altLang="zh-CN" sz="2800">
                <a:solidFill>
                  <a:srgbClr val="FF0000"/>
                </a:solidFill>
                <a:ea typeface="宋体" charset="-122"/>
              </a:rPr>
              <a:t> </a:t>
            </a:r>
            <a:r>
              <a:rPr lang="en-US" altLang="zh-CN" sz="2800">
                <a:ea typeface="宋体" charset="-122"/>
              </a:rPr>
              <a:t>Registers: </a:t>
            </a:r>
            <a:r>
              <a:rPr lang="en-US" altLang="zh-CN" sz="2800">
                <a:solidFill>
                  <a:srgbClr val="0000FF"/>
                </a:solidFill>
                <a:ea typeface="宋体" charset="-122"/>
              </a:rPr>
              <a:t>calling convention</a:t>
            </a:r>
          </a:p>
          <a:p>
            <a:pPr marL="441325" lvl="1" indent="-346075">
              <a:lnSpc>
                <a:spcPct val="140000"/>
              </a:lnSpc>
              <a:buFont typeface="Comic Sans MS" charset="0"/>
              <a:buChar char="?"/>
            </a:pPr>
            <a:r>
              <a:rPr lang="en-US" altLang="zh-CN" sz="2800">
                <a:ea typeface="宋体" charset="-122"/>
              </a:rPr>
              <a:t> Local variable: </a:t>
            </a:r>
            <a:r>
              <a:rPr lang="en-US" altLang="zh-CN" sz="2800">
                <a:solidFill>
                  <a:srgbClr val="0000FF"/>
                </a:solidFill>
                <a:ea typeface="宋体" charset="-122"/>
              </a:rPr>
              <a:t>stack</a:t>
            </a:r>
            <a:endParaRPr lang="en-US" altLang="zh-CN">
              <a:solidFill>
                <a:srgbClr val="0000FF"/>
              </a:solidFill>
              <a:ea typeface="宋体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9E2089-FC56-8A4D-AC7E-27873AE83F0E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Local Variable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Why not store local variables in registers ?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No enough registers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Array and structures (e.g., a[2])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Need address (e.g., &amp;a)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Group 28"/>
          <p:cNvGraphicFramePr>
            <a:graphicFrameLocks noGrp="1"/>
          </p:cNvGraphicFramePr>
          <p:nvPr/>
        </p:nvGraphicFramePr>
        <p:xfrm>
          <a:off x="6950075" y="2149475"/>
          <a:ext cx="1660525" cy="395302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251" marB="4525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Group 28"/>
          <p:cNvGraphicFramePr>
            <a:graphicFrameLocks noGrp="1"/>
          </p:cNvGraphicFramePr>
          <p:nvPr/>
        </p:nvGraphicFramePr>
        <p:xfrm>
          <a:off x="6950075" y="2911475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Local variable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F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Group 28"/>
          <p:cNvGraphicFramePr>
            <a:graphicFrameLocks noGrp="1"/>
          </p:cNvGraphicFramePr>
          <p:nvPr/>
        </p:nvGraphicFramePr>
        <p:xfrm>
          <a:off x="6950075" y="2530475"/>
          <a:ext cx="1660525" cy="395302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Saved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regs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251" marB="4525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651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84D6D3-683B-D64E-ACAD-88A92E203F7E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065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Local Variable</a:t>
            </a:r>
          </a:p>
        </p:txBody>
      </p:sp>
      <p:sp>
        <p:nvSpPr>
          <p:cNvPr id="1065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Allocation</a:t>
            </a: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Below saved regs or old %</a:t>
            </a:r>
            <a:r>
              <a:rPr lang="en-US" altLang="zh-CN" dirty="0" err="1">
                <a:ea typeface="宋体" charset="-122"/>
              </a:rPr>
              <a:t>ebp</a:t>
            </a:r>
            <a:endParaRPr lang="en-US" altLang="zh-CN" dirty="0">
              <a:ea typeface="宋体" charset="-122"/>
            </a:endParaRP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move/sub </a:t>
            </a: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%</a:t>
            </a:r>
            <a:r>
              <a:rPr lang="en-US" altLang="zh-CN" dirty="0" err="1">
                <a:solidFill>
                  <a:srgbClr val="0000FF"/>
                </a:solidFill>
                <a:ea typeface="宋体" charset="-122"/>
              </a:rPr>
              <a:t>esp</a:t>
            </a: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, </a:t>
            </a:r>
            <a:r>
              <a:rPr lang="en-US" altLang="zh-CN" sz="2000" dirty="0">
                <a:solidFill>
                  <a:srgbClr val="FF0000"/>
                </a:solidFill>
                <a:ea typeface="宋体" charset="-122"/>
              </a:rPr>
              <a:t>(e.g., </a:t>
            </a:r>
            <a:r>
              <a:rPr lang="en-US" altLang="zh-CN" sz="2000" dirty="0" err="1">
                <a:solidFill>
                  <a:srgbClr val="FF0000"/>
                </a:solidFill>
                <a:ea typeface="宋体" charset="-122"/>
              </a:rPr>
              <a:t>subl</a:t>
            </a:r>
            <a:r>
              <a:rPr lang="en-US" altLang="zh-CN" sz="2000" dirty="0">
                <a:solidFill>
                  <a:srgbClr val="FF0000"/>
                </a:solidFill>
                <a:ea typeface="宋体" charset="-122"/>
              </a:rPr>
              <a:t> $4, %</a:t>
            </a:r>
            <a:r>
              <a:rPr lang="en-US" altLang="zh-CN" sz="2000" dirty="0" err="1">
                <a:solidFill>
                  <a:srgbClr val="FF0000"/>
                </a:solidFill>
                <a:ea typeface="宋体" charset="-122"/>
              </a:rPr>
              <a:t>esp</a:t>
            </a:r>
            <a:r>
              <a:rPr lang="en-US" altLang="zh-CN" sz="2000" dirty="0">
                <a:solidFill>
                  <a:srgbClr val="FF0000"/>
                </a:solidFill>
                <a:ea typeface="宋体" charset="-122"/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De-allocation</a:t>
            </a: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move/add </a:t>
            </a: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%</a:t>
            </a:r>
            <a:r>
              <a:rPr lang="en-US" altLang="zh-CN" dirty="0" err="1">
                <a:solidFill>
                  <a:srgbClr val="0000FF"/>
                </a:solidFill>
                <a:ea typeface="宋体" charset="-122"/>
              </a:rPr>
              <a:t>esp</a:t>
            </a: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, </a:t>
            </a:r>
            <a:r>
              <a:rPr lang="en-US" altLang="zh-CN" sz="2000" dirty="0">
                <a:solidFill>
                  <a:srgbClr val="FF0000"/>
                </a:solidFill>
                <a:ea typeface="宋体" charset="-122"/>
              </a:rPr>
              <a:t>(e.g., </a:t>
            </a:r>
            <a:r>
              <a:rPr lang="en-US" altLang="zh-CN" sz="2000" dirty="0" err="1">
                <a:solidFill>
                  <a:srgbClr val="FF0000"/>
                </a:solidFill>
                <a:ea typeface="宋体" charset="-122"/>
              </a:rPr>
              <a:t>addl</a:t>
            </a:r>
            <a:r>
              <a:rPr lang="en-US" altLang="zh-CN" sz="2000" dirty="0">
                <a:solidFill>
                  <a:srgbClr val="FF0000"/>
                </a:solidFill>
                <a:ea typeface="宋体" charset="-122"/>
              </a:rPr>
              <a:t> $4, %</a:t>
            </a:r>
            <a:r>
              <a:rPr lang="en-US" altLang="zh-CN" sz="2000" dirty="0" err="1">
                <a:solidFill>
                  <a:srgbClr val="FF0000"/>
                </a:solidFill>
                <a:ea typeface="宋体" charset="-122"/>
              </a:rPr>
              <a:t>esp</a:t>
            </a:r>
            <a:r>
              <a:rPr lang="en-US" altLang="zh-CN" sz="2000" dirty="0">
                <a:solidFill>
                  <a:srgbClr val="FF0000"/>
                </a:solidFill>
                <a:ea typeface="宋体" charset="-122"/>
              </a:rPr>
              <a:t>)</a:t>
            </a:r>
            <a:endParaRPr lang="en-US" altLang="zh-CN" dirty="0">
              <a:solidFill>
                <a:srgbClr val="0000FF"/>
              </a:solidFill>
              <a:ea typeface="宋体" charset="-122"/>
            </a:endParaRPr>
          </a:p>
          <a:p>
            <a:pPr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Usage</a:t>
            </a:r>
          </a:p>
          <a:p>
            <a:pPr lvl="1">
              <a:lnSpc>
                <a:spcPct val="140000"/>
              </a:lnSpc>
            </a:pPr>
            <a:r>
              <a:rPr lang="en-US" altLang="zh-CN" dirty="0">
                <a:ea typeface="宋体" charset="-122"/>
              </a:rPr>
              <a:t>Relative to </a:t>
            </a: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%</a:t>
            </a:r>
            <a:r>
              <a:rPr lang="en-US" altLang="zh-CN" dirty="0" err="1">
                <a:solidFill>
                  <a:srgbClr val="0000FF"/>
                </a:solidFill>
                <a:ea typeface="宋体" charset="-122"/>
              </a:rPr>
              <a:t>esp</a:t>
            </a: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/%</a:t>
            </a:r>
            <a:r>
              <a:rPr lang="en-US" altLang="zh-CN" dirty="0" err="1">
                <a:solidFill>
                  <a:srgbClr val="0000FF"/>
                </a:solidFill>
                <a:ea typeface="宋体" charset="-122"/>
              </a:rPr>
              <a:t>ebp</a:t>
            </a: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, </a:t>
            </a:r>
            <a:r>
              <a:rPr lang="en-US" altLang="zh-CN" sz="2000" dirty="0">
                <a:solidFill>
                  <a:srgbClr val="FF0000"/>
                </a:solidFill>
                <a:ea typeface="宋体" charset="-122"/>
              </a:rPr>
              <a:t>(e.g., </a:t>
            </a:r>
            <a:r>
              <a:rPr lang="en-US" altLang="zh-CN" sz="2000" dirty="0" err="1">
                <a:solidFill>
                  <a:srgbClr val="FF0000"/>
                </a:solidFill>
                <a:ea typeface="宋体" charset="-122"/>
              </a:rPr>
              <a:t>movl</a:t>
            </a:r>
            <a:r>
              <a:rPr lang="en-US" altLang="zh-CN" sz="2000" dirty="0">
                <a:solidFill>
                  <a:srgbClr val="FF0000"/>
                </a:solidFill>
                <a:ea typeface="宋体" charset="-122"/>
              </a:rPr>
              <a:t> %</a:t>
            </a:r>
            <a:r>
              <a:rPr lang="en-US" altLang="zh-CN" sz="2000" dirty="0" err="1">
                <a:solidFill>
                  <a:srgbClr val="FF0000"/>
                </a:solidFill>
                <a:ea typeface="宋体" charset="-122"/>
              </a:rPr>
              <a:t>eax</a:t>
            </a:r>
            <a:r>
              <a:rPr lang="en-US" altLang="zh-CN" sz="2000" dirty="0">
                <a:solidFill>
                  <a:srgbClr val="FF0000"/>
                </a:solidFill>
                <a:ea typeface="宋体" charset="-122"/>
              </a:rPr>
              <a:t>, 8(%</a:t>
            </a:r>
            <a:r>
              <a:rPr lang="en-US" altLang="zh-CN" sz="2000" dirty="0" err="1">
                <a:solidFill>
                  <a:srgbClr val="FF0000"/>
                </a:solidFill>
                <a:ea typeface="宋体" charset="-122"/>
              </a:rPr>
              <a:t>esp</a:t>
            </a:r>
            <a:r>
              <a:rPr lang="en-US" altLang="zh-CN" sz="2000" dirty="0">
                <a:solidFill>
                  <a:srgbClr val="FF0000"/>
                </a:solidFill>
                <a:ea typeface="宋体" charset="-122"/>
              </a:rPr>
              <a:t>))</a:t>
            </a:r>
          </a:p>
        </p:txBody>
      </p:sp>
      <p:graphicFrame>
        <p:nvGraphicFramePr>
          <p:cNvPr id="19" name="Group 28"/>
          <p:cNvGraphicFramePr>
            <a:graphicFrameLocks noGrp="1"/>
          </p:cNvGraphicFramePr>
          <p:nvPr/>
        </p:nvGraphicFramePr>
        <p:xfrm>
          <a:off x="6950075" y="2149475"/>
          <a:ext cx="1660525" cy="26035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35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Callee</a:t>
                      </a:r>
                      <a:b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6524" name="Group 27"/>
          <p:cNvGrpSpPr>
            <a:grpSpLocks/>
          </p:cNvGrpSpPr>
          <p:nvPr/>
        </p:nvGrpSpPr>
        <p:grpSpPr bwMode="auto">
          <a:xfrm>
            <a:off x="5715000" y="2281238"/>
            <a:ext cx="1235075" cy="1555750"/>
            <a:chOff x="3686" y="1308"/>
            <a:chExt cx="778" cy="980"/>
          </a:xfrm>
        </p:grpSpPr>
        <p:sp>
          <p:nvSpPr>
            <p:cNvPr id="106532" name="Text Box 16"/>
            <p:cNvSpPr txBox="1">
              <a:spLocks noChangeArrowheads="1"/>
            </p:cNvSpPr>
            <p:nvPr/>
          </p:nvSpPr>
          <p:spPr bwMode="auto">
            <a:xfrm>
              <a:off x="3686" y="1308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dirty="0">
                  <a:solidFill>
                    <a:srgbClr val="0000FF"/>
                  </a:solidFill>
                  <a:latin typeface="Times New Roman" charset="0"/>
                </a:rPr>
                <a:t>%</a:t>
              </a:r>
              <a:r>
                <a:rPr lang="en-US" altLang="zh-CN" sz="2400" dirty="0" err="1">
                  <a:solidFill>
                    <a:srgbClr val="0000FF"/>
                  </a:solidFill>
                  <a:latin typeface="Times New Roman" charset="0"/>
                </a:rPr>
                <a:t>ebp</a:t>
              </a:r>
              <a:endParaRPr lang="en-US" altLang="zh-CN" sz="2400" dirty="0">
                <a:solidFill>
                  <a:srgbClr val="0000FF"/>
                </a:solidFill>
                <a:latin typeface="Times New Roman" charset="0"/>
              </a:endParaRPr>
            </a:p>
          </p:txBody>
        </p:sp>
        <p:sp>
          <p:nvSpPr>
            <p:cNvPr id="106533" name="Text Box 17"/>
            <p:cNvSpPr txBox="1">
              <a:spLocks noChangeArrowheads="1"/>
            </p:cNvSpPr>
            <p:nvPr/>
          </p:nvSpPr>
          <p:spPr bwMode="auto">
            <a:xfrm>
              <a:off x="3696" y="1968"/>
              <a:ext cx="580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06534" name="Line 18"/>
            <p:cNvSpPr>
              <a:spLocks noChangeShapeType="1"/>
            </p:cNvSpPr>
            <p:nvPr/>
          </p:nvSpPr>
          <p:spPr bwMode="auto">
            <a:xfrm>
              <a:off x="4224" y="147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6535" name="Line 19"/>
            <p:cNvSpPr>
              <a:spLocks noChangeShapeType="1"/>
            </p:cNvSpPr>
            <p:nvPr/>
          </p:nvSpPr>
          <p:spPr bwMode="auto">
            <a:xfrm flipV="1">
              <a:off x="4224" y="2127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25" name="Group 28"/>
          <p:cNvGraphicFramePr>
            <a:graphicFrameLocks noGrp="1"/>
          </p:cNvGraphicFramePr>
          <p:nvPr/>
        </p:nvGraphicFramePr>
        <p:xfrm>
          <a:off x="6950075" y="1752600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6531" name="Rectangle 27"/>
          <p:cNvSpPr>
            <a:spLocks noChangeArrowheads="1"/>
          </p:cNvSpPr>
          <p:nvPr/>
        </p:nvSpPr>
        <p:spPr bwMode="auto">
          <a:xfrm>
            <a:off x="6950075" y="2151063"/>
            <a:ext cx="1660525" cy="2589212"/>
          </a:xfrm>
          <a:prstGeom prst="rect">
            <a:avLst/>
          </a:prstGeom>
          <a:solidFill>
            <a:srgbClr val="FFCCFF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6721475" y="0"/>
            <a:ext cx="1660525" cy="68580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5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A500C3-BCE1-744D-8DC5-E428520857C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Put it Together</a:t>
            </a:r>
          </a:p>
        </p:txBody>
      </p:sp>
      <p:graphicFrame>
        <p:nvGraphicFramePr>
          <p:cNvPr id="14" name="Group 28"/>
          <p:cNvGraphicFramePr>
            <a:graphicFrameLocks noGrp="1"/>
          </p:cNvGraphicFramePr>
          <p:nvPr/>
        </p:nvGraphicFramePr>
        <p:xfrm>
          <a:off x="6721475" y="381000"/>
          <a:ext cx="1660525" cy="9906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8554" name="Rectangle 26"/>
          <p:cNvSpPr>
            <a:spLocks noChangeArrowheads="1"/>
          </p:cNvSpPr>
          <p:nvPr/>
        </p:nvSpPr>
        <p:spPr bwMode="auto">
          <a:xfrm>
            <a:off x="6721475" y="381000"/>
            <a:ext cx="1660525" cy="990600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grpSp>
        <p:nvGrpSpPr>
          <p:cNvPr id="26636" name="Group 27"/>
          <p:cNvGrpSpPr>
            <a:grpSpLocks/>
          </p:cNvGrpSpPr>
          <p:nvPr/>
        </p:nvGrpSpPr>
        <p:grpSpPr bwMode="auto">
          <a:xfrm>
            <a:off x="5470525" y="447675"/>
            <a:ext cx="1250950" cy="1152525"/>
            <a:chOff x="3686" y="1174"/>
            <a:chExt cx="788" cy="726"/>
          </a:xfrm>
          <a:solidFill>
            <a:schemeClr val="bg1"/>
          </a:solidFill>
        </p:grpSpPr>
        <p:sp>
          <p:nvSpPr>
            <p:cNvPr id="26637" name="Text Box 16"/>
            <p:cNvSpPr txBox="1">
              <a:spLocks noChangeArrowheads="1"/>
            </p:cNvSpPr>
            <p:nvPr/>
          </p:nvSpPr>
          <p:spPr bwMode="auto">
            <a:xfrm>
              <a:off x="3686" y="1174"/>
              <a:ext cx="612" cy="29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%</a:t>
              </a:r>
              <a:r>
                <a:rPr lang="en-US" altLang="zh-CN" sz="240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ebp</a:t>
              </a:r>
              <a:endPara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8" name="Text Box 17"/>
            <p:cNvSpPr txBox="1">
              <a:spLocks noChangeArrowheads="1"/>
            </p:cNvSpPr>
            <p:nvPr/>
          </p:nvSpPr>
          <p:spPr bwMode="auto">
            <a:xfrm>
              <a:off x="3696" y="1609"/>
              <a:ext cx="580" cy="29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%</a:t>
              </a:r>
              <a:r>
                <a:rPr lang="en-US" altLang="zh-CN" sz="240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esp</a:t>
              </a:r>
              <a:endPara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9" name="Line 18"/>
            <p:cNvSpPr>
              <a:spLocks noChangeShapeType="1"/>
            </p:cNvSpPr>
            <p:nvPr/>
          </p:nvSpPr>
          <p:spPr bwMode="auto">
            <a:xfrm>
              <a:off x="4224" y="1340"/>
              <a:ext cx="24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0" name="Line 19"/>
            <p:cNvSpPr>
              <a:spLocks noChangeShapeType="1"/>
            </p:cNvSpPr>
            <p:nvPr/>
          </p:nvSpPr>
          <p:spPr bwMode="auto">
            <a:xfrm>
              <a:off x="4224" y="1754"/>
              <a:ext cx="250" cy="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6721475" y="0"/>
            <a:ext cx="1660525" cy="68580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8" name="Group 28"/>
          <p:cNvGraphicFramePr>
            <a:graphicFrameLocks noGrp="1"/>
          </p:cNvGraphicFramePr>
          <p:nvPr/>
        </p:nvGraphicFramePr>
        <p:xfrm>
          <a:off x="6721475" y="1355725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caller-save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060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26D4D7-8D1D-0C46-B76A-04BBB5CD8D8B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10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Put it Together</a:t>
            </a:r>
          </a:p>
        </p:txBody>
      </p:sp>
      <p:sp>
        <p:nvSpPr>
          <p:cNvPr id="110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257800" cy="4419600"/>
          </a:xfrm>
        </p:spPr>
        <p:txBody>
          <a:bodyPr/>
          <a:lstStyle/>
          <a:p>
            <a:pPr marL="363538" indent="-363538">
              <a:lnSpc>
                <a:spcPct val="140000"/>
              </a:lnSpc>
              <a:buFontTx/>
              <a:buNone/>
            </a:pP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1. </a:t>
            </a:r>
            <a:r>
              <a:rPr lang="en-US" altLang="zh-CN" dirty="0">
                <a:ea typeface="宋体" charset="-122"/>
              </a:rPr>
              <a:t>Save caller-save registers </a:t>
            </a:r>
            <a:br>
              <a:rPr lang="en-US" altLang="zh-CN" dirty="0">
                <a:ea typeface="宋体" charset="-122"/>
              </a:rPr>
            </a:br>
            <a:r>
              <a:rPr lang="en-US" altLang="zh-CN" dirty="0">
                <a:ea typeface="宋体" charset="-122"/>
              </a:rPr>
              <a:t>(%</a:t>
            </a:r>
            <a:r>
              <a:rPr lang="en-US" altLang="zh-CN" dirty="0" err="1">
                <a:ea typeface="宋体" charset="-122"/>
              </a:rPr>
              <a:t>rbx</a:t>
            </a:r>
            <a:r>
              <a:rPr lang="en-US" altLang="zh-CN" dirty="0">
                <a:ea typeface="宋体" charset="-122"/>
              </a:rPr>
              <a:t>, %</a:t>
            </a:r>
            <a:r>
              <a:rPr lang="en-US" altLang="zh-CN" dirty="0" err="1">
                <a:ea typeface="宋体" charset="-122"/>
              </a:rPr>
              <a:t>rbp</a:t>
            </a:r>
            <a:r>
              <a:rPr lang="en-US" altLang="zh-CN" dirty="0">
                <a:ea typeface="宋体" charset="-122"/>
              </a:rPr>
              <a:t>, %r12~15, %</a:t>
            </a:r>
            <a:r>
              <a:rPr lang="en-US" altLang="zh-CN" dirty="0" err="1">
                <a:ea typeface="宋体" charset="-122"/>
              </a:rPr>
              <a:t>rsp</a:t>
            </a:r>
            <a:r>
              <a:rPr lang="zh-CN" altLang="en-US" dirty="0">
                <a:ea typeface="宋体" charset="-122"/>
              </a:rPr>
              <a:t>以外的寄存器</a:t>
            </a:r>
            <a:r>
              <a:rPr lang="en-US" altLang="zh-CN" dirty="0">
                <a:ea typeface="宋体" charset="-122"/>
              </a:rPr>
              <a:t>)</a:t>
            </a:r>
          </a:p>
        </p:txBody>
      </p:sp>
      <p:graphicFrame>
        <p:nvGraphicFramePr>
          <p:cNvPr id="14" name="Group 28"/>
          <p:cNvGraphicFramePr>
            <a:graphicFrameLocks noGrp="1"/>
          </p:cNvGraphicFramePr>
          <p:nvPr/>
        </p:nvGraphicFramePr>
        <p:xfrm>
          <a:off x="6721475" y="381000"/>
          <a:ext cx="1660525" cy="16764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0609" name="Rectangle 26"/>
          <p:cNvSpPr>
            <a:spLocks noChangeArrowheads="1"/>
          </p:cNvSpPr>
          <p:nvPr/>
        </p:nvSpPr>
        <p:spPr bwMode="auto">
          <a:xfrm>
            <a:off x="6721475" y="381000"/>
            <a:ext cx="1660525" cy="1676400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grpSp>
        <p:nvGrpSpPr>
          <p:cNvPr id="110610" name="Group 27"/>
          <p:cNvGrpSpPr>
            <a:grpSpLocks/>
          </p:cNvGrpSpPr>
          <p:nvPr/>
        </p:nvGrpSpPr>
        <p:grpSpPr bwMode="auto">
          <a:xfrm>
            <a:off x="5470525" y="447675"/>
            <a:ext cx="1250950" cy="1838325"/>
            <a:chOff x="3686" y="1174"/>
            <a:chExt cx="788" cy="1158"/>
          </a:xfrm>
        </p:grpSpPr>
        <p:sp>
          <p:nvSpPr>
            <p:cNvPr id="110611" name="Text Box 16"/>
            <p:cNvSpPr txBox="1">
              <a:spLocks noChangeArrowheads="1"/>
            </p:cNvSpPr>
            <p:nvPr/>
          </p:nvSpPr>
          <p:spPr bwMode="auto">
            <a:xfrm>
              <a:off x="3686" y="1174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10612" name="Text Box 17"/>
            <p:cNvSpPr txBox="1">
              <a:spLocks noChangeArrowheads="1"/>
            </p:cNvSpPr>
            <p:nvPr/>
          </p:nvSpPr>
          <p:spPr bwMode="auto">
            <a:xfrm>
              <a:off x="3696" y="2041"/>
              <a:ext cx="5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10613" name="Line 18"/>
            <p:cNvSpPr>
              <a:spLocks noChangeShapeType="1"/>
            </p:cNvSpPr>
            <p:nvPr/>
          </p:nvSpPr>
          <p:spPr bwMode="auto">
            <a:xfrm>
              <a:off x="4224" y="134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0614" name="Line 19"/>
            <p:cNvSpPr>
              <a:spLocks noChangeShapeType="1"/>
            </p:cNvSpPr>
            <p:nvPr/>
          </p:nvSpPr>
          <p:spPr bwMode="auto">
            <a:xfrm>
              <a:off x="4224" y="2186"/>
              <a:ext cx="250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6721475" y="0"/>
            <a:ext cx="1660525" cy="68580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Group 28"/>
          <p:cNvGraphicFramePr>
            <a:graphicFrameLocks noGrp="1"/>
          </p:cNvGraphicFramePr>
          <p:nvPr/>
        </p:nvGraphicFramePr>
        <p:xfrm>
          <a:off x="6721475" y="1981200"/>
          <a:ext cx="1660525" cy="762028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(n~1)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Group 28"/>
          <p:cNvGraphicFramePr>
            <a:graphicFrameLocks noGrp="1"/>
          </p:cNvGraphicFramePr>
          <p:nvPr/>
        </p:nvGraphicFramePr>
        <p:xfrm>
          <a:off x="6721475" y="1355725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caller-save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26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491427-5F4A-674E-84A6-4720114D55B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126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Put it Together</a:t>
            </a:r>
          </a:p>
        </p:txBody>
      </p:sp>
      <p:sp>
        <p:nvSpPr>
          <p:cNvPr id="1126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19600"/>
          </a:xfrm>
        </p:spPr>
        <p:txBody>
          <a:bodyPr/>
          <a:lstStyle/>
          <a:p>
            <a:pPr marL="363538" indent="-363538">
              <a:lnSpc>
                <a:spcPct val="140000"/>
              </a:lnSpc>
              <a:buFontTx/>
              <a:buNone/>
            </a:pP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1. </a:t>
            </a:r>
            <a:r>
              <a:rPr lang="en-US" altLang="zh-CN" dirty="0">
                <a:ea typeface="宋体" charset="-122"/>
              </a:rPr>
              <a:t>Save caller-save registers </a:t>
            </a:r>
          </a:p>
          <a:p>
            <a:pPr marL="363538" indent="-363538">
              <a:lnSpc>
                <a:spcPct val="140000"/>
              </a:lnSpc>
              <a:buFontTx/>
              <a:buNone/>
            </a:pP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2. </a:t>
            </a:r>
            <a:r>
              <a:rPr lang="en-US" altLang="zh-CN" dirty="0">
                <a:ea typeface="宋体" charset="-122"/>
              </a:rPr>
              <a:t>Push actual arguments </a:t>
            </a:r>
            <a:br>
              <a:rPr lang="en-US" altLang="zh-CN" dirty="0">
                <a:ea typeface="宋体" charset="-122"/>
              </a:rPr>
            </a:br>
            <a:r>
              <a:rPr lang="en-US" altLang="zh-CN" dirty="0">
                <a:ea typeface="宋体" charset="-122"/>
              </a:rPr>
              <a:t>from right to left</a:t>
            </a:r>
          </a:p>
        </p:txBody>
      </p:sp>
      <p:graphicFrame>
        <p:nvGraphicFramePr>
          <p:cNvPr id="14" name="Group 28"/>
          <p:cNvGraphicFramePr>
            <a:graphicFrameLocks noGrp="1"/>
          </p:cNvGraphicFramePr>
          <p:nvPr/>
        </p:nvGraphicFramePr>
        <p:xfrm>
          <a:off x="6721475" y="381000"/>
          <a:ext cx="1660525" cy="235902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59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2663" name="Rectangle 26"/>
          <p:cNvSpPr>
            <a:spLocks noChangeArrowheads="1"/>
          </p:cNvSpPr>
          <p:nvPr/>
        </p:nvSpPr>
        <p:spPr bwMode="auto">
          <a:xfrm>
            <a:off x="6721475" y="381000"/>
            <a:ext cx="1660525" cy="2362200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grpSp>
        <p:nvGrpSpPr>
          <p:cNvPr id="112664" name="Group 27"/>
          <p:cNvGrpSpPr>
            <a:grpSpLocks/>
          </p:cNvGrpSpPr>
          <p:nvPr/>
        </p:nvGrpSpPr>
        <p:grpSpPr bwMode="auto">
          <a:xfrm>
            <a:off x="5470525" y="447675"/>
            <a:ext cx="1250950" cy="2524125"/>
            <a:chOff x="3686" y="1174"/>
            <a:chExt cx="788" cy="1590"/>
          </a:xfrm>
        </p:grpSpPr>
        <p:sp>
          <p:nvSpPr>
            <p:cNvPr id="112665" name="Text Box 16"/>
            <p:cNvSpPr txBox="1">
              <a:spLocks noChangeArrowheads="1"/>
            </p:cNvSpPr>
            <p:nvPr/>
          </p:nvSpPr>
          <p:spPr bwMode="auto">
            <a:xfrm>
              <a:off x="3686" y="1174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12666" name="Text Box 17"/>
            <p:cNvSpPr txBox="1">
              <a:spLocks noChangeArrowheads="1"/>
            </p:cNvSpPr>
            <p:nvPr/>
          </p:nvSpPr>
          <p:spPr bwMode="auto">
            <a:xfrm>
              <a:off x="3696" y="2473"/>
              <a:ext cx="5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12667" name="Line 18"/>
            <p:cNvSpPr>
              <a:spLocks noChangeShapeType="1"/>
            </p:cNvSpPr>
            <p:nvPr/>
          </p:nvSpPr>
          <p:spPr bwMode="auto">
            <a:xfrm>
              <a:off x="4224" y="134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2668" name="Line 19"/>
            <p:cNvSpPr>
              <a:spLocks noChangeShapeType="1"/>
            </p:cNvSpPr>
            <p:nvPr/>
          </p:nvSpPr>
          <p:spPr bwMode="auto">
            <a:xfrm>
              <a:off x="4224" y="2618"/>
              <a:ext cx="250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6721475" y="0"/>
            <a:ext cx="1660525" cy="68580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Group 28"/>
          <p:cNvGraphicFramePr>
            <a:graphicFrameLocks noGrp="1"/>
          </p:cNvGraphicFramePr>
          <p:nvPr/>
        </p:nvGraphicFramePr>
        <p:xfrm>
          <a:off x="6721475" y="1981200"/>
          <a:ext cx="1660525" cy="762028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(n~1)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Group 28"/>
          <p:cNvGraphicFramePr>
            <a:graphicFrameLocks noGrp="1"/>
          </p:cNvGraphicFramePr>
          <p:nvPr/>
        </p:nvGraphicFramePr>
        <p:xfrm>
          <a:off x="6721475" y="1355725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caller-save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47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ADF083-576A-824A-A866-877AAD06AF41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147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Put it Together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4419600"/>
          </a:xfrm>
        </p:spPr>
        <p:txBody>
          <a:bodyPr/>
          <a:lstStyle/>
          <a:p>
            <a:pPr marL="363538" indent="-363538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1. </a:t>
            </a:r>
            <a:r>
              <a:rPr lang="en-US" altLang="zh-CN" dirty="0">
                <a:ea typeface="宋体" pitchFamily="2" charset="-122"/>
              </a:rPr>
              <a:t>Save caller-save registers </a:t>
            </a:r>
          </a:p>
          <a:p>
            <a:pPr marL="363538" indent="-363538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2. </a:t>
            </a:r>
            <a:r>
              <a:rPr lang="en-US" altLang="zh-CN" dirty="0">
                <a:ea typeface="宋体" pitchFamily="2" charset="-122"/>
              </a:rPr>
              <a:t>Push actual arguments 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from right to left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3. </a:t>
            </a:r>
            <a:r>
              <a:rPr lang="en-US" altLang="zh-CN" dirty="0">
                <a:ea typeface="宋体" pitchFamily="2" charset="-122"/>
              </a:rPr>
              <a:t>Call instruction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Save return address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Transfer control to </a:t>
            </a:r>
            <a:r>
              <a:rPr lang="en-US" altLang="zh-CN" dirty="0" err="1">
                <a:ea typeface="宋体" pitchFamily="2" charset="-122"/>
              </a:rPr>
              <a:t>callee</a:t>
            </a:r>
            <a:endParaRPr lang="en-US" altLang="zh-CN" dirty="0">
              <a:ea typeface="宋体" pitchFamily="2" charset="-122"/>
            </a:endParaRPr>
          </a:p>
        </p:txBody>
      </p:sp>
      <p:graphicFrame>
        <p:nvGraphicFramePr>
          <p:cNvPr id="13" name="Group 28"/>
          <p:cNvGraphicFramePr>
            <a:graphicFrameLocks noGrp="1"/>
          </p:cNvGraphicFramePr>
          <p:nvPr/>
        </p:nvGraphicFramePr>
        <p:xfrm>
          <a:off x="6721475" y="27273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Group 28"/>
          <p:cNvGraphicFramePr>
            <a:graphicFrameLocks noGrp="1"/>
          </p:cNvGraphicFramePr>
          <p:nvPr/>
        </p:nvGraphicFramePr>
        <p:xfrm>
          <a:off x="6721475" y="381000"/>
          <a:ext cx="1660525" cy="27432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4717" name="Rectangle 26"/>
          <p:cNvSpPr>
            <a:spLocks noChangeArrowheads="1"/>
          </p:cNvSpPr>
          <p:nvPr/>
        </p:nvSpPr>
        <p:spPr bwMode="auto">
          <a:xfrm>
            <a:off x="6721475" y="381000"/>
            <a:ext cx="1660525" cy="2740025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cxnSp>
        <p:nvCxnSpPr>
          <p:cNvPr id="114718" name="Straight Connector 2"/>
          <p:cNvCxnSpPr>
            <a:cxnSpLocks noChangeShapeType="1"/>
          </p:cNvCxnSpPr>
          <p:nvPr/>
        </p:nvCxnSpPr>
        <p:spPr bwMode="auto">
          <a:xfrm flipV="1">
            <a:off x="6019800" y="3121025"/>
            <a:ext cx="2895600" cy="3175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14719" name="Group 27"/>
          <p:cNvGrpSpPr>
            <a:grpSpLocks/>
          </p:cNvGrpSpPr>
          <p:nvPr/>
        </p:nvGrpSpPr>
        <p:grpSpPr bwMode="auto">
          <a:xfrm>
            <a:off x="5470525" y="447675"/>
            <a:ext cx="1250950" cy="2905125"/>
            <a:chOff x="3686" y="1174"/>
            <a:chExt cx="788" cy="1830"/>
          </a:xfrm>
        </p:grpSpPr>
        <p:sp>
          <p:nvSpPr>
            <p:cNvPr id="114720" name="Text Box 16"/>
            <p:cNvSpPr txBox="1">
              <a:spLocks noChangeArrowheads="1"/>
            </p:cNvSpPr>
            <p:nvPr/>
          </p:nvSpPr>
          <p:spPr bwMode="auto">
            <a:xfrm>
              <a:off x="3686" y="1174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14721" name="Text Box 17"/>
            <p:cNvSpPr txBox="1">
              <a:spLocks noChangeArrowheads="1"/>
            </p:cNvSpPr>
            <p:nvPr/>
          </p:nvSpPr>
          <p:spPr bwMode="auto">
            <a:xfrm>
              <a:off x="3696" y="2713"/>
              <a:ext cx="580" cy="2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14722" name="Line 18"/>
            <p:cNvSpPr>
              <a:spLocks noChangeShapeType="1"/>
            </p:cNvSpPr>
            <p:nvPr/>
          </p:nvSpPr>
          <p:spPr bwMode="auto">
            <a:xfrm>
              <a:off x="4224" y="134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4723" name="Line 19"/>
            <p:cNvSpPr>
              <a:spLocks noChangeShapeType="1"/>
            </p:cNvSpPr>
            <p:nvPr/>
          </p:nvSpPr>
          <p:spPr bwMode="auto">
            <a:xfrm>
              <a:off x="4224" y="2858"/>
              <a:ext cx="250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6721475" y="0"/>
            <a:ext cx="1660525" cy="68580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Group 28"/>
          <p:cNvGraphicFramePr>
            <a:graphicFrameLocks noGrp="1"/>
          </p:cNvGraphicFramePr>
          <p:nvPr/>
        </p:nvGraphicFramePr>
        <p:xfrm>
          <a:off x="6721475" y="1981200"/>
          <a:ext cx="1660525" cy="762028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(n~1)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67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5C4A03-0E2A-584D-A288-2FA49BA5D2DD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16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Put it Together</a:t>
            </a:r>
          </a:p>
        </p:txBody>
      </p:sp>
      <p:sp>
        <p:nvSpPr>
          <p:cNvPr id="1167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419600"/>
          </a:xfrm>
        </p:spPr>
        <p:txBody>
          <a:bodyPr/>
          <a:lstStyle/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4. </a:t>
            </a:r>
            <a:r>
              <a:rPr lang="en-US" altLang="zh-CN">
                <a:ea typeface="宋体" charset="-122"/>
              </a:rPr>
              <a:t>Save caller %ebp</a:t>
            </a:r>
          </a:p>
        </p:txBody>
      </p:sp>
      <p:graphicFrame>
        <p:nvGraphicFramePr>
          <p:cNvPr id="5" name="Group 28"/>
          <p:cNvGraphicFramePr>
            <a:graphicFrameLocks noGrp="1"/>
          </p:cNvGraphicFramePr>
          <p:nvPr/>
        </p:nvGraphicFramePr>
        <p:xfrm>
          <a:off x="6721475" y="1355725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caller-save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28"/>
          <p:cNvGraphicFramePr>
            <a:graphicFrameLocks noGrp="1"/>
          </p:cNvGraphicFramePr>
          <p:nvPr/>
        </p:nvGraphicFramePr>
        <p:xfrm>
          <a:off x="6721475" y="3124200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%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28"/>
          <p:cNvGraphicFramePr>
            <a:graphicFrameLocks noGrp="1"/>
          </p:cNvGraphicFramePr>
          <p:nvPr/>
        </p:nvGraphicFramePr>
        <p:xfrm>
          <a:off x="6721475" y="27273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Group 28"/>
          <p:cNvGraphicFramePr>
            <a:graphicFrameLocks noGrp="1"/>
          </p:cNvGraphicFramePr>
          <p:nvPr/>
        </p:nvGraphicFramePr>
        <p:xfrm>
          <a:off x="6721475" y="381000"/>
          <a:ext cx="1660525" cy="27432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6771" name="Rectangle 26"/>
          <p:cNvSpPr>
            <a:spLocks noChangeArrowheads="1"/>
          </p:cNvSpPr>
          <p:nvPr/>
        </p:nvSpPr>
        <p:spPr bwMode="auto">
          <a:xfrm>
            <a:off x="6721475" y="381000"/>
            <a:ext cx="1660525" cy="2740025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16772" name="Rectangle 13"/>
          <p:cNvSpPr>
            <a:spLocks noChangeArrowheads="1"/>
          </p:cNvSpPr>
          <p:nvPr/>
        </p:nvSpPr>
        <p:spPr bwMode="auto">
          <a:xfrm>
            <a:off x="6721475" y="3124200"/>
            <a:ext cx="1660525" cy="381000"/>
          </a:xfrm>
          <a:prstGeom prst="rect">
            <a:avLst/>
          </a:prstGeom>
          <a:solidFill>
            <a:srgbClr val="FFCCFF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cxnSp>
        <p:nvCxnSpPr>
          <p:cNvPr id="116773" name="Straight Connector 14"/>
          <p:cNvCxnSpPr>
            <a:cxnSpLocks noChangeShapeType="1"/>
          </p:cNvCxnSpPr>
          <p:nvPr/>
        </p:nvCxnSpPr>
        <p:spPr bwMode="auto">
          <a:xfrm flipV="1">
            <a:off x="6019800" y="3121025"/>
            <a:ext cx="2895600" cy="3175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16774" name="Group 27"/>
          <p:cNvGrpSpPr>
            <a:grpSpLocks/>
          </p:cNvGrpSpPr>
          <p:nvPr/>
        </p:nvGrpSpPr>
        <p:grpSpPr bwMode="auto">
          <a:xfrm>
            <a:off x="5470525" y="300038"/>
            <a:ext cx="1311275" cy="3433762"/>
            <a:chOff x="3686" y="1174"/>
            <a:chExt cx="788" cy="2022"/>
          </a:xfrm>
        </p:grpSpPr>
        <p:sp>
          <p:nvSpPr>
            <p:cNvPr id="116776" name="Text Box 16"/>
            <p:cNvSpPr txBox="1">
              <a:spLocks noChangeArrowheads="1"/>
            </p:cNvSpPr>
            <p:nvPr/>
          </p:nvSpPr>
          <p:spPr bwMode="auto">
            <a:xfrm>
              <a:off x="3686" y="1174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16777" name="Text Box 17"/>
            <p:cNvSpPr txBox="1">
              <a:spLocks noChangeArrowheads="1"/>
            </p:cNvSpPr>
            <p:nvPr/>
          </p:nvSpPr>
          <p:spPr bwMode="auto">
            <a:xfrm>
              <a:off x="3696" y="2905"/>
              <a:ext cx="5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16778" name="Line 18"/>
            <p:cNvSpPr>
              <a:spLocks noChangeShapeType="1"/>
            </p:cNvSpPr>
            <p:nvPr/>
          </p:nvSpPr>
          <p:spPr bwMode="auto">
            <a:xfrm>
              <a:off x="4224" y="134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6779" name="Line 19"/>
            <p:cNvSpPr>
              <a:spLocks noChangeShapeType="1"/>
            </p:cNvSpPr>
            <p:nvPr/>
          </p:nvSpPr>
          <p:spPr bwMode="auto">
            <a:xfrm>
              <a:off x="4224" y="3050"/>
              <a:ext cx="250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9" name="弧形 18"/>
          <p:cNvSpPr/>
          <p:nvPr/>
        </p:nvSpPr>
        <p:spPr bwMode="auto">
          <a:xfrm>
            <a:off x="8001000" y="609600"/>
            <a:ext cx="990600" cy="2743200"/>
          </a:xfrm>
          <a:prstGeom prst="arc">
            <a:avLst>
              <a:gd name="adj1" fmla="val 16200009"/>
              <a:gd name="adj2" fmla="val 550624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6721475" y="0"/>
            <a:ext cx="1660525" cy="68580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Group 28"/>
          <p:cNvGraphicFramePr>
            <a:graphicFrameLocks noGrp="1"/>
          </p:cNvGraphicFramePr>
          <p:nvPr/>
        </p:nvGraphicFramePr>
        <p:xfrm>
          <a:off x="6721475" y="1981200"/>
          <a:ext cx="1660525" cy="762028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(n~1)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87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EF42A2-DB23-D046-B613-CC25A813730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187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Put it Together</a:t>
            </a:r>
          </a:p>
        </p:txBody>
      </p:sp>
      <p:sp>
        <p:nvSpPr>
          <p:cNvPr id="118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419600"/>
          </a:xfrm>
        </p:spPr>
        <p:txBody>
          <a:bodyPr/>
          <a:lstStyle/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4. </a:t>
            </a:r>
            <a:r>
              <a:rPr lang="en-US" altLang="zh-CN">
                <a:ea typeface="宋体" charset="-122"/>
              </a:rPr>
              <a:t>Save caller %ebp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5. </a:t>
            </a:r>
            <a:r>
              <a:rPr lang="en-US" altLang="zh-CN">
                <a:ea typeface="宋体" charset="-122"/>
              </a:rPr>
              <a:t>Set callee %ebp</a:t>
            </a:r>
          </a:p>
          <a:p>
            <a:pPr marL="0" indent="0">
              <a:lnSpc>
                <a:spcPct val="140000"/>
              </a:lnSpc>
              <a:buFontTx/>
              <a:buNone/>
            </a:pPr>
            <a:endParaRPr lang="en-US" altLang="zh-CN">
              <a:ea typeface="宋体" charset="-122"/>
            </a:endParaRPr>
          </a:p>
        </p:txBody>
      </p:sp>
      <p:graphicFrame>
        <p:nvGraphicFramePr>
          <p:cNvPr id="5" name="Group 28"/>
          <p:cNvGraphicFramePr>
            <a:graphicFrameLocks noGrp="1"/>
          </p:cNvGraphicFramePr>
          <p:nvPr/>
        </p:nvGraphicFramePr>
        <p:xfrm>
          <a:off x="6721475" y="1355725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caller-save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28"/>
          <p:cNvGraphicFramePr>
            <a:graphicFrameLocks noGrp="1"/>
          </p:cNvGraphicFramePr>
          <p:nvPr/>
        </p:nvGraphicFramePr>
        <p:xfrm>
          <a:off x="6721475" y="3124200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28"/>
          <p:cNvGraphicFramePr>
            <a:graphicFrameLocks noGrp="1"/>
          </p:cNvGraphicFramePr>
          <p:nvPr/>
        </p:nvGraphicFramePr>
        <p:xfrm>
          <a:off x="6721475" y="27273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Group 28"/>
          <p:cNvGraphicFramePr>
            <a:graphicFrameLocks noGrp="1"/>
          </p:cNvGraphicFramePr>
          <p:nvPr/>
        </p:nvGraphicFramePr>
        <p:xfrm>
          <a:off x="6721475" y="381000"/>
          <a:ext cx="1660525" cy="27432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8819" name="Rectangle 26"/>
          <p:cNvSpPr>
            <a:spLocks noChangeArrowheads="1"/>
          </p:cNvSpPr>
          <p:nvPr/>
        </p:nvSpPr>
        <p:spPr bwMode="auto">
          <a:xfrm>
            <a:off x="6721475" y="381000"/>
            <a:ext cx="1660525" cy="2740025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18820" name="Rectangle 13"/>
          <p:cNvSpPr>
            <a:spLocks noChangeArrowheads="1"/>
          </p:cNvSpPr>
          <p:nvPr/>
        </p:nvSpPr>
        <p:spPr bwMode="auto">
          <a:xfrm>
            <a:off x="6721475" y="3124200"/>
            <a:ext cx="1660525" cy="381000"/>
          </a:xfrm>
          <a:prstGeom prst="rect">
            <a:avLst/>
          </a:prstGeom>
          <a:solidFill>
            <a:srgbClr val="FFCCFF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cxnSp>
        <p:nvCxnSpPr>
          <p:cNvPr id="118821" name="Straight Connector 14"/>
          <p:cNvCxnSpPr>
            <a:cxnSpLocks noChangeShapeType="1"/>
          </p:cNvCxnSpPr>
          <p:nvPr/>
        </p:nvCxnSpPr>
        <p:spPr bwMode="auto">
          <a:xfrm flipV="1">
            <a:off x="6019800" y="3121025"/>
            <a:ext cx="2895600" cy="3175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18822" name="Group 27"/>
          <p:cNvGrpSpPr>
            <a:grpSpLocks/>
          </p:cNvGrpSpPr>
          <p:nvPr/>
        </p:nvGrpSpPr>
        <p:grpSpPr bwMode="auto">
          <a:xfrm>
            <a:off x="4392613" y="3276600"/>
            <a:ext cx="2301875" cy="461963"/>
            <a:chOff x="3024" y="2905"/>
            <a:chExt cx="1450" cy="291"/>
          </a:xfrm>
        </p:grpSpPr>
        <p:sp>
          <p:nvSpPr>
            <p:cNvPr id="118824" name="Text Box 16"/>
            <p:cNvSpPr txBox="1">
              <a:spLocks noChangeArrowheads="1"/>
            </p:cNvSpPr>
            <p:nvPr/>
          </p:nvSpPr>
          <p:spPr bwMode="auto">
            <a:xfrm>
              <a:off x="3024" y="2905"/>
              <a:ext cx="68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 /</a:t>
              </a:r>
            </a:p>
          </p:txBody>
        </p:sp>
        <p:sp>
          <p:nvSpPr>
            <p:cNvPr id="118825" name="Text Box 17"/>
            <p:cNvSpPr txBox="1">
              <a:spLocks noChangeArrowheads="1"/>
            </p:cNvSpPr>
            <p:nvPr/>
          </p:nvSpPr>
          <p:spPr bwMode="auto">
            <a:xfrm>
              <a:off x="3696" y="2905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18826" name="Line 19"/>
            <p:cNvSpPr>
              <a:spLocks noChangeShapeType="1"/>
            </p:cNvSpPr>
            <p:nvPr/>
          </p:nvSpPr>
          <p:spPr bwMode="auto">
            <a:xfrm>
              <a:off x="4253" y="3049"/>
              <a:ext cx="2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8" name="弧形 17"/>
          <p:cNvSpPr/>
          <p:nvPr/>
        </p:nvSpPr>
        <p:spPr bwMode="auto">
          <a:xfrm>
            <a:off x="8001000" y="609600"/>
            <a:ext cx="990600" cy="2743200"/>
          </a:xfrm>
          <a:prstGeom prst="arc">
            <a:avLst>
              <a:gd name="adj1" fmla="val 16200009"/>
              <a:gd name="adj2" fmla="val 550624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6721475" y="0"/>
            <a:ext cx="1660525" cy="68580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Group 28"/>
          <p:cNvGraphicFramePr>
            <a:graphicFrameLocks noGrp="1"/>
          </p:cNvGraphicFramePr>
          <p:nvPr/>
        </p:nvGraphicFramePr>
        <p:xfrm>
          <a:off x="6721475" y="1981200"/>
          <a:ext cx="1660525" cy="762028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(n~1)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08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2E09B7-369E-9149-928F-A9CF0DEC11A6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20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Put it Together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419600"/>
          </a:xfrm>
        </p:spPr>
        <p:txBody>
          <a:bodyPr/>
          <a:lstStyle/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4. </a:t>
            </a:r>
            <a:r>
              <a:rPr lang="en-US" altLang="zh-CN" dirty="0">
                <a:ea typeface="宋体" pitchFamily="2" charset="-122"/>
              </a:rPr>
              <a:t>Save caller %</a:t>
            </a:r>
            <a:r>
              <a:rPr lang="en-US" altLang="zh-CN" dirty="0" err="1">
                <a:ea typeface="宋体" pitchFamily="2" charset="-122"/>
              </a:rPr>
              <a:t>ebp</a:t>
            </a:r>
            <a:endParaRPr lang="en-US" altLang="zh-CN" dirty="0">
              <a:ea typeface="宋体" pitchFamily="2" charset="-122"/>
            </a:endParaRP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5. </a:t>
            </a:r>
            <a:r>
              <a:rPr lang="en-US" altLang="zh-CN" dirty="0">
                <a:ea typeface="宋体" pitchFamily="2" charset="-122"/>
              </a:rPr>
              <a:t>Set </a:t>
            </a:r>
            <a:r>
              <a:rPr lang="en-US" altLang="zh-CN" dirty="0" err="1">
                <a:ea typeface="宋体" pitchFamily="2" charset="-122"/>
              </a:rPr>
              <a:t>callee</a:t>
            </a:r>
            <a:r>
              <a:rPr lang="en-US" altLang="zh-CN" dirty="0">
                <a:ea typeface="宋体" pitchFamily="2" charset="-122"/>
              </a:rPr>
              <a:t> %</a:t>
            </a:r>
            <a:r>
              <a:rPr lang="en-US" altLang="zh-CN" dirty="0" err="1">
                <a:ea typeface="宋体" pitchFamily="2" charset="-122"/>
              </a:rPr>
              <a:t>ebp</a:t>
            </a:r>
            <a:endParaRPr lang="en-US" altLang="zh-CN" dirty="0">
              <a:ea typeface="宋体" pitchFamily="2" charset="-122"/>
            </a:endParaRPr>
          </a:p>
          <a:p>
            <a:pPr marL="450850" indent="-45085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6. </a:t>
            </a:r>
            <a:r>
              <a:rPr lang="en-US" altLang="zh-CN" dirty="0">
                <a:solidFill>
                  <a:srgbClr val="000000"/>
                </a:solidFill>
                <a:ea typeface="宋体" pitchFamily="2" charset="-122"/>
              </a:rPr>
              <a:t>Save </a:t>
            </a:r>
            <a:r>
              <a:rPr lang="en-US" altLang="zh-CN" dirty="0" err="1">
                <a:solidFill>
                  <a:srgbClr val="000000"/>
                </a:solidFill>
                <a:ea typeface="宋体" pitchFamily="2" charset="-122"/>
              </a:rPr>
              <a:t>callee</a:t>
            </a:r>
            <a:r>
              <a:rPr lang="en-US" altLang="zh-CN" dirty="0">
                <a:solidFill>
                  <a:srgbClr val="000000"/>
                </a:solidFill>
                <a:ea typeface="宋体" pitchFamily="2" charset="-122"/>
              </a:rPr>
              <a:t>-save registers </a:t>
            </a:r>
            <a:br>
              <a:rPr lang="en-US" altLang="zh-CN" dirty="0">
                <a:solidFill>
                  <a:srgbClr val="000000"/>
                </a:solidFill>
                <a:ea typeface="宋体" pitchFamily="2" charset="-122"/>
              </a:rPr>
            </a:br>
            <a:r>
              <a:rPr lang="en-US" altLang="zh-CN" dirty="0">
                <a:solidFill>
                  <a:srgbClr val="000000"/>
                </a:solidFill>
                <a:ea typeface="宋体" pitchFamily="2" charset="-122"/>
              </a:rPr>
              <a:t>(%</a:t>
            </a:r>
            <a:r>
              <a:rPr lang="en-US" altLang="zh-CN" dirty="0" err="1">
                <a:solidFill>
                  <a:srgbClr val="000000"/>
                </a:solidFill>
                <a:ea typeface="宋体" pitchFamily="2" charset="-122"/>
              </a:rPr>
              <a:t>rbx</a:t>
            </a:r>
            <a:r>
              <a:rPr lang="en-US" altLang="zh-CN" dirty="0">
                <a:solidFill>
                  <a:srgbClr val="000000"/>
                </a:solidFill>
                <a:ea typeface="宋体" pitchFamily="2" charset="-122"/>
              </a:rPr>
              <a:t>, %</a:t>
            </a:r>
            <a:r>
              <a:rPr lang="en-US" altLang="zh-CN" dirty="0" err="1">
                <a:solidFill>
                  <a:srgbClr val="000000"/>
                </a:solidFill>
                <a:ea typeface="宋体" pitchFamily="2" charset="-122"/>
              </a:rPr>
              <a:t>rbp</a:t>
            </a:r>
            <a:r>
              <a:rPr lang="en-US" altLang="zh-CN" dirty="0">
                <a:solidFill>
                  <a:srgbClr val="000000"/>
                </a:solidFill>
                <a:ea typeface="宋体" pitchFamily="2" charset="-122"/>
              </a:rPr>
              <a:t>, %r12~15)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graphicFrame>
        <p:nvGraphicFramePr>
          <p:cNvPr id="5" name="Group 28"/>
          <p:cNvGraphicFramePr>
            <a:graphicFrameLocks noGrp="1"/>
          </p:cNvGraphicFramePr>
          <p:nvPr/>
        </p:nvGraphicFramePr>
        <p:xfrm>
          <a:off x="6721475" y="1355725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caller-save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28"/>
          <p:cNvGraphicFramePr>
            <a:graphicFrameLocks noGrp="1"/>
          </p:cNvGraphicFramePr>
          <p:nvPr/>
        </p:nvGraphicFramePr>
        <p:xfrm>
          <a:off x="6721475" y="3124200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28"/>
          <p:cNvGraphicFramePr>
            <a:graphicFrameLocks noGrp="1"/>
          </p:cNvGraphicFramePr>
          <p:nvPr/>
        </p:nvGraphicFramePr>
        <p:xfrm>
          <a:off x="6721475" y="27273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Group 28"/>
          <p:cNvGraphicFramePr>
            <a:graphicFrameLocks noGrp="1"/>
          </p:cNvGraphicFramePr>
          <p:nvPr/>
        </p:nvGraphicFramePr>
        <p:xfrm>
          <a:off x="6721475" y="381000"/>
          <a:ext cx="1660525" cy="27432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0867" name="Rectangle 26"/>
          <p:cNvSpPr>
            <a:spLocks noChangeArrowheads="1"/>
          </p:cNvSpPr>
          <p:nvPr/>
        </p:nvSpPr>
        <p:spPr bwMode="auto">
          <a:xfrm>
            <a:off x="6721475" y="381000"/>
            <a:ext cx="1660525" cy="2740025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graphicFrame>
        <p:nvGraphicFramePr>
          <p:cNvPr id="12" name="Group 28"/>
          <p:cNvGraphicFramePr>
            <a:graphicFrameLocks noGrp="1"/>
          </p:cNvGraphicFramePr>
          <p:nvPr/>
        </p:nvGraphicFramePr>
        <p:xfrm>
          <a:off x="6721475" y="3505200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callee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0874" name="Rectangle 13"/>
          <p:cNvSpPr>
            <a:spLocks noChangeArrowheads="1"/>
          </p:cNvSpPr>
          <p:nvPr/>
        </p:nvSpPr>
        <p:spPr bwMode="auto">
          <a:xfrm>
            <a:off x="6721475" y="3124200"/>
            <a:ext cx="1660525" cy="1066800"/>
          </a:xfrm>
          <a:prstGeom prst="rect">
            <a:avLst/>
          </a:prstGeom>
          <a:solidFill>
            <a:srgbClr val="FFCCFF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cxnSp>
        <p:nvCxnSpPr>
          <p:cNvPr id="120875" name="Straight Connector 14"/>
          <p:cNvCxnSpPr>
            <a:cxnSpLocks noChangeShapeType="1"/>
          </p:cNvCxnSpPr>
          <p:nvPr/>
        </p:nvCxnSpPr>
        <p:spPr bwMode="auto">
          <a:xfrm flipV="1">
            <a:off x="6019800" y="3121025"/>
            <a:ext cx="2895600" cy="3175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0876" name="Group 27"/>
          <p:cNvGrpSpPr>
            <a:grpSpLocks/>
          </p:cNvGrpSpPr>
          <p:nvPr/>
        </p:nvGrpSpPr>
        <p:grpSpPr bwMode="auto">
          <a:xfrm>
            <a:off x="5470525" y="3195638"/>
            <a:ext cx="1250950" cy="1223962"/>
            <a:chOff x="3686" y="2905"/>
            <a:chExt cx="788" cy="771"/>
          </a:xfrm>
        </p:grpSpPr>
        <p:sp>
          <p:nvSpPr>
            <p:cNvPr id="120877" name="Text Box 16"/>
            <p:cNvSpPr txBox="1">
              <a:spLocks noChangeArrowheads="1"/>
            </p:cNvSpPr>
            <p:nvPr/>
          </p:nvSpPr>
          <p:spPr bwMode="auto">
            <a:xfrm>
              <a:off x="3686" y="2905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20878" name="Text Box 17"/>
            <p:cNvSpPr txBox="1">
              <a:spLocks noChangeArrowheads="1"/>
            </p:cNvSpPr>
            <p:nvPr/>
          </p:nvSpPr>
          <p:spPr bwMode="auto">
            <a:xfrm>
              <a:off x="3696" y="3385"/>
              <a:ext cx="5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20879" name="Line 18"/>
            <p:cNvSpPr>
              <a:spLocks noChangeShapeType="1"/>
            </p:cNvSpPr>
            <p:nvPr/>
          </p:nvSpPr>
          <p:spPr bwMode="auto">
            <a:xfrm>
              <a:off x="4224" y="304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0880" name="Line 19"/>
            <p:cNvSpPr>
              <a:spLocks noChangeShapeType="1"/>
            </p:cNvSpPr>
            <p:nvPr/>
          </p:nvSpPr>
          <p:spPr bwMode="auto">
            <a:xfrm>
              <a:off x="4224" y="3530"/>
              <a:ext cx="250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6721475" y="0"/>
            <a:ext cx="1660525" cy="68580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Group 28"/>
          <p:cNvGraphicFramePr>
            <a:graphicFrameLocks noGrp="1"/>
          </p:cNvGraphicFramePr>
          <p:nvPr/>
        </p:nvGraphicFramePr>
        <p:xfrm>
          <a:off x="6721475" y="1981200"/>
          <a:ext cx="1660525" cy="762028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(n~1)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28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38A3CC-6172-654E-887E-3C61F9DE8A0D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228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Put it Together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419600"/>
          </a:xfrm>
        </p:spPr>
        <p:txBody>
          <a:bodyPr/>
          <a:lstStyle/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4. </a:t>
            </a:r>
            <a:r>
              <a:rPr lang="en-US" altLang="zh-CN" dirty="0">
                <a:ea typeface="宋体" pitchFamily="2" charset="-122"/>
              </a:rPr>
              <a:t>Save caller %</a:t>
            </a:r>
            <a:r>
              <a:rPr lang="en-US" altLang="zh-CN" dirty="0" err="1">
                <a:ea typeface="宋体" pitchFamily="2" charset="-122"/>
              </a:rPr>
              <a:t>ebp</a:t>
            </a:r>
            <a:endParaRPr lang="en-US" altLang="zh-CN" dirty="0">
              <a:ea typeface="宋体" pitchFamily="2" charset="-122"/>
            </a:endParaRP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5. </a:t>
            </a:r>
            <a:r>
              <a:rPr lang="en-US" altLang="zh-CN" dirty="0">
                <a:ea typeface="宋体" pitchFamily="2" charset="-122"/>
              </a:rPr>
              <a:t>Set </a:t>
            </a:r>
            <a:r>
              <a:rPr lang="en-US" altLang="zh-CN" dirty="0" err="1">
                <a:ea typeface="宋体" pitchFamily="2" charset="-122"/>
              </a:rPr>
              <a:t>callee</a:t>
            </a:r>
            <a:r>
              <a:rPr lang="en-US" altLang="zh-CN" dirty="0">
                <a:ea typeface="宋体" pitchFamily="2" charset="-122"/>
              </a:rPr>
              <a:t> %</a:t>
            </a:r>
            <a:r>
              <a:rPr lang="en-US" altLang="zh-CN" dirty="0" err="1">
                <a:ea typeface="宋体" pitchFamily="2" charset="-122"/>
              </a:rPr>
              <a:t>ebp</a:t>
            </a:r>
            <a:endParaRPr lang="en-US" altLang="zh-CN" dirty="0">
              <a:ea typeface="宋体" pitchFamily="2" charset="-122"/>
            </a:endParaRPr>
          </a:p>
          <a:p>
            <a:pPr marL="450850" indent="-45085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6. </a:t>
            </a:r>
            <a:r>
              <a:rPr lang="en-US" altLang="zh-CN" dirty="0">
                <a:ea typeface="宋体" pitchFamily="2" charset="-122"/>
              </a:rPr>
              <a:t>Save </a:t>
            </a:r>
            <a:r>
              <a:rPr lang="en-US" altLang="zh-CN" dirty="0" err="1">
                <a:ea typeface="宋体" pitchFamily="2" charset="-122"/>
              </a:rPr>
              <a:t>callee</a:t>
            </a:r>
            <a:r>
              <a:rPr lang="en-US" altLang="zh-CN" dirty="0">
                <a:ea typeface="宋体" pitchFamily="2" charset="-122"/>
              </a:rPr>
              <a:t>-save registers 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solidFill>
                  <a:srgbClr val="000000"/>
                </a:solidFill>
                <a:ea typeface="宋体" pitchFamily="2" charset="-122"/>
              </a:rPr>
              <a:t> (%</a:t>
            </a:r>
            <a:r>
              <a:rPr lang="en-US" altLang="zh-CN" dirty="0" err="1">
                <a:solidFill>
                  <a:srgbClr val="000000"/>
                </a:solidFill>
                <a:ea typeface="宋体" pitchFamily="2" charset="-122"/>
              </a:rPr>
              <a:t>rbx</a:t>
            </a:r>
            <a:r>
              <a:rPr lang="en-US" altLang="zh-CN" dirty="0">
                <a:solidFill>
                  <a:srgbClr val="000000"/>
                </a:solidFill>
                <a:ea typeface="宋体" pitchFamily="2" charset="-122"/>
              </a:rPr>
              <a:t>, %</a:t>
            </a:r>
            <a:r>
              <a:rPr lang="en-US" altLang="zh-CN" dirty="0" err="1">
                <a:solidFill>
                  <a:srgbClr val="000000"/>
                </a:solidFill>
                <a:ea typeface="宋体" pitchFamily="2" charset="-122"/>
              </a:rPr>
              <a:t>rbp</a:t>
            </a:r>
            <a:r>
              <a:rPr lang="en-US" altLang="zh-CN" dirty="0">
                <a:solidFill>
                  <a:srgbClr val="000000"/>
                </a:solidFill>
                <a:ea typeface="宋体" pitchFamily="2" charset="-122"/>
              </a:rPr>
              <a:t>, %r12~15)</a:t>
            </a:r>
            <a:endParaRPr lang="en-US" altLang="zh-CN" dirty="0">
              <a:ea typeface="宋体" pitchFamily="2" charset="-122"/>
            </a:endParaRPr>
          </a:p>
          <a:p>
            <a:pPr marL="450850" indent="-450850">
              <a:lnSpc>
                <a:spcPct val="140000"/>
              </a:lnSpc>
              <a:buFontTx/>
              <a:buNone/>
              <a:defRPr/>
            </a:pPr>
            <a:r>
              <a:rPr lang="en-US" altLang="zh-CN" dirty="0">
                <a:solidFill>
                  <a:srgbClr val="0000FF"/>
                </a:solidFill>
                <a:ea typeface="宋体" pitchFamily="2" charset="-122"/>
              </a:rPr>
              <a:t>7. </a:t>
            </a:r>
            <a:r>
              <a:rPr lang="en-US" altLang="zh-CN" dirty="0">
                <a:ea typeface="宋体" pitchFamily="2" charset="-122"/>
              </a:rPr>
              <a:t>Allocate space for local 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variable</a:t>
            </a:r>
          </a:p>
          <a:p>
            <a:pPr marL="450850" indent="-450850">
              <a:lnSpc>
                <a:spcPct val="140000"/>
              </a:lnSpc>
              <a:buFontTx/>
              <a:buNone/>
              <a:defRPr/>
            </a:pPr>
            <a:endParaRPr lang="en-US" altLang="zh-CN" dirty="0">
              <a:ea typeface="宋体" pitchFamily="2" charset="-122"/>
            </a:endParaRPr>
          </a:p>
        </p:txBody>
      </p:sp>
      <p:graphicFrame>
        <p:nvGraphicFramePr>
          <p:cNvPr id="5" name="Group 28"/>
          <p:cNvGraphicFramePr>
            <a:graphicFrameLocks noGrp="1"/>
          </p:cNvGraphicFramePr>
          <p:nvPr/>
        </p:nvGraphicFramePr>
        <p:xfrm>
          <a:off x="6721475" y="1355725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caller-save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28"/>
          <p:cNvGraphicFramePr>
            <a:graphicFrameLocks noGrp="1"/>
          </p:cNvGraphicFramePr>
          <p:nvPr/>
        </p:nvGraphicFramePr>
        <p:xfrm>
          <a:off x="6721475" y="3124200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28"/>
          <p:cNvGraphicFramePr>
            <a:graphicFrameLocks noGrp="1"/>
          </p:cNvGraphicFramePr>
          <p:nvPr/>
        </p:nvGraphicFramePr>
        <p:xfrm>
          <a:off x="6721475" y="27273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Group 28"/>
          <p:cNvGraphicFramePr>
            <a:graphicFrameLocks noGrp="1"/>
          </p:cNvGraphicFramePr>
          <p:nvPr/>
        </p:nvGraphicFramePr>
        <p:xfrm>
          <a:off x="6721475" y="381000"/>
          <a:ext cx="1660525" cy="27432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2915" name="Rectangle 26"/>
          <p:cNvSpPr>
            <a:spLocks noChangeArrowheads="1"/>
          </p:cNvSpPr>
          <p:nvPr/>
        </p:nvSpPr>
        <p:spPr bwMode="auto">
          <a:xfrm>
            <a:off x="6721475" y="381000"/>
            <a:ext cx="1660525" cy="2740025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graphicFrame>
        <p:nvGraphicFramePr>
          <p:cNvPr id="12" name="Group 28"/>
          <p:cNvGraphicFramePr>
            <a:graphicFrameLocks noGrp="1"/>
          </p:cNvGraphicFramePr>
          <p:nvPr/>
        </p:nvGraphicFramePr>
        <p:xfrm>
          <a:off x="6721475" y="3505200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callee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Group 28"/>
          <p:cNvGraphicFramePr>
            <a:graphicFrameLocks noGrp="1"/>
          </p:cNvGraphicFramePr>
          <p:nvPr/>
        </p:nvGraphicFramePr>
        <p:xfrm>
          <a:off x="6721475" y="4191000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local variables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2928" name="Rectangle 13"/>
          <p:cNvSpPr>
            <a:spLocks noChangeArrowheads="1"/>
          </p:cNvSpPr>
          <p:nvPr/>
        </p:nvSpPr>
        <p:spPr bwMode="auto">
          <a:xfrm>
            <a:off x="6721475" y="3124200"/>
            <a:ext cx="1660525" cy="1752600"/>
          </a:xfrm>
          <a:prstGeom prst="rect">
            <a:avLst/>
          </a:prstGeom>
          <a:solidFill>
            <a:srgbClr val="FFCCFF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cxnSp>
        <p:nvCxnSpPr>
          <p:cNvPr id="122929" name="Straight Connector 14"/>
          <p:cNvCxnSpPr>
            <a:cxnSpLocks noChangeShapeType="1"/>
          </p:cNvCxnSpPr>
          <p:nvPr/>
        </p:nvCxnSpPr>
        <p:spPr bwMode="auto">
          <a:xfrm flipV="1">
            <a:off x="6019800" y="3121025"/>
            <a:ext cx="2895600" cy="3175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2930" name="Group 27"/>
          <p:cNvGrpSpPr>
            <a:grpSpLocks/>
          </p:cNvGrpSpPr>
          <p:nvPr/>
        </p:nvGrpSpPr>
        <p:grpSpPr bwMode="auto">
          <a:xfrm>
            <a:off x="5470525" y="3200400"/>
            <a:ext cx="1250950" cy="1905000"/>
            <a:chOff x="3686" y="2905"/>
            <a:chExt cx="788" cy="1200"/>
          </a:xfrm>
        </p:grpSpPr>
        <p:sp>
          <p:nvSpPr>
            <p:cNvPr id="122932" name="Text Box 16"/>
            <p:cNvSpPr txBox="1">
              <a:spLocks noChangeArrowheads="1"/>
            </p:cNvSpPr>
            <p:nvPr/>
          </p:nvSpPr>
          <p:spPr bwMode="auto">
            <a:xfrm>
              <a:off x="3686" y="2905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22933" name="Text Box 17"/>
            <p:cNvSpPr txBox="1">
              <a:spLocks noChangeArrowheads="1"/>
            </p:cNvSpPr>
            <p:nvPr/>
          </p:nvSpPr>
          <p:spPr bwMode="auto">
            <a:xfrm>
              <a:off x="3696" y="3814"/>
              <a:ext cx="5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22934" name="Line 18"/>
            <p:cNvSpPr>
              <a:spLocks noChangeShapeType="1"/>
            </p:cNvSpPr>
            <p:nvPr/>
          </p:nvSpPr>
          <p:spPr bwMode="auto">
            <a:xfrm>
              <a:off x="4224" y="304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2935" name="Line 19"/>
            <p:cNvSpPr>
              <a:spLocks noChangeShapeType="1"/>
            </p:cNvSpPr>
            <p:nvPr/>
          </p:nvSpPr>
          <p:spPr bwMode="auto">
            <a:xfrm>
              <a:off x="4224" y="3959"/>
              <a:ext cx="250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1" name="弧形 20"/>
          <p:cNvSpPr/>
          <p:nvPr/>
        </p:nvSpPr>
        <p:spPr bwMode="auto">
          <a:xfrm>
            <a:off x="8001000" y="609600"/>
            <a:ext cx="990600" cy="2743200"/>
          </a:xfrm>
          <a:prstGeom prst="arc">
            <a:avLst>
              <a:gd name="adj1" fmla="val 16200009"/>
              <a:gd name="adj2" fmla="val 550624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6721475" y="0"/>
            <a:ext cx="1660525" cy="68580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54F157-9C83-814C-B199-8ECFB1E6D25E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249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Put it Together</a:t>
            </a:r>
          </a:p>
        </p:txBody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686800" cy="5105400"/>
          </a:xfrm>
        </p:spPr>
        <p:txBody>
          <a:bodyPr/>
          <a:lstStyle/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ea typeface="宋体" charset="-122"/>
              </a:rPr>
              <a:t>. . .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n-4. </a:t>
            </a:r>
            <a:r>
              <a:rPr lang="en-US" altLang="zh-CN">
                <a:ea typeface="宋体" charset="-122"/>
              </a:rPr>
              <a:t>save return value in %eax</a:t>
            </a:r>
          </a:p>
          <a:p>
            <a:pPr marL="0" indent="0">
              <a:lnSpc>
                <a:spcPct val="140000"/>
              </a:lnSpc>
              <a:buFontTx/>
              <a:buNone/>
            </a:pPr>
            <a:endParaRPr lang="en-US" altLang="zh-CN">
              <a:ea typeface="宋体" charset="-122"/>
            </a:endParaRPr>
          </a:p>
        </p:txBody>
      </p:sp>
      <p:graphicFrame>
        <p:nvGraphicFramePr>
          <p:cNvPr id="21" name="Group 28"/>
          <p:cNvGraphicFramePr>
            <a:graphicFrameLocks noGrp="1"/>
          </p:cNvGraphicFramePr>
          <p:nvPr/>
        </p:nvGraphicFramePr>
        <p:xfrm>
          <a:off x="6721475" y="1981200"/>
          <a:ext cx="1660525" cy="762028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(n~1)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Group 28"/>
          <p:cNvGraphicFramePr>
            <a:graphicFrameLocks noGrp="1"/>
          </p:cNvGraphicFramePr>
          <p:nvPr/>
        </p:nvGraphicFramePr>
        <p:xfrm>
          <a:off x="6721475" y="1355725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caller-save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Group 28"/>
          <p:cNvGraphicFramePr>
            <a:graphicFrameLocks noGrp="1"/>
          </p:cNvGraphicFramePr>
          <p:nvPr/>
        </p:nvGraphicFramePr>
        <p:xfrm>
          <a:off x="6721475" y="3124200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Group 28"/>
          <p:cNvGraphicFramePr>
            <a:graphicFrameLocks noGrp="1"/>
          </p:cNvGraphicFramePr>
          <p:nvPr/>
        </p:nvGraphicFramePr>
        <p:xfrm>
          <a:off x="6721475" y="27273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Group 28"/>
          <p:cNvGraphicFramePr>
            <a:graphicFrameLocks noGrp="1"/>
          </p:cNvGraphicFramePr>
          <p:nvPr/>
        </p:nvGraphicFramePr>
        <p:xfrm>
          <a:off x="6721475" y="381000"/>
          <a:ext cx="1660525" cy="27432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4963" name="Rectangle 26"/>
          <p:cNvSpPr>
            <a:spLocks noChangeArrowheads="1"/>
          </p:cNvSpPr>
          <p:nvPr/>
        </p:nvSpPr>
        <p:spPr bwMode="auto">
          <a:xfrm>
            <a:off x="6721475" y="381000"/>
            <a:ext cx="1660525" cy="2740025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graphicFrame>
        <p:nvGraphicFramePr>
          <p:cNvPr id="27" name="Group 28"/>
          <p:cNvGraphicFramePr>
            <a:graphicFrameLocks noGrp="1"/>
          </p:cNvGraphicFramePr>
          <p:nvPr/>
        </p:nvGraphicFramePr>
        <p:xfrm>
          <a:off x="6721475" y="3505200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callee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Group 28"/>
          <p:cNvGraphicFramePr>
            <a:graphicFrameLocks noGrp="1"/>
          </p:cNvGraphicFramePr>
          <p:nvPr/>
        </p:nvGraphicFramePr>
        <p:xfrm>
          <a:off x="6721475" y="4191000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local variables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4976" name="Rectangle 28"/>
          <p:cNvSpPr>
            <a:spLocks noChangeArrowheads="1"/>
          </p:cNvSpPr>
          <p:nvPr/>
        </p:nvSpPr>
        <p:spPr bwMode="auto">
          <a:xfrm>
            <a:off x="6721475" y="3124200"/>
            <a:ext cx="1660525" cy="1752600"/>
          </a:xfrm>
          <a:prstGeom prst="rect">
            <a:avLst/>
          </a:prstGeom>
          <a:solidFill>
            <a:srgbClr val="FFCCFF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cxnSp>
        <p:nvCxnSpPr>
          <p:cNvPr id="124977" name="Straight Connector 29"/>
          <p:cNvCxnSpPr>
            <a:cxnSpLocks noChangeShapeType="1"/>
          </p:cNvCxnSpPr>
          <p:nvPr/>
        </p:nvCxnSpPr>
        <p:spPr bwMode="auto">
          <a:xfrm flipV="1">
            <a:off x="6019800" y="3121025"/>
            <a:ext cx="2895600" cy="3175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4978" name="Group 27"/>
          <p:cNvGrpSpPr>
            <a:grpSpLocks/>
          </p:cNvGrpSpPr>
          <p:nvPr/>
        </p:nvGrpSpPr>
        <p:grpSpPr bwMode="auto">
          <a:xfrm>
            <a:off x="5470525" y="3200400"/>
            <a:ext cx="1250950" cy="1905000"/>
            <a:chOff x="3686" y="2905"/>
            <a:chExt cx="788" cy="1200"/>
          </a:xfrm>
        </p:grpSpPr>
        <p:sp>
          <p:nvSpPr>
            <p:cNvPr id="124980" name="Text Box 16"/>
            <p:cNvSpPr txBox="1">
              <a:spLocks noChangeArrowheads="1"/>
            </p:cNvSpPr>
            <p:nvPr/>
          </p:nvSpPr>
          <p:spPr bwMode="auto">
            <a:xfrm>
              <a:off x="3686" y="2905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24981" name="Text Box 17"/>
            <p:cNvSpPr txBox="1">
              <a:spLocks noChangeArrowheads="1"/>
            </p:cNvSpPr>
            <p:nvPr/>
          </p:nvSpPr>
          <p:spPr bwMode="auto">
            <a:xfrm>
              <a:off x="3696" y="3814"/>
              <a:ext cx="5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24982" name="Line 18"/>
            <p:cNvSpPr>
              <a:spLocks noChangeShapeType="1"/>
            </p:cNvSpPr>
            <p:nvPr/>
          </p:nvSpPr>
          <p:spPr bwMode="auto">
            <a:xfrm>
              <a:off x="4224" y="304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4983" name="Line 19"/>
            <p:cNvSpPr>
              <a:spLocks noChangeShapeType="1"/>
            </p:cNvSpPr>
            <p:nvPr/>
          </p:nvSpPr>
          <p:spPr bwMode="auto">
            <a:xfrm>
              <a:off x="4224" y="3959"/>
              <a:ext cx="250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6" name="弧形 25"/>
          <p:cNvSpPr/>
          <p:nvPr/>
        </p:nvSpPr>
        <p:spPr bwMode="auto">
          <a:xfrm>
            <a:off x="8001000" y="609600"/>
            <a:ext cx="990600" cy="2743200"/>
          </a:xfrm>
          <a:prstGeom prst="arc">
            <a:avLst>
              <a:gd name="adj1" fmla="val 16200009"/>
              <a:gd name="adj2" fmla="val 550624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6721475" y="0"/>
            <a:ext cx="1660525" cy="68580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9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BF7B7C-670A-254A-B8B4-43DCEF7685F2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269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Put it Together</a:t>
            </a:r>
          </a:p>
        </p:txBody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686800" cy="5105400"/>
          </a:xfrm>
        </p:spPr>
        <p:txBody>
          <a:bodyPr/>
          <a:lstStyle/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ea typeface="宋体" charset="-122"/>
              </a:rPr>
              <a:t>. . .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n-4. </a:t>
            </a:r>
            <a:r>
              <a:rPr lang="en-US" altLang="zh-CN">
                <a:ea typeface="宋体" charset="-122"/>
              </a:rPr>
              <a:t>save return value in %eax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n-3. </a:t>
            </a:r>
            <a:r>
              <a:rPr lang="en-US" altLang="zh-CN">
                <a:ea typeface="宋体" charset="-122"/>
              </a:rPr>
              <a:t>de-allocate local variable</a:t>
            </a:r>
          </a:p>
          <a:p>
            <a:pPr marL="0" indent="0">
              <a:lnSpc>
                <a:spcPct val="140000"/>
              </a:lnSpc>
              <a:buFontTx/>
              <a:buNone/>
            </a:pPr>
            <a:endParaRPr lang="en-US" altLang="zh-CN">
              <a:ea typeface="宋体" charset="-122"/>
            </a:endParaRPr>
          </a:p>
        </p:txBody>
      </p:sp>
      <p:graphicFrame>
        <p:nvGraphicFramePr>
          <p:cNvPr id="21" name="Group 28"/>
          <p:cNvGraphicFramePr>
            <a:graphicFrameLocks noGrp="1"/>
          </p:cNvGraphicFramePr>
          <p:nvPr/>
        </p:nvGraphicFramePr>
        <p:xfrm>
          <a:off x="6721475" y="1981200"/>
          <a:ext cx="1660525" cy="762028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(n~1)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Group 28"/>
          <p:cNvGraphicFramePr>
            <a:graphicFrameLocks noGrp="1"/>
          </p:cNvGraphicFramePr>
          <p:nvPr/>
        </p:nvGraphicFramePr>
        <p:xfrm>
          <a:off x="6721475" y="1355725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caller-save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Group 28"/>
          <p:cNvGraphicFramePr>
            <a:graphicFrameLocks noGrp="1"/>
          </p:cNvGraphicFramePr>
          <p:nvPr/>
        </p:nvGraphicFramePr>
        <p:xfrm>
          <a:off x="6721475" y="3124200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Group 28"/>
          <p:cNvGraphicFramePr>
            <a:graphicFrameLocks noGrp="1"/>
          </p:cNvGraphicFramePr>
          <p:nvPr/>
        </p:nvGraphicFramePr>
        <p:xfrm>
          <a:off x="6721475" y="27273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Group 28"/>
          <p:cNvGraphicFramePr>
            <a:graphicFrameLocks noGrp="1"/>
          </p:cNvGraphicFramePr>
          <p:nvPr/>
        </p:nvGraphicFramePr>
        <p:xfrm>
          <a:off x="6721475" y="381000"/>
          <a:ext cx="1660525" cy="27432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7011" name="Rectangle 26"/>
          <p:cNvSpPr>
            <a:spLocks noChangeArrowheads="1"/>
          </p:cNvSpPr>
          <p:nvPr/>
        </p:nvSpPr>
        <p:spPr bwMode="auto">
          <a:xfrm>
            <a:off x="6721475" y="381000"/>
            <a:ext cx="1660525" cy="2740025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graphicFrame>
        <p:nvGraphicFramePr>
          <p:cNvPr id="27" name="Group 28"/>
          <p:cNvGraphicFramePr>
            <a:graphicFrameLocks noGrp="1"/>
          </p:cNvGraphicFramePr>
          <p:nvPr/>
        </p:nvGraphicFramePr>
        <p:xfrm>
          <a:off x="6721475" y="3505200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callee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Group 28"/>
          <p:cNvGraphicFramePr>
            <a:graphicFrameLocks noGrp="1"/>
          </p:cNvGraphicFramePr>
          <p:nvPr/>
        </p:nvGraphicFramePr>
        <p:xfrm>
          <a:off x="6721475" y="4191000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local variables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7024" name="Straight Connector 29"/>
          <p:cNvCxnSpPr>
            <a:cxnSpLocks noChangeShapeType="1"/>
          </p:cNvCxnSpPr>
          <p:nvPr/>
        </p:nvCxnSpPr>
        <p:spPr bwMode="auto">
          <a:xfrm flipV="1">
            <a:off x="6019800" y="3121025"/>
            <a:ext cx="2895600" cy="3175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7025" name="Group 27"/>
          <p:cNvGrpSpPr>
            <a:grpSpLocks/>
          </p:cNvGrpSpPr>
          <p:nvPr/>
        </p:nvGrpSpPr>
        <p:grpSpPr bwMode="auto">
          <a:xfrm>
            <a:off x="5470525" y="3195638"/>
            <a:ext cx="1250950" cy="1223962"/>
            <a:chOff x="3686" y="2905"/>
            <a:chExt cx="788" cy="771"/>
          </a:xfrm>
        </p:grpSpPr>
        <p:sp>
          <p:nvSpPr>
            <p:cNvPr id="127029" name="Text Box 16"/>
            <p:cNvSpPr txBox="1">
              <a:spLocks noChangeArrowheads="1"/>
            </p:cNvSpPr>
            <p:nvPr/>
          </p:nvSpPr>
          <p:spPr bwMode="auto">
            <a:xfrm>
              <a:off x="3686" y="2905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27030" name="Text Box 17"/>
            <p:cNvSpPr txBox="1">
              <a:spLocks noChangeArrowheads="1"/>
            </p:cNvSpPr>
            <p:nvPr/>
          </p:nvSpPr>
          <p:spPr bwMode="auto">
            <a:xfrm>
              <a:off x="3696" y="3385"/>
              <a:ext cx="5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27031" name="Line 18"/>
            <p:cNvSpPr>
              <a:spLocks noChangeShapeType="1"/>
            </p:cNvSpPr>
            <p:nvPr/>
          </p:nvSpPr>
          <p:spPr bwMode="auto">
            <a:xfrm>
              <a:off x="4224" y="304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7032" name="Line 19"/>
            <p:cNvSpPr>
              <a:spLocks noChangeShapeType="1"/>
            </p:cNvSpPr>
            <p:nvPr/>
          </p:nvSpPr>
          <p:spPr bwMode="auto">
            <a:xfrm>
              <a:off x="4224" y="3530"/>
              <a:ext cx="250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6721475" y="4191000"/>
            <a:ext cx="1660525" cy="6858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7027" name="Rectangle 28"/>
          <p:cNvSpPr>
            <a:spLocks noChangeArrowheads="1"/>
          </p:cNvSpPr>
          <p:nvPr/>
        </p:nvSpPr>
        <p:spPr bwMode="auto">
          <a:xfrm>
            <a:off x="6721475" y="3124200"/>
            <a:ext cx="1660525" cy="1066800"/>
          </a:xfrm>
          <a:prstGeom prst="rect">
            <a:avLst/>
          </a:prstGeom>
          <a:solidFill>
            <a:srgbClr val="FFCCFF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26" name="弧形 25"/>
          <p:cNvSpPr/>
          <p:nvPr/>
        </p:nvSpPr>
        <p:spPr bwMode="auto">
          <a:xfrm>
            <a:off x="8001000" y="609600"/>
            <a:ext cx="990600" cy="2743200"/>
          </a:xfrm>
          <a:prstGeom prst="arc">
            <a:avLst>
              <a:gd name="adj1" fmla="val 16200009"/>
              <a:gd name="adj2" fmla="val 550624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6721475" y="0"/>
            <a:ext cx="1660525" cy="68580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90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9962A7-D735-EB43-A0E6-551E4BC7668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29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Put it Together</a:t>
            </a:r>
          </a:p>
        </p:txBody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686800" cy="5105400"/>
          </a:xfrm>
        </p:spPr>
        <p:txBody>
          <a:bodyPr/>
          <a:lstStyle/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ea typeface="宋体" charset="-122"/>
              </a:rPr>
              <a:t>. . .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n-4. </a:t>
            </a:r>
            <a:r>
              <a:rPr lang="en-US" altLang="zh-CN">
                <a:ea typeface="宋体" charset="-122"/>
              </a:rPr>
              <a:t>save return value in %eax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n-3. </a:t>
            </a:r>
            <a:r>
              <a:rPr lang="en-US" altLang="zh-CN">
                <a:ea typeface="宋体" charset="-122"/>
              </a:rPr>
              <a:t>de-allocate local variable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n-2. </a:t>
            </a:r>
            <a:r>
              <a:rPr lang="en-US" altLang="zh-CN">
                <a:ea typeface="宋体" charset="-122"/>
              </a:rPr>
              <a:t>Restore callee-save registers</a:t>
            </a:r>
          </a:p>
          <a:p>
            <a:pPr marL="0" indent="0">
              <a:lnSpc>
                <a:spcPct val="140000"/>
              </a:lnSpc>
              <a:buFontTx/>
              <a:buNone/>
            </a:pPr>
            <a:endParaRPr lang="en-US" altLang="zh-CN">
              <a:ea typeface="宋体" charset="-122"/>
            </a:endParaRPr>
          </a:p>
        </p:txBody>
      </p:sp>
      <p:graphicFrame>
        <p:nvGraphicFramePr>
          <p:cNvPr id="21" name="Group 28"/>
          <p:cNvGraphicFramePr>
            <a:graphicFrameLocks noGrp="1"/>
          </p:cNvGraphicFramePr>
          <p:nvPr/>
        </p:nvGraphicFramePr>
        <p:xfrm>
          <a:off x="6721475" y="1981200"/>
          <a:ext cx="1660525" cy="762028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(n~1)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Group 28"/>
          <p:cNvGraphicFramePr>
            <a:graphicFrameLocks noGrp="1"/>
          </p:cNvGraphicFramePr>
          <p:nvPr/>
        </p:nvGraphicFramePr>
        <p:xfrm>
          <a:off x="6721475" y="1355725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caller-save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Group 28"/>
          <p:cNvGraphicFramePr>
            <a:graphicFrameLocks noGrp="1"/>
          </p:cNvGraphicFramePr>
          <p:nvPr/>
        </p:nvGraphicFramePr>
        <p:xfrm>
          <a:off x="6721475" y="3124200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Group 28"/>
          <p:cNvGraphicFramePr>
            <a:graphicFrameLocks noGrp="1"/>
          </p:cNvGraphicFramePr>
          <p:nvPr/>
        </p:nvGraphicFramePr>
        <p:xfrm>
          <a:off x="6721475" y="27273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Group 28"/>
          <p:cNvGraphicFramePr>
            <a:graphicFrameLocks noGrp="1"/>
          </p:cNvGraphicFramePr>
          <p:nvPr/>
        </p:nvGraphicFramePr>
        <p:xfrm>
          <a:off x="6721475" y="381000"/>
          <a:ext cx="1660525" cy="27432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9059" name="Rectangle 26"/>
          <p:cNvSpPr>
            <a:spLocks noChangeArrowheads="1"/>
          </p:cNvSpPr>
          <p:nvPr/>
        </p:nvSpPr>
        <p:spPr bwMode="auto">
          <a:xfrm>
            <a:off x="6721475" y="381000"/>
            <a:ext cx="1660525" cy="2740025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graphicFrame>
        <p:nvGraphicFramePr>
          <p:cNvPr id="27" name="Group 28"/>
          <p:cNvGraphicFramePr>
            <a:graphicFrameLocks noGrp="1"/>
          </p:cNvGraphicFramePr>
          <p:nvPr/>
        </p:nvGraphicFramePr>
        <p:xfrm>
          <a:off x="6721475" y="3505200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callee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Group 28"/>
          <p:cNvGraphicFramePr>
            <a:graphicFrameLocks noGrp="1"/>
          </p:cNvGraphicFramePr>
          <p:nvPr/>
        </p:nvGraphicFramePr>
        <p:xfrm>
          <a:off x="6721475" y="4191000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local variables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9072" name="Straight Connector 29"/>
          <p:cNvCxnSpPr>
            <a:cxnSpLocks noChangeShapeType="1"/>
          </p:cNvCxnSpPr>
          <p:nvPr/>
        </p:nvCxnSpPr>
        <p:spPr bwMode="auto">
          <a:xfrm flipV="1">
            <a:off x="6019800" y="3121025"/>
            <a:ext cx="2895600" cy="3175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9073" name="Group 27"/>
          <p:cNvGrpSpPr>
            <a:grpSpLocks/>
          </p:cNvGrpSpPr>
          <p:nvPr/>
        </p:nvGrpSpPr>
        <p:grpSpPr bwMode="auto">
          <a:xfrm>
            <a:off x="4495800" y="3271838"/>
            <a:ext cx="2209800" cy="461962"/>
            <a:chOff x="3072" y="2905"/>
            <a:chExt cx="1392" cy="291"/>
          </a:xfrm>
        </p:grpSpPr>
        <p:sp>
          <p:nvSpPr>
            <p:cNvPr id="129078" name="Text Box 16"/>
            <p:cNvSpPr txBox="1">
              <a:spLocks noChangeArrowheads="1"/>
            </p:cNvSpPr>
            <p:nvPr/>
          </p:nvSpPr>
          <p:spPr bwMode="auto">
            <a:xfrm>
              <a:off x="3686" y="2905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29079" name="Text Box 17"/>
            <p:cNvSpPr txBox="1">
              <a:spLocks noChangeArrowheads="1"/>
            </p:cNvSpPr>
            <p:nvPr/>
          </p:nvSpPr>
          <p:spPr bwMode="auto">
            <a:xfrm>
              <a:off x="3072" y="2905"/>
              <a:ext cx="68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 /</a:t>
              </a:r>
            </a:p>
          </p:txBody>
        </p:sp>
        <p:sp>
          <p:nvSpPr>
            <p:cNvPr id="129080" name="Line 18"/>
            <p:cNvSpPr>
              <a:spLocks noChangeShapeType="1"/>
            </p:cNvSpPr>
            <p:nvPr/>
          </p:nvSpPr>
          <p:spPr bwMode="auto">
            <a:xfrm>
              <a:off x="4224" y="304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6721475" y="4191000"/>
            <a:ext cx="1660525" cy="6858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6721475" y="3505200"/>
            <a:ext cx="1660525" cy="6858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9076" name="Rectangle 28"/>
          <p:cNvSpPr>
            <a:spLocks noChangeArrowheads="1"/>
          </p:cNvSpPr>
          <p:nvPr/>
        </p:nvSpPr>
        <p:spPr bwMode="auto">
          <a:xfrm>
            <a:off x="6721475" y="3124200"/>
            <a:ext cx="1660525" cy="385763"/>
          </a:xfrm>
          <a:prstGeom prst="rect">
            <a:avLst/>
          </a:prstGeom>
          <a:solidFill>
            <a:srgbClr val="FFCCFF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26" name="弧形 25"/>
          <p:cNvSpPr/>
          <p:nvPr/>
        </p:nvSpPr>
        <p:spPr bwMode="auto">
          <a:xfrm>
            <a:off x="8001000" y="609600"/>
            <a:ext cx="990600" cy="2743200"/>
          </a:xfrm>
          <a:prstGeom prst="arc">
            <a:avLst>
              <a:gd name="adj1" fmla="val 16200009"/>
              <a:gd name="adj2" fmla="val 550624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6721475" y="0"/>
            <a:ext cx="1660525" cy="68580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10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3F9A86-A434-714F-9EA1-32099164EF8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31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Put it Together</a:t>
            </a:r>
          </a:p>
        </p:txBody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686800" cy="5105400"/>
          </a:xfrm>
        </p:spPr>
        <p:txBody>
          <a:bodyPr/>
          <a:lstStyle/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ea typeface="宋体" charset="-122"/>
              </a:rPr>
              <a:t>. . .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n-4. </a:t>
            </a:r>
            <a:r>
              <a:rPr lang="en-US" altLang="zh-CN">
                <a:ea typeface="宋体" charset="-122"/>
              </a:rPr>
              <a:t>save return value in %eax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n-3. </a:t>
            </a:r>
            <a:r>
              <a:rPr lang="en-US" altLang="zh-CN">
                <a:ea typeface="宋体" charset="-122"/>
              </a:rPr>
              <a:t>de-allocate local variable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n-2. </a:t>
            </a:r>
            <a:r>
              <a:rPr lang="en-US" altLang="zh-CN">
                <a:ea typeface="宋体" charset="-122"/>
              </a:rPr>
              <a:t>Restore callee-save registers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n-1. </a:t>
            </a:r>
            <a:r>
              <a:rPr lang="en-US" altLang="zh-CN">
                <a:ea typeface="宋体" charset="-122"/>
              </a:rPr>
              <a:t>Restore caller %ebp</a:t>
            </a:r>
          </a:p>
          <a:p>
            <a:pPr marL="0" indent="0">
              <a:lnSpc>
                <a:spcPct val="140000"/>
              </a:lnSpc>
              <a:buFontTx/>
              <a:buNone/>
            </a:pPr>
            <a:endParaRPr lang="en-US" altLang="zh-CN">
              <a:ea typeface="宋体" charset="-122"/>
            </a:endParaRPr>
          </a:p>
        </p:txBody>
      </p:sp>
      <p:graphicFrame>
        <p:nvGraphicFramePr>
          <p:cNvPr id="21" name="Group 28"/>
          <p:cNvGraphicFramePr>
            <a:graphicFrameLocks noGrp="1"/>
          </p:cNvGraphicFramePr>
          <p:nvPr/>
        </p:nvGraphicFramePr>
        <p:xfrm>
          <a:off x="6721475" y="1981200"/>
          <a:ext cx="1660525" cy="762028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(n~1)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Group 28"/>
          <p:cNvGraphicFramePr>
            <a:graphicFrameLocks noGrp="1"/>
          </p:cNvGraphicFramePr>
          <p:nvPr/>
        </p:nvGraphicFramePr>
        <p:xfrm>
          <a:off x="6721475" y="1355725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caller-save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Group 28"/>
          <p:cNvGraphicFramePr>
            <a:graphicFrameLocks noGrp="1"/>
          </p:cNvGraphicFramePr>
          <p:nvPr/>
        </p:nvGraphicFramePr>
        <p:xfrm>
          <a:off x="6721475" y="3124200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Group 28"/>
          <p:cNvGraphicFramePr>
            <a:graphicFrameLocks noGrp="1"/>
          </p:cNvGraphicFramePr>
          <p:nvPr/>
        </p:nvGraphicFramePr>
        <p:xfrm>
          <a:off x="6721475" y="27273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Group 28"/>
          <p:cNvGraphicFramePr>
            <a:graphicFrameLocks noGrp="1"/>
          </p:cNvGraphicFramePr>
          <p:nvPr/>
        </p:nvGraphicFramePr>
        <p:xfrm>
          <a:off x="6721475" y="381000"/>
          <a:ext cx="1660525" cy="27432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Group 28"/>
          <p:cNvGraphicFramePr>
            <a:graphicFrameLocks noGrp="1"/>
          </p:cNvGraphicFramePr>
          <p:nvPr/>
        </p:nvGraphicFramePr>
        <p:xfrm>
          <a:off x="6721475" y="3505200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callee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Group 28"/>
          <p:cNvGraphicFramePr>
            <a:graphicFrameLocks noGrp="1"/>
          </p:cNvGraphicFramePr>
          <p:nvPr/>
        </p:nvGraphicFramePr>
        <p:xfrm>
          <a:off x="6721475" y="4191000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local variables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6721475" y="4191000"/>
            <a:ext cx="1660525" cy="6858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6721475" y="3505200"/>
            <a:ext cx="1660525" cy="6858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1121" name="Group 27"/>
          <p:cNvGrpSpPr>
            <a:grpSpLocks/>
          </p:cNvGrpSpPr>
          <p:nvPr/>
        </p:nvGrpSpPr>
        <p:grpSpPr bwMode="auto">
          <a:xfrm>
            <a:off x="5470525" y="457200"/>
            <a:ext cx="1250950" cy="2895600"/>
            <a:chOff x="3686" y="1657"/>
            <a:chExt cx="788" cy="1824"/>
          </a:xfrm>
        </p:grpSpPr>
        <p:sp>
          <p:nvSpPr>
            <p:cNvPr id="131124" name="Text Box 16"/>
            <p:cNvSpPr txBox="1">
              <a:spLocks noChangeArrowheads="1"/>
            </p:cNvSpPr>
            <p:nvPr/>
          </p:nvSpPr>
          <p:spPr bwMode="auto">
            <a:xfrm>
              <a:off x="3686" y="1657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31125" name="Text Box 17"/>
            <p:cNvSpPr txBox="1">
              <a:spLocks noChangeArrowheads="1"/>
            </p:cNvSpPr>
            <p:nvPr/>
          </p:nvSpPr>
          <p:spPr bwMode="auto">
            <a:xfrm>
              <a:off x="3696" y="3190"/>
              <a:ext cx="5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31126" name="Line 18"/>
            <p:cNvSpPr>
              <a:spLocks noChangeShapeType="1"/>
            </p:cNvSpPr>
            <p:nvPr/>
          </p:nvSpPr>
          <p:spPr bwMode="auto">
            <a:xfrm>
              <a:off x="4224" y="1801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1127" name="Line 19"/>
            <p:cNvSpPr>
              <a:spLocks noChangeShapeType="1"/>
            </p:cNvSpPr>
            <p:nvPr/>
          </p:nvSpPr>
          <p:spPr bwMode="auto">
            <a:xfrm>
              <a:off x="4224" y="3335"/>
              <a:ext cx="250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721475" y="3124200"/>
            <a:ext cx="1660525" cy="3810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1123" name="Rectangle 26"/>
          <p:cNvSpPr>
            <a:spLocks noChangeArrowheads="1"/>
          </p:cNvSpPr>
          <p:nvPr/>
        </p:nvSpPr>
        <p:spPr bwMode="auto">
          <a:xfrm>
            <a:off x="6721475" y="381000"/>
            <a:ext cx="1660525" cy="2740025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6721475" y="0"/>
            <a:ext cx="1660525" cy="68580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A8A5D4-4AE4-0443-B08A-4DD462D23D8A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33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Put it Together</a:t>
            </a:r>
          </a:p>
        </p:txBody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686800" cy="5105400"/>
          </a:xfrm>
        </p:spPr>
        <p:txBody>
          <a:bodyPr/>
          <a:lstStyle/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ea typeface="宋体" charset="-122"/>
              </a:rPr>
              <a:t>. . .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n-4. </a:t>
            </a:r>
            <a:r>
              <a:rPr lang="en-US" altLang="zh-CN">
                <a:ea typeface="宋体" charset="-122"/>
              </a:rPr>
              <a:t>save return value in %eax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n-3. </a:t>
            </a:r>
            <a:r>
              <a:rPr lang="en-US" altLang="zh-CN">
                <a:ea typeface="宋体" charset="-122"/>
              </a:rPr>
              <a:t>de-allocate local variable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n-2. </a:t>
            </a:r>
            <a:r>
              <a:rPr lang="en-US" altLang="zh-CN">
                <a:ea typeface="宋体" charset="-122"/>
              </a:rPr>
              <a:t>Restore callee-save registers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n-1. </a:t>
            </a:r>
            <a:r>
              <a:rPr lang="en-US" altLang="zh-CN">
                <a:ea typeface="宋体" charset="-122"/>
              </a:rPr>
              <a:t>Restore caller %ebp</a:t>
            </a:r>
          </a:p>
          <a:p>
            <a:pPr marL="0" indent="0">
              <a:lnSpc>
                <a:spcPct val="140000"/>
              </a:lnSpc>
              <a:buFontTx/>
              <a:buNone/>
            </a:pPr>
            <a:r>
              <a:rPr lang="en-US" altLang="zh-CN">
                <a:solidFill>
                  <a:srgbClr val="0000FF"/>
                </a:solidFill>
                <a:ea typeface="宋体" charset="-122"/>
              </a:rPr>
              <a:t> n. </a:t>
            </a:r>
            <a:r>
              <a:rPr lang="en-US" altLang="zh-CN">
                <a:ea typeface="宋体" charset="-122"/>
              </a:rPr>
              <a:t>Ret instruction</a:t>
            </a:r>
          </a:p>
          <a:p>
            <a:pPr marL="1071563" lvl="1" indent="-268288"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pop return address</a:t>
            </a:r>
          </a:p>
          <a:p>
            <a:pPr marL="1071563" lvl="1" indent="-268288"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Transfer control to caller</a:t>
            </a:r>
          </a:p>
        </p:txBody>
      </p:sp>
      <p:graphicFrame>
        <p:nvGraphicFramePr>
          <p:cNvPr id="21" name="Group 28"/>
          <p:cNvGraphicFramePr>
            <a:graphicFrameLocks noGrp="1"/>
          </p:cNvGraphicFramePr>
          <p:nvPr/>
        </p:nvGraphicFramePr>
        <p:xfrm>
          <a:off x="6721475" y="1981200"/>
          <a:ext cx="1660525" cy="762028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arguments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(n~1)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Group 28"/>
          <p:cNvGraphicFramePr>
            <a:graphicFrameLocks noGrp="1"/>
          </p:cNvGraphicFramePr>
          <p:nvPr/>
        </p:nvGraphicFramePr>
        <p:xfrm>
          <a:off x="6721475" y="1355725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itchFamily="66" charset="0"/>
                          <a:ea typeface="宋体" pitchFamily="2" charset="-122"/>
                        </a:rPr>
                        <a:t>caller-save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Group 28"/>
          <p:cNvGraphicFramePr>
            <a:graphicFrameLocks noGrp="1"/>
          </p:cNvGraphicFramePr>
          <p:nvPr/>
        </p:nvGraphicFramePr>
        <p:xfrm>
          <a:off x="6721475" y="3124200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old %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ebp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Group 28"/>
          <p:cNvGraphicFramePr>
            <a:graphicFrameLocks noGrp="1"/>
          </p:cNvGraphicFramePr>
          <p:nvPr/>
        </p:nvGraphicFramePr>
        <p:xfrm>
          <a:off x="6721475" y="2727325"/>
          <a:ext cx="1660525" cy="3968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retaddr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Group 28"/>
          <p:cNvGraphicFramePr>
            <a:graphicFrameLocks noGrp="1"/>
          </p:cNvGraphicFramePr>
          <p:nvPr/>
        </p:nvGraphicFramePr>
        <p:xfrm>
          <a:off x="6721475" y="381000"/>
          <a:ext cx="1660525" cy="2743200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Caller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Frame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Group 28"/>
          <p:cNvGraphicFramePr>
            <a:graphicFrameLocks noGrp="1"/>
          </p:cNvGraphicFramePr>
          <p:nvPr/>
        </p:nvGraphicFramePr>
        <p:xfrm>
          <a:off x="6721475" y="3505200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callee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-save registers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Group 28"/>
          <p:cNvGraphicFramePr>
            <a:graphicFrameLocks noGrp="1"/>
          </p:cNvGraphicFramePr>
          <p:nvPr/>
        </p:nvGraphicFramePr>
        <p:xfrm>
          <a:off x="6721475" y="4191000"/>
          <a:ext cx="1660525" cy="701675"/>
        </p:xfrm>
        <a:graphic>
          <a:graphicData uri="http://schemas.openxmlformats.org/drawingml/2006/table">
            <a:tbl>
              <a:tblPr/>
              <a:tblGrid>
                <a:gridCol w="16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local variables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825" marB="458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6721475" y="4191000"/>
            <a:ext cx="1660525" cy="6858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6721475" y="3505200"/>
            <a:ext cx="1660525" cy="6858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3169" name="Group 27"/>
          <p:cNvGrpSpPr>
            <a:grpSpLocks/>
          </p:cNvGrpSpPr>
          <p:nvPr/>
        </p:nvGrpSpPr>
        <p:grpSpPr bwMode="auto">
          <a:xfrm>
            <a:off x="5470525" y="452438"/>
            <a:ext cx="1250950" cy="2519362"/>
            <a:chOff x="3686" y="1657"/>
            <a:chExt cx="788" cy="1587"/>
          </a:xfrm>
        </p:grpSpPr>
        <p:sp>
          <p:nvSpPr>
            <p:cNvPr id="133173" name="Text Box 16"/>
            <p:cNvSpPr txBox="1">
              <a:spLocks noChangeArrowheads="1"/>
            </p:cNvSpPr>
            <p:nvPr/>
          </p:nvSpPr>
          <p:spPr bwMode="auto">
            <a:xfrm>
              <a:off x="3686" y="1657"/>
              <a:ext cx="6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33174" name="Text Box 17"/>
            <p:cNvSpPr txBox="1">
              <a:spLocks noChangeArrowheads="1"/>
            </p:cNvSpPr>
            <p:nvPr/>
          </p:nvSpPr>
          <p:spPr bwMode="auto">
            <a:xfrm>
              <a:off x="3696" y="2953"/>
              <a:ext cx="5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33175" name="Line 18"/>
            <p:cNvSpPr>
              <a:spLocks noChangeShapeType="1"/>
            </p:cNvSpPr>
            <p:nvPr/>
          </p:nvSpPr>
          <p:spPr bwMode="auto">
            <a:xfrm>
              <a:off x="4224" y="1801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3176" name="Line 19"/>
            <p:cNvSpPr>
              <a:spLocks noChangeShapeType="1"/>
            </p:cNvSpPr>
            <p:nvPr/>
          </p:nvSpPr>
          <p:spPr bwMode="auto">
            <a:xfrm>
              <a:off x="4224" y="3098"/>
              <a:ext cx="250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721475" y="3124200"/>
            <a:ext cx="1660525" cy="3810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6721475" y="2743200"/>
            <a:ext cx="1660525" cy="381000"/>
          </a:xfrm>
          <a:prstGeom prst="rect">
            <a:avLst/>
          </a:prstGeom>
          <a:noFill/>
          <a:ln w="38100" algn="ctr">
            <a:solidFill>
              <a:schemeClr val="bg1">
                <a:lumMod val="8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72" name="Rectangle 26"/>
          <p:cNvSpPr>
            <a:spLocks noChangeArrowheads="1"/>
          </p:cNvSpPr>
          <p:nvPr/>
        </p:nvSpPr>
        <p:spPr bwMode="auto">
          <a:xfrm>
            <a:off x="6721475" y="381000"/>
            <a:ext cx="1660525" cy="2362200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2DFE08-B315-054B-88B4-B1EDB767375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Example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924800" cy="4419600"/>
          </a:xfrm>
        </p:spPr>
        <p:txBody>
          <a:bodyPr/>
          <a:lstStyle/>
          <a:p>
            <a:pPr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1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charset="0"/>
                <a:ea typeface="宋体" charset="-122"/>
              </a:rPr>
              <a:t>int swap_add(int *xp, int *yp)</a:t>
            </a:r>
          </a:p>
          <a:p>
            <a:pPr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2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charset="0"/>
                <a:ea typeface="宋体" charset="-122"/>
              </a:rPr>
              <a:t>{</a:t>
            </a:r>
          </a:p>
          <a:p>
            <a:pPr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3 		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charset="0"/>
                <a:ea typeface="宋体" charset="-122"/>
              </a:rPr>
              <a:t>int x = *xp;</a:t>
            </a:r>
          </a:p>
          <a:p>
            <a:pPr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4 		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charset="0"/>
                <a:ea typeface="宋体" charset="-122"/>
              </a:rPr>
              <a:t>int y = *yp;</a:t>
            </a:r>
          </a:p>
          <a:p>
            <a:pPr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5</a:t>
            </a:r>
          </a:p>
          <a:p>
            <a:pPr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6 		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charset="0"/>
                <a:ea typeface="宋体" charset="-122"/>
              </a:rPr>
              <a:t>*xp = y;</a:t>
            </a:r>
          </a:p>
          <a:p>
            <a:pPr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7 		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charset="0"/>
                <a:ea typeface="宋体" charset="-122"/>
              </a:rPr>
              <a:t>*yp = x;</a:t>
            </a:r>
          </a:p>
          <a:p>
            <a:pPr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8 		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charset="0"/>
                <a:ea typeface="宋体" charset="-122"/>
              </a:rPr>
              <a:t>return x + y;</a:t>
            </a:r>
          </a:p>
          <a:p>
            <a:pPr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9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charset="0"/>
                <a:ea typeface="宋体" charset="-122"/>
              </a:rPr>
              <a:t>}</a:t>
            </a:r>
          </a:p>
          <a:p>
            <a:pPr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10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A28202-BC4A-8C4B-8C78-E31A5AE6DEF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Example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924800" cy="44196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11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charset="0"/>
                <a:ea typeface="宋体" charset="-122"/>
              </a:rPr>
              <a:t>int caller()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12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charset="0"/>
                <a:ea typeface="宋体" charset="-122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13    	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charset="0"/>
                <a:ea typeface="宋体" charset="-122"/>
              </a:rPr>
              <a:t>int arg1 = 534;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14    	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charset="0"/>
                <a:ea typeface="宋体" charset="-122"/>
              </a:rPr>
              <a:t>int arg2 = 1057;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15    	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charset="0"/>
                <a:ea typeface="宋体" charset="-122"/>
              </a:rPr>
              <a:t>int sum = swap_add(&amp;arg1, &amp;arg2);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16    	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charset="0"/>
                <a:ea typeface="宋体" charset="-122"/>
              </a:rPr>
              <a:t>int diff = arg1 - arg2;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17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18    	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charset="0"/>
                <a:ea typeface="宋体" charset="-122"/>
              </a:rPr>
              <a:t>return sum * diff;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charset="0"/>
                <a:ea typeface="宋体" charset="-122"/>
              </a:rPr>
              <a:t>19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charset="0"/>
                <a:ea typeface="宋体" charset="-122"/>
              </a:rPr>
              <a:t>}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9B2CEC-EC7C-4D41-898E-39F5AC95973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Example</a:t>
            </a:r>
          </a:p>
        </p:txBody>
      </p:sp>
      <p:graphicFrame>
        <p:nvGraphicFramePr>
          <p:cNvPr id="1094691" name="Group 35"/>
          <p:cNvGraphicFramePr>
            <a:graphicFrameLocks noGrp="1"/>
          </p:cNvGraphicFramePr>
          <p:nvPr>
            <p:ph idx="1"/>
          </p:nvPr>
        </p:nvGraphicFramePr>
        <p:xfrm>
          <a:off x="5257800" y="2057400"/>
          <a:ext cx="2174875" cy="1584336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81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0</a:t>
                      </a:r>
                    </a:p>
                  </a:txBody>
                  <a:tcPr marT="45642" marB="4564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42" marB="45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-4</a:t>
                      </a:r>
                    </a:p>
                  </a:txBody>
                  <a:tcPr marT="45642" marB="4564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1057(arg2)</a:t>
                      </a:r>
                    </a:p>
                  </a:txBody>
                  <a:tcPr marT="45642" marB="45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-8</a:t>
                      </a:r>
                    </a:p>
                  </a:txBody>
                  <a:tcPr marT="45642" marB="4564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534(arg1)</a:t>
                      </a:r>
                    </a:p>
                  </a:txBody>
                  <a:tcPr marT="45642" marB="45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-12</a:t>
                      </a:r>
                    </a:p>
                  </a:txBody>
                  <a:tcPr marT="45642" marB="4564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42" marB="45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9283" name="Text Box 28"/>
          <p:cNvSpPr txBox="1">
            <a:spLocks noChangeArrowheads="1"/>
          </p:cNvSpPr>
          <p:nvPr/>
        </p:nvSpPr>
        <p:spPr bwMode="auto">
          <a:xfrm>
            <a:off x="5334000" y="1524000"/>
            <a:ext cx="2687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caller</a:t>
            </a:r>
          </a:p>
        </p:txBody>
      </p:sp>
      <p:sp>
        <p:nvSpPr>
          <p:cNvPr id="139284" name="Rectangle 29"/>
          <p:cNvSpPr>
            <a:spLocks noChangeArrowheads="1"/>
          </p:cNvSpPr>
          <p:nvPr/>
        </p:nvSpPr>
        <p:spPr bwMode="auto">
          <a:xfrm>
            <a:off x="381000" y="1533525"/>
            <a:ext cx="50165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Before 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int sum = swap_add(&amp;arg1, &amp;arg2);</a:t>
            </a:r>
            <a:endParaRPr lang="zh-CN" altLang="en-US" sz="2400">
              <a:solidFill>
                <a:srgbClr val="000000"/>
              </a:solidFill>
              <a:latin typeface="Times New Roman" charset="0"/>
            </a:endParaRPr>
          </a:p>
        </p:txBody>
      </p:sp>
      <p:grpSp>
        <p:nvGrpSpPr>
          <p:cNvPr id="139285" name="Group 38"/>
          <p:cNvGrpSpPr>
            <a:grpSpLocks/>
          </p:cNvGrpSpPr>
          <p:nvPr/>
        </p:nvGrpSpPr>
        <p:grpSpPr bwMode="auto">
          <a:xfrm>
            <a:off x="7469188" y="2182813"/>
            <a:ext cx="1370012" cy="396875"/>
            <a:chOff x="4465" y="1423"/>
            <a:chExt cx="863" cy="250"/>
          </a:xfrm>
        </p:grpSpPr>
        <p:sp>
          <p:nvSpPr>
            <p:cNvPr id="139289" name="Text Box 32"/>
            <p:cNvSpPr txBox="1">
              <a:spLocks noChangeArrowheads="1"/>
            </p:cNvSpPr>
            <p:nvPr/>
          </p:nvSpPr>
          <p:spPr bwMode="auto">
            <a:xfrm>
              <a:off x="4803" y="1423"/>
              <a:ext cx="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39290" name="Line 37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9286" name="Group 39"/>
          <p:cNvGrpSpPr>
            <a:grpSpLocks/>
          </p:cNvGrpSpPr>
          <p:nvPr/>
        </p:nvGrpSpPr>
        <p:grpSpPr bwMode="auto">
          <a:xfrm>
            <a:off x="7467600" y="2971800"/>
            <a:ext cx="1327150" cy="396875"/>
            <a:chOff x="4465" y="1423"/>
            <a:chExt cx="836" cy="250"/>
          </a:xfrm>
        </p:grpSpPr>
        <p:sp>
          <p:nvSpPr>
            <p:cNvPr id="139287" name="Text Box 40"/>
            <p:cNvSpPr txBox="1">
              <a:spLocks noChangeArrowheads="1"/>
            </p:cNvSpPr>
            <p:nvPr/>
          </p:nvSpPr>
          <p:spPr bwMode="auto">
            <a:xfrm>
              <a:off x="4803" y="1423"/>
              <a:ext cx="4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39288" name="Line 41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2FB690-5E53-C84C-9EE0-BBBE18332772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Parameter Passing</a:t>
            </a:r>
          </a:p>
        </p:txBody>
      </p:sp>
      <p:graphicFrame>
        <p:nvGraphicFramePr>
          <p:cNvPr id="1098787" name="Group 35"/>
          <p:cNvGraphicFramePr>
            <a:graphicFrameLocks noGrp="1"/>
          </p:cNvGraphicFramePr>
          <p:nvPr>
            <p:ph idx="1"/>
          </p:nvPr>
        </p:nvGraphicFramePr>
        <p:xfrm>
          <a:off x="5257800" y="2057400"/>
          <a:ext cx="2174875" cy="1584336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81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0</a:t>
                      </a:r>
                    </a:p>
                  </a:txBody>
                  <a:tcPr marT="45642" marB="4564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42" marB="45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-4</a:t>
                      </a:r>
                    </a:p>
                  </a:txBody>
                  <a:tcPr marT="45642" marB="4564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1057(arg2)</a:t>
                      </a:r>
                    </a:p>
                  </a:txBody>
                  <a:tcPr marT="45642" marB="45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-8</a:t>
                      </a:r>
                    </a:p>
                  </a:txBody>
                  <a:tcPr marT="45642" marB="4564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534(arg1)</a:t>
                      </a:r>
                    </a:p>
                  </a:txBody>
                  <a:tcPr marT="45642" marB="45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-12</a:t>
                      </a:r>
                    </a:p>
                  </a:txBody>
                  <a:tcPr marT="45642" marB="4564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&amp;arg2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42" marB="45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1331" name="Text Box 25"/>
          <p:cNvSpPr txBox="1">
            <a:spLocks noChangeArrowheads="1"/>
          </p:cNvSpPr>
          <p:nvPr/>
        </p:nvSpPr>
        <p:spPr bwMode="auto">
          <a:xfrm>
            <a:off x="5334000" y="1524000"/>
            <a:ext cx="2687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caller</a:t>
            </a:r>
          </a:p>
        </p:txBody>
      </p:sp>
      <p:sp>
        <p:nvSpPr>
          <p:cNvPr id="141332" name="Rectangle 26"/>
          <p:cNvSpPr>
            <a:spLocks noChangeArrowheads="1"/>
          </p:cNvSpPr>
          <p:nvPr/>
        </p:nvSpPr>
        <p:spPr bwMode="auto">
          <a:xfrm>
            <a:off x="546100" y="1524000"/>
            <a:ext cx="4303713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 	leal -4(%ebp),%eax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</a:t>
            </a:r>
          </a:p>
          <a:p>
            <a:pPr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			   Compute &amp;arg2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2 	pushl %eax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</a:t>
            </a:r>
          </a:p>
          <a:p>
            <a:pPr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			   Push &amp;arg2</a:t>
            </a:r>
          </a:p>
        </p:txBody>
      </p:sp>
      <p:grpSp>
        <p:nvGrpSpPr>
          <p:cNvPr id="141333" name="Group 27"/>
          <p:cNvGrpSpPr>
            <a:grpSpLocks/>
          </p:cNvGrpSpPr>
          <p:nvPr/>
        </p:nvGrpSpPr>
        <p:grpSpPr bwMode="auto">
          <a:xfrm>
            <a:off x="7469188" y="2182813"/>
            <a:ext cx="1370012" cy="396875"/>
            <a:chOff x="4465" y="1423"/>
            <a:chExt cx="863" cy="250"/>
          </a:xfrm>
        </p:grpSpPr>
        <p:sp>
          <p:nvSpPr>
            <p:cNvPr id="141337" name="Text Box 28"/>
            <p:cNvSpPr txBox="1">
              <a:spLocks noChangeArrowheads="1"/>
            </p:cNvSpPr>
            <p:nvPr/>
          </p:nvSpPr>
          <p:spPr bwMode="auto">
            <a:xfrm>
              <a:off x="4803" y="1423"/>
              <a:ext cx="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41338" name="Line 29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1334" name="Group 30"/>
          <p:cNvGrpSpPr>
            <a:grpSpLocks/>
          </p:cNvGrpSpPr>
          <p:nvPr/>
        </p:nvGrpSpPr>
        <p:grpSpPr bwMode="auto">
          <a:xfrm>
            <a:off x="7467600" y="3352800"/>
            <a:ext cx="1327150" cy="396875"/>
            <a:chOff x="4465" y="1423"/>
            <a:chExt cx="836" cy="250"/>
          </a:xfrm>
        </p:grpSpPr>
        <p:sp>
          <p:nvSpPr>
            <p:cNvPr id="141335" name="Text Box 31"/>
            <p:cNvSpPr txBox="1">
              <a:spLocks noChangeArrowheads="1"/>
            </p:cNvSpPr>
            <p:nvPr/>
          </p:nvSpPr>
          <p:spPr bwMode="auto">
            <a:xfrm>
              <a:off x="4803" y="1423"/>
              <a:ext cx="4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41336" name="Line 32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1443AB-53BE-7449-9ED5-E3476DCFB731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Parameter Passing</a:t>
            </a:r>
          </a:p>
        </p:txBody>
      </p:sp>
      <p:graphicFrame>
        <p:nvGraphicFramePr>
          <p:cNvPr id="1099814" name="Group 38"/>
          <p:cNvGraphicFramePr>
            <a:graphicFrameLocks noGrp="1"/>
          </p:cNvGraphicFramePr>
          <p:nvPr>
            <p:ph idx="1"/>
          </p:nvPr>
        </p:nvGraphicFramePr>
        <p:xfrm>
          <a:off x="5257800" y="2057400"/>
          <a:ext cx="2174875" cy="1981200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-4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1057(arg2)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-8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534(arg1)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&amp;arg2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-16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&amp;arg1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3382" name="Text Box 25"/>
          <p:cNvSpPr txBox="1">
            <a:spLocks noChangeArrowheads="1"/>
          </p:cNvSpPr>
          <p:nvPr/>
        </p:nvSpPr>
        <p:spPr bwMode="auto">
          <a:xfrm>
            <a:off x="5334000" y="1524000"/>
            <a:ext cx="2687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caller</a:t>
            </a:r>
          </a:p>
        </p:txBody>
      </p:sp>
      <p:sp>
        <p:nvSpPr>
          <p:cNvPr id="143383" name="Rectangle 26"/>
          <p:cNvSpPr>
            <a:spLocks noChangeArrowheads="1"/>
          </p:cNvSpPr>
          <p:nvPr/>
        </p:nvSpPr>
        <p:spPr bwMode="auto">
          <a:xfrm>
            <a:off x="546100" y="1524000"/>
            <a:ext cx="4303713" cy="356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 	leal -4(%ebp),%eax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</a:t>
            </a:r>
          </a:p>
          <a:p>
            <a:pPr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			   Compute &amp;arg2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2 	pushl %eax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</a:t>
            </a:r>
          </a:p>
          <a:p>
            <a:pPr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			   Push &amp;arg2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3 	leal -8(%ebp),%eax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</a:t>
            </a:r>
          </a:p>
          <a:p>
            <a:pPr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			   Compute &amp;arg1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4 	pushl %eax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</a:t>
            </a:r>
          </a:p>
          <a:p>
            <a:pPr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			   Push &amp;arg1</a:t>
            </a:r>
          </a:p>
        </p:txBody>
      </p:sp>
      <p:grpSp>
        <p:nvGrpSpPr>
          <p:cNvPr id="143384" name="Group 27"/>
          <p:cNvGrpSpPr>
            <a:grpSpLocks/>
          </p:cNvGrpSpPr>
          <p:nvPr/>
        </p:nvGrpSpPr>
        <p:grpSpPr bwMode="auto">
          <a:xfrm>
            <a:off x="7469188" y="2182813"/>
            <a:ext cx="1370012" cy="396875"/>
            <a:chOff x="4465" y="1423"/>
            <a:chExt cx="863" cy="250"/>
          </a:xfrm>
        </p:grpSpPr>
        <p:sp>
          <p:nvSpPr>
            <p:cNvPr id="143388" name="Text Box 28"/>
            <p:cNvSpPr txBox="1">
              <a:spLocks noChangeArrowheads="1"/>
            </p:cNvSpPr>
            <p:nvPr/>
          </p:nvSpPr>
          <p:spPr bwMode="auto">
            <a:xfrm>
              <a:off x="4803" y="1423"/>
              <a:ext cx="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43389" name="Line 29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385" name="Group 30"/>
          <p:cNvGrpSpPr>
            <a:grpSpLocks/>
          </p:cNvGrpSpPr>
          <p:nvPr/>
        </p:nvGrpSpPr>
        <p:grpSpPr bwMode="auto">
          <a:xfrm>
            <a:off x="7467600" y="3794125"/>
            <a:ext cx="1327150" cy="396875"/>
            <a:chOff x="4465" y="1423"/>
            <a:chExt cx="836" cy="250"/>
          </a:xfrm>
        </p:grpSpPr>
        <p:sp>
          <p:nvSpPr>
            <p:cNvPr id="143386" name="Text Box 31"/>
            <p:cNvSpPr txBox="1">
              <a:spLocks noChangeArrowheads="1"/>
            </p:cNvSpPr>
            <p:nvPr/>
          </p:nvSpPr>
          <p:spPr bwMode="auto">
            <a:xfrm>
              <a:off x="4803" y="1423"/>
              <a:ext cx="4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43387" name="Line 32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6F2C47-3A40-1B48-9BA2-4E9A1C7FA0D5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charset="-122"/>
              </a:rPr>
              <a:t>Call Instruction</a:t>
            </a:r>
          </a:p>
        </p:txBody>
      </p:sp>
      <p:graphicFrame>
        <p:nvGraphicFramePr>
          <p:cNvPr id="1100848" name="Group 4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8887897"/>
              </p:ext>
            </p:extLst>
          </p:nvPr>
        </p:nvGraphicFramePr>
        <p:xfrm>
          <a:off x="5257800" y="2057400"/>
          <a:ext cx="2174875" cy="2378076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0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1057(arg2)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-8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534(arg1)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-12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&amp;arg2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-16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&amp;arg1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-20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Return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Addr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5433" name="Text Box 28"/>
          <p:cNvSpPr txBox="1">
            <a:spLocks noChangeArrowheads="1"/>
          </p:cNvSpPr>
          <p:nvPr/>
        </p:nvSpPr>
        <p:spPr bwMode="auto">
          <a:xfrm>
            <a:off x="5334000" y="1524000"/>
            <a:ext cx="2687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caller</a:t>
            </a:r>
          </a:p>
        </p:txBody>
      </p:sp>
      <p:sp>
        <p:nvSpPr>
          <p:cNvPr id="145434" name="Rectangle 29"/>
          <p:cNvSpPr>
            <a:spLocks noChangeArrowheads="1"/>
          </p:cNvSpPr>
          <p:nvPr/>
        </p:nvSpPr>
        <p:spPr bwMode="auto">
          <a:xfrm>
            <a:off x="546100" y="1524000"/>
            <a:ext cx="5740400" cy="44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 	leal -4(%ebp),%eax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</a:t>
            </a:r>
          </a:p>
          <a:p>
            <a:pPr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			   Compute &amp;arg2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2 	pushl %eax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</a:t>
            </a:r>
          </a:p>
          <a:p>
            <a:pPr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			   Push &amp;arg2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3 	leal -8(%ebp),%eax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</a:t>
            </a:r>
          </a:p>
          <a:p>
            <a:pPr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			   Compute &amp;arg1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4 	pushl %eax 	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</a:t>
            </a:r>
          </a:p>
          <a:p>
            <a:pPr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			   Push &amp;arg1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5 	 call swap_add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</a:t>
            </a:r>
          </a:p>
          <a:p>
            <a:pPr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			   Call the swap_add function</a:t>
            </a:r>
          </a:p>
        </p:txBody>
      </p:sp>
      <p:grpSp>
        <p:nvGrpSpPr>
          <p:cNvPr id="145435" name="Group 30"/>
          <p:cNvGrpSpPr>
            <a:grpSpLocks/>
          </p:cNvGrpSpPr>
          <p:nvPr/>
        </p:nvGrpSpPr>
        <p:grpSpPr bwMode="auto">
          <a:xfrm>
            <a:off x="7469188" y="2182813"/>
            <a:ext cx="1370012" cy="396875"/>
            <a:chOff x="4465" y="1423"/>
            <a:chExt cx="863" cy="250"/>
          </a:xfrm>
        </p:grpSpPr>
        <p:sp>
          <p:nvSpPr>
            <p:cNvPr id="145439" name="Text Box 31"/>
            <p:cNvSpPr txBox="1">
              <a:spLocks noChangeArrowheads="1"/>
            </p:cNvSpPr>
            <p:nvPr/>
          </p:nvSpPr>
          <p:spPr bwMode="auto">
            <a:xfrm>
              <a:off x="4803" y="1423"/>
              <a:ext cx="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45440" name="Line 32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5436" name="Group 33"/>
          <p:cNvGrpSpPr>
            <a:grpSpLocks/>
          </p:cNvGrpSpPr>
          <p:nvPr/>
        </p:nvGrpSpPr>
        <p:grpSpPr bwMode="auto">
          <a:xfrm>
            <a:off x="7467600" y="4175125"/>
            <a:ext cx="1327150" cy="396875"/>
            <a:chOff x="4465" y="1423"/>
            <a:chExt cx="836" cy="250"/>
          </a:xfrm>
        </p:grpSpPr>
        <p:sp>
          <p:nvSpPr>
            <p:cNvPr id="145437" name="Text Box 34"/>
            <p:cNvSpPr txBox="1">
              <a:spLocks noChangeArrowheads="1"/>
            </p:cNvSpPr>
            <p:nvPr/>
          </p:nvSpPr>
          <p:spPr bwMode="auto">
            <a:xfrm>
              <a:off x="4803" y="1423"/>
              <a:ext cx="4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45438" name="Line 35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CD4FE0-3C44-DC49-B541-A9C20A61F36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solidFill>
                  <a:srgbClr val="000000"/>
                </a:solidFill>
                <a:ea typeface="宋体" charset="-122"/>
              </a:rPr>
              <a:t>Setup code in swap_add</a:t>
            </a:r>
          </a:p>
        </p:txBody>
      </p:sp>
      <p:graphicFrame>
        <p:nvGraphicFramePr>
          <p:cNvPr id="1102851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0624650"/>
              </p:ext>
            </p:extLst>
          </p:nvPr>
        </p:nvGraphicFramePr>
        <p:xfrm>
          <a:off x="5257800" y="2057400"/>
          <a:ext cx="2174875" cy="2778125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Saved %ebp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-4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1057(arg2)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-8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534(arg1)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-12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yp(&amp;arg2)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-16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xp(&amp;arg1)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-20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Return Addr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-24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7484" name="Text Box 34"/>
          <p:cNvSpPr txBox="1">
            <a:spLocks noChangeArrowheads="1"/>
          </p:cNvSpPr>
          <p:nvPr/>
        </p:nvSpPr>
        <p:spPr bwMode="auto">
          <a:xfrm>
            <a:off x="5334000" y="1524000"/>
            <a:ext cx="2687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caller</a:t>
            </a:r>
          </a:p>
        </p:txBody>
      </p:sp>
      <p:sp>
        <p:nvSpPr>
          <p:cNvPr id="147485" name="Rectangle 35"/>
          <p:cNvSpPr>
            <a:spLocks noChangeArrowheads="1"/>
          </p:cNvSpPr>
          <p:nvPr/>
        </p:nvSpPr>
        <p:spPr bwMode="auto">
          <a:xfrm>
            <a:off x="546100" y="1524000"/>
            <a:ext cx="4711700" cy="127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swap_add: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 	pushl %ebp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	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Save old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%ebp</a:t>
            </a:r>
            <a:endParaRPr lang="en-US" altLang="zh-CN" sz="2400" i="1">
              <a:solidFill>
                <a:srgbClr val="000000"/>
              </a:solidFill>
              <a:latin typeface="Times New Roman" charset="0"/>
            </a:endParaRPr>
          </a:p>
        </p:txBody>
      </p:sp>
      <p:grpSp>
        <p:nvGrpSpPr>
          <p:cNvPr id="147486" name="Group 36"/>
          <p:cNvGrpSpPr>
            <a:grpSpLocks/>
          </p:cNvGrpSpPr>
          <p:nvPr/>
        </p:nvGrpSpPr>
        <p:grpSpPr bwMode="auto">
          <a:xfrm>
            <a:off x="7469188" y="2182813"/>
            <a:ext cx="1370012" cy="396875"/>
            <a:chOff x="4465" y="1423"/>
            <a:chExt cx="863" cy="250"/>
          </a:xfrm>
        </p:grpSpPr>
        <p:sp>
          <p:nvSpPr>
            <p:cNvPr id="147490" name="Text Box 37"/>
            <p:cNvSpPr txBox="1">
              <a:spLocks noChangeArrowheads="1"/>
            </p:cNvSpPr>
            <p:nvPr/>
          </p:nvSpPr>
          <p:spPr bwMode="auto">
            <a:xfrm>
              <a:off x="4803" y="1423"/>
              <a:ext cx="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47491" name="Line 38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7487" name="Group 39"/>
          <p:cNvGrpSpPr>
            <a:grpSpLocks/>
          </p:cNvGrpSpPr>
          <p:nvPr/>
        </p:nvGrpSpPr>
        <p:grpSpPr bwMode="auto">
          <a:xfrm>
            <a:off x="7467600" y="4556125"/>
            <a:ext cx="1327150" cy="396875"/>
            <a:chOff x="4465" y="1423"/>
            <a:chExt cx="836" cy="250"/>
          </a:xfrm>
        </p:grpSpPr>
        <p:sp>
          <p:nvSpPr>
            <p:cNvPr id="147488" name="Text Box 40"/>
            <p:cNvSpPr txBox="1">
              <a:spLocks noChangeArrowheads="1"/>
            </p:cNvSpPr>
            <p:nvPr/>
          </p:nvSpPr>
          <p:spPr bwMode="auto">
            <a:xfrm>
              <a:off x="4803" y="1423"/>
              <a:ext cx="4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47489" name="Line 41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B2117E-70F8-464C-B23A-90E3B840EE0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solidFill>
                  <a:srgbClr val="000000"/>
                </a:solidFill>
                <a:ea typeface="宋体" charset="-122"/>
              </a:rPr>
              <a:t>Setup code in swap_add</a:t>
            </a:r>
          </a:p>
        </p:txBody>
      </p:sp>
      <p:graphicFrame>
        <p:nvGraphicFramePr>
          <p:cNvPr id="1103875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0514484"/>
              </p:ext>
            </p:extLst>
          </p:nvPr>
        </p:nvGraphicFramePr>
        <p:xfrm>
          <a:off x="5257800" y="2057400"/>
          <a:ext cx="2174875" cy="2773386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19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24</a:t>
                      </a:r>
                    </a:p>
                  </a:txBody>
                  <a:tcPr marT="45699" marB="4569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20</a:t>
                      </a:r>
                    </a:p>
                  </a:txBody>
                  <a:tcPr marT="45699" marB="4569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1057(arg2)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16</a:t>
                      </a:r>
                    </a:p>
                  </a:txBody>
                  <a:tcPr marT="45699" marB="4569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534(arg1)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12</a:t>
                      </a:r>
                    </a:p>
                  </a:txBody>
                  <a:tcPr marT="45699" marB="4569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yp(&amp;arg2)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8</a:t>
                      </a:r>
                    </a:p>
                  </a:txBody>
                  <a:tcPr marT="45699" marB="4569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xp(&amp;arg1)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4</a:t>
                      </a:r>
                    </a:p>
                  </a:txBody>
                  <a:tcPr marT="45699" marB="4569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Return Addr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699" marB="45699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9532" name="Text Box 34"/>
          <p:cNvSpPr txBox="1">
            <a:spLocks noChangeArrowheads="1"/>
          </p:cNvSpPr>
          <p:nvPr/>
        </p:nvSpPr>
        <p:spPr bwMode="auto">
          <a:xfrm>
            <a:off x="5334000" y="1524000"/>
            <a:ext cx="2687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caller</a:t>
            </a:r>
          </a:p>
        </p:txBody>
      </p:sp>
      <p:sp>
        <p:nvSpPr>
          <p:cNvPr id="149533" name="Rectangle 35"/>
          <p:cNvSpPr>
            <a:spLocks noChangeArrowheads="1"/>
          </p:cNvSpPr>
          <p:nvPr/>
        </p:nvSpPr>
        <p:spPr bwMode="auto">
          <a:xfrm>
            <a:off x="546100" y="1524000"/>
            <a:ext cx="4711700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swap_add: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 	pushl %ebp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	                   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Save old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%ebp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2 	movl %esp,%ebp 	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</a:t>
            </a:r>
          </a:p>
          <a:p>
            <a:pPr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	       Set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%ebp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as frame pointer</a:t>
            </a:r>
          </a:p>
        </p:txBody>
      </p:sp>
      <p:sp>
        <p:nvSpPr>
          <p:cNvPr id="149534" name="Text Box 36"/>
          <p:cNvSpPr txBox="1">
            <a:spLocks noChangeArrowheads="1"/>
          </p:cNvSpPr>
          <p:nvPr/>
        </p:nvSpPr>
        <p:spPr bwMode="auto">
          <a:xfrm>
            <a:off x="8005763" y="2182813"/>
            <a:ext cx="833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%ebp</a:t>
            </a:r>
          </a:p>
        </p:txBody>
      </p:sp>
      <p:grpSp>
        <p:nvGrpSpPr>
          <p:cNvPr id="149535" name="Group 37"/>
          <p:cNvGrpSpPr>
            <a:grpSpLocks/>
          </p:cNvGrpSpPr>
          <p:nvPr/>
        </p:nvGrpSpPr>
        <p:grpSpPr bwMode="auto">
          <a:xfrm>
            <a:off x="7467600" y="4556125"/>
            <a:ext cx="1327150" cy="396875"/>
            <a:chOff x="4465" y="1423"/>
            <a:chExt cx="836" cy="250"/>
          </a:xfrm>
        </p:grpSpPr>
        <p:sp>
          <p:nvSpPr>
            <p:cNvPr id="149538" name="Text Box 38"/>
            <p:cNvSpPr txBox="1">
              <a:spLocks noChangeArrowheads="1"/>
            </p:cNvSpPr>
            <p:nvPr/>
          </p:nvSpPr>
          <p:spPr bwMode="auto">
            <a:xfrm>
              <a:off x="4803" y="1423"/>
              <a:ext cx="4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49539" name="Line 39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9536" name="Line 40"/>
          <p:cNvSpPr>
            <a:spLocks noChangeShapeType="1"/>
          </p:cNvSpPr>
          <p:nvPr/>
        </p:nvSpPr>
        <p:spPr bwMode="auto">
          <a:xfrm flipH="1">
            <a:off x="7469188" y="2514600"/>
            <a:ext cx="684212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37" name="Text Box 41"/>
          <p:cNvSpPr txBox="1">
            <a:spLocks noChangeArrowheads="1"/>
          </p:cNvSpPr>
          <p:nvPr/>
        </p:nvSpPr>
        <p:spPr bwMode="auto">
          <a:xfrm>
            <a:off x="5181600" y="4937125"/>
            <a:ext cx="312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swap_add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FB6128-4757-4B4E-A578-EAE2F6C1E92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solidFill>
                  <a:srgbClr val="000000"/>
                </a:solidFill>
                <a:ea typeface="宋体" charset="-122"/>
              </a:rPr>
              <a:t>Setup code in swap_add</a:t>
            </a:r>
          </a:p>
        </p:txBody>
      </p:sp>
      <p:graphicFrame>
        <p:nvGraphicFramePr>
          <p:cNvPr id="1101879" name="Group 5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9158336"/>
              </p:ext>
            </p:extLst>
          </p:nvPr>
        </p:nvGraphicFramePr>
        <p:xfrm>
          <a:off x="5257800" y="2057400"/>
          <a:ext cx="2174875" cy="3170240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1057(arg2)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16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534(arg1)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12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yp(&amp;arg2)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8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xp(&amp;arg1)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Return Addr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%ebp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-4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1583" name="Text Box 31"/>
          <p:cNvSpPr txBox="1">
            <a:spLocks noChangeArrowheads="1"/>
          </p:cNvSpPr>
          <p:nvPr/>
        </p:nvSpPr>
        <p:spPr bwMode="auto">
          <a:xfrm>
            <a:off x="5334000" y="1524000"/>
            <a:ext cx="2687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caller</a:t>
            </a:r>
          </a:p>
        </p:txBody>
      </p:sp>
      <p:sp>
        <p:nvSpPr>
          <p:cNvPr id="151584" name="Rectangle 32"/>
          <p:cNvSpPr>
            <a:spLocks noChangeArrowheads="1"/>
          </p:cNvSpPr>
          <p:nvPr/>
        </p:nvSpPr>
        <p:spPr bwMode="auto">
          <a:xfrm>
            <a:off x="546100" y="1524000"/>
            <a:ext cx="47117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400" dirty="0" err="1">
                <a:solidFill>
                  <a:srgbClr val="000000"/>
                </a:solidFill>
                <a:latin typeface="Times New Roman" charset="0"/>
              </a:rPr>
              <a:t>swap_add</a:t>
            </a:r>
            <a:r>
              <a:rPr lang="en-US" altLang="zh-CN" sz="2400" dirty="0">
                <a:solidFill>
                  <a:srgbClr val="000000"/>
                </a:solidFill>
                <a:latin typeface="Times New Roman" charset="0"/>
              </a:rPr>
              <a:t>:</a:t>
            </a:r>
          </a:p>
          <a:p>
            <a:pPr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charset="0"/>
              </a:rPr>
              <a:t>1 	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charset="0"/>
              </a:rPr>
              <a:t>pushl</a:t>
            </a:r>
            <a:r>
              <a:rPr lang="en-US" altLang="zh-CN" sz="2400" dirty="0">
                <a:solidFill>
                  <a:srgbClr val="0000FF"/>
                </a:solidFill>
                <a:latin typeface="Times New Roman" charset="0"/>
              </a:rPr>
              <a:t> %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charset="0"/>
              </a:rPr>
              <a:t>ebp</a:t>
            </a:r>
            <a:r>
              <a:rPr lang="en-US" altLang="zh-CN" sz="2400" dirty="0">
                <a:solidFill>
                  <a:srgbClr val="0000FF"/>
                </a:solidFill>
                <a:latin typeface="Times New Roman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charset="0"/>
              </a:rPr>
              <a:t>			                    </a:t>
            </a:r>
            <a:r>
              <a:rPr lang="en-US" altLang="zh-CN" sz="2400" i="1" dirty="0">
                <a:solidFill>
                  <a:srgbClr val="000000"/>
                </a:solidFill>
                <a:latin typeface="Times New Roman" charset="0"/>
              </a:rPr>
              <a:t>Save old </a:t>
            </a:r>
            <a:r>
              <a:rPr lang="en-US" altLang="zh-CN" sz="2400" dirty="0">
                <a:solidFill>
                  <a:srgbClr val="000000"/>
                </a:solidFill>
                <a:latin typeface="Times New Roman" charset="0"/>
              </a:rPr>
              <a:t>%</a:t>
            </a:r>
            <a:r>
              <a:rPr lang="en-US" altLang="zh-CN" sz="2400" dirty="0" err="1">
                <a:solidFill>
                  <a:srgbClr val="000000"/>
                </a:solidFill>
                <a:latin typeface="Times New Roman" charset="0"/>
              </a:rPr>
              <a:t>ebp</a:t>
            </a:r>
            <a:endParaRPr lang="en-US" altLang="zh-CN" sz="2400" dirty="0">
              <a:solidFill>
                <a:srgbClr val="000000"/>
              </a:solidFill>
              <a:latin typeface="Times New Roman" charset="0"/>
            </a:endParaRPr>
          </a:p>
          <a:p>
            <a:pPr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charset="0"/>
              </a:rPr>
              <a:t>2 	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charset="0"/>
              </a:rPr>
              <a:t>movl</a:t>
            </a:r>
            <a:r>
              <a:rPr lang="en-US" altLang="zh-CN" sz="2400" dirty="0">
                <a:solidFill>
                  <a:srgbClr val="0000FF"/>
                </a:solidFill>
                <a:latin typeface="Times New Roman" charset="0"/>
              </a:rPr>
              <a:t> %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charset="0"/>
              </a:rPr>
              <a:t>esp</a:t>
            </a:r>
            <a:r>
              <a:rPr lang="en-US" altLang="zh-CN" sz="2400" dirty="0">
                <a:solidFill>
                  <a:srgbClr val="0000FF"/>
                </a:solidFill>
                <a:latin typeface="Times New Roman" charset="0"/>
              </a:rPr>
              <a:t>,%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charset="0"/>
              </a:rPr>
              <a:t>ebp</a:t>
            </a:r>
            <a:r>
              <a:rPr lang="en-US" altLang="zh-CN" sz="2400" dirty="0">
                <a:solidFill>
                  <a:srgbClr val="0000FF"/>
                </a:solidFill>
                <a:latin typeface="Times New Roman" charset="0"/>
              </a:rPr>
              <a:t> 	</a:t>
            </a:r>
            <a:r>
              <a:rPr lang="en-US" altLang="zh-CN" sz="2400" dirty="0">
                <a:solidFill>
                  <a:srgbClr val="000000"/>
                </a:solidFill>
                <a:latin typeface="Times New Roman" charset="0"/>
              </a:rPr>
              <a:t>	</a:t>
            </a:r>
          </a:p>
          <a:p>
            <a:pPr>
              <a:buFontTx/>
              <a:buNone/>
            </a:pPr>
            <a:r>
              <a:rPr lang="en-US" altLang="zh-CN" sz="2400" i="1" dirty="0">
                <a:solidFill>
                  <a:srgbClr val="000000"/>
                </a:solidFill>
                <a:latin typeface="Times New Roman" charset="0"/>
              </a:rPr>
              <a:t>	       Set </a:t>
            </a:r>
            <a:r>
              <a:rPr lang="en-US" altLang="zh-CN" sz="2400" dirty="0">
                <a:solidFill>
                  <a:srgbClr val="000000"/>
                </a:solidFill>
                <a:latin typeface="Times New Roman" charset="0"/>
              </a:rPr>
              <a:t>%</a:t>
            </a:r>
            <a:r>
              <a:rPr lang="en-US" altLang="zh-CN" sz="2400" dirty="0" err="1">
                <a:solidFill>
                  <a:srgbClr val="000000"/>
                </a:solidFill>
                <a:latin typeface="Times New Roman" charset="0"/>
              </a:rPr>
              <a:t>ebp</a:t>
            </a:r>
            <a:r>
              <a:rPr lang="en-US" altLang="zh-CN" sz="2400" dirty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altLang="zh-CN" sz="2400" i="1" dirty="0">
                <a:solidFill>
                  <a:srgbClr val="000000"/>
                </a:solidFill>
                <a:latin typeface="Times New Roman" charset="0"/>
              </a:rPr>
              <a:t>as frame pointer</a:t>
            </a:r>
          </a:p>
          <a:p>
            <a:pPr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charset="0"/>
              </a:rPr>
              <a:t>3</a:t>
            </a:r>
            <a:r>
              <a:rPr lang="en-US" altLang="zh-CN" sz="2400" dirty="0">
                <a:solidFill>
                  <a:srgbClr val="000000"/>
                </a:solidFill>
                <a:latin typeface="Times New Roman" charset="0"/>
              </a:rPr>
              <a:t>	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charset="0"/>
              </a:rPr>
              <a:t>pushl</a:t>
            </a:r>
            <a:r>
              <a:rPr lang="en-US" altLang="zh-CN" sz="2400" dirty="0">
                <a:solidFill>
                  <a:srgbClr val="0000FF"/>
                </a:solidFill>
                <a:latin typeface="Times New Roman" charset="0"/>
              </a:rPr>
              <a:t> %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charset="0"/>
              </a:rPr>
              <a:t>ebx</a:t>
            </a:r>
            <a:endParaRPr lang="en-US" altLang="zh-CN" sz="2400" dirty="0">
              <a:solidFill>
                <a:srgbClr val="0000FF"/>
              </a:solidFill>
              <a:latin typeface="Times New Roman" charset="0"/>
            </a:endParaRPr>
          </a:p>
          <a:p>
            <a:pPr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charset="0"/>
              </a:rPr>
              <a:t>		                          Save %</a:t>
            </a:r>
            <a:r>
              <a:rPr lang="en-US" altLang="zh-CN" sz="2400" dirty="0" err="1">
                <a:solidFill>
                  <a:srgbClr val="000000"/>
                </a:solidFill>
                <a:latin typeface="Times New Roman" charset="0"/>
              </a:rPr>
              <a:t>ebx</a:t>
            </a:r>
            <a:endParaRPr lang="en-US" altLang="zh-CN" sz="2400" dirty="0">
              <a:solidFill>
                <a:srgbClr val="000000"/>
              </a:solidFill>
              <a:latin typeface="Times New Roman" charset="0"/>
            </a:endParaRPr>
          </a:p>
        </p:txBody>
      </p:sp>
      <p:grpSp>
        <p:nvGrpSpPr>
          <p:cNvPr id="151585" name="Group 36"/>
          <p:cNvGrpSpPr>
            <a:grpSpLocks/>
          </p:cNvGrpSpPr>
          <p:nvPr/>
        </p:nvGrpSpPr>
        <p:grpSpPr bwMode="auto">
          <a:xfrm>
            <a:off x="7467600" y="5013325"/>
            <a:ext cx="1327150" cy="396875"/>
            <a:chOff x="4465" y="1423"/>
            <a:chExt cx="836" cy="250"/>
          </a:xfrm>
        </p:grpSpPr>
        <p:sp>
          <p:nvSpPr>
            <p:cNvPr id="151590" name="Text Box 37"/>
            <p:cNvSpPr txBox="1">
              <a:spLocks noChangeArrowheads="1"/>
            </p:cNvSpPr>
            <p:nvPr/>
          </p:nvSpPr>
          <p:spPr bwMode="auto">
            <a:xfrm>
              <a:off x="4803" y="1423"/>
              <a:ext cx="4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51591" name="Line 38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1586" name="Group 56"/>
          <p:cNvGrpSpPr>
            <a:grpSpLocks/>
          </p:cNvGrpSpPr>
          <p:nvPr/>
        </p:nvGrpSpPr>
        <p:grpSpPr bwMode="auto">
          <a:xfrm>
            <a:off x="7467600" y="4572000"/>
            <a:ext cx="1370013" cy="396875"/>
            <a:chOff x="4465" y="1423"/>
            <a:chExt cx="863" cy="250"/>
          </a:xfrm>
        </p:grpSpPr>
        <p:sp>
          <p:nvSpPr>
            <p:cNvPr id="151588" name="Text Box 57"/>
            <p:cNvSpPr txBox="1">
              <a:spLocks noChangeArrowheads="1"/>
            </p:cNvSpPr>
            <p:nvPr/>
          </p:nvSpPr>
          <p:spPr bwMode="auto">
            <a:xfrm>
              <a:off x="4803" y="1423"/>
              <a:ext cx="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51589" name="Line 58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1587" name="Text Box 59"/>
          <p:cNvSpPr txBox="1">
            <a:spLocks noChangeArrowheads="1"/>
          </p:cNvSpPr>
          <p:nvPr/>
        </p:nvSpPr>
        <p:spPr bwMode="auto">
          <a:xfrm>
            <a:off x="5181600" y="5318125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swap_add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D4718D-80A8-6645-95D1-28DD8C447E0B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70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solidFill>
                  <a:srgbClr val="000000"/>
                </a:solidFill>
                <a:ea typeface="宋体" charset="-122"/>
              </a:rPr>
              <a:t>Body code in swap_add</a:t>
            </a:r>
          </a:p>
        </p:txBody>
      </p:sp>
      <p:graphicFrame>
        <p:nvGraphicFramePr>
          <p:cNvPr id="1106947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6106261"/>
              </p:ext>
            </p:extLst>
          </p:nvPr>
        </p:nvGraphicFramePr>
        <p:xfrm>
          <a:off x="5257800" y="2057400"/>
          <a:ext cx="2174875" cy="3170240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1057(arg2)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16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534(arg1)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12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yp(&amp;arg2)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8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xp(&amp;arg1)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Return Addr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%ebp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-4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3631" name="Text Box 37"/>
          <p:cNvSpPr txBox="1">
            <a:spLocks noChangeArrowheads="1"/>
          </p:cNvSpPr>
          <p:nvPr/>
        </p:nvSpPr>
        <p:spPr bwMode="auto">
          <a:xfrm>
            <a:off x="5334000" y="1524000"/>
            <a:ext cx="2687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caller</a:t>
            </a:r>
          </a:p>
        </p:txBody>
      </p:sp>
      <p:grpSp>
        <p:nvGrpSpPr>
          <p:cNvPr id="153632" name="Group 39"/>
          <p:cNvGrpSpPr>
            <a:grpSpLocks/>
          </p:cNvGrpSpPr>
          <p:nvPr/>
        </p:nvGrpSpPr>
        <p:grpSpPr bwMode="auto">
          <a:xfrm>
            <a:off x="7467600" y="5013325"/>
            <a:ext cx="1327150" cy="396875"/>
            <a:chOff x="4465" y="1423"/>
            <a:chExt cx="836" cy="250"/>
          </a:xfrm>
        </p:grpSpPr>
        <p:sp>
          <p:nvSpPr>
            <p:cNvPr id="153640" name="Text Box 40"/>
            <p:cNvSpPr txBox="1">
              <a:spLocks noChangeArrowheads="1"/>
            </p:cNvSpPr>
            <p:nvPr/>
          </p:nvSpPr>
          <p:spPr bwMode="auto">
            <a:xfrm>
              <a:off x="4803" y="1423"/>
              <a:ext cx="4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53641" name="Line 41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3633" name="Group 42"/>
          <p:cNvGrpSpPr>
            <a:grpSpLocks/>
          </p:cNvGrpSpPr>
          <p:nvPr/>
        </p:nvGrpSpPr>
        <p:grpSpPr bwMode="auto">
          <a:xfrm>
            <a:off x="7467600" y="4572000"/>
            <a:ext cx="1370013" cy="396875"/>
            <a:chOff x="4465" y="1423"/>
            <a:chExt cx="863" cy="250"/>
          </a:xfrm>
        </p:grpSpPr>
        <p:sp>
          <p:nvSpPr>
            <p:cNvPr id="153638" name="Text Box 43"/>
            <p:cNvSpPr txBox="1">
              <a:spLocks noChangeArrowheads="1"/>
            </p:cNvSpPr>
            <p:nvPr/>
          </p:nvSpPr>
          <p:spPr bwMode="auto">
            <a:xfrm>
              <a:off x="4803" y="1423"/>
              <a:ext cx="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53639" name="Line 44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634" name="Text Box 45"/>
          <p:cNvSpPr txBox="1">
            <a:spLocks noChangeArrowheads="1"/>
          </p:cNvSpPr>
          <p:nvPr/>
        </p:nvSpPr>
        <p:spPr bwMode="auto">
          <a:xfrm>
            <a:off x="5105400" y="5318125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swap_add</a:t>
            </a:r>
          </a:p>
        </p:txBody>
      </p:sp>
      <p:sp>
        <p:nvSpPr>
          <p:cNvPr id="153635" name="Text Box 46"/>
          <p:cNvSpPr txBox="1">
            <a:spLocks noChangeArrowheads="1"/>
          </p:cNvSpPr>
          <p:nvPr/>
        </p:nvSpPr>
        <p:spPr bwMode="auto">
          <a:xfrm>
            <a:off x="909638" y="4586288"/>
            <a:ext cx="2671762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xp(=&amp;arg1=%ebp+16)</a:t>
            </a:r>
          </a:p>
        </p:txBody>
      </p:sp>
      <p:sp>
        <p:nvSpPr>
          <p:cNvPr id="153636" name="Text Box 47"/>
          <p:cNvSpPr txBox="1">
            <a:spLocks noChangeArrowheads="1"/>
          </p:cNvSpPr>
          <p:nvPr/>
        </p:nvSpPr>
        <p:spPr bwMode="auto">
          <a:xfrm>
            <a:off x="166688" y="4572000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%edx</a:t>
            </a:r>
          </a:p>
        </p:txBody>
      </p:sp>
      <p:sp>
        <p:nvSpPr>
          <p:cNvPr id="153637" name="Rectangle 38"/>
          <p:cNvSpPr>
            <a:spLocks noChangeArrowheads="1"/>
          </p:cNvSpPr>
          <p:nvPr/>
        </p:nvSpPr>
        <p:spPr bwMode="auto">
          <a:xfrm>
            <a:off x="546100" y="1598613"/>
            <a:ext cx="4406900" cy="7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5 	movl 8(%ebp),%edx 	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	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Get xp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AEB430-CA23-CF40-8BB8-8D7C4B16673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71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solidFill>
                  <a:srgbClr val="000000"/>
                </a:solidFill>
                <a:ea typeface="宋体" charset="-122"/>
              </a:rPr>
              <a:t>Body code in swap_add</a:t>
            </a:r>
          </a:p>
        </p:txBody>
      </p:sp>
      <p:graphicFrame>
        <p:nvGraphicFramePr>
          <p:cNvPr id="1107971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9380259"/>
              </p:ext>
            </p:extLst>
          </p:nvPr>
        </p:nvGraphicFramePr>
        <p:xfrm>
          <a:off x="5257800" y="2057400"/>
          <a:ext cx="2174875" cy="3170240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1057(arg2)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16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534(arg1)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12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yp(&amp;arg2)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8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xp(&amp;arg1)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Return Addr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%ebp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-4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5679" name="Text Box 37"/>
          <p:cNvSpPr txBox="1">
            <a:spLocks noChangeArrowheads="1"/>
          </p:cNvSpPr>
          <p:nvPr/>
        </p:nvSpPr>
        <p:spPr bwMode="auto">
          <a:xfrm>
            <a:off x="5334000" y="1524000"/>
            <a:ext cx="2687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caller</a:t>
            </a:r>
          </a:p>
        </p:txBody>
      </p:sp>
      <p:grpSp>
        <p:nvGrpSpPr>
          <p:cNvPr id="155680" name="Group 39"/>
          <p:cNvGrpSpPr>
            <a:grpSpLocks/>
          </p:cNvGrpSpPr>
          <p:nvPr/>
        </p:nvGrpSpPr>
        <p:grpSpPr bwMode="auto">
          <a:xfrm>
            <a:off x="7467600" y="5013325"/>
            <a:ext cx="1327150" cy="396875"/>
            <a:chOff x="4465" y="1423"/>
            <a:chExt cx="836" cy="250"/>
          </a:xfrm>
        </p:grpSpPr>
        <p:sp>
          <p:nvSpPr>
            <p:cNvPr id="155690" name="Text Box 40"/>
            <p:cNvSpPr txBox="1">
              <a:spLocks noChangeArrowheads="1"/>
            </p:cNvSpPr>
            <p:nvPr/>
          </p:nvSpPr>
          <p:spPr bwMode="auto">
            <a:xfrm>
              <a:off x="4803" y="1423"/>
              <a:ext cx="4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55691" name="Line 41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5681" name="Group 42"/>
          <p:cNvGrpSpPr>
            <a:grpSpLocks/>
          </p:cNvGrpSpPr>
          <p:nvPr/>
        </p:nvGrpSpPr>
        <p:grpSpPr bwMode="auto">
          <a:xfrm>
            <a:off x="7467600" y="4572000"/>
            <a:ext cx="1370013" cy="396875"/>
            <a:chOff x="4465" y="1423"/>
            <a:chExt cx="863" cy="250"/>
          </a:xfrm>
        </p:grpSpPr>
        <p:sp>
          <p:nvSpPr>
            <p:cNvPr id="155688" name="Text Box 43"/>
            <p:cNvSpPr txBox="1">
              <a:spLocks noChangeArrowheads="1"/>
            </p:cNvSpPr>
            <p:nvPr/>
          </p:nvSpPr>
          <p:spPr bwMode="auto">
            <a:xfrm>
              <a:off x="4803" y="1423"/>
              <a:ext cx="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55689" name="Line 44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5682" name="Text Box 45"/>
          <p:cNvSpPr txBox="1">
            <a:spLocks noChangeArrowheads="1"/>
          </p:cNvSpPr>
          <p:nvPr/>
        </p:nvSpPr>
        <p:spPr bwMode="auto">
          <a:xfrm>
            <a:off x="5105400" y="5318125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swap_add</a:t>
            </a:r>
          </a:p>
        </p:txBody>
      </p:sp>
      <p:sp>
        <p:nvSpPr>
          <p:cNvPr id="155683" name="Text Box 46"/>
          <p:cNvSpPr txBox="1">
            <a:spLocks noChangeArrowheads="1"/>
          </p:cNvSpPr>
          <p:nvPr/>
        </p:nvSpPr>
        <p:spPr bwMode="auto">
          <a:xfrm>
            <a:off x="909638" y="4586288"/>
            <a:ext cx="2671762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xp(=&amp;arg1=%ebp+16)</a:t>
            </a:r>
          </a:p>
        </p:txBody>
      </p:sp>
      <p:sp>
        <p:nvSpPr>
          <p:cNvPr id="155684" name="Text Box 47"/>
          <p:cNvSpPr txBox="1">
            <a:spLocks noChangeArrowheads="1"/>
          </p:cNvSpPr>
          <p:nvPr/>
        </p:nvSpPr>
        <p:spPr bwMode="auto">
          <a:xfrm>
            <a:off x="166688" y="4572000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%edx</a:t>
            </a:r>
          </a:p>
        </p:txBody>
      </p:sp>
      <p:sp>
        <p:nvSpPr>
          <p:cNvPr id="155685" name="Text Box 48"/>
          <p:cNvSpPr txBox="1">
            <a:spLocks noChangeArrowheads="1"/>
          </p:cNvSpPr>
          <p:nvPr/>
        </p:nvSpPr>
        <p:spPr bwMode="auto">
          <a:xfrm>
            <a:off x="904875" y="5119688"/>
            <a:ext cx="2671763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yp(=&amp;arg2=%ebp+20)</a:t>
            </a:r>
          </a:p>
        </p:txBody>
      </p:sp>
      <p:sp>
        <p:nvSpPr>
          <p:cNvPr id="155686" name="Text Box 49"/>
          <p:cNvSpPr txBox="1">
            <a:spLocks noChangeArrowheads="1"/>
          </p:cNvSpPr>
          <p:nvPr/>
        </p:nvSpPr>
        <p:spPr bwMode="auto">
          <a:xfrm>
            <a:off x="161925" y="5105400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%ecx</a:t>
            </a:r>
          </a:p>
        </p:txBody>
      </p:sp>
      <p:sp>
        <p:nvSpPr>
          <p:cNvPr id="155687" name="Rectangle 38"/>
          <p:cNvSpPr>
            <a:spLocks noChangeArrowheads="1"/>
          </p:cNvSpPr>
          <p:nvPr/>
        </p:nvSpPr>
        <p:spPr bwMode="auto">
          <a:xfrm>
            <a:off x="546100" y="1598613"/>
            <a:ext cx="44069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5 	movl 8(%ebp),%edx 	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	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Get xp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6 	movl 12(%ebp),%ecx 	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	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Get yp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851F38-5C9C-7D44-8C3B-9623CB6E640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72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solidFill>
                  <a:srgbClr val="000000"/>
                </a:solidFill>
                <a:ea typeface="宋体" charset="-122"/>
              </a:rPr>
              <a:t>Body code in swap_add</a:t>
            </a:r>
          </a:p>
        </p:txBody>
      </p:sp>
      <p:graphicFrame>
        <p:nvGraphicFramePr>
          <p:cNvPr id="1110019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960451"/>
              </p:ext>
            </p:extLst>
          </p:nvPr>
        </p:nvGraphicFramePr>
        <p:xfrm>
          <a:off x="5257800" y="2057400"/>
          <a:ext cx="2174875" cy="3170240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1057(arg2)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16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534(arg1)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12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yp(&amp;arg2)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8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xp(&amp;arg1)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Return Addr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%ebp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-4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7727" name="Text Box 37"/>
          <p:cNvSpPr txBox="1">
            <a:spLocks noChangeArrowheads="1"/>
          </p:cNvSpPr>
          <p:nvPr/>
        </p:nvSpPr>
        <p:spPr bwMode="auto">
          <a:xfrm>
            <a:off x="5334000" y="1524000"/>
            <a:ext cx="2687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caller</a:t>
            </a:r>
          </a:p>
        </p:txBody>
      </p:sp>
      <p:sp>
        <p:nvSpPr>
          <p:cNvPr id="157728" name="Rectangle 38"/>
          <p:cNvSpPr>
            <a:spLocks noChangeArrowheads="1"/>
          </p:cNvSpPr>
          <p:nvPr/>
        </p:nvSpPr>
        <p:spPr bwMode="auto">
          <a:xfrm>
            <a:off x="546100" y="1598613"/>
            <a:ext cx="4406900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5 	movl 8(%ebp),%edx 	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	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Get xp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6 	movl 12(%ebp),%ecx 	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	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Get yp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7 	movl (%edx),%ebx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		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Get x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8 	movl (%ecx),%eax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		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Get y</a:t>
            </a:r>
          </a:p>
        </p:txBody>
      </p:sp>
      <p:grpSp>
        <p:nvGrpSpPr>
          <p:cNvPr id="157729" name="Group 39"/>
          <p:cNvGrpSpPr>
            <a:grpSpLocks/>
          </p:cNvGrpSpPr>
          <p:nvPr/>
        </p:nvGrpSpPr>
        <p:grpSpPr bwMode="auto">
          <a:xfrm>
            <a:off x="7467600" y="5013325"/>
            <a:ext cx="1327150" cy="396875"/>
            <a:chOff x="4465" y="1423"/>
            <a:chExt cx="836" cy="250"/>
          </a:xfrm>
        </p:grpSpPr>
        <p:sp>
          <p:nvSpPr>
            <p:cNvPr id="157742" name="Text Box 40"/>
            <p:cNvSpPr txBox="1">
              <a:spLocks noChangeArrowheads="1"/>
            </p:cNvSpPr>
            <p:nvPr/>
          </p:nvSpPr>
          <p:spPr bwMode="auto">
            <a:xfrm>
              <a:off x="4803" y="1423"/>
              <a:ext cx="4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57743" name="Line 41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7730" name="Group 42"/>
          <p:cNvGrpSpPr>
            <a:grpSpLocks/>
          </p:cNvGrpSpPr>
          <p:nvPr/>
        </p:nvGrpSpPr>
        <p:grpSpPr bwMode="auto">
          <a:xfrm>
            <a:off x="7467600" y="4572000"/>
            <a:ext cx="1370013" cy="396875"/>
            <a:chOff x="4465" y="1423"/>
            <a:chExt cx="863" cy="250"/>
          </a:xfrm>
        </p:grpSpPr>
        <p:sp>
          <p:nvSpPr>
            <p:cNvPr id="157740" name="Text Box 43"/>
            <p:cNvSpPr txBox="1">
              <a:spLocks noChangeArrowheads="1"/>
            </p:cNvSpPr>
            <p:nvPr/>
          </p:nvSpPr>
          <p:spPr bwMode="auto">
            <a:xfrm>
              <a:off x="4803" y="1423"/>
              <a:ext cx="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57741" name="Line 44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7731" name="Text Box 45"/>
          <p:cNvSpPr txBox="1">
            <a:spLocks noChangeArrowheads="1"/>
          </p:cNvSpPr>
          <p:nvPr/>
        </p:nvSpPr>
        <p:spPr bwMode="auto">
          <a:xfrm>
            <a:off x="5105400" y="5318125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swap_add</a:t>
            </a:r>
          </a:p>
        </p:txBody>
      </p:sp>
      <p:sp>
        <p:nvSpPr>
          <p:cNvPr id="157732" name="Text Box 46"/>
          <p:cNvSpPr txBox="1">
            <a:spLocks noChangeArrowheads="1"/>
          </p:cNvSpPr>
          <p:nvPr/>
        </p:nvSpPr>
        <p:spPr bwMode="auto">
          <a:xfrm>
            <a:off x="909638" y="4586288"/>
            <a:ext cx="2671762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xp(=&amp;arg1=%ebp+16)</a:t>
            </a:r>
          </a:p>
        </p:txBody>
      </p:sp>
      <p:sp>
        <p:nvSpPr>
          <p:cNvPr id="157733" name="Text Box 47"/>
          <p:cNvSpPr txBox="1">
            <a:spLocks noChangeArrowheads="1"/>
          </p:cNvSpPr>
          <p:nvPr/>
        </p:nvSpPr>
        <p:spPr bwMode="auto">
          <a:xfrm>
            <a:off x="166688" y="4572000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%edx</a:t>
            </a:r>
          </a:p>
        </p:txBody>
      </p:sp>
      <p:sp>
        <p:nvSpPr>
          <p:cNvPr id="157734" name="Text Box 48"/>
          <p:cNvSpPr txBox="1">
            <a:spLocks noChangeArrowheads="1"/>
          </p:cNvSpPr>
          <p:nvPr/>
        </p:nvSpPr>
        <p:spPr bwMode="auto">
          <a:xfrm>
            <a:off x="904875" y="5119688"/>
            <a:ext cx="2671763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yp(=&amp;arg2=%ebp+20)</a:t>
            </a:r>
          </a:p>
        </p:txBody>
      </p:sp>
      <p:sp>
        <p:nvSpPr>
          <p:cNvPr id="157735" name="Text Box 49"/>
          <p:cNvSpPr txBox="1">
            <a:spLocks noChangeArrowheads="1"/>
          </p:cNvSpPr>
          <p:nvPr/>
        </p:nvSpPr>
        <p:spPr bwMode="auto">
          <a:xfrm>
            <a:off x="161925" y="5105400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%ecx</a:t>
            </a:r>
          </a:p>
        </p:txBody>
      </p:sp>
      <p:sp>
        <p:nvSpPr>
          <p:cNvPr id="157736" name="Text Box 50"/>
          <p:cNvSpPr txBox="1">
            <a:spLocks noChangeArrowheads="1"/>
          </p:cNvSpPr>
          <p:nvPr/>
        </p:nvSpPr>
        <p:spPr bwMode="auto">
          <a:xfrm>
            <a:off x="895350" y="5613400"/>
            <a:ext cx="8286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  534  </a:t>
            </a:r>
          </a:p>
        </p:txBody>
      </p:sp>
      <p:sp>
        <p:nvSpPr>
          <p:cNvPr id="157737" name="Text Box 51"/>
          <p:cNvSpPr txBox="1">
            <a:spLocks noChangeArrowheads="1"/>
          </p:cNvSpPr>
          <p:nvPr/>
        </p:nvSpPr>
        <p:spPr bwMode="auto">
          <a:xfrm>
            <a:off x="152400" y="5599113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%ebx</a:t>
            </a:r>
          </a:p>
        </p:txBody>
      </p:sp>
      <p:sp>
        <p:nvSpPr>
          <p:cNvPr id="157738" name="Text Box 52"/>
          <p:cNvSpPr txBox="1">
            <a:spLocks noChangeArrowheads="1"/>
          </p:cNvSpPr>
          <p:nvPr/>
        </p:nvSpPr>
        <p:spPr bwMode="auto">
          <a:xfrm>
            <a:off x="890588" y="6146800"/>
            <a:ext cx="8286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 1057 </a:t>
            </a:r>
          </a:p>
        </p:txBody>
      </p:sp>
      <p:sp>
        <p:nvSpPr>
          <p:cNvPr id="157739" name="Text Box 53"/>
          <p:cNvSpPr txBox="1">
            <a:spLocks noChangeArrowheads="1"/>
          </p:cNvSpPr>
          <p:nvPr/>
        </p:nvSpPr>
        <p:spPr bwMode="auto">
          <a:xfrm>
            <a:off x="147638" y="6132513"/>
            <a:ext cx="804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%eax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729516-B083-6044-8990-D7BD371EC56D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73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solidFill>
                  <a:srgbClr val="000000"/>
                </a:solidFill>
                <a:ea typeface="宋体" charset="-122"/>
              </a:rPr>
              <a:t>Body code in swap_add</a:t>
            </a:r>
          </a:p>
        </p:txBody>
      </p:sp>
      <p:graphicFrame>
        <p:nvGraphicFramePr>
          <p:cNvPr id="1111043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9435675"/>
              </p:ext>
            </p:extLst>
          </p:nvPr>
        </p:nvGraphicFramePr>
        <p:xfrm>
          <a:off x="5257800" y="2057400"/>
          <a:ext cx="2174875" cy="3170240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1057(arg2)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16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1057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(arg1)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12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(&amp;arg2)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8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xp(&amp;arg1)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Return Addr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%ebp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-4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9775" name="Text Box 37"/>
          <p:cNvSpPr txBox="1">
            <a:spLocks noChangeArrowheads="1"/>
          </p:cNvSpPr>
          <p:nvPr/>
        </p:nvSpPr>
        <p:spPr bwMode="auto">
          <a:xfrm>
            <a:off x="5334000" y="1524000"/>
            <a:ext cx="2687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caller</a:t>
            </a:r>
          </a:p>
        </p:txBody>
      </p:sp>
      <p:sp>
        <p:nvSpPr>
          <p:cNvPr id="159776" name="Rectangle 38"/>
          <p:cNvSpPr>
            <a:spLocks noChangeArrowheads="1"/>
          </p:cNvSpPr>
          <p:nvPr/>
        </p:nvSpPr>
        <p:spPr bwMode="auto">
          <a:xfrm>
            <a:off x="546100" y="1524000"/>
            <a:ext cx="44069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9 	movl %eax, (%edx)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	       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Store y at *xp</a:t>
            </a:r>
          </a:p>
        </p:txBody>
      </p:sp>
      <p:grpSp>
        <p:nvGrpSpPr>
          <p:cNvPr id="159777" name="Group 39"/>
          <p:cNvGrpSpPr>
            <a:grpSpLocks/>
          </p:cNvGrpSpPr>
          <p:nvPr/>
        </p:nvGrpSpPr>
        <p:grpSpPr bwMode="auto">
          <a:xfrm>
            <a:off x="7467600" y="5013325"/>
            <a:ext cx="1327150" cy="396875"/>
            <a:chOff x="4465" y="1423"/>
            <a:chExt cx="836" cy="250"/>
          </a:xfrm>
        </p:grpSpPr>
        <p:sp>
          <p:nvSpPr>
            <p:cNvPr id="159790" name="Text Box 40"/>
            <p:cNvSpPr txBox="1">
              <a:spLocks noChangeArrowheads="1"/>
            </p:cNvSpPr>
            <p:nvPr/>
          </p:nvSpPr>
          <p:spPr bwMode="auto">
            <a:xfrm>
              <a:off x="4803" y="1423"/>
              <a:ext cx="4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59791" name="Line 41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9778" name="Group 42"/>
          <p:cNvGrpSpPr>
            <a:grpSpLocks/>
          </p:cNvGrpSpPr>
          <p:nvPr/>
        </p:nvGrpSpPr>
        <p:grpSpPr bwMode="auto">
          <a:xfrm>
            <a:off x="7467600" y="4572000"/>
            <a:ext cx="1370013" cy="396875"/>
            <a:chOff x="4465" y="1423"/>
            <a:chExt cx="863" cy="250"/>
          </a:xfrm>
        </p:grpSpPr>
        <p:sp>
          <p:nvSpPr>
            <p:cNvPr id="159788" name="Text Box 43"/>
            <p:cNvSpPr txBox="1">
              <a:spLocks noChangeArrowheads="1"/>
            </p:cNvSpPr>
            <p:nvPr/>
          </p:nvSpPr>
          <p:spPr bwMode="auto">
            <a:xfrm>
              <a:off x="4803" y="1423"/>
              <a:ext cx="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59789" name="Line 44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9779" name="Text Box 45"/>
          <p:cNvSpPr txBox="1">
            <a:spLocks noChangeArrowheads="1"/>
          </p:cNvSpPr>
          <p:nvPr/>
        </p:nvSpPr>
        <p:spPr bwMode="auto">
          <a:xfrm>
            <a:off x="5105400" y="5318125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swap_add</a:t>
            </a:r>
          </a:p>
        </p:txBody>
      </p:sp>
      <p:sp>
        <p:nvSpPr>
          <p:cNvPr id="159780" name="Text Box 46"/>
          <p:cNvSpPr txBox="1">
            <a:spLocks noChangeArrowheads="1"/>
          </p:cNvSpPr>
          <p:nvPr/>
        </p:nvSpPr>
        <p:spPr bwMode="auto">
          <a:xfrm>
            <a:off x="909638" y="4586288"/>
            <a:ext cx="2671762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xp(=&amp;arg1=%ebp+16)</a:t>
            </a:r>
          </a:p>
        </p:txBody>
      </p:sp>
      <p:sp>
        <p:nvSpPr>
          <p:cNvPr id="159781" name="Text Box 47"/>
          <p:cNvSpPr txBox="1">
            <a:spLocks noChangeArrowheads="1"/>
          </p:cNvSpPr>
          <p:nvPr/>
        </p:nvSpPr>
        <p:spPr bwMode="auto">
          <a:xfrm>
            <a:off x="166688" y="4572000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%edx</a:t>
            </a:r>
          </a:p>
        </p:txBody>
      </p:sp>
      <p:sp>
        <p:nvSpPr>
          <p:cNvPr id="159782" name="Text Box 48"/>
          <p:cNvSpPr txBox="1">
            <a:spLocks noChangeArrowheads="1"/>
          </p:cNvSpPr>
          <p:nvPr/>
        </p:nvSpPr>
        <p:spPr bwMode="auto">
          <a:xfrm>
            <a:off x="904875" y="5119688"/>
            <a:ext cx="2671763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yp(=&amp;arg2=%ebp+20)</a:t>
            </a:r>
          </a:p>
        </p:txBody>
      </p:sp>
      <p:sp>
        <p:nvSpPr>
          <p:cNvPr id="159783" name="Text Box 49"/>
          <p:cNvSpPr txBox="1">
            <a:spLocks noChangeArrowheads="1"/>
          </p:cNvSpPr>
          <p:nvPr/>
        </p:nvSpPr>
        <p:spPr bwMode="auto">
          <a:xfrm>
            <a:off x="161925" y="5105400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%ecx</a:t>
            </a:r>
          </a:p>
        </p:txBody>
      </p:sp>
      <p:sp>
        <p:nvSpPr>
          <p:cNvPr id="159784" name="Text Box 50"/>
          <p:cNvSpPr txBox="1">
            <a:spLocks noChangeArrowheads="1"/>
          </p:cNvSpPr>
          <p:nvPr/>
        </p:nvSpPr>
        <p:spPr bwMode="auto">
          <a:xfrm>
            <a:off x="895350" y="5613400"/>
            <a:ext cx="8286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  534  </a:t>
            </a:r>
          </a:p>
        </p:txBody>
      </p:sp>
      <p:sp>
        <p:nvSpPr>
          <p:cNvPr id="159785" name="Text Box 51"/>
          <p:cNvSpPr txBox="1">
            <a:spLocks noChangeArrowheads="1"/>
          </p:cNvSpPr>
          <p:nvPr/>
        </p:nvSpPr>
        <p:spPr bwMode="auto">
          <a:xfrm>
            <a:off x="152400" y="5599113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%ebx</a:t>
            </a:r>
          </a:p>
        </p:txBody>
      </p:sp>
      <p:sp>
        <p:nvSpPr>
          <p:cNvPr id="159786" name="Text Box 52"/>
          <p:cNvSpPr txBox="1">
            <a:spLocks noChangeArrowheads="1"/>
          </p:cNvSpPr>
          <p:nvPr/>
        </p:nvSpPr>
        <p:spPr bwMode="auto">
          <a:xfrm>
            <a:off x="890588" y="6146800"/>
            <a:ext cx="8286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 1057 </a:t>
            </a:r>
          </a:p>
        </p:txBody>
      </p:sp>
      <p:sp>
        <p:nvSpPr>
          <p:cNvPr id="159787" name="Text Box 53"/>
          <p:cNvSpPr txBox="1">
            <a:spLocks noChangeArrowheads="1"/>
          </p:cNvSpPr>
          <p:nvPr/>
        </p:nvSpPr>
        <p:spPr bwMode="auto">
          <a:xfrm>
            <a:off x="147638" y="6132513"/>
            <a:ext cx="804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%eax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BC3DBD-8974-5644-AF59-3663C0F8CE56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solidFill>
                  <a:srgbClr val="000000"/>
                </a:solidFill>
                <a:ea typeface="宋体" charset="-122"/>
              </a:rPr>
              <a:t>Body code in swap_add</a:t>
            </a:r>
          </a:p>
        </p:txBody>
      </p:sp>
      <p:graphicFrame>
        <p:nvGraphicFramePr>
          <p:cNvPr id="1112067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9868077"/>
              </p:ext>
            </p:extLst>
          </p:nvPr>
        </p:nvGraphicFramePr>
        <p:xfrm>
          <a:off x="5257800" y="2057400"/>
          <a:ext cx="2174875" cy="3170240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534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16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1057(arg1)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12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yp(&amp;arg2)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8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xp(&amp;arg1)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Return Addr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%ebp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-4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1823" name="Text Box 37"/>
          <p:cNvSpPr txBox="1">
            <a:spLocks noChangeArrowheads="1"/>
          </p:cNvSpPr>
          <p:nvPr/>
        </p:nvSpPr>
        <p:spPr bwMode="auto">
          <a:xfrm>
            <a:off x="5334000" y="1524000"/>
            <a:ext cx="2687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caller</a:t>
            </a:r>
          </a:p>
        </p:txBody>
      </p:sp>
      <p:sp>
        <p:nvSpPr>
          <p:cNvPr id="161824" name="Rectangle 38"/>
          <p:cNvSpPr>
            <a:spLocks noChangeArrowheads="1"/>
          </p:cNvSpPr>
          <p:nvPr/>
        </p:nvSpPr>
        <p:spPr bwMode="auto">
          <a:xfrm>
            <a:off x="546100" y="1524000"/>
            <a:ext cx="4406900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9 	movl %eax, (%edx) 	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       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Store y at *xp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10  movl %ebx, (%ecx)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	       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Store x at *yp</a:t>
            </a:r>
          </a:p>
        </p:txBody>
      </p:sp>
      <p:grpSp>
        <p:nvGrpSpPr>
          <p:cNvPr id="161825" name="Group 39"/>
          <p:cNvGrpSpPr>
            <a:grpSpLocks/>
          </p:cNvGrpSpPr>
          <p:nvPr/>
        </p:nvGrpSpPr>
        <p:grpSpPr bwMode="auto">
          <a:xfrm>
            <a:off x="7467600" y="5013325"/>
            <a:ext cx="1327150" cy="396875"/>
            <a:chOff x="4465" y="1423"/>
            <a:chExt cx="836" cy="250"/>
          </a:xfrm>
        </p:grpSpPr>
        <p:sp>
          <p:nvSpPr>
            <p:cNvPr id="161838" name="Text Box 40"/>
            <p:cNvSpPr txBox="1">
              <a:spLocks noChangeArrowheads="1"/>
            </p:cNvSpPr>
            <p:nvPr/>
          </p:nvSpPr>
          <p:spPr bwMode="auto">
            <a:xfrm>
              <a:off x="4803" y="1423"/>
              <a:ext cx="4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61839" name="Line 41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1826" name="Group 42"/>
          <p:cNvGrpSpPr>
            <a:grpSpLocks/>
          </p:cNvGrpSpPr>
          <p:nvPr/>
        </p:nvGrpSpPr>
        <p:grpSpPr bwMode="auto">
          <a:xfrm>
            <a:off x="7467600" y="4572000"/>
            <a:ext cx="1370013" cy="396875"/>
            <a:chOff x="4465" y="1423"/>
            <a:chExt cx="863" cy="250"/>
          </a:xfrm>
        </p:grpSpPr>
        <p:sp>
          <p:nvSpPr>
            <p:cNvPr id="161836" name="Text Box 43"/>
            <p:cNvSpPr txBox="1">
              <a:spLocks noChangeArrowheads="1"/>
            </p:cNvSpPr>
            <p:nvPr/>
          </p:nvSpPr>
          <p:spPr bwMode="auto">
            <a:xfrm>
              <a:off x="4803" y="1423"/>
              <a:ext cx="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61837" name="Line 44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1827" name="Text Box 45"/>
          <p:cNvSpPr txBox="1">
            <a:spLocks noChangeArrowheads="1"/>
          </p:cNvSpPr>
          <p:nvPr/>
        </p:nvSpPr>
        <p:spPr bwMode="auto">
          <a:xfrm>
            <a:off x="5105400" y="5318125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swap_add</a:t>
            </a:r>
          </a:p>
        </p:txBody>
      </p:sp>
      <p:sp>
        <p:nvSpPr>
          <p:cNvPr id="161828" name="Text Box 46"/>
          <p:cNvSpPr txBox="1">
            <a:spLocks noChangeArrowheads="1"/>
          </p:cNvSpPr>
          <p:nvPr/>
        </p:nvSpPr>
        <p:spPr bwMode="auto">
          <a:xfrm>
            <a:off x="909638" y="4586288"/>
            <a:ext cx="2671762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xp(=&amp;arg1=%ebp+16)</a:t>
            </a:r>
          </a:p>
        </p:txBody>
      </p:sp>
      <p:sp>
        <p:nvSpPr>
          <p:cNvPr id="161829" name="Text Box 47"/>
          <p:cNvSpPr txBox="1">
            <a:spLocks noChangeArrowheads="1"/>
          </p:cNvSpPr>
          <p:nvPr/>
        </p:nvSpPr>
        <p:spPr bwMode="auto">
          <a:xfrm>
            <a:off x="166688" y="4572000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%edx</a:t>
            </a:r>
          </a:p>
        </p:txBody>
      </p:sp>
      <p:sp>
        <p:nvSpPr>
          <p:cNvPr id="161830" name="Text Box 48"/>
          <p:cNvSpPr txBox="1">
            <a:spLocks noChangeArrowheads="1"/>
          </p:cNvSpPr>
          <p:nvPr/>
        </p:nvSpPr>
        <p:spPr bwMode="auto">
          <a:xfrm>
            <a:off x="904875" y="5119688"/>
            <a:ext cx="2671763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yp(=&amp;arg2=%ebp+20)</a:t>
            </a:r>
          </a:p>
        </p:txBody>
      </p:sp>
      <p:sp>
        <p:nvSpPr>
          <p:cNvPr id="161831" name="Text Box 49"/>
          <p:cNvSpPr txBox="1">
            <a:spLocks noChangeArrowheads="1"/>
          </p:cNvSpPr>
          <p:nvPr/>
        </p:nvSpPr>
        <p:spPr bwMode="auto">
          <a:xfrm>
            <a:off x="161925" y="5105400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%ecx</a:t>
            </a:r>
          </a:p>
        </p:txBody>
      </p:sp>
      <p:sp>
        <p:nvSpPr>
          <p:cNvPr id="161832" name="Text Box 50"/>
          <p:cNvSpPr txBox="1">
            <a:spLocks noChangeArrowheads="1"/>
          </p:cNvSpPr>
          <p:nvPr/>
        </p:nvSpPr>
        <p:spPr bwMode="auto">
          <a:xfrm>
            <a:off x="895350" y="5613400"/>
            <a:ext cx="8286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  534  </a:t>
            </a:r>
          </a:p>
        </p:txBody>
      </p:sp>
      <p:sp>
        <p:nvSpPr>
          <p:cNvPr id="161833" name="Text Box 51"/>
          <p:cNvSpPr txBox="1">
            <a:spLocks noChangeArrowheads="1"/>
          </p:cNvSpPr>
          <p:nvPr/>
        </p:nvSpPr>
        <p:spPr bwMode="auto">
          <a:xfrm>
            <a:off x="152400" y="5599113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%ebx</a:t>
            </a:r>
          </a:p>
        </p:txBody>
      </p:sp>
      <p:sp>
        <p:nvSpPr>
          <p:cNvPr id="161834" name="Text Box 52"/>
          <p:cNvSpPr txBox="1">
            <a:spLocks noChangeArrowheads="1"/>
          </p:cNvSpPr>
          <p:nvPr/>
        </p:nvSpPr>
        <p:spPr bwMode="auto">
          <a:xfrm>
            <a:off x="890588" y="6146800"/>
            <a:ext cx="8286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 1057 </a:t>
            </a:r>
          </a:p>
        </p:txBody>
      </p:sp>
      <p:sp>
        <p:nvSpPr>
          <p:cNvPr id="161835" name="Text Box 53"/>
          <p:cNvSpPr txBox="1">
            <a:spLocks noChangeArrowheads="1"/>
          </p:cNvSpPr>
          <p:nvPr/>
        </p:nvSpPr>
        <p:spPr bwMode="auto">
          <a:xfrm>
            <a:off x="147638" y="6132513"/>
            <a:ext cx="804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%eax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A7558D-4CDA-124B-AFB3-F69D166B565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75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solidFill>
                  <a:srgbClr val="000000"/>
                </a:solidFill>
                <a:ea typeface="宋体" charset="-122"/>
              </a:rPr>
              <a:t>Body code in swap_add</a:t>
            </a:r>
          </a:p>
        </p:txBody>
      </p:sp>
      <p:graphicFrame>
        <p:nvGraphicFramePr>
          <p:cNvPr id="1113091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422232"/>
              </p:ext>
            </p:extLst>
          </p:nvPr>
        </p:nvGraphicFramePr>
        <p:xfrm>
          <a:off x="5257800" y="2057400"/>
          <a:ext cx="2174875" cy="3170240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534(arg2)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16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1057(arg1)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12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yp(&amp;arg2)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8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xp(&amp;arg1)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Return Addr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%ebp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-4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3871" name="Text Box 37"/>
          <p:cNvSpPr txBox="1">
            <a:spLocks noChangeArrowheads="1"/>
          </p:cNvSpPr>
          <p:nvPr/>
        </p:nvSpPr>
        <p:spPr bwMode="auto">
          <a:xfrm>
            <a:off x="5334000" y="1524000"/>
            <a:ext cx="2687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caller</a:t>
            </a:r>
          </a:p>
        </p:txBody>
      </p:sp>
      <p:sp>
        <p:nvSpPr>
          <p:cNvPr id="163872" name="Rectangle 38"/>
          <p:cNvSpPr>
            <a:spLocks noChangeArrowheads="1"/>
          </p:cNvSpPr>
          <p:nvPr/>
        </p:nvSpPr>
        <p:spPr bwMode="auto">
          <a:xfrm>
            <a:off x="546100" y="1524000"/>
            <a:ext cx="4406900" cy="245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9 	movl %eax, (%edx)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	       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Store y at *xp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10  movl %ebx, (%ecx)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	       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Store x at *yp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11  addl %ebx,%eax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     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Set return value = x+y</a:t>
            </a:r>
          </a:p>
        </p:txBody>
      </p:sp>
      <p:grpSp>
        <p:nvGrpSpPr>
          <p:cNvPr id="163873" name="Group 39"/>
          <p:cNvGrpSpPr>
            <a:grpSpLocks/>
          </p:cNvGrpSpPr>
          <p:nvPr/>
        </p:nvGrpSpPr>
        <p:grpSpPr bwMode="auto">
          <a:xfrm>
            <a:off x="7467600" y="5013325"/>
            <a:ext cx="1327150" cy="396875"/>
            <a:chOff x="4465" y="1423"/>
            <a:chExt cx="836" cy="250"/>
          </a:xfrm>
        </p:grpSpPr>
        <p:sp>
          <p:nvSpPr>
            <p:cNvPr id="163886" name="Text Box 40"/>
            <p:cNvSpPr txBox="1">
              <a:spLocks noChangeArrowheads="1"/>
            </p:cNvSpPr>
            <p:nvPr/>
          </p:nvSpPr>
          <p:spPr bwMode="auto">
            <a:xfrm>
              <a:off x="4803" y="1423"/>
              <a:ext cx="4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63887" name="Line 41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3874" name="Group 42"/>
          <p:cNvGrpSpPr>
            <a:grpSpLocks/>
          </p:cNvGrpSpPr>
          <p:nvPr/>
        </p:nvGrpSpPr>
        <p:grpSpPr bwMode="auto">
          <a:xfrm>
            <a:off x="7467600" y="4572000"/>
            <a:ext cx="1370013" cy="396875"/>
            <a:chOff x="4465" y="1423"/>
            <a:chExt cx="863" cy="250"/>
          </a:xfrm>
        </p:grpSpPr>
        <p:sp>
          <p:nvSpPr>
            <p:cNvPr id="163884" name="Text Box 43"/>
            <p:cNvSpPr txBox="1">
              <a:spLocks noChangeArrowheads="1"/>
            </p:cNvSpPr>
            <p:nvPr/>
          </p:nvSpPr>
          <p:spPr bwMode="auto">
            <a:xfrm>
              <a:off x="4803" y="1423"/>
              <a:ext cx="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63885" name="Line 44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3875" name="Text Box 45"/>
          <p:cNvSpPr txBox="1">
            <a:spLocks noChangeArrowheads="1"/>
          </p:cNvSpPr>
          <p:nvPr/>
        </p:nvSpPr>
        <p:spPr bwMode="auto">
          <a:xfrm>
            <a:off x="5105400" y="5318125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swap_add</a:t>
            </a:r>
          </a:p>
        </p:txBody>
      </p:sp>
      <p:sp>
        <p:nvSpPr>
          <p:cNvPr id="163876" name="Text Box 46"/>
          <p:cNvSpPr txBox="1">
            <a:spLocks noChangeArrowheads="1"/>
          </p:cNvSpPr>
          <p:nvPr/>
        </p:nvSpPr>
        <p:spPr bwMode="auto">
          <a:xfrm>
            <a:off x="909638" y="4586288"/>
            <a:ext cx="2671762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xp(=&amp;arg1=%ebp+16)</a:t>
            </a:r>
          </a:p>
        </p:txBody>
      </p:sp>
      <p:sp>
        <p:nvSpPr>
          <p:cNvPr id="163877" name="Text Box 47"/>
          <p:cNvSpPr txBox="1">
            <a:spLocks noChangeArrowheads="1"/>
          </p:cNvSpPr>
          <p:nvPr/>
        </p:nvSpPr>
        <p:spPr bwMode="auto">
          <a:xfrm>
            <a:off x="166688" y="4572000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%edx</a:t>
            </a:r>
          </a:p>
        </p:txBody>
      </p:sp>
      <p:sp>
        <p:nvSpPr>
          <p:cNvPr id="163878" name="Text Box 48"/>
          <p:cNvSpPr txBox="1">
            <a:spLocks noChangeArrowheads="1"/>
          </p:cNvSpPr>
          <p:nvPr/>
        </p:nvSpPr>
        <p:spPr bwMode="auto">
          <a:xfrm>
            <a:off x="904875" y="5119688"/>
            <a:ext cx="2671763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yp(=&amp;arg2=%ebp+20)</a:t>
            </a:r>
          </a:p>
        </p:txBody>
      </p:sp>
      <p:sp>
        <p:nvSpPr>
          <p:cNvPr id="163879" name="Text Box 49"/>
          <p:cNvSpPr txBox="1">
            <a:spLocks noChangeArrowheads="1"/>
          </p:cNvSpPr>
          <p:nvPr/>
        </p:nvSpPr>
        <p:spPr bwMode="auto">
          <a:xfrm>
            <a:off x="161925" y="5105400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%ecx</a:t>
            </a:r>
          </a:p>
        </p:txBody>
      </p:sp>
      <p:sp>
        <p:nvSpPr>
          <p:cNvPr id="163880" name="Text Box 50"/>
          <p:cNvSpPr txBox="1">
            <a:spLocks noChangeArrowheads="1"/>
          </p:cNvSpPr>
          <p:nvPr/>
        </p:nvSpPr>
        <p:spPr bwMode="auto">
          <a:xfrm>
            <a:off x="895350" y="5613400"/>
            <a:ext cx="8286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  534  </a:t>
            </a:r>
          </a:p>
        </p:txBody>
      </p:sp>
      <p:sp>
        <p:nvSpPr>
          <p:cNvPr id="163881" name="Text Box 51"/>
          <p:cNvSpPr txBox="1">
            <a:spLocks noChangeArrowheads="1"/>
          </p:cNvSpPr>
          <p:nvPr/>
        </p:nvSpPr>
        <p:spPr bwMode="auto">
          <a:xfrm>
            <a:off x="152400" y="5599113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%ebx</a:t>
            </a:r>
          </a:p>
        </p:txBody>
      </p:sp>
      <p:sp>
        <p:nvSpPr>
          <p:cNvPr id="163882" name="Text Box 52"/>
          <p:cNvSpPr txBox="1">
            <a:spLocks noChangeArrowheads="1"/>
          </p:cNvSpPr>
          <p:nvPr/>
        </p:nvSpPr>
        <p:spPr bwMode="auto">
          <a:xfrm>
            <a:off x="890588" y="6146800"/>
            <a:ext cx="8286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Times New Roman" charset="0"/>
              </a:rPr>
              <a:t> 1591 </a:t>
            </a:r>
          </a:p>
        </p:txBody>
      </p:sp>
      <p:sp>
        <p:nvSpPr>
          <p:cNvPr id="163883" name="Text Box 53"/>
          <p:cNvSpPr txBox="1">
            <a:spLocks noChangeArrowheads="1"/>
          </p:cNvSpPr>
          <p:nvPr/>
        </p:nvSpPr>
        <p:spPr bwMode="auto">
          <a:xfrm>
            <a:off x="147638" y="6132513"/>
            <a:ext cx="804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%eax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C636DF-D972-C643-B6A4-0C8E3F3409BD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76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solidFill>
                  <a:srgbClr val="000000"/>
                </a:solidFill>
                <a:ea typeface="宋体" charset="-122"/>
              </a:rPr>
              <a:t>Finishing code in swap_add</a:t>
            </a:r>
          </a:p>
        </p:txBody>
      </p:sp>
      <p:graphicFrame>
        <p:nvGraphicFramePr>
          <p:cNvPr id="1114115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3280905"/>
              </p:ext>
            </p:extLst>
          </p:nvPr>
        </p:nvGraphicFramePr>
        <p:xfrm>
          <a:off x="5257800" y="2057400"/>
          <a:ext cx="2174875" cy="3170240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534(arg2)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16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1057(arg1)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12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yp(&amp;arg2)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8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xp(&amp;arg1)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Return Addr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%ebp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-4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5919" name="Text Box 37"/>
          <p:cNvSpPr txBox="1">
            <a:spLocks noChangeArrowheads="1"/>
          </p:cNvSpPr>
          <p:nvPr/>
        </p:nvSpPr>
        <p:spPr bwMode="auto">
          <a:xfrm>
            <a:off x="5334000" y="1524000"/>
            <a:ext cx="2687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caller</a:t>
            </a:r>
          </a:p>
        </p:txBody>
      </p:sp>
      <p:sp>
        <p:nvSpPr>
          <p:cNvPr id="165920" name="Rectangle 38"/>
          <p:cNvSpPr>
            <a:spLocks noChangeArrowheads="1"/>
          </p:cNvSpPr>
          <p:nvPr/>
        </p:nvSpPr>
        <p:spPr bwMode="auto">
          <a:xfrm>
            <a:off x="546100" y="1524000"/>
            <a:ext cx="4406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12  popl %ebx      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Restore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%ebx</a:t>
            </a:r>
            <a:endParaRPr lang="en-US" altLang="zh-CN" sz="2400" i="1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5921" name="Text Box 40"/>
          <p:cNvSpPr txBox="1">
            <a:spLocks noChangeArrowheads="1"/>
          </p:cNvSpPr>
          <p:nvPr/>
        </p:nvSpPr>
        <p:spPr bwMode="auto">
          <a:xfrm>
            <a:off x="8004175" y="50133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%esp</a:t>
            </a:r>
          </a:p>
        </p:txBody>
      </p:sp>
      <p:sp>
        <p:nvSpPr>
          <p:cNvPr id="165922" name="Line 41"/>
          <p:cNvSpPr>
            <a:spLocks noChangeShapeType="1"/>
          </p:cNvSpPr>
          <p:nvPr/>
        </p:nvSpPr>
        <p:spPr bwMode="auto">
          <a:xfrm flipH="1" flipV="1">
            <a:off x="7467600" y="4800600"/>
            <a:ext cx="608013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5923" name="Group 42"/>
          <p:cNvGrpSpPr>
            <a:grpSpLocks/>
          </p:cNvGrpSpPr>
          <p:nvPr/>
        </p:nvGrpSpPr>
        <p:grpSpPr bwMode="auto">
          <a:xfrm>
            <a:off x="7467600" y="4572000"/>
            <a:ext cx="1370013" cy="396875"/>
            <a:chOff x="4465" y="1423"/>
            <a:chExt cx="863" cy="250"/>
          </a:xfrm>
        </p:grpSpPr>
        <p:sp>
          <p:nvSpPr>
            <p:cNvPr id="165933" name="Text Box 43"/>
            <p:cNvSpPr txBox="1">
              <a:spLocks noChangeArrowheads="1"/>
            </p:cNvSpPr>
            <p:nvPr/>
          </p:nvSpPr>
          <p:spPr bwMode="auto">
            <a:xfrm>
              <a:off x="4803" y="1423"/>
              <a:ext cx="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65934" name="Line 44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5924" name="Text Box 45"/>
          <p:cNvSpPr txBox="1">
            <a:spLocks noChangeArrowheads="1"/>
          </p:cNvSpPr>
          <p:nvPr/>
        </p:nvSpPr>
        <p:spPr bwMode="auto">
          <a:xfrm>
            <a:off x="5105400" y="5318125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swap_add</a:t>
            </a:r>
          </a:p>
        </p:txBody>
      </p:sp>
      <p:sp>
        <p:nvSpPr>
          <p:cNvPr id="165925" name="Text Box 46"/>
          <p:cNvSpPr txBox="1">
            <a:spLocks noChangeArrowheads="1"/>
          </p:cNvSpPr>
          <p:nvPr/>
        </p:nvSpPr>
        <p:spPr bwMode="auto">
          <a:xfrm>
            <a:off x="909638" y="4586288"/>
            <a:ext cx="2671762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xp(=&amp;arg1=%ebp+16)</a:t>
            </a:r>
          </a:p>
        </p:txBody>
      </p:sp>
      <p:sp>
        <p:nvSpPr>
          <p:cNvPr id="165926" name="Text Box 47"/>
          <p:cNvSpPr txBox="1">
            <a:spLocks noChangeArrowheads="1"/>
          </p:cNvSpPr>
          <p:nvPr/>
        </p:nvSpPr>
        <p:spPr bwMode="auto">
          <a:xfrm>
            <a:off x="166688" y="4572000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%edx</a:t>
            </a:r>
          </a:p>
        </p:txBody>
      </p:sp>
      <p:sp>
        <p:nvSpPr>
          <p:cNvPr id="165927" name="Text Box 48"/>
          <p:cNvSpPr txBox="1">
            <a:spLocks noChangeArrowheads="1"/>
          </p:cNvSpPr>
          <p:nvPr/>
        </p:nvSpPr>
        <p:spPr bwMode="auto">
          <a:xfrm>
            <a:off x="904875" y="5119688"/>
            <a:ext cx="2671763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yp(=&amp;arg2=%ebp+20)</a:t>
            </a:r>
          </a:p>
        </p:txBody>
      </p:sp>
      <p:sp>
        <p:nvSpPr>
          <p:cNvPr id="165928" name="Text Box 49"/>
          <p:cNvSpPr txBox="1">
            <a:spLocks noChangeArrowheads="1"/>
          </p:cNvSpPr>
          <p:nvPr/>
        </p:nvSpPr>
        <p:spPr bwMode="auto">
          <a:xfrm>
            <a:off x="161925" y="5105400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%ecx</a:t>
            </a:r>
          </a:p>
        </p:txBody>
      </p:sp>
      <p:sp>
        <p:nvSpPr>
          <p:cNvPr id="165929" name="Text Box 50"/>
          <p:cNvSpPr txBox="1">
            <a:spLocks noChangeArrowheads="1"/>
          </p:cNvSpPr>
          <p:nvPr/>
        </p:nvSpPr>
        <p:spPr bwMode="auto">
          <a:xfrm>
            <a:off x="895350" y="5613400"/>
            <a:ext cx="19335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charset="0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latin typeface="Times New Roman" charset="0"/>
              </a:rPr>
              <a:t>original value  </a:t>
            </a:r>
          </a:p>
        </p:txBody>
      </p:sp>
      <p:sp>
        <p:nvSpPr>
          <p:cNvPr id="165930" name="Text Box 51"/>
          <p:cNvSpPr txBox="1">
            <a:spLocks noChangeArrowheads="1"/>
          </p:cNvSpPr>
          <p:nvPr/>
        </p:nvSpPr>
        <p:spPr bwMode="auto">
          <a:xfrm>
            <a:off x="152400" y="5599113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%ebx</a:t>
            </a:r>
          </a:p>
        </p:txBody>
      </p:sp>
      <p:sp>
        <p:nvSpPr>
          <p:cNvPr id="165931" name="Text Box 52"/>
          <p:cNvSpPr txBox="1">
            <a:spLocks noChangeArrowheads="1"/>
          </p:cNvSpPr>
          <p:nvPr/>
        </p:nvSpPr>
        <p:spPr bwMode="auto">
          <a:xfrm>
            <a:off x="890588" y="6146800"/>
            <a:ext cx="8286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 1591 </a:t>
            </a:r>
          </a:p>
        </p:txBody>
      </p:sp>
      <p:sp>
        <p:nvSpPr>
          <p:cNvPr id="165932" name="Text Box 53"/>
          <p:cNvSpPr txBox="1">
            <a:spLocks noChangeArrowheads="1"/>
          </p:cNvSpPr>
          <p:nvPr/>
        </p:nvSpPr>
        <p:spPr bwMode="auto">
          <a:xfrm>
            <a:off x="147638" y="6132513"/>
            <a:ext cx="804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%eax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F49772-11EC-824B-B236-BD1798920AC6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77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solidFill>
                  <a:srgbClr val="000000"/>
                </a:solidFill>
                <a:ea typeface="宋体" charset="-122"/>
              </a:rPr>
              <a:t>Finishing code in swap_add</a:t>
            </a:r>
          </a:p>
        </p:txBody>
      </p:sp>
      <p:graphicFrame>
        <p:nvGraphicFramePr>
          <p:cNvPr id="1116163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6001497"/>
              </p:ext>
            </p:extLst>
          </p:nvPr>
        </p:nvGraphicFramePr>
        <p:xfrm>
          <a:off x="5257800" y="2057400"/>
          <a:ext cx="2174875" cy="3170240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534(arg2)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16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1057(arg1)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12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yp(&amp;arg2)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8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xp(&amp;arg1)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Return Addr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%ebp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-4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7967" name="Text Box 37"/>
          <p:cNvSpPr txBox="1">
            <a:spLocks noChangeArrowheads="1"/>
          </p:cNvSpPr>
          <p:nvPr/>
        </p:nvSpPr>
        <p:spPr bwMode="auto">
          <a:xfrm>
            <a:off x="5334000" y="1524000"/>
            <a:ext cx="2687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caller</a:t>
            </a:r>
          </a:p>
        </p:txBody>
      </p:sp>
      <p:sp>
        <p:nvSpPr>
          <p:cNvPr id="167968" name="Rectangle 38"/>
          <p:cNvSpPr>
            <a:spLocks noChangeArrowheads="1"/>
          </p:cNvSpPr>
          <p:nvPr/>
        </p:nvSpPr>
        <p:spPr bwMode="auto">
          <a:xfrm>
            <a:off x="546100" y="1524000"/>
            <a:ext cx="4406900" cy="127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12  popl %ebx      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Restore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%ebx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13  movl %ebp, %esp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	      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Restore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%esp</a:t>
            </a:r>
          </a:p>
        </p:txBody>
      </p:sp>
      <p:sp>
        <p:nvSpPr>
          <p:cNvPr id="167969" name="Text Box 39"/>
          <p:cNvSpPr txBox="1">
            <a:spLocks noChangeArrowheads="1"/>
          </p:cNvSpPr>
          <p:nvPr/>
        </p:nvSpPr>
        <p:spPr bwMode="auto">
          <a:xfrm>
            <a:off x="8004175" y="50133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%esp</a:t>
            </a:r>
          </a:p>
        </p:txBody>
      </p:sp>
      <p:sp>
        <p:nvSpPr>
          <p:cNvPr id="167970" name="Line 40"/>
          <p:cNvSpPr>
            <a:spLocks noChangeShapeType="1"/>
          </p:cNvSpPr>
          <p:nvPr/>
        </p:nvSpPr>
        <p:spPr bwMode="auto">
          <a:xfrm flipH="1" flipV="1">
            <a:off x="7467600" y="4800600"/>
            <a:ext cx="608013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7971" name="Group 41"/>
          <p:cNvGrpSpPr>
            <a:grpSpLocks/>
          </p:cNvGrpSpPr>
          <p:nvPr/>
        </p:nvGrpSpPr>
        <p:grpSpPr bwMode="auto">
          <a:xfrm>
            <a:off x="7467600" y="4572000"/>
            <a:ext cx="1370013" cy="396875"/>
            <a:chOff x="4465" y="1423"/>
            <a:chExt cx="863" cy="250"/>
          </a:xfrm>
        </p:grpSpPr>
        <p:sp>
          <p:nvSpPr>
            <p:cNvPr id="167981" name="Text Box 42"/>
            <p:cNvSpPr txBox="1">
              <a:spLocks noChangeArrowheads="1"/>
            </p:cNvSpPr>
            <p:nvPr/>
          </p:nvSpPr>
          <p:spPr bwMode="auto">
            <a:xfrm>
              <a:off x="4803" y="1423"/>
              <a:ext cx="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67982" name="Line 43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7972" name="Text Box 44"/>
          <p:cNvSpPr txBox="1">
            <a:spLocks noChangeArrowheads="1"/>
          </p:cNvSpPr>
          <p:nvPr/>
        </p:nvSpPr>
        <p:spPr bwMode="auto">
          <a:xfrm>
            <a:off x="5105400" y="5318125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swap_add</a:t>
            </a:r>
          </a:p>
        </p:txBody>
      </p:sp>
      <p:sp>
        <p:nvSpPr>
          <p:cNvPr id="167973" name="Text Box 45"/>
          <p:cNvSpPr txBox="1">
            <a:spLocks noChangeArrowheads="1"/>
          </p:cNvSpPr>
          <p:nvPr/>
        </p:nvSpPr>
        <p:spPr bwMode="auto">
          <a:xfrm>
            <a:off x="909638" y="4586288"/>
            <a:ext cx="2671762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xp(=&amp;arg1=%ebp+16)</a:t>
            </a:r>
          </a:p>
        </p:txBody>
      </p:sp>
      <p:sp>
        <p:nvSpPr>
          <p:cNvPr id="167974" name="Text Box 46"/>
          <p:cNvSpPr txBox="1">
            <a:spLocks noChangeArrowheads="1"/>
          </p:cNvSpPr>
          <p:nvPr/>
        </p:nvSpPr>
        <p:spPr bwMode="auto">
          <a:xfrm>
            <a:off x="166688" y="4572000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%edx</a:t>
            </a:r>
          </a:p>
        </p:txBody>
      </p:sp>
      <p:sp>
        <p:nvSpPr>
          <p:cNvPr id="167975" name="Text Box 47"/>
          <p:cNvSpPr txBox="1">
            <a:spLocks noChangeArrowheads="1"/>
          </p:cNvSpPr>
          <p:nvPr/>
        </p:nvSpPr>
        <p:spPr bwMode="auto">
          <a:xfrm>
            <a:off x="904875" y="5119688"/>
            <a:ext cx="2671763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yp(=&amp;arg2=%ebp+20)</a:t>
            </a:r>
          </a:p>
        </p:txBody>
      </p:sp>
      <p:sp>
        <p:nvSpPr>
          <p:cNvPr id="167976" name="Text Box 48"/>
          <p:cNvSpPr txBox="1">
            <a:spLocks noChangeArrowheads="1"/>
          </p:cNvSpPr>
          <p:nvPr/>
        </p:nvSpPr>
        <p:spPr bwMode="auto">
          <a:xfrm>
            <a:off x="161925" y="5105400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%ecx</a:t>
            </a:r>
          </a:p>
        </p:txBody>
      </p:sp>
      <p:sp>
        <p:nvSpPr>
          <p:cNvPr id="167977" name="Text Box 49"/>
          <p:cNvSpPr txBox="1">
            <a:spLocks noChangeArrowheads="1"/>
          </p:cNvSpPr>
          <p:nvPr/>
        </p:nvSpPr>
        <p:spPr bwMode="auto">
          <a:xfrm>
            <a:off x="895350" y="5613400"/>
            <a:ext cx="19335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  original value  </a:t>
            </a:r>
          </a:p>
        </p:txBody>
      </p:sp>
      <p:sp>
        <p:nvSpPr>
          <p:cNvPr id="167978" name="Text Box 50"/>
          <p:cNvSpPr txBox="1">
            <a:spLocks noChangeArrowheads="1"/>
          </p:cNvSpPr>
          <p:nvPr/>
        </p:nvSpPr>
        <p:spPr bwMode="auto">
          <a:xfrm>
            <a:off x="152400" y="5599113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%ebx</a:t>
            </a:r>
          </a:p>
        </p:txBody>
      </p:sp>
      <p:sp>
        <p:nvSpPr>
          <p:cNvPr id="167979" name="Text Box 51"/>
          <p:cNvSpPr txBox="1">
            <a:spLocks noChangeArrowheads="1"/>
          </p:cNvSpPr>
          <p:nvPr/>
        </p:nvSpPr>
        <p:spPr bwMode="auto">
          <a:xfrm>
            <a:off x="890588" y="6146800"/>
            <a:ext cx="8286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 1591 </a:t>
            </a:r>
          </a:p>
        </p:txBody>
      </p:sp>
      <p:sp>
        <p:nvSpPr>
          <p:cNvPr id="167980" name="Text Box 52"/>
          <p:cNvSpPr txBox="1">
            <a:spLocks noChangeArrowheads="1"/>
          </p:cNvSpPr>
          <p:nvPr/>
        </p:nvSpPr>
        <p:spPr bwMode="auto">
          <a:xfrm>
            <a:off x="147638" y="6132513"/>
            <a:ext cx="804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%eax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112CD8-6E84-C243-B577-9B99222DA56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78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solidFill>
                  <a:srgbClr val="000000"/>
                </a:solidFill>
                <a:ea typeface="宋体" charset="-122"/>
              </a:rPr>
              <a:t>Finishing code in swap_add</a:t>
            </a:r>
          </a:p>
        </p:txBody>
      </p:sp>
      <p:graphicFrame>
        <p:nvGraphicFramePr>
          <p:cNvPr id="1117187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2538553"/>
              </p:ext>
            </p:extLst>
          </p:nvPr>
        </p:nvGraphicFramePr>
        <p:xfrm>
          <a:off x="5257800" y="2057400"/>
          <a:ext cx="2174875" cy="3170240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534(arg2)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-8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1057(arg1)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-12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(&amp;arg2)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-16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xp(&amp;arg1)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-20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Return Addr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%ebp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0015" name="Text Box 37"/>
          <p:cNvSpPr txBox="1">
            <a:spLocks noChangeArrowheads="1"/>
          </p:cNvSpPr>
          <p:nvPr/>
        </p:nvSpPr>
        <p:spPr bwMode="auto">
          <a:xfrm>
            <a:off x="5334000" y="1524000"/>
            <a:ext cx="2687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caller</a:t>
            </a:r>
          </a:p>
        </p:txBody>
      </p:sp>
      <p:sp>
        <p:nvSpPr>
          <p:cNvPr id="170016" name="Rectangle 38"/>
          <p:cNvSpPr>
            <a:spLocks noChangeArrowheads="1"/>
          </p:cNvSpPr>
          <p:nvPr/>
        </p:nvSpPr>
        <p:spPr bwMode="auto">
          <a:xfrm>
            <a:off x="546100" y="1524000"/>
            <a:ext cx="4406900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12  popl %ebx      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Restore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%ebx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13  movl %ebp, %esp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	      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Restore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%esp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14  popl %ebp     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Restore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%ebp</a:t>
            </a:r>
          </a:p>
        </p:txBody>
      </p:sp>
      <p:grpSp>
        <p:nvGrpSpPr>
          <p:cNvPr id="170017" name="Group 41"/>
          <p:cNvGrpSpPr>
            <a:grpSpLocks/>
          </p:cNvGrpSpPr>
          <p:nvPr/>
        </p:nvGrpSpPr>
        <p:grpSpPr bwMode="auto">
          <a:xfrm>
            <a:off x="7467600" y="2209800"/>
            <a:ext cx="1370013" cy="396875"/>
            <a:chOff x="4465" y="1423"/>
            <a:chExt cx="863" cy="250"/>
          </a:xfrm>
        </p:grpSpPr>
        <p:sp>
          <p:nvSpPr>
            <p:cNvPr id="170029" name="Text Box 42"/>
            <p:cNvSpPr txBox="1">
              <a:spLocks noChangeArrowheads="1"/>
            </p:cNvSpPr>
            <p:nvPr/>
          </p:nvSpPr>
          <p:spPr bwMode="auto">
            <a:xfrm>
              <a:off x="4803" y="1423"/>
              <a:ext cx="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70030" name="Line 43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0018" name="Text Box 45"/>
          <p:cNvSpPr txBox="1">
            <a:spLocks noChangeArrowheads="1"/>
          </p:cNvSpPr>
          <p:nvPr/>
        </p:nvSpPr>
        <p:spPr bwMode="auto">
          <a:xfrm>
            <a:off x="909638" y="4586288"/>
            <a:ext cx="2671762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xp(=&amp;arg1=%ebp+16)</a:t>
            </a:r>
          </a:p>
        </p:txBody>
      </p:sp>
      <p:sp>
        <p:nvSpPr>
          <p:cNvPr id="170019" name="Text Box 46"/>
          <p:cNvSpPr txBox="1">
            <a:spLocks noChangeArrowheads="1"/>
          </p:cNvSpPr>
          <p:nvPr/>
        </p:nvSpPr>
        <p:spPr bwMode="auto">
          <a:xfrm>
            <a:off x="166688" y="4572000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%edx</a:t>
            </a:r>
          </a:p>
        </p:txBody>
      </p:sp>
      <p:sp>
        <p:nvSpPr>
          <p:cNvPr id="170020" name="Text Box 47"/>
          <p:cNvSpPr txBox="1">
            <a:spLocks noChangeArrowheads="1"/>
          </p:cNvSpPr>
          <p:nvPr/>
        </p:nvSpPr>
        <p:spPr bwMode="auto">
          <a:xfrm>
            <a:off x="904875" y="5119688"/>
            <a:ext cx="2671763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yp(=&amp;arg2=%ebp+20)</a:t>
            </a:r>
          </a:p>
        </p:txBody>
      </p:sp>
      <p:sp>
        <p:nvSpPr>
          <p:cNvPr id="170021" name="Text Box 48"/>
          <p:cNvSpPr txBox="1">
            <a:spLocks noChangeArrowheads="1"/>
          </p:cNvSpPr>
          <p:nvPr/>
        </p:nvSpPr>
        <p:spPr bwMode="auto">
          <a:xfrm>
            <a:off x="161925" y="5105400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%ecx</a:t>
            </a:r>
          </a:p>
        </p:txBody>
      </p:sp>
      <p:sp>
        <p:nvSpPr>
          <p:cNvPr id="170022" name="Text Box 49"/>
          <p:cNvSpPr txBox="1">
            <a:spLocks noChangeArrowheads="1"/>
          </p:cNvSpPr>
          <p:nvPr/>
        </p:nvSpPr>
        <p:spPr bwMode="auto">
          <a:xfrm>
            <a:off x="895350" y="5613400"/>
            <a:ext cx="19335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  original value  </a:t>
            </a:r>
          </a:p>
        </p:txBody>
      </p:sp>
      <p:sp>
        <p:nvSpPr>
          <p:cNvPr id="170023" name="Text Box 50"/>
          <p:cNvSpPr txBox="1">
            <a:spLocks noChangeArrowheads="1"/>
          </p:cNvSpPr>
          <p:nvPr/>
        </p:nvSpPr>
        <p:spPr bwMode="auto">
          <a:xfrm>
            <a:off x="152400" y="5599113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%ebx</a:t>
            </a:r>
          </a:p>
        </p:txBody>
      </p:sp>
      <p:sp>
        <p:nvSpPr>
          <p:cNvPr id="170024" name="Text Box 51"/>
          <p:cNvSpPr txBox="1">
            <a:spLocks noChangeArrowheads="1"/>
          </p:cNvSpPr>
          <p:nvPr/>
        </p:nvSpPr>
        <p:spPr bwMode="auto">
          <a:xfrm>
            <a:off x="890588" y="6146800"/>
            <a:ext cx="8286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 1591 </a:t>
            </a:r>
          </a:p>
        </p:txBody>
      </p:sp>
      <p:sp>
        <p:nvSpPr>
          <p:cNvPr id="170025" name="Text Box 52"/>
          <p:cNvSpPr txBox="1">
            <a:spLocks noChangeArrowheads="1"/>
          </p:cNvSpPr>
          <p:nvPr/>
        </p:nvSpPr>
        <p:spPr bwMode="auto">
          <a:xfrm>
            <a:off x="147638" y="6132513"/>
            <a:ext cx="804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%eax</a:t>
            </a:r>
          </a:p>
        </p:txBody>
      </p:sp>
      <p:grpSp>
        <p:nvGrpSpPr>
          <p:cNvPr id="170026" name="Group 53"/>
          <p:cNvGrpSpPr>
            <a:grpSpLocks/>
          </p:cNvGrpSpPr>
          <p:nvPr/>
        </p:nvGrpSpPr>
        <p:grpSpPr bwMode="auto">
          <a:xfrm>
            <a:off x="7467600" y="4175125"/>
            <a:ext cx="1327150" cy="396875"/>
            <a:chOff x="4465" y="1423"/>
            <a:chExt cx="836" cy="250"/>
          </a:xfrm>
        </p:grpSpPr>
        <p:sp>
          <p:nvSpPr>
            <p:cNvPr id="170027" name="Text Box 54"/>
            <p:cNvSpPr txBox="1">
              <a:spLocks noChangeArrowheads="1"/>
            </p:cNvSpPr>
            <p:nvPr/>
          </p:nvSpPr>
          <p:spPr bwMode="auto">
            <a:xfrm>
              <a:off x="4803" y="1423"/>
              <a:ext cx="4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70028" name="Line 55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7AE524-D51A-8645-BF35-2E62EE8B90EB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79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solidFill>
                  <a:srgbClr val="000000"/>
                </a:solidFill>
                <a:ea typeface="宋体" charset="-122"/>
              </a:rPr>
              <a:t>Finishing code in swap_add</a:t>
            </a:r>
          </a:p>
        </p:txBody>
      </p:sp>
      <p:graphicFrame>
        <p:nvGraphicFramePr>
          <p:cNvPr id="1119235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9120385"/>
              </p:ext>
            </p:extLst>
          </p:nvPr>
        </p:nvGraphicFramePr>
        <p:xfrm>
          <a:off x="5257800" y="2057400"/>
          <a:ext cx="2174875" cy="3170240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534(arg2)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-8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1057(arg1)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-12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yp(&amp;arg2)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-16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xp(&amp;arg1)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-20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Return Addr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%ebp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Saved %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ebx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2063" name="Text Box 37"/>
          <p:cNvSpPr txBox="1">
            <a:spLocks noChangeArrowheads="1"/>
          </p:cNvSpPr>
          <p:nvPr/>
        </p:nvSpPr>
        <p:spPr bwMode="auto">
          <a:xfrm>
            <a:off x="5334000" y="1524000"/>
            <a:ext cx="2687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Stack frame for caller</a:t>
            </a:r>
          </a:p>
        </p:txBody>
      </p:sp>
      <p:sp>
        <p:nvSpPr>
          <p:cNvPr id="172064" name="Rectangle 38"/>
          <p:cNvSpPr>
            <a:spLocks noChangeArrowheads="1"/>
          </p:cNvSpPr>
          <p:nvPr/>
        </p:nvSpPr>
        <p:spPr bwMode="auto">
          <a:xfrm>
            <a:off x="546100" y="1524000"/>
            <a:ext cx="4406900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12  popl %ebx      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Restore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%ebx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13  movl %ebp, %esp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		      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Restore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%esp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14  popl %ebp     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Restore 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%ebp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imes New Roman" charset="0"/>
              </a:rPr>
              <a:t>15  ret 	</a:t>
            </a:r>
            <a:r>
              <a:rPr lang="en-US" altLang="zh-CN" sz="2400">
                <a:solidFill>
                  <a:srgbClr val="000000"/>
                </a:solidFill>
                <a:latin typeface="Times New Roman" charset="0"/>
              </a:rPr>
              <a:t>	     </a:t>
            </a:r>
            <a:r>
              <a:rPr lang="en-US" altLang="zh-CN" sz="2400" i="1">
                <a:solidFill>
                  <a:srgbClr val="000000"/>
                </a:solidFill>
                <a:latin typeface="Times New Roman" charset="0"/>
              </a:rPr>
              <a:t>Return to caller</a:t>
            </a:r>
          </a:p>
          <a:p>
            <a:pPr eaLnBrk="1" hangingPunct="1">
              <a:buFontTx/>
              <a:buNone/>
            </a:pPr>
            <a:endParaRPr lang="en-US" altLang="zh-CN" sz="1800">
              <a:latin typeface="Times New Roman" charset="0"/>
            </a:endParaRPr>
          </a:p>
          <a:p>
            <a:pPr eaLnBrk="1" hangingPunct="1"/>
            <a:r>
              <a:rPr lang="en-US" altLang="zh-CN" sz="2400">
                <a:latin typeface="Times New Roman" charset="0"/>
              </a:rPr>
              <a:t>Call by value</a:t>
            </a:r>
            <a:endParaRPr lang="en-US" altLang="zh-CN" sz="2400">
              <a:solidFill>
                <a:srgbClr val="000000"/>
              </a:solidFill>
              <a:latin typeface="Times New Roman" charset="0"/>
            </a:endParaRPr>
          </a:p>
        </p:txBody>
      </p:sp>
      <p:grpSp>
        <p:nvGrpSpPr>
          <p:cNvPr id="172065" name="Group 39"/>
          <p:cNvGrpSpPr>
            <a:grpSpLocks/>
          </p:cNvGrpSpPr>
          <p:nvPr/>
        </p:nvGrpSpPr>
        <p:grpSpPr bwMode="auto">
          <a:xfrm>
            <a:off x="7467600" y="2209800"/>
            <a:ext cx="1370013" cy="396875"/>
            <a:chOff x="4465" y="1423"/>
            <a:chExt cx="863" cy="250"/>
          </a:xfrm>
        </p:grpSpPr>
        <p:sp>
          <p:nvSpPr>
            <p:cNvPr id="172077" name="Text Box 40"/>
            <p:cNvSpPr txBox="1">
              <a:spLocks noChangeArrowheads="1"/>
            </p:cNvSpPr>
            <p:nvPr/>
          </p:nvSpPr>
          <p:spPr bwMode="auto">
            <a:xfrm>
              <a:off x="4803" y="1423"/>
              <a:ext cx="5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%ebp</a:t>
              </a:r>
            </a:p>
          </p:txBody>
        </p:sp>
        <p:sp>
          <p:nvSpPr>
            <p:cNvPr id="172078" name="Line 41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2066" name="Text Box 42"/>
          <p:cNvSpPr txBox="1">
            <a:spLocks noChangeArrowheads="1"/>
          </p:cNvSpPr>
          <p:nvPr/>
        </p:nvSpPr>
        <p:spPr bwMode="auto">
          <a:xfrm>
            <a:off x="909638" y="4586288"/>
            <a:ext cx="2671762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xp(=&amp;arg1=%ebp+16)</a:t>
            </a:r>
          </a:p>
        </p:txBody>
      </p:sp>
      <p:sp>
        <p:nvSpPr>
          <p:cNvPr id="172067" name="Text Box 43"/>
          <p:cNvSpPr txBox="1">
            <a:spLocks noChangeArrowheads="1"/>
          </p:cNvSpPr>
          <p:nvPr/>
        </p:nvSpPr>
        <p:spPr bwMode="auto">
          <a:xfrm>
            <a:off x="166688" y="4572000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%edx</a:t>
            </a:r>
          </a:p>
        </p:txBody>
      </p:sp>
      <p:sp>
        <p:nvSpPr>
          <p:cNvPr id="172068" name="Text Box 44"/>
          <p:cNvSpPr txBox="1">
            <a:spLocks noChangeArrowheads="1"/>
          </p:cNvSpPr>
          <p:nvPr/>
        </p:nvSpPr>
        <p:spPr bwMode="auto">
          <a:xfrm>
            <a:off x="904875" y="5119688"/>
            <a:ext cx="2671763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yp(=&amp;arg2=%ebp+20)</a:t>
            </a:r>
          </a:p>
        </p:txBody>
      </p:sp>
      <p:sp>
        <p:nvSpPr>
          <p:cNvPr id="172069" name="Text Box 45"/>
          <p:cNvSpPr txBox="1">
            <a:spLocks noChangeArrowheads="1"/>
          </p:cNvSpPr>
          <p:nvPr/>
        </p:nvSpPr>
        <p:spPr bwMode="auto">
          <a:xfrm>
            <a:off x="161925" y="5105400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%ecx</a:t>
            </a:r>
          </a:p>
        </p:txBody>
      </p:sp>
      <p:sp>
        <p:nvSpPr>
          <p:cNvPr id="172070" name="Text Box 46"/>
          <p:cNvSpPr txBox="1">
            <a:spLocks noChangeArrowheads="1"/>
          </p:cNvSpPr>
          <p:nvPr/>
        </p:nvSpPr>
        <p:spPr bwMode="auto">
          <a:xfrm>
            <a:off x="895350" y="5613400"/>
            <a:ext cx="19335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  original value  </a:t>
            </a:r>
          </a:p>
        </p:txBody>
      </p:sp>
      <p:sp>
        <p:nvSpPr>
          <p:cNvPr id="172071" name="Text Box 47"/>
          <p:cNvSpPr txBox="1">
            <a:spLocks noChangeArrowheads="1"/>
          </p:cNvSpPr>
          <p:nvPr/>
        </p:nvSpPr>
        <p:spPr bwMode="auto">
          <a:xfrm>
            <a:off x="152400" y="5599113"/>
            <a:ext cx="819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%ebx</a:t>
            </a:r>
          </a:p>
        </p:txBody>
      </p:sp>
      <p:sp>
        <p:nvSpPr>
          <p:cNvPr id="172072" name="Text Box 48"/>
          <p:cNvSpPr txBox="1">
            <a:spLocks noChangeArrowheads="1"/>
          </p:cNvSpPr>
          <p:nvPr/>
        </p:nvSpPr>
        <p:spPr bwMode="auto">
          <a:xfrm>
            <a:off x="890588" y="6146800"/>
            <a:ext cx="8286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 1591 </a:t>
            </a:r>
          </a:p>
        </p:txBody>
      </p:sp>
      <p:sp>
        <p:nvSpPr>
          <p:cNvPr id="172073" name="Text Box 49"/>
          <p:cNvSpPr txBox="1">
            <a:spLocks noChangeArrowheads="1"/>
          </p:cNvSpPr>
          <p:nvPr/>
        </p:nvSpPr>
        <p:spPr bwMode="auto">
          <a:xfrm>
            <a:off x="147638" y="6132513"/>
            <a:ext cx="804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charset="0"/>
              </a:rPr>
              <a:t>%eax</a:t>
            </a:r>
          </a:p>
        </p:txBody>
      </p:sp>
      <p:grpSp>
        <p:nvGrpSpPr>
          <p:cNvPr id="172074" name="Group 50"/>
          <p:cNvGrpSpPr>
            <a:grpSpLocks/>
          </p:cNvGrpSpPr>
          <p:nvPr/>
        </p:nvGrpSpPr>
        <p:grpSpPr bwMode="auto">
          <a:xfrm>
            <a:off x="7467600" y="3810000"/>
            <a:ext cx="1327150" cy="396875"/>
            <a:chOff x="4465" y="1423"/>
            <a:chExt cx="836" cy="250"/>
          </a:xfrm>
        </p:grpSpPr>
        <p:sp>
          <p:nvSpPr>
            <p:cNvPr id="172075" name="Text Box 51"/>
            <p:cNvSpPr txBox="1">
              <a:spLocks noChangeArrowheads="1"/>
            </p:cNvSpPr>
            <p:nvPr/>
          </p:nvSpPr>
          <p:spPr bwMode="auto">
            <a:xfrm>
              <a:off x="4803" y="1423"/>
              <a:ext cx="4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charset="0"/>
                </a:rPr>
                <a:t>%esp</a:t>
              </a:r>
            </a:p>
          </p:txBody>
        </p:sp>
        <p:sp>
          <p:nvSpPr>
            <p:cNvPr id="172076" name="Line 52"/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5" name="Rectangle 11"/>
          <p:cNvSpPr>
            <a:spLocks/>
          </p:cNvSpPr>
          <p:nvPr/>
        </p:nvSpPr>
        <p:spPr bwMode="auto">
          <a:xfrm>
            <a:off x="228600" y="2057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(x &gt;&gt; 1);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86400" y="15240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</p:spTree>
    <p:extLst>
      <p:ext uri="{BB962C8B-B14F-4D97-AF65-F5344CB8AC3E}">
        <p14:creationId xmlns:p14="http://schemas.microsoft.com/office/powerpoint/2010/main" val="147879117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5" name="Rectangle 11"/>
          <p:cNvSpPr>
            <a:spLocks/>
          </p:cNvSpPr>
          <p:nvPr/>
        </p:nvSpPr>
        <p:spPr bwMode="auto">
          <a:xfrm>
            <a:off x="304800" y="181356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if (x == 0)</a:t>
            </a:r>
          </a:p>
          <a:p>
            <a:pPr algn="l"/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(x &gt;&gt; 1);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Terminal Case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562600" y="181356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28600" y="4724400"/>
          <a:ext cx="5181601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+mn-lt"/>
                          <a:cs typeface="Courier New"/>
                        </a:rPr>
                        <a:t>Argument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atin typeface="+mn-lt"/>
                          <a:cs typeface="Courier New"/>
                        </a:rPr>
                        <a:t>Return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atin typeface="+mn-lt"/>
                          <a:cs typeface="Courier New"/>
                        </a:rPr>
                        <a:t>Return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03149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5" name="Rectangle 11"/>
          <p:cNvSpPr>
            <a:spLocks/>
          </p:cNvSpPr>
          <p:nvPr/>
        </p:nvSpPr>
        <p:spPr bwMode="auto">
          <a:xfrm>
            <a:off x="209320" y="1699719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(x &gt;&gt; 1);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Register Save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67120" y="1394919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28600" y="4724400"/>
          <a:ext cx="5181601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+mn-lt"/>
                          <a:cs typeface="Courier New"/>
                        </a:rPr>
                        <a:t>Argument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Line 10"/>
          <p:cNvSpPr>
            <a:spLocks noChangeShapeType="1"/>
          </p:cNvSpPr>
          <p:nvPr/>
        </p:nvSpPr>
        <p:spPr bwMode="auto">
          <a:xfrm flipH="1">
            <a:off x="7086600" y="65532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Rectangle 11"/>
          <p:cNvSpPr>
            <a:spLocks/>
          </p:cNvSpPr>
          <p:nvPr/>
        </p:nvSpPr>
        <p:spPr bwMode="auto">
          <a:xfrm>
            <a:off x="7593013" y="632460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2" name="Rectangle 13"/>
          <p:cNvSpPr>
            <a:spLocks/>
          </p:cNvSpPr>
          <p:nvPr/>
        </p:nvSpPr>
        <p:spPr bwMode="auto">
          <a:xfrm>
            <a:off x="5791200" y="50292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13" name="Rectangle 9"/>
          <p:cNvSpPr>
            <a:spLocks/>
          </p:cNvSpPr>
          <p:nvPr/>
        </p:nvSpPr>
        <p:spPr bwMode="auto">
          <a:xfrm>
            <a:off x="5791200" y="59436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16" name="Rectangle 9"/>
          <p:cNvSpPr>
            <a:spLocks/>
          </p:cNvSpPr>
          <p:nvPr/>
        </p:nvSpPr>
        <p:spPr bwMode="auto">
          <a:xfrm>
            <a:off x="5791200" y="63246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32033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5" name="Rectangle 11"/>
          <p:cNvSpPr>
            <a:spLocks/>
          </p:cNvSpPr>
          <p:nvPr/>
        </p:nvSpPr>
        <p:spPr bwMode="auto">
          <a:xfrm>
            <a:off x="220337" y="16002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 &amp; 1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 &gt;&gt; 1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Call Setup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78137" y="16002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28600" y="4724400"/>
          <a:ext cx="5181601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x &gt;&gt;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+mn-lt"/>
                          <a:cs typeface="Courier New"/>
                        </a:rPr>
                        <a:t>Rec. argument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rbx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x &amp; 1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err="1">
                          <a:latin typeface="+mn-lt"/>
                          <a:cs typeface="Courier New"/>
                        </a:rPr>
                        <a:t>Callee</a:t>
                      </a:r>
                      <a:r>
                        <a:rPr lang="en-US" b="0" i="0" dirty="0">
                          <a:latin typeface="+mn-lt"/>
                          <a:cs typeface="Courier New"/>
                        </a:rPr>
                        <a:t>-saved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23392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5" name="Rectangle 11"/>
          <p:cNvSpPr>
            <a:spLocks/>
          </p:cNvSpPr>
          <p:nvPr/>
        </p:nvSpPr>
        <p:spPr bwMode="auto">
          <a:xfrm>
            <a:off x="304800" y="1676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 &gt;&gt; 1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Call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562600" y="16764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  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28600" y="4724400"/>
          <a:ext cx="5181601" cy="138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rbx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x &amp; 1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err="1">
                          <a:latin typeface="+mn-lt"/>
                          <a:cs typeface="Courier New"/>
                        </a:rPr>
                        <a:t>Callee</a:t>
                      </a:r>
                      <a:r>
                        <a:rPr lang="en-US" b="0" i="0" dirty="0">
                          <a:latin typeface="+mn-lt"/>
                          <a:cs typeface="Courier New"/>
                        </a:rPr>
                        <a:t>-saved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atin typeface="+mn-lt"/>
                          <a:cs typeface="Courier New"/>
                        </a:rPr>
                        <a:t>Recursive</a:t>
                      </a:r>
                      <a:r>
                        <a:rPr lang="en-US" b="0" i="0" baseline="0" dirty="0">
                          <a:latin typeface="+mn-lt"/>
                          <a:cs typeface="Courier New"/>
                        </a:rPr>
                        <a:t> call return value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85190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5" name="Rectangle 11"/>
          <p:cNvSpPr>
            <a:spLocks/>
          </p:cNvSpPr>
          <p:nvPr/>
        </p:nvSpPr>
        <p:spPr bwMode="auto">
          <a:xfrm>
            <a:off x="220337" y="1676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return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(x &gt;&gt; 1);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Result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78137" y="16764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28600" y="4724400"/>
          <a:ext cx="5181601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rbx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x &amp; 1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err="1">
                          <a:latin typeface="+mn-lt"/>
                          <a:cs typeface="Courier New"/>
                        </a:rPr>
                        <a:t>Callee</a:t>
                      </a:r>
                      <a:r>
                        <a:rPr lang="en-US" b="0" i="0" dirty="0">
                          <a:latin typeface="+mn-lt"/>
                          <a:cs typeface="Courier New"/>
                        </a:rPr>
                        <a:t>-saved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atin typeface="+mn-lt"/>
                          <a:cs typeface="Courier New"/>
                        </a:rPr>
                        <a:t>R</a:t>
                      </a:r>
                      <a:r>
                        <a:rPr lang="en-US" b="0" i="0" baseline="0" dirty="0">
                          <a:latin typeface="+mn-lt"/>
                          <a:cs typeface="Courier New"/>
                        </a:rPr>
                        <a:t>eturn value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9236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5" name="Rectangle 11"/>
          <p:cNvSpPr>
            <a:spLocks/>
          </p:cNvSpPr>
          <p:nvPr/>
        </p:nvSpPr>
        <p:spPr bwMode="auto">
          <a:xfrm>
            <a:off x="228600" y="1676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(x &gt;&gt; 1);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Completion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34989" y="15240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619184"/>
              </p:ext>
            </p:extLst>
          </p:nvPr>
        </p:nvGraphicFramePr>
        <p:xfrm>
          <a:off x="228600" y="5105400"/>
          <a:ext cx="5181601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atin typeface="+mn-lt"/>
                          <a:cs typeface="Courier New"/>
                        </a:rPr>
                        <a:t>Return</a:t>
                      </a:r>
                      <a:r>
                        <a:rPr lang="en-US" b="0" i="0" baseline="0" dirty="0">
                          <a:latin typeface="+mn-lt"/>
                          <a:cs typeface="Courier New"/>
                        </a:rPr>
                        <a:t> value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+mn-lt"/>
                          <a:cs typeface="Courier New"/>
                        </a:rPr>
                        <a:t>Return</a:t>
                      </a:r>
                      <a:r>
                        <a:rPr lang="en-US" b="0" i="0" baseline="0" dirty="0">
                          <a:latin typeface="+mn-lt"/>
                          <a:cs typeface="Courier New"/>
                        </a:rPr>
                        <a:t> value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Line 10"/>
          <p:cNvSpPr>
            <a:spLocks noChangeShapeType="1"/>
          </p:cNvSpPr>
          <p:nvPr/>
        </p:nvSpPr>
        <p:spPr bwMode="auto">
          <a:xfrm flipH="1">
            <a:off x="7086600" y="61722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Rectangle 11"/>
          <p:cNvSpPr>
            <a:spLocks/>
          </p:cNvSpPr>
          <p:nvPr/>
        </p:nvSpPr>
        <p:spPr bwMode="auto">
          <a:xfrm>
            <a:off x="7593013" y="594360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2" name="Rectangle 13"/>
          <p:cNvSpPr>
            <a:spLocks/>
          </p:cNvSpPr>
          <p:nvPr/>
        </p:nvSpPr>
        <p:spPr bwMode="auto">
          <a:xfrm>
            <a:off x="5791200" y="54102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917320536"/>
      </p:ext>
    </p:extLst>
  </p:cSld>
  <p:clrMapOvr>
    <a:masterClrMapping/>
  </p:clrMapOvr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15981</TotalTime>
  <Words>5787</Words>
  <Application>Microsoft Macintosh PowerPoint</Application>
  <PresentationFormat>全屏显示(4:3)</PresentationFormat>
  <Paragraphs>1536</Paragraphs>
  <Slides>86</Slides>
  <Notes>80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86</vt:i4>
      </vt:variant>
    </vt:vector>
  </HeadingPairs>
  <TitlesOfParts>
    <vt:vector size="98" baseType="lpstr">
      <vt:lpstr>方正姚体</vt:lpstr>
      <vt:lpstr>宋体</vt:lpstr>
      <vt:lpstr>Calibri Bold</vt:lpstr>
      <vt:lpstr>Arial Narrow Bold</vt:lpstr>
      <vt:lpstr>Calibri</vt:lpstr>
      <vt:lpstr>Comic Sans MS</vt:lpstr>
      <vt:lpstr>Courier New</vt:lpstr>
      <vt:lpstr>Courier New Bold</vt:lpstr>
      <vt:lpstr>Tahoma</vt:lpstr>
      <vt:lpstr>Times New Roman</vt:lpstr>
      <vt:lpstr>Wingdings</vt:lpstr>
      <vt:lpstr>icfp99</vt:lpstr>
      <vt:lpstr>程序的机器级表示（5）</vt:lpstr>
      <vt:lpstr>Procedure Call</vt:lpstr>
      <vt:lpstr>Outline</vt:lpstr>
      <vt:lpstr>Execution within Procedure/Function</vt:lpstr>
      <vt:lpstr>Procedure/Function call</vt:lpstr>
      <vt:lpstr>Basic Concept</vt:lpstr>
      <vt:lpstr>Basic Concept</vt:lpstr>
      <vt:lpstr>Procedure/Function Implementation</vt:lpstr>
      <vt:lpstr>Procedure/Function Implementation</vt:lpstr>
      <vt:lpstr>Invoke Callee</vt:lpstr>
      <vt:lpstr>Execution of call and ret</vt:lpstr>
      <vt:lpstr>Procedure/Function Implementation</vt:lpstr>
      <vt:lpstr>Return to Caller</vt:lpstr>
      <vt:lpstr>Execution of call and ret</vt:lpstr>
      <vt:lpstr>Procedure/Function Implementation</vt:lpstr>
      <vt:lpstr>Stack Frame Structure</vt:lpstr>
      <vt:lpstr>Stack Frame Structure</vt:lpstr>
      <vt:lpstr>Frame Chain</vt:lpstr>
      <vt:lpstr>Frame Chain</vt:lpstr>
      <vt:lpstr>Frame Chain</vt:lpstr>
      <vt:lpstr>Frame Chain</vt:lpstr>
      <vt:lpstr>Frame Chain</vt:lpstr>
      <vt:lpstr>Frame Chain</vt:lpstr>
      <vt:lpstr>Frame Chain</vt:lpstr>
      <vt:lpstr>Frame Chain</vt:lpstr>
      <vt:lpstr>Frame Chain</vt:lpstr>
      <vt:lpstr>Frame Chain</vt:lpstr>
      <vt:lpstr>Restore Caller %ebp</vt:lpstr>
      <vt:lpstr>Execution of call and ret</vt:lpstr>
      <vt:lpstr>Memory Layout</vt:lpstr>
      <vt:lpstr>Passing Data: Arguments</vt:lpstr>
      <vt:lpstr>Passing Data: Arguments</vt:lpstr>
      <vt:lpstr>Passing Data: Arguments</vt:lpstr>
      <vt:lpstr>Passing Data: Arguments</vt:lpstr>
      <vt:lpstr>Passing Data: Arguments</vt:lpstr>
      <vt:lpstr>Passing Data: Arguments</vt:lpstr>
      <vt:lpstr>Passing Data: Arguments</vt:lpstr>
      <vt:lpstr>Passing Data: Return Value</vt:lpstr>
      <vt:lpstr>Procedure/Function Implementation</vt:lpstr>
      <vt:lpstr>Calling Convention</vt:lpstr>
      <vt:lpstr>Calling Convention</vt:lpstr>
      <vt:lpstr>Callee-save Registers</vt:lpstr>
      <vt:lpstr>Calling Convention</vt:lpstr>
      <vt:lpstr>Caller-save Registers</vt:lpstr>
      <vt:lpstr>Procedure/Function Implementation</vt:lpstr>
      <vt:lpstr>Local Variable</vt:lpstr>
      <vt:lpstr>Local Variable</vt:lpstr>
      <vt:lpstr>Put it Together</vt:lpstr>
      <vt:lpstr>Put it Together</vt:lpstr>
      <vt:lpstr>Put it Together</vt:lpstr>
      <vt:lpstr>Put it Together</vt:lpstr>
      <vt:lpstr>Put it Together</vt:lpstr>
      <vt:lpstr>Put it Together</vt:lpstr>
      <vt:lpstr>Put it Together</vt:lpstr>
      <vt:lpstr>Put it Together</vt:lpstr>
      <vt:lpstr>Put it Together</vt:lpstr>
      <vt:lpstr>Put it Together</vt:lpstr>
      <vt:lpstr>Put it Together</vt:lpstr>
      <vt:lpstr>Put it Together</vt:lpstr>
      <vt:lpstr>Put it Together</vt:lpstr>
      <vt:lpstr>Example</vt:lpstr>
      <vt:lpstr>Example</vt:lpstr>
      <vt:lpstr>Example</vt:lpstr>
      <vt:lpstr>Parameter Passing</vt:lpstr>
      <vt:lpstr>Parameter Passing</vt:lpstr>
      <vt:lpstr>Call Instruction</vt:lpstr>
      <vt:lpstr>Setup code in swap_add</vt:lpstr>
      <vt:lpstr>Setup code in swap_add</vt:lpstr>
      <vt:lpstr>Setup code in swap_add</vt:lpstr>
      <vt:lpstr>Body code in swap_add</vt:lpstr>
      <vt:lpstr>Body code in swap_add</vt:lpstr>
      <vt:lpstr>Body code in swap_add</vt:lpstr>
      <vt:lpstr>Body code in swap_add</vt:lpstr>
      <vt:lpstr>Body code in swap_add</vt:lpstr>
      <vt:lpstr>Body code in swap_add</vt:lpstr>
      <vt:lpstr>Finishing code in swap_add</vt:lpstr>
      <vt:lpstr>Finishing code in swap_add</vt:lpstr>
      <vt:lpstr>Finishing code in swap_add</vt:lpstr>
      <vt:lpstr>Finishing code in swap_add</vt:lpstr>
      <vt:lpstr>Recursive Function</vt:lpstr>
      <vt:lpstr>Recursive Function Terminal Case</vt:lpstr>
      <vt:lpstr>Recursive Function Register Save</vt:lpstr>
      <vt:lpstr>Recursive Function Call Setup</vt:lpstr>
      <vt:lpstr>Recursive Function Call</vt:lpstr>
      <vt:lpstr>Recursive Function Result</vt:lpstr>
      <vt:lpstr>Recursive Function Completion</vt:lpstr>
    </vt:vector>
  </TitlesOfParts>
  <Company>Digital Integrity,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</dc:title>
  <dc:creator>Binyu Zang</dc:creator>
  <cp:lastModifiedBy>7025</cp:lastModifiedBy>
  <cp:revision>563</cp:revision>
  <dcterms:created xsi:type="dcterms:W3CDTF">2000-01-15T07:54:11Z</dcterms:created>
  <dcterms:modified xsi:type="dcterms:W3CDTF">2024-11-10T23:43:13Z</dcterms:modified>
</cp:coreProperties>
</file>