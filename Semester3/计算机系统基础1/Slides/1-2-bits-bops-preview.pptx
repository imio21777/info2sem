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4"/>
  </p:notesMasterIdLst>
  <p:handoutMasterIdLst>
    <p:handoutMasterId r:id="rId55"/>
  </p:handoutMasterIdLst>
  <p:sldIdLst>
    <p:sldId id="808" r:id="rId2"/>
    <p:sldId id="809" r:id="rId3"/>
    <p:sldId id="810" r:id="rId4"/>
    <p:sldId id="811" r:id="rId5"/>
    <p:sldId id="813" r:id="rId6"/>
    <p:sldId id="815" r:id="rId7"/>
    <p:sldId id="922" r:id="rId8"/>
    <p:sldId id="816" r:id="rId9"/>
    <p:sldId id="817" r:id="rId10"/>
    <p:sldId id="957" r:id="rId11"/>
    <p:sldId id="958" r:id="rId12"/>
    <p:sldId id="959" r:id="rId13"/>
    <p:sldId id="960" r:id="rId14"/>
    <p:sldId id="961" r:id="rId15"/>
    <p:sldId id="925" r:id="rId16"/>
    <p:sldId id="926" r:id="rId17"/>
    <p:sldId id="927" r:id="rId18"/>
    <p:sldId id="928" r:id="rId19"/>
    <p:sldId id="822" r:id="rId20"/>
    <p:sldId id="823" r:id="rId21"/>
    <p:sldId id="824" r:id="rId22"/>
    <p:sldId id="825" r:id="rId23"/>
    <p:sldId id="852" r:id="rId24"/>
    <p:sldId id="880" r:id="rId25"/>
    <p:sldId id="929" r:id="rId26"/>
    <p:sldId id="930" r:id="rId27"/>
    <p:sldId id="898" r:id="rId28"/>
    <p:sldId id="906" r:id="rId29"/>
    <p:sldId id="907" r:id="rId30"/>
    <p:sldId id="908" r:id="rId31"/>
    <p:sldId id="909" r:id="rId32"/>
    <p:sldId id="910" r:id="rId33"/>
    <p:sldId id="911" r:id="rId34"/>
    <p:sldId id="912" r:id="rId35"/>
    <p:sldId id="913" r:id="rId36"/>
    <p:sldId id="935" r:id="rId37"/>
    <p:sldId id="915" r:id="rId38"/>
    <p:sldId id="931" r:id="rId39"/>
    <p:sldId id="916" r:id="rId40"/>
    <p:sldId id="917" r:id="rId41"/>
    <p:sldId id="918" r:id="rId42"/>
    <p:sldId id="919" r:id="rId43"/>
    <p:sldId id="932" r:id="rId44"/>
    <p:sldId id="933" r:id="rId45"/>
    <p:sldId id="934" r:id="rId46"/>
    <p:sldId id="936" r:id="rId47"/>
    <p:sldId id="937" r:id="rId48"/>
    <p:sldId id="938" r:id="rId49"/>
    <p:sldId id="939" r:id="rId50"/>
    <p:sldId id="940" r:id="rId51"/>
    <p:sldId id="941" r:id="rId52"/>
    <p:sldId id="963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CC66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 autoAdjust="0"/>
    <p:restoredTop sz="84726" autoAdjust="0"/>
  </p:normalViewPr>
  <p:slideViewPr>
    <p:cSldViewPr>
      <p:cViewPr varScale="1">
        <p:scale>
          <a:sx n="107" d="100"/>
          <a:sy n="107" d="100"/>
        </p:scale>
        <p:origin x="2656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7.xml"/><Relationship Id="rId13" Type="http://schemas.openxmlformats.org/officeDocument/2006/relationships/slide" Target="slides/slide48.xml"/><Relationship Id="rId3" Type="http://schemas.openxmlformats.org/officeDocument/2006/relationships/slide" Target="slides/slide31.xml"/><Relationship Id="rId7" Type="http://schemas.openxmlformats.org/officeDocument/2006/relationships/slide" Target="slides/slide35.xml"/><Relationship Id="rId12" Type="http://schemas.openxmlformats.org/officeDocument/2006/relationships/slide" Target="slides/slide47.xml"/><Relationship Id="rId2" Type="http://schemas.openxmlformats.org/officeDocument/2006/relationships/slide" Target="slides/slide30.xml"/><Relationship Id="rId16" Type="http://schemas.openxmlformats.org/officeDocument/2006/relationships/slide" Target="slides/slide51.xml"/><Relationship Id="rId1" Type="http://schemas.openxmlformats.org/officeDocument/2006/relationships/slide" Target="slides/slide28.xml"/><Relationship Id="rId6" Type="http://schemas.openxmlformats.org/officeDocument/2006/relationships/slide" Target="slides/slide34.xml"/><Relationship Id="rId11" Type="http://schemas.openxmlformats.org/officeDocument/2006/relationships/slide" Target="slides/slide46.xml"/><Relationship Id="rId5" Type="http://schemas.openxmlformats.org/officeDocument/2006/relationships/slide" Target="slides/slide33.xml"/><Relationship Id="rId15" Type="http://schemas.openxmlformats.org/officeDocument/2006/relationships/slide" Target="slides/slide50.xml"/><Relationship Id="rId10" Type="http://schemas.openxmlformats.org/officeDocument/2006/relationships/slide" Target="slides/slide42.xml"/><Relationship Id="rId4" Type="http://schemas.openxmlformats.org/officeDocument/2006/relationships/slide" Target="slides/slide32.xml"/><Relationship Id="rId9" Type="http://schemas.openxmlformats.org/officeDocument/2006/relationships/slide" Target="slides/slide41.xml"/><Relationship Id="rId14" Type="http://schemas.openxmlformats.org/officeDocument/2006/relationships/slide" Target="slides/slide4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omic Sans MS" panose="030F0702030302020204" pitchFamily="66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Comic Sans MS" panose="030F0702030302020204" pitchFamily="66" charset="0"/>
                <a:ea typeface="宋体" charset="-122"/>
              </a:defRPr>
            </a:lvl1pPr>
          </a:lstStyle>
          <a:p>
            <a:pPr>
              <a:defRPr/>
            </a:pPr>
            <a:fld id="{02AE570C-53D1-0F46-BBA7-DDFB1E4C8DDA}" type="datetimeFigureOut">
              <a:rPr lang="zh-CN" altLang="en-US"/>
              <a:pPr>
                <a:defRPr/>
              </a:pPr>
              <a:t>2024/9/14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omic Sans MS" panose="030F0702030302020204" pitchFamily="66" charset="0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W 87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76F5B46-FA7C-8A41-86E6-6C0B587579F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W 87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0A645C2-C104-4641-B112-71BEECE80F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58BD407-035D-B749-BE7E-964EF6688A91}" type="slidenum">
              <a:rPr lang="zh-CN" altLang="en-US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6149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E5F214D-C638-584B-9899-D499D91588A7}" type="slidenum">
              <a:rPr lang="zh-CN" altLang="en-US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8197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419FC2F3-6169-AB41-91CD-9698F434ECE2}" type="slidenum">
              <a:rPr lang="zh-CN" altLang="en-US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10245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499584FE-0605-8C4F-935C-3800DA5A259B}" type="slidenum">
              <a:rPr lang="zh-CN" altLang="en-US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12293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442B97CC-2BF2-1B4D-B7BF-AEEE2525C330}" type="slidenum">
              <a:rPr lang="zh-CN" altLang="en-US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16389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11BDCE3-2D38-D54D-91CB-37E934101A3C}" type="slidenum">
              <a:rPr lang="zh-CN" altLang="en-US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20485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EF395B29-023E-4D42-96BD-1C5C1EFD19B7}" type="slidenum">
              <a:rPr lang="zh-CN" altLang="en-US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22533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2EDEC3D7-771A-E843-9FE2-1CFF41DE5E4F}" type="slidenum">
              <a:rPr lang="zh-CN" altLang="en-US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24581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D9F6F978-B29B-D640-8B29-2EE94F70F534}" type="slidenum">
              <a:rPr lang="zh-CN" altLang="en-US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26629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  <p:extLst>
      <p:ext uri="{BB962C8B-B14F-4D97-AF65-F5344CB8AC3E}">
        <p14:creationId xmlns:p14="http://schemas.microsoft.com/office/powerpoint/2010/main" val="1662097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8D7EFA41-E6FC-3046-BFF9-B0BEE8AA7FC1}" type="slidenum">
              <a:rPr lang="zh-CN" altLang="en-US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30725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  <p:extLst>
      <p:ext uri="{BB962C8B-B14F-4D97-AF65-F5344CB8AC3E}">
        <p14:creationId xmlns:p14="http://schemas.microsoft.com/office/powerpoint/2010/main" val="290983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8B93EEA1-4199-7443-AC3B-97703EA623B7}" type="slidenum">
              <a:rPr lang="zh-CN" altLang="en-US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32773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  <p:extLst>
      <p:ext uri="{BB962C8B-B14F-4D97-AF65-F5344CB8AC3E}">
        <p14:creationId xmlns:p14="http://schemas.microsoft.com/office/powerpoint/2010/main" val="2075389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2EDEC3D7-771A-E843-9FE2-1CFF41DE5E4F}" type="slidenum">
              <a:rPr lang="zh-CN" altLang="en-US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24581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  <p:extLst>
      <p:ext uri="{BB962C8B-B14F-4D97-AF65-F5344CB8AC3E}">
        <p14:creationId xmlns:p14="http://schemas.microsoft.com/office/powerpoint/2010/main" val="13047547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2EDEC3D7-771A-E843-9FE2-1CFF41DE5E4F}" type="slidenum">
              <a:rPr lang="zh-CN" altLang="en-US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24581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  <p:extLst>
      <p:ext uri="{BB962C8B-B14F-4D97-AF65-F5344CB8AC3E}">
        <p14:creationId xmlns:p14="http://schemas.microsoft.com/office/powerpoint/2010/main" val="1580858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94133731-2224-514F-9D75-5E6EF749CA6A}" type="slidenum">
              <a:rPr lang="zh-CN" altLang="en-US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34821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60DBE6F8-A2B9-CE48-BFFE-9589D3E87136}" type="slidenum">
              <a:rPr lang="zh-CN" altLang="en-US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36869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5BF0007C-5251-DC48-A007-D11AEBBEDD27}" type="slidenum">
              <a:rPr lang="zh-CN" altLang="en-US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38917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C5BFAE2-B94F-CF47-874F-7528427BD8DA}" type="slidenum">
              <a:rPr lang="zh-CN" altLang="en-US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40965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9F1F1693-6CDB-4C43-B024-66BF2E648A3A}" type="slidenum">
              <a:rPr lang="zh-CN" altLang="en-US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43013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5B808CA2-1CD0-9445-A3E6-FAA6938CA4B6}" type="slidenum">
              <a:rPr lang="zh-CN" altLang="en-US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45061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E559225B-2C7D-714D-82F4-69CF46AB355F}" type="slidenum">
              <a:rPr lang="zh-CN" altLang="en-US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36A4A89A-1919-F54F-829C-BB1035075ED1}" type="slidenum">
              <a:rPr lang="zh-CN" altLang="en-US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5D0770E-B939-5440-B0F9-2175F18ECD54}" type="slidenum">
              <a:rPr lang="zh-CN" altLang="en-US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BCA6D3F-BCB7-CF43-92F2-7FACD436E5A6}" type="slidenum">
              <a:rPr lang="zh-CN" altLang="en-US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8E239450-D469-514E-9B1E-1F85097BB8F3}" type="slidenum">
              <a:rPr lang="zh-CN" altLang="en-US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D54631B9-C4C9-C94F-93AF-2A6FE726B230}" type="slidenum">
              <a:rPr lang="zh-CN" altLang="en-US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03BDD4D5-C6C9-434C-B14F-DB593C9D6279}" type="slidenum">
              <a:rPr lang="zh-CN" altLang="en-US"/>
              <a:pPr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0BD54695-7479-AD49-A65A-E1013A821432}" type="slidenum">
              <a:rPr lang="zh-CN" altLang="en-US"/>
              <a:pPr>
                <a:spcBef>
                  <a:spcPct val="0"/>
                </a:spcBef>
              </a:pPr>
              <a:t>34</a:t>
            </a:fld>
            <a:endParaRPr lang="en-US" altLang="zh-CN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69F39E77-E431-1C4A-902C-AED076AD7421}" type="slidenum">
              <a:rPr lang="zh-CN" altLang="en-US"/>
              <a:pPr>
                <a:spcBef>
                  <a:spcPct val="0"/>
                </a:spcBef>
              </a:pPr>
              <a:t>35</a:t>
            </a:fld>
            <a:endParaRPr lang="en-US" altLang="zh-CN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19741C80-0748-6F4B-95A3-ADE87F2C1B62}" type="slidenum">
              <a:rPr lang="zh-CN" altLang="en-US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00E71585-A004-6E41-B936-FC8213822199}" type="slidenum">
              <a:rPr lang="zh-CN" altLang="en-US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911D957C-27EA-E649-A4B7-7616D59DC53F}" type="slidenum">
              <a:rPr lang="zh-CN" altLang="en-US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462F9D0-0050-334B-B537-6F4BD8A036BC}" type="slidenum">
              <a:rPr lang="zh-CN" altLang="en-US" sz="1200" b="0">
                <a:latin typeface="Times New Roman" charset="0"/>
              </a:rPr>
              <a:pPr/>
              <a:t>41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DD4085B-C017-3448-89B4-C1757DE9D112}" type="slidenum">
              <a:rPr lang="zh-CN" altLang="en-US" sz="1200" b="0">
                <a:latin typeface="Times New Roman" charset="0"/>
              </a:rPr>
              <a:pPr/>
              <a:t>42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FDF15B5E-3381-DE44-B537-5EF385077115}" type="slidenum">
              <a:rPr lang="zh-CN" altLang="en-US" sz="1200" b="0">
                <a:latin typeface="Times New Roman" charset="0"/>
              </a:rPr>
              <a:pPr/>
              <a:t>46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64497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336F1BA-11A2-A445-ABB6-86ACD997F92B}" type="slidenum">
              <a:rPr lang="zh-CN" altLang="en-US" sz="1200" b="0">
                <a:latin typeface="Times New Roman" charset="0"/>
              </a:rPr>
              <a:pPr/>
              <a:t>47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86990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53A7EEFB-845B-1D4F-B558-7D1150E2F802}" type="slidenum">
              <a:rPr lang="zh-CN" altLang="en-US" sz="1200" b="0">
                <a:latin typeface="Times New Roman" charset="0"/>
              </a:rPr>
              <a:pPr/>
              <a:t>48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zh-CN" altLang="en-US" dirty="0">
                <a:latin typeface="Times New Roman" charset="0"/>
                <a:ea typeface="宋体" charset="-122"/>
              </a:rPr>
              <a:t>！（</a:t>
            </a:r>
            <a:r>
              <a:rPr lang="en-US" altLang="zh-CN" dirty="0" err="1">
                <a:latin typeface="Times New Roman" charset="0"/>
                <a:ea typeface="宋体" charset="-122"/>
              </a:rPr>
              <a:t>x^y</a:t>
            </a:r>
            <a:r>
              <a:rPr lang="zh-CN" altLang="en-US" dirty="0">
                <a:latin typeface="Times New Roman" charset="0"/>
                <a:ea typeface="宋体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566854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2209C008-734C-BD48-B905-8DA06E64A399}" type="slidenum">
              <a:rPr lang="zh-CN" altLang="en-US" sz="1200" b="0">
                <a:latin typeface="Times New Roman" charset="0"/>
              </a:rPr>
              <a:pPr/>
              <a:t>49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86741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CB9BFF3-2AD7-1E43-AA4D-6944F7F59610}" type="slidenum">
              <a:rPr lang="zh-CN" altLang="en-US" sz="1200" b="0">
                <a:latin typeface="Times New Roman" charset="0"/>
              </a:rPr>
              <a:pPr/>
              <a:t>50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 dirty="0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20116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B8C3A55D-D3C5-9748-95BF-CE96821F8A4C}" type="slidenum">
              <a:rPr lang="zh-CN" altLang="en-US" sz="1200" b="0">
                <a:latin typeface="Times New Roman" charset="0"/>
              </a:rPr>
              <a:pPr/>
              <a:t>51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911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CEFD3-CEDC-1548-920F-BD13E5502EB4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A9657-593A-C54E-8BEF-E8448BE2CF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95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BF353-0D6B-D54C-B1F8-75546A87FA43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CFA67D-B099-8F4A-B08B-B4F2D54A9FA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490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879A6-8B1E-2B4F-8041-C49BB2DFCC01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1597FD-4D3B-8243-8E67-33AA22691F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257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89D8D-A245-7749-835C-B9CA0E386F31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F04E71-2868-A444-B4F2-272A588AC6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591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05DC0-23B8-EC4B-85BC-0EDFB4AB9729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80F3E8-438A-BE47-AC10-72F471BEE5E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32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9F9BF-6275-014D-85FB-5C36ADAAD96B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A9FEDB-ACE6-0743-A712-26CC7A1C02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726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BDC142-D4BD-3A4B-BD1B-37962D6BFBAA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39292-257D-C242-8469-EF46713AAD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474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48416-8840-EE44-B51E-22618EAC27A9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BB713D-69DA-AC4D-A6A6-6F7883CC351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40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531DD-0548-1A48-B1BB-936775C001AE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CBABE-9FAB-564D-BCC6-AFC3160A54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937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CBBEC-C864-8D44-A052-D47D79BF47EE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8C696-33A4-1A48-87D1-58C3B0734B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9877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06EFE0-1A19-4349-84F0-44E8A8E9629A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AECDE-BE58-9B4F-AA87-1EBAC43C6BA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4849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65912-4A40-3B49-9988-7EB8D093B29B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5C21EE-A0F8-6942-8A09-71F3C2BFD2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086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BC19F2D2-367E-644A-9E0B-AD9A3855542A}" type="datetime1">
              <a:rPr lang="zh-CN" altLang="en-US"/>
              <a:pPr>
                <a:defRPr/>
              </a:pPr>
              <a:t>2024/9/14</a:t>
            </a:fld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</a:defRPr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E57B8CE-92A3-AB48-8C1F-E4E0AA0D4FE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6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tiff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987778-CBBD-634E-8DEA-6B5344B71AE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zh-CN" altLang="en-US" sz="4400" dirty="0">
                <a:latin typeface="SimHei" charset="-122"/>
                <a:ea typeface="SimHei" charset="-122"/>
                <a:cs typeface="SimHei" charset="-122"/>
              </a:rPr>
              <a:t>信息的表示和处理</a:t>
            </a:r>
            <a:r>
              <a:rPr lang="en-US" altLang="zh-CN" sz="4400" dirty="0">
                <a:latin typeface="SimHei" charset="-122"/>
                <a:ea typeface="SimHei" charset="-122"/>
                <a:cs typeface="SimHei" charset="-122"/>
              </a:rPr>
              <a:t>(1)</a:t>
            </a:r>
          </a:p>
        </p:txBody>
      </p:sp>
      <p:sp>
        <p:nvSpPr>
          <p:cNvPr id="6" name="矩形 5"/>
          <p:cNvSpPr/>
          <p:nvPr/>
        </p:nvSpPr>
        <p:spPr>
          <a:xfrm>
            <a:off x="3953080" y="4788827"/>
            <a:ext cx="123783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/>
              <a:t>柴云鹏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en-US" altLang="zh-CN" sz="2400" dirty="0"/>
              <a:t>2024.9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E53FAE-0FB0-1043-BDE9-5A335150D95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Outline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>
                <a:ea typeface="宋体" charset="-122"/>
              </a:rPr>
              <a:t>Bit</a:t>
            </a:r>
            <a:r>
              <a:rPr lang="zh-CN" altLang="en-US" dirty="0">
                <a:ea typeface="宋体" charset="-122"/>
              </a:rPr>
              <a:t>和</a:t>
            </a:r>
            <a:r>
              <a:rPr lang="en-US" altLang="zh-CN" dirty="0">
                <a:ea typeface="宋体" charset="-122"/>
              </a:rPr>
              <a:t>Byte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ea typeface="宋体" charset="-122"/>
              </a:rPr>
              <a:t>数字的机器表示</a:t>
            </a:r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8C4331-D743-8D49-8ADC-0DEE4059A95B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Why Bit?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Modern computers store and process </a:t>
            </a: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Information represented as two-valued signals</a:t>
            </a: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These lowly binary digits are </a:t>
            </a:r>
            <a:r>
              <a:rPr lang="en-US" altLang="zh-CN" b="1" i="1" dirty="0">
                <a:solidFill>
                  <a:srgbClr val="FF0000"/>
                </a:solidFill>
                <a:ea typeface="宋体" charset="-122"/>
              </a:rPr>
              <a:t>bits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Bits form the basis of the digital revolution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EDC070-50B5-EB41-9AAE-D146ACC7E18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Why Bit?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77200" cy="4419600"/>
          </a:xfrm>
        </p:spPr>
        <p:txBody>
          <a:bodyPr/>
          <a:lstStyle/>
          <a:p>
            <a:r>
              <a:rPr lang="zh-CN" altLang="en-US" dirty="0">
                <a:ea typeface="宋体" charset="-122"/>
              </a:rPr>
              <a:t>人类更习惯</a:t>
            </a:r>
            <a:r>
              <a:rPr lang="en-US" altLang="zh-CN" dirty="0">
                <a:ea typeface="宋体" charset="-122"/>
              </a:rPr>
              <a:t>10</a:t>
            </a:r>
            <a:r>
              <a:rPr lang="zh-CN" altLang="en-US" dirty="0">
                <a:ea typeface="宋体" charset="-122"/>
              </a:rPr>
              <a:t>进制（</a:t>
            </a:r>
            <a:r>
              <a:rPr lang="en-US" altLang="zh-CN" dirty="0">
                <a:ea typeface="宋体" charset="-122"/>
              </a:rPr>
              <a:t>Decimal</a:t>
            </a:r>
            <a:r>
              <a:rPr lang="zh-CN" altLang="en-US" dirty="0">
                <a:ea typeface="宋体" charset="-122"/>
              </a:rPr>
              <a:t>）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en-US" altLang="zh-CN" dirty="0">
                <a:ea typeface="宋体" charset="-122"/>
              </a:rPr>
              <a:t>Base-10</a:t>
            </a:r>
            <a:r>
              <a:rPr lang="zh-CN" altLang="en-US" dirty="0">
                <a:ea typeface="宋体" charset="-122"/>
              </a:rPr>
              <a:t>，</a:t>
            </a:r>
            <a:r>
              <a:rPr lang="en-US" altLang="zh-CN" dirty="0">
                <a:ea typeface="宋体" charset="-122"/>
              </a:rPr>
              <a:t>10</a:t>
            </a:r>
            <a:r>
              <a:rPr lang="zh-CN" altLang="en-US" dirty="0">
                <a:ea typeface="宋体" charset="-122"/>
              </a:rPr>
              <a:t>根手指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zh-CN" altLang="en-US" dirty="0">
                <a:ea typeface="宋体" charset="-122"/>
              </a:rPr>
              <a:t>已经使用超过</a:t>
            </a:r>
            <a:r>
              <a:rPr lang="en-US" altLang="zh-CN" dirty="0">
                <a:ea typeface="宋体" charset="-122"/>
              </a:rPr>
              <a:t>1000</a:t>
            </a:r>
            <a:r>
              <a:rPr lang="zh-CN" altLang="en-US" dirty="0">
                <a:ea typeface="宋体" charset="-122"/>
              </a:rPr>
              <a:t>年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zh-CN" altLang="en-US" dirty="0">
                <a:ea typeface="宋体" charset="-122"/>
              </a:rPr>
              <a:t>印度</a:t>
            </a:r>
            <a:r>
              <a:rPr lang="en-US" altLang="zh-CN" dirty="0">
                <a:ea typeface="宋体" charset="-122"/>
              </a:rPr>
              <a:t>-&gt;</a:t>
            </a:r>
            <a:r>
              <a:rPr lang="zh-CN" altLang="en-US" dirty="0">
                <a:ea typeface="宋体" charset="-122"/>
              </a:rPr>
              <a:t>阿拉伯</a:t>
            </a:r>
            <a:r>
              <a:rPr lang="en-US" altLang="zh-CN" dirty="0">
                <a:ea typeface="宋体" charset="-122"/>
              </a:rPr>
              <a:t>-&gt;</a:t>
            </a:r>
            <a:r>
              <a:rPr lang="zh-CN" altLang="en-US" dirty="0">
                <a:ea typeface="宋体" charset="-122"/>
              </a:rPr>
              <a:t>东西方</a:t>
            </a:r>
            <a:endParaRPr lang="en-US" altLang="zh-CN" dirty="0">
              <a:ea typeface="宋体" charset="-122"/>
            </a:endParaRPr>
          </a:p>
          <a:p>
            <a:endParaRPr lang="en-US" altLang="zh-CN" dirty="0">
              <a:ea typeface="宋体" charset="-122"/>
            </a:endParaRPr>
          </a:p>
          <a:p>
            <a:r>
              <a:rPr lang="zh-CN" altLang="en-US" dirty="0">
                <a:ea typeface="宋体" charset="-122"/>
              </a:rPr>
              <a:t>计算机使用二进制表示信息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en-US" altLang="zh-CN" dirty="0">
                <a:ea typeface="宋体" charset="-122"/>
              </a:rPr>
              <a:t>Bit: binary digit</a:t>
            </a:r>
          </a:p>
          <a:p>
            <a:pPr lvl="1"/>
            <a:r>
              <a:rPr lang="en-US" altLang="zh-CN" dirty="0">
                <a:ea typeface="宋体" charset="-122"/>
              </a:rPr>
              <a:t>binary values work better when building machines</a:t>
            </a:r>
          </a:p>
          <a:p>
            <a:pPr lvl="1"/>
            <a:r>
              <a:rPr lang="en-US" altLang="zh-CN" dirty="0">
                <a:ea typeface="宋体" charset="-122"/>
              </a:rPr>
              <a:t>store and process information</a:t>
            </a:r>
          </a:p>
          <a:p>
            <a:pPr lvl="1"/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01D10B-BD74-6741-9D5A-2275041440C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Why Bit?</a:t>
            </a:r>
          </a:p>
        </p:txBody>
      </p:sp>
      <p:pic>
        <p:nvPicPr>
          <p:cNvPr id="5" name="图片 4" descr="150px-Punched_tap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508" y="692696"/>
            <a:ext cx="2644092" cy="199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 descr="260px-Magnetic_core_memory_card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246" y="2881324"/>
            <a:ext cx="1873832" cy="179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70"/>
          <p:cNvGrpSpPr>
            <a:grpSpLocks/>
          </p:cNvGrpSpPr>
          <p:nvPr/>
        </p:nvGrpSpPr>
        <p:grpSpPr bwMode="auto">
          <a:xfrm>
            <a:off x="215995" y="1876608"/>
            <a:ext cx="6084197" cy="3986799"/>
            <a:chOff x="762000" y="1371601"/>
            <a:chExt cx="7467600" cy="4450449"/>
          </a:xfrm>
        </p:grpSpPr>
        <p:sp>
          <p:nvSpPr>
            <p:cNvPr id="15370" name="TextBox 71"/>
            <p:cNvSpPr txBox="1">
              <a:spLocks noChangeArrowheads="1"/>
            </p:cNvSpPr>
            <p:nvPr/>
          </p:nvSpPr>
          <p:spPr bwMode="auto">
            <a:xfrm>
              <a:off x="762000" y="1371601"/>
              <a:ext cx="7467600" cy="44504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grpSp>
          <p:nvGrpSpPr>
            <p:cNvPr id="15371" name="组合 2"/>
            <p:cNvGrpSpPr>
              <a:grpSpLocks/>
            </p:cNvGrpSpPr>
            <p:nvPr/>
          </p:nvGrpSpPr>
          <p:grpSpPr bwMode="auto">
            <a:xfrm>
              <a:off x="1255713" y="1960562"/>
              <a:ext cx="6288087" cy="1925638"/>
              <a:chOff x="874713" y="1600200"/>
              <a:chExt cx="6288087" cy="1925638"/>
            </a:xfrm>
          </p:grpSpPr>
          <p:sp>
            <p:nvSpPr>
              <p:cNvPr id="15372" name="Rectangle 5"/>
              <p:cNvSpPr>
                <a:spLocks noChangeArrowheads="1"/>
              </p:cNvSpPr>
              <p:nvPr/>
            </p:nvSpPr>
            <p:spPr bwMode="auto">
              <a:xfrm>
                <a:off x="2049655" y="1995104"/>
                <a:ext cx="5113145" cy="376895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lIns="47965" tIns="47965" rIns="47965" bIns="47965" anchor="ctr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000">
                  <a:latin typeface="Courier New" charset="0"/>
                </a:endParaRPr>
              </a:p>
            </p:txBody>
          </p:sp>
          <p:sp>
            <p:nvSpPr>
              <p:cNvPr id="15373" name="Rectangle 6"/>
              <p:cNvSpPr>
                <a:spLocks noChangeArrowheads="1"/>
              </p:cNvSpPr>
              <p:nvPr/>
            </p:nvSpPr>
            <p:spPr bwMode="auto">
              <a:xfrm>
                <a:off x="2049655" y="2743749"/>
                <a:ext cx="5113145" cy="376895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lIns="47965" tIns="47965" rIns="47965" bIns="47965" anchor="ctr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000">
                  <a:latin typeface="Courier New" charset="0"/>
                </a:endParaRPr>
              </a:p>
            </p:txBody>
          </p:sp>
          <p:sp>
            <p:nvSpPr>
              <p:cNvPr id="15374" name="Line 7"/>
              <p:cNvSpPr>
                <a:spLocks noChangeShapeType="1"/>
              </p:cNvSpPr>
              <p:nvPr/>
            </p:nvSpPr>
            <p:spPr bwMode="auto">
              <a:xfrm flipV="1">
                <a:off x="2049655" y="2037553"/>
                <a:ext cx="0" cy="104964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75" name="Line 8"/>
              <p:cNvSpPr>
                <a:spLocks noChangeShapeType="1"/>
              </p:cNvSpPr>
              <p:nvPr/>
            </p:nvSpPr>
            <p:spPr bwMode="auto">
              <a:xfrm flipV="1">
                <a:off x="2049655" y="3087199"/>
                <a:ext cx="5113145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76" name="Text Box 9"/>
              <p:cNvSpPr txBox="1">
                <a:spLocks noChangeArrowheads="1"/>
              </p:cNvSpPr>
              <p:nvPr/>
            </p:nvSpPr>
            <p:spPr bwMode="auto">
              <a:xfrm>
                <a:off x="874713" y="2408016"/>
                <a:ext cx="1178122" cy="4656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7965" tIns="47965" rIns="47965" bIns="47965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Voltage</a:t>
                </a:r>
              </a:p>
            </p:txBody>
          </p:sp>
          <p:sp>
            <p:nvSpPr>
              <p:cNvPr id="15377" name="Text Box 10"/>
              <p:cNvSpPr txBox="1">
                <a:spLocks noChangeArrowheads="1"/>
              </p:cNvSpPr>
              <p:nvPr/>
            </p:nvSpPr>
            <p:spPr bwMode="auto">
              <a:xfrm>
                <a:off x="4027501" y="3148943"/>
                <a:ext cx="801314" cy="37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7965" tIns="47965" rIns="47965" bIns="47965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Time</a:t>
                </a:r>
              </a:p>
            </p:txBody>
          </p:sp>
          <p:sp>
            <p:nvSpPr>
              <p:cNvPr id="15378" name="Freeform 11"/>
              <p:cNvSpPr>
                <a:spLocks/>
              </p:cNvSpPr>
              <p:nvPr/>
            </p:nvSpPr>
            <p:spPr bwMode="auto">
              <a:xfrm>
                <a:off x="2046475" y="2090292"/>
                <a:ext cx="5017750" cy="903005"/>
              </a:xfrm>
              <a:custGeom>
                <a:avLst/>
                <a:gdLst>
                  <a:gd name="T0" fmla="*/ 0 w 3210"/>
                  <a:gd name="T1" fmla="*/ 2147483646 h 635"/>
                  <a:gd name="T2" fmla="*/ 2147483646 w 3210"/>
                  <a:gd name="T3" fmla="*/ 2147483646 h 635"/>
                  <a:gd name="T4" fmla="*/ 2147483646 w 3210"/>
                  <a:gd name="T5" fmla="*/ 2147483646 h 635"/>
                  <a:gd name="T6" fmla="*/ 2147483646 w 3210"/>
                  <a:gd name="T7" fmla="*/ 2147483646 h 635"/>
                  <a:gd name="T8" fmla="*/ 2147483646 w 3210"/>
                  <a:gd name="T9" fmla="*/ 2147483646 h 635"/>
                  <a:gd name="T10" fmla="*/ 2147483646 w 3210"/>
                  <a:gd name="T11" fmla="*/ 2147483646 h 635"/>
                  <a:gd name="T12" fmla="*/ 2147483646 w 3210"/>
                  <a:gd name="T13" fmla="*/ 2147483646 h 635"/>
                  <a:gd name="T14" fmla="*/ 2147483646 w 3210"/>
                  <a:gd name="T15" fmla="*/ 2147483646 h 635"/>
                  <a:gd name="T16" fmla="*/ 2147483646 w 3210"/>
                  <a:gd name="T17" fmla="*/ 2147483646 h 635"/>
                  <a:gd name="T18" fmla="*/ 2147483646 w 3210"/>
                  <a:gd name="T19" fmla="*/ 2147483646 h 635"/>
                  <a:gd name="T20" fmla="*/ 2147483646 w 3210"/>
                  <a:gd name="T21" fmla="*/ 2147483646 h 635"/>
                  <a:gd name="T22" fmla="*/ 2147483646 w 3210"/>
                  <a:gd name="T23" fmla="*/ 2147483646 h 635"/>
                  <a:gd name="T24" fmla="*/ 2147483646 w 3210"/>
                  <a:gd name="T25" fmla="*/ 2147483646 h 635"/>
                  <a:gd name="T26" fmla="*/ 2147483646 w 3210"/>
                  <a:gd name="T27" fmla="*/ 2147483646 h 635"/>
                  <a:gd name="T28" fmla="*/ 2147483646 w 3210"/>
                  <a:gd name="T29" fmla="*/ 2147483646 h 635"/>
                  <a:gd name="T30" fmla="*/ 2147483646 w 3210"/>
                  <a:gd name="T31" fmla="*/ 2147483646 h 635"/>
                  <a:gd name="T32" fmla="*/ 2147483646 w 3210"/>
                  <a:gd name="T33" fmla="*/ 0 h 635"/>
                  <a:gd name="T34" fmla="*/ 2147483646 w 3210"/>
                  <a:gd name="T35" fmla="*/ 2147483646 h 635"/>
                  <a:gd name="T36" fmla="*/ 2147483646 w 3210"/>
                  <a:gd name="T37" fmla="*/ 2147483646 h 635"/>
                  <a:gd name="T38" fmla="*/ 2147483646 w 3210"/>
                  <a:gd name="T39" fmla="*/ 2147483646 h 635"/>
                  <a:gd name="T40" fmla="*/ 2147483646 w 3210"/>
                  <a:gd name="T41" fmla="*/ 2147483646 h 635"/>
                  <a:gd name="T42" fmla="*/ 2147483646 w 3210"/>
                  <a:gd name="T43" fmla="*/ 2147483646 h 635"/>
                  <a:gd name="T44" fmla="*/ 2147483646 w 3210"/>
                  <a:gd name="T45" fmla="*/ 2147483646 h 635"/>
                  <a:gd name="T46" fmla="*/ 2147483646 w 3210"/>
                  <a:gd name="T47" fmla="*/ 2147483646 h 635"/>
                  <a:gd name="T48" fmla="*/ 2147483646 w 3210"/>
                  <a:gd name="T49" fmla="*/ 2147483646 h 635"/>
                  <a:gd name="T50" fmla="*/ 2147483646 w 3210"/>
                  <a:gd name="T51" fmla="*/ 2147483646 h 635"/>
                  <a:gd name="T52" fmla="*/ 2147483646 w 3210"/>
                  <a:gd name="T53" fmla="*/ 2147483646 h 635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210"/>
                  <a:gd name="T82" fmla="*/ 0 h 635"/>
                  <a:gd name="T83" fmla="*/ 3210 w 3210"/>
                  <a:gd name="T84" fmla="*/ 635 h 635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210" h="635">
                    <a:moveTo>
                      <a:pt x="0" y="606"/>
                    </a:moveTo>
                    <a:cubicBezTo>
                      <a:pt x="34" y="601"/>
                      <a:pt x="68" y="596"/>
                      <a:pt x="102" y="588"/>
                    </a:cubicBezTo>
                    <a:cubicBezTo>
                      <a:pt x="159" y="595"/>
                      <a:pt x="204" y="619"/>
                      <a:pt x="258" y="630"/>
                    </a:cubicBezTo>
                    <a:cubicBezTo>
                      <a:pt x="296" y="628"/>
                      <a:pt x="350" y="635"/>
                      <a:pt x="390" y="618"/>
                    </a:cubicBezTo>
                    <a:cubicBezTo>
                      <a:pt x="410" y="610"/>
                      <a:pt x="450" y="594"/>
                      <a:pt x="450" y="594"/>
                    </a:cubicBezTo>
                    <a:cubicBezTo>
                      <a:pt x="495" y="598"/>
                      <a:pt x="528" y="600"/>
                      <a:pt x="564" y="624"/>
                    </a:cubicBezTo>
                    <a:cubicBezTo>
                      <a:pt x="707" y="618"/>
                      <a:pt x="670" y="627"/>
                      <a:pt x="750" y="600"/>
                    </a:cubicBezTo>
                    <a:cubicBezTo>
                      <a:pt x="756" y="594"/>
                      <a:pt x="761" y="587"/>
                      <a:pt x="768" y="582"/>
                    </a:cubicBezTo>
                    <a:cubicBezTo>
                      <a:pt x="775" y="577"/>
                      <a:pt x="785" y="576"/>
                      <a:pt x="792" y="570"/>
                    </a:cubicBezTo>
                    <a:cubicBezTo>
                      <a:pt x="818" y="548"/>
                      <a:pt x="837" y="509"/>
                      <a:pt x="870" y="498"/>
                    </a:cubicBezTo>
                    <a:cubicBezTo>
                      <a:pt x="894" y="474"/>
                      <a:pt x="920" y="445"/>
                      <a:pt x="948" y="426"/>
                    </a:cubicBezTo>
                    <a:cubicBezTo>
                      <a:pt x="982" y="375"/>
                      <a:pt x="1029" y="328"/>
                      <a:pt x="1080" y="294"/>
                    </a:cubicBezTo>
                    <a:cubicBezTo>
                      <a:pt x="1126" y="217"/>
                      <a:pt x="1203" y="184"/>
                      <a:pt x="1272" y="132"/>
                    </a:cubicBezTo>
                    <a:cubicBezTo>
                      <a:pt x="1297" y="113"/>
                      <a:pt x="1308" y="79"/>
                      <a:pt x="1332" y="60"/>
                    </a:cubicBezTo>
                    <a:cubicBezTo>
                      <a:pt x="1342" y="52"/>
                      <a:pt x="1357" y="49"/>
                      <a:pt x="1368" y="42"/>
                    </a:cubicBezTo>
                    <a:cubicBezTo>
                      <a:pt x="1490" y="50"/>
                      <a:pt x="1538" y="59"/>
                      <a:pt x="1674" y="54"/>
                    </a:cubicBezTo>
                    <a:cubicBezTo>
                      <a:pt x="1746" y="40"/>
                      <a:pt x="1820" y="23"/>
                      <a:pt x="1890" y="0"/>
                    </a:cubicBezTo>
                    <a:cubicBezTo>
                      <a:pt x="2003" y="6"/>
                      <a:pt x="2022" y="4"/>
                      <a:pt x="2106" y="60"/>
                    </a:cubicBezTo>
                    <a:cubicBezTo>
                      <a:pt x="2138" y="108"/>
                      <a:pt x="2168" y="164"/>
                      <a:pt x="2208" y="204"/>
                    </a:cubicBezTo>
                    <a:cubicBezTo>
                      <a:pt x="2233" y="278"/>
                      <a:pt x="2315" y="374"/>
                      <a:pt x="2376" y="420"/>
                    </a:cubicBezTo>
                    <a:cubicBezTo>
                      <a:pt x="2405" y="478"/>
                      <a:pt x="2462" y="495"/>
                      <a:pt x="2508" y="534"/>
                    </a:cubicBezTo>
                    <a:cubicBezTo>
                      <a:pt x="2515" y="539"/>
                      <a:pt x="2519" y="548"/>
                      <a:pt x="2526" y="552"/>
                    </a:cubicBezTo>
                    <a:cubicBezTo>
                      <a:pt x="2547" y="564"/>
                      <a:pt x="2595" y="567"/>
                      <a:pt x="2616" y="570"/>
                    </a:cubicBezTo>
                    <a:cubicBezTo>
                      <a:pt x="2688" y="564"/>
                      <a:pt x="2743" y="568"/>
                      <a:pt x="2814" y="582"/>
                    </a:cubicBezTo>
                    <a:cubicBezTo>
                      <a:pt x="2820" y="588"/>
                      <a:pt x="2824" y="596"/>
                      <a:pt x="2832" y="600"/>
                    </a:cubicBezTo>
                    <a:cubicBezTo>
                      <a:pt x="2849" y="608"/>
                      <a:pt x="2886" y="618"/>
                      <a:pt x="2886" y="618"/>
                    </a:cubicBezTo>
                    <a:cubicBezTo>
                      <a:pt x="2997" y="613"/>
                      <a:pt x="3100" y="594"/>
                      <a:pt x="3210" y="594"/>
                    </a:cubicBezTo>
                  </a:path>
                </a:pathLst>
              </a:custGeom>
              <a:noFill/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79" name="Line 12"/>
              <p:cNvSpPr>
                <a:spLocks noChangeShapeType="1"/>
              </p:cNvSpPr>
              <p:nvPr/>
            </p:nvSpPr>
            <p:spPr bwMode="auto">
              <a:xfrm>
                <a:off x="2049655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80" name="Line 13"/>
              <p:cNvSpPr>
                <a:spLocks noChangeShapeType="1"/>
              </p:cNvSpPr>
              <p:nvPr/>
            </p:nvSpPr>
            <p:spPr bwMode="auto">
              <a:xfrm>
                <a:off x="3347020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81" name="Line 14"/>
              <p:cNvSpPr>
                <a:spLocks noChangeShapeType="1"/>
              </p:cNvSpPr>
              <p:nvPr/>
            </p:nvSpPr>
            <p:spPr bwMode="auto">
              <a:xfrm>
                <a:off x="4033861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82" name="Line 15"/>
              <p:cNvSpPr>
                <a:spLocks noChangeShapeType="1"/>
              </p:cNvSpPr>
              <p:nvPr/>
            </p:nvSpPr>
            <p:spPr bwMode="auto">
              <a:xfrm>
                <a:off x="5483857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83" name="Line 16"/>
              <p:cNvSpPr>
                <a:spLocks noChangeShapeType="1"/>
              </p:cNvSpPr>
              <p:nvPr/>
            </p:nvSpPr>
            <p:spPr bwMode="auto">
              <a:xfrm>
                <a:off x="5941750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84" name="Line 17"/>
              <p:cNvSpPr>
                <a:spLocks noChangeShapeType="1"/>
              </p:cNvSpPr>
              <p:nvPr/>
            </p:nvSpPr>
            <p:spPr bwMode="auto">
              <a:xfrm>
                <a:off x="7162800" y="1614350"/>
                <a:ext cx="0" cy="24697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85" name="Line 18"/>
              <p:cNvSpPr>
                <a:spLocks noChangeShapeType="1"/>
              </p:cNvSpPr>
              <p:nvPr/>
            </p:nvSpPr>
            <p:spPr bwMode="auto">
              <a:xfrm>
                <a:off x="2049655" y="1737837"/>
                <a:ext cx="1297365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86" name="Line 19"/>
              <p:cNvSpPr>
                <a:spLocks noChangeShapeType="1"/>
              </p:cNvSpPr>
              <p:nvPr/>
            </p:nvSpPr>
            <p:spPr bwMode="auto">
              <a:xfrm>
                <a:off x="4033861" y="1737837"/>
                <a:ext cx="1449996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87" name="Line 20"/>
              <p:cNvSpPr>
                <a:spLocks noChangeShapeType="1"/>
              </p:cNvSpPr>
              <p:nvPr/>
            </p:nvSpPr>
            <p:spPr bwMode="auto">
              <a:xfrm>
                <a:off x="5941750" y="1737837"/>
                <a:ext cx="1221050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88" name="Text Box 21"/>
              <p:cNvSpPr txBox="1">
                <a:spLocks noChangeArrowheads="1"/>
              </p:cNvSpPr>
              <p:nvPr/>
            </p:nvSpPr>
            <p:spPr bwMode="auto">
              <a:xfrm>
                <a:off x="2410564" y="1600200"/>
                <a:ext cx="402247" cy="37689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miter lim="800000"/>
                <a:headEnd/>
                <a:tailEnd type="none" w="sm" len="sm"/>
              </a:ln>
            </p:spPr>
            <p:txBody>
              <a:bodyPr lIns="47965" tIns="47965" rIns="47965" bIns="47965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0</a:t>
                </a:r>
              </a:p>
            </p:txBody>
          </p:sp>
          <p:sp>
            <p:nvSpPr>
              <p:cNvPr id="15389" name="Text Box 22"/>
              <p:cNvSpPr txBox="1">
                <a:spLocks noChangeArrowheads="1"/>
              </p:cNvSpPr>
              <p:nvPr/>
            </p:nvSpPr>
            <p:spPr bwMode="auto">
              <a:xfrm>
                <a:off x="4568070" y="1614350"/>
                <a:ext cx="402247" cy="37689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miter lim="800000"/>
                <a:headEnd/>
                <a:tailEnd type="none" w="sm" len="sm"/>
              </a:ln>
            </p:spPr>
            <p:txBody>
              <a:bodyPr lIns="47965" tIns="47965" rIns="47965" bIns="47965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1</a:t>
                </a:r>
              </a:p>
            </p:txBody>
          </p:sp>
          <p:sp>
            <p:nvSpPr>
              <p:cNvPr id="15390" name="Text Box 23"/>
              <p:cNvSpPr txBox="1">
                <a:spLocks noChangeArrowheads="1"/>
              </p:cNvSpPr>
              <p:nvPr/>
            </p:nvSpPr>
            <p:spPr bwMode="auto">
              <a:xfrm>
                <a:off x="6378975" y="1628499"/>
                <a:ext cx="402247" cy="37689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miter lim="800000"/>
                <a:headEnd/>
                <a:tailEnd type="none" w="sm" len="sm"/>
              </a:ln>
            </p:spPr>
            <p:txBody>
              <a:bodyPr lIns="47965" tIns="47965" rIns="47965" bIns="47965">
                <a:spAutoFit/>
              </a:bodyPr>
              <a:lstStyle>
                <a:lvl1pPr defTabSz="95885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 defTabSz="9588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 defTabSz="9588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 defTabSz="9588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 defTabSz="95885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defTabSz="95885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0</a:t>
                </a: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799529" y="4437831"/>
            <a:ext cx="62646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charset="0"/>
              <a:buChar char="•"/>
            </a:pPr>
            <a:r>
              <a:rPr lang="zh-CN" altLang="en-US" dirty="0"/>
              <a:t>在计算机中表示信息方面，二进制比十进制更优秀</a:t>
            </a:r>
            <a:endParaRPr lang="en-US" altLang="zh-CN" dirty="0"/>
          </a:p>
          <a:p>
            <a:pPr marL="800100" lvl="1" indent="-342900">
              <a:lnSpc>
                <a:spcPct val="120000"/>
              </a:lnSpc>
              <a:buFont typeface="Arial" charset="0"/>
              <a:buChar char="•"/>
            </a:pPr>
            <a:r>
              <a:rPr lang="zh-CN" altLang="en-US" dirty="0"/>
              <a:t>对器件的要求低，</a:t>
            </a:r>
            <a:endParaRPr lang="en-US" altLang="zh-CN" dirty="0"/>
          </a:p>
          <a:p>
            <a:pPr marL="800100" lvl="1" indent="-342900">
              <a:lnSpc>
                <a:spcPct val="120000"/>
              </a:lnSpc>
              <a:buFont typeface="Arial" charset="0"/>
              <a:buChar char="•"/>
            </a:pPr>
            <a:r>
              <a:rPr lang="zh-CN" altLang="en-US" dirty="0"/>
              <a:t>简单、低成本、可靠</a:t>
            </a:r>
            <a:endParaRPr lang="en-US" altLang="zh-CN" dirty="0"/>
          </a:p>
          <a:p>
            <a:pPr marL="800100" lvl="1" indent="-342900">
              <a:lnSpc>
                <a:spcPct val="120000"/>
              </a:lnSpc>
              <a:buFont typeface="Arial" charset="0"/>
              <a:buChar char="•"/>
            </a:pPr>
            <a:r>
              <a:rPr lang="zh-CN" altLang="en-US" dirty="0"/>
              <a:t>提高电路密度</a:t>
            </a:r>
            <a:endParaRPr lang="en-US" altLang="zh-CN" dirty="0"/>
          </a:p>
          <a:p>
            <a:pPr marL="800100" lvl="1" indent="-342900">
              <a:lnSpc>
                <a:spcPct val="120000"/>
              </a:lnSpc>
              <a:buFont typeface="Arial" charset="0"/>
              <a:buChar char="•"/>
            </a:pPr>
            <a:r>
              <a:rPr lang="en-US" altLang="zh-CN" dirty="0"/>
              <a:t>e.g., PCM, SLC-&gt;MLC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/>
          <a:srcRect t="34548" b="31167"/>
          <a:stretch/>
        </p:blipFill>
        <p:spPr>
          <a:xfrm>
            <a:off x="4634739" y="5147626"/>
            <a:ext cx="4198196" cy="9581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86A505-9920-9246-B013-F8CACBB9C75A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Group Bits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ea typeface="宋体" charset="-122"/>
              </a:rPr>
              <a:t>单个的</a:t>
            </a:r>
            <a:r>
              <a:rPr lang="en-US" altLang="zh-CN" dirty="0">
                <a:ea typeface="宋体" charset="-122"/>
              </a:rPr>
              <a:t>bit</a:t>
            </a:r>
            <a:r>
              <a:rPr lang="zh-CN" altLang="en-US" dirty="0">
                <a:ea typeface="宋体" charset="-122"/>
              </a:rPr>
              <a:t>没太大用（</a:t>
            </a:r>
            <a:r>
              <a:rPr lang="en-US" altLang="zh-CN" dirty="0">
                <a:ea typeface="宋体" charset="-122"/>
              </a:rPr>
              <a:t>bitmap, </a:t>
            </a:r>
            <a:r>
              <a:rPr lang="en-US" altLang="zh-CN" dirty="0" err="1">
                <a:ea typeface="宋体" charset="-122"/>
              </a:rPr>
              <a:t>bloomfilter</a:t>
            </a:r>
            <a:r>
              <a:rPr lang="zh-CN" altLang="en-US" dirty="0">
                <a:ea typeface="宋体" charset="-122"/>
              </a:rPr>
              <a:t>）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zh-CN" altLang="en-US" dirty="0">
                <a:ea typeface="宋体" charset="-122"/>
              </a:rPr>
              <a:t>因为</a:t>
            </a:r>
            <a:r>
              <a:rPr lang="en-US" altLang="zh-CN" dirty="0">
                <a:ea typeface="宋体" charset="-122"/>
              </a:rPr>
              <a:t>alphabet</a:t>
            </a:r>
            <a:r>
              <a:rPr lang="zh-CN" altLang="en-US" dirty="0">
                <a:ea typeface="宋体" charset="-122"/>
              </a:rPr>
              <a:t>太小（只有</a:t>
            </a:r>
            <a:r>
              <a:rPr lang="en-US" altLang="zh-CN" dirty="0">
                <a:ea typeface="宋体" charset="-122"/>
              </a:rPr>
              <a:t>0</a:t>
            </a:r>
            <a:r>
              <a:rPr lang="zh-CN" altLang="en-US" dirty="0">
                <a:ea typeface="宋体" charset="-122"/>
              </a:rPr>
              <a:t>和</a:t>
            </a:r>
            <a:r>
              <a:rPr lang="en-US" altLang="zh-CN" dirty="0">
                <a:ea typeface="宋体" charset="-122"/>
              </a:rPr>
              <a:t>1</a:t>
            </a:r>
            <a:r>
              <a:rPr lang="zh-CN" altLang="en-US" dirty="0">
                <a:ea typeface="宋体" charset="-122"/>
              </a:rPr>
              <a:t>两个符号）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zh-CN" altLang="en-US" dirty="0">
                <a:ea typeface="宋体" charset="-122"/>
              </a:rPr>
              <a:t>英文的</a:t>
            </a:r>
            <a:r>
              <a:rPr lang="en-US" altLang="zh-CN" dirty="0">
                <a:ea typeface="宋体" charset="-122"/>
              </a:rPr>
              <a:t>alphabet</a:t>
            </a:r>
            <a:r>
              <a:rPr lang="zh-CN" altLang="en-US" dirty="0">
                <a:ea typeface="宋体" charset="-122"/>
              </a:rPr>
              <a:t>包括</a:t>
            </a:r>
            <a:r>
              <a:rPr lang="en-US" altLang="zh-CN" dirty="0">
                <a:ea typeface="宋体" charset="-122"/>
              </a:rPr>
              <a:t>26(</a:t>
            </a:r>
            <a:r>
              <a:rPr lang="zh-CN" altLang="en-US" dirty="0">
                <a:ea typeface="宋体" charset="-122"/>
              </a:rPr>
              <a:t>或</a:t>
            </a:r>
            <a:r>
              <a:rPr lang="en-US" altLang="zh-CN" dirty="0">
                <a:ea typeface="宋体" charset="-122"/>
              </a:rPr>
              <a:t>52)</a:t>
            </a:r>
            <a:r>
              <a:rPr lang="zh-CN" altLang="en-US" dirty="0">
                <a:ea typeface="宋体" charset="-122"/>
              </a:rPr>
              <a:t>个符号，单个符号的表达力更强</a:t>
            </a:r>
            <a:endParaRPr lang="en-US" altLang="zh-CN" dirty="0">
              <a:ea typeface="宋体" charset="-122"/>
            </a:endParaRPr>
          </a:p>
          <a:p>
            <a:r>
              <a:rPr lang="zh-CN" altLang="en-US" dirty="0">
                <a:ea typeface="宋体" charset="-122"/>
              </a:rPr>
              <a:t>但英文还是有大量的词汇（符号组合）</a:t>
            </a:r>
            <a:endParaRPr lang="en-US" altLang="zh-CN" dirty="0">
              <a:ea typeface="宋体" charset="-122"/>
            </a:endParaRPr>
          </a:p>
          <a:p>
            <a:r>
              <a:rPr lang="zh-CN" altLang="en-US" dirty="0">
                <a:ea typeface="宋体" charset="-122"/>
              </a:rPr>
              <a:t>因此，我们也可以用</a:t>
            </a:r>
            <a:r>
              <a:rPr lang="en-US" altLang="zh-CN" dirty="0">
                <a:ea typeface="宋体" charset="-122"/>
              </a:rPr>
              <a:t>bits(</a:t>
            </a:r>
            <a:r>
              <a:rPr lang="zh-CN" altLang="en-US" dirty="0">
                <a:ea typeface="宋体" charset="-122"/>
              </a:rPr>
              <a:t>而不是</a:t>
            </a:r>
            <a:r>
              <a:rPr lang="en-US" altLang="zh-CN" dirty="0">
                <a:ea typeface="宋体" charset="-122"/>
              </a:rPr>
              <a:t>bit)</a:t>
            </a:r>
            <a:r>
              <a:rPr lang="zh-CN" altLang="en-US" dirty="0">
                <a:ea typeface="宋体" charset="-122"/>
              </a:rPr>
              <a:t>来表示信息</a:t>
            </a:r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bitmap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bloomfilter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FA67D-B099-8F4A-B08B-B4F2D54A9FA5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5" name="Picture 7" descr="b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2276872"/>
            <a:ext cx="6248311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5757524" y="1970529"/>
            <a:ext cx="15343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bloomfilter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4110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4AC4F8-1631-4E42-9927-FDD361A42C8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Group Bits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zh-CN" altLang="en-US" dirty="0">
                <a:ea typeface="宋体" charset="-122"/>
              </a:rPr>
              <a:t>具体做法：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zh-CN" altLang="en-US" dirty="0">
                <a:ea typeface="宋体" charset="-122"/>
              </a:rPr>
              <a:t>首先把</a:t>
            </a:r>
            <a:r>
              <a:rPr lang="en-US" altLang="zh-CN" dirty="0">
                <a:ea typeface="宋体" charset="-122"/>
              </a:rPr>
              <a:t>bits</a:t>
            </a:r>
            <a:r>
              <a:rPr lang="zh-CN" altLang="en-US" dirty="0">
                <a:ea typeface="宋体" charset="-122"/>
              </a:rPr>
              <a:t>分成组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zh-CN" altLang="en-US" dirty="0">
                <a:ea typeface="宋体" charset="-122"/>
              </a:rPr>
              <a:t>然后给可能的</a:t>
            </a:r>
            <a:r>
              <a:rPr lang="en-US" altLang="zh-CN" dirty="0">
                <a:ea typeface="宋体" charset="-122"/>
              </a:rPr>
              <a:t>bit</a:t>
            </a:r>
            <a:r>
              <a:rPr lang="zh-CN" altLang="en-US" dirty="0">
                <a:ea typeface="宋体" charset="-122"/>
              </a:rPr>
              <a:t>组合不同的解释，赋予其一定含义</a:t>
            </a:r>
            <a:endParaRPr lang="en-US" altLang="zh-CN" dirty="0">
              <a:ea typeface="宋体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8-bit</a:t>
            </a:r>
            <a:r>
              <a:rPr lang="zh-CN" altLang="en-US" dirty="0">
                <a:ea typeface="宋体" charset="-122"/>
              </a:rPr>
              <a:t>组成</a:t>
            </a:r>
            <a:r>
              <a:rPr lang="en-US" altLang="zh-CN" dirty="0">
                <a:ea typeface="宋体" charset="-122"/>
              </a:rPr>
              <a:t>a byte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Dr. Werner Buchholz in July 1956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ea typeface="宋体" charset="-122"/>
              </a:rPr>
              <a:t>在</a:t>
            </a:r>
            <a:r>
              <a:rPr lang="en-US" altLang="zh-CN" dirty="0">
                <a:ea typeface="宋体" charset="-122"/>
              </a:rPr>
              <a:t>IBM Stretch</a:t>
            </a:r>
            <a:r>
              <a:rPr lang="zh-CN" altLang="en-US" dirty="0">
                <a:ea typeface="宋体" charset="-122"/>
              </a:rPr>
              <a:t>计算设计的早期阶段</a:t>
            </a:r>
            <a:endParaRPr lang="en-US" altLang="zh-CN" dirty="0">
              <a:ea typeface="宋体" charset="-122"/>
            </a:endParaRPr>
          </a:p>
        </p:txBody>
      </p:sp>
      <p:pic>
        <p:nvPicPr>
          <p:cNvPr id="21509" name="图片 5" descr="1245494444XXSBzXOF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412" y="3356992"/>
            <a:ext cx="2250976" cy="312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B812F7-0E1F-3E48-A50F-A6BE54420DC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Value of Bits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952079"/>
            <a:ext cx="8136904" cy="46482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Courier New" charset="0"/>
                <a:ea typeface="宋体" charset="-122"/>
              </a:rPr>
              <a:t>二进制串的值：</a:t>
            </a:r>
            <a:endParaRPr lang="en-US" altLang="zh-CN" sz="2400" dirty="0">
              <a:latin typeface="Courier New" charset="0"/>
              <a:ea typeface="宋体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urier New" charset="0"/>
                <a:ea typeface="宋体" charset="-122"/>
              </a:rPr>
              <a:t>Bits		     01010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urier New" charset="0"/>
                <a:ea typeface="宋体" charset="-122"/>
              </a:rPr>
              <a:t>Value        	0*2</a:t>
            </a:r>
            <a:r>
              <a:rPr lang="en-US" altLang="zh-CN" sz="2400" baseline="30000" dirty="0">
                <a:latin typeface="Courier New" charset="0"/>
                <a:ea typeface="宋体" charset="-122"/>
              </a:rPr>
              <a:t>4</a:t>
            </a:r>
            <a:r>
              <a:rPr lang="en-US" altLang="zh-CN" sz="2400" dirty="0">
                <a:latin typeface="Courier New" charset="0"/>
                <a:ea typeface="宋体" charset="-122"/>
              </a:rPr>
              <a:t>+1*2</a:t>
            </a:r>
            <a:r>
              <a:rPr lang="en-US" altLang="zh-CN" sz="2400" baseline="30000" dirty="0">
                <a:latin typeface="Courier New" charset="0"/>
                <a:ea typeface="宋体" charset="-122"/>
              </a:rPr>
              <a:t>3</a:t>
            </a:r>
            <a:r>
              <a:rPr lang="en-US" altLang="zh-CN" sz="2400" dirty="0">
                <a:latin typeface="Courier New" charset="0"/>
                <a:ea typeface="宋体" charset="-122"/>
              </a:rPr>
              <a:t>+0*2</a:t>
            </a:r>
            <a:r>
              <a:rPr lang="en-US" altLang="zh-CN" sz="2400" baseline="30000" dirty="0">
                <a:latin typeface="Courier New" charset="0"/>
                <a:ea typeface="宋体" charset="-122"/>
              </a:rPr>
              <a:t>2</a:t>
            </a:r>
            <a:r>
              <a:rPr lang="en-US" altLang="zh-CN" sz="2400" dirty="0">
                <a:latin typeface="Courier New" charset="0"/>
                <a:ea typeface="宋体" charset="-122"/>
              </a:rPr>
              <a:t>+1*2</a:t>
            </a:r>
            <a:r>
              <a:rPr lang="en-US" altLang="zh-CN" sz="2400" baseline="30000" dirty="0">
                <a:latin typeface="Courier New" charset="0"/>
                <a:ea typeface="宋体" charset="-122"/>
              </a:rPr>
              <a:t>1</a:t>
            </a:r>
            <a:r>
              <a:rPr lang="en-US" altLang="zh-CN" sz="2400" dirty="0">
                <a:latin typeface="Courier New" charset="0"/>
                <a:ea typeface="宋体" charset="-122"/>
              </a:rPr>
              <a:t>+0*2</a:t>
            </a:r>
            <a:r>
              <a:rPr lang="en-US" altLang="zh-CN" sz="2400" baseline="30000" dirty="0">
                <a:latin typeface="Courier New" charset="0"/>
                <a:ea typeface="宋体" charset="-122"/>
              </a:rPr>
              <a:t>0 </a:t>
            </a:r>
            <a:r>
              <a:rPr lang="en-US" altLang="zh-CN" sz="2400" dirty="0">
                <a:latin typeface="Courier New" charset="0"/>
                <a:ea typeface="宋体" charset="-122"/>
              </a:rPr>
              <a:t>=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E127DA-EBCC-4641-BFB5-77B1E3AC984B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Group bits as numbers </a:t>
            </a:r>
            <a:r>
              <a:rPr lang="en-US" altLang="zh-CN">
                <a:ea typeface="宋体" charset="-122"/>
                <a:sym typeface="Symbol" charset="2"/>
              </a:rPr>
              <a:t> </a:t>
            </a:r>
            <a:r>
              <a:rPr lang="en-US" altLang="zh-CN">
                <a:ea typeface="宋体" charset="-122"/>
              </a:rPr>
              <a:t>Three encodings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 sz="2400" b="1" dirty="0">
                <a:ea typeface="宋体" charset="-122"/>
              </a:rPr>
              <a:t>Unsigned</a:t>
            </a:r>
            <a:r>
              <a:rPr lang="en-US" altLang="zh-CN" sz="2400" dirty="0">
                <a:ea typeface="宋体" charset="-122"/>
              </a:rPr>
              <a:t> encoding</a:t>
            </a:r>
          </a:p>
          <a:p>
            <a:pPr lvl="1"/>
            <a:r>
              <a:rPr lang="zh-CN" altLang="en-US" sz="2000" dirty="0">
                <a:ea typeface="宋体" charset="-122"/>
              </a:rPr>
              <a:t>表示大于等于</a:t>
            </a:r>
            <a:r>
              <a:rPr lang="en-US" altLang="zh-CN" sz="2000" dirty="0">
                <a:ea typeface="宋体" charset="-122"/>
              </a:rPr>
              <a:t>0</a:t>
            </a:r>
            <a:r>
              <a:rPr lang="zh-CN" altLang="en-US" sz="2000" dirty="0">
                <a:ea typeface="宋体" charset="-122"/>
              </a:rPr>
              <a:t>的整数</a:t>
            </a:r>
            <a:endParaRPr lang="en-US" altLang="zh-CN" sz="2000" dirty="0">
              <a:ea typeface="宋体" charset="-122"/>
            </a:endParaRPr>
          </a:p>
          <a:p>
            <a:pPr lvl="1"/>
            <a:r>
              <a:rPr lang="zh-CN" altLang="en-US" sz="2000" dirty="0">
                <a:ea typeface="宋体" charset="-122"/>
              </a:rPr>
              <a:t>采用传统的二进制数字表达的规则</a:t>
            </a:r>
            <a:endParaRPr lang="en-US" altLang="zh-CN" sz="2000" dirty="0">
              <a:ea typeface="宋体" charset="-122"/>
            </a:endParaRPr>
          </a:p>
          <a:p>
            <a:pPr lvl="1"/>
            <a:r>
              <a:rPr lang="en-US" altLang="zh-CN" sz="2000" dirty="0">
                <a:ea typeface="宋体" charset="-122"/>
              </a:rPr>
              <a:t>unsigned short, unsigned </a:t>
            </a:r>
            <a:r>
              <a:rPr lang="en-US" altLang="zh-CN" sz="2000" dirty="0" err="1">
                <a:ea typeface="宋体" charset="-122"/>
              </a:rPr>
              <a:t>int</a:t>
            </a:r>
            <a:r>
              <a:rPr lang="en-US" altLang="zh-CN" sz="2000" dirty="0">
                <a:ea typeface="宋体" charset="-122"/>
              </a:rPr>
              <a:t>, unsigned long</a:t>
            </a:r>
          </a:p>
          <a:p>
            <a:r>
              <a:rPr lang="en-US" altLang="zh-CN" sz="2400" b="1" dirty="0">
                <a:ea typeface="宋体" charset="-122"/>
              </a:rPr>
              <a:t>Two’s-complement </a:t>
            </a:r>
            <a:r>
              <a:rPr lang="en-US" altLang="zh-CN" sz="2400" dirty="0">
                <a:ea typeface="宋体" charset="-122"/>
              </a:rPr>
              <a:t>encoding</a:t>
            </a:r>
            <a:r>
              <a:rPr lang="zh-CN" altLang="en-US" sz="2400" dirty="0">
                <a:ea typeface="宋体" charset="-122"/>
              </a:rPr>
              <a:t>（二进制补码）</a:t>
            </a:r>
            <a:endParaRPr lang="en-US" altLang="zh-CN" sz="2400" dirty="0">
              <a:ea typeface="宋体" charset="-122"/>
            </a:endParaRPr>
          </a:p>
          <a:p>
            <a:pPr lvl="1"/>
            <a:r>
              <a:rPr lang="zh-CN" altLang="en-US" sz="2000" dirty="0">
                <a:ea typeface="宋体" charset="-122"/>
              </a:rPr>
              <a:t>可表示正、负整数（有符号数）</a:t>
            </a:r>
            <a:endParaRPr lang="en-US" altLang="zh-CN" sz="2000" dirty="0">
              <a:ea typeface="宋体" charset="-122"/>
            </a:endParaRPr>
          </a:p>
          <a:p>
            <a:pPr lvl="1"/>
            <a:r>
              <a:rPr lang="zh-CN" altLang="en-US" sz="2000" dirty="0">
                <a:ea typeface="宋体" charset="-122"/>
              </a:rPr>
              <a:t>是最常见的一种编码（主流计算机的默认整型编码）</a:t>
            </a:r>
            <a:endParaRPr lang="en-US" altLang="zh-CN" sz="2000" dirty="0">
              <a:ea typeface="宋体" charset="-122"/>
            </a:endParaRPr>
          </a:p>
          <a:p>
            <a:pPr lvl="1"/>
            <a:r>
              <a:rPr lang="en-US" altLang="zh-CN" sz="2000" dirty="0">
                <a:ea typeface="宋体" charset="-122"/>
              </a:rPr>
              <a:t>short, </a:t>
            </a:r>
            <a:r>
              <a:rPr lang="en-US" altLang="zh-CN" sz="2000" dirty="0" err="1">
                <a:ea typeface="宋体" charset="-122"/>
              </a:rPr>
              <a:t>int</a:t>
            </a:r>
            <a:r>
              <a:rPr lang="en-US" altLang="zh-CN" sz="2000" dirty="0">
                <a:ea typeface="宋体" charset="-122"/>
              </a:rPr>
              <a:t>, long</a:t>
            </a:r>
          </a:p>
          <a:p>
            <a:r>
              <a:rPr lang="en-US" altLang="zh-CN" sz="2400" b="1" dirty="0">
                <a:ea typeface="宋体" charset="-122"/>
              </a:rPr>
              <a:t>Floating point </a:t>
            </a:r>
            <a:r>
              <a:rPr lang="en-US" altLang="zh-CN" sz="2400" dirty="0">
                <a:ea typeface="宋体" charset="-122"/>
              </a:rPr>
              <a:t>encoding</a:t>
            </a:r>
          </a:p>
          <a:p>
            <a:pPr lvl="1"/>
            <a:r>
              <a:rPr lang="zh-CN" altLang="en-US" sz="2000" dirty="0">
                <a:solidFill>
                  <a:srgbClr val="FF0000"/>
                </a:solidFill>
                <a:ea typeface="宋体" charset="-122"/>
              </a:rPr>
              <a:t>近似</a:t>
            </a:r>
            <a:r>
              <a:rPr lang="zh-CN" altLang="en-US" sz="2000" dirty="0">
                <a:ea typeface="宋体" charset="-122"/>
              </a:rPr>
              <a:t>表示实数，无法表示所有实数（很大</a:t>
            </a:r>
            <a:r>
              <a:rPr lang="en-US" altLang="zh-CN" sz="2000" dirty="0">
                <a:ea typeface="宋体" charset="-122"/>
              </a:rPr>
              <a:t>/</a:t>
            </a:r>
            <a:r>
              <a:rPr lang="zh-CN" altLang="en-US" sz="2000" dirty="0">
                <a:ea typeface="宋体" charset="-122"/>
              </a:rPr>
              <a:t>很小都不行）</a:t>
            </a:r>
            <a:endParaRPr lang="en-US" altLang="zh-CN" sz="2000" dirty="0">
              <a:ea typeface="宋体" charset="-122"/>
            </a:endParaRPr>
          </a:p>
          <a:p>
            <a:pPr lvl="1"/>
            <a:r>
              <a:rPr lang="zh-CN" altLang="en-US" sz="2000" dirty="0">
                <a:ea typeface="宋体" charset="-122"/>
              </a:rPr>
              <a:t>底为</a:t>
            </a:r>
            <a:r>
              <a:rPr lang="en-US" altLang="zh-CN" sz="2000" dirty="0">
                <a:ea typeface="宋体" charset="-122"/>
              </a:rPr>
              <a:t>2</a:t>
            </a:r>
            <a:r>
              <a:rPr lang="zh-CN" altLang="en-US" sz="2000" dirty="0">
                <a:ea typeface="宋体" charset="-122"/>
              </a:rPr>
              <a:t>的科学计数法方式</a:t>
            </a:r>
            <a:endParaRPr lang="en-US" altLang="zh-CN" sz="2000" dirty="0">
              <a:ea typeface="宋体" charset="-122"/>
            </a:endParaRPr>
          </a:p>
          <a:p>
            <a:pPr lvl="1"/>
            <a:r>
              <a:rPr lang="en-US" altLang="zh-CN" sz="2000" dirty="0">
                <a:ea typeface="宋体" charset="-122"/>
              </a:rPr>
              <a:t>float, double</a:t>
            </a:r>
          </a:p>
        </p:txBody>
      </p:sp>
    </p:spTree>
    <p:extLst>
      <p:ext uri="{BB962C8B-B14F-4D97-AF65-F5344CB8AC3E}">
        <p14:creationId xmlns:p14="http://schemas.microsoft.com/office/powerpoint/2010/main" val="1504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A8B1D5-F5CE-404F-AE52-F9AE1B57352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charset="-122"/>
              </a:rPr>
              <a:t>‘</a:t>
            </a:r>
            <a:r>
              <a:rPr lang="en-US" altLang="zh-CN">
                <a:ea typeface="宋体" charset="-122"/>
              </a:rPr>
              <a:t>int’ is not integer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Overflow</a:t>
            </a:r>
            <a:r>
              <a:rPr lang="zh-CN" altLang="en-US" dirty="0">
                <a:ea typeface="宋体" charset="-122"/>
              </a:rPr>
              <a:t>（溢出）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en-US" altLang="zh-CN" dirty="0">
                <a:ea typeface="宋体" charset="-122"/>
              </a:rPr>
              <a:t>200*300*400*500 = -884,901,888</a:t>
            </a:r>
          </a:p>
          <a:p>
            <a:pPr lvl="1"/>
            <a:r>
              <a:rPr lang="zh-CN" altLang="en-US" dirty="0">
                <a:ea typeface="宋体" charset="-122"/>
              </a:rPr>
              <a:t>乘积超过了整数的表示范围</a:t>
            </a:r>
            <a:endParaRPr lang="en-US" altLang="zh-CN" dirty="0">
              <a:ea typeface="宋体" charset="-122"/>
            </a:endParaRPr>
          </a:p>
          <a:p>
            <a:r>
              <a:rPr lang="zh-CN" altLang="en-US" dirty="0">
                <a:ea typeface="宋体" charset="-122"/>
              </a:rPr>
              <a:t>满足</a:t>
            </a:r>
            <a:r>
              <a:rPr lang="zh-CN" altLang="en-US" i="1" dirty="0">
                <a:ea typeface="宋体" charset="-122"/>
              </a:rPr>
              <a:t>交换律</a:t>
            </a:r>
            <a:r>
              <a:rPr lang="zh-CN" altLang="en-US" dirty="0">
                <a:ea typeface="宋体" charset="-122"/>
              </a:rPr>
              <a:t>和</a:t>
            </a:r>
            <a:r>
              <a:rPr lang="zh-CN" altLang="en-US" i="1" dirty="0">
                <a:ea typeface="宋体" charset="-122"/>
              </a:rPr>
              <a:t>结合律</a:t>
            </a:r>
            <a:endParaRPr lang="en-US" altLang="zh-CN" i="1" dirty="0">
              <a:ea typeface="宋体" charset="-122"/>
            </a:endParaRPr>
          </a:p>
          <a:p>
            <a:pPr lvl="1"/>
            <a:r>
              <a:rPr lang="en-US" altLang="zh-CN" dirty="0">
                <a:ea typeface="宋体" charset="-122"/>
              </a:rPr>
              <a:t>(500 * 400) * (300 * 200)</a:t>
            </a:r>
          </a:p>
          <a:p>
            <a:pPr lvl="1"/>
            <a:r>
              <a:rPr lang="en-US" altLang="zh-CN" dirty="0">
                <a:ea typeface="宋体" charset="-122"/>
              </a:rPr>
              <a:t>((500 * 400) * 300) * 200</a:t>
            </a:r>
          </a:p>
          <a:p>
            <a:pPr lvl="1"/>
            <a:r>
              <a:rPr lang="en-US" altLang="zh-CN" dirty="0">
                <a:ea typeface="宋体" charset="-122"/>
              </a:rPr>
              <a:t>((200 * 500) * 300) * 400</a:t>
            </a:r>
          </a:p>
          <a:p>
            <a:pPr lvl="1"/>
            <a:r>
              <a:rPr lang="en-US" altLang="zh-CN" dirty="0">
                <a:ea typeface="宋体" charset="-122"/>
              </a:rPr>
              <a:t>400 * (200 * (300 * 500))</a:t>
            </a:r>
          </a:p>
        </p:txBody>
      </p:sp>
    </p:spTree>
    <p:extLst>
      <p:ext uri="{BB962C8B-B14F-4D97-AF65-F5344CB8AC3E}">
        <p14:creationId xmlns:p14="http://schemas.microsoft.com/office/powerpoint/2010/main" val="398158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A5D255-589B-004A-B812-FD4C91B1E94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‘float’ is not real number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Overflow and Underflow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ea typeface="宋体" charset="-122"/>
              </a:rPr>
              <a:t>结合律可能不成立</a:t>
            </a:r>
            <a:endParaRPr lang="en-US" altLang="zh-CN" dirty="0">
              <a:ea typeface="宋体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(3.14+1e20)-1e20 = 0.0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3.14+(1e20-1e20) = 3.14</a:t>
            </a:r>
          </a:p>
        </p:txBody>
      </p:sp>
    </p:spTree>
    <p:extLst>
      <p:ext uri="{BB962C8B-B14F-4D97-AF65-F5344CB8AC3E}">
        <p14:creationId xmlns:p14="http://schemas.microsoft.com/office/powerpoint/2010/main" val="732647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Example Data Representations</a:t>
            </a:r>
          </a:p>
        </p:txBody>
      </p:sp>
      <p:graphicFrame>
        <p:nvGraphicFramePr>
          <p:cNvPr id="12292" name="Group 4"/>
          <p:cNvGraphicFramePr>
            <a:graphicFrameLocks noGrp="1"/>
          </p:cNvGraphicFramePr>
          <p:nvPr/>
        </p:nvGraphicFramePr>
        <p:xfrm>
          <a:off x="1479550" y="1772816"/>
          <a:ext cx="6032500" cy="416560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C Data Type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Typical 32-bit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Typical 64-bit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x86-64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char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short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int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/>
                        <a:ea typeface="Arial Narrow" charset="0"/>
                        <a:cs typeface="Courier New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long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double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long double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charset="0"/>
                        <a:cs typeface="Calibri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charset="0"/>
                        <a:cs typeface="Calibri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10/16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pointer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36880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B812F7-0E1F-3E48-A50F-A6BE54420DC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进制转换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1844824"/>
            <a:ext cx="7182544" cy="1195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eaLnBrk="1" hangingPunct="1">
              <a:lnSpc>
                <a:spcPts val="4000"/>
              </a:lnSpc>
              <a:spcBef>
                <a:spcPct val="25000"/>
              </a:spcBef>
            </a:pPr>
            <a:r>
              <a:rPr lang="zh-CN" altLang="en-US" dirty="0">
                <a:latin typeface="Times New Roman" charset="0"/>
                <a:ea typeface="宋体" charset="0"/>
              </a:rPr>
              <a:t>二进制转十进制：</a:t>
            </a:r>
            <a:endParaRPr lang="en-US" altLang="zh-CN" dirty="0">
              <a:latin typeface="Times New Roman" charset="0"/>
              <a:ea typeface="宋体" charset="0"/>
            </a:endParaRPr>
          </a:p>
          <a:p>
            <a:pPr marL="0" indent="0" algn="just" eaLnBrk="1" hangingPunct="1">
              <a:lnSpc>
                <a:spcPts val="4000"/>
              </a:lnSpc>
              <a:spcBef>
                <a:spcPct val="25000"/>
              </a:spcBef>
            </a:pPr>
            <a:r>
              <a:rPr lang="zh-CN" altLang="en-US" dirty="0">
                <a:latin typeface="Times New Roman" charset="0"/>
                <a:ea typeface="宋体" charset="0"/>
              </a:rPr>
              <a:t>二进制数</a:t>
            </a:r>
            <a:r>
              <a:rPr lang="en-US" altLang="zh-CN" dirty="0">
                <a:latin typeface="Times New Roman" charset="0"/>
                <a:ea typeface="宋体" charset="0"/>
              </a:rPr>
              <a:t>(N)</a:t>
            </a:r>
            <a:r>
              <a:rPr lang="en-US" altLang="zh-CN" baseline="-25000" dirty="0">
                <a:latin typeface="Times New Roman" charset="0"/>
                <a:ea typeface="宋体" charset="0"/>
              </a:rPr>
              <a:t>2</a:t>
            </a:r>
            <a:r>
              <a:rPr lang="zh-CN" altLang="en-US" dirty="0">
                <a:latin typeface="Times New Roman" charset="0"/>
                <a:ea typeface="宋体" charset="0"/>
              </a:rPr>
              <a:t>按权展开再相加，可计算得到该数的十进制表示。</a:t>
            </a:r>
            <a:endParaRPr lang="en-US" altLang="zh-CN" dirty="0">
              <a:latin typeface="Times New Roman" charset="0"/>
              <a:ea typeface="宋体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87624" y="3284984"/>
            <a:ext cx="7848872" cy="2144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eaLnBrk="1" hangingPunct="1">
              <a:lnSpc>
                <a:spcPts val="4000"/>
              </a:lnSpc>
              <a:spcBef>
                <a:spcPct val="50000"/>
              </a:spcBef>
              <a:buFont typeface="Wingdings" charset="0"/>
              <a:buNone/>
            </a:pPr>
            <a:r>
              <a:rPr lang="en-US" altLang="zh-CN" dirty="0">
                <a:latin typeface="Times New Roman" charset="0"/>
                <a:ea typeface="宋体" charset="0"/>
              </a:rPr>
              <a:t> (1101.0101)</a:t>
            </a:r>
            <a:r>
              <a:rPr lang="en-US" altLang="zh-CN" baseline="-25000" dirty="0">
                <a:latin typeface="Times New Roman" charset="0"/>
                <a:ea typeface="宋体" charset="0"/>
              </a:rPr>
              <a:t>2 </a:t>
            </a:r>
            <a:r>
              <a:rPr lang="zh-CN" altLang="en-US" dirty="0">
                <a:latin typeface="Times New Roman" charset="0"/>
                <a:ea typeface="宋体" charset="0"/>
              </a:rPr>
              <a:t>＝</a:t>
            </a:r>
            <a:r>
              <a:rPr lang="en-US" altLang="zh-CN" dirty="0">
                <a:latin typeface="Times New Roman" charset="0"/>
                <a:ea typeface="宋体" charset="0"/>
              </a:rPr>
              <a:t>(1·2</a:t>
            </a:r>
            <a:r>
              <a:rPr lang="en-US" altLang="zh-CN" baseline="30000" dirty="0">
                <a:latin typeface="Times New Roman" charset="0"/>
                <a:ea typeface="宋体" charset="0"/>
              </a:rPr>
              <a:t>3</a:t>
            </a:r>
            <a:r>
              <a:rPr lang="en-US" altLang="zh-CN" dirty="0">
                <a:latin typeface="Times New Roman" charset="0"/>
                <a:ea typeface="宋体" charset="0"/>
              </a:rPr>
              <a:t> + 1·2</a:t>
            </a:r>
            <a:r>
              <a:rPr lang="en-US" altLang="zh-CN" baseline="30000" dirty="0">
                <a:latin typeface="Times New Roman" charset="0"/>
                <a:ea typeface="宋体" charset="0"/>
              </a:rPr>
              <a:t>2</a:t>
            </a:r>
            <a:r>
              <a:rPr lang="en-US" altLang="zh-CN" dirty="0">
                <a:latin typeface="Times New Roman" charset="0"/>
                <a:ea typeface="宋体" charset="0"/>
              </a:rPr>
              <a:t> + 0·2</a:t>
            </a:r>
            <a:r>
              <a:rPr lang="en-US" altLang="zh-CN" baseline="30000" dirty="0">
                <a:latin typeface="Times New Roman" charset="0"/>
                <a:ea typeface="宋体" charset="0"/>
              </a:rPr>
              <a:t>1</a:t>
            </a:r>
            <a:r>
              <a:rPr lang="en-US" altLang="zh-CN" dirty="0">
                <a:latin typeface="Times New Roman" charset="0"/>
                <a:ea typeface="宋体" charset="0"/>
              </a:rPr>
              <a:t> + 1·2</a:t>
            </a:r>
            <a:r>
              <a:rPr lang="en-US" altLang="zh-CN" baseline="30000" dirty="0">
                <a:latin typeface="Times New Roman" charset="0"/>
                <a:ea typeface="宋体" charset="0"/>
              </a:rPr>
              <a:t>0</a:t>
            </a:r>
            <a:r>
              <a:rPr lang="en-US" altLang="zh-CN" dirty="0">
                <a:latin typeface="Times New Roman" charset="0"/>
                <a:ea typeface="宋体" charset="0"/>
              </a:rPr>
              <a:t> + 0·2</a:t>
            </a:r>
            <a:r>
              <a:rPr lang="en-US" altLang="zh-CN" baseline="30000" dirty="0">
                <a:latin typeface="Times New Roman" charset="0"/>
                <a:ea typeface="宋体" charset="0"/>
              </a:rPr>
              <a:t>-1</a:t>
            </a:r>
            <a:r>
              <a:rPr lang="en-US" altLang="zh-CN" dirty="0">
                <a:latin typeface="Times New Roman" charset="0"/>
                <a:ea typeface="宋体" charset="0"/>
              </a:rPr>
              <a:t>  </a:t>
            </a:r>
          </a:p>
          <a:p>
            <a:pPr marL="0" indent="0" algn="just" eaLnBrk="1" hangingPunct="1">
              <a:lnSpc>
                <a:spcPts val="4000"/>
              </a:lnSpc>
              <a:buFont typeface="Wingdings" charset="0"/>
              <a:buNone/>
            </a:pPr>
            <a:r>
              <a:rPr lang="en-US" altLang="zh-CN" dirty="0">
                <a:latin typeface="Times New Roman" charset="0"/>
                <a:ea typeface="宋体" charset="0"/>
              </a:rPr>
              <a:t>                                     + 1·2</a:t>
            </a:r>
            <a:r>
              <a:rPr lang="en-US" altLang="zh-CN" baseline="30000" dirty="0">
                <a:latin typeface="Times New Roman" charset="0"/>
                <a:ea typeface="宋体" charset="0"/>
              </a:rPr>
              <a:t>-2</a:t>
            </a:r>
            <a:r>
              <a:rPr lang="en-US" altLang="zh-CN" dirty="0">
                <a:latin typeface="Times New Roman" charset="0"/>
                <a:ea typeface="宋体" charset="0"/>
              </a:rPr>
              <a:t> + 0·2</a:t>
            </a:r>
            <a:r>
              <a:rPr lang="en-US" altLang="zh-CN" baseline="30000" dirty="0">
                <a:latin typeface="Times New Roman" charset="0"/>
                <a:ea typeface="宋体" charset="0"/>
              </a:rPr>
              <a:t>-3</a:t>
            </a:r>
            <a:r>
              <a:rPr lang="en-US" altLang="zh-CN" dirty="0">
                <a:latin typeface="Times New Roman" charset="0"/>
                <a:ea typeface="宋体" charset="0"/>
              </a:rPr>
              <a:t> + 1·2</a:t>
            </a:r>
            <a:r>
              <a:rPr lang="en-US" altLang="zh-CN" baseline="30000" dirty="0">
                <a:latin typeface="Times New Roman" charset="0"/>
                <a:ea typeface="宋体" charset="0"/>
              </a:rPr>
              <a:t>-4</a:t>
            </a:r>
            <a:r>
              <a:rPr lang="en-US" altLang="zh-CN" dirty="0">
                <a:latin typeface="Times New Roman" charset="0"/>
                <a:ea typeface="宋体" charset="0"/>
              </a:rPr>
              <a:t>)</a:t>
            </a:r>
            <a:r>
              <a:rPr lang="en-US" altLang="zh-CN" baseline="-25000" dirty="0">
                <a:latin typeface="Times New Roman" charset="0"/>
                <a:ea typeface="宋体" charset="0"/>
              </a:rPr>
              <a:t>10</a:t>
            </a:r>
            <a:r>
              <a:rPr lang="en-US" altLang="zh-CN" dirty="0">
                <a:latin typeface="Times New Roman" charset="0"/>
                <a:ea typeface="宋体" charset="0"/>
              </a:rPr>
              <a:t> </a:t>
            </a:r>
          </a:p>
          <a:p>
            <a:pPr marL="0" indent="0" algn="just" eaLnBrk="1" hangingPunct="1">
              <a:lnSpc>
                <a:spcPts val="4000"/>
              </a:lnSpc>
              <a:buFont typeface="Wingdings" charset="0"/>
              <a:buNone/>
            </a:pPr>
            <a:r>
              <a:rPr lang="en-US" altLang="zh-CN" dirty="0">
                <a:latin typeface="Times New Roman" charset="0"/>
                <a:ea typeface="宋体" charset="0"/>
              </a:rPr>
              <a:t>                            </a:t>
            </a:r>
            <a:r>
              <a:rPr lang="zh-CN" altLang="en-US" dirty="0">
                <a:latin typeface="Times New Roman" charset="0"/>
                <a:ea typeface="宋体" charset="0"/>
              </a:rPr>
              <a:t>＝</a:t>
            </a:r>
            <a:r>
              <a:rPr lang="en-US" altLang="zh-CN" dirty="0">
                <a:latin typeface="Times New Roman" charset="0"/>
                <a:ea typeface="宋体" charset="0"/>
              </a:rPr>
              <a:t>(8+4+0+1+0+0.25+0+0.0625)</a:t>
            </a:r>
            <a:r>
              <a:rPr lang="en-US" altLang="zh-CN" baseline="-25000" dirty="0">
                <a:latin typeface="Times New Roman" charset="0"/>
                <a:ea typeface="宋体" charset="0"/>
              </a:rPr>
              <a:t>10</a:t>
            </a:r>
          </a:p>
          <a:p>
            <a:pPr marL="0" indent="0" algn="just" eaLnBrk="1" hangingPunct="1">
              <a:lnSpc>
                <a:spcPts val="4000"/>
              </a:lnSpc>
              <a:buFont typeface="Wingdings" charset="0"/>
              <a:buNone/>
            </a:pPr>
            <a:r>
              <a:rPr lang="en-US" altLang="zh-CN" dirty="0">
                <a:latin typeface="Times New Roman" charset="0"/>
                <a:ea typeface="宋体" charset="0"/>
              </a:rPr>
              <a:t>                            </a:t>
            </a:r>
            <a:r>
              <a:rPr lang="zh-CN" altLang="en-US" dirty="0">
                <a:latin typeface="Times New Roman" charset="0"/>
                <a:ea typeface="宋体" charset="0"/>
              </a:rPr>
              <a:t>＝</a:t>
            </a:r>
            <a:r>
              <a:rPr lang="en-US" altLang="zh-CN" dirty="0">
                <a:latin typeface="Times New Roman" charset="0"/>
                <a:ea typeface="宋体" charset="0"/>
              </a:rPr>
              <a:t>(13.3125)</a:t>
            </a:r>
            <a:r>
              <a:rPr lang="en-US" altLang="zh-CN" baseline="-25000" dirty="0">
                <a:latin typeface="Times New Roman" charset="0"/>
                <a:ea typeface="宋体" charset="0"/>
              </a:rPr>
              <a:t>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6881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B812F7-0E1F-3E48-A50F-A6BE54420DC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进制转换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6482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Courier New" charset="0"/>
                <a:ea typeface="宋体" charset="-122"/>
              </a:rPr>
              <a:t>十进制转二进制</a:t>
            </a:r>
            <a:endParaRPr lang="en-US" altLang="zh-CN" sz="2400" dirty="0">
              <a:latin typeface="Courier New" charset="0"/>
              <a:ea typeface="宋体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urier New" charset="0"/>
                <a:ea typeface="宋体" charset="-122"/>
              </a:rPr>
              <a:t>Value			102(1100110)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urier New" charset="0"/>
                <a:ea typeface="宋体" charset="-122"/>
              </a:rPr>
              <a:t>Bits			102 </a:t>
            </a:r>
            <a:r>
              <a:rPr lang="en-US" altLang="zh-CN" sz="2400" dirty="0">
                <a:latin typeface="Courier New" charset="0"/>
                <a:ea typeface="宋体" charset="-122"/>
                <a:sym typeface="Symbol" charset="2"/>
              </a:rPr>
              <a:t>= 51*2 + 0 (0)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urier New" charset="0"/>
                <a:ea typeface="宋体" charset="-122"/>
                <a:sym typeface="Symbol" charset="2"/>
              </a:rPr>
              <a:t>				51  = 25*2 + 1 (1)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urier New" charset="0"/>
                <a:ea typeface="宋体" charset="-122"/>
                <a:sym typeface="Symbol" charset="2"/>
              </a:rPr>
              <a:t>				25  = 12*2 + 1 (1)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urier New" charset="0"/>
                <a:ea typeface="宋体" charset="-122"/>
                <a:sym typeface="Symbol" charset="2"/>
              </a:rPr>
              <a:t>				12  =  6*2 + 0 (0)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urier New" charset="0"/>
                <a:ea typeface="宋体" charset="-122"/>
                <a:sym typeface="Symbol" charset="2"/>
              </a:rPr>
              <a:t>				 6  =  3*2 + 0 (0)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urier New" charset="0"/>
                <a:ea typeface="宋体" charset="-122"/>
                <a:sym typeface="Symbol" charset="2"/>
              </a:rPr>
              <a:t>				 3  =  1*2 + 1 (1)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urier New" charset="0"/>
                <a:ea typeface="宋体" charset="-122"/>
                <a:sym typeface="Symbol" charset="2"/>
              </a:rPr>
              <a:t>				 1  =  0*2 + 1 (1)</a:t>
            </a:r>
          </a:p>
        </p:txBody>
      </p:sp>
    </p:spTree>
    <p:extLst>
      <p:ext uri="{BB962C8B-B14F-4D97-AF65-F5344CB8AC3E}">
        <p14:creationId xmlns:p14="http://schemas.microsoft.com/office/powerpoint/2010/main" val="1407387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17538"/>
            <a:ext cx="8475662" cy="65087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200" dirty="0">
                <a:ea typeface="宋体" charset="-122"/>
              </a:rPr>
              <a:t>进制转换</a:t>
            </a:r>
            <a:endParaRPr kumimoji="0" lang="en-US" altLang="zh-CN" sz="2900" cap="none" dirty="0">
              <a:latin typeface="Century Schoolbook" charset="0"/>
              <a:ea typeface="华文楷体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23863" y="1556792"/>
            <a:ext cx="7705725" cy="5256212"/>
          </a:xfrm>
        </p:spPr>
        <p:txBody>
          <a:bodyPr>
            <a:normAutofit fontScale="92500"/>
          </a:bodyPr>
          <a:lstStyle/>
          <a:p>
            <a:pPr marL="0" indent="0" algn="just" eaLnBrk="1" hangingPunct="1">
              <a:lnSpc>
                <a:spcPct val="105000"/>
              </a:lnSpc>
              <a:buFont typeface="Wingdings" charset="0"/>
              <a:buNone/>
            </a:pPr>
            <a:r>
              <a:rPr kumimoji="0" lang="zh-CN" altLang="en-US" sz="2800" b="1" dirty="0">
                <a:latin typeface="宋体" charset="0"/>
                <a:ea typeface="宋体" charset="0"/>
              </a:rPr>
              <a:t>十进制数转换成二进制数</a:t>
            </a:r>
            <a:endParaRPr kumimoji="0" lang="zh-CN" sz="2800" b="1" dirty="0">
              <a:latin typeface="Century Schoolbook" charset="0"/>
              <a:ea typeface="宋体" charset="0"/>
            </a:endParaRPr>
          </a:p>
          <a:p>
            <a:pPr marL="0" indent="0" algn="just" eaLnBrk="1" hangingPunct="1">
              <a:lnSpc>
                <a:spcPts val="2900"/>
              </a:lnSpc>
            </a:pPr>
            <a:r>
              <a:rPr kumimoji="0" lang="zh-CN" altLang="en-US" sz="2200" dirty="0">
                <a:latin typeface="宋体" charset="0"/>
                <a:ea typeface="宋体" charset="0"/>
              </a:rPr>
              <a:t>将</a:t>
            </a:r>
            <a:r>
              <a:rPr kumimoji="0" lang="zh-CN" altLang="en-US" sz="2200" dirty="0">
                <a:latin typeface="Century Schoolbook" charset="0"/>
                <a:ea typeface="宋体" charset="0"/>
              </a:rPr>
              <a:t>十进制数转换成二进制的方法为：整数部分和小数部分别转换，</a:t>
            </a:r>
            <a:r>
              <a:rPr kumimoji="0" lang="zh-CN" altLang="en-US" sz="2200" dirty="0">
                <a:latin typeface="宋体" charset="0"/>
                <a:ea typeface="宋体" charset="0"/>
              </a:rPr>
              <a:t>各自得出结果后再合并</a:t>
            </a:r>
            <a:r>
              <a:rPr kumimoji="0" lang="zh-CN" altLang="en-US" sz="2200" dirty="0">
                <a:latin typeface="Century Schoolbook" charset="0"/>
                <a:ea typeface="宋体" charset="0"/>
              </a:rPr>
              <a:t>。</a:t>
            </a:r>
            <a:endParaRPr kumimoji="0" lang="en-US" altLang="zh-CN" sz="2200" dirty="0">
              <a:latin typeface="Century Schoolbook" charset="0"/>
              <a:ea typeface="宋体" charset="0"/>
            </a:endParaRPr>
          </a:p>
          <a:p>
            <a:pPr marL="0" indent="0" algn="just" eaLnBrk="1" hangingPunct="1">
              <a:lnSpc>
                <a:spcPts val="2900"/>
              </a:lnSpc>
            </a:pPr>
            <a:r>
              <a:rPr kumimoji="0" lang="zh-CN" altLang="en-US" sz="2200" dirty="0">
                <a:latin typeface="宋体" charset="0"/>
                <a:ea typeface="宋体" charset="0"/>
              </a:rPr>
              <a:t>对整数部分，采用</a:t>
            </a:r>
            <a:r>
              <a:rPr kumimoji="0" lang="zh-CN" altLang="en-US" sz="2200" b="1" dirty="0">
                <a:solidFill>
                  <a:srgbClr val="FF0000"/>
                </a:solidFill>
                <a:latin typeface="宋体" charset="0"/>
                <a:ea typeface="宋体" charset="0"/>
              </a:rPr>
              <a:t>除</a:t>
            </a:r>
            <a:r>
              <a:rPr kumimoji="0" lang="en-US" altLang="zh-CN" sz="2200" b="1" dirty="0">
                <a:solidFill>
                  <a:srgbClr val="FF0000"/>
                </a:solidFill>
                <a:latin typeface="宋体" charset="0"/>
                <a:ea typeface="宋体" charset="0"/>
              </a:rPr>
              <a:t>2</a:t>
            </a:r>
            <a:r>
              <a:rPr kumimoji="0" lang="zh-CN" altLang="en-US" sz="2200" b="1" dirty="0">
                <a:solidFill>
                  <a:srgbClr val="FF0000"/>
                </a:solidFill>
                <a:latin typeface="宋体" charset="0"/>
                <a:ea typeface="宋体" charset="0"/>
              </a:rPr>
              <a:t>取余数法</a:t>
            </a:r>
            <a:r>
              <a:rPr kumimoji="0" lang="zh-CN" altLang="en-US" sz="2200" b="1" dirty="0">
                <a:solidFill>
                  <a:schemeClr val="folHlink"/>
                </a:solidFill>
                <a:latin typeface="宋体" charset="0"/>
                <a:ea typeface="宋体" charset="0"/>
              </a:rPr>
              <a:t>。</a:t>
            </a:r>
            <a:r>
              <a:rPr kumimoji="0" lang="zh-CN" altLang="en-US" sz="2200" dirty="0">
                <a:latin typeface="宋体" charset="0"/>
                <a:ea typeface="宋体" charset="0"/>
              </a:rPr>
              <a:t>其规则如下：</a:t>
            </a:r>
            <a:endParaRPr kumimoji="0" lang="en-US" altLang="zh-CN" sz="2200" dirty="0">
              <a:latin typeface="宋体" charset="0"/>
              <a:ea typeface="宋体" charset="0"/>
            </a:endParaRPr>
          </a:p>
          <a:p>
            <a:pPr lvl="1" algn="just" eaLnBrk="1" hangingPunct="1">
              <a:lnSpc>
                <a:spcPts val="2900"/>
              </a:lnSpc>
            </a:pPr>
            <a:r>
              <a:rPr kumimoji="0" lang="zh-CN" altLang="en-US" sz="2200" dirty="0">
                <a:latin typeface="宋体" charset="0"/>
                <a:ea typeface="宋体" charset="0"/>
              </a:rPr>
              <a:t>将十进制数除以</a:t>
            </a:r>
            <a:r>
              <a:rPr kumimoji="0" lang="en-US" altLang="zh-CN" sz="2200" dirty="0">
                <a:latin typeface="宋体" charset="0"/>
                <a:ea typeface="宋体" charset="0"/>
              </a:rPr>
              <a:t>2</a:t>
            </a:r>
            <a:r>
              <a:rPr kumimoji="0" lang="zh-CN" altLang="en-US" sz="2200" dirty="0">
                <a:latin typeface="宋体" charset="0"/>
                <a:ea typeface="宋体" charset="0"/>
              </a:rPr>
              <a:t>，所得余数（</a:t>
            </a:r>
            <a:r>
              <a:rPr kumimoji="0" lang="en-US" altLang="zh-CN" sz="2200" dirty="0">
                <a:latin typeface="宋体" charset="0"/>
                <a:ea typeface="宋体" charset="0"/>
              </a:rPr>
              <a:t>0</a:t>
            </a:r>
            <a:r>
              <a:rPr kumimoji="0" lang="zh-CN" altLang="en-US" sz="2200" dirty="0">
                <a:latin typeface="宋体" charset="0"/>
                <a:ea typeface="宋体" charset="0"/>
              </a:rPr>
              <a:t>或</a:t>
            </a:r>
            <a:r>
              <a:rPr kumimoji="0" lang="en-US" altLang="zh-CN" sz="2200" dirty="0">
                <a:latin typeface="宋体" charset="0"/>
                <a:ea typeface="宋体" charset="0"/>
              </a:rPr>
              <a:t>1</a:t>
            </a:r>
            <a:r>
              <a:rPr kumimoji="0" lang="zh-CN" altLang="en-US" sz="2200" dirty="0">
                <a:latin typeface="宋体" charset="0"/>
                <a:ea typeface="宋体" charset="0"/>
              </a:rPr>
              <a:t>）即为对应二进制数最低位的值。然后对上次所得商除以</a:t>
            </a:r>
            <a:r>
              <a:rPr kumimoji="0" lang="en-US" altLang="zh-CN" sz="2200" dirty="0">
                <a:latin typeface="宋体" charset="0"/>
                <a:ea typeface="宋体" charset="0"/>
              </a:rPr>
              <a:t>2</a:t>
            </a:r>
            <a:r>
              <a:rPr kumimoji="0" lang="zh-CN" altLang="en-US" sz="2200" dirty="0">
                <a:latin typeface="宋体" charset="0"/>
                <a:ea typeface="宋体" charset="0"/>
              </a:rPr>
              <a:t>，所得余数即为二进制数次低位的值，如此进行下去，直到商等于</a:t>
            </a:r>
            <a:r>
              <a:rPr kumimoji="0" lang="en-US" altLang="zh-CN" sz="2200" dirty="0">
                <a:latin typeface="宋体" charset="0"/>
                <a:ea typeface="宋体" charset="0"/>
              </a:rPr>
              <a:t>0</a:t>
            </a:r>
            <a:r>
              <a:rPr kumimoji="0" lang="zh-CN" altLang="en-US" sz="2200" dirty="0">
                <a:latin typeface="宋体" charset="0"/>
                <a:ea typeface="宋体" charset="0"/>
              </a:rPr>
              <a:t>为止，最后得的余数是所求二进制数最高位的值。</a:t>
            </a:r>
          </a:p>
          <a:p>
            <a:pPr marL="0" indent="0" algn="just" eaLnBrk="1" hangingPunct="1">
              <a:lnSpc>
                <a:spcPts val="2900"/>
              </a:lnSpc>
            </a:pPr>
            <a:r>
              <a:rPr kumimoji="0" lang="zh-CN" altLang="en-US" sz="2200" dirty="0">
                <a:latin typeface="Times New Roman" charset="0"/>
                <a:ea typeface="宋体" charset="0"/>
              </a:rPr>
              <a:t>对小数部分，采用</a:t>
            </a:r>
            <a:r>
              <a:rPr kumimoji="0" lang="zh-CN" altLang="en-US" sz="2200" b="1" dirty="0">
                <a:solidFill>
                  <a:srgbClr val="FF0000"/>
                </a:solidFill>
                <a:latin typeface="Times New Roman" charset="0"/>
                <a:ea typeface="宋体" charset="0"/>
              </a:rPr>
              <a:t>乘</a:t>
            </a:r>
            <a:r>
              <a:rPr kumimoji="0" lang="en-US" altLang="zh-CN" sz="2200" b="1" dirty="0">
                <a:solidFill>
                  <a:srgbClr val="FF0000"/>
                </a:solidFill>
                <a:latin typeface="Times New Roman" charset="0"/>
                <a:ea typeface="宋体" charset="0"/>
              </a:rPr>
              <a:t>2</a:t>
            </a:r>
            <a:r>
              <a:rPr kumimoji="0" lang="zh-CN" altLang="en-US" sz="2200" b="1" dirty="0">
                <a:solidFill>
                  <a:srgbClr val="FF0000"/>
                </a:solidFill>
                <a:latin typeface="Times New Roman" charset="0"/>
                <a:ea typeface="宋体" charset="0"/>
              </a:rPr>
              <a:t>取整数法</a:t>
            </a:r>
            <a:r>
              <a:rPr kumimoji="0" lang="zh-CN" altLang="en-US" sz="2200" b="1" dirty="0">
                <a:solidFill>
                  <a:schemeClr val="folHlink"/>
                </a:solidFill>
                <a:latin typeface="Times New Roman" charset="0"/>
                <a:ea typeface="宋体" charset="0"/>
              </a:rPr>
              <a:t>。</a:t>
            </a:r>
            <a:r>
              <a:rPr kumimoji="0" lang="zh-CN" altLang="en-US" sz="2200" dirty="0">
                <a:latin typeface="Times New Roman" charset="0"/>
                <a:ea typeface="宋体" charset="0"/>
              </a:rPr>
              <a:t>其规则如下：</a:t>
            </a:r>
            <a:endParaRPr kumimoji="0" lang="en-US" altLang="zh-CN" sz="2200" dirty="0">
              <a:latin typeface="Times New Roman" charset="0"/>
              <a:ea typeface="宋体" charset="0"/>
            </a:endParaRPr>
          </a:p>
          <a:p>
            <a:pPr lvl="1" algn="just" eaLnBrk="1" hangingPunct="1">
              <a:lnSpc>
                <a:spcPts val="2900"/>
              </a:lnSpc>
            </a:pPr>
            <a:r>
              <a:rPr kumimoji="0" lang="zh-CN" altLang="en-US" sz="2200" dirty="0">
                <a:latin typeface="Times New Roman" charset="0"/>
                <a:ea typeface="宋体" charset="0"/>
              </a:rPr>
              <a:t>将十进制数乘以</a:t>
            </a:r>
            <a:r>
              <a:rPr kumimoji="0" lang="en-US" altLang="zh-CN" sz="2200" dirty="0">
                <a:latin typeface="Times New Roman" charset="0"/>
                <a:ea typeface="宋体" charset="0"/>
              </a:rPr>
              <a:t>2</a:t>
            </a:r>
            <a:r>
              <a:rPr kumimoji="0" lang="zh-CN" altLang="en-US" sz="2200" dirty="0">
                <a:latin typeface="Times New Roman" charset="0"/>
                <a:ea typeface="宋体" charset="0"/>
              </a:rPr>
              <a:t>，所得乘积的整数部分即为对应二进制小数最高位的值，然后对所余数的小数部分部分乘以</a:t>
            </a:r>
            <a:r>
              <a:rPr kumimoji="0" lang="en-US" altLang="zh-CN" sz="2200" dirty="0">
                <a:latin typeface="Times New Roman" charset="0"/>
                <a:ea typeface="宋体" charset="0"/>
              </a:rPr>
              <a:t>2</a:t>
            </a:r>
            <a:r>
              <a:rPr kumimoji="0" lang="zh-CN" altLang="en-US" sz="2200" dirty="0">
                <a:latin typeface="Times New Roman" charset="0"/>
                <a:ea typeface="宋体" charset="0"/>
              </a:rPr>
              <a:t>，所得乘积的整数部分为次高位的值，如此进行下去，直到乘积的小数部分为</a:t>
            </a:r>
            <a:r>
              <a:rPr kumimoji="0" lang="en-US" altLang="zh-CN" sz="2200" dirty="0">
                <a:latin typeface="Times New Roman" charset="0"/>
                <a:ea typeface="宋体" charset="0"/>
              </a:rPr>
              <a:t>0</a:t>
            </a:r>
            <a:r>
              <a:rPr kumimoji="0" lang="zh-CN" altLang="en-US" sz="2200" dirty="0">
                <a:latin typeface="Times New Roman" charset="0"/>
                <a:ea typeface="宋体" charset="0"/>
              </a:rPr>
              <a:t>，或结果已满足所需精度要求为止。</a:t>
            </a:r>
            <a:endParaRPr kumimoji="0" lang="en-US" altLang="zh-CN" sz="2200" dirty="0">
              <a:latin typeface="Century Schoolbook" charset="0"/>
              <a:ea typeface="宋体" charset="0"/>
            </a:endParaRPr>
          </a:p>
        </p:txBody>
      </p:sp>
      <p:sp>
        <p:nvSpPr>
          <p:cNvPr id="39939" name="灯片编号占位符 6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fld id="{06603068-B139-8E4E-8FC0-DE69C15A4728}" type="slidenum">
              <a:rPr kumimoji="0" lang="en-US" altLang="zh-CN" sz="1400"/>
              <a:pPr/>
              <a:t>16</a:t>
            </a:fld>
            <a:endParaRPr kumimoji="0"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62334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17538"/>
            <a:ext cx="8475662" cy="65087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200" dirty="0">
                <a:ea typeface="宋体" charset="-122"/>
              </a:rPr>
              <a:t>进制转换</a:t>
            </a:r>
            <a:endParaRPr kumimoji="0" lang="en-US" altLang="zh-CN" sz="2900" cap="none" dirty="0">
              <a:latin typeface="Century Schoolbook" charset="0"/>
              <a:ea typeface="华文楷体" charset="0"/>
            </a:endParaRPr>
          </a:p>
        </p:txBody>
      </p:sp>
      <p:sp>
        <p:nvSpPr>
          <p:cNvPr id="4096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73316" y="1448594"/>
            <a:ext cx="8064500" cy="5256212"/>
          </a:xfrm>
        </p:spPr>
        <p:txBody>
          <a:bodyPr/>
          <a:lstStyle/>
          <a:p>
            <a:pPr marL="0" indent="0" algn="just" eaLnBrk="1" hangingPunct="1">
              <a:lnSpc>
                <a:spcPct val="105000"/>
              </a:lnSpc>
              <a:buFont typeface="Wingdings" charset="0"/>
              <a:buNone/>
            </a:pPr>
            <a:r>
              <a:rPr kumimoji="0" lang="zh-CN" altLang="en-US" sz="2400" b="1" dirty="0">
                <a:latin typeface="宋体" charset="0"/>
                <a:ea typeface="宋体" charset="0"/>
              </a:rPr>
              <a:t>十进制数转换成二进制数</a:t>
            </a:r>
            <a:endParaRPr kumimoji="0" lang="en-US" altLang="zh-CN" sz="2400" b="1" dirty="0">
              <a:latin typeface="宋体" charset="0"/>
              <a:ea typeface="宋体" charset="0"/>
            </a:endParaRPr>
          </a:p>
          <a:p>
            <a:pPr marL="0" indent="0" algn="just" eaLnBrk="1" hangingPunct="1">
              <a:lnSpc>
                <a:spcPct val="105000"/>
              </a:lnSpc>
              <a:buFont typeface="Wingdings" charset="0"/>
              <a:buNone/>
            </a:pPr>
            <a:r>
              <a:rPr kumimoji="0" lang="zh-CN" altLang="en-US" sz="2400" dirty="0">
                <a:latin typeface="Times New Roman" charset="0"/>
                <a:ea typeface="宋体" charset="0"/>
              </a:rPr>
              <a:t>例如：将</a:t>
            </a:r>
            <a:r>
              <a:rPr kumimoji="0" lang="en-US" altLang="zh-CN" sz="2400" dirty="0">
                <a:latin typeface="Times New Roman" charset="0"/>
                <a:ea typeface="宋体" charset="0"/>
              </a:rPr>
              <a:t>(57.625)</a:t>
            </a:r>
            <a:r>
              <a:rPr kumimoji="0" lang="en-US" altLang="zh-CN" sz="2400" baseline="-25000" dirty="0">
                <a:latin typeface="Times New Roman" charset="0"/>
                <a:ea typeface="宋体" charset="0"/>
              </a:rPr>
              <a:t>10</a:t>
            </a:r>
            <a:r>
              <a:rPr kumimoji="0" lang="zh-CN" altLang="en-US" sz="2400" dirty="0">
                <a:latin typeface="Times New Roman" charset="0"/>
                <a:ea typeface="宋体" charset="0"/>
              </a:rPr>
              <a:t>转换成二进制。</a:t>
            </a:r>
            <a:endParaRPr kumimoji="0" lang="en-US" altLang="zh-CN" sz="2400" dirty="0">
              <a:latin typeface="Times New Roman" charset="0"/>
              <a:ea typeface="宋体" charset="0"/>
            </a:endParaRPr>
          </a:p>
          <a:p>
            <a:pPr marL="0" indent="0" algn="just" eaLnBrk="1" hangingPunct="1">
              <a:lnSpc>
                <a:spcPct val="105000"/>
              </a:lnSpc>
            </a:pPr>
            <a:r>
              <a:rPr kumimoji="0" lang="zh-CN" altLang="en-US" sz="2400" b="1" dirty="0">
                <a:latin typeface="Times New Roman" charset="0"/>
                <a:ea typeface="宋体" charset="0"/>
              </a:rPr>
              <a:t>整数部分的转换：</a:t>
            </a:r>
          </a:p>
          <a:p>
            <a:pPr marL="0" indent="0" algn="just" eaLnBrk="1" hangingPunct="1">
              <a:buFont typeface="Wingdings" charset="0"/>
              <a:buNone/>
            </a:pPr>
            <a:r>
              <a:rPr kumimoji="0" lang="zh-CN" altLang="en-US" sz="2400" dirty="0">
                <a:latin typeface="Times New Roman" charset="0"/>
                <a:ea typeface="宋体" charset="0"/>
              </a:rPr>
              <a:t>                </a:t>
            </a:r>
            <a:r>
              <a:rPr kumimoji="0" lang="en-US" altLang="zh-CN" sz="2400" dirty="0">
                <a:latin typeface="Times New Roman" charset="0"/>
                <a:ea typeface="宋体" charset="0"/>
              </a:rPr>
              <a:t>2   57                </a:t>
            </a:r>
            <a:endParaRPr kumimoji="0" lang="zh-CN" altLang="en-US" sz="2400" dirty="0">
              <a:latin typeface="Times New Roman" charset="0"/>
              <a:ea typeface="宋体" charset="0"/>
            </a:endParaRPr>
          </a:p>
          <a:p>
            <a:pPr marL="0" indent="0" algn="just" eaLnBrk="1" hangingPunct="1">
              <a:buFont typeface="Wingdings" charset="0"/>
              <a:buNone/>
            </a:pPr>
            <a:r>
              <a:rPr kumimoji="0" lang="zh-CN" altLang="en-US" sz="2400" dirty="0">
                <a:latin typeface="Times New Roman" charset="0"/>
                <a:ea typeface="宋体" charset="0"/>
              </a:rPr>
              <a:t>                </a:t>
            </a:r>
            <a:r>
              <a:rPr kumimoji="0" lang="en-US" altLang="zh-CN" sz="2400" dirty="0">
                <a:latin typeface="Times New Roman" charset="0"/>
                <a:ea typeface="宋体" charset="0"/>
              </a:rPr>
              <a:t>2    28            </a:t>
            </a:r>
            <a:r>
              <a:rPr kumimoji="0" lang="zh-CN" altLang="en-US" sz="2400" dirty="0">
                <a:latin typeface="Times New Roman" charset="0"/>
                <a:ea typeface="宋体" charset="0"/>
              </a:rPr>
              <a:t>余</a:t>
            </a:r>
            <a:r>
              <a:rPr kumimoji="0" lang="en-US" altLang="zh-CN" sz="2400" dirty="0">
                <a:latin typeface="Times New Roman" charset="0"/>
                <a:ea typeface="宋体" charset="0"/>
              </a:rPr>
              <a:t>1             </a:t>
            </a:r>
            <a:r>
              <a:rPr kumimoji="0" lang="zh-CN" altLang="en-US" sz="2400" dirty="0">
                <a:latin typeface="Times New Roman" charset="0"/>
                <a:ea typeface="宋体" charset="0"/>
              </a:rPr>
              <a:t>最低位</a:t>
            </a:r>
            <a:endParaRPr kumimoji="0" lang="en-US" altLang="zh-CN" sz="2400" dirty="0">
              <a:latin typeface="Times New Roman" charset="0"/>
              <a:ea typeface="宋体" charset="0"/>
            </a:endParaRPr>
          </a:p>
          <a:p>
            <a:pPr marL="0" indent="0" algn="just" eaLnBrk="1" hangingPunct="1">
              <a:buFont typeface="Wingdings" charset="0"/>
              <a:buNone/>
            </a:pPr>
            <a:r>
              <a:rPr kumimoji="0" lang="en-US" altLang="zh-CN" sz="2400" dirty="0">
                <a:latin typeface="Times New Roman" charset="0"/>
                <a:ea typeface="宋体" charset="0"/>
              </a:rPr>
              <a:t>                2     14           </a:t>
            </a:r>
            <a:r>
              <a:rPr kumimoji="0" lang="zh-CN" altLang="en-US" sz="2400" dirty="0">
                <a:latin typeface="Times New Roman" charset="0"/>
                <a:ea typeface="宋体" charset="0"/>
              </a:rPr>
              <a:t>余</a:t>
            </a:r>
            <a:r>
              <a:rPr kumimoji="0" lang="en-US" altLang="zh-CN" sz="2400" dirty="0">
                <a:latin typeface="Times New Roman" charset="0"/>
                <a:ea typeface="宋体" charset="0"/>
              </a:rPr>
              <a:t>0         </a:t>
            </a:r>
          </a:p>
          <a:p>
            <a:pPr marL="0" indent="0" algn="just" eaLnBrk="1" hangingPunct="1">
              <a:buFont typeface="Wingdings" charset="0"/>
              <a:buNone/>
            </a:pPr>
            <a:r>
              <a:rPr kumimoji="0" lang="en-US" altLang="zh-CN" sz="2400" dirty="0">
                <a:latin typeface="Times New Roman" charset="0"/>
                <a:ea typeface="宋体" charset="0"/>
              </a:rPr>
              <a:t>                2       7           </a:t>
            </a:r>
            <a:r>
              <a:rPr kumimoji="0" lang="zh-CN" altLang="en-US" sz="2400" dirty="0">
                <a:latin typeface="Times New Roman" charset="0"/>
                <a:ea typeface="宋体" charset="0"/>
              </a:rPr>
              <a:t>余</a:t>
            </a:r>
            <a:r>
              <a:rPr kumimoji="0" lang="en-US" altLang="zh-CN" sz="2400" dirty="0">
                <a:latin typeface="Times New Roman" charset="0"/>
                <a:ea typeface="宋体" charset="0"/>
              </a:rPr>
              <a:t>0              </a:t>
            </a:r>
          </a:p>
          <a:p>
            <a:pPr marL="0" indent="0" algn="just" eaLnBrk="1" hangingPunct="1">
              <a:buFont typeface="Wingdings" charset="0"/>
              <a:buNone/>
            </a:pPr>
            <a:r>
              <a:rPr kumimoji="0" lang="en-US" altLang="zh-CN" sz="2400" dirty="0">
                <a:latin typeface="Times New Roman" charset="0"/>
                <a:ea typeface="宋体" charset="0"/>
              </a:rPr>
              <a:t>                2        3          </a:t>
            </a:r>
            <a:r>
              <a:rPr kumimoji="0" lang="zh-CN" altLang="en-US" sz="2400" dirty="0">
                <a:latin typeface="Times New Roman" charset="0"/>
                <a:ea typeface="宋体" charset="0"/>
              </a:rPr>
              <a:t>余</a:t>
            </a:r>
            <a:r>
              <a:rPr kumimoji="0" lang="en-US" altLang="zh-CN" sz="2400" dirty="0">
                <a:latin typeface="Times New Roman" charset="0"/>
                <a:ea typeface="宋体" charset="0"/>
              </a:rPr>
              <a:t>1 </a:t>
            </a:r>
          </a:p>
          <a:p>
            <a:pPr marL="0" indent="0" algn="just" eaLnBrk="1" hangingPunct="1">
              <a:buFont typeface="Wingdings" charset="0"/>
              <a:buNone/>
            </a:pPr>
            <a:r>
              <a:rPr kumimoji="0" lang="en-US" altLang="zh-CN" sz="2400" dirty="0">
                <a:latin typeface="Times New Roman" charset="0"/>
                <a:ea typeface="宋体" charset="0"/>
              </a:rPr>
              <a:t>                2         1         </a:t>
            </a:r>
            <a:r>
              <a:rPr kumimoji="0" lang="zh-CN" altLang="en-US" sz="2400" dirty="0">
                <a:latin typeface="Times New Roman" charset="0"/>
                <a:ea typeface="宋体" charset="0"/>
              </a:rPr>
              <a:t>余</a:t>
            </a:r>
            <a:r>
              <a:rPr kumimoji="0" lang="en-US" altLang="zh-CN" sz="2400" dirty="0">
                <a:latin typeface="Times New Roman" charset="0"/>
                <a:ea typeface="宋体" charset="0"/>
              </a:rPr>
              <a:t>1</a:t>
            </a:r>
          </a:p>
          <a:p>
            <a:pPr marL="0" indent="0" algn="just" eaLnBrk="1" hangingPunct="1">
              <a:buFont typeface="Wingdings" charset="0"/>
              <a:buNone/>
            </a:pPr>
            <a:r>
              <a:rPr kumimoji="0" lang="en-US" altLang="zh-CN" sz="2400" dirty="0">
                <a:latin typeface="Times New Roman" charset="0"/>
                <a:ea typeface="宋体" charset="0"/>
              </a:rPr>
              <a:t>                           0         </a:t>
            </a:r>
            <a:r>
              <a:rPr kumimoji="0" lang="zh-CN" altLang="en-US" sz="2400" dirty="0">
                <a:latin typeface="Times New Roman" charset="0"/>
                <a:ea typeface="宋体" charset="0"/>
              </a:rPr>
              <a:t>余</a:t>
            </a:r>
            <a:r>
              <a:rPr kumimoji="0" lang="en-US" altLang="zh-CN" sz="2400" dirty="0">
                <a:latin typeface="Times New Roman" charset="0"/>
                <a:ea typeface="宋体" charset="0"/>
              </a:rPr>
              <a:t>1             </a:t>
            </a:r>
            <a:r>
              <a:rPr kumimoji="0" lang="zh-CN" altLang="en-US" sz="2400" dirty="0">
                <a:latin typeface="Times New Roman" charset="0"/>
                <a:ea typeface="宋体" charset="0"/>
              </a:rPr>
              <a:t>最高位</a:t>
            </a:r>
          </a:p>
          <a:p>
            <a:pPr marL="0" indent="0" algn="just" eaLnBrk="1" hangingPunct="1">
              <a:spcBef>
                <a:spcPts val="1800"/>
              </a:spcBef>
              <a:buFont typeface="Wingdings" charset="0"/>
              <a:buNone/>
            </a:pPr>
            <a:r>
              <a:rPr kumimoji="0" lang="zh-CN" altLang="en-US" sz="2400" b="1" dirty="0">
                <a:solidFill>
                  <a:schemeClr val="folHlink"/>
                </a:solidFill>
                <a:latin typeface="Times New Roman" charset="0"/>
                <a:ea typeface="宋体" charset="0"/>
              </a:rPr>
              <a:t>    </a:t>
            </a:r>
            <a:r>
              <a:rPr kumimoji="0" lang="zh-CN" altLang="en-US" sz="2400" b="1" dirty="0">
                <a:solidFill>
                  <a:srgbClr val="00B0F0"/>
                </a:solidFill>
                <a:latin typeface="Times New Roman" charset="0"/>
                <a:ea typeface="宋体" charset="0"/>
              </a:rPr>
              <a:t>所以得出</a:t>
            </a:r>
            <a:r>
              <a:rPr kumimoji="0" lang="en-US" altLang="zh-CN" sz="2400" b="1" dirty="0">
                <a:solidFill>
                  <a:srgbClr val="00B0F0"/>
                </a:solidFill>
                <a:latin typeface="Times New Roman" charset="0"/>
                <a:ea typeface="宋体" charset="0"/>
                <a:sym typeface="Wingdings" charset="0"/>
              </a:rPr>
              <a:t>:  (57</a:t>
            </a:r>
            <a:r>
              <a:rPr kumimoji="0" lang="en-US" altLang="zh-CN" sz="2400" b="1" dirty="0">
                <a:solidFill>
                  <a:srgbClr val="00B0F0"/>
                </a:solidFill>
                <a:latin typeface="Times New Roman" charset="0"/>
                <a:ea typeface="宋体" charset="0"/>
              </a:rPr>
              <a:t>)</a:t>
            </a:r>
            <a:r>
              <a:rPr kumimoji="0" lang="en-US" altLang="zh-CN" sz="2400" b="1" baseline="-25000" dirty="0">
                <a:solidFill>
                  <a:srgbClr val="00B0F0"/>
                </a:solidFill>
                <a:latin typeface="Times New Roman" charset="0"/>
                <a:ea typeface="宋体" charset="0"/>
              </a:rPr>
              <a:t>10</a:t>
            </a:r>
            <a:r>
              <a:rPr kumimoji="0" lang="en-US" altLang="zh-CN" sz="2400" b="1" dirty="0">
                <a:solidFill>
                  <a:srgbClr val="00B0F0"/>
                </a:solidFill>
                <a:latin typeface="Times New Roman" charset="0"/>
                <a:ea typeface="宋体" charset="0"/>
              </a:rPr>
              <a:t> = (111001)</a:t>
            </a:r>
            <a:r>
              <a:rPr kumimoji="0" lang="en-US" altLang="zh-CN" sz="2400" b="1" baseline="-25000" dirty="0">
                <a:solidFill>
                  <a:srgbClr val="00B0F0"/>
                </a:solidFill>
                <a:latin typeface="Times New Roman" charset="0"/>
                <a:ea typeface="宋体" charset="0"/>
              </a:rPr>
              <a:t>2</a:t>
            </a:r>
            <a:endParaRPr kumimoji="0" lang="zh-CN" altLang="en-US" sz="2400" dirty="0">
              <a:solidFill>
                <a:srgbClr val="00B0F0"/>
              </a:solidFill>
              <a:latin typeface="Times New Roman" charset="0"/>
              <a:ea typeface="宋体" charset="0"/>
            </a:endParaRPr>
          </a:p>
          <a:p>
            <a:pPr marL="0" indent="0" algn="just" eaLnBrk="1" hangingPunct="1">
              <a:lnSpc>
                <a:spcPct val="105000"/>
              </a:lnSpc>
              <a:buFont typeface="Wingdings" charset="0"/>
              <a:buNone/>
            </a:pPr>
            <a:endParaRPr kumimoji="0" lang="zh-CN" sz="2400" b="1" dirty="0">
              <a:latin typeface="Century Schoolbook" charset="0"/>
              <a:ea typeface="宋体" charset="0"/>
            </a:endParaRPr>
          </a:p>
        </p:txBody>
      </p:sp>
      <p:sp>
        <p:nvSpPr>
          <p:cNvPr id="40963" name="灯片编号占位符 6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fld id="{E9BFE40E-A2A2-9143-A297-D86A894C8992}" type="slidenum">
              <a:rPr kumimoji="0" lang="en-US" altLang="zh-CN" sz="1400"/>
              <a:pPr/>
              <a:t>17</a:t>
            </a:fld>
            <a:endParaRPr kumimoji="0" lang="en-US" altLang="zh-CN" sz="1400"/>
          </a:p>
        </p:txBody>
      </p:sp>
      <p:grpSp>
        <p:nvGrpSpPr>
          <p:cNvPr id="40964" name="Group 7"/>
          <p:cNvGrpSpPr>
            <a:grpSpLocks/>
          </p:cNvGrpSpPr>
          <p:nvPr/>
        </p:nvGrpSpPr>
        <p:grpSpPr bwMode="auto">
          <a:xfrm>
            <a:off x="2041525" y="3284984"/>
            <a:ext cx="514350" cy="360363"/>
            <a:chOff x="1392" y="3840"/>
            <a:chExt cx="240" cy="144"/>
          </a:xfrm>
        </p:grpSpPr>
        <p:sp>
          <p:nvSpPr>
            <p:cNvPr id="38937" name="Line 8"/>
            <p:cNvSpPr>
              <a:spLocks noChangeShapeType="1"/>
            </p:cNvSpPr>
            <p:nvPr/>
          </p:nvSpPr>
          <p:spPr bwMode="auto">
            <a:xfrm>
              <a:off x="1392" y="39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938" name="Line 9"/>
            <p:cNvSpPr>
              <a:spLocks noChangeShapeType="1"/>
            </p:cNvSpPr>
            <p:nvPr/>
          </p:nvSpPr>
          <p:spPr bwMode="auto">
            <a:xfrm flipV="1">
              <a:off x="1392" y="3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40965" name="Group 7"/>
          <p:cNvGrpSpPr>
            <a:grpSpLocks/>
          </p:cNvGrpSpPr>
          <p:nvPr/>
        </p:nvGrpSpPr>
        <p:grpSpPr bwMode="auto">
          <a:xfrm>
            <a:off x="2112963" y="3717701"/>
            <a:ext cx="514350" cy="360363"/>
            <a:chOff x="1392" y="3840"/>
            <a:chExt cx="240" cy="144"/>
          </a:xfrm>
        </p:grpSpPr>
        <p:sp>
          <p:nvSpPr>
            <p:cNvPr id="38935" name="Line 8"/>
            <p:cNvSpPr>
              <a:spLocks noChangeShapeType="1"/>
            </p:cNvSpPr>
            <p:nvPr/>
          </p:nvSpPr>
          <p:spPr bwMode="auto">
            <a:xfrm>
              <a:off x="1392" y="39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936" name="Line 9"/>
            <p:cNvSpPr>
              <a:spLocks noChangeShapeType="1"/>
            </p:cNvSpPr>
            <p:nvPr/>
          </p:nvSpPr>
          <p:spPr bwMode="auto">
            <a:xfrm flipV="1">
              <a:off x="1392" y="3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40966" name="Group 7"/>
          <p:cNvGrpSpPr>
            <a:grpSpLocks/>
          </p:cNvGrpSpPr>
          <p:nvPr/>
        </p:nvGrpSpPr>
        <p:grpSpPr bwMode="auto">
          <a:xfrm>
            <a:off x="2195513" y="4149501"/>
            <a:ext cx="514350" cy="360363"/>
            <a:chOff x="1392" y="3840"/>
            <a:chExt cx="240" cy="144"/>
          </a:xfrm>
        </p:grpSpPr>
        <p:sp>
          <p:nvSpPr>
            <p:cNvPr id="38933" name="Line 8"/>
            <p:cNvSpPr>
              <a:spLocks noChangeShapeType="1"/>
            </p:cNvSpPr>
            <p:nvPr/>
          </p:nvSpPr>
          <p:spPr bwMode="auto">
            <a:xfrm>
              <a:off x="1392" y="39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934" name="Line 9"/>
            <p:cNvSpPr>
              <a:spLocks noChangeShapeType="1"/>
            </p:cNvSpPr>
            <p:nvPr/>
          </p:nvSpPr>
          <p:spPr bwMode="auto">
            <a:xfrm flipV="1">
              <a:off x="1392" y="3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40967" name="Group 7"/>
          <p:cNvGrpSpPr>
            <a:grpSpLocks/>
          </p:cNvGrpSpPr>
          <p:nvPr/>
        </p:nvGrpSpPr>
        <p:grpSpPr bwMode="auto">
          <a:xfrm>
            <a:off x="2268538" y="4581301"/>
            <a:ext cx="512762" cy="360363"/>
            <a:chOff x="1392" y="3840"/>
            <a:chExt cx="240" cy="144"/>
          </a:xfrm>
        </p:grpSpPr>
        <p:sp>
          <p:nvSpPr>
            <p:cNvPr id="38931" name="Line 8"/>
            <p:cNvSpPr>
              <a:spLocks noChangeShapeType="1"/>
            </p:cNvSpPr>
            <p:nvPr/>
          </p:nvSpPr>
          <p:spPr bwMode="auto">
            <a:xfrm>
              <a:off x="1392" y="39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932" name="Line 9"/>
            <p:cNvSpPr>
              <a:spLocks noChangeShapeType="1"/>
            </p:cNvSpPr>
            <p:nvPr/>
          </p:nvSpPr>
          <p:spPr bwMode="auto">
            <a:xfrm flipV="1">
              <a:off x="1392" y="3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40968" name="Group 7"/>
          <p:cNvGrpSpPr>
            <a:grpSpLocks/>
          </p:cNvGrpSpPr>
          <p:nvPr/>
        </p:nvGrpSpPr>
        <p:grpSpPr bwMode="auto">
          <a:xfrm>
            <a:off x="2339975" y="5014689"/>
            <a:ext cx="514350" cy="358775"/>
            <a:chOff x="1392" y="3840"/>
            <a:chExt cx="240" cy="144"/>
          </a:xfrm>
        </p:grpSpPr>
        <p:sp>
          <p:nvSpPr>
            <p:cNvPr id="38929" name="Line 8"/>
            <p:cNvSpPr>
              <a:spLocks noChangeShapeType="1"/>
            </p:cNvSpPr>
            <p:nvPr/>
          </p:nvSpPr>
          <p:spPr bwMode="auto">
            <a:xfrm>
              <a:off x="1392" y="39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930" name="Line 9"/>
            <p:cNvSpPr>
              <a:spLocks noChangeShapeType="1"/>
            </p:cNvSpPr>
            <p:nvPr/>
          </p:nvSpPr>
          <p:spPr bwMode="auto">
            <a:xfrm flipV="1">
              <a:off x="1392" y="3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40970" name="Group 7"/>
          <p:cNvGrpSpPr>
            <a:grpSpLocks/>
          </p:cNvGrpSpPr>
          <p:nvPr/>
        </p:nvGrpSpPr>
        <p:grpSpPr bwMode="auto">
          <a:xfrm>
            <a:off x="1979613" y="2852613"/>
            <a:ext cx="514350" cy="360363"/>
            <a:chOff x="1392" y="3840"/>
            <a:chExt cx="240" cy="144"/>
          </a:xfrm>
        </p:grpSpPr>
        <p:sp>
          <p:nvSpPr>
            <p:cNvPr id="38925" name="Line 8"/>
            <p:cNvSpPr>
              <a:spLocks noChangeShapeType="1"/>
            </p:cNvSpPr>
            <p:nvPr/>
          </p:nvSpPr>
          <p:spPr bwMode="auto">
            <a:xfrm>
              <a:off x="1392" y="39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926" name="Line 9"/>
            <p:cNvSpPr>
              <a:spLocks noChangeShapeType="1"/>
            </p:cNvSpPr>
            <p:nvPr/>
          </p:nvSpPr>
          <p:spPr bwMode="auto">
            <a:xfrm flipV="1">
              <a:off x="1392" y="3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</p:grpSp>
      <p:cxnSp>
        <p:nvCxnSpPr>
          <p:cNvPr id="23" name="直接箭头连接符 22"/>
          <p:cNvCxnSpPr/>
          <p:nvPr/>
        </p:nvCxnSpPr>
        <p:spPr>
          <a:xfrm flipV="1">
            <a:off x="4608513" y="3213100"/>
            <a:ext cx="0" cy="251936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588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71761" y="611642"/>
            <a:ext cx="8475662" cy="65087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200" dirty="0">
                <a:ea typeface="宋体" charset="-122"/>
              </a:rPr>
              <a:t>进制转换</a:t>
            </a:r>
            <a:endParaRPr kumimoji="0" lang="en-US" altLang="zh-CN" sz="2900" cap="none" dirty="0">
              <a:latin typeface="Century Schoolbook" charset="0"/>
              <a:ea typeface="华文楷体" charset="0"/>
            </a:endParaRPr>
          </a:p>
        </p:txBody>
      </p:sp>
      <p:sp>
        <p:nvSpPr>
          <p:cNvPr id="4198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8313" y="1268760"/>
            <a:ext cx="8064500" cy="5257800"/>
          </a:xfrm>
        </p:spPr>
        <p:txBody>
          <a:bodyPr>
            <a:normAutofit fontScale="77500" lnSpcReduction="20000"/>
          </a:bodyPr>
          <a:lstStyle/>
          <a:p>
            <a:pPr marL="0" indent="0" algn="just" eaLnBrk="1" hangingPunct="1">
              <a:lnSpc>
                <a:spcPct val="105000"/>
              </a:lnSpc>
              <a:buFont typeface="Wingdings" charset="0"/>
              <a:buNone/>
            </a:pPr>
            <a:endParaRPr kumimoji="0" lang="en-US" altLang="zh-CN" sz="2800" b="1" dirty="0">
              <a:latin typeface="宋体" charset="0"/>
              <a:ea typeface="宋体" charset="0"/>
            </a:endParaRPr>
          </a:p>
          <a:p>
            <a:pPr marL="0" indent="0" algn="just" eaLnBrk="1" hangingPunct="1">
              <a:lnSpc>
                <a:spcPct val="105000"/>
              </a:lnSpc>
            </a:pPr>
            <a:r>
              <a:rPr kumimoji="0" lang="zh-CN" altLang="en-US" b="1" dirty="0">
                <a:latin typeface="Times New Roman" charset="0"/>
                <a:ea typeface="宋体" charset="0"/>
              </a:rPr>
              <a:t>小数部分的转换：</a:t>
            </a:r>
          </a:p>
          <a:p>
            <a:pPr marL="0" indent="0" algn="just" eaLnBrk="1" hangingPunct="1">
              <a:lnSpc>
                <a:spcPts val="3200"/>
              </a:lnSpc>
              <a:spcBef>
                <a:spcPct val="0"/>
              </a:spcBef>
              <a:buFont typeface="Wingdings" charset="0"/>
              <a:buNone/>
            </a:pPr>
            <a:r>
              <a:rPr kumimoji="0" lang="en-US" altLang="zh-CN" dirty="0">
                <a:latin typeface="Times New Roman" charset="0"/>
                <a:ea typeface="宋体" charset="0"/>
              </a:rPr>
              <a:t>               0.625</a:t>
            </a:r>
          </a:p>
          <a:p>
            <a:pPr marL="0" indent="0" algn="just" eaLnBrk="1" hangingPunct="1">
              <a:lnSpc>
                <a:spcPts val="3200"/>
              </a:lnSpc>
              <a:spcBef>
                <a:spcPct val="0"/>
              </a:spcBef>
              <a:buFont typeface="Wingdings" charset="0"/>
              <a:buNone/>
            </a:pPr>
            <a:r>
              <a:rPr kumimoji="0" lang="en-US" altLang="zh-CN" dirty="0">
                <a:latin typeface="Times New Roman" charset="0"/>
                <a:ea typeface="宋体" charset="0"/>
                <a:cs typeface="Times New Roman" charset="0"/>
              </a:rPr>
              <a:t>              ×    </a:t>
            </a:r>
            <a:r>
              <a:rPr kumimoji="0" lang="en-US" altLang="zh-CN" dirty="0">
                <a:latin typeface="Times New Roman" charset="0"/>
                <a:ea typeface="宋体" charset="0"/>
              </a:rPr>
              <a:t>2                            </a:t>
            </a:r>
          </a:p>
          <a:p>
            <a:pPr marL="0" indent="0" algn="just" eaLnBrk="1" hangingPunct="1">
              <a:lnSpc>
                <a:spcPts val="3200"/>
              </a:lnSpc>
              <a:spcBef>
                <a:spcPct val="0"/>
              </a:spcBef>
              <a:buFont typeface="Wingdings" charset="0"/>
              <a:buNone/>
            </a:pPr>
            <a:r>
              <a:rPr kumimoji="0" lang="en-US" altLang="zh-CN" dirty="0">
                <a:latin typeface="Times New Roman" charset="0"/>
                <a:ea typeface="宋体" charset="0"/>
              </a:rPr>
              <a:t>               1.250       </a:t>
            </a:r>
            <a:r>
              <a:rPr kumimoji="0" lang="zh-CN" altLang="en-US" dirty="0">
                <a:latin typeface="Times New Roman" charset="0"/>
                <a:ea typeface="宋体" charset="0"/>
              </a:rPr>
              <a:t>整数</a:t>
            </a:r>
            <a:r>
              <a:rPr kumimoji="0" lang="en-US" altLang="zh-CN" dirty="0">
                <a:latin typeface="Times New Roman" charset="0"/>
                <a:ea typeface="宋体" charset="0"/>
              </a:rPr>
              <a:t>1             </a:t>
            </a:r>
            <a:r>
              <a:rPr kumimoji="0" lang="zh-CN" altLang="en-US" dirty="0">
                <a:latin typeface="Times New Roman" charset="0"/>
                <a:ea typeface="宋体" charset="0"/>
              </a:rPr>
              <a:t>高位</a:t>
            </a:r>
            <a:endParaRPr kumimoji="0" lang="en-US" altLang="zh-CN" dirty="0">
              <a:latin typeface="Times New Roman" charset="0"/>
              <a:ea typeface="宋体" charset="0"/>
            </a:endParaRPr>
          </a:p>
          <a:p>
            <a:pPr marL="0" indent="0" algn="just" eaLnBrk="1" hangingPunct="1">
              <a:lnSpc>
                <a:spcPts val="3200"/>
              </a:lnSpc>
              <a:spcBef>
                <a:spcPct val="0"/>
              </a:spcBef>
              <a:buFont typeface="Wingdings" charset="0"/>
              <a:buNone/>
            </a:pPr>
            <a:r>
              <a:rPr kumimoji="0" lang="en-US" altLang="zh-CN" dirty="0">
                <a:latin typeface="Times New Roman" charset="0"/>
                <a:ea typeface="宋体" charset="0"/>
              </a:rPr>
              <a:t>               0.250</a:t>
            </a:r>
          </a:p>
          <a:p>
            <a:pPr marL="0" indent="0" algn="just" eaLnBrk="1" hangingPunct="1">
              <a:lnSpc>
                <a:spcPts val="3200"/>
              </a:lnSpc>
              <a:spcBef>
                <a:spcPct val="0"/>
              </a:spcBef>
              <a:buFont typeface="Wingdings" charset="0"/>
              <a:buNone/>
            </a:pPr>
            <a:r>
              <a:rPr kumimoji="0" lang="en-US" altLang="zh-CN" dirty="0">
                <a:latin typeface="Times New Roman" charset="0"/>
                <a:ea typeface="宋体" charset="0"/>
                <a:cs typeface="Times New Roman" charset="0"/>
              </a:rPr>
              <a:t>              ×    </a:t>
            </a:r>
            <a:r>
              <a:rPr kumimoji="0" lang="en-US" altLang="zh-CN" dirty="0">
                <a:latin typeface="Times New Roman" charset="0"/>
                <a:ea typeface="宋体" charset="0"/>
              </a:rPr>
              <a:t>2 </a:t>
            </a:r>
          </a:p>
          <a:p>
            <a:pPr marL="0" indent="0" algn="just" eaLnBrk="1" hangingPunct="1">
              <a:lnSpc>
                <a:spcPts val="3200"/>
              </a:lnSpc>
              <a:spcBef>
                <a:spcPct val="0"/>
              </a:spcBef>
              <a:buFont typeface="Wingdings" charset="0"/>
              <a:buNone/>
            </a:pPr>
            <a:r>
              <a:rPr kumimoji="0" lang="en-US" altLang="zh-CN" dirty="0">
                <a:latin typeface="Times New Roman" charset="0"/>
                <a:ea typeface="宋体" charset="0"/>
              </a:rPr>
              <a:t>               0.500       </a:t>
            </a:r>
            <a:r>
              <a:rPr kumimoji="0" lang="zh-CN" altLang="en-US" dirty="0">
                <a:latin typeface="Times New Roman" charset="0"/>
                <a:ea typeface="宋体" charset="0"/>
              </a:rPr>
              <a:t>整数</a:t>
            </a:r>
            <a:r>
              <a:rPr kumimoji="0" lang="en-US" altLang="zh-CN" dirty="0">
                <a:latin typeface="Times New Roman" charset="0"/>
                <a:ea typeface="宋体" charset="0"/>
              </a:rPr>
              <a:t>0               </a:t>
            </a:r>
          </a:p>
          <a:p>
            <a:pPr marL="0" indent="0" algn="just" eaLnBrk="1" hangingPunct="1">
              <a:lnSpc>
                <a:spcPts val="3200"/>
              </a:lnSpc>
              <a:spcBef>
                <a:spcPct val="0"/>
              </a:spcBef>
              <a:buFont typeface="Wingdings" charset="0"/>
              <a:buNone/>
            </a:pPr>
            <a:r>
              <a:rPr kumimoji="0" lang="en-US" altLang="zh-CN" dirty="0">
                <a:latin typeface="Times New Roman" charset="0"/>
                <a:ea typeface="宋体" charset="0"/>
              </a:rPr>
              <a:t>               0.500</a:t>
            </a:r>
          </a:p>
          <a:p>
            <a:pPr marL="0" indent="0" algn="just" eaLnBrk="1" hangingPunct="1">
              <a:lnSpc>
                <a:spcPts val="3200"/>
              </a:lnSpc>
              <a:spcBef>
                <a:spcPct val="0"/>
              </a:spcBef>
              <a:buFont typeface="Wingdings" charset="0"/>
              <a:buNone/>
            </a:pPr>
            <a:r>
              <a:rPr kumimoji="0" lang="en-US" altLang="zh-CN" dirty="0">
                <a:latin typeface="Times New Roman" charset="0"/>
                <a:ea typeface="宋体" charset="0"/>
                <a:cs typeface="Times New Roman" charset="0"/>
              </a:rPr>
              <a:t>              ×    </a:t>
            </a:r>
            <a:r>
              <a:rPr kumimoji="0" lang="en-US" altLang="zh-CN" dirty="0">
                <a:latin typeface="Times New Roman" charset="0"/>
                <a:ea typeface="宋体" charset="0"/>
              </a:rPr>
              <a:t>2 </a:t>
            </a:r>
          </a:p>
          <a:p>
            <a:pPr marL="0" indent="0" algn="just" eaLnBrk="1" hangingPunct="1">
              <a:lnSpc>
                <a:spcPts val="3200"/>
              </a:lnSpc>
              <a:spcBef>
                <a:spcPct val="0"/>
              </a:spcBef>
              <a:buFont typeface="Wingdings" charset="0"/>
              <a:buNone/>
            </a:pPr>
            <a:r>
              <a:rPr kumimoji="0" lang="en-US" altLang="zh-CN" dirty="0">
                <a:latin typeface="Times New Roman" charset="0"/>
                <a:ea typeface="宋体" charset="0"/>
              </a:rPr>
              <a:t>               1.000        </a:t>
            </a:r>
            <a:r>
              <a:rPr kumimoji="0" lang="zh-CN" altLang="en-US" dirty="0">
                <a:latin typeface="Times New Roman" charset="0"/>
                <a:ea typeface="宋体" charset="0"/>
              </a:rPr>
              <a:t>整数</a:t>
            </a:r>
            <a:r>
              <a:rPr kumimoji="0" lang="en-US" altLang="zh-CN" dirty="0">
                <a:latin typeface="Times New Roman" charset="0"/>
                <a:ea typeface="宋体" charset="0"/>
              </a:rPr>
              <a:t>1            </a:t>
            </a:r>
            <a:r>
              <a:rPr kumimoji="0" lang="zh-CN" altLang="en-US" dirty="0">
                <a:latin typeface="Times New Roman" charset="0"/>
                <a:ea typeface="宋体" charset="0"/>
              </a:rPr>
              <a:t>低位</a:t>
            </a:r>
            <a:endParaRPr kumimoji="0" lang="en-US" altLang="zh-CN" dirty="0">
              <a:latin typeface="Times New Roman" charset="0"/>
              <a:ea typeface="宋体" charset="0"/>
            </a:endParaRPr>
          </a:p>
          <a:p>
            <a:pPr marL="0" indent="0" algn="just" eaLnBrk="1" hangingPunct="1">
              <a:lnSpc>
                <a:spcPct val="105000"/>
              </a:lnSpc>
              <a:spcBef>
                <a:spcPts val="1200"/>
              </a:spcBef>
              <a:buFont typeface="Wingdings" charset="0"/>
              <a:buNone/>
            </a:pPr>
            <a:r>
              <a:rPr kumimoji="0" lang="zh-CN" altLang="en-US" b="1" dirty="0">
                <a:solidFill>
                  <a:srgbClr val="00B0F0"/>
                </a:solidFill>
                <a:latin typeface="Times New Roman" charset="0"/>
                <a:ea typeface="宋体" charset="0"/>
              </a:rPr>
              <a:t>     所以得出</a:t>
            </a:r>
            <a:r>
              <a:rPr kumimoji="0" lang="en-US" altLang="zh-CN" b="1" dirty="0">
                <a:solidFill>
                  <a:srgbClr val="00B0F0"/>
                </a:solidFill>
                <a:latin typeface="Times New Roman" charset="0"/>
                <a:ea typeface="宋体" charset="0"/>
                <a:sym typeface="Wingdings" charset="0"/>
              </a:rPr>
              <a:t>:     (0.625</a:t>
            </a:r>
            <a:r>
              <a:rPr kumimoji="0" lang="en-US" altLang="zh-CN" b="1" dirty="0">
                <a:solidFill>
                  <a:srgbClr val="00B0F0"/>
                </a:solidFill>
                <a:latin typeface="Times New Roman" charset="0"/>
                <a:ea typeface="宋体" charset="0"/>
              </a:rPr>
              <a:t>)</a:t>
            </a:r>
            <a:r>
              <a:rPr kumimoji="0" lang="en-US" altLang="zh-CN" b="1" baseline="-25000" dirty="0">
                <a:solidFill>
                  <a:srgbClr val="00B0F0"/>
                </a:solidFill>
                <a:latin typeface="Times New Roman" charset="0"/>
                <a:ea typeface="宋体" charset="0"/>
              </a:rPr>
              <a:t>10</a:t>
            </a:r>
            <a:r>
              <a:rPr kumimoji="0" lang="en-US" altLang="zh-CN" b="1" dirty="0">
                <a:solidFill>
                  <a:srgbClr val="00B0F0"/>
                </a:solidFill>
                <a:latin typeface="Times New Roman" charset="0"/>
                <a:ea typeface="宋体" charset="0"/>
              </a:rPr>
              <a:t> = (0.101)</a:t>
            </a:r>
            <a:r>
              <a:rPr kumimoji="0" lang="en-US" altLang="zh-CN" b="1" baseline="-25000" dirty="0">
                <a:solidFill>
                  <a:srgbClr val="00B0F0"/>
                </a:solidFill>
                <a:latin typeface="Times New Roman" charset="0"/>
                <a:ea typeface="宋体" charset="0"/>
              </a:rPr>
              <a:t>2</a:t>
            </a:r>
          </a:p>
          <a:p>
            <a:pPr marL="0" indent="0" algn="just" eaLnBrk="1" hangingPunct="1">
              <a:buFont typeface="Wingdings" charset="0"/>
              <a:buNone/>
            </a:pPr>
            <a:r>
              <a:rPr kumimoji="0" lang="zh-CN" altLang="en-US" b="1" dirty="0">
                <a:solidFill>
                  <a:schemeClr val="folHlink"/>
                </a:solidFill>
                <a:latin typeface="Times New Roman" charset="0"/>
                <a:ea typeface="宋体" charset="0"/>
              </a:rPr>
              <a:t>     </a:t>
            </a:r>
            <a:r>
              <a:rPr kumimoji="0" lang="zh-CN" altLang="en-US" b="1" dirty="0">
                <a:solidFill>
                  <a:srgbClr val="FF0000"/>
                </a:solidFill>
                <a:latin typeface="Times New Roman" charset="0"/>
                <a:ea typeface="宋体" charset="0"/>
              </a:rPr>
              <a:t>总后得出：</a:t>
            </a:r>
            <a:r>
              <a:rPr kumimoji="0" lang="en-US" altLang="zh-CN" b="1" dirty="0">
                <a:solidFill>
                  <a:srgbClr val="FF0000"/>
                </a:solidFill>
                <a:latin typeface="Times New Roman" charset="0"/>
                <a:ea typeface="宋体" charset="0"/>
                <a:sym typeface="Wingdings" charset="0"/>
              </a:rPr>
              <a:t>  (57.625</a:t>
            </a:r>
            <a:r>
              <a:rPr kumimoji="0" lang="en-US" altLang="zh-CN" b="1" dirty="0">
                <a:solidFill>
                  <a:srgbClr val="FF0000"/>
                </a:solidFill>
                <a:latin typeface="Times New Roman" charset="0"/>
                <a:ea typeface="宋体" charset="0"/>
              </a:rPr>
              <a:t>)</a:t>
            </a:r>
            <a:r>
              <a:rPr kumimoji="0" lang="en-US" altLang="zh-CN" b="1" baseline="-25000" dirty="0">
                <a:solidFill>
                  <a:srgbClr val="FF0000"/>
                </a:solidFill>
                <a:latin typeface="Times New Roman" charset="0"/>
                <a:ea typeface="宋体" charset="0"/>
              </a:rPr>
              <a:t>10</a:t>
            </a:r>
            <a:r>
              <a:rPr kumimoji="0" lang="en-US" altLang="zh-CN" b="1" dirty="0">
                <a:solidFill>
                  <a:srgbClr val="FF0000"/>
                </a:solidFill>
                <a:latin typeface="Times New Roman" charset="0"/>
                <a:ea typeface="宋体" charset="0"/>
              </a:rPr>
              <a:t> = (111001.101)</a:t>
            </a:r>
            <a:r>
              <a:rPr kumimoji="0" lang="en-US" altLang="zh-CN" b="1" baseline="-25000" dirty="0">
                <a:solidFill>
                  <a:srgbClr val="FF0000"/>
                </a:solidFill>
                <a:latin typeface="Times New Roman" charset="0"/>
                <a:ea typeface="宋体" charset="0"/>
              </a:rPr>
              <a:t>2</a:t>
            </a:r>
            <a:endParaRPr kumimoji="0" lang="en-US" altLang="zh-CN" b="1" dirty="0">
              <a:solidFill>
                <a:srgbClr val="FF0000"/>
              </a:solidFill>
              <a:latin typeface="Times New Roman" charset="0"/>
              <a:ea typeface="宋体" charset="0"/>
            </a:endParaRPr>
          </a:p>
          <a:p>
            <a:pPr marL="0" indent="0" algn="just" eaLnBrk="1" hangingPunct="1">
              <a:buFont typeface="Wingdings" charset="0"/>
              <a:buNone/>
            </a:pPr>
            <a:endParaRPr kumimoji="0" lang="en-US" altLang="zh-CN" b="1" dirty="0">
              <a:solidFill>
                <a:schemeClr val="folHlink"/>
              </a:solidFill>
              <a:latin typeface="Times New Roman" charset="0"/>
              <a:ea typeface="宋体" charset="0"/>
            </a:endParaRPr>
          </a:p>
          <a:p>
            <a:pPr marL="0" indent="0" algn="just" eaLnBrk="1" hangingPunct="1">
              <a:lnSpc>
                <a:spcPct val="105000"/>
              </a:lnSpc>
              <a:buFont typeface="Wingdings" charset="0"/>
              <a:buNone/>
            </a:pPr>
            <a:endParaRPr kumimoji="0" lang="zh-CN" b="1" dirty="0">
              <a:latin typeface="Century Schoolbook" charset="0"/>
              <a:ea typeface="宋体" charset="0"/>
            </a:endParaRPr>
          </a:p>
        </p:txBody>
      </p:sp>
      <p:sp>
        <p:nvSpPr>
          <p:cNvPr id="41987" name="灯片编号占位符 6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fld id="{9E567031-5D76-4B41-AE02-0FE003E0EE86}" type="slidenum">
              <a:rPr kumimoji="0" lang="en-US" altLang="zh-CN" sz="1400"/>
              <a:pPr/>
              <a:t>18</a:t>
            </a:fld>
            <a:endParaRPr kumimoji="0" lang="en-US" altLang="zh-CN" sz="1400"/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4139952" y="2924944"/>
            <a:ext cx="0" cy="252095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547813" y="2781300"/>
            <a:ext cx="792162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1585913" y="4005263"/>
            <a:ext cx="792162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1585913" y="5229225"/>
            <a:ext cx="792162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019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01431A-4E72-E141-84AA-CB4690B439B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Hexadecimal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16</a:t>
            </a:r>
            <a:r>
              <a:rPr lang="zh-CN" altLang="en-US" dirty="0">
                <a:ea typeface="宋体" charset="-122"/>
              </a:rPr>
              <a:t>进制的</a:t>
            </a:r>
            <a:r>
              <a:rPr lang="en-US" altLang="zh-CN" dirty="0">
                <a:ea typeface="宋体" charset="-122"/>
              </a:rPr>
              <a:t>Alphabet</a:t>
            </a:r>
            <a:r>
              <a:rPr lang="zh-CN" altLang="en-US" dirty="0">
                <a:ea typeface="宋体" charset="-122"/>
              </a:rPr>
              <a:t>中包含</a:t>
            </a:r>
            <a:r>
              <a:rPr lang="en-US" altLang="zh-CN" dirty="0">
                <a:ea typeface="宋体" charset="-122"/>
              </a:rPr>
              <a:t>16</a:t>
            </a:r>
            <a:r>
              <a:rPr lang="zh-CN" altLang="en-US" dirty="0">
                <a:ea typeface="宋体" charset="-122"/>
              </a:rPr>
              <a:t>个符号：</a:t>
            </a:r>
            <a:r>
              <a:rPr lang="en-US" altLang="zh-CN" dirty="0">
                <a:ea typeface="宋体" charset="-122"/>
              </a:rPr>
              <a:t> ‘0’ to ‘9’ and ‘A’ to ‘F’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Write FA1D37B</a:t>
            </a:r>
            <a:r>
              <a:rPr lang="en-US" altLang="zh-CN" baseline="-25000" dirty="0">
                <a:ea typeface="宋体" charset="-122"/>
              </a:rPr>
              <a:t>16</a:t>
            </a:r>
            <a:r>
              <a:rPr lang="en-US" altLang="zh-CN" dirty="0">
                <a:ea typeface="宋体" charset="-122"/>
              </a:rPr>
              <a:t> in C as </a:t>
            </a: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FF0000"/>
                </a:solidFill>
                <a:latin typeface="Courier New" charset="0"/>
                <a:ea typeface="宋体" charset="-122"/>
              </a:rPr>
              <a:t>0x</a:t>
            </a:r>
            <a:r>
              <a:rPr lang="en-US" altLang="zh-CN" dirty="0">
                <a:latin typeface="Courier New" charset="0"/>
                <a:ea typeface="宋体" charset="-122"/>
              </a:rPr>
              <a:t>FA1D37B or</a:t>
            </a:r>
            <a:endParaRPr lang="en-US" altLang="zh-CN" dirty="0">
              <a:ea typeface="宋体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FF0000"/>
                </a:solidFill>
                <a:latin typeface="Courier New" charset="0"/>
                <a:ea typeface="宋体" charset="-122"/>
              </a:rPr>
              <a:t>0x</a:t>
            </a:r>
            <a:r>
              <a:rPr lang="en-US" altLang="zh-CN" dirty="0">
                <a:latin typeface="Courier New" charset="0"/>
                <a:ea typeface="宋体" charset="-122"/>
              </a:rPr>
              <a:t>fa1d37b</a:t>
            </a:r>
            <a:r>
              <a:rPr lang="zh-CN" altLang="en-US" dirty="0">
                <a:latin typeface="Courier New" charset="0"/>
                <a:ea typeface="宋体" charset="-122"/>
              </a:rPr>
              <a:t> </a:t>
            </a:r>
            <a:r>
              <a:rPr lang="en-US" altLang="zh-CN" dirty="0">
                <a:latin typeface="Courier New" charset="0"/>
                <a:ea typeface="宋体" charset="-122"/>
              </a:rPr>
              <a:t>or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Courier New" charset="0"/>
                <a:ea typeface="宋体" charset="-122"/>
              </a:rPr>
              <a:t>FA1D37B</a:t>
            </a:r>
            <a:r>
              <a:rPr lang="en-US" altLang="zh-CN" b="1" dirty="0">
                <a:solidFill>
                  <a:srgbClr val="FF0000"/>
                </a:solidFill>
                <a:latin typeface="Courier New" charset="0"/>
                <a:ea typeface="宋体" charset="-122"/>
              </a:rPr>
              <a:t>H</a:t>
            </a:r>
            <a:r>
              <a:rPr lang="zh-CN" altLang="en-US" dirty="0">
                <a:latin typeface="Courier New" charset="0"/>
                <a:ea typeface="宋体" charset="-122"/>
              </a:rPr>
              <a:t> </a:t>
            </a:r>
            <a:r>
              <a:rPr lang="en-US" altLang="zh-CN" dirty="0">
                <a:latin typeface="Courier New" charset="0"/>
                <a:ea typeface="宋体" charset="-122"/>
              </a:rPr>
              <a:t>or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Courier New" charset="0"/>
                <a:ea typeface="宋体" charset="-122"/>
              </a:rPr>
              <a:t>fa1d37b</a:t>
            </a:r>
            <a:r>
              <a:rPr lang="en-US" altLang="zh-CN" b="1" dirty="0">
                <a:solidFill>
                  <a:srgbClr val="FF0000"/>
                </a:solidFill>
                <a:latin typeface="Courier New" charset="0"/>
                <a:ea typeface="宋体" charset="-122"/>
              </a:rPr>
              <a:t>H</a:t>
            </a:r>
            <a:endParaRPr lang="en-US" altLang="zh-CN" b="1" dirty="0">
              <a:solidFill>
                <a:srgbClr val="FF0000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BCB291-4A7D-1842-9421-4E20909B8BA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Hexadecimal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600200"/>
            <a:ext cx="6705600" cy="44196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Byte = 8 bits</a:t>
            </a:r>
          </a:p>
          <a:p>
            <a:pPr lvl="1"/>
            <a:r>
              <a:rPr lang="en-US" altLang="zh-CN" dirty="0">
                <a:ea typeface="宋体" charset="-122"/>
              </a:rPr>
              <a:t>Binary 	00000000</a:t>
            </a:r>
            <a:r>
              <a:rPr lang="en-US" altLang="zh-CN" baseline="-25000" dirty="0">
                <a:ea typeface="宋体" charset="-122"/>
              </a:rPr>
              <a:t>2</a:t>
            </a:r>
            <a:r>
              <a:rPr lang="en-US" altLang="zh-CN" dirty="0">
                <a:ea typeface="宋体" charset="-122"/>
              </a:rPr>
              <a:t> 	to 	11111111</a:t>
            </a:r>
            <a:r>
              <a:rPr lang="en-US" altLang="zh-CN" baseline="-25000" dirty="0">
                <a:ea typeface="宋体" charset="-122"/>
              </a:rPr>
              <a:t>2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en-US" altLang="zh-CN" dirty="0">
                <a:ea typeface="宋体" charset="-122"/>
              </a:rPr>
              <a:t>Decimal: 	0</a:t>
            </a:r>
            <a:r>
              <a:rPr lang="en-US" altLang="zh-CN" baseline="-25000" dirty="0">
                <a:ea typeface="宋体" charset="-122"/>
              </a:rPr>
              <a:t>10</a:t>
            </a:r>
            <a:r>
              <a:rPr lang="en-US" altLang="zh-CN" dirty="0">
                <a:ea typeface="宋体" charset="-122"/>
              </a:rPr>
              <a:t>	to 	255</a:t>
            </a:r>
            <a:r>
              <a:rPr lang="en-US" altLang="zh-CN" baseline="-25000" dirty="0">
                <a:ea typeface="宋体" charset="-122"/>
              </a:rPr>
              <a:t>10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en-US" altLang="zh-CN" dirty="0">
                <a:ea typeface="宋体" charset="-122"/>
              </a:rPr>
              <a:t>Hexadecimal 	00</a:t>
            </a:r>
            <a:r>
              <a:rPr lang="en-US" altLang="zh-CN" baseline="-25000" dirty="0">
                <a:ea typeface="宋体" charset="-122"/>
              </a:rPr>
              <a:t>16</a:t>
            </a:r>
            <a:r>
              <a:rPr lang="en-US" altLang="zh-CN" dirty="0">
                <a:ea typeface="宋体" charset="-122"/>
              </a:rPr>
              <a:t> 	to 	FF</a:t>
            </a:r>
            <a:r>
              <a:rPr lang="en-US" altLang="zh-CN" baseline="-25000" dirty="0">
                <a:ea typeface="宋体" charset="-122"/>
              </a:rPr>
              <a:t>16</a:t>
            </a:r>
          </a:p>
        </p:txBody>
      </p:sp>
      <p:grpSp>
        <p:nvGrpSpPr>
          <p:cNvPr id="35845" name="Group 4"/>
          <p:cNvGrpSpPr>
            <a:grpSpLocks/>
          </p:cNvGrpSpPr>
          <p:nvPr/>
        </p:nvGrpSpPr>
        <p:grpSpPr bwMode="auto">
          <a:xfrm>
            <a:off x="6477000" y="1622425"/>
            <a:ext cx="1790700" cy="4244975"/>
            <a:chOff x="4224" y="864"/>
            <a:chExt cx="1128" cy="2674"/>
          </a:xfrm>
        </p:grpSpPr>
        <p:grpSp>
          <p:nvGrpSpPr>
            <p:cNvPr id="35846" name="Group 5"/>
            <p:cNvGrpSpPr>
              <a:grpSpLocks/>
            </p:cNvGrpSpPr>
            <p:nvPr/>
          </p:nvGrpSpPr>
          <p:grpSpPr bwMode="auto">
            <a:xfrm>
              <a:off x="4224" y="1234"/>
              <a:ext cx="1104" cy="2304"/>
              <a:chOff x="4224" y="1234"/>
              <a:chExt cx="1104" cy="2304"/>
            </a:xfrm>
          </p:grpSpPr>
          <p:sp>
            <p:nvSpPr>
              <p:cNvPr id="35850" name="Rectangle 6"/>
              <p:cNvSpPr>
                <a:spLocks noChangeArrowheads="1"/>
              </p:cNvSpPr>
              <p:nvPr/>
            </p:nvSpPr>
            <p:spPr bwMode="auto">
              <a:xfrm>
                <a:off x="4224" y="123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35851" name="Rectangle 7"/>
              <p:cNvSpPr>
                <a:spLocks noChangeArrowheads="1"/>
              </p:cNvSpPr>
              <p:nvPr/>
            </p:nvSpPr>
            <p:spPr bwMode="auto">
              <a:xfrm>
                <a:off x="4512" y="123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35852" name="Rectangle 8"/>
              <p:cNvSpPr>
                <a:spLocks noChangeArrowheads="1"/>
              </p:cNvSpPr>
              <p:nvPr/>
            </p:nvSpPr>
            <p:spPr bwMode="auto">
              <a:xfrm>
                <a:off x="4800" y="123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0000</a:t>
                </a:r>
              </a:p>
            </p:txBody>
          </p:sp>
          <p:sp>
            <p:nvSpPr>
              <p:cNvPr id="35853" name="Rectangle 9"/>
              <p:cNvSpPr>
                <a:spLocks noChangeArrowheads="1"/>
              </p:cNvSpPr>
              <p:nvPr/>
            </p:nvSpPr>
            <p:spPr bwMode="auto">
              <a:xfrm>
                <a:off x="4224" y="137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5854" name="Rectangle 10"/>
              <p:cNvSpPr>
                <a:spLocks noChangeArrowheads="1"/>
              </p:cNvSpPr>
              <p:nvPr/>
            </p:nvSpPr>
            <p:spPr bwMode="auto">
              <a:xfrm>
                <a:off x="4512" y="137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5855" name="Rectangle 11"/>
              <p:cNvSpPr>
                <a:spLocks noChangeArrowheads="1"/>
              </p:cNvSpPr>
              <p:nvPr/>
            </p:nvSpPr>
            <p:spPr bwMode="auto">
              <a:xfrm>
                <a:off x="4800" y="1378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0001</a:t>
                </a:r>
              </a:p>
            </p:txBody>
          </p:sp>
          <p:sp>
            <p:nvSpPr>
              <p:cNvPr id="35856" name="Rectangle 12"/>
              <p:cNvSpPr>
                <a:spLocks noChangeArrowheads="1"/>
              </p:cNvSpPr>
              <p:nvPr/>
            </p:nvSpPr>
            <p:spPr bwMode="auto">
              <a:xfrm>
                <a:off x="4224" y="152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2</a:t>
                </a:r>
              </a:p>
            </p:txBody>
          </p:sp>
          <p:sp>
            <p:nvSpPr>
              <p:cNvPr id="35857" name="Rectangle 13"/>
              <p:cNvSpPr>
                <a:spLocks noChangeArrowheads="1"/>
              </p:cNvSpPr>
              <p:nvPr/>
            </p:nvSpPr>
            <p:spPr bwMode="auto">
              <a:xfrm>
                <a:off x="4512" y="152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2</a:t>
                </a:r>
              </a:p>
            </p:txBody>
          </p:sp>
          <p:sp>
            <p:nvSpPr>
              <p:cNvPr id="35858" name="Rectangle 14"/>
              <p:cNvSpPr>
                <a:spLocks noChangeArrowheads="1"/>
              </p:cNvSpPr>
              <p:nvPr/>
            </p:nvSpPr>
            <p:spPr bwMode="auto">
              <a:xfrm>
                <a:off x="4800" y="1522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0010</a:t>
                </a:r>
              </a:p>
            </p:txBody>
          </p:sp>
          <p:sp>
            <p:nvSpPr>
              <p:cNvPr id="35859" name="Rectangle 15"/>
              <p:cNvSpPr>
                <a:spLocks noChangeArrowheads="1"/>
              </p:cNvSpPr>
              <p:nvPr/>
            </p:nvSpPr>
            <p:spPr bwMode="auto">
              <a:xfrm>
                <a:off x="4224" y="166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3</a:t>
                </a:r>
              </a:p>
            </p:txBody>
          </p:sp>
          <p:sp>
            <p:nvSpPr>
              <p:cNvPr id="35860" name="Rectangle 16"/>
              <p:cNvSpPr>
                <a:spLocks noChangeArrowheads="1"/>
              </p:cNvSpPr>
              <p:nvPr/>
            </p:nvSpPr>
            <p:spPr bwMode="auto">
              <a:xfrm>
                <a:off x="4512" y="166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3</a:t>
                </a:r>
              </a:p>
            </p:txBody>
          </p:sp>
          <p:sp>
            <p:nvSpPr>
              <p:cNvPr id="35861" name="Rectangle 17"/>
              <p:cNvSpPr>
                <a:spLocks noChangeArrowheads="1"/>
              </p:cNvSpPr>
              <p:nvPr/>
            </p:nvSpPr>
            <p:spPr bwMode="auto">
              <a:xfrm>
                <a:off x="4800" y="1666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0011</a:t>
                </a:r>
              </a:p>
            </p:txBody>
          </p:sp>
          <p:sp>
            <p:nvSpPr>
              <p:cNvPr id="35862" name="Rectangle 18"/>
              <p:cNvSpPr>
                <a:spLocks noChangeArrowheads="1"/>
              </p:cNvSpPr>
              <p:nvPr/>
            </p:nvSpPr>
            <p:spPr bwMode="auto">
              <a:xfrm>
                <a:off x="4224" y="181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4</a:t>
                </a:r>
              </a:p>
            </p:txBody>
          </p:sp>
          <p:sp>
            <p:nvSpPr>
              <p:cNvPr id="35863" name="Rectangle 19"/>
              <p:cNvSpPr>
                <a:spLocks noChangeArrowheads="1"/>
              </p:cNvSpPr>
              <p:nvPr/>
            </p:nvSpPr>
            <p:spPr bwMode="auto">
              <a:xfrm>
                <a:off x="4512" y="181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4</a:t>
                </a:r>
              </a:p>
            </p:txBody>
          </p:sp>
          <p:sp>
            <p:nvSpPr>
              <p:cNvPr id="35864" name="Rectangle 20"/>
              <p:cNvSpPr>
                <a:spLocks noChangeArrowheads="1"/>
              </p:cNvSpPr>
              <p:nvPr/>
            </p:nvSpPr>
            <p:spPr bwMode="auto">
              <a:xfrm>
                <a:off x="4800" y="1810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0100</a:t>
                </a:r>
              </a:p>
            </p:txBody>
          </p:sp>
          <p:sp>
            <p:nvSpPr>
              <p:cNvPr id="35865" name="Rectangle 21"/>
              <p:cNvSpPr>
                <a:spLocks noChangeArrowheads="1"/>
              </p:cNvSpPr>
              <p:nvPr/>
            </p:nvSpPr>
            <p:spPr bwMode="auto">
              <a:xfrm>
                <a:off x="4224" y="195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5</a:t>
                </a:r>
              </a:p>
            </p:txBody>
          </p:sp>
          <p:sp>
            <p:nvSpPr>
              <p:cNvPr id="35866" name="Rectangle 22"/>
              <p:cNvSpPr>
                <a:spLocks noChangeArrowheads="1"/>
              </p:cNvSpPr>
              <p:nvPr/>
            </p:nvSpPr>
            <p:spPr bwMode="auto">
              <a:xfrm>
                <a:off x="4512" y="195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5</a:t>
                </a:r>
              </a:p>
            </p:txBody>
          </p:sp>
          <p:sp>
            <p:nvSpPr>
              <p:cNvPr id="35867" name="Rectangle 23"/>
              <p:cNvSpPr>
                <a:spLocks noChangeArrowheads="1"/>
              </p:cNvSpPr>
              <p:nvPr/>
            </p:nvSpPr>
            <p:spPr bwMode="auto">
              <a:xfrm>
                <a:off x="4800" y="195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0101</a:t>
                </a:r>
              </a:p>
            </p:txBody>
          </p:sp>
          <p:sp>
            <p:nvSpPr>
              <p:cNvPr id="35868" name="Rectangle 24"/>
              <p:cNvSpPr>
                <a:spLocks noChangeArrowheads="1"/>
              </p:cNvSpPr>
              <p:nvPr/>
            </p:nvSpPr>
            <p:spPr bwMode="auto">
              <a:xfrm>
                <a:off x="4224" y="209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6</a:t>
                </a:r>
              </a:p>
            </p:txBody>
          </p:sp>
          <p:sp>
            <p:nvSpPr>
              <p:cNvPr id="35869" name="Rectangle 25"/>
              <p:cNvSpPr>
                <a:spLocks noChangeArrowheads="1"/>
              </p:cNvSpPr>
              <p:nvPr/>
            </p:nvSpPr>
            <p:spPr bwMode="auto">
              <a:xfrm>
                <a:off x="4512" y="209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6</a:t>
                </a:r>
              </a:p>
            </p:txBody>
          </p:sp>
          <p:sp>
            <p:nvSpPr>
              <p:cNvPr id="35870" name="Rectangle 26"/>
              <p:cNvSpPr>
                <a:spLocks noChangeArrowheads="1"/>
              </p:cNvSpPr>
              <p:nvPr/>
            </p:nvSpPr>
            <p:spPr bwMode="auto">
              <a:xfrm>
                <a:off x="4800" y="2098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0110</a:t>
                </a:r>
              </a:p>
            </p:txBody>
          </p:sp>
          <p:sp>
            <p:nvSpPr>
              <p:cNvPr id="35871" name="Rectangle 27"/>
              <p:cNvSpPr>
                <a:spLocks noChangeArrowheads="1"/>
              </p:cNvSpPr>
              <p:nvPr/>
            </p:nvSpPr>
            <p:spPr bwMode="auto">
              <a:xfrm>
                <a:off x="4224" y="224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7</a:t>
                </a:r>
              </a:p>
            </p:txBody>
          </p:sp>
          <p:sp>
            <p:nvSpPr>
              <p:cNvPr id="35872" name="Rectangle 28"/>
              <p:cNvSpPr>
                <a:spLocks noChangeArrowheads="1"/>
              </p:cNvSpPr>
              <p:nvPr/>
            </p:nvSpPr>
            <p:spPr bwMode="auto">
              <a:xfrm>
                <a:off x="4512" y="224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7</a:t>
                </a:r>
              </a:p>
            </p:txBody>
          </p:sp>
          <p:sp>
            <p:nvSpPr>
              <p:cNvPr id="35873" name="Rectangle 29"/>
              <p:cNvSpPr>
                <a:spLocks noChangeArrowheads="1"/>
              </p:cNvSpPr>
              <p:nvPr/>
            </p:nvSpPr>
            <p:spPr bwMode="auto">
              <a:xfrm>
                <a:off x="4800" y="2242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0111</a:t>
                </a:r>
              </a:p>
            </p:txBody>
          </p:sp>
          <p:sp>
            <p:nvSpPr>
              <p:cNvPr id="35874" name="Rectangle 30"/>
              <p:cNvSpPr>
                <a:spLocks noChangeArrowheads="1"/>
              </p:cNvSpPr>
              <p:nvPr/>
            </p:nvSpPr>
            <p:spPr bwMode="auto">
              <a:xfrm>
                <a:off x="4224" y="238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8</a:t>
                </a:r>
              </a:p>
            </p:txBody>
          </p:sp>
          <p:sp>
            <p:nvSpPr>
              <p:cNvPr id="35875" name="Rectangle 31"/>
              <p:cNvSpPr>
                <a:spLocks noChangeArrowheads="1"/>
              </p:cNvSpPr>
              <p:nvPr/>
            </p:nvSpPr>
            <p:spPr bwMode="auto">
              <a:xfrm>
                <a:off x="4512" y="238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8</a:t>
                </a:r>
              </a:p>
            </p:txBody>
          </p:sp>
          <p:sp>
            <p:nvSpPr>
              <p:cNvPr id="35876" name="Rectangle 32"/>
              <p:cNvSpPr>
                <a:spLocks noChangeArrowheads="1"/>
              </p:cNvSpPr>
              <p:nvPr/>
            </p:nvSpPr>
            <p:spPr bwMode="auto">
              <a:xfrm>
                <a:off x="4800" y="2386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1000</a:t>
                </a:r>
              </a:p>
            </p:txBody>
          </p:sp>
          <p:sp>
            <p:nvSpPr>
              <p:cNvPr id="35877" name="Rectangle 33"/>
              <p:cNvSpPr>
                <a:spLocks noChangeArrowheads="1"/>
              </p:cNvSpPr>
              <p:nvPr/>
            </p:nvSpPr>
            <p:spPr bwMode="auto">
              <a:xfrm>
                <a:off x="4224" y="253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9</a:t>
                </a:r>
              </a:p>
            </p:txBody>
          </p:sp>
          <p:sp>
            <p:nvSpPr>
              <p:cNvPr id="35878" name="Rectangle 34"/>
              <p:cNvSpPr>
                <a:spLocks noChangeArrowheads="1"/>
              </p:cNvSpPr>
              <p:nvPr/>
            </p:nvSpPr>
            <p:spPr bwMode="auto">
              <a:xfrm>
                <a:off x="4512" y="253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9</a:t>
                </a:r>
              </a:p>
            </p:txBody>
          </p:sp>
          <p:sp>
            <p:nvSpPr>
              <p:cNvPr id="35879" name="Rectangle 35"/>
              <p:cNvSpPr>
                <a:spLocks noChangeArrowheads="1"/>
              </p:cNvSpPr>
              <p:nvPr/>
            </p:nvSpPr>
            <p:spPr bwMode="auto">
              <a:xfrm>
                <a:off x="4800" y="2530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1001</a:t>
                </a:r>
              </a:p>
            </p:txBody>
          </p:sp>
          <p:sp>
            <p:nvSpPr>
              <p:cNvPr id="35880" name="Rectangle 36"/>
              <p:cNvSpPr>
                <a:spLocks noChangeArrowheads="1"/>
              </p:cNvSpPr>
              <p:nvPr/>
            </p:nvSpPr>
            <p:spPr bwMode="auto">
              <a:xfrm>
                <a:off x="4224" y="267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A</a:t>
                </a:r>
              </a:p>
            </p:txBody>
          </p:sp>
          <p:sp>
            <p:nvSpPr>
              <p:cNvPr id="35881" name="Rectangle 37"/>
              <p:cNvSpPr>
                <a:spLocks noChangeArrowheads="1"/>
              </p:cNvSpPr>
              <p:nvPr/>
            </p:nvSpPr>
            <p:spPr bwMode="auto">
              <a:xfrm>
                <a:off x="4512" y="267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10</a:t>
                </a:r>
              </a:p>
            </p:txBody>
          </p:sp>
          <p:sp>
            <p:nvSpPr>
              <p:cNvPr id="35882" name="Rectangle 38"/>
              <p:cNvSpPr>
                <a:spLocks noChangeArrowheads="1"/>
              </p:cNvSpPr>
              <p:nvPr/>
            </p:nvSpPr>
            <p:spPr bwMode="auto">
              <a:xfrm>
                <a:off x="4800" y="267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1010</a:t>
                </a:r>
              </a:p>
            </p:txBody>
          </p:sp>
          <p:sp>
            <p:nvSpPr>
              <p:cNvPr id="35883" name="Rectangle 39"/>
              <p:cNvSpPr>
                <a:spLocks noChangeArrowheads="1"/>
              </p:cNvSpPr>
              <p:nvPr/>
            </p:nvSpPr>
            <p:spPr bwMode="auto">
              <a:xfrm>
                <a:off x="4224" y="281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B</a:t>
                </a:r>
              </a:p>
            </p:txBody>
          </p:sp>
          <p:sp>
            <p:nvSpPr>
              <p:cNvPr id="35884" name="Rectangle 40"/>
              <p:cNvSpPr>
                <a:spLocks noChangeArrowheads="1"/>
              </p:cNvSpPr>
              <p:nvPr/>
            </p:nvSpPr>
            <p:spPr bwMode="auto">
              <a:xfrm>
                <a:off x="4512" y="281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11</a:t>
                </a:r>
              </a:p>
            </p:txBody>
          </p:sp>
          <p:sp>
            <p:nvSpPr>
              <p:cNvPr id="35885" name="Rectangle 41"/>
              <p:cNvSpPr>
                <a:spLocks noChangeArrowheads="1"/>
              </p:cNvSpPr>
              <p:nvPr/>
            </p:nvSpPr>
            <p:spPr bwMode="auto">
              <a:xfrm>
                <a:off x="4800" y="2818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1011</a:t>
                </a:r>
              </a:p>
            </p:txBody>
          </p:sp>
          <p:sp>
            <p:nvSpPr>
              <p:cNvPr id="35886" name="Rectangle 42"/>
              <p:cNvSpPr>
                <a:spLocks noChangeArrowheads="1"/>
              </p:cNvSpPr>
              <p:nvPr/>
            </p:nvSpPr>
            <p:spPr bwMode="auto">
              <a:xfrm>
                <a:off x="4224" y="296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C</a:t>
                </a:r>
              </a:p>
            </p:txBody>
          </p:sp>
          <p:sp>
            <p:nvSpPr>
              <p:cNvPr id="35887" name="Rectangle 43"/>
              <p:cNvSpPr>
                <a:spLocks noChangeArrowheads="1"/>
              </p:cNvSpPr>
              <p:nvPr/>
            </p:nvSpPr>
            <p:spPr bwMode="auto">
              <a:xfrm>
                <a:off x="4512" y="296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12</a:t>
                </a:r>
              </a:p>
            </p:txBody>
          </p:sp>
          <p:sp>
            <p:nvSpPr>
              <p:cNvPr id="35888" name="Rectangle 44"/>
              <p:cNvSpPr>
                <a:spLocks noChangeArrowheads="1"/>
              </p:cNvSpPr>
              <p:nvPr/>
            </p:nvSpPr>
            <p:spPr bwMode="auto">
              <a:xfrm>
                <a:off x="4800" y="2962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1100</a:t>
                </a:r>
              </a:p>
            </p:txBody>
          </p:sp>
          <p:sp>
            <p:nvSpPr>
              <p:cNvPr id="35889" name="Rectangle 45"/>
              <p:cNvSpPr>
                <a:spLocks noChangeArrowheads="1"/>
              </p:cNvSpPr>
              <p:nvPr/>
            </p:nvSpPr>
            <p:spPr bwMode="auto">
              <a:xfrm>
                <a:off x="4224" y="310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D</a:t>
                </a:r>
              </a:p>
            </p:txBody>
          </p:sp>
          <p:sp>
            <p:nvSpPr>
              <p:cNvPr id="35890" name="Rectangle 46"/>
              <p:cNvSpPr>
                <a:spLocks noChangeArrowheads="1"/>
              </p:cNvSpPr>
              <p:nvPr/>
            </p:nvSpPr>
            <p:spPr bwMode="auto">
              <a:xfrm>
                <a:off x="4512" y="310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13</a:t>
                </a:r>
              </a:p>
            </p:txBody>
          </p:sp>
          <p:sp>
            <p:nvSpPr>
              <p:cNvPr id="35891" name="Rectangle 47"/>
              <p:cNvSpPr>
                <a:spLocks noChangeArrowheads="1"/>
              </p:cNvSpPr>
              <p:nvPr/>
            </p:nvSpPr>
            <p:spPr bwMode="auto">
              <a:xfrm>
                <a:off x="4800" y="3106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1101</a:t>
                </a:r>
              </a:p>
            </p:txBody>
          </p:sp>
          <p:sp>
            <p:nvSpPr>
              <p:cNvPr id="35892" name="Rectangle 48"/>
              <p:cNvSpPr>
                <a:spLocks noChangeArrowheads="1"/>
              </p:cNvSpPr>
              <p:nvPr/>
            </p:nvSpPr>
            <p:spPr bwMode="auto">
              <a:xfrm>
                <a:off x="4224" y="325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E</a:t>
                </a:r>
              </a:p>
            </p:txBody>
          </p:sp>
          <p:sp>
            <p:nvSpPr>
              <p:cNvPr id="35893" name="Rectangle 49"/>
              <p:cNvSpPr>
                <a:spLocks noChangeArrowheads="1"/>
              </p:cNvSpPr>
              <p:nvPr/>
            </p:nvSpPr>
            <p:spPr bwMode="auto">
              <a:xfrm>
                <a:off x="4512" y="325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14</a:t>
                </a:r>
              </a:p>
            </p:txBody>
          </p:sp>
          <p:sp>
            <p:nvSpPr>
              <p:cNvPr id="35894" name="Rectangle 50"/>
              <p:cNvSpPr>
                <a:spLocks noChangeArrowheads="1"/>
              </p:cNvSpPr>
              <p:nvPr/>
            </p:nvSpPr>
            <p:spPr bwMode="auto">
              <a:xfrm>
                <a:off x="4800" y="3250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1110</a:t>
                </a:r>
              </a:p>
            </p:txBody>
          </p:sp>
          <p:sp>
            <p:nvSpPr>
              <p:cNvPr id="35895" name="Rectangle 51"/>
              <p:cNvSpPr>
                <a:spLocks noChangeArrowheads="1"/>
              </p:cNvSpPr>
              <p:nvPr/>
            </p:nvSpPr>
            <p:spPr bwMode="auto">
              <a:xfrm>
                <a:off x="4224" y="339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Courier New" charset="0"/>
                  </a:rPr>
                  <a:t>F</a:t>
                </a:r>
              </a:p>
            </p:txBody>
          </p:sp>
          <p:sp>
            <p:nvSpPr>
              <p:cNvPr id="35896" name="Rectangle 52"/>
              <p:cNvSpPr>
                <a:spLocks noChangeArrowheads="1"/>
              </p:cNvSpPr>
              <p:nvPr/>
            </p:nvSpPr>
            <p:spPr bwMode="auto">
              <a:xfrm>
                <a:off x="4512" y="339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15</a:t>
                </a:r>
              </a:p>
            </p:txBody>
          </p:sp>
          <p:sp>
            <p:nvSpPr>
              <p:cNvPr id="35897" name="Rectangle 53"/>
              <p:cNvSpPr>
                <a:spLocks noChangeArrowheads="1"/>
              </p:cNvSpPr>
              <p:nvPr/>
            </p:nvSpPr>
            <p:spPr bwMode="auto">
              <a:xfrm>
                <a:off x="4800" y="339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>
                    <a:latin typeface="Courier New" charset="0"/>
                  </a:rPr>
                  <a:t>1111</a:t>
                </a:r>
              </a:p>
            </p:txBody>
          </p:sp>
        </p:grpSp>
        <p:sp>
          <p:nvSpPr>
            <p:cNvPr id="35847" name="Text Box 54"/>
            <p:cNvSpPr txBox="1">
              <a:spLocks noChangeArrowheads="1"/>
            </p:cNvSpPr>
            <p:nvPr/>
          </p:nvSpPr>
          <p:spPr bwMode="auto">
            <a:xfrm rot="-2317468">
              <a:off x="4272" y="946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charset="0"/>
                </a:rPr>
                <a:t>Hex</a:t>
              </a:r>
            </a:p>
          </p:txBody>
        </p:sp>
        <p:sp>
          <p:nvSpPr>
            <p:cNvPr id="35848" name="Text Box 55"/>
            <p:cNvSpPr txBox="1">
              <a:spLocks noChangeArrowheads="1"/>
            </p:cNvSpPr>
            <p:nvPr/>
          </p:nvSpPr>
          <p:spPr bwMode="auto">
            <a:xfrm rot="-2317468">
              <a:off x="4531" y="864"/>
              <a:ext cx="6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charset="0"/>
                </a:rPr>
                <a:t>Decimal</a:t>
              </a:r>
            </a:p>
          </p:txBody>
        </p:sp>
        <p:sp>
          <p:nvSpPr>
            <p:cNvPr id="35849" name="Text Box 56"/>
            <p:cNvSpPr txBox="1">
              <a:spLocks noChangeArrowheads="1"/>
            </p:cNvSpPr>
            <p:nvPr/>
          </p:nvSpPr>
          <p:spPr bwMode="auto">
            <a:xfrm rot="-2317468">
              <a:off x="4831" y="899"/>
              <a:ext cx="52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charset="0"/>
                </a:rPr>
                <a:t>Binary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49880D-AF0F-0041-8502-7AD5719D650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Hexadecimal vs. Binary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0x173A4C</a:t>
            </a: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Hexadecimal    1    7    3    A	4	C</a:t>
            </a: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Binary	  0001 0111 0011 1010 0100 1100</a:t>
            </a:r>
          </a:p>
          <a:p>
            <a:pPr>
              <a:buFontTx/>
              <a:buNone/>
            </a:pPr>
            <a:endParaRPr lang="en-US" altLang="zh-CN" sz="2400">
              <a:latin typeface="Courier New" charset="0"/>
              <a:ea typeface="宋体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1111001010110110110011</a:t>
            </a: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Binary          11 1100 1010 1101 1011 0011</a:t>
            </a: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Hexadecimal      3    C    A    D    B    3</a:t>
            </a: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0x3CADB3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73B2ED-99CB-BA4C-8CE8-DEB83AC1E79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Hexadecimal vs. Decimal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Hexadecimal    0xA7</a:t>
            </a: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Decimal        10*16+7 = 167</a:t>
            </a:r>
          </a:p>
          <a:p>
            <a:pPr>
              <a:buFontTx/>
              <a:buNone/>
            </a:pPr>
            <a:endParaRPr lang="en-US" altLang="zh-CN" sz="2400">
              <a:latin typeface="Courier New" charset="0"/>
              <a:ea typeface="宋体" charset="-122"/>
            </a:endParaRP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Decimal        314156 = 19634*16 + 12 (C)</a:t>
            </a: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				 19634 =  1227*16 +  2 (2)</a:t>
            </a: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				  1227 =    76*16 + 11 (B)</a:t>
            </a: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				    76 =     4*16 + 12 (C)</a:t>
            </a: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                    4 =     0*16 +  4 (4)</a:t>
            </a:r>
          </a:p>
          <a:p>
            <a:pPr>
              <a:buFontTx/>
              <a:buNone/>
            </a:pPr>
            <a:r>
              <a:rPr lang="en-US" altLang="zh-CN" sz="2400">
                <a:latin typeface="Courier New" charset="0"/>
                <a:ea typeface="宋体" charset="-122"/>
              </a:rPr>
              <a:t>Hexadecimal	0x4CB2C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70D07B-E956-D040-8866-5FC0F984CE1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Hexadecimal vs. Binary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5486400" cy="44196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0x39A7F8  -&gt;</a:t>
            </a:r>
          </a:p>
          <a:p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ea typeface="宋体" charset="-122"/>
              </a:rPr>
              <a:t>1100</a:t>
            </a:r>
            <a:r>
              <a:rPr lang="zh-CN" altLang="en-US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1001</a:t>
            </a:r>
            <a:r>
              <a:rPr lang="zh-CN" altLang="en-US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0111</a:t>
            </a:r>
            <a:r>
              <a:rPr lang="zh-CN" altLang="en-US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1011  -&gt;</a:t>
            </a:r>
          </a:p>
          <a:p>
            <a:r>
              <a:rPr lang="en-US" altLang="zh-CN" dirty="0">
                <a:ea typeface="宋体" charset="-122"/>
              </a:rPr>
              <a:t>0xD5E4C  -&gt; </a:t>
            </a:r>
          </a:p>
          <a:p>
            <a:r>
              <a:rPr lang="en-US" altLang="zh-CN" dirty="0">
                <a:ea typeface="宋体" charset="-122"/>
              </a:rPr>
              <a:t>10</a:t>
            </a:r>
            <a:r>
              <a:rPr lang="zh-CN" altLang="en-US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0110</a:t>
            </a:r>
            <a:r>
              <a:rPr lang="zh-CN" altLang="en-US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1110</a:t>
            </a:r>
            <a:r>
              <a:rPr lang="zh-CN" altLang="en-US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0111</a:t>
            </a:r>
            <a:r>
              <a:rPr lang="zh-CN" altLang="en-US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1011</a:t>
            </a:r>
            <a:r>
              <a:rPr lang="zh-CN" altLang="en-US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0101 -&gt;</a:t>
            </a:r>
            <a:endParaRPr lang="en-US" altLang="zh-CN" dirty="0">
              <a:latin typeface="Courier New" charset="0"/>
              <a:ea typeface="宋体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85800" y="2063750"/>
            <a:ext cx="6145213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/>
              <a:t>0011 1001 1010 0111 11111 000</a:t>
            </a:r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590800"/>
            <a:ext cx="9842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/>
              <a:t>C97B</a:t>
            </a:r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819400" y="3200400"/>
            <a:ext cx="51117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/>
              <a:t>1101 0101 1110 0100 1100</a:t>
            </a:r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715000" y="3657600"/>
            <a:ext cx="22034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/>
              <a:t>2 6 E 7 B 5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C0E5BD-D020-3246-B330-74525305328D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Decimal, Hexadecimal, Binary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305800" cy="457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dirty="0">
                <a:ea typeface="宋体" charset="-122"/>
              </a:rPr>
              <a:t>Decimal	Binary				Hexadecimal	</a:t>
            </a:r>
          </a:p>
          <a:p>
            <a:pPr>
              <a:buFontTx/>
              <a:buNone/>
            </a:pPr>
            <a:r>
              <a:rPr lang="en-US" altLang="zh-CN" sz="2400" dirty="0">
                <a:ea typeface="宋体" charset="-122"/>
              </a:rPr>
              <a:t>167</a:t>
            </a:r>
          </a:p>
          <a:p>
            <a:pPr>
              <a:buFontTx/>
              <a:buNone/>
            </a:pPr>
            <a:r>
              <a:rPr lang="en-US" altLang="zh-CN" sz="2400" dirty="0">
                <a:ea typeface="宋体" charset="-122"/>
              </a:rPr>
              <a:t>62</a:t>
            </a:r>
          </a:p>
          <a:p>
            <a:pPr>
              <a:buFontTx/>
              <a:buNone/>
            </a:pPr>
            <a:r>
              <a:rPr lang="en-US" altLang="zh-CN" sz="2400" dirty="0">
                <a:ea typeface="宋体" charset="-122"/>
              </a:rPr>
              <a:t>188</a:t>
            </a:r>
          </a:p>
          <a:p>
            <a:pPr>
              <a:buFontTx/>
              <a:buNone/>
            </a:pPr>
            <a:r>
              <a:rPr lang="en-US" altLang="zh-CN" sz="2400" dirty="0">
                <a:ea typeface="宋体" charset="-122"/>
              </a:rPr>
              <a:t>			0011 0111</a:t>
            </a:r>
          </a:p>
          <a:p>
            <a:pPr>
              <a:buFontTx/>
              <a:buNone/>
            </a:pPr>
            <a:r>
              <a:rPr lang="en-US" altLang="zh-CN" sz="2400" dirty="0">
                <a:ea typeface="宋体" charset="-122"/>
              </a:rPr>
              <a:t>			1000 1000</a:t>
            </a:r>
          </a:p>
          <a:p>
            <a:pPr>
              <a:buFontTx/>
              <a:buNone/>
            </a:pPr>
            <a:r>
              <a:rPr lang="en-US" altLang="zh-CN" sz="2400" dirty="0">
                <a:ea typeface="宋体" charset="-122"/>
              </a:rPr>
              <a:t>			1111 0011</a:t>
            </a:r>
          </a:p>
          <a:p>
            <a:pPr>
              <a:buFontTx/>
              <a:buNone/>
            </a:pPr>
            <a:r>
              <a:rPr lang="en-US" altLang="zh-CN" sz="2400" dirty="0">
                <a:ea typeface="宋体" charset="-122"/>
              </a:rPr>
              <a:t>							0x52</a:t>
            </a:r>
          </a:p>
          <a:p>
            <a:pPr>
              <a:buFontTx/>
              <a:buNone/>
            </a:pPr>
            <a:r>
              <a:rPr lang="en-US" altLang="zh-CN" sz="2400" dirty="0">
                <a:ea typeface="宋体" charset="-122"/>
              </a:rPr>
              <a:t>							0xAC</a:t>
            </a:r>
          </a:p>
          <a:p>
            <a:pPr>
              <a:buFontTx/>
              <a:buNone/>
            </a:pPr>
            <a:r>
              <a:rPr lang="en-US" altLang="zh-CN" sz="2400" dirty="0">
                <a:ea typeface="宋体" charset="-122"/>
              </a:rPr>
              <a:t>							0xE7</a:t>
            </a:r>
            <a:endParaRPr lang="en-US" altLang="zh-CN" sz="2400" dirty="0">
              <a:latin typeface="Courier New" charset="0"/>
              <a:ea typeface="宋体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867400" y="1981200"/>
            <a:ext cx="87788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0xA7</a:t>
            </a:r>
            <a:endParaRPr lang="zh-CN" altLang="en-US" sz="2400" b="0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118991" y="1981200"/>
            <a:ext cx="1440184" cy="4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/>
              <a:t>1010 0111</a:t>
            </a:r>
            <a:endParaRPr lang="zh-CN" altLang="en-US" sz="2400" b="0" dirty="0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867400" y="2286000"/>
            <a:ext cx="84613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0x3E</a:t>
            </a:r>
            <a:endParaRPr lang="zh-CN" altLang="en-US" sz="2400" b="0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68191" y="2403475"/>
            <a:ext cx="1440184" cy="4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/>
              <a:t>0011 1110</a:t>
            </a:r>
            <a:endParaRPr lang="zh-CN" altLang="en-US" sz="2400" b="0" dirty="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106291" y="2809875"/>
            <a:ext cx="1440184" cy="4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/>
              <a:t>1011 1100</a:t>
            </a:r>
            <a:endParaRPr lang="zh-CN" altLang="en-US" sz="2400" b="0" dirty="0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867400" y="2733675"/>
            <a:ext cx="84613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0xBC</a:t>
            </a:r>
            <a:endParaRPr lang="zh-CN" altLang="en-US" sz="2400" b="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5867400" y="3267075"/>
            <a:ext cx="8413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0x37</a:t>
            </a:r>
            <a:endParaRPr lang="zh-CN" altLang="en-US" sz="2400" b="0"/>
          </a:p>
        </p:txBody>
      </p:sp>
      <p:sp>
        <p:nvSpPr>
          <p:cNvPr id="18" name="TextBox 9"/>
          <p:cNvSpPr txBox="1">
            <a:spLocks noChangeArrowheads="1"/>
          </p:cNvSpPr>
          <p:nvPr/>
        </p:nvSpPr>
        <p:spPr bwMode="auto">
          <a:xfrm>
            <a:off x="5864225" y="3657600"/>
            <a:ext cx="8413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0x88</a:t>
            </a:r>
            <a:endParaRPr lang="zh-CN" altLang="en-US" sz="2400" b="0"/>
          </a:p>
        </p:txBody>
      </p:sp>
      <p:sp>
        <p:nvSpPr>
          <p:cNvPr id="19" name="TextBox 9"/>
          <p:cNvSpPr txBox="1">
            <a:spLocks noChangeArrowheads="1"/>
          </p:cNvSpPr>
          <p:nvPr/>
        </p:nvSpPr>
        <p:spPr bwMode="auto">
          <a:xfrm>
            <a:off x="5867400" y="4114800"/>
            <a:ext cx="8413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0xF3</a:t>
            </a:r>
            <a:endParaRPr lang="zh-CN" altLang="en-US" sz="2400" b="0"/>
          </a:p>
        </p:txBody>
      </p:sp>
      <p:sp>
        <p:nvSpPr>
          <p:cNvPr id="20" name="TextBox 9"/>
          <p:cNvSpPr txBox="1">
            <a:spLocks noChangeArrowheads="1"/>
          </p:cNvSpPr>
          <p:nvPr/>
        </p:nvSpPr>
        <p:spPr bwMode="auto">
          <a:xfrm>
            <a:off x="304800" y="3352800"/>
            <a:ext cx="163988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3*16+7=55</a:t>
            </a:r>
            <a:endParaRPr lang="zh-CN" altLang="en-US" sz="2400" b="0"/>
          </a:p>
        </p:txBody>
      </p:sp>
      <p:sp>
        <p:nvSpPr>
          <p:cNvPr id="21" name="TextBox 9"/>
          <p:cNvSpPr txBox="1">
            <a:spLocks noChangeArrowheads="1"/>
          </p:cNvSpPr>
          <p:nvPr/>
        </p:nvSpPr>
        <p:spPr bwMode="auto">
          <a:xfrm>
            <a:off x="304800" y="3733800"/>
            <a:ext cx="17780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8*16+8=136</a:t>
            </a:r>
            <a:endParaRPr lang="zh-CN" altLang="en-US" sz="2400" b="0"/>
          </a:p>
        </p:txBody>
      </p:sp>
      <p:sp>
        <p:nvSpPr>
          <p:cNvPr id="22" name="TextBox 9"/>
          <p:cNvSpPr txBox="1">
            <a:spLocks noChangeArrowheads="1"/>
          </p:cNvSpPr>
          <p:nvPr/>
        </p:nvSpPr>
        <p:spPr bwMode="auto">
          <a:xfrm>
            <a:off x="228600" y="4191000"/>
            <a:ext cx="19653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15*16+3=243</a:t>
            </a:r>
            <a:endParaRPr lang="zh-CN" altLang="en-US" sz="2400" b="0"/>
          </a:p>
        </p:txBody>
      </p:sp>
      <p:sp>
        <p:nvSpPr>
          <p:cNvPr id="23" name="TextBox 9"/>
          <p:cNvSpPr txBox="1">
            <a:spLocks noChangeArrowheads="1"/>
          </p:cNvSpPr>
          <p:nvPr/>
        </p:nvSpPr>
        <p:spPr bwMode="auto">
          <a:xfrm>
            <a:off x="2118030" y="4648200"/>
            <a:ext cx="1539570" cy="4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/>
              <a:t>0101 0010</a:t>
            </a:r>
            <a:endParaRPr lang="zh-CN" altLang="en-US" sz="2400" b="0" dirty="0"/>
          </a:p>
        </p:txBody>
      </p:sp>
      <p:sp>
        <p:nvSpPr>
          <p:cNvPr id="24" name="TextBox 9"/>
          <p:cNvSpPr txBox="1">
            <a:spLocks noChangeArrowheads="1"/>
          </p:cNvSpPr>
          <p:nvPr/>
        </p:nvSpPr>
        <p:spPr bwMode="auto">
          <a:xfrm>
            <a:off x="228600" y="4648200"/>
            <a:ext cx="163988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5*16+2=82</a:t>
            </a:r>
            <a:endParaRPr lang="zh-CN" altLang="en-US" sz="2400" b="0"/>
          </a:p>
        </p:txBody>
      </p:sp>
      <p:sp>
        <p:nvSpPr>
          <p:cNvPr id="25" name="TextBox 9"/>
          <p:cNvSpPr txBox="1">
            <a:spLocks noChangeArrowheads="1"/>
          </p:cNvSpPr>
          <p:nvPr/>
        </p:nvSpPr>
        <p:spPr bwMode="auto">
          <a:xfrm>
            <a:off x="2218027" y="5095875"/>
            <a:ext cx="1489877" cy="4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/>
              <a:t>1010 1100</a:t>
            </a:r>
            <a:endParaRPr lang="zh-CN" altLang="en-US" sz="2400" b="0" dirty="0"/>
          </a:p>
        </p:txBody>
      </p:sp>
      <p:sp>
        <p:nvSpPr>
          <p:cNvPr id="26" name="TextBox 9"/>
          <p:cNvSpPr txBox="1">
            <a:spLocks noChangeArrowheads="1"/>
          </p:cNvSpPr>
          <p:nvPr/>
        </p:nvSpPr>
        <p:spPr bwMode="auto">
          <a:xfrm>
            <a:off x="152400" y="5095875"/>
            <a:ext cx="2054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10*16+12=172</a:t>
            </a:r>
            <a:endParaRPr lang="zh-CN" altLang="en-US" sz="2400" b="0"/>
          </a:p>
        </p:txBody>
      </p:sp>
      <p:sp>
        <p:nvSpPr>
          <p:cNvPr id="27" name="TextBox 9"/>
          <p:cNvSpPr txBox="1">
            <a:spLocks noChangeArrowheads="1"/>
          </p:cNvSpPr>
          <p:nvPr/>
        </p:nvSpPr>
        <p:spPr bwMode="auto">
          <a:xfrm>
            <a:off x="2194084" y="5486400"/>
            <a:ext cx="1390491" cy="4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/>
              <a:t>1110 0111</a:t>
            </a:r>
            <a:endParaRPr lang="zh-CN" altLang="en-US" sz="2400" b="0" dirty="0"/>
          </a:p>
        </p:txBody>
      </p:sp>
      <p:sp>
        <p:nvSpPr>
          <p:cNvPr id="28" name="TextBox 9"/>
          <p:cNvSpPr txBox="1">
            <a:spLocks noChangeArrowheads="1"/>
          </p:cNvSpPr>
          <p:nvPr/>
        </p:nvSpPr>
        <p:spPr bwMode="auto">
          <a:xfrm>
            <a:off x="152400" y="5486400"/>
            <a:ext cx="191611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7965" tIns="47965" rIns="47965" bIns="47965">
            <a:spAutoFit/>
          </a:bodyPr>
          <a:lstStyle>
            <a:lvl1pPr defTabSz="9588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 defTabSz="9588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 defTabSz="9588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 defTabSz="9588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 defTabSz="9588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defTabSz="9588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14*16+7=231</a:t>
            </a:r>
            <a:endParaRPr lang="zh-CN" altLang="en-US" sz="24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617538"/>
            <a:ext cx="8188325" cy="65087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ea typeface="宋体" charset="-122"/>
              </a:rPr>
              <a:t>Octal</a:t>
            </a:r>
            <a:endParaRPr lang="zh-CN" altLang="en-US" dirty="0">
              <a:ea typeface="宋体" charset="-122"/>
            </a:endParaRPr>
          </a:p>
        </p:txBody>
      </p:sp>
      <p:sp>
        <p:nvSpPr>
          <p:cNvPr id="3481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55650" y="1484313"/>
            <a:ext cx="7848600" cy="5113337"/>
          </a:xfrm>
        </p:spPr>
        <p:txBody>
          <a:bodyPr/>
          <a:lstStyle/>
          <a:p>
            <a:pPr marL="0" indent="0" eaLnBrk="1" hangingPunct="1">
              <a:lnSpc>
                <a:spcPts val="4000"/>
              </a:lnSpc>
              <a:buFont typeface="Wingdings" charset="0"/>
              <a:buNone/>
            </a:pPr>
            <a:r>
              <a:rPr kumimoji="0" lang="zh-CN" altLang="en-US" sz="2800" b="1" dirty="0">
                <a:latin typeface="Century Schoolbook" charset="0"/>
                <a:ea typeface="宋体" charset="0"/>
              </a:rPr>
              <a:t>八进制</a:t>
            </a:r>
            <a:endParaRPr kumimoji="0" lang="en-US" altLang="zh-CN" sz="2800" b="1" dirty="0">
              <a:latin typeface="Century Schoolbook" charset="0"/>
              <a:ea typeface="宋体" charset="0"/>
            </a:endParaRPr>
          </a:p>
          <a:p>
            <a:pPr marL="0" indent="0" algn="just" eaLnBrk="1" hangingPunct="1">
              <a:lnSpc>
                <a:spcPts val="4000"/>
              </a:lnSpc>
              <a:spcBef>
                <a:spcPct val="25000"/>
              </a:spcBef>
            </a:pPr>
            <a:r>
              <a:rPr kumimoji="0" lang="zh-CN" altLang="en-US" sz="2800" dirty="0">
                <a:latin typeface="Times New Roman" charset="0"/>
                <a:ea typeface="宋体" charset="0"/>
              </a:rPr>
              <a:t>八进制数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(N)</a:t>
            </a:r>
            <a:r>
              <a:rPr kumimoji="0" lang="en-US" altLang="zh-CN" sz="2800" baseline="-25000" dirty="0">
                <a:latin typeface="Times New Roman" charset="0"/>
                <a:ea typeface="宋体" charset="0"/>
              </a:rPr>
              <a:t>8</a:t>
            </a:r>
            <a:r>
              <a:rPr kumimoji="0" lang="zh-CN" altLang="en-US" sz="2800" dirty="0">
                <a:latin typeface="Times New Roman" charset="0"/>
                <a:ea typeface="宋体" charset="0"/>
              </a:rPr>
              <a:t>按权展开再相加，可计算得到该数的十进制表示。</a:t>
            </a:r>
            <a:endParaRPr kumimoji="0" lang="en-US" altLang="zh-CN" sz="2800" dirty="0">
              <a:latin typeface="Times New Roman" charset="0"/>
              <a:ea typeface="宋体" charset="0"/>
            </a:endParaRPr>
          </a:p>
          <a:p>
            <a:pPr marL="0" indent="0" algn="just" eaLnBrk="1" hangingPunct="1">
              <a:lnSpc>
                <a:spcPts val="4000"/>
              </a:lnSpc>
              <a:spcBef>
                <a:spcPct val="25000"/>
              </a:spcBef>
            </a:pPr>
            <a:r>
              <a:rPr kumimoji="0" lang="zh-CN" altLang="en-US" sz="2800" b="1" dirty="0">
                <a:latin typeface="Times New Roman" charset="0"/>
                <a:ea typeface="宋体" charset="0"/>
              </a:rPr>
              <a:t>例如</a:t>
            </a:r>
            <a:r>
              <a:rPr kumimoji="0" lang="en-US" altLang="zh-CN" sz="2800" b="1" dirty="0">
                <a:latin typeface="Times New Roman" charset="0"/>
                <a:ea typeface="宋体" charset="0"/>
              </a:rPr>
              <a:t>: </a:t>
            </a:r>
            <a:endParaRPr kumimoji="0" lang="en-US" altLang="zh-CN" sz="2800" dirty="0">
              <a:latin typeface="Century Schoolbook" charset="0"/>
              <a:ea typeface="宋体" charset="0"/>
            </a:endParaRPr>
          </a:p>
          <a:p>
            <a:pPr marL="0" indent="0" algn="just" eaLnBrk="1" hangingPunct="1">
              <a:lnSpc>
                <a:spcPts val="4000"/>
              </a:lnSpc>
              <a:spcBef>
                <a:spcPct val="15000"/>
              </a:spcBef>
              <a:buFont typeface="Wingdings" charset="0"/>
              <a:buNone/>
            </a:pPr>
            <a:r>
              <a:rPr kumimoji="0" lang="en-US" altLang="zh-CN" sz="2800" dirty="0">
                <a:latin typeface="Century Schoolbook" charset="0"/>
                <a:ea typeface="宋体" charset="0"/>
              </a:rPr>
              <a:t>  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(15.24)</a:t>
            </a:r>
            <a:r>
              <a:rPr kumimoji="0" lang="en-US" altLang="zh-CN" sz="2800" baseline="-25000" dirty="0">
                <a:latin typeface="Times New Roman" charset="0"/>
                <a:ea typeface="宋体" charset="0"/>
              </a:rPr>
              <a:t>8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 = (1</a:t>
            </a:r>
            <a:r>
              <a:rPr kumimoji="0" lang="en-US" altLang="zh-CN" sz="2800" dirty="0">
                <a:latin typeface="Times New Roman" charset="0"/>
                <a:ea typeface="宋体" charset="0"/>
                <a:cs typeface="Times New Roman" charset="0"/>
              </a:rPr>
              <a:t>•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8</a:t>
            </a:r>
            <a:r>
              <a:rPr kumimoji="0" lang="en-US" altLang="zh-CN" sz="2800" baseline="30000" dirty="0">
                <a:latin typeface="Times New Roman" charset="0"/>
                <a:ea typeface="宋体" charset="0"/>
              </a:rPr>
              <a:t>1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 + 5</a:t>
            </a:r>
            <a:r>
              <a:rPr kumimoji="0" lang="en-US" altLang="zh-CN" sz="2800" dirty="0">
                <a:latin typeface="Times New Roman" charset="0"/>
                <a:ea typeface="宋体" charset="0"/>
                <a:cs typeface="Times New Roman" charset="0"/>
              </a:rPr>
              <a:t>•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8</a:t>
            </a:r>
            <a:r>
              <a:rPr kumimoji="0" lang="en-US" altLang="zh-CN" sz="2800" baseline="30000" dirty="0">
                <a:latin typeface="Times New Roman" charset="0"/>
                <a:ea typeface="宋体" charset="0"/>
              </a:rPr>
              <a:t>0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 + 2</a:t>
            </a:r>
            <a:r>
              <a:rPr kumimoji="0" lang="en-US" altLang="zh-CN" sz="2800" dirty="0">
                <a:latin typeface="Times New Roman" charset="0"/>
                <a:ea typeface="宋体" charset="0"/>
                <a:cs typeface="Times New Roman" charset="0"/>
              </a:rPr>
              <a:t>•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8</a:t>
            </a:r>
            <a:r>
              <a:rPr kumimoji="0" lang="en-US" altLang="zh-CN" sz="2800" baseline="30000" dirty="0">
                <a:latin typeface="Times New Roman" charset="0"/>
                <a:ea typeface="宋体" charset="0"/>
              </a:rPr>
              <a:t>-1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 + 4</a:t>
            </a:r>
            <a:r>
              <a:rPr kumimoji="0" lang="en-US" altLang="zh-CN" sz="2800" dirty="0">
                <a:latin typeface="Times New Roman" charset="0"/>
                <a:ea typeface="宋体" charset="0"/>
                <a:cs typeface="Times New Roman" charset="0"/>
              </a:rPr>
              <a:t>•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8</a:t>
            </a:r>
            <a:r>
              <a:rPr kumimoji="0" lang="en-US" altLang="zh-CN" sz="2800" baseline="30000" dirty="0">
                <a:latin typeface="Times New Roman" charset="0"/>
                <a:ea typeface="宋体" charset="0"/>
              </a:rPr>
              <a:t>-2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 )</a:t>
            </a:r>
            <a:r>
              <a:rPr kumimoji="0" lang="en-US" altLang="zh-CN" sz="2800" baseline="-25000" dirty="0">
                <a:latin typeface="Times New Roman" charset="0"/>
                <a:ea typeface="宋体" charset="0"/>
              </a:rPr>
              <a:t>10</a:t>
            </a:r>
          </a:p>
          <a:p>
            <a:pPr marL="0" indent="0" algn="just" eaLnBrk="1" hangingPunct="1">
              <a:lnSpc>
                <a:spcPts val="4000"/>
              </a:lnSpc>
              <a:spcBef>
                <a:spcPct val="15000"/>
              </a:spcBef>
              <a:buFont typeface="Wingdings" charset="0"/>
              <a:buNone/>
            </a:pPr>
            <a:r>
              <a:rPr kumimoji="0" lang="en-US" altLang="zh-CN" sz="2800" dirty="0">
                <a:latin typeface="Century Schoolbook" charset="0"/>
                <a:ea typeface="宋体" charset="0"/>
              </a:rPr>
              <a:t>               </a:t>
            </a:r>
            <a:r>
              <a:rPr kumimoji="0" lang="en-US" altLang="zh-CN" sz="2800" dirty="0">
                <a:latin typeface="Times New Roman" charset="0"/>
                <a:ea typeface="宋体" charset="0"/>
              </a:rPr>
              <a:t>= (8+5+0.25+0.0625 )</a:t>
            </a:r>
            <a:r>
              <a:rPr kumimoji="0" lang="en-US" altLang="zh-CN" sz="2800" baseline="-25000" dirty="0">
                <a:latin typeface="Times New Roman" charset="0"/>
                <a:ea typeface="宋体" charset="0"/>
              </a:rPr>
              <a:t>10</a:t>
            </a:r>
            <a:endParaRPr kumimoji="0" lang="en-US" altLang="zh-CN" sz="2800" dirty="0">
              <a:latin typeface="Times New Roman" charset="0"/>
              <a:ea typeface="宋体" charset="0"/>
            </a:endParaRPr>
          </a:p>
          <a:p>
            <a:pPr marL="0" indent="0" algn="just" eaLnBrk="1" hangingPunct="1">
              <a:lnSpc>
                <a:spcPts val="4000"/>
              </a:lnSpc>
              <a:spcBef>
                <a:spcPct val="15000"/>
              </a:spcBef>
              <a:buFont typeface="Wingdings" charset="0"/>
              <a:buNone/>
            </a:pPr>
            <a:r>
              <a:rPr kumimoji="0" lang="en-US" altLang="zh-CN" sz="2800" dirty="0">
                <a:latin typeface="Times New Roman" charset="0"/>
                <a:ea typeface="宋体" charset="0"/>
              </a:rPr>
              <a:t>                 = (13.3125)</a:t>
            </a:r>
            <a:r>
              <a:rPr kumimoji="0" lang="en-US" altLang="zh-CN" sz="2800" baseline="-25000" dirty="0">
                <a:latin typeface="Times New Roman" charset="0"/>
                <a:ea typeface="宋体" charset="0"/>
              </a:rPr>
              <a:t>10</a:t>
            </a:r>
            <a:endParaRPr kumimoji="0" lang="en-US" altLang="zh-CN" sz="2800" dirty="0">
              <a:latin typeface="Century Schoolbook" charset="0"/>
              <a:ea typeface="宋体" charset="0"/>
            </a:endParaRPr>
          </a:p>
          <a:p>
            <a:pPr marL="0" indent="0" eaLnBrk="1" hangingPunct="1">
              <a:buFont typeface="Wingdings" charset="0"/>
              <a:buNone/>
            </a:pPr>
            <a:endParaRPr kumimoji="0" lang="zh-CN" sz="2800" dirty="0">
              <a:latin typeface="Century Schoolbook" charset="0"/>
              <a:ea typeface="宋体" charset="0"/>
            </a:endParaRPr>
          </a:p>
        </p:txBody>
      </p:sp>
      <p:sp>
        <p:nvSpPr>
          <p:cNvPr id="34819" name="灯片编号占位符 6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fld id="{E3EFFC65-528C-7C4B-A579-D0A173056B70}" type="slidenum">
              <a:rPr kumimoji="0" lang="en-US" altLang="zh-CN" sz="1400"/>
              <a:pPr/>
              <a:t>25</a:t>
            </a:fld>
            <a:endParaRPr kumimoji="0"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987200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475662" cy="65087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3200" dirty="0">
                <a:ea typeface="宋体" charset="-122"/>
              </a:rPr>
              <a:t>Octal</a:t>
            </a:r>
            <a:endParaRPr kumimoji="0" lang="en-US" altLang="zh-CN" sz="2900" cap="none" dirty="0">
              <a:latin typeface="Century Schoolbook" charset="0"/>
              <a:ea typeface="华文楷体" charset="0"/>
            </a:endParaRPr>
          </a:p>
        </p:txBody>
      </p:sp>
      <p:sp>
        <p:nvSpPr>
          <p:cNvPr id="4301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95288" y="908050"/>
            <a:ext cx="8064500" cy="54737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150000"/>
              </a:lnSpc>
              <a:buFont typeface="Wingdings" charset="0"/>
              <a:buNone/>
            </a:pPr>
            <a:endParaRPr kumimoji="0" lang="en-US" altLang="zh-CN" sz="2800" b="1" dirty="0">
              <a:latin typeface="宋体" charset="0"/>
              <a:ea typeface="宋体" charset="0"/>
            </a:endParaRPr>
          </a:p>
          <a:p>
            <a:pPr marL="0" indent="0" algn="just" eaLnBrk="1" hangingPunct="1">
              <a:lnSpc>
                <a:spcPct val="120000"/>
              </a:lnSpc>
              <a:buFont typeface="Wingdings" charset="0"/>
              <a:buNone/>
            </a:pPr>
            <a:r>
              <a:rPr kumimoji="0" lang="zh-CN" altLang="en-US" b="1" dirty="0">
                <a:solidFill>
                  <a:srgbClr val="0070C0"/>
                </a:solidFill>
                <a:latin typeface="宋体" charset="0"/>
                <a:ea typeface="宋体" charset="0"/>
              </a:rPr>
              <a:t>二进制数与八进制数之间的转换</a:t>
            </a:r>
            <a:endParaRPr kumimoji="0" lang="en-US" altLang="zh-CN" b="1" dirty="0">
              <a:solidFill>
                <a:srgbClr val="0070C0"/>
              </a:solidFill>
              <a:latin typeface="宋体" charset="0"/>
              <a:ea typeface="宋体" charset="0"/>
            </a:endParaRPr>
          </a:p>
          <a:p>
            <a:pPr marL="0" indent="0" algn="just" eaLnBrk="1" hangingPunct="1">
              <a:lnSpc>
                <a:spcPct val="120000"/>
              </a:lnSpc>
            </a:pPr>
            <a:r>
              <a:rPr kumimoji="0" lang="zh-CN" altLang="en-US" sz="1800" dirty="0">
                <a:latin typeface="宋体" charset="0"/>
                <a:ea typeface="宋体" charset="0"/>
              </a:rPr>
              <a:t>因为</a:t>
            </a:r>
            <a:r>
              <a:rPr kumimoji="0" lang="en-US" altLang="zh-CN" sz="1800" dirty="0">
                <a:latin typeface="宋体" charset="0"/>
                <a:ea typeface="宋体" charset="0"/>
              </a:rPr>
              <a:t>2</a:t>
            </a:r>
            <a:r>
              <a:rPr kumimoji="0" lang="en-US" altLang="zh-CN" sz="1800" baseline="30000" dirty="0">
                <a:latin typeface="宋体" charset="0"/>
                <a:ea typeface="宋体" charset="0"/>
              </a:rPr>
              <a:t>3</a:t>
            </a:r>
            <a:r>
              <a:rPr kumimoji="0" lang="en-US" altLang="zh-CN" sz="1800" dirty="0">
                <a:latin typeface="宋体" charset="0"/>
                <a:ea typeface="宋体" charset="0"/>
              </a:rPr>
              <a:t>=8</a:t>
            </a:r>
            <a:r>
              <a:rPr kumimoji="0" lang="zh-CN" altLang="en-US" sz="1800" dirty="0">
                <a:latin typeface="宋体" charset="0"/>
                <a:ea typeface="宋体" charset="0"/>
              </a:rPr>
              <a:t>，所以</a:t>
            </a:r>
            <a:r>
              <a:rPr kumimoji="0" lang="en-US" altLang="zh-CN" sz="1800" dirty="0">
                <a:latin typeface="宋体" charset="0"/>
                <a:ea typeface="宋体" charset="0"/>
              </a:rPr>
              <a:t>3</a:t>
            </a:r>
            <a:r>
              <a:rPr kumimoji="0" lang="zh-CN" altLang="en-US" sz="1800" dirty="0">
                <a:latin typeface="宋体" charset="0"/>
                <a:ea typeface="宋体" charset="0"/>
              </a:rPr>
              <a:t>位二进制数与</a:t>
            </a:r>
            <a:r>
              <a:rPr kumimoji="0" lang="en-US" altLang="zh-CN" sz="1800" dirty="0">
                <a:latin typeface="宋体" charset="0"/>
                <a:ea typeface="宋体" charset="0"/>
              </a:rPr>
              <a:t>1</a:t>
            </a:r>
            <a:r>
              <a:rPr kumimoji="0" lang="zh-CN" altLang="en-US" sz="1800" dirty="0">
                <a:latin typeface="宋体" charset="0"/>
                <a:ea typeface="宋体" charset="0"/>
              </a:rPr>
              <a:t>位八进制数有直接对应关系，即</a:t>
            </a:r>
            <a:r>
              <a:rPr kumimoji="0" lang="en-US" altLang="zh-CN" sz="2000" dirty="0">
                <a:latin typeface="宋体" charset="0"/>
                <a:ea typeface="宋体" charset="0"/>
              </a:rPr>
              <a:t>3</a:t>
            </a:r>
            <a:r>
              <a:rPr kumimoji="0" lang="zh-CN" altLang="en-US" sz="2000" dirty="0">
                <a:latin typeface="宋体" charset="0"/>
                <a:ea typeface="宋体" charset="0"/>
              </a:rPr>
              <a:t>位二进制数可以直接写为</a:t>
            </a:r>
            <a:r>
              <a:rPr kumimoji="0" lang="en-US" altLang="zh-CN" sz="2000" dirty="0">
                <a:latin typeface="宋体" charset="0"/>
                <a:ea typeface="宋体" charset="0"/>
              </a:rPr>
              <a:t>1</a:t>
            </a:r>
            <a:r>
              <a:rPr kumimoji="0" lang="zh-CN" altLang="en-US" sz="2000" dirty="0">
                <a:latin typeface="宋体" charset="0"/>
                <a:ea typeface="宋体" charset="0"/>
              </a:rPr>
              <a:t>位八进制数，</a:t>
            </a:r>
            <a:r>
              <a:rPr kumimoji="0" lang="en-US" altLang="zh-CN" sz="2000" dirty="0">
                <a:latin typeface="宋体" charset="0"/>
                <a:ea typeface="宋体" charset="0"/>
              </a:rPr>
              <a:t> 1</a:t>
            </a:r>
            <a:r>
              <a:rPr kumimoji="0" lang="zh-CN" altLang="en-US" sz="2000" dirty="0">
                <a:latin typeface="宋体" charset="0"/>
                <a:ea typeface="宋体" charset="0"/>
              </a:rPr>
              <a:t>位八进制数也可以直接写为</a:t>
            </a:r>
            <a:r>
              <a:rPr kumimoji="0" lang="en-US" altLang="zh-CN" sz="2000" dirty="0">
                <a:latin typeface="宋体" charset="0"/>
                <a:ea typeface="宋体" charset="0"/>
              </a:rPr>
              <a:t>3</a:t>
            </a:r>
            <a:r>
              <a:rPr kumimoji="0" lang="zh-CN" altLang="en-US" sz="2000" dirty="0">
                <a:latin typeface="宋体" charset="0"/>
                <a:ea typeface="宋体" charset="0"/>
              </a:rPr>
              <a:t>位二进制数。</a:t>
            </a:r>
            <a:endParaRPr kumimoji="0" lang="en-US" altLang="zh-CN" sz="2000" dirty="0">
              <a:latin typeface="宋体" charset="0"/>
              <a:ea typeface="宋体" charset="0"/>
            </a:endParaRPr>
          </a:p>
          <a:p>
            <a:pPr marL="0" indent="0" algn="just" eaLnBrk="1" hangingPunct="1">
              <a:lnSpc>
                <a:spcPct val="120000"/>
              </a:lnSpc>
            </a:pPr>
            <a:r>
              <a:rPr kumimoji="0" lang="zh-CN" altLang="en-US" sz="2000" dirty="0">
                <a:latin typeface="Times New Roman" charset="0"/>
                <a:ea typeface="宋体" charset="0"/>
              </a:rPr>
              <a:t>将</a:t>
            </a:r>
            <a:r>
              <a:rPr kumimoji="0" lang="zh-CN" altLang="en-US" sz="2000" dirty="0">
                <a:latin typeface="宋体" charset="0"/>
                <a:ea typeface="宋体" charset="0"/>
              </a:rPr>
              <a:t>二进制数转换为八进制数的方法是：</a:t>
            </a:r>
            <a:r>
              <a:rPr kumimoji="0" lang="zh-CN" altLang="en-US" sz="2000" dirty="0">
                <a:latin typeface="Times New Roman" charset="0"/>
                <a:ea typeface="宋体" charset="0"/>
              </a:rPr>
              <a:t>对于一个兼有整数和小数部分的二进制数，以小数点为界，整数部分自右至左每</a:t>
            </a:r>
            <a:r>
              <a:rPr kumimoji="0" lang="en-US" altLang="zh-CN" sz="2000" dirty="0">
                <a:latin typeface="Times New Roman" charset="0"/>
                <a:ea typeface="宋体" charset="0"/>
              </a:rPr>
              <a:t>3</a:t>
            </a:r>
            <a:r>
              <a:rPr kumimoji="0" lang="zh-CN" altLang="en-US" sz="2000" dirty="0">
                <a:latin typeface="Times New Roman" charset="0"/>
                <a:ea typeface="宋体" charset="0"/>
              </a:rPr>
              <a:t>位分一组，最后不足</a:t>
            </a:r>
            <a:r>
              <a:rPr kumimoji="0" lang="en-US" altLang="zh-CN" sz="2000" dirty="0">
                <a:latin typeface="Times New Roman" charset="0"/>
                <a:ea typeface="宋体" charset="0"/>
              </a:rPr>
              <a:t>3</a:t>
            </a:r>
            <a:r>
              <a:rPr kumimoji="0" lang="zh-CN" altLang="en-US" sz="2000" dirty="0">
                <a:latin typeface="Times New Roman" charset="0"/>
                <a:ea typeface="宋体" charset="0"/>
              </a:rPr>
              <a:t>位时左边用</a:t>
            </a:r>
            <a:r>
              <a:rPr kumimoji="0" lang="en-US" altLang="zh-CN" sz="2000" dirty="0">
                <a:latin typeface="Times New Roman" charset="0"/>
                <a:ea typeface="宋体" charset="0"/>
              </a:rPr>
              <a:t>0</a:t>
            </a:r>
            <a:r>
              <a:rPr kumimoji="0" lang="zh-CN" altLang="en-US" sz="2000" dirty="0">
                <a:latin typeface="Times New Roman" charset="0"/>
                <a:ea typeface="宋体" charset="0"/>
              </a:rPr>
              <a:t>补足；小数部分自左至右每</a:t>
            </a:r>
            <a:r>
              <a:rPr kumimoji="0" lang="en-US" altLang="zh-CN" sz="2000" dirty="0">
                <a:latin typeface="Times New Roman" charset="0"/>
                <a:ea typeface="宋体" charset="0"/>
              </a:rPr>
              <a:t>3</a:t>
            </a:r>
            <a:r>
              <a:rPr kumimoji="0" lang="zh-CN" altLang="en-US" sz="2000" dirty="0">
                <a:latin typeface="Times New Roman" charset="0"/>
                <a:ea typeface="宋体" charset="0"/>
              </a:rPr>
              <a:t>位分一组，最后不足</a:t>
            </a:r>
            <a:r>
              <a:rPr kumimoji="0" lang="en-US" altLang="zh-CN" sz="2000" dirty="0">
                <a:latin typeface="Times New Roman" charset="0"/>
                <a:ea typeface="宋体" charset="0"/>
              </a:rPr>
              <a:t>3</a:t>
            </a:r>
            <a:r>
              <a:rPr kumimoji="0" lang="zh-CN" altLang="en-US" sz="2000" dirty="0">
                <a:latin typeface="Times New Roman" charset="0"/>
                <a:ea typeface="宋体" charset="0"/>
              </a:rPr>
              <a:t>位时右边用</a:t>
            </a:r>
            <a:r>
              <a:rPr kumimoji="0" lang="en-US" altLang="zh-CN" sz="2000" dirty="0">
                <a:latin typeface="Times New Roman" charset="0"/>
                <a:ea typeface="宋体" charset="0"/>
              </a:rPr>
              <a:t>0</a:t>
            </a:r>
            <a:r>
              <a:rPr kumimoji="0" lang="zh-CN" altLang="en-US" sz="2000" dirty="0">
                <a:latin typeface="Times New Roman" charset="0"/>
                <a:ea typeface="宋体" charset="0"/>
              </a:rPr>
              <a:t>补足。</a:t>
            </a:r>
          </a:p>
          <a:p>
            <a:pPr marL="0" indent="0" algn="just" eaLnBrk="1" hangingPunct="1">
              <a:lnSpc>
                <a:spcPct val="120000"/>
              </a:lnSpc>
            </a:pPr>
            <a:r>
              <a:rPr kumimoji="0" lang="zh-CN" altLang="en-US" sz="2000" dirty="0">
                <a:latin typeface="Times New Roman" charset="0"/>
                <a:ea typeface="宋体" charset="0"/>
              </a:rPr>
              <a:t>将</a:t>
            </a:r>
            <a:r>
              <a:rPr kumimoji="0" lang="zh-CN" altLang="en-US" sz="2000" dirty="0">
                <a:latin typeface="宋体" charset="0"/>
                <a:ea typeface="宋体" charset="0"/>
              </a:rPr>
              <a:t>八进制数转换为二进制数的方法：将八进制数的每一位用等值的</a:t>
            </a:r>
            <a:r>
              <a:rPr kumimoji="0" lang="en-US" altLang="zh-CN" sz="2000" dirty="0">
                <a:latin typeface="宋体" charset="0"/>
                <a:ea typeface="宋体" charset="0"/>
              </a:rPr>
              <a:t>3</a:t>
            </a:r>
            <a:r>
              <a:rPr kumimoji="0" lang="zh-CN" altLang="en-US" sz="2000" dirty="0">
                <a:latin typeface="宋体" charset="0"/>
                <a:ea typeface="宋体" charset="0"/>
              </a:rPr>
              <a:t>位二进制数代替。</a:t>
            </a:r>
            <a:endParaRPr kumimoji="0" lang="en-US" altLang="zh-CN" sz="2000" dirty="0">
              <a:latin typeface="宋体" charset="0"/>
              <a:ea typeface="宋体" charset="0"/>
            </a:endParaRPr>
          </a:p>
          <a:p>
            <a:pPr marL="0" indent="0" algn="just" eaLnBrk="1" hangingPunct="1">
              <a:lnSpc>
                <a:spcPct val="120000"/>
              </a:lnSpc>
              <a:buFont typeface="Wingdings" charset="0"/>
              <a:buNone/>
            </a:pPr>
            <a:r>
              <a:rPr kumimoji="0" lang="zh-CN" altLang="en-US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  例：</a:t>
            </a:r>
            <a:r>
              <a:rPr kumimoji="0" lang="en-US" altLang="zh-CN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(1101.0101)</a:t>
            </a:r>
            <a:r>
              <a:rPr kumimoji="0" lang="en-US" altLang="zh-CN" sz="2000" b="1" baseline="-25000" dirty="0">
                <a:solidFill>
                  <a:srgbClr val="00B0F0"/>
                </a:solidFill>
                <a:latin typeface="宋体" charset="0"/>
                <a:ea typeface="宋体" charset="0"/>
              </a:rPr>
              <a:t>2</a:t>
            </a:r>
            <a:r>
              <a:rPr kumimoji="0" lang="zh-CN" altLang="en-US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＝</a:t>
            </a:r>
            <a:r>
              <a:rPr kumimoji="0" lang="en-US" altLang="zh-CN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(</a:t>
            </a:r>
            <a:r>
              <a:rPr kumimoji="0" lang="en-US" altLang="zh-CN" sz="2000" b="1" dirty="0">
                <a:solidFill>
                  <a:srgbClr val="FF0000"/>
                </a:solidFill>
                <a:latin typeface="宋体" charset="0"/>
                <a:ea typeface="宋体" charset="0"/>
              </a:rPr>
              <a:t>00</a:t>
            </a:r>
            <a:r>
              <a:rPr kumimoji="0" lang="en-US" altLang="zh-CN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1 101</a:t>
            </a:r>
            <a:r>
              <a:rPr kumimoji="0" lang="zh-CN" altLang="en-US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．</a:t>
            </a:r>
            <a:r>
              <a:rPr kumimoji="0" lang="en-US" altLang="zh-CN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010 1</a:t>
            </a:r>
            <a:r>
              <a:rPr kumimoji="0" lang="en-US" altLang="zh-CN" sz="2000" b="1" dirty="0">
                <a:solidFill>
                  <a:srgbClr val="FF0000"/>
                </a:solidFill>
                <a:latin typeface="宋体" charset="0"/>
                <a:ea typeface="宋体" charset="0"/>
              </a:rPr>
              <a:t>00</a:t>
            </a:r>
            <a:r>
              <a:rPr kumimoji="0" lang="en-US" altLang="zh-CN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)</a:t>
            </a:r>
            <a:r>
              <a:rPr kumimoji="0" lang="en-US" altLang="zh-CN" sz="2000" b="1" baseline="-25000" dirty="0">
                <a:solidFill>
                  <a:srgbClr val="00B0F0"/>
                </a:solidFill>
                <a:latin typeface="宋体" charset="0"/>
                <a:ea typeface="宋体" charset="0"/>
              </a:rPr>
              <a:t>2</a:t>
            </a:r>
            <a:r>
              <a:rPr kumimoji="0" lang="zh-CN" altLang="en-US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＝</a:t>
            </a:r>
            <a:r>
              <a:rPr kumimoji="0" lang="en-US" altLang="zh-CN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(15</a:t>
            </a:r>
            <a:r>
              <a:rPr kumimoji="0" lang="zh-CN" altLang="en-US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．</a:t>
            </a:r>
            <a:r>
              <a:rPr kumimoji="0" lang="en-US" altLang="zh-CN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24)</a:t>
            </a:r>
            <a:r>
              <a:rPr kumimoji="0" lang="en-US" altLang="zh-CN" sz="2000" b="1" baseline="-25000" dirty="0">
                <a:solidFill>
                  <a:srgbClr val="00B0F0"/>
                </a:solidFill>
                <a:latin typeface="宋体" charset="0"/>
                <a:ea typeface="宋体" charset="0"/>
              </a:rPr>
              <a:t>8</a:t>
            </a:r>
            <a:endParaRPr kumimoji="0" lang="en-US" altLang="zh-CN" sz="2000" b="1" dirty="0">
              <a:solidFill>
                <a:srgbClr val="00B0F0"/>
              </a:solidFill>
              <a:latin typeface="宋体" charset="0"/>
              <a:ea typeface="宋体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kumimoji="0" lang="en-US" altLang="zh-CN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  </a:t>
            </a:r>
            <a:r>
              <a:rPr kumimoji="0" lang="zh-CN" altLang="en-US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例</a:t>
            </a:r>
            <a:r>
              <a:rPr kumimoji="0" lang="en-US" altLang="zh-CN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: (47.3)</a:t>
            </a:r>
            <a:r>
              <a:rPr kumimoji="0" lang="en-US" altLang="zh-CN" sz="2000" b="1" baseline="-25000" dirty="0">
                <a:solidFill>
                  <a:srgbClr val="00B0F0"/>
                </a:solidFill>
                <a:latin typeface="宋体" charset="0"/>
                <a:ea typeface="宋体" charset="0"/>
              </a:rPr>
              <a:t>8</a:t>
            </a:r>
            <a:r>
              <a:rPr lang="zh-CN" altLang="en-US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＝</a:t>
            </a:r>
            <a:r>
              <a:rPr kumimoji="0" lang="en-US" altLang="zh-CN" sz="2000" b="1" dirty="0">
                <a:solidFill>
                  <a:srgbClr val="00B0F0"/>
                </a:solidFill>
                <a:latin typeface="宋体" charset="0"/>
                <a:ea typeface="宋体" charset="0"/>
              </a:rPr>
              <a:t>(100111.011)</a:t>
            </a:r>
            <a:r>
              <a:rPr kumimoji="0" lang="en-US" altLang="zh-CN" sz="2000" b="1" baseline="-25000" dirty="0">
                <a:solidFill>
                  <a:srgbClr val="00B0F0"/>
                </a:solidFill>
                <a:latin typeface="宋体" charset="0"/>
                <a:ea typeface="宋体" charset="0"/>
              </a:rPr>
              <a:t>2</a:t>
            </a:r>
            <a:endParaRPr kumimoji="0" lang="en-US" altLang="zh-CN" b="1" dirty="0">
              <a:solidFill>
                <a:srgbClr val="00B0F0"/>
              </a:solidFill>
              <a:latin typeface="Times New Roman" charset="0"/>
              <a:ea typeface="宋体" charset="0"/>
            </a:endParaRPr>
          </a:p>
          <a:p>
            <a:pPr marL="0" indent="0" algn="just" eaLnBrk="1" hangingPunct="1">
              <a:lnSpc>
                <a:spcPct val="105000"/>
              </a:lnSpc>
              <a:buFont typeface="Wingdings" charset="0"/>
              <a:buNone/>
            </a:pPr>
            <a:endParaRPr kumimoji="0" lang="zh-CN" b="1" dirty="0">
              <a:latin typeface="Century Schoolbook" charset="0"/>
              <a:ea typeface="宋体" charset="0"/>
            </a:endParaRPr>
          </a:p>
        </p:txBody>
      </p:sp>
      <p:sp>
        <p:nvSpPr>
          <p:cNvPr id="43011" name="灯片编号占位符 6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fld id="{15BB7D60-F196-0544-B8DA-56511C79C8A1}" type="slidenum">
              <a:rPr kumimoji="0" lang="en-US" altLang="zh-CN" sz="1400"/>
              <a:pPr/>
              <a:t>26</a:t>
            </a:fld>
            <a:endParaRPr kumimoji="0"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027692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E4EDB2-7B6E-CC43-B860-8F0260C0105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 dirty="0">
                <a:ea typeface="宋体" charset="-122"/>
              </a:rPr>
              <a:t>Bit-level operations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FAF991-2E95-C14B-B04C-6B9D7949CB6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Boolean Algebra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6477000" cy="4572000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kumimoji="1" lang="en-US" altLang="zh-CN" dirty="0">
                <a:ea typeface="宋体" pitchFamily="2" charset="-122"/>
              </a:rPr>
              <a:t>George Boole(1815-1864)</a:t>
            </a:r>
            <a:r>
              <a:rPr kumimoji="1" lang="zh-CN" altLang="en-US" dirty="0">
                <a:ea typeface="宋体" pitchFamily="2" charset="-122"/>
              </a:rPr>
              <a:t>发明</a:t>
            </a:r>
            <a:endParaRPr kumimoji="1" lang="en-US" altLang="zh-CN" dirty="0">
              <a:ea typeface="宋体" pitchFamily="2" charset="-122"/>
            </a:endParaRPr>
          </a:p>
          <a:p>
            <a:pPr lvl="1">
              <a:spcBef>
                <a:spcPts val="0"/>
              </a:spcBef>
              <a:defRPr/>
            </a:pPr>
            <a:r>
              <a:rPr kumimoji="1" lang="zh-CN" altLang="en-US" dirty="0">
                <a:ea typeface="宋体" pitchFamily="2" charset="-122"/>
              </a:rPr>
              <a:t>逻辑的代数表示：</a:t>
            </a:r>
            <a:endParaRPr kumimoji="1" lang="en-US" altLang="zh-CN" dirty="0">
              <a:ea typeface="宋体" pitchFamily="2" charset="-122"/>
            </a:endParaRPr>
          </a:p>
          <a:p>
            <a:pPr lvl="2">
              <a:spcBef>
                <a:spcPts val="0"/>
              </a:spcBef>
              <a:defRPr/>
            </a:pPr>
            <a:r>
              <a:rPr kumimoji="1" lang="en-US" altLang="zh-CN" sz="2400" dirty="0">
                <a:ea typeface="宋体" pitchFamily="2" charset="-122"/>
              </a:rPr>
              <a:t>Encode “True” as 1 </a:t>
            </a:r>
          </a:p>
          <a:p>
            <a:pPr lvl="2">
              <a:spcBef>
                <a:spcPts val="0"/>
              </a:spcBef>
              <a:defRPr/>
            </a:pPr>
            <a:r>
              <a:rPr kumimoji="1" lang="en-US" altLang="zh-CN" sz="2400" dirty="0">
                <a:ea typeface="宋体" pitchFamily="2" charset="-122"/>
              </a:rPr>
              <a:t>Encode “False” as 0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dirty="0"/>
              <a:t>Claude Shannon(1916–2001)</a:t>
            </a:r>
            <a:r>
              <a:rPr lang="zh-CN" altLang="en-US" dirty="0"/>
              <a:t>建立了信息论</a:t>
            </a:r>
            <a:endParaRPr lang="en-US" altLang="zh-CN" dirty="0"/>
          </a:p>
          <a:p>
            <a:pPr lvl="1">
              <a:spcBef>
                <a:spcPts val="0"/>
              </a:spcBef>
              <a:defRPr/>
            </a:pPr>
            <a:r>
              <a:rPr lang="zh-CN" altLang="en-US" dirty="0">
                <a:ea typeface="+mn-ea"/>
                <a:cs typeface="+mn-cs"/>
              </a:rPr>
              <a:t>建立布尔代数和数字逻辑之间的关联</a:t>
            </a:r>
            <a:endParaRPr lang="en-US" altLang="zh-CN" dirty="0">
              <a:ea typeface="+mn-ea"/>
              <a:cs typeface="+mn-cs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dirty="0"/>
              <a:t>在数字电路设计和分析中起到最重要的作用</a:t>
            </a:r>
            <a:endParaRPr lang="en-US" altLang="zh-CN" dirty="0"/>
          </a:p>
        </p:txBody>
      </p:sp>
      <p:pic>
        <p:nvPicPr>
          <p:cNvPr id="86021" name="图片 4" descr="images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33400"/>
            <a:ext cx="1952625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2" name="图片 5" descr="images1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581400"/>
            <a:ext cx="20097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DCC405-027D-664B-B11E-4182691C3E8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Boolean Algebra</a:t>
            </a:r>
          </a:p>
        </p:txBody>
      </p:sp>
      <p:sp>
        <p:nvSpPr>
          <p:cNvPr id="88068" name="Rectangle 3"/>
          <p:cNvSpPr>
            <a:spLocks noChangeArrowheads="1"/>
          </p:cNvSpPr>
          <p:nvPr/>
        </p:nvSpPr>
        <p:spPr bwMode="auto">
          <a:xfrm>
            <a:off x="152400" y="1828800"/>
            <a:ext cx="4432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 b="0"/>
              <a:t>And</a:t>
            </a:r>
          </a:p>
          <a:p>
            <a:pPr lvl="1" algn="ctr">
              <a:buFontTx/>
              <a:buNone/>
            </a:pPr>
            <a:r>
              <a:rPr lang="en-US" altLang="zh-CN" sz="1600" b="0"/>
              <a:t>A&amp;B = 1 when both A=1 and B=1</a:t>
            </a:r>
          </a:p>
        </p:txBody>
      </p:sp>
      <p:graphicFrame>
        <p:nvGraphicFramePr>
          <p:cNvPr id="88069" name="Object 2"/>
          <p:cNvGraphicFramePr>
            <a:graphicFrameLocks noChangeAspect="1"/>
          </p:cNvGraphicFramePr>
          <p:nvPr/>
        </p:nvGraphicFramePr>
        <p:xfrm>
          <a:off x="1524000" y="2514600"/>
          <a:ext cx="139700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243320" imgH="1376680" progId="Word.Document.8">
                  <p:embed/>
                </p:oleObj>
              </mc:Choice>
              <mc:Fallback>
                <p:oleObj name="Document" r:id="rId3" imgW="6243320" imgH="137668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7625"/>
                      <a:stretch>
                        <a:fillRect/>
                      </a:stretch>
                    </p:blipFill>
                    <p:spPr bwMode="auto">
                      <a:xfrm>
                        <a:off x="1524000" y="2514600"/>
                        <a:ext cx="1397000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0" name="Object 3"/>
          <p:cNvGraphicFramePr>
            <a:graphicFrameLocks noChangeAspect="1"/>
          </p:cNvGraphicFramePr>
          <p:nvPr/>
        </p:nvGraphicFramePr>
        <p:xfrm>
          <a:off x="1447800" y="4953000"/>
          <a:ext cx="139700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6243320" imgH="1376680" progId="Word.Document.8">
                  <p:embed/>
                </p:oleObj>
              </mc:Choice>
              <mc:Fallback>
                <p:oleObj name="Document" r:id="rId5" imgW="6243320" imgH="137668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7625"/>
                      <a:stretch>
                        <a:fillRect/>
                      </a:stretch>
                    </p:blipFill>
                    <p:spPr bwMode="auto">
                      <a:xfrm>
                        <a:off x="1447800" y="4953000"/>
                        <a:ext cx="1397000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Rectangle 6"/>
          <p:cNvSpPr>
            <a:spLocks noChangeArrowheads="1"/>
          </p:cNvSpPr>
          <p:nvPr/>
        </p:nvSpPr>
        <p:spPr bwMode="auto">
          <a:xfrm>
            <a:off x="228600" y="4191000"/>
            <a:ext cx="4432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 b="0"/>
              <a:t>Not</a:t>
            </a:r>
          </a:p>
          <a:p>
            <a:pPr lvl="1" algn="ctr">
              <a:buFontTx/>
              <a:buNone/>
            </a:pPr>
            <a:r>
              <a:rPr lang="en-US" altLang="zh-CN" sz="1600" b="0"/>
              <a:t>~A = 1 when A=0</a:t>
            </a:r>
          </a:p>
        </p:txBody>
      </p:sp>
      <p:sp>
        <p:nvSpPr>
          <p:cNvPr id="88072" name="Rectangle 7"/>
          <p:cNvSpPr>
            <a:spLocks noChangeArrowheads="1"/>
          </p:cNvSpPr>
          <p:nvPr/>
        </p:nvSpPr>
        <p:spPr bwMode="auto">
          <a:xfrm>
            <a:off x="4267200" y="1752600"/>
            <a:ext cx="4432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 b="0"/>
              <a:t>Or</a:t>
            </a:r>
          </a:p>
          <a:p>
            <a:pPr lvl="1" algn="ctr">
              <a:buFontTx/>
              <a:buNone/>
            </a:pPr>
            <a:r>
              <a:rPr lang="en-US" altLang="zh-CN" sz="1600" b="0"/>
              <a:t>A|B = 1 when either A=1 or B=1</a:t>
            </a:r>
          </a:p>
        </p:txBody>
      </p:sp>
      <p:graphicFrame>
        <p:nvGraphicFramePr>
          <p:cNvPr id="88073" name="Object 4"/>
          <p:cNvGraphicFramePr>
            <a:graphicFrameLocks noChangeAspect="1"/>
          </p:cNvGraphicFramePr>
          <p:nvPr/>
        </p:nvGraphicFramePr>
        <p:xfrm>
          <a:off x="5638800" y="2514600"/>
          <a:ext cx="139700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6243320" imgH="1376680" progId="Word.Document.8">
                  <p:embed/>
                </p:oleObj>
              </mc:Choice>
              <mc:Fallback>
                <p:oleObj name="Document" r:id="rId7" imgW="6243320" imgH="137668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7625"/>
                      <a:stretch>
                        <a:fillRect/>
                      </a:stretch>
                    </p:blipFill>
                    <p:spPr bwMode="auto">
                      <a:xfrm>
                        <a:off x="5638800" y="2514600"/>
                        <a:ext cx="1397000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5"/>
          <p:cNvGraphicFramePr>
            <a:graphicFrameLocks noChangeAspect="1"/>
          </p:cNvGraphicFramePr>
          <p:nvPr/>
        </p:nvGraphicFramePr>
        <p:xfrm>
          <a:off x="5473700" y="5100638"/>
          <a:ext cx="1397000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9" imgW="6243320" imgH="1376680" progId="Word.Document.8">
                  <p:embed/>
                </p:oleObj>
              </mc:Choice>
              <mc:Fallback>
                <p:oleObj name="Document" r:id="rId9" imgW="6243320" imgH="137668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7625"/>
                      <a:stretch>
                        <a:fillRect/>
                      </a:stretch>
                    </p:blipFill>
                    <p:spPr bwMode="auto">
                      <a:xfrm>
                        <a:off x="5473700" y="5100638"/>
                        <a:ext cx="1397000" cy="137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5" name="Rectangle 10"/>
          <p:cNvSpPr>
            <a:spLocks noChangeArrowheads="1"/>
          </p:cNvSpPr>
          <p:nvPr/>
        </p:nvSpPr>
        <p:spPr bwMode="auto">
          <a:xfrm>
            <a:off x="4267200" y="4186238"/>
            <a:ext cx="4432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 b="0"/>
              <a:t>Exclusive-Or (Xor)</a:t>
            </a:r>
          </a:p>
          <a:p>
            <a:pPr lvl="1" algn="ctr">
              <a:buFontTx/>
              <a:buNone/>
            </a:pPr>
            <a:r>
              <a:rPr lang="en-US" altLang="zh-CN" sz="1600" b="0"/>
              <a:t>A^B = 1 when either A=1 or B=1, but not both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4368E9-80E7-AE4D-B9BA-F778ABB02EA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General Boolean Algebras</a:t>
            </a:r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kumimoji="1" lang="en-US" altLang="zh-CN">
                <a:ea typeface="宋体" charset="-122"/>
              </a:rPr>
              <a:t>Operate on Bit Vectors</a:t>
            </a:r>
          </a:p>
          <a:p>
            <a:pPr lvl="1"/>
            <a:r>
              <a:rPr kumimoji="1" lang="en-US" altLang="zh-CN">
                <a:ea typeface="宋体" charset="-122"/>
              </a:rPr>
              <a:t>Operations applied bitwise</a:t>
            </a:r>
            <a:endParaRPr kumimoji="1" lang="en-US" altLang="zh-CN" sz="1600">
              <a:latin typeface="Times New Roman" charset="0"/>
              <a:ea typeface="宋体" charset="-122"/>
            </a:endParaRPr>
          </a:p>
        </p:txBody>
      </p:sp>
      <p:grpSp>
        <p:nvGrpSpPr>
          <p:cNvPr id="90117" name="Group 4"/>
          <p:cNvGrpSpPr>
            <a:grpSpLocks/>
          </p:cNvGrpSpPr>
          <p:nvPr/>
        </p:nvGrpSpPr>
        <p:grpSpPr bwMode="auto">
          <a:xfrm>
            <a:off x="762000" y="2819400"/>
            <a:ext cx="1549400" cy="915988"/>
            <a:chOff x="3110" y="800"/>
            <a:chExt cx="976" cy="577"/>
          </a:xfrm>
        </p:grpSpPr>
        <p:sp>
          <p:nvSpPr>
            <p:cNvPr id="90127" name="Text Box 5"/>
            <p:cNvSpPr txBox="1">
              <a:spLocks noChangeArrowheads="1"/>
            </p:cNvSpPr>
            <p:nvPr/>
          </p:nvSpPr>
          <p:spPr bwMode="auto">
            <a:xfrm>
              <a:off x="3110" y="800"/>
              <a:ext cx="97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  </a:t>
              </a:r>
              <a:r>
                <a:rPr lang="en-US" altLang="zh-CN" sz="1800">
                  <a:latin typeface="Courier New" charset="0"/>
                </a:rPr>
                <a:t>01101001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charset="0"/>
                </a:rPr>
                <a:t>&amp; 01010101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charset="0"/>
                </a:rPr>
                <a:t>  01000001</a:t>
              </a:r>
            </a:p>
          </p:txBody>
        </p:sp>
        <p:sp>
          <p:nvSpPr>
            <p:cNvPr id="90128" name="Line 6"/>
            <p:cNvSpPr>
              <a:spLocks noChangeShapeType="1"/>
            </p:cNvSpPr>
            <p:nvPr/>
          </p:nvSpPr>
          <p:spPr bwMode="auto">
            <a:xfrm>
              <a:off x="3168" y="1152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0118" name="Group 7"/>
          <p:cNvGrpSpPr>
            <a:grpSpLocks/>
          </p:cNvGrpSpPr>
          <p:nvPr/>
        </p:nvGrpSpPr>
        <p:grpSpPr bwMode="auto">
          <a:xfrm>
            <a:off x="2590800" y="2819400"/>
            <a:ext cx="1549400" cy="915988"/>
            <a:chOff x="3110" y="800"/>
            <a:chExt cx="976" cy="577"/>
          </a:xfrm>
        </p:grpSpPr>
        <p:sp>
          <p:nvSpPr>
            <p:cNvPr id="90125" name="Text Box 8"/>
            <p:cNvSpPr txBox="1">
              <a:spLocks noChangeArrowheads="1"/>
            </p:cNvSpPr>
            <p:nvPr/>
          </p:nvSpPr>
          <p:spPr bwMode="auto">
            <a:xfrm>
              <a:off x="3110" y="800"/>
              <a:ext cx="97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  </a:t>
              </a:r>
              <a:r>
                <a:rPr lang="en-US" altLang="zh-CN" sz="1800">
                  <a:latin typeface="Courier New" charset="0"/>
                </a:rPr>
                <a:t>01101001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charset="0"/>
                </a:rPr>
                <a:t>| 01010101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charset="0"/>
                </a:rPr>
                <a:t>  01111101</a:t>
              </a:r>
            </a:p>
          </p:txBody>
        </p:sp>
        <p:sp>
          <p:nvSpPr>
            <p:cNvPr id="90126" name="Line 9"/>
            <p:cNvSpPr>
              <a:spLocks noChangeShapeType="1"/>
            </p:cNvSpPr>
            <p:nvPr/>
          </p:nvSpPr>
          <p:spPr bwMode="auto">
            <a:xfrm>
              <a:off x="3168" y="1152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0119" name="Group 10"/>
          <p:cNvGrpSpPr>
            <a:grpSpLocks/>
          </p:cNvGrpSpPr>
          <p:nvPr/>
        </p:nvGrpSpPr>
        <p:grpSpPr bwMode="auto">
          <a:xfrm>
            <a:off x="4419600" y="2819400"/>
            <a:ext cx="1549400" cy="915988"/>
            <a:chOff x="3110" y="800"/>
            <a:chExt cx="976" cy="577"/>
          </a:xfrm>
        </p:grpSpPr>
        <p:sp>
          <p:nvSpPr>
            <p:cNvPr id="90123" name="Text Box 11"/>
            <p:cNvSpPr txBox="1">
              <a:spLocks noChangeArrowheads="1"/>
            </p:cNvSpPr>
            <p:nvPr/>
          </p:nvSpPr>
          <p:spPr bwMode="auto">
            <a:xfrm>
              <a:off x="3110" y="800"/>
              <a:ext cx="97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  </a:t>
              </a:r>
              <a:r>
                <a:rPr lang="en-US" altLang="zh-CN" sz="1800">
                  <a:latin typeface="Courier New" charset="0"/>
                </a:rPr>
                <a:t>01101001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charset="0"/>
                </a:rPr>
                <a:t>^ 01010101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charset="0"/>
                </a:rPr>
                <a:t>  00111100</a:t>
              </a:r>
            </a:p>
          </p:txBody>
        </p:sp>
        <p:sp>
          <p:nvSpPr>
            <p:cNvPr id="90124" name="Line 12"/>
            <p:cNvSpPr>
              <a:spLocks noChangeShapeType="1"/>
            </p:cNvSpPr>
            <p:nvPr/>
          </p:nvSpPr>
          <p:spPr bwMode="auto">
            <a:xfrm>
              <a:off x="3168" y="1152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0120" name="Group 13"/>
          <p:cNvGrpSpPr>
            <a:grpSpLocks/>
          </p:cNvGrpSpPr>
          <p:nvPr/>
        </p:nvGrpSpPr>
        <p:grpSpPr bwMode="auto">
          <a:xfrm>
            <a:off x="6324600" y="2819400"/>
            <a:ext cx="1549400" cy="915988"/>
            <a:chOff x="3110" y="800"/>
            <a:chExt cx="976" cy="577"/>
          </a:xfrm>
        </p:grpSpPr>
        <p:sp>
          <p:nvSpPr>
            <p:cNvPr id="90121" name="Text Box 14"/>
            <p:cNvSpPr txBox="1">
              <a:spLocks noChangeArrowheads="1"/>
            </p:cNvSpPr>
            <p:nvPr/>
          </p:nvSpPr>
          <p:spPr bwMode="auto">
            <a:xfrm>
              <a:off x="3110" y="800"/>
              <a:ext cx="97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 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charset="0"/>
                </a:rPr>
                <a:t>~ 01010101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charset="0"/>
                </a:rPr>
                <a:t>  10101010</a:t>
              </a:r>
            </a:p>
          </p:txBody>
        </p:sp>
        <p:sp>
          <p:nvSpPr>
            <p:cNvPr id="90122" name="Line 15"/>
            <p:cNvSpPr>
              <a:spLocks noChangeShapeType="1"/>
            </p:cNvSpPr>
            <p:nvPr/>
          </p:nvSpPr>
          <p:spPr bwMode="auto">
            <a:xfrm>
              <a:off x="3168" y="1152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83FE20-EB81-EF48-9168-009EF6313AE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General Boolean Algebras</a:t>
            </a:r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kumimoji="1" lang="zh-CN" altLang="en-US" dirty="0">
                <a:ea typeface="宋体" charset="-122"/>
              </a:rPr>
              <a:t>集合的形式表达</a:t>
            </a:r>
            <a:endParaRPr kumimoji="1" lang="en-US" altLang="zh-CN" dirty="0">
              <a:ea typeface="宋体" charset="-122"/>
            </a:endParaRPr>
          </a:p>
          <a:p>
            <a:r>
              <a:rPr kumimoji="1" lang="zh-CN" altLang="en-US" dirty="0">
                <a:ea typeface="宋体" charset="-122"/>
              </a:rPr>
              <a:t>用宽度为</a:t>
            </a:r>
            <a:r>
              <a:rPr kumimoji="1" lang="en-US" altLang="zh-CN" dirty="0">
                <a:ea typeface="宋体" charset="-122"/>
              </a:rPr>
              <a:t>w bit</a:t>
            </a:r>
            <a:r>
              <a:rPr kumimoji="1" lang="zh-CN" altLang="en-US" dirty="0">
                <a:ea typeface="宋体" charset="-122"/>
              </a:rPr>
              <a:t>的向量表示子集</a:t>
            </a:r>
            <a:r>
              <a:rPr kumimoji="1" lang="en-US" altLang="zh-CN" dirty="0">
                <a:ea typeface="宋体" charset="-122"/>
              </a:rPr>
              <a:t> {0, …, </a:t>
            </a:r>
            <a:r>
              <a:rPr kumimoji="1" lang="en-US" altLang="zh-CN" i="1" dirty="0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–1}</a:t>
            </a:r>
          </a:p>
          <a:p>
            <a:pPr lvl="1"/>
            <a:r>
              <a:rPr kumimoji="1" lang="en-US" altLang="zh-CN" dirty="0" err="1">
                <a:ea typeface="宋体" charset="-122"/>
              </a:rPr>
              <a:t>a</a:t>
            </a:r>
            <a:r>
              <a:rPr kumimoji="1" lang="en-US" altLang="zh-CN" i="1" baseline="-25000" dirty="0" err="1">
                <a:ea typeface="宋体" charset="-122"/>
              </a:rPr>
              <a:t>j</a:t>
            </a:r>
            <a:r>
              <a:rPr kumimoji="1" lang="en-US" altLang="zh-CN" dirty="0">
                <a:ea typeface="宋体" charset="-122"/>
              </a:rPr>
              <a:t> = 1 if </a:t>
            </a:r>
            <a:r>
              <a:rPr kumimoji="1" lang="en-US" altLang="zh-CN" i="1" dirty="0">
                <a:ea typeface="宋体" charset="-122"/>
              </a:rPr>
              <a:t>j</a:t>
            </a:r>
            <a:r>
              <a:rPr kumimoji="1" lang="en-US" altLang="zh-CN" dirty="0">
                <a:ea typeface="宋体" charset="-122"/>
              </a:rPr>
              <a:t>  </a:t>
            </a:r>
            <a:r>
              <a:rPr kumimoji="1" lang="en-US" altLang="zh-CN" dirty="0">
                <a:ea typeface="宋体" charset="-122"/>
                <a:sym typeface="Symbol" charset="2"/>
              </a:rPr>
              <a:t></a:t>
            </a:r>
            <a:r>
              <a:rPr kumimoji="1" lang="en-US" altLang="zh-CN" dirty="0">
                <a:ea typeface="宋体" charset="-122"/>
              </a:rPr>
              <a:t> </a:t>
            </a:r>
            <a:r>
              <a:rPr kumimoji="1" lang="en-US" altLang="zh-CN" i="1" dirty="0">
                <a:ea typeface="宋体" charset="-122"/>
              </a:rPr>
              <a:t>A</a:t>
            </a:r>
          </a:p>
          <a:p>
            <a:pPr lvl="2"/>
            <a:r>
              <a:rPr kumimoji="1" lang="en-US" altLang="zh-CN" dirty="0">
                <a:ea typeface="宋体" charset="-122"/>
              </a:rPr>
              <a:t>01101001	{ 0, 3, 5, 6 }</a:t>
            </a:r>
          </a:p>
          <a:p>
            <a:pPr lvl="2"/>
            <a:r>
              <a:rPr kumimoji="1" lang="en-US" altLang="zh-CN" dirty="0">
                <a:ea typeface="宋体" charset="-122"/>
              </a:rPr>
              <a:t>01010101	{ 0, 2, 4, 6 }</a:t>
            </a:r>
          </a:p>
          <a:p>
            <a:pPr lvl="1"/>
            <a:r>
              <a:rPr kumimoji="1" lang="en-US" altLang="zh-CN" dirty="0">
                <a:ea typeface="宋体" charset="-122"/>
              </a:rPr>
              <a:t>&amp; Intersection		01000001 { 0, 6 }</a:t>
            </a:r>
          </a:p>
          <a:p>
            <a:pPr lvl="1"/>
            <a:r>
              <a:rPr kumimoji="1" lang="en-US" altLang="zh-CN" dirty="0">
                <a:ea typeface="宋体" charset="-122"/>
              </a:rPr>
              <a:t>|  Union			01111101  { 0, 2, 3, 4, 5, 6 }</a:t>
            </a:r>
          </a:p>
          <a:p>
            <a:pPr lvl="1"/>
            <a:r>
              <a:rPr kumimoji="1" lang="en-US" altLang="zh-CN" dirty="0">
                <a:ea typeface="宋体" charset="-122"/>
              </a:rPr>
              <a:t>~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Complement		  	10101010 { 1, 3, 5, 7 }</a:t>
            </a:r>
          </a:p>
          <a:p>
            <a:pPr lvl="1"/>
            <a:r>
              <a:rPr kumimoji="1" lang="en-US" altLang="zh-CN" dirty="0">
                <a:ea typeface="宋体" charset="-122"/>
              </a:rPr>
              <a:t>^ Symmetric difference  	00111100 { 2, 3, 4, 5 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D64A4B-84B9-FA46-99AD-C0BBE5D441D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RGB Color Model</a:t>
            </a:r>
          </a:p>
        </p:txBody>
      </p:sp>
      <p:pic>
        <p:nvPicPr>
          <p:cNvPr id="942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47800"/>
            <a:ext cx="6934200" cy="49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36ADE1-482B-B047-9794-FA7293BECDA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RGB Color Model</a:t>
            </a:r>
          </a:p>
        </p:txBody>
      </p:sp>
      <p:pic>
        <p:nvPicPr>
          <p:cNvPr id="962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00200"/>
            <a:ext cx="3457575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261" name="图片 6" descr="200px-AdditiveColor.sv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37338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2" name="TextBox 7"/>
          <p:cNvSpPr txBox="1">
            <a:spLocks noChangeArrowheads="1"/>
          </p:cNvSpPr>
          <p:nvPr/>
        </p:nvSpPr>
        <p:spPr bwMode="auto">
          <a:xfrm>
            <a:off x="1828800" y="5867400"/>
            <a:ext cx="992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/>
              <a:t>Cyan</a:t>
            </a:r>
            <a:endParaRPr lang="zh-CN" altLang="en-US" dirty="0"/>
          </a:p>
        </p:txBody>
      </p:sp>
      <p:sp>
        <p:nvSpPr>
          <p:cNvPr id="96263" name="TextBox 8"/>
          <p:cNvSpPr txBox="1">
            <a:spLocks noChangeArrowheads="1"/>
          </p:cNvSpPr>
          <p:nvPr/>
        </p:nvSpPr>
        <p:spPr bwMode="auto">
          <a:xfrm rot="5400000">
            <a:off x="4171950" y="2924175"/>
            <a:ext cx="1647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/>
              <a:t>Magenta</a:t>
            </a:r>
            <a:endParaRPr lang="zh-CN" altLang="en-US" dirty="0"/>
          </a:p>
        </p:txBody>
      </p:sp>
      <p:cxnSp>
        <p:nvCxnSpPr>
          <p:cNvPr id="96264" name="直接箭头连接符 10"/>
          <p:cNvCxnSpPr>
            <a:cxnSpLocks noChangeShapeType="1"/>
            <a:stCxn id="96262" idx="0"/>
          </p:cNvCxnSpPr>
          <p:nvPr/>
        </p:nvCxnSpPr>
        <p:spPr bwMode="auto">
          <a:xfrm flipV="1">
            <a:off x="2325688" y="4572000"/>
            <a:ext cx="36512" cy="129540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65" name="直接箭头连接符 13"/>
          <p:cNvCxnSpPr>
            <a:cxnSpLocks noChangeShapeType="1"/>
            <a:stCxn id="96263" idx="2"/>
          </p:cNvCxnSpPr>
          <p:nvPr/>
        </p:nvCxnSpPr>
        <p:spPr bwMode="auto">
          <a:xfrm flipH="1" flipV="1">
            <a:off x="3048000" y="3124200"/>
            <a:ext cx="1685925" cy="61913"/>
          </a:xfrm>
          <a:prstGeom prst="straightConnector1">
            <a:avLst/>
          </a:prstGeom>
          <a:noFill/>
          <a:ln w="444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36F367-18B9-E24F-A6F3-5C066001368F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RGB Color Model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上面</a:t>
            </a:r>
            <a:r>
              <a:rPr lang="en-US" altLang="zh-CN" dirty="0"/>
              <a:t>8</a:t>
            </a:r>
            <a:r>
              <a:rPr lang="zh-CN" altLang="en-US" dirty="0"/>
              <a:t>种颜色各自的补色是什么？</a:t>
            </a:r>
            <a:endParaRPr lang="en-US" altLang="zh-CN" dirty="0"/>
          </a:p>
          <a:p>
            <a:pPr>
              <a:defRPr/>
            </a:pPr>
            <a:r>
              <a:rPr lang="zh-CN" altLang="en-US" dirty="0">
                <a:ea typeface="+mn-ea"/>
                <a:cs typeface="+mn-cs"/>
              </a:rPr>
              <a:t>一种颜色的补色是指：</a:t>
            </a:r>
            <a:endParaRPr lang="en-US" altLang="zh-CN" dirty="0">
              <a:ea typeface="+mn-ea"/>
              <a:cs typeface="+mn-cs"/>
            </a:endParaRPr>
          </a:p>
          <a:p>
            <a:pPr lvl="2">
              <a:defRPr/>
            </a:pPr>
            <a:r>
              <a:rPr lang="zh-CN" altLang="en-US" sz="2400" dirty="0">
                <a:ea typeface="+mn-ea"/>
                <a:cs typeface="+mn-cs"/>
              </a:rPr>
              <a:t>关掉刚才亮的灯</a:t>
            </a:r>
            <a:endParaRPr lang="en-US" altLang="zh-CN" sz="2400" dirty="0">
              <a:ea typeface="+mn-ea"/>
              <a:cs typeface="+mn-cs"/>
            </a:endParaRPr>
          </a:p>
          <a:p>
            <a:pPr lvl="2">
              <a:defRPr/>
            </a:pPr>
            <a:r>
              <a:rPr lang="zh-CN" altLang="en-US" sz="2400" dirty="0">
                <a:ea typeface="+mn-ea"/>
                <a:cs typeface="+mn-cs"/>
              </a:rPr>
              <a:t>打开刚才灭的灯</a:t>
            </a:r>
            <a:endParaRPr lang="en-US" altLang="zh-CN" sz="2400" dirty="0">
              <a:ea typeface="+mn-ea"/>
              <a:cs typeface="+mn-cs"/>
            </a:endParaRPr>
          </a:p>
          <a:p>
            <a:pPr lvl="2">
              <a:defRPr/>
            </a:pPr>
            <a:endParaRPr lang="en-US" altLang="zh-CN" sz="2400" dirty="0">
              <a:ea typeface="+mn-ea"/>
              <a:cs typeface="+mn-cs"/>
            </a:endParaRPr>
          </a:p>
          <a:p>
            <a:pPr>
              <a:defRPr/>
            </a:pPr>
            <a:r>
              <a:rPr lang="zh-CN" altLang="en-US" dirty="0"/>
              <a:t>描述在下面颜色上应用以下布尔运算带来的效果：</a:t>
            </a:r>
            <a:endParaRPr lang="en-US" altLang="zh-CN" dirty="0"/>
          </a:p>
          <a:p>
            <a:pPr lvl="1">
              <a:buFontTx/>
              <a:buNone/>
              <a:defRPr/>
            </a:pP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Blue 	| 	Green 		=</a:t>
            </a:r>
          </a:p>
          <a:p>
            <a:pPr lvl="1">
              <a:buFontTx/>
              <a:buNone/>
              <a:defRPr/>
            </a:pP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Yellow 	&amp; 	Cyan 		=</a:t>
            </a:r>
          </a:p>
          <a:p>
            <a:pPr lvl="1">
              <a:buFontTx/>
              <a:buNone/>
              <a:defRPr/>
            </a:pP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Red 	^ 	Magenta	 =</a:t>
            </a:r>
            <a:endParaRPr kumimoji="1" lang="en-US" altLang="zh-CN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AF1B0B-D817-7C4F-9844-30BFB3A5BD3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Bit-Level Operations in C</a:t>
            </a:r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63272" cy="3657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Operations &amp;,  |,  ~,  ^ Available in C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ea typeface="宋体" charset="-122"/>
              </a:rPr>
              <a:t>可以应用于任何整数数据类型</a:t>
            </a:r>
            <a:endParaRPr lang="en-US" altLang="zh-CN" dirty="0">
              <a:ea typeface="宋体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sz="2400" dirty="0">
                <a:ea typeface="宋体" charset="-122"/>
              </a:rPr>
              <a:t>long,  </a:t>
            </a:r>
            <a:r>
              <a:rPr lang="en-US" altLang="zh-CN" sz="2400" dirty="0" err="1">
                <a:ea typeface="宋体" charset="-122"/>
              </a:rPr>
              <a:t>int</a:t>
            </a:r>
            <a:r>
              <a:rPr lang="en-US" altLang="zh-CN" sz="2400" dirty="0">
                <a:ea typeface="宋体" charset="-122"/>
              </a:rPr>
              <a:t>,  short,  char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宋体" charset="-122"/>
              </a:rPr>
              <a:t>将参数视为</a:t>
            </a:r>
            <a:r>
              <a:rPr lang="en-US" altLang="zh-CN" dirty="0">
                <a:ea typeface="宋体" charset="-122"/>
              </a:rPr>
              <a:t>bit vectors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宋体" charset="-122"/>
              </a:rPr>
              <a:t>参数中每一位对应去做位运算（并行）</a:t>
            </a:r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Bit-Level Operations in C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/>
              <a:t>Examples (Char data type)</a:t>
            </a:r>
          </a:p>
          <a:p>
            <a:pPr marL="552450" lvl="1"/>
            <a:r>
              <a:rPr lang="en-US" altLang="zh-CN" sz="20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~0x41 ➙ 0xBE</a:t>
            </a:r>
            <a:endParaRPr lang="en-US" altLang="zh-CN" sz="2000" dirty="0">
              <a:latin typeface="Monaco" charset="0"/>
              <a:sym typeface="Monaco" charset="0"/>
            </a:endParaRPr>
          </a:p>
          <a:p>
            <a:pPr marL="838200" lvl="2"/>
            <a:r>
              <a:rPr lang="en-US" altLang="zh-CN" dirty="0">
                <a:latin typeface="Monaco" charset="0"/>
                <a:ea typeface="Monaco" charset="0"/>
                <a:cs typeface="Monaco" charset="0"/>
                <a:sym typeface="Monaco" charset="0"/>
              </a:rPr>
              <a:t>~01000001</a:t>
            </a:r>
            <a:r>
              <a:rPr lang="en-US" altLang="zh-CN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altLang="zh-CN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➙ 10111110</a:t>
            </a:r>
            <a:r>
              <a:rPr lang="en-US" altLang="zh-CN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altLang="zh-CN" dirty="0">
              <a:latin typeface="Monaco" charset="0"/>
              <a:sym typeface="Monaco" charset="0"/>
            </a:endParaRPr>
          </a:p>
          <a:p>
            <a:pPr marL="552450" lvl="1"/>
            <a:r>
              <a:rPr lang="en-US" altLang="zh-CN" sz="20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~0x00 ➙ 0xFF</a:t>
            </a:r>
            <a:endParaRPr lang="en-US" altLang="zh-CN" sz="2000" dirty="0">
              <a:latin typeface="Monaco" charset="0"/>
              <a:sym typeface="Monaco" charset="0"/>
            </a:endParaRPr>
          </a:p>
          <a:p>
            <a:pPr marL="838200" lvl="2"/>
            <a:r>
              <a:rPr lang="en-US" altLang="zh-CN" dirty="0">
                <a:latin typeface="Monaco" charset="0"/>
                <a:ea typeface="Monaco" charset="0"/>
                <a:cs typeface="Monaco" charset="0"/>
                <a:sym typeface="Monaco" charset="0"/>
              </a:rPr>
              <a:t>~00000000</a:t>
            </a:r>
            <a:r>
              <a:rPr lang="en-US" altLang="zh-CN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altLang="zh-CN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➙ 11111111</a:t>
            </a:r>
            <a:r>
              <a:rPr lang="en-US" altLang="zh-CN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altLang="zh-CN" dirty="0">
              <a:latin typeface="Monaco" charset="0"/>
              <a:sym typeface="Monaco" charset="0"/>
            </a:endParaRPr>
          </a:p>
          <a:p>
            <a:pPr marL="552450" lvl="1"/>
            <a:r>
              <a:rPr lang="en-US" altLang="zh-CN" sz="20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&amp; 0x55 ➙ 0x41</a:t>
            </a:r>
            <a:endParaRPr lang="en-US" altLang="zh-CN" sz="2000" dirty="0">
              <a:latin typeface="Monaco" charset="0"/>
              <a:sym typeface="Monaco" charset="0"/>
            </a:endParaRPr>
          </a:p>
          <a:p>
            <a:pPr marL="838200" lvl="2"/>
            <a:r>
              <a:rPr lang="en-US" altLang="zh-CN" dirty="0"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altLang="zh-CN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altLang="zh-CN" dirty="0">
                <a:latin typeface="Monaco" charset="0"/>
                <a:ea typeface="Monaco" charset="0"/>
                <a:cs typeface="Monaco" charset="0"/>
                <a:sym typeface="Monaco" charset="0"/>
              </a:rPr>
              <a:t> &amp; 01010101</a:t>
            </a:r>
            <a:r>
              <a:rPr lang="en-US" altLang="zh-CN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altLang="zh-CN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➙ 01000001</a:t>
            </a:r>
            <a:r>
              <a:rPr lang="en-US" altLang="zh-CN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altLang="zh-CN" dirty="0">
              <a:latin typeface="Monaco" charset="0"/>
              <a:sym typeface="Monaco" charset="0"/>
            </a:endParaRPr>
          </a:p>
          <a:p>
            <a:pPr marL="552450" lvl="1"/>
            <a:r>
              <a:rPr lang="en-US" altLang="zh-CN" sz="20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| 0x55 ➙ 0x7D</a:t>
            </a:r>
            <a:endParaRPr lang="en-US" altLang="zh-CN" sz="2000" dirty="0">
              <a:latin typeface="Monaco" charset="0"/>
              <a:sym typeface="Monaco" charset="0"/>
            </a:endParaRPr>
          </a:p>
          <a:p>
            <a:pPr marL="838200" lvl="2"/>
            <a:r>
              <a:rPr lang="en-US" altLang="zh-CN" dirty="0"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altLang="zh-CN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altLang="zh-CN" dirty="0">
                <a:latin typeface="Monaco" charset="0"/>
                <a:ea typeface="Monaco" charset="0"/>
                <a:cs typeface="Monaco" charset="0"/>
                <a:sym typeface="Monaco" charset="0"/>
              </a:rPr>
              <a:t> | 01010101</a:t>
            </a:r>
            <a:r>
              <a:rPr lang="en-US" altLang="zh-CN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altLang="zh-CN" dirty="0"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altLang="zh-CN" sz="24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➙</a:t>
            </a:r>
            <a:r>
              <a:rPr lang="en-US" altLang="zh-CN" dirty="0">
                <a:latin typeface="Monaco" charset="0"/>
                <a:ea typeface="Monaco" charset="0"/>
                <a:cs typeface="Monaco" charset="0"/>
                <a:sym typeface="Monaco" charset="0"/>
              </a:rPr>
              <a:t> 01111101</a:t>
            </a:r>
            <a:r>
              <a:rPr lang="en-US" altLang="zh-CN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altLang="zh-CN" baseline="-6000" dirty="0">
              <a:latin typeface="Monaco" charset="0"/>
              <a:sym typeface="Monaco" charset="0"/>
            </a:endParaRPr>
          </a:p>
          <a:p>
            <a:endParaRPr kumimoji="1" lang="zh-CN" altLang="en-US" sz="32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FA67D-B099-8F4A-B08B-B4F2D54A9FA5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47560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55CB3F-DF4A-0142-A94E-A2E36BB5D0F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 dirty="0">
              <a:latin typeface="Times New Roman" charset="0"/>
              <a:ea typeface="宋体" charset="-122"/>
            </a:endParaRPr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Cool Stuff with Xor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en-US" altLang="zh-CN" dirty="0">
                <a:ea typeface="宋体" charset="-122"/>
              </a:rPr>
              <a:t>Bitwise </a:t>
            </a:r>
            <a:r>
              <a:rPr kumimoji="1" lang="en-US" altLang="zh-CN" dirty="0" err="1">
                <a:ea typeface="宋体" charset="-122"/>
              </a:rPr>
              <a:t>Xor</a:t>
            </a:r>
            <a:r>
              <a:rPr kumimoji="1" lang="en-US" altLang="zh-CN" dirty="0">
                <a:ea typeface="宋体" charset="-122"/>
              </a:rPr>
              <a:t> </a:t>
            </a:r>
            <a:r>
              <a:rPr kumimoji="1" lang="zh-CN" altLang="en-US" dirty="0">
                <a:ea typeface="宋体" charset="-122"/>
              </a:rPr>
              <a:t>可以用来做加法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 dirty="0">
                <a:ea typeface="宋体" charset="-122"/>
              </a:rPr>
              <a:t>0+0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=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0</a:t>
            </a:r>
          </a:p>
          <a:p>
            <a:pPr lvl="1">
              <a:lnSpc>
                <a:spcPct val="120000"/>
              </a:lnSpc>
            </a:pPr>
            <a:r>
              <a:rPr kumimoji="1" lang="en-US" altLang="zh-CN" dirty="0">
                <a:ea typeface="宋体" charset="-122"/>
              </a:rPr>
              <a:t>1+1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=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0 (</a:t>
            </a:r>
            <a:r>
              <a:rPr kumimoji="1" lang="zh-CN" altLang="en-US" dirty="0">
                <a:ea typeface="宋体" charset="-122"/>
              </a:rPr>
              <a:t>有额外进位计算逻辑</a:t>
            </a:r>
            <a:r>
              <a:rPr kumimoji="1" lang="en-US" altLang="zh-CN" dirty="0">
                <a:ea typeface="宋体" charset="-122"/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kumimoji="1" lang="en-US" altLang="zh-CN" dirty="0">
                <a:ea typeface="宋体" charset="-122"/>
              </a:rPr>
              <a:t>1+0=0+1=1</a:t>
            </a:r>
          </a:p>
          <a:p>
            <a:pPr>
              <a:lnSpc>
                <a:spcPct val="120000"/>
              </a:lnSpc>
            </a:pPr>
            <a:r>
              <a:rPr kumimoji="1" lang="zh-CN" altLang="en-US" dirty="0">
                <a:ea typeface="宋体" charset="-122"/>
              </a:rPr>
              <a:t>每个</a:t>
            </a:r>
            <a:r>
              <a:rPr kumimoji="1" lang="en-US" altLang="zh-CN" dirty="0">
                <a:ea typeface="宋体" charset="-122"/>
              </a:rPr>
              <a:t>bit</a:t>
            </a:r>
            <a:r>
              <a:rPr kumimoji="1" lang="zh-CN" altLang="en-US" dirty="0">
                <a:ea typeface="宋体" charset="-122"/>
              </a:rPr>
              <a:t>都是自己的</a:t>
            </a:r>
            <a:r>
              <a:rPr kumimoji="1" lang="en-US" altLang="zh-CN" dirty="0">
                <a:ea typeface="宋体" charset="-122"/>
              </a:rPr>
              <a:t>additive inverse</a:t>
            </a:r>
            <a:r>
              <a:rPr kumimoji="1" lang="zh-CN" altLang="en-US" dirty="0">
                <a:ea typeface="宋体" charset="-122"/>
              </a:rPr>
              <a:t>（加法逆元，相加本位得</a:t>
            </a:r>
            <a:r>
              <a:rPr kumimoji="1" lang="en-US" altLang="zh-CN" dirty="0">
                <a:ea typeface="宋体" charset="-122"/>
              </a:rPr>
              <a:t>0</a:t>
            </a:r>
            <a:r>
              <a:rPr kumimoji="1" lang="zh-CN" altLang="en-US" dirty="0">
                <a:ea typeface="宋体" charset="-122"/>
              </a:rPr>
              <a:t>）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 dirty="0">
                <a:ea typeface="宋体" charset="-122"/>
              </a:rPr>
              <a:t> A ^ A = 0</a:t>
            </a:r>
            <a:endParaRPr kumimoji="1" lang="en-US" altLang="zh-CN" sz="2000" dirty="0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Cool Stuff with </a:t>
            </a:r>
            <a:r>
              <a:rPr kumimoji="1" lang="en-US" altLang="zh-CN" dirty="0" err="1">
                <a:ea typeface="宋体" charset="-122"/>
              </a:rPr>
              <a:t>Xor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Xor</a:t>
            </a:r>
            <a:r>
              <a:rPr kumimoji="1" lang="zh-CN" altLang="en-US" dirty="0"/>
              <a:t>用于比较两个</a:t>
            </a:r>
            <a:r>
              <a:rPr kumimoji="1" lang="en-US" altLang="zh-CN" dirty="0"/>
              <a:t>bit group</a:t>
            </a:r>
            <a:r>
              <a:rPr kumimoji="1" lang="zh-CN" altLang="en-US" dirty="0"/>
              <a:t>是否相等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</a:t>
            </a:r>
            <a:r>
              <a:rPr kumimoji="1" lang="en-US" altLang="zh-CN" dirty="0"/>
              <a:t>bit</a:t>
            </a:r>
            <a:r>
              <a:rPr kumimoji="1" lang="zh-CN" altLang="en-US" dirty="0"/>
              <a:t>都相等，则得到</a:t>
            </a:r>
            <a:r>
              <a:rPr kumimoji="1" lang="en-US" altLang="zh-CN" dirty="0"/>
              <a:t>0</a:t>
            </a:r>
          </a:p>
          <a:p>
            <a:pPr lvl="1"/>
            <a:r>
              <a:rPr kumimoji="1" lang="zh-CN" altLang="en-US" dirty="0"/>
              <a:t>有一个</a:t>
            </a:r>
            <a:r>
              <a:rPr kumimoji="1" lang="en-US" altLang="zh-CN" dirty="0"/>
              <a:t>bit</a:t>
            </a:r>
            <a:r>
              <a:rPr kumimoji="1" lang="zh-CN" altLang="en-US" dirty="0"/>
              <a:t>不等，则得到非</a:t>
            </a:r>
            <a:r>
              <a:rPr kumimoji="1" lang="en-US" altLang="zh-CN" dirty="0"/>
              <a:t>0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FA67D-B099-8F4A-B08B-B4F2D54A9FA5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0501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DC9DE2-54FB-E247-8DA9-46916B2E040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64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Cool Stuff with Xor</a:t>
            </a:r>
          </a:p>
        </p:txBody>
      </p:sp>
      <p:sp>
        <p:nvSpPr>
          <p:cNvPr id="106500" name="Rectangle 3"/>
          <p:cNvSpPr>
            <a:spLocks noChangeArrowheads="1"/>
          </p:cNvSpPr>
          <p:nvPr/>
        </p:nvSpPr>
        <p:spPr bwMode="auto">
          <a:xfrm>
            <a:off x="1828800" y="1447800"/>
            <a:ext cx="4953000" cy="236220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 err="1">
                <a:latin typeface="Times New Roman" charset="0"/>
                <a:cs typeface="Times New Roman" charset="0"/>
              </a:rPr>
              <a:t>int</a:t>
            </a:r>
            <a:r>
              <a:rPr lang="en-US" altLang="zh-CN" sz="2400" b="0" dirty="0">
                <a:latin typeface="Times New Roman" charset="0"/>
                <a:cs typeface="Times New Roman" charset="0"/>
              </a:rPr>
              <a:t>  </a:t>
            </a:r>
            <a:r>
              <a:rPr lang="en-US" altLang="zh-CN" sz="2400" b="0" dirty="0" err="1">
                <a:latin typeface="Times New Roman" charset="0"/>
                <a:cs typeface="Times New Roman" charset="0"/>
              </a:rPr>
              <a:t>inplace_swap</a:t>
            </a:r>
            <a:r>
              <a:rPr lang="en-US" altLang="zh-CN" sz="2400" b="0" dirty="0">
                <a:latin typeface="Times New Roman" charset="0"/>
                <a:cs typeface="Times New Roman" charset="0"/>
              </a:rPr>
              <a:t>(</a:t>
            </a:r>
            <a:r>
              <a:rPr lang="en-US" altLang="zh-CN" sz="2400" b="0" dirty="0" err="1">
                <a:latin typeface="Times New Roman" charset="0"/>
                <a:cs typeface="Times New Roman" charset="0"/>
              </a:rPr>
              <a:t>int</a:t>
            </a:r>
            <a:r>
              <a:rPr lang="en-US" altLang="zh-CN" sz="2400" b="0" dirty="0">
                <a:latin typeface="Times New Roman" charset="0"/>
                <a:cs typeface="Times New Roman" charset="0"/>
              </a:rPr>
              <a:t> *x, </a:t>
            </a:r>
            <a:r>
              <a:rPr lang="en-US" altLang="zh-CN" sz="2400" b="0" dirty="0" err="1">
                <a:latin typeface="Times New Roman" charset="0"/>
                <a:cs typeface="Times New Roman" charset="0"/>
              </a:rPr>
              <a:t>int</a:t>
            </a:r>
            <a:r>
              <a:rPr lang="en-US" altLang="zh-CN" sz="2400" b="0" dirty="0">
                <a:latin typeface="Times New Roman" charset="0"/>
                <a:cs typeface="Times New Roman" charset="0"/>
              </a:rPr>
              <a:t> *y)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   *x = *x ^ *y;    /* #1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   *y = *x ^ *y;    /* #2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   *x = *x ^ *y;    /* #3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}</a:t>
            </a:r>
          </a:p>
        </p:txBody>
      </p:sp>
      <p:graphicFrame>
        <p:nvGraphicFramePr>
          <p:cNvPr id="106501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9858958"/>
              </p:ext>
            </p:extLst>
          </p:nvPr>
        </p:nvGraphicFramePr>
        <p:xfrm>
          <a:off x="634759" y="3933056"/>
          <a:ext cx="7162800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6250928" imgH="2460983" progId="Word.Document.8">
                  <p:embed/>
                </p:oleObj>
              </mc:Choice>
              <mc:Fallback>
                <p:oleObj name="文档" r:id="rId3" imgW="6250928" imgH="246098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759" y="3933056"/>
                        <a:ext cx="7162800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 bwMode="auto">
          <a:xfrm>
            <a:off x="7448611" y="4797152"/>
            <a:ext cx="1145704" cy="7124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1"/>
            </a:solidFill>
            <a:miter lim="800000"/>
            <a:headEnd/>
            <a:tailEnd type="none" w="sm" len="sm"/>
          </a:ln>
        </p:spPr>
        <p:txBody>
          <a:bodyPr wrap="square" lIns="47965" tIns="47965" rIns="47965" bIns="47965" rtlCol="0">
            <a:spAutoFit/>
          </a:bodyPr>
          <a:lstStyle/>
          <a:p>
            <a:pPr algn="r" defTabSz="958850">
              <a:buFontTx/>
              <a:buNone/>
            </a:pPr>
            <a:r>
              <a:rPr kumimoji="1" lang="en-US" altLang="zh-CN" dirty="0"/>
              <a:t>A^0=A</a:t>
            </a:r>
          </a:p>
          <a:p>
            <a:pPr algn="r" defTabSz="958850">
              <a:buFontTx/>
              <a:buNone/>
            </a:pPr>
            <a:r>
              <a:rPr kumimoji="1" lang="en-US" altLang="zh-CN" dirty="0"/>
              <a:t>A^1=~A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F68B5B-3B14-834B-B266-180EA3316C2A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Cool Stuff with </a:t>
            </a:r>
            <a:r>
              <a:rPr kumimoji="1" lang="en-US" altLang="zh-CN" dirty="0" err="1">
                <a:ea typeface="宋体" charset="-122"/>
              </a:rPr>
              <a:t>Xor</a:t>
            </a:r>
            <a:endParaRPr kumimoji="1" lang="en-US" altLang="zh-CN" dirty="0">
              <a:ea typeface="宋体" charset="-122"/>
            </a:endParaRPr>
          </a:p>
        </p:txBody>
      </p:sp>
      <p:sp>
        <p:nvSpPr>
          <p:cNvPr id="108548" name="Rectangle 3"/>
          <p:cNvSpPr>
            <a:spLocks noChangeArrowheads="1"/>
          </p:cNvSpPr>
          <p:nvPr/>
        </p:nvSpPr>
        <p:spPr bwMode="auto">
          <a:xfrm>
            <a:off x="533400" y="1447800"/>
            <a:ext cx="7620000" cy="342900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>
                <a:latin typeface="Times New Roman" charset="0"/>
                <a:cs typeface="Times New Roman" charset="0"/>
              </a:rPr>
              <a:t>1  void reverse_array(int a[], int cnt)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>
                <a:latin typeface="Times New Roman" charset="0"/>
                <a:cs typeface="Times New Roman" charset="0"/>
              </a:rPr>
              <a:t>2 	int first, last;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>
                <a:latin typeface="Times New Roman" charset="0"/>
                <a:cs typeface="Times New Roman" charset="0"/>
              </a:rPr>
              <a:t>3 	for (first = 0, last = cnt-1;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>
                <a:latin typeface="Times New Roman" charset="0"/>
                <a:cs typeface="Times New Roman" charset="0"/>
              </a:rPr>
              <a:t>4 	       first &lt;= last;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>
                <a:latin typeface="Times New Roman" charset="0"/>
                <a:cs typeface="Times New Roman" charset="0"/>
              </a:rPr>
              <a:t>5 	       first++,last--)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>
                <a:latin typeface="Times New Roman" charset="0"/>
                <a:cs typeface="Times New Roman" charset="0"/>
              </a:rPr>
              <a:t>6 	    inplace_swap(&amp;a[first], &amp;a[last]);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>
                <a:latin typeface="Times New Roman" charset="0"/>
                <a:cs typeface="Times New Roman" charset="0"/>
              </a:rPr>
              <a:t>7 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68F2BC-5E91-4440-8804-D58EDA657B0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Mask Operations</a:t>
            </a:r>
          </a:p>
        </p:txBody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Bit pattern</a:t>
            </a:r>
          </a:p>
          <a:p>
            <a:pPr lvl="1"/>
            <a:r>
              <a:rPr lang="en-US" altLang="zh-CN" dirty="0">
                <a:ea typeface="宋体" charset="-122"/>
              </a:rPr>
              <a:t>0xFF</a:t>
            </a:r>
          </a:p>
          <a:p>
            <a:pPr lvl="2"/>
            <a:r>
              <a:rPr lang="en-US" altLang="zh-CN" dirty="0">
                <a:ea typeface="宋体" charset="-122"/>
              </a:rPr>
              <a:t>Having 1s for the least significant eight bits</a:t>
            </a:r>
          </a:p>
          <a:p>
            <a:pPr lvl="2"/>
            <a:r>
              <a:rPr lang="en-US" altLang="zh-CN" dirty="0">
                <a:ea typeface="宋体" charset="-122"/>
              </a:rPr>
              <a:t>Indicates the lower-order byte of a word </a:t>
            </a:r>
          </a:p>
          <a:p>
            <a:r>
              <a:rPr lang="en-US" altLang="zh-CN" dirty="0">
                <a:ea typeface="宋体" charset="-122"/>
              </a:rPr>
              <a:t>Mask Operation</a:t>
            </a:r>
          </a:p>
          <a:p>
            <a:pPr lvl="1"/>
            <a:r>
              <a:rPr lang="en-US" altLang="zh-CN" dirty="0">
                <a:ea typeface="宋体" charset="-122"/>
              </a:rPr>
              <a:t>X = 0x89ABCDEF</a:t>
            </a:r>
          </a:p>
          <a:p>
            <a:pPr lvl="1"/>
            <a:r>
              <a:rPr lang="en-US" altLang="zh-CN" dirty="0">
                <a:ea typeface="宋体" charset="-122"/>
              </a:rPr>
              <a:t>X &amp; 0xFF =?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81F9FB-5DBC-7A4F-906E-0B3CB6D79CC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126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Mask Operations</a:t>
            </a:r>
          </a:p>
        </p:txBody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dirty="0">
                <a:ea typeface="宋体" charset="-122"/>
              </a:rPr>
              <a:t>Write C expressions that work for any word size </a:t>
            </a: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w ≥ 8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dirty="0">
                <a:ea typeface="宋体" charset="-122"/>
              </a:rPr>
              <a:t>For  </a:t>
            </a:r>
            <a:r>
              <a:rPr lang="en-US" altLang="zh-CN" dirty="0">
                <a:latin typeface="Times New Roman" charset="0"/>
                <a:ea typeface="宋体" charset="-122"/>
              </a:rPr>
              <a:t>x = 0x87654321</a:t>
            </a:r>
            <a:r>
              <a:rPr lang="en-US" altLang="zh-CN" dirty="0">
                <a:ea typeface="宋体" charset="-122"/>
              </a:rPr>
              <a:t>, with </a:t>
            </a:r>
            <a:r>
              <a:rPr lang="en-US" altLang="zh-CN" dirty="0">
                <a:latin typeface="Times New Roman" charset="0"/>
                <a:ea typeface="宋体" charset="-122"/>
              </a:rPr>
              <a:t>w = 32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dirty="0">
                <a:ea typeface="宋体" charset="-122"/>
              </a:rPr>
              <a:t>The least significant byte of x, with all other bits set to 0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sz="2800" dirty="0">
                <a:latin typeface="Times New Roman" charset="0"/>
                <a:ea typeface="宋体" charset="-122"/>
              </a:rPr>
              <a:t>[0x00000021].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Mask Operations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Bit pattern</a:t>
            </a:r>
          </a:p>
          <a:p>
            <a:pPr lvl="1"/>
            <a:r>
              <a:rPr lang="en-US" altLang="zh-CN" dirty="0">
                <a:ea typeface="宋体" charset="-122"/>
              </a:rPr>
              <a:t>0xFF</a:t>
            </a:r>
          </a:p>
          <a:p>
            <a:r>
              <a:rPr lang="en-US" altLang="zh-CN" dirty="0">
                <a:ea typeface="宋体" charset="-122"/>
              </a:rPr>
              <a:t>Mask Operation</a:t>
            </a:r>
          </a:p>
          <a:p>
            <a:pPr lvl="1"/>
            <a:r>
              <a:rPr lang="en-US" altLang="zh-CN" dirty="0">
                <a:ea typeface="宋体" charset="-122"/>
              </a:rPr>
              <a:t>X = 0x89ABCDEF</a:t>
            </a:r>
          </a:p>
          <a:p>
            <a:pPr lvl="1"/>
            <a:r>
              <a:rPr lang="en-US" altLang="zh-CN" dirty="0">
                <a:ea typeface="宋体" charset="-122"/>
              </a:rPr>
              <a:t>X 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|</a:t>
            </a:r>
            <a:r>
              <a:rPr lang="en-US" altLang="zh-CN" dirty="0">
                <a:ea typeface="宋体" charset="-122"/>
              </a:rPr>
              <a:t> 0xFF =?</a:t>
            </a:r>
          </a:p>
          <a:p>
            <a:pPr lvl="1"/>
            <a:endParaRPr lang="en-US" altLang="zh-CN" dirty="0">
              <a:ea typeface="宋体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FA67D-B099-8F4A-B08B-B4F2D54A9FA5}" type="slidenum">
              <a:rPr lang="zh-CN" altLang="en-US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61853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Mask Operations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Bit pattern</a:t>
            </a:r>
          </a:p>
          <a:p>
            <a:pPr lvl="1"/>
            <a:r>
              <a:rPr lang="en-US" altLang="zh-CN" dirty="0">
                <a:ea typeface="宋体" charset="-122"/>
              </a:rPr>
              <a:t>0xFF</a:t>
            </a:r>
          </a:p>
          <a:p>
            <a:r>
              <a:rPr lang="en-US" altLang="zh-CN" dirty="0">
                <a:ea typeface="宋体" charset="-122"/>
              </a:rPr>
              <a:t>Mask Operation</a:t>
            </a:r>
          </a:p>
          <a:p>
            <a:pPr lvl="1"/>
            <a:r>
              <a:rPr lang="en-US" altLang="zh-CN" dirty="0">
                <a:ea typeface="宋体" charset="-122"/>
              </a:rPr>
              <a:t>X = 0x89ABCDEF</a:t>
            </a:r>
          </a:p>
          <a:p>
            <a:pPr lvl="1"/>
            <a:r>
              <a:rPr lang="en-US" altLang="zh-CN" dirty="0">
                <a:ea typeface="宋体" charset="-122"/>
              </a:rPr>
              <a:t>X 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^</a:t>
            </a:r>
            <a:r>
              <a:rPr lang="en-US" altLang="zh-CN" dirty="0">
                <a:ea typeface="宋体" charset="-122"/>
              </a:rPr>
              <a:t> 0xFF =?</a:t>
            </a:r>
          </a:p>
          <a:p>
            <a:pPr lvl="1"/>
            <a:endParaRPr lang="en-US" altLang="zh-CN" dirty="0">
              <a:ea typeface="宋体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FA67D-B099-8F4A-B08B-B4F2D54A9FA5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8695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Mask Operations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掩码操作功能总结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与操作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保留某些位，其他位设为</a:t>
            </a:r>
            <a:r>
              <a:rPr kumimoji="1" lang="en-US" altLang="zh-CN" dirty="0"/>
              <a:t>0</a:t>
            </a:r>
          </a:p>
          <a:p>
            <a:pPr lvl="1"/>
            <a:r>
              <a:rPr kumimoji="1" lang="zh-CN" altLang="en-US" dirty="0"/>
              <a:t>或操作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某些位强制置</a:t>
            </a:r>
            <a:r>
              <a:rPr kumimoji="1" lang="en-US" altLang="zh-CN" dirty="0"/>
              <a:t>1</a:t>
            </a:r>
          </a:p>
          <a:p>
            <a:pPr lvl="1"/>
            <a:r>
              <a:rPr kumimoji="1" lang="zh-CN" altLang="en-US" dirty="0"/>
              <a:t>异或操作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某些位取反</a:t>
            </a:r>
            <a:r>
              <a:rPr kumimoji="1" lang="en-US" altLang="zh-CN" dirty="0"/>
              <a:t> (mask</a:t>
            </a:r>
            <a:r>
              <a:rPr kumimoji="1" lang="zh-CN" altLang="en-US" dirty="0"/>
              <a:t>的对应位为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时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FA67D-B099-8F4A-B08B-B4F2D54A9FA5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34016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0729CD-AEFB-7D4D-9882-E60A82D6E5E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Logical Operations in C</a:t>
            </a:r>
            <a:endParaRPr lang="zh-CN" altLang="en-US" dirty="0">
              <a:ea typeface="宋体" charset="-122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Logical Operators</a:t>
            </a:r>
          </a:p>
          <a:p>
            <a:pPr lvl="1"/>
            <a:r>
              <a:rPr lang="en-US" altLang="zh-CN" dirty="0">
                <a:latin typeface="Courier New" charset="0"/>
                <a:ea typeface="宋体" charset="-122"/>
              </a:rPr>
              <a:t>&amp;&amp;</a:t>
            </a:r>
            <a:r>
              <a:rPr lang="en-US" altLang="zh-CN" dirty="0">
                <a:ea typeface="宋体" charset="-122"/>
              </a:rPr>
              <a:t>, </a:t>
            </a:r>
            <a:r>
              <a:rPr lang="en-US" altLang="zh-CN" dirty="0">
                <a:latin typeface="Courier New" charset="0"/>
                <a:ea typeface="宋体" charset="-122"/>
              </a:rPr>
              <a:t>||</a:t>
            </a:r>
            <a:r>
              <a:rPr lang="en-US" altLang="zh-CN" dirty="0">
                <a:ea typeface="宋体" charset="-122"/>
              </a:rPr>
              <a:t>, </a:t>
            </a:r>
            <a:r>
              <a:rPr lang="en-US" altLang="zh-CN" dirty="0">
                <a:latin typeface="Courier New" charset="0"/>
                <a:ea typeface="宋体" charset="-122"/>
              </a:rPr>
              <a:t>!</a:t>
            </a:r>
            <a:endParaRPr lang="en-US" altLang="zh-CN" dirty="0">
              <a:ea typeface="宋体" charset="-122"/>
            </a:endParaRPr>
          </a:p>
          <a:p>
            <a:pPr lvl="2"/>
            <a:r>
              <a:rPr lang="zh-CN" altLang="en-US" sz="2400" dirty="0">
                <a:ea typeface="宋体" charset="-122"/>
              </a:rPr>
              <a:t>将</a:t>
            </a:r>
            <a:r>
              <a:rPr lang="en-US" altLang="zh-CN" sz="2400" dirty="0">
                <a:ea typeface="宋体" charset="-122"/>
              </a:rPr>
              <a:t>0</a:t>
            </a:r>
            <a:r>
              <a:rPr lang="zh-CN" altLang="en-US" sz="2400" dirty="0">
                <a:ea typeface="宋体" charset="-122"/>
              </a:rPr>
              <a:t>视为</a:t>
            </a:r>
            <a:r>
              <a:rPr lang="en-US" altLang="zh-CN" sz="2400" dirty="0">
                <a:ea typeface="宋体" charset="-122"/>
              </a:rPr>
              <a:t>“False”</a:t>
            </a:r>
          </a:p>
          <a:p>
            <a:pPr lvl="2"/>
            <a:r>
              <a:rPr lang="zh-CN" altLang="en-US" sz="2400" dirty="0">
                <a:ea typeface="宋体" charset="-122"/>
              </a:rPr>
              <a:t>任何非</a:t>
            </a:r>
            <a:r>
              <a:rPr lang="en-US" altLang="zh-CN" sz="2400" dirty="0">
                <a:ea typeface="宋体" charset="-122"/>
              </a:rPr>
              <a:t>0</a:t>
            </a:r>
            <a:r>
              <a:rPr lang="zh-CN" altLang="en-US" sz="2400" dirty="0">
                <a:ea typeface="宋体" charset="-122"/>
              </a:rPr>
              <a:t>值都被视为</a:t>
            </a:r>
            <a:r>
              <a:rPr lang="en-US" altLang="zh-CN" sz="2400" dirty="0">
                <a:ea typeface="宋体" charset="-122"/>
              </a:rPr>
              <a:t>“True”</a:t>
            </a:r>
          </a:p>
          <a:p>
            <a:pPr lvl="2"/>
            <a:r>
              <a:rPr lang="zh-CN" altLang="en-US" sz="2400" dirty="0">
                <a:ea typeface="宋体" charset="-122"/>
              </a:rPr>
              <a:t>总是</a:t>
            </a:r>
            <a:r>
              <a:rPr lang="en-US" altLang="zh-CN" sz="2400" dirty="0">
                <a:ea typeface="宋体" charset="-122"/>
              </a:rPr>
              <a:t>return 0 or 1</a:t>
            </a:r>
          </a:p>
          <a:p>
            <a:pPr lvl="2"/>
            <a:r>
              <a:rPr lang="zh-CN" altLang="en-US" sz="2400" dirty="0">
                <a:ea typeface="宋体" charset="-122"/>
              </a:rPr>
              <a:t>提前终止 </a:t>
            </a:r>
            <a:r>
              <a:rPr lang="en-US" altLang="zh-CN" sz="2400" dirty="0">
                <a:ea typeface="宋体" charset="-122"/>
              </a:rPr>
              <a:t>(</a:t>
            </a:r>
            <a:r>
              <a:rPr lang="zh-CN" altLang="en-US" sz="2400" dirty="0">
                <a:ea typeface="宋体" charset="-122"/>
              </a:rPr>
              <a:t>短路表达式</a:t>
            </a:r>
            <a:r>
              <a:rPr lang="en-US" altLang="zh-CN" sz="2400" dirty="0">
                <a:ea typeface="宋体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83649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67A964-76BF-3745-9CF2-7217EBD65FE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Logical Operations in C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charset="-122"/>
              </a:rPr>
              <a:t>Examples (char data type)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latin typeface="Courier New" charset="0"/>
                <a:ea typeface="宋体" charset="-122"/>
              </a:rPr>
              <a:t>!0x41  --&gt;  0x00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latin typeface="Courier New" charset="0"/>
                <a:ea typeface="宋体" charset="-122"/>
              </a:rPr>
              <a:t>!0x00  --&gt;  0x01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latin typeface="Courier New" charset="0"/>
                <a:ea typeface="宋体" charset="-122"/>
              </a:rPr>
              <a:t>!!0x41 --&gt;  0x01</a:t>
            </a:r>
            <a:endParaRPr lang="en-US" altLang="zh-CN" baseline="-25000">
              <a:latin typeface="Courier New" charset="0"/>
              <a:ea typeface="宋体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>
                <a:latin typeface="Courier New" charset="0"/>
                <a:ea typeface="宋体" charset="-122"/>
              </a:rPr>
              <a:t>0x69 &amp;&amp; 0x55  --&gt;  0x01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latin typeface="Courier New" charset="0"/>
                <a:ea typeface="宋体" charset="-122"/>
              </a:rPr>
              <a:t>0x69 || 0x55  --&gt;  0x01</a:t>
            </a:r>
          </a:p>
        </p:txBody>
      </p:sp>
    </p:spTree>
    <p:extLst>
      <p:ext uri="{BB962C8B-B14F-4D97-AF65-F5344CB8AC3E}">
        <p14:creationId xmlns:p14="http://schemas.microsoft.com/office/powerpoint/2010/main" val="17241277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E4A42C-9951-9746-BFAA-B9E79CAD229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Short Cut in Logical Operations 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a &amp;&amp; 5/a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If a is zero, the evaluation of 5/a is stopped 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avoid division by zero</a:t>
            </a:r>
          </a:p>
          <a:p>
            <a:pPr>
              <a:defRPr/>
            </a:pPr>
            <a:r>
              <a:rPr lang="zh-CN" altLang="en-US" dirty="0"/>
              <a:t>练习：</a:t>
            </a:r>
            <a:r>
              <a:rPr lang="en-US" altLang="zh-CN" dirty="0"/>
              <a:t>Using only bit-level and logical operations</a:t>
            </a: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Implement x == y</a:t>
            </a: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it returns 1 when x and y are equal, and 0 otherwise</a:t>
            </a:r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43032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26BCA4-1453-F441-97D2-1CD71AB99E7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Shift Operations in C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5867400" cy="44196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Left Shift: 	x &lt;&lt; y</a:t>
            </a:r>
            <a:r>
              <a:rPr kumimoji="1" lang="zh-CN" altLang="en-US" dirty="0">
                <a:ea typeface="宋体" charset="-122"/>
              </a:rPr>
              <a:t> </a:t>
            </a:r>
            <a:endParaRPr kumimoji="1" lang="en-US" altLang="zh-CN" dirty="0">
              <a:ea typeface="宋体" charset="-122"/>
            </a:endParaRPr>
          </a:p>
          <a:p>
            <a:pPr lvl="1"/>
            <a:r>
              <a:rPr kumimoji="1" lang="zh-CN" altLang="en-US" dirty="0">
                <a:ea typeface="宋体" charset="-122"/>
              </a:rPr>
              <a:t>将</a:t>
            </a:r>
            <a:r>
              <a:rPr kumimoji="1" lang="en-US" altLang="zh-CN" dirty="0">
                <a:ea typeface="宋体" charset="-122"/>
              </a:rPr>
              <a:t>bit-vector x</a:t>
            </a:r>
            <a:r>
              <a:rPr kumimoji="1" lang="zh-CN" altLang="en-US" dirty="0">
                <a:ea typeface="宋体" charset="-122"/>
              </a:rPr>
              <a:t>左移</a:t>
            </a:r>
            <a:r>
              <a:rPr kumimoji="1" lang="en-US" altLang="zh-CN" dirty="0">
                <a:ea typeface="宋体" charset="-122"/>
              </a:rPr>
              <a:t>y</a:t>
            </a:r>
            <a:r>
              <a:rPr kumimoji="1" lang="zh-CN" altLang="en-US" dirty="0">
                <a:ea typeface="宋体" charset="-122"/>
              </a:rPr>
              <a:t>位</a:t>
            </a:r>
            <a:endParaRPr kumimoji="1" lang="en-US" altLang="zh-CN" dirty="0">
              <a:ea typeface="宋体" charset="-122"/>
            </a:endParaRPr>
          </a:p>
          <a:p>
            <a:pPr lvl="2"/>
            <a:r>
              <a:rPr kumimoji="1" lang="zh-CN" altLang="en-US" sz="2400" dirty="0">
                <a:ea typeface="宋体" charset="-122"/>
              </a:rPr>
              <a:t>左边多出来的</a:t>
            </a:r>
            <a:r>
              <a:rPr kumimoji="1" lang="en-US" altLang="zh-CN" sz="2400" dirty="0">
                <a:ea typeface="宋体" charset="-122"/>
              </a:rPr>
              <a:t>bits</a:t>
            </a:r>
            <a:r>
              <a:rPr kumimoji="1" lang="zh-CN" altLang="en-US" sz="2400" dirty="0">
                <a:ea typeface="宋体" charset="-122"/>
              </a:rPr>
              <a:t>丢掉</a:t>
            </a:r>
            <a:endParaRPr kumimoji="1" lang="en-US" altLang="zh-CN" sz="2400" dirty="0">
              <a:ea typeface="宋体" charset="-122"/>
            </a:endParaRPr>
          </a:p>
          <a:p>
            <a:pPr lvl="2"/>
            <a:r>
              <a:rPr kumimoji="1" lang="zh-CN" altLang="en-US" sz="2400" dirty="0">
                <a:ea typeface="宋体" charset="-122"/>
              </a:rPr>
              <a:t>右边补</a:t>
            </a:r>
            <a:r>
              <a:rPr kumimoji="1" lang="en-US" altLang="zh-CN" sz="2400" dirty="0">
                <a:ea typeface="宋体" charset="-122"/>
              </a:rPr>
              <a:t>0</a:t>
            </a:r>
          </a:p>
        </p:txBody>
      </p:sp>
      <p:grpSp>
        <p:nvGrpSpPr>
          <p:cNvPr id="12293" name="Group 4"/>
          <p:cNvGrpSpPr>
            <a:grpSpLocks/>
          </p:cNvGrpSpPr>
          <p:nvPr/>
        </p:nvGrpSpPr>
        <p:grpSpPr bwMode="auto">
          <a:xfrm>
            <a:off x="1295400" y="3505200"/>
            <a:ext cx="5562600" cy="2590800"/>
            <a:chOff x="3696" y="2016"/>
            <a:chExt cx="1728" cy="1296"/>
          </a:xfrm>
        </p:grpSpPr>
        <p:sp>
          <p:nvSpPr>
            <p:cNvPr id="12294" name="Rectangle 5"/>
            <p:cNvSpPr>
              <a:spLocks noChangeArrowheads="1"/>
            </p:cNvSpPr>
            <p:nvPr/>
          </p:nvSpPr>
          <p:spPr bwMode="auto">
            <a:xfrm>
              <a:off x="4560" y="201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charset="0"/>
                </a:rPr>
                <a:t>01100010</a:t>
              </a:r>
              <a:endParaRPr lang="en-US" altLang="zh-CN" sz="1800" b="0">
                <a:latin typeface="Courier New" charset="0"/>
              </a:endParaRPr>
            </a:p>
          </p:txBody>
        </p:sp>
        <p:sp>
          <p:nvSpPr>
            <p:cNvPr id="12295" name="Rectangle 6"/>
            <p:cNvSpPr>
              <a:spLocks noChangeArrowheads="1"/>
            </p:cNvSpPr>
            <p:nvPr/>
          </p:nvSpPr>
          <p:spPr bwMode="auto">
            <a:xfrm>
              <a:off x="3696" y="201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Helvetica" charset="0"/>
                </a:rPr>
                <a:t>Argument </a:t>
              </a:r>
              <a:r>
                <a:rPr lang="en-US" altLang="zh-CN" b="0">
                  <a:latin typeface="Courier New" charset="0"/>
                </a:rPr>
                <a:t>x</a:t>
              </a:r>
              <a:endParaRPr lang="en-US" altLang="zh-CN" b="0">
                <a:latin typeface="Helvetica" charset="0"/>
              </a:endParaRPr>
            </a:p>
          </p:txBody>
        </p:sp>
        <p:sp>
          <p:nvSpPr>
            <p:cNvPr id="12296" name="Rectangle 7"/>
            <p:cNvSpPr>
              <a:spLocks noChangeArrowheads="1"/>
            </p:cNvSpPr>
            <p:nvPr/>
          </p:nvSpPr>
          <p:spPr bwMode="auto">
            <a:xfrm>
              <a:off x="4560" y="230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charset="0"/>
                </a:rPr>
                <a:t>00010</a:t>
              </a:r>
              <a:r>
                <a:rPr lang="en-US" altLang="zh-CN" b="0" i="1">
                  <a:latin typeface="Courier New" charset="0"/>
                </a:rPr>
                <a:t>000</a:t>
              </a:r>
              <a:endParaRPr lang="en-US" altLang="zh-CN" sz="1800" b="0">
                <a:latin typeface="Courier New" charset="0"/>
              </a:endParaRPr>
            </a:p>
          </p:txBody>
        </p:sp>
        <p:sp>
          <p:nvSpPr>
            <p:cNvPr id="12297" name="Rectangle 8"/>
            <p:cNvSpPr>
              <a:spLocks noChangeArrowheads="1"/>
            </p:cNvSpPr>
            <p:nvPr/>
          </p:nvSpPr>
          <p:spPr bwMode="auto">
            <a:xfrm>
              <a:off x="3696" y="230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charset="0"/>
                </a:rPr>
                <a:t>&lt;&lt; 3</a:t>
              </a:r>
              <a:endParaRPr lang="en-US" altLang="zh-CN" b="0">
                <a:latin typeface="Helvetica" charset="0"/>
              </a:endParaRPr>
            </a:p>
          </p:txBody>
        </p:sp>
        <p:sp>
          <p:nvSpPr>
            <p:cNvPr id="12298" name="Rectangle 9"/>
            <p:cNvSpPr>
              <a:spLocks noChangeArrowheads="1"/>
            </p:cNvSpPr>
            <p:nvPr/>
          </p:nvSpPr>
          <p:spPr bwMode="auto">
            <a:xfrm>
              <a:off x="4560" y="273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charset="0"/>
                </a:rPr>
                <a:t>10100010</a:t>
              </a:r>
            </a:p>
          </p:txBody>
        </p:sp>
        <p:sp>
          <p:nvSpPr>
            <p:cNvPr id="12299" name="Rectangle 10"/>
            <p:cNvSpPr>
              <a:spLocks noChangeArrowheads="1"/>
            </p:cNvSpPr>
            <p:nvPr/>
          </p:nvSpPr>
          <p:spPr bwMode="auto">
            <a:xfrm>
              <a:off x="3696" y="273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Helvetica" charset="0"/>
                </a:rPr>
                <a:t>Argument </a:t>
              </a:r>
              <a:r>
                <a:rPr lang="en-US" altLang="zh-CN" b="0">
                  <a:latin typeface="Courier New" charset="0"/>
                </a:rPr>
                <a:t>x</a:t>
              </a:r>
              <a:endParaRPr lang="en-US" altLang="zh-CN" b="0">
                <a:latin typeface="Helvetica" charset="0"/>
              </a:endParaRPr>
            </a:p>
          </p:txBody>
        </p:sp>
        <p:sp>
          <p:nvSpPr>
            <p:cNvPr id="12300" name="Rectangle 11"/>
            <p:cNvSpPr>
              <a:spLocks noChangeArrowheads="1"/>
            </p:cNvSpPr>
            <p:nvPr/>
          </p:nvSpPr>
          <p:spPr bwMode="auto">
            <a:xfrm>
              <a:off x="4560" y="302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charset="0"/>
                </a:rPr>
                <a:t>00010</a:t>
              </a:r>
              <a:r>
                <a:rPr lang="en-US" altLang="zh-CN" b="0" i="1">
                  <a:latin typeface="Courier New" charset="0"/>
                </a:rPr>
                <a:t>000</a:t>
              </a:r>
              <a:endParaRPr lang="en-US" altLang="zh-CN" b="0">
                <a:latin typeface="Courier New" charset="0"/>
              </a:endParaRPr>
            </a:p>
          </p:txBody>
        </p:sp>
        <p:sp>
          <p:nvSpPr>
            <p:cNvPr id="12301" name="Rectangle 12"/>
            <p:cNvSpPr>
              <a:spLocks noChangeArrowheads="1"/>
            </p:cNvSpPr>
            <p:nvPr/>
          </p:nvSpPr>
          <p:spPr bwMode="auto">
            <a:xfrm>
              <a:off x="3696" y="302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0">
                  <a:latin typeface="Courier New" charset="0"/>
                </a:rPr>
                <a:t>&lt;&lt; 3</a:t>
              </a:r>
              <a:endParaRPr lang="en-US" altLang="zh-CN" b="0">
                <a:latin typeface="Helvetic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30157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7F6768-B7ED-B947-AD84-D91DC3D3D5F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Shift Operations in C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6019800" cy="44196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Right Shift: 	x &gt;&gt; y</a:t>
            </a:r>
          </a:p>
          <a:p>
            <a:pPr lvl="1"/>
            <a:r>
              <a:rPr kumimoji="1" lang="zh-CN" altLang="en-US" dirty="0">
                <a:ea typeface="宋体" charset="-122"/>
              </a:rPr>
              <a:t>将</a:t>
            </a:r>
            <a:r>
              <a:rPr kumimoji="1" lang="en-US" altLang="zh-CN" dirty="0">
                <a:ea typeface="宋体" charset="-122"/>
              </a:rPr>
              <a:t>bit-vector x</a:t>
            </a:r>
            <a:r>
              <a:rPr kumimoji="1" lang="zh-CN" altLang="en-US" dirty="0">
                <a:ea typeface="宋体" charset="-122"/>
              </a:rPr>
              <a:t>向右移动</a:t>
            </a:r>
            <a:r>
              <a:rPr kumimoji="1" lang="en-US" altLang="zh-CN" dirty="0">
                <a:ea typeface="宋体" charset="-122"/>
              </a:rPr>
              <a:t>y</a:t>
            </a:r>
            <a:r>
              <a:rPr kumimoji="1" lang="zh-CN" altLang="en-US" dirty="0">
                <a:ea typeface="宋体" charset="-122"/>
              </a:rPr>
              <a:t>位</a:t>
            </a:r>
            <a:endParaRPr kumimoji="1" lang="en-US" altLang="zh-CN" dirty="0">
              <a:ea typeface="宋体" charset="-122"/>
            </a:endParaRPr>
          </a:p>
          <a:p>
            <a:pPr lvl="2"/>
            <a:r>
              <a:rPr kumimoji="1" lang="zh-CN" altLang="en-US" dirty="0">
                <a:ea typeface="宋体" charset="-122"/>
              </a:rPr>
              <a:t>丢掉右边额外的</a:t>
            </a:r>
            <a:r>
              <a:rPr kumimoji="1" lang="en-US" altLang="zh-CN" dirty="0">
                <a:ea typeface="宋体" charset="-122"/>
              </a:rPr>
              <a:t>bits</a:t>
            </a:r>
          </a:p>
          <a:p>
            <a:pPr lvl="1"/>
            <a:r>
              <a:rPr kumimoji="1" lang="zh-CN" altLang="en-US" b="1" dirty="0">
                <a:ea typeface="宋体" charset="-122"/>
              </a:rPr>
              <a:t>逻辑移位</a:t>
            </a:r>
            <a:r>
              <a:rPr kumimoji="1" lang="zh-CN" altLang="en-US" dirty="0">
                <a:ea typeface="宋体" charset="-122"/>
              </a:rPr>
              <a:t>（无符号数）</a:t>
            </a:r>
            <a:endParaRPr kumimoji="1" lang="en-US" altLang="zh-CN" dirty="0">
              <a:ea typeface="宋体" charset="-122"/>
            </a:endParaRPr>
          </a:p>
          <a:p>
            <a:pPr lvl="2"/>
            <a:r>
              <a:rPr kumimoji="1" lang="zh-CN" altLang="en-US" dirty="0">
                <a:ea typeface="宋体" charset="-122"/>
              </a:rPr>
              <a:t>左边补</a:t>
            </a:r>
            <a:r>
              <a:rPr kumimoji="1" lang="en-US" altLang="zh-CN" dirty="0">
                <a:ea typeface="宋体" charset="-122"/>
              </a:rPr>
              <a:t>0</a:t>
            </a:r>
          </a:p>
          <a:p>
            <a:pPr lvl="1"/>
            <a:r>
              <a:rPr kumimoji="1" lang="zh-CN" altLang="en-US" b="1" dirty="0">
                <a:ea typeface="宋体" charset="-122"/>
              </a:rPr>
              <a:t>算数移位</a:t>
            </a:r>
            <a:r>
              <a:rPr kumimoji="1" lang="zh-CN" altLang="en-US" dirty="0">
                <a:ea typeface="宋体" charset="-122"/>
              </a:rPr>
              <a:t>（有符号数）</a:t>
            </a:r>
            <a:endParaRPr kumimoji="1" lang="en-US" altLang="zh-CN" dirty="0">
              <a:ea typeface="宋体" charset="-122"/>
            </a:endParaRPr>
          </a:p>
          <a:p>
            <a:pPr lvl="2"/>
            <a:r>
              <a:rPr kumimoji="1" lang="zh-CN" altLang="en-US" dirty="0">
                <a:ea typeface="宋体" charset="-122"/>
              </a:rPr>
              <a:t>左边总是补入最左边的符号位</a:t>
            </a:r>
            <a:endParaRPr kumimoji="1" lang="en-US" altLang="zh-CN" dirty="0">
              <a:ea typeface="宋体" charset="-122"/>
            </a:endParaRPr>
          </a:p>
          <a:p>
            <a:pPr lvl="2"/>
            <a:r>
              <a:rPr kumimoji="1" lang="zh-CN" altLang="en-US" dirty="0">
                <a:ea typeface="宋体" charset="-122"/>
              </a:rPr>
              <a:t>在补码表示时很有用（移动后保持数字符号不变，正数</a:t>
            </a:r>
            <a:r>
              <a:rPr kumimoji="1" lang="en-US" altLang="zh-CN" dirty="0">
                <a:ea typeface="宋体" charset="-122"/>
              </a:rPr>
              <a:t>-&gt;</a:t>
            </a:r>
            <a:r>
              <a:rPr kumimoji="1" lang="zh-CN" altLang="en-US" dirty="0">
                <a:ea typeface="宋体" charset="-122"/>
              </a:rPr>
              <a:t>正数，负数</a:t>
            </a:r>
            <a:r>
              <a:rPr kumimoji="1" lang="en-US" altLang="zh-CN" dirty="0">
                <a:ea typeface="宋体" charset="-122"/>
              </a:rPr>
              <a:t>-&gt;</a:t>
            </a:r>
            <a:r>
              <a:rPr kumimoji="1" lang="zh-CN" altLang="en-US" dirty="0">
                <a:ea typeface="宋体" charset="-122"/>
              </a:rPr>
              <a:t>负数）</a:t>
            </a:r>
            <a:endParaRPr kumimoji="1" lang="en-US" altLang="zh-CN" dirty="0">
              <a:ea typeface="宋体" charset="-122"/>
            </a:endParaRPr>
          </a:p>
          <a:p>
            <a:pPr lvl="1"/>
            <a:r>
              <a:rPr lang="zh-CN" altLang="en-US" dirty="0"/>
              <a:t>未定义的行为</a:t>
            </a:r>
            <a:endParaRPr lang="en-US" altLang="zh-CN" dirty="0"/>
          </a:p>
          <a:p>
            <a:pPr marL="952500" lvl="2"/>
            <a:r>
              <a:rPr lang="en-US" altLang="zh-CN" dirty="0"/>
              <a:t>Shift amount &lt; 0 or ≥ word size</a:t>
            </a:r>
          </a:p>
        </p:txBody>
      </p:sp>
      <p:grpSp>
        <p:nvGrpSpPr>
          <p:cNvPr id="14341" name="Group 4"/>
          <p:cNvGrpSpPr>
            <a:grpSpLocks/>
          </p:cNvGrpSpPr>
          <p:nvPr/>
        </p:nvGrpSpPr>
        <p:grpSpPr bwMode="auto">
          <a:xfrm>
            <a:off x="6172200" y="1600200"/>
            <a:ext cx="2743200" cy="1371600"/>
            <a:chOff x="3408" y="864"/>
            <a:chExt cx="1728" cy="864"/>
          </a:xfrm>
        </p:grpSpPr>
        <p:sp>
          <p:nvSpPr>
            <p:cNvPr id="14349" name="Rectangle 5"/>
            <p:cNvSpPr>
              <a:spLocks noChangeArrowheads="1"/>
            </p:cNvSpPr>
            <p:nvPr/>
          </p:nvSpPr>
          <p:spPr bwMode="auto">
            <a:xfrm>
              <a:off x="4272" y="86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charset="0"/>
                </a:rPr>
                <a:t>01100010</a:t>
              </a:r>
            </a:p>
          </p:txBody>
        </p:sp>
        <p:sp>
          <p:nvSpPr>
            <p:cNvPr id="14350" name="Rectangle 6"/>
            <p:cNvSpPr>
              <a:spLocks noChangeArrowheads="1"/>
            </p:cNvSpPr>
            <p:nvPr/>
          </p:nvSpPr>
          <p:spPr bwMode="auto">
            <a:xfrm>
              <a:off x="3408" y="86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charset="0"/>
                </a:rPr>
                <a:t>Argument </a:t>
              </a:r>
              <a:r>
                <a:rPr lang="en-US" altLang="zh-CN" sz="1800" b="0">
                  <a:latin typeface="Courier New" charset="0"/>
                </a:rPr>
                <a:t>x</a:t>
              </a:r>
              <a:endParaRPr lang="en-US" altLang="zh-CN" sz="1800" b="0">
                <a:latin typeface="Helvetica" charset="0"/>
              </a:endParaRPr>
            </a:p>
          </p:txBody>
        </p:sp>
        <p:sp>
          <p:nvSpPr>
            <p:cNvPr id="14351" name="Rectangle 7"/>
            <p:cNvSpPr>
              <a:spLocks noChangeArrowheads="1"/>
            </p:cNvSpPr>
            <p:nvPr/>
          </p:nvSpPr>
          <p:spPr bwMode="auto">
            <a:xfrm>
              <a:off x="4272" y="1152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Courier New" charset="0"/>
                </a:rPr>
                <a:t>00</a:t>
              </a:r>
              <a:r>
                <a:rPr lang="en-US" altLang="zh-CN" sz="1800" b="0">
                  <a:latin typeface="Courier New" charset="0"/>
                </a:rPr>
                <a:t>011000</a:t>
              </a:r>
            </a:p>
          </p:txBody>
        </p:sp>
        <p:sp>
          <p:nvSpPr>
            <p:cNvPr id="14352" name="Rectangle 8"/>
            <p:cNvSpPr>
              <a:spLocks noChangeArrowheads="1"/>
            </p:cNvSpPr>
            <p:nvPr/>
          </p:nvSpPr>
          <p:spPr bwMode="auto">
            <a:xfrm>
              <a:off x="3408" y="1152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charset="0"/>
                </a:rPr>
                <a:t>Log. </a:t>
              </a:r>
              <a:r>
                <a:rPr lang="en-US" altLang="zh-CN" sz="1800" b="0">
                  <a:latin typeface="Courier New" charset="0"/>
                </a:rPr>
                <a:t>&gt;&gt; 2</a:t>
              </a:r>
            </a:p>
          </p:txBody>
        </p:sp>
        <p:sp>
          <p:nvSpPr>
            <p:cNvPr id="14353" name="Rectangle 9"/>
            <p:cNvSpPr>
              <a:spLocks noChangeArrowheads="1"/>
            </p:cNvSpPr>
            <p:nvPr/>
          </p:nvSpPr>
          <p:spPr bwMode="auto">
            <a:xfrm>
              <a:off x="4272" y="1440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Courier New" charset="0"/>
                </a:rPr>
                <a:t>00</a:t>
              </a:r>
              <a:r>
                <a:rPr lang="en-US" altLang="zh-CN" sz="1800" b="0">
                  <a:latin typeface="Courier New" charset="0"/>
                </a:rPr>
                <a:t>011000</a:t>
              </a:r>
            </a:p>
          </p:txBody>
        </p:sp>
        <p:sp>
          <p:nvSpPr>
            <p:cNvPr id="14354" name="Rectangle 10"/>
            <p:cNvSpPr>
              <a:spLocks noChangeArrowheads="1"/>
            </p:cNvSpPr>
            <p:nvPr/>
          </p:nvSpPr>
          <p:spPr bwMode="auto">
            <a:xfrm>
              <a:off x="3408" y="1440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charset="0"/>
                </a:rPr>
                <a:t>Arith. </a:t>
              </a:r>
              <a:r>
                <a:rPr lang="en-US" altLang="zh-CN" sz="1800" b="0">
                  <a:latin typeface="Courier New" charset="0"/>
                </a:rPr>
                <a:t>&gt;&gt; 2</a:t>
              </a:r>
            </a:p>
          </p:txBody>
        </p:sp>
      </p:grpSp>
      <p:grpSp>
        <p:nvGrpSpPr>
          <p:cNvPr id="14342" name="Group 11"/>
          <p:cNvGrpSpPr>
            <a:grpSpLocks/>
          </p:cNvGrpSpPr>
          <p:nvPr/>
        </p:nvGrpSpPr>
        <p:grpSpPr bwMode="auto">
          <a:xfrm>
            <a:off x="6172200" y="3581400"/>
            <a:ext cx="2743200" cy="1371600"/>
            <a:chOff x="3408" y="2256"/>
            <a:chExt cx="1728" cy="864"/>
          </a:xfrm>
        </p:grpSpPr>
        <p:sp>
          <p:nvSpPr>
            <p:cNvPr id="14343" name="Rectangle 12"/>
            <p:cNvSpPr>
              <a:spLocks noChangeArrowheads="1"/>
            </p:cNvSpPr>
            <p:nvPr/>
          </p:nvSpPr>
          <p:spPr bwMode="auto">
            <a:xfrm>
              <a:off x="4272" y="225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Courier New" charset="0"/>
                </a:rPr>
                <a:t>10100010</a:t>
              </a:r>
            </a:p>
          </p:txBody>
        </p:sp>
        <p:sp>
          <p:nvSpPr>
            <p:cNvPr id="14344" name="Rectangle 13"/>
            <p:cNvSpPr>
              <a:spLocks noChangeArrowheads="1"/>
            </p:cNvSpPr>
            <p:nvPr/>
          </p:nvSpPr>
          <p:spPr bwMode="auto">
            <a:xfrm>
              <a:off x="3408" y="2256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charset="0"/>
                </a:rPr>
                <a:t>Argument </a:t>
              </a:r>
              <a:r>
                <a:rPr lang="en-US" altLang="zh-CN" sz="1800" b="0">
                  <a:latin typeface="Courier New" charset="0"/>
                </a:rPr>
                <a:t>x</a:t>
              </a:r>
              <a:endParaRPr lang="en-US" altLang="zh-CN" sz="1800" b="0">
                <a:latin typeface="Helvetica" charset="0"/>
              </a:endParaRPr>
            </a:p>
          </p:txBody>
        </p:sp>
        <p:sp>
          <p:nvSpPr>
            <p:cNvPr id="14345" name="Rectangle 14"/>
            <p:cNvSpPr>
              <a:spLocks noChangeArrowheads="1"/>
            </p:cNvSpPr>
            <p:nvPr/>
          </p:nvSpPr>
          <p:spPr bwMode="auto">
            <a:xfrm>
              <a:off x="4272" y="254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Courier New" charset="0"/>
                </a:rPr>
                <a:t>00</a:t>
              </a:r>
              <a:r>
                <a:rPr lang="en-US" altLang="zh-CN" sz="1800" b="0">
                  <a:latin typeface="Courier New" charset="0"/>
                </a:rPr>
                <a:t>101000</a:t>
              </a:r>
            </a:p>
          </p:txBody>
        </p:sp>
        <p:sp>
          <p:nvSpPr>
            <p:cNvPr id="14346" name="Rectangle 15"/>
            <p:cNvSpPr>
              <a:spLocks noChangeArrowheads="1"/>
            </p:cNvSpPr>
            <p:nvPr/>
          </p:nvSpPr>
          <p:spPr bwMode="auto">
            <a:xfrm>
              <a:off x="3408" y="2544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charset="0"/>
                </a:rPr>
                <a:t>Log. </a:t>
              </a:r>
              <a:r>
                <a:rPr lang="en-US" altLang="zh-CN" sz="1800" b="0">
                  <a:latin typeface="Courier New" charset="0"/>
                </a:rPr>
                <a:t>&gt;&gt; 2</a:t>
              </a:r>
            </a:p>
          </p:txBody>
        </p:sp>
        <p:sp>
          <p:nvSpPr>
            <p:cNvPr id="14347" name="Rectangle 16"/>
            <p:cNvSpPr>
              <a:spLocks noChangeArrowheads="1"/>
            </p:cNvSpPr>
            <p:nvPr/>
          </p:nvSpPr>
          <p:spPr bwMode="auto">
            <a:xfrm>
              <a:off x="4272" y="2832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Courier New" charset="0"/>
                </a:rPr>
                <a:t>11</a:t>
              </a:r>
              <a:r>
                <a:rPr lang="en-US" altLang="zh-CN" sz="1800" b="0">
                  <a:latin typeface="Courier New" charset="0"/>
                </a:rPr>
                <a:t>101000</a:t>
              </a:r>
            </a:p>
          </p:txBody>
        </p:sp>
        <p:sp>
          <p:nvSpPr>
            <p:cNvPr id="14348" name="Rectangle 17"/>
            <p:cNvSpPr>
              <a:spLocks noChangeArrowheads="1"/>
            </p:cNvSpPr>
            <p:nvPr/>
          </p:nvSpPr>
          <p:spPr bwMode="auto">
            <a:xfrm>
              <a:off x="3408" y="2832"/>
              <a:ext cx="864" cy="2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Helvetica" charset="0"/>
                </a:rPr>
                <a:t>Arith. </a:t>
              </a:r>
              <a:r>
                <a:rPr lang="en-US" altLang="zh-CN" sz="1800" b="0">
                  <a:latin typeface="Courier New" charset="0"/>
                </a:rPr>
                <a:t>&gt;&gt;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3484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F83F22-73C0-EB46-8D9D-DC0FCCBF266F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Shift Operations in C</a:t>
            </a:r>
            <a:endParaRPr lang="en-US" altLang="zh-CN">
              <a:ea typeface="宋体" charset="-122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8006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What happens ?</a:t>
            </a:r>
          </a:p>
          <a:p>
            <a:pPr lvl="1">
              <a:defRPr/>
            </a:pPr>
            <a:r>
              <a:rPr lang="en-US" altLang="zh-CN" dirty="0" err="1">
                <a:latin typeface="Times New Roman" pitchFamily="18" charset="0"/>
                <a:ea typeface="+mn-ea"/>
                <a:cs typeface="Times New Roman" pitchFamily="18" charset="0"/>
              </a:rPr>
              <a:t>int</a:t>
            </a: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altLang="zh-CN" dirty="0" err="1">
                <a:latin typeface="Times New Roman" pitchFamily="18" charset="0"/>
                <a:ea typeface="+mn-ea"/>
                <a:cs typeface="Times New Roman" pitchFamily="18" charset="0"/>
              </a:rPr>
              <a:t>lval</a:t>
            </a: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 = 0xFEDCBA98 &lt;&lt; 32;</a:t>
            </a:r>
          </a:p>
          <a:p>
            <a:pPr lvl="1">
              <a:defRPr/>
            </a:pPr>
            <a:r>
              <a:rPr lang="en-US" altLang="zh-CN" dirty="0" err="1">
                <a:latin typeface="Times New Roman" pitchFamily="18" charset="0"/>
                <a:ea typeface="+mn-ea"/>
                <a:cs typeface="Times New Roman" pitchFamily="18" charset="0"/>
              </a:rPr>
              <a:t>int</a:t>
            </a: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altLang="zh-CN" dirty="0" err="1">
                <a:latin typeface="Times New Roman" pitchFamily="18" charset="0"/>
                <a:ea typeface="+mn-ea"/>
                <a:cs typeface="Times New Roman" pitchFamily="18" charset="0"/>
              </a:rPr>
              <a:t>aval</a:t>
            </a: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 = 0xFEDCBA98 &gt;&gt; 36;</a:t>
            </a:r>
          </a:p>
          <a:p>
            <a:pPr lvl="1">
              <a:defRPr/>
            </a:pP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unsigned </a:t>
            </a:r>
            <a:r>
              <a:rPr lang="en-US" altLang="zh-CN" dirty="0" err="1">
                <a:latin typeface="Times New Roman" pitchFamily="18" charset="0"/>
                <a:ea typeface="+mn-ea"/>
                <a:cs typeface="Times New Roman" pitchFamily="18" charset="0"/>
              </a:rPr>
              <a:t>uval</a:t>
            </a: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 = 0xFEDCBA98u &gt;&gt; 40;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It may be </a:t>
            </a:r>
          </a:p>
          <a:p>
            <a:pPr lvl="1">
              <a:defRPr/>
            </a:pPr>
            <a:r>
              <a:rPr lang="en-US" altLang="zh-CN" dirty="0" err="1">
                <a:latin typeface="Times New Roman" pitchFamily="18" charset="0"/>
                <a:ea typeface="+mn-ea"/>
                <a:cs typeface="Times New Roman" pitchFamily="18" charset="0"/>
              </a:rPr>
              <a:t>lval</a:t>
            </a: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 	0xFEDCBA98     (0)</a:t>
            </a:r>
          </a:p>
          <a:p>
            <a:pPr lvl="1">
              <a:defRPr/>
            </a:pPr>
            <a:r>
              <a:rPr lang="en-US" altLang="zh-CN" dirty="0" err="1">
                <a:latin typeface="Times New Roman" pitchFamily="18" charset="0"/>
                <a:ea typeface="+mn-ea"/>
                <a:cs typeface="Times New Roman" pitchFamily="18" charset="0"/>
              </a:rPr>
              <a:t>aval</a:t>
            </a: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 	0xFFEDCBA9     (4)</a:t>
            </a:r>
          </a:p>
          <a:p>
            <a:pPr lvl="1">
              <a:defRPr/>
            </a:pPr>
            <a:r>
              <a:rPr lang="en-US" altLang="zh-CN" dirty="0" err="1">
                <a:latin typeface="Times New Roman" pitchFamily="18" charset="0"/>
                <a:ea typeface="+mn-ea"/>
                <a:cs typeface="Times New Roman" pitchFamily="18" charset="0"/>
              </a:rPr>
              <a:t>uval</a:t>
            </a: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 	0x00FEDCBA     (8)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Be careful about</a:t>
            </a:r>
          </a:p>
          <a:p>
            <a:pPr lvl="1">
              <a:defRPr/>
            </a:pP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1&lt;&lt;2 + 3&lt;&lt;4  means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1&lt;&lt;(2 + 3)&lt;&lt;4 </a:t>
            </a:r>
            <a:endParaRPr lang="en-US" altLang="zh-CN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570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D0418-1D59-7B7D-2415-D8CF3366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181C96-5641-4AC3-13C4-1E2A4CB85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Bit, Group of Bits (Byte)</a:t>
            </a:r>
          </a:p>
          <a:p>
            <a:r>
              <a:rPr kumimoji="1" lang="zh-CN" altLang="en-US" dirty="0"/>
              <a:t>进制转换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10</a:t>
            </a:r>
            <a:r>
              <a:rPr kumimoji="1" lang="zh-CN" altLang="en-US" dirty="0"/>
              <a:t> </a:t>
            </a:r>
            <a:r>
              <a:rPr kumimoji="1" lang="en-US" altLang="zh-CN" dirty="0">
                <a:sym typeface="Wingdings" pitchFamily="2" charset="2"/>
              </a:rPr>
              <a:t> 2</a:t>
            </a:r>
            <a:r>
              <a:rPr kumimoji="1" lang="zh-CN" altLang="en-US" dirty="0">
                <a:sym typeface="Wingdings" pitchFamily="2" charset="2"/>
              </a:rPr>
              <a:t>、</a:t>
            </a:r>
            <a:r>
              <a:rPr kumimoji="1" lang="en-US" altLang="zh-CN" dirty="0">
                <a:sym typeface="Wingdings" pitchFamily="2" charset="2"/>
              </a:rPr>
              <a:t>8</a:t>
            </a:r>
            <a:r>
              <a:rPr kumimoji="1" lang="zh-CN" altLang="en-US" dirty="0">
                <a:sym typeface="Wingdings" pitchFamily="2" charset="2"/>
              </a:rPr>
              <a:t>、</a:t>
            </a:r>
            <a:r>
              <a:rPr kumimoji="1" lang="en-US" altLang="zh-CN" dirty="0">
                <a:sym typeface="Wingdings" pitchFamily="2" charset="2"/>
              </a:rPr>
              <a:t>16</a:t>
            </a:r>
            <a:endParaRPr kumimoji="1" lang="en-US" altLang="zh-CN" dirty="0"/>
          </a:p>
          <a:p>
            <a:r>
              <a:rPr kumimoji="1" lang="zh-CN" altLang="en-US" dirty="0"/>
              <a:t>位运算</a:t>
            </a:r>
            <a:endParaRPr kumimoji="1" lang="en-US" altLang="zh-CN" dirty="0"/>
          </a:p>
          <a:p>
            <a:pPr lvl="1"/>
            <a:r>
              <a:rPr kumimoji="1" lang="zh-CN" altLang="en-US"/>
              <a:t>布尔代数</a:t>
            </a:r>
            <a:endParaRPr kumimoji="1" lang="en-US" altLang="zh-CN"/>
          </a:p>
          <a:p>
            <a:pPr lvl="1"/>
            <a:r>
              <a:rPr kumimoji="1" lang="en-US" altLang="zh-CN" dirty="0"/>
              <a:t>C</a:t>
            </a:r>
            <a:r>
              <a:rPr kumimoji="1" lang="zh-CN" altLang="en-US" dirty="0"/>
              <a:t>语言的位运算操作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利用并行，提升效率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0A207E-33F6-E57E-5E06-29D41721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FA67D-B099-8F4A-B08B-B4F2D54A9FA5}" type="slidenum">
              <a:rPr lang="zh-CN" altLang="en-US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1733344"/>
      </p:ext>
    </p:extLst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  <a:txDef>
      <a:spPr bwMode="auto">
        <a:noFill/>
        <a:ln w="19050">
          <a:noFill/>
          <a:miter lim="800000"/>
          <a:headEnd/>
          <a:tailEnd type="none" w="sm" len="sm"/>
        </a:ln>
      </a:spPr>
      <a:bodyPr wrap="none" lIns="47965" tIns="47965" rIns="47965" bIns="47965">
        <a:spAutoFit/>
      </a:bodyPr>
      <a:lstStyle>
        <a:defPPr algn="r" defTabSz="958850">
          <a:buFontTx/>
          <a:buNone/>
          <a:defRPr dirty="0"/>
        </a:defPPr>
      </a:lstStyle>
    </a:tx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-2-bits" id="{81389914-356F-7644-A318-D05262B2A51D}" vid="{002A92C8-42FF-8A47-B7D7-10F20D836AC6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1-2-bits</Template>
  <TotalTime>806</TotalTime>
  <Words>2875</Words>
  <Application>Microsoft Macintosh PowerPoint</Application>
  <PresentationFormat>全屏显示(4:3)</PresentationFormat>
  <Paragraphs>630</Paragraphs>
  <Slides>52</Slides>
  <Notes>39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7" baseType="lpstr">
      <vt:lpstr>SimHei</vt:lpstr>
      <vt:lpstr>宋体</vt:lpstr>
      <vt:lpstr>Arial</vt:lpstr>
      <vt:lpstr>Calibri</vt:lpstr>
      <vt:lpstr>Century Schoolbook</vt:lpstr>
      <vt:lpstr>Comic Sans MS</vt:lpstr>
      <vt:lpstr>Courier New</vt:lpstr>
      <vt:lpstr>Helvetica</vt:lpstr>
      <vt:lpstr>Monaco</vt:lpstr>
      <vt:lpstr>Times New Roman</vt:lpstr>
      <vt:lpstr>Wingdings</vt:lpstr>
      <vt:lpstr>Wingdings 2</vt:lpstr>
      <vt:lpstr>icfp99</vt:lpstr>
      <vt:lpstr>Document</vt:lpstr>
      <vt:lpstr>文档</vt:lpstr>
      <vt:lpstr>信息的表示和处理(1)</vt:lpstr>
      <vt:lpstr>Outline</vt:lpstr>
      <vt:lpstr>Why Bit?</vt:lpstr>
      <vt:lpstr>Why Bit?</vt:lpstr>
      <vt:lpstr>Why Bit?</vt:lpstr>
      <vt:lpstr>Group Bits</vt:lpstr>
      <vt:lpstr>bitmap和bloomfilter</vt:lpstr>
      <vt:lpstr>Group Bits</vt:lpstr>
      <vt:lpstr>Value of Bits</vt:lpstr>
      <vt:lpstr>Group bits as numbers  Three encodings</vt:lpstr>
      <vt:lpstr>‘int’ is not integer</vt:lpstr>
      <vt:lpstr>‘float’ is not real number</vt:lpstr>
      <vt:lpstr>Example Data Representations</vt:lpstr>
      <vt:lpstr>进制转换</vt:lpstr>
      <vt:lpstr>进制转换</vt:lpstr>
      <vt:lpstr>进制转换</vt:lpstr>
      <vt:lpstr>进制转换</vt:lpstr>
      <vt:lpstr>进制转换</vt:lpstr>
      <vt:lpstr>Hexadecimal</vt:lpstr>
      <vt:lpstr>Hexadecimal</vt:lpstr>
      <vt:lpstr>Hexadecimal vs. Binary</vt:lpstr>
      <vt:lpstr>Hexadecimal vs. Decimal</vt:lpstr>
      <vt:lpstr>Hexadecimal vs. Binary</vt:lpstr>
      <vt:lpstr>Decimal, Hexadecimal, Binary</vt:lpstr>
      <vt:lpstr>Octal</vt:lpstr>
      <vt:lpstr>Octal</vt:lpstr>
      <vt:lpstr>Bit-level operations</vt:lpstr>
      <vt:lpstr>Boolean Algebra</vt:lpstr>
      <vt:lpstr>Boolean Algebra</vt:lpstr>
      <vt:lpstr>General Boolean Algebras</vt:lpstr>
      <vt:lpstr>General Boolean Algebras</vt:lpstr>
      <vt:lpstr>RGB Color Model</vt:lpstr>
      <vt:lpstr>RGB Color Model</vt:lpstr>
      <vt:lpstr>RGB Color Model</vt:lpstr>
      <vt:lpstr>Bit-Level Operations in C</vt:lpstr>
      <vt:lpstr>Bit-Level Operations in C</vt:lpstr>
      <vt:lpstr>Cool Stuff with Xor</vt:lpstr>
      <vt:lpstr>Cool Stuff with Xor</vt:lpstr>
      <vt:lpstr>Cool Stuff with Xor</vt:lpstr>
      <vt:lpstr>Cool Stuff with Xor</vt:lpstr>
      <vt:lpstr>Mask Operations</vt:lpstr>
      <vt:lpstr>Mask Operations</vt:lpstr>
      <vt:lpstr>Mask Operations</vt:lpstr>
      <vt:lpstr>Mask Operations</vt:lpstr>
      <vt:lpstr>Mask Operations</vt:lpstr>
      <vt:lpstr>Logical Operations in C</vt:lpstr>
      <vt:lpstr>Logical Operations in C</vt:lpstr>
      <vt:lpstr>Short Cut in Logical Operations </vt:lpstr>
      <vt:lpstr>Shift Operations in C</vt:lpstr>
      <vt:lpstr>Shift Operations in C</vt:lpstr>
      <vt:lpstr>Shift Operations in C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信息的表示和处理</dc:title>
  <dc:creator>Microsoft Office 用户</dc:creator>
  <cp:lastModifiedBy>7025</cp:lastModifiedBy>
  <cp:revision>181</cp:revision>
  <dcterms:created xsi:type="dcterms:W3CDTF">2018-09-03T08:52:42Z</dcterms:created>
  <dcterms:modified xsi:type="dcterms:W3CDTF">2024-09-13T21:34:09Z</dcterms:modified>
</cp:coreProperties>
</file>