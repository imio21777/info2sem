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310" r:id="rId2"/>
    <p:sldId id="319" r:id="rId3"/>
    <p:sldId id="321" r:id="rId4"/>
    <p:sldId id="1441" r:id="rId5"/>
    <p:sldId id="1442" r:id="rId6"/>
    <p:sldId id="1450" r:id="rId7"/>
    <p:sldId id="1451" r:id="rId8"/>
    <p:sldId id="1452" r:id="rId9"/>
    <p:sldId id="1453" r:id="rId10"/>
    <p:sldId id="1454" r:id="rId11"/>
    <p:sldId id="1443" r:id="rId12"/>
    <p:sldId id="1444" r:id="rId13"/>
    <p:sldId id="1445" r:id="rId14"/>
    <p:sldId id="1446" r:id="rId15"/>
    <p:sldId id="1447" r:id="rId16"/>
    <p:sldId id="1448" r:id="rId17"/>
    <p:sldId id="1449" r:id="rId18"/>
    <p:sldId id="1458" r:id="rId19"/>
    <p:sldId id="1455" r:id="rId20"/>
    <p:sldId id="1456" r:id="rId21"/>
    <p:sldId id="1457" r:id="rId22"/>
    <p:sldId id="1506" r:id="rId23"/>
    <p:sldId id="1507" r:id="rId24"/>
    <p:sldId id="1459" r:id="rId25"/>
    <p:sldId id="1460" r:id="rId26"/>
    <p:sldId id="1461" r:id="rId27"/>
    <p:sldId id="1463" r:id="rId28"/>
    <p:sldId id="1462" r:id="rId29"/>
    <p:sldId id="1464" r:id="rId30"/>
    <p:sldId id="1465" r:id="rId31"/>
    <p:sldId id="1466" r:id="rId32"/>
    <p:sldId id="1469" r:id="rId33"/>
    <p:sldId id="1470" r:id="rId34"/>
    <p:sldId id="1471" r:id="rId35"/>
    <p:sldId id="1472" r:id="rId36"/>
    <p:sldId id="1473" r:id="rId37"/>
    <p:sldId id="1474" r:id="rId38"/>
    <p:sldId id="1477" r:id="rId39"/>
    <p:sldId id="1475" r:id="rId40"/>
    <p:sldId id="1478" r:id="rId41"/>
    <p:sldId id="1479" r:id="rId42"/>
    <p:sldId id="1480" r:id="rId43"/>
    <p:sldId id="1481" r:id="rId44"/>
    <p:sldId id="1484" r:id="rId45"/>
    <p:sldId id="1485" r:id="rId46"/>
    <p:sldId id="1486" r:id="rId47"/>
    <p:sldId id="1487" r:id="rId48"/>
    <p:sldId id="1488" r:id="rId49"/>
    <p:sldId id="1489" r:id="rId50"/>
    <p:sldId id="1490" r:id="rId51"/>
    <p:sldId id="1491" r:id="rId52"/>
    <p:sldId id="1492" r:id="rId53"/>
    <p:sldId id="1493" r:id="rId54"/>
    <p:sldId id="1494" r:id="rId55"/>
    <p:sldId id="1482" r:id="rId56"/>
    <p:sldId id="1495" r:id="rId57"/>
    <p:sldId id="1496" r:id="rId58"/>
    <p:sldId id="1497" r:id="rId59"/>
    <p:sldId id="1499" r:id="rId60"/>
    <p:sldId id="1498" r:id="rId61"/>
    <p:sldId id="1500" r:id="rId62"/>
    <p:sldId id="1501" r:id="rId63"/>
    <p:sldId id="1502" r:id="rId64"/>
    <p:sldId id="1503" r:id="rId65"/>
    <p:sldId id="1504" r:id="rId66"/>
    <p:sldId id="1505" r:id="rId67"/>
    <p:sldId id="297" r:id="rId6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5EB0"/>
    <a:srgbClr val="FFFFFF"/>
    <a:srgbClr val="FF6300"/>
    <a:srgbClr val="009899"/>
    <a:srgbClr val="2DD3C2"/>
    <a:srgbClr val="F87A00"/>
    <a:srgbClr val="153943"/>
    <a:srgbClr val="235F6F"/>
    <a:srgbClr val="FF6D68"/>
    <a:srgbClr val="2540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5BE263C-DBD7-4A20-BB59-AAB30ACAA65A}" styleName="中度样式 3 - 强调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58" autoAdjust="0"/>
    <p:restoredTop sz="94459" autoAdjust="0"/>
  </p:normalViewPr>
  <p:slideViewPr>
    <p:cSldViewPr showGuides="1">
      <p:cViewPr varScale="1">
        <p:scale>
          <a:sx n="180" d="100"/>
          <a:sy n="180" d="100"/>
        </p:scale>
        <p:origin x="1064" y="48"/>
      </p:cViewPr>
      <p:guideLst>
        <p:guide orient="horz" pos="2160"/>
        <p:guide pos="2880"/>
      </p:guideLst>
    </p:cSldViewPr>
  </p:slideViewPr>
  <p:notesTextViewPr>
    <p:cViewPr>
      <p:scale>
        <a:sx n="1" d="1"/>
        <a:sy n="1" d="1"/>
      </p:scale>
      <p:origin x="0" y="0"/>
    </p:cViewPr>
  </p:notesTextViewPr>
  <p:sorterViewPr>
    <p:cViewPr>
      <p:scale>
        <a:sx n="139" d="100"/>
        <a:sy n="139"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463379-9F64-4630-BF61-06A11BE86AD3}" type="datetimeFigureOut">
              <a:rPr lang="zh-CN" altLang="en-US" smtClean="0"/>
              <a:t>2024/12/6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6CEBB1-29F6-4DD0-A20A-49F07B6D6B29}" type="slidenum">
              <a:rPr lang="zh-CN" altLang="en-US" smtClean="0"/>
              <a:t>‹#›</a:t>
            </a:fld>
            <a:endParaRPr lang="zh-CN" altLang="en-US"/>
          </a:p>
        </p:txBody>
      </p:sp>
    </p:spTree>
    <p:extLst>
      <p:ext uri="{BB962C8B-B14F-4D97-AF65-F5344CB8AC3E}">
        <p14:creationId xmlns:p14="http://schemas.microsoft.com/office/powerpoint/2010/main" val="1027203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6CEBB1-29F6-4DD0-A20A-49F07B6D6B29}" type="slidenum">
              <a:rPr lang="zh-CN" altLang="en-US" smtClean="0"/>
              <a:t>1</a:t>
            </a:fld>
            <a:endParaRPr lang="zh-CN" altLang="en-US"/>
          </a:p>
        </p:txBody>
      </p:sp>
    </p:spTree>
    <p:extLst>
      <p:ext uri="{BB962C8B-B14F-4D97-AF65-F5344CB8AC3E}">
        <p14:creationId xmlns:p14="http://schemas.microsoft.com/office/powerpoint/2010/main" val="2260067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4</a:t>
            </a:fld>
            <a:endParaRPr lang="zh-CN" altLang="en-US"/>
          </a:p>
        </p:txBody>
      </p:sp>
    </p:spTree>
    <p:extLst>
      <p:ext uri="{BB962C8B-B14F-4D97-AF65-F5344CB8AC3E}">
        <p14:creationId xmlns:p14="http://schemas.microsoft.com/office/powerpoint/2010/main" val="2255966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44</a:t>
            </a:fld>
            <a:endParaRPr lang="zh-CN" altLang="en-US"/>
          </a:p>
        </p:txBody>
      </p:sp>
    </p:spTree>
    <p:extLst>
      <p:ext uri="{BB962C8B-B14F-4D97-AF65-F5344CB8AC3E}">
        <p14:creationId xmlns:p14="http://schemas.microsoft.com/office/powerpoint/2010/main" val="19684363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br>
              <a:rPr lang="en-US" altLang="zh-CN" sz="1200" kern="1200" dirty="0">
                <a:solidFill>
                  <a:schemeClr val="tx1"/>
                </a:solidFill>
                <a:effectLst/>
                <a:latin typeface="+mn-lt"/>
                <a:ea typeface="+mn-ea"/>
                <a:cs typeface="+mn-cs"/>
              </a:rPr>
            </a:b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prog:     file format elf64-x86-64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prog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architecture: i386:x86-64, flags 0x00000112: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EXEC_P, HAS_SYMS, D_PAGED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start address 0x00000000004003c0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Program Header: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PHDR off    0x0000000000000040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0x0000000000400040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0x0000000000400040 align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0x00000000000001f8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0x00000000000001f8 flags r-x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INTERP off    0x0000000000000238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0x0000000000400238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0x0000000000400238 align 2**0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0x000000000000001c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0x000000000000001c flags 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LOAD off    0x0000000000000000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0x0000000000400000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0x0000000000400000 align 2**21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0x000000000000069c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0x000000000000069c flags r-x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LOAD off    0x0000000000000df8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0x0000000000600df8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0x0000000000600df8 align 2**21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0x0000000000000228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0x0000000000000230 flags </a:t>
            </a:r>
            <a:r>
              <a:rPr lang="en-US" altLang="zh-CN" sz="1200" kern="1200" dirty="0" err="1">
                <a:solidFill>
                  <a:schemeClr val="tx1"/>
                </a:solidFill>
                <a:effectLst/>
                <a:latin typeface="+mn-lt"/>
                <a:ea typeface="+mn-ea"/>
                <a:cs typeface="+mn-cs"/>
              </a:rPr>
              <a:t>rw</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DYNAMIC off    0x0000000000000e10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0x0000000000600e10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0x0000000000600e10 align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0x00000000000001d0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0x00000000000001d0 flags </a:t>
            </a:r>
            <a:r>
              <a:rPr lang="en-US" altLang="zh-CN" sz="1200" kern="1200" dirty="0" err="1">
                <a:solidFill>
                  <a:schemeClr val="tx1"/>
                </a:solidFill>
                <a:effectLst/>
                <a:latin typeface="+mn-lt"/>
                <a:ea typeface="+mn-ea"/>
                <a:cs typeface="+mn-cs"/>
              </a:rPr>
              <a:t>rw</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NOTE off    0x0000000000000254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0x0000000000400254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0x0000000000400254 align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0x0000000000000044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0x0000000000000044 flags 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EH_FRAME off    0x00000000000005b4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0x00000000004005b4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0x00000000004005b4 align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0x0000000000000034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0x0000000000000034 flags 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STACK off    0x0000000000000000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0x0000000000000000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0x0000000000000000 align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0x0000000000000000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0x0000000000000000 flags </a:t>
            </a:r>
            <a:r>
              <a:rPr lang="en-US" altLang="zh-CN" sz="1200" kern="1200" dirty="0" err="1">
                <a:solidFill>
                  <a:schemeClr val="tx1"/>
                </a:solidFill>
                <a:effectLst/>
                <a:latin typeface="+mn-lt"/>
                <a:ea typeface="+mn-ea"/>
                <a:cs typeface="+mn-cs"/>
              </a:rPr>
              <a:t>rw</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RELRO off    0x0000000000000df8 </a:t>
            </a:r>
            <a:r>
              <a:rPr lang="en-US" altLang="zh-CN" sz="1200" kern="1200" dirty="0" err="1">
                <a:solidFill>
                  <a:schemeClr val="tx1"/>
                </a:solidFill>
                <a:effectLst/>
                <a:latin typeface="+mn-lt"/>
                <a:ea typeface="+mn-ea"/>
                <a:cs typeface="+mn-cs"/>
              </a:rPr>
              <a:t>vaddr</a:t>
            </a:r>
            <a:r>
              <a:rPr lang="en-US" altLang="zh-CN" sz="1200" kern="1200" dirty="0">
                <a:solidFill>
                  <a:schemeClr val="tx1"/>
                </a:solidFill>
                <a:effectLst/>
                <a:latin typeface="+mn-lt"/>
                <a:ea typeface="+mn-ea"/>
                <a:cs typeface="+mn-cs"/>
              </a:rPr>
              <a:t> 0x0000000000600df8 </a:t>
            </a:r>
            <a:r>
              <a:rPr lang="en-US" altLang="zh-CN" sz="1200" kern="1200" dirty="0" err="1">
                <a:solidFill>
                  <a:schemeClr val="tx1"/>
                </a:solidFill>
                <a:effectLst/>
                <a:latin typeface="+mn-lt"/>
                <a:ea typeface="+mn-ea"/>
                <a:cs typeface="+mn-cs"/>
              </a:rPr>
              <a:t>paddr</a:t>
            </a:r>
            <a:r>
              <a:rPr lang="en-US" altLang="zh-CN" sz="1200" kern="1200" dirty="0">
                <a:solidFill>
                  <a:schemeClr val="tx1"/>
                </a:solidFill>
                <a:effectLst/>
                <a:latin typeface="+mn-lt"/>
                <a:ea typeface="+mn-ea"/>
                <a:cs typeface="+mn-cs"/>
              </a:rPr>
              <a:t> 0x0000000000600df8 align 2**0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filesz</a:t>
            </a:r>
            <a:r>
              <a:rPr lang="en-US" altLang="zh-CN" sz="1200" kern="1200" dirty="0">
                <a:solidFill>
                  <a:schemeClr val="tx1"/>
                </a:solidFill>
                <a:effectLst/>
                <a:latin typeface="+mn-lt"/>
                <a:ea typeface="+mn-ea"/>
                <a:cs typeface="+mn-cs"/>
              </a:rPr>
              <a:t> 0x0000000000000208 </a:t>
            </a:r>
            <a:r>
              <a:rPr lang="en-US" altLang="zh-CN" sz="1200" kern="1200" dirty="0" err="1">
                <a:solidFill>
                  <a:schemeClr val="tx1"/>
                </a:solidFill>
                <a:effectLst/>
                <a:latin typeface="+mn-lt"/>
                <a:ea typeface="+mn-ea"/>
                <a:cs typeface="+mn-cs"/>
              </a:rPr>
              <a:t>memsz</a:t>
            </a:r>
            <a:r>
              <a:rPr lang="en-US" altLang="zh-CN" sz="1200" kern="1200" dirty="0">
                <a:solidFill>
                  <a:schemeClr val="tx1"/>
                </a:solidFill>
                <a:effectLst/>
                <a:latin typeface="+mn-lt"/>
                <a:ea typeface="+mn-ea"/>
                <a:cs typeface="+mn-cs"/>
              </a:rPr>
              <a:t> 0x0000000000000208 flags 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Dynamic Section: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NEEDED               libc.so.6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INIT                 0x0000000000400390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FINI                 0x00000000004005a4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INIT_ARRAY           0x0000000000600df8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INIT_ARRAYSZ         0x0000000000000008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FINI_ARRAY           0x0000000000600e00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FINI_ARRAYSZ         0x0000000000000008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GNU_HASH             0x0000000000400298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STRTAB               0x0000000000400300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SYMTAB               0x00000000004002b8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STRSZ                0x0000000000000038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SYMENT               0x0000000000000018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DEBUG                0x0000000000000000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PLTGOT               0x0000000000600fe8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PLTRELSZ             0x0000000000000018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PLTREL               0x0000000000000007</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JMPREL               0x0000000000400378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RELA                 0x0000000000400360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RELASZ               0x0000000000000018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RELAENT              0x0000000000000018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VERNEED              0x0000000000400340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VERNEEDNUM           0x0000000000000001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VERSYM               0x0000000000400338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Version References: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required from libc.so.6: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0x09691a75 0x00 02 GLIBC_2.2.5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Sections:</a:t>
            </a:r>
            <a:endParaRPr lang="zh-CN"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Idx</a:t>
            </a:r>
            <a:r>
              <a:rPr lang="en-US" altLang="zh-CN" sz="1200" kern="1200" dirty="0">
                <a:solidFill>
                  <a:schemeClr val="tx1"/>
                </a:solidFill>
                <a:effectLst/>
                <a:latin typeface="+mn-lt"/>
                <a:ea typeface="+mn-ea"/>
                <a:cs typeface="+mn-cs"/>
              </a:rPr>
              <a:t> Name          Size      VMA               LMA               File off  </a:t>
            </a:r>
            <a:r>
              <a:rPr lang="en-US" altLang="zh-CN" sz="1200" kern="1200" dirty="0" err="1">
                <a:solidFill>
                  <a:schemeClr val="tx1"/>
                </a:solidFill>
                <a:effectLst/>
                <a:latin typeface="+mn-lt"/>
                <a:ea typeface="+mn-ea"/>
                <a:cs typeface="+mn-cs"/>
              </a:rPr>
              <a:t>Algn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0 .</a:t>
            </a:r>
            <a:r>
              <a:rPr lang="en-US" altLang="zh-CN" sz="1200" kern="1200" dirty="0" err="1">
                <a:solidFill>
                  <a:schemeClr val="tx1"/>
                </a:solidFill>
                <a:effectLst/>
                <a:latin typeface="+mn-lt"/>
                <a:ea typeface="+mn-ea"/>
                <a:cs typeface="+mn-cs"/>
              </a:rPr>
              <a:t>interp</a:t>
            </a:r>
            <a:r>
              <a:rPr lang="en-US" altLang="zh-CN" sz="1200" kern="1200" dirty="0">
                <a:solidFill>
                  <a:schemeClr val="tx1"/>
                </a:solidFill>
                <a:effectLst/>
                <a:latin typeface="+mn-lt"/>
                <a:ea typeface="+mn-ea"/>
                <a:cs typeface="+mn-cs"/>
              </a:rPr>
              <a:t>       0000001c  0000000000400238  0000000000400238  00000238  2**0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1 .</a:t>
            </a:r>
            <a:r>
              <a:rPr lang="en-US" altLang="zh-CN" sz="1200" kern="1200" dirty="0" err="1">
                <a:solidFill>
                  <a:schemeClr val="tx1"/>
                </a:solidFill>
                <a:effectLst/>
                <a:latin typeface="+mn-lt"/>
                <a:ea typeface="+mn-ea"/>
                <a:cs typeface="+mn-cs"/>
              </a:rPr>
              <a:t>note.ABI</a:t>
            </a:r>
            <a:r>
              <a:rPr lang="en-US" altLang="zh-CN" sz="1200" kern="1200" dirty="0">
                <a:solidFill>
                  <a:schemeClr val="tx1"/>
                </a:solidFill>
                <a:effectLst/>
                <a:latin typeface="+mn-lt"/>
                <a:ea typeface="+mn-ea"/>
                <a:cs typeface="+mn-cs"/>
              </a:rPr>
              <a:t>-tag 00000020  0000000000400254  0000000000400254  00000254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2 .</a:t>
            </a:r>
            <a:r>
              <a:rPr lang="en-US" altLang="zh-CN" sz="1200" kern="1200" dirty="0" err="1">
                <a:solidFill>
                  <a:schemeClr val="tx1"/>
                </a:solidFill>
                <a:effectLst/>
                <a:latin typeface="+mn-lt"/>
                <a:ea typeface="+mn-ea"/>
                <a:cs typeface="+mn-cs"/>
              </a:rPr>
              <a:t>note.gnu.build</a:t>
            </a:r>
            <a:r>
              <a:rPr lang="en-US" altLang="zh-CN" sz="1200" kern="1200" dirty="0">
                <a:solidFill>
                  <a:schemeClr val="tx1"/>
                </a:solidFill>
                <a:effectLst/>
                <a:latin typeface="+mn-lt"/>
                <a:ea typeface="+mn-ea"/>
                <a:cs typeface="+mn-cs"/>
              </a:rPr>
              <a:t>-id 00000024  0000000000400274  0000000000400274  00000274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3 .</a:t>
            </a:r>
            <a:r>
              <a:rPr lang="en-US" altLang="zh-CN" sz="1200" kern="1200" dirty="0" err="1">
                <a:solidFill>
                  <a:schemeClr val="tx1"/>
                </a:solidFill>
                <a:effectLst/>
                <a:latin typeface="+mn-lt"/>
                <a:ea typeface="+mn-ea"/>
                <a:cs typeface="+mn-cs"/>
              </a:rPr>
              <a:t>gnu.hash</a:t>
            </a:r>
            <a:r>
              <a:rPr lang="en-US" altLang="zh-CN" sz="1200" kern="1200" dirty="0">
                <a:solidFill>
                  <a:schemeClr val="tx1"/>
                </a:solidFill>
                <a:effectLst/>
                <a:latin typeface="+mn-lt"/>
                <a:ea typeface="+mn-ea"/>
                <a:cs typeface="+mn-cs"/>
              </a:rPr>
              <a:t>     0000001c  0000000000400298  0000000000400298  00000298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4 .</a:t>
            </a:r>
            <a:r>
              <a:rPr lang="en-US" altLang="zh-CN" sz="1200" kern="1200" dirty="0" err="1">
                <a:solidFill>
                  <a:schemeClr val="tx1"/>
                </a:solidFill>
                <a:effectLst/>
                <a:latin typeface="+mn-lt"/>
                <a:ea typeface="+mn-ea"/>
                <a:cs typeface="+mn-cs"/>
              </a:rPr>
              <a:t>dynsym</a:t>
            </a:r>
            <a:r>
              <a:rPr lang="en-US" altLang="zh-CN" sz="1200" kern="1200" dirty="0">
                <a:solidFill>
                  <a:schemeClr val="tx1"/>
                </a:solidFill>
                <a:effectLst/>
                <a:latin typeface="+mn-lt"/>
                <a:ea typeface="+mn-ea"/>
                <a:cs typeface="+mn-cs"/>
              </a:rPr>
              <a:t>       00000048  00000000004002b8  </a:t>
            </a:r>
            <a:r>
              <a:rPr lang="en-US" altLang="zh-CN" sz="1200" kern="1200" dirty="0" err="1">
                <a:solidFill>
                  <a:schemeClr val="tx1"/>
                </a:solidFill>
                <a:effectLst/>
                <a:latin typeface="+mn-lt"/>
                <a:ea typeface="+mn-ea"/>
                <a:cs typeface="+mn-cs"/>
              </a:rPr>
              <a:t>00000000004002b8</a:t>
            </a:r>
            <a:r>
              <a:rPr lang="en-US" altLang="zh-CN" sz="1200" kern="1200" dirty="0">
                <a:solidFill>
                  <a:schemeClr val="tx1"/>
                </a:solidFill>
                <a:effectLst/>
                <a:latin typeface="+mn-lt"/>
                <a:ea typeface="+mn-ea"/>
                <a:cs typeface="+mn-cs"/>
              </a:rPr>
              <a:t>  000002b8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5 .</a:t>
            </a:r>
            <a:r>
              <a:rPr lang="en-US" altLang="zh-CN" sz="1200" kern="1200" dirty="0" err="1">
                <a:solidFill>
                  <a:schemeClr val="tx1"/>
                </a:solidFill>
                <a:effectLst/>
                <a:latin typeface="+mn-lt"/>
                <a:ea typeface="+mn-ea"/>
                <a:cs typeface="+mn-cs"/>
              </a:rPr>
              <a:t>dynstr</a:t>
            </a:r>
            <a:r>
              <a:rPr lang="en-US" altLang="zh-CN" sz="1200" kern="1200" dirty="0">
                <a:solidFill>
                  <a:schemeClr val="tx1"/>
                </a:solidFill>
                <a:effectLst/>
                <a:latin typeface="+mn-lt"/>
                <a:ea typeface="+mn-ea"/>
                <a:cs typeface="+mn-cs"/>
              </a:rPr>
              <a:t>       00000038  0000000000400300  0000000000400300  00000300  2**0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6 .</a:t>
            </a:r>
            <a:r>
              <a:rPr lang="en-US" altLang="zh-CN" sz="1200" kern="1200" dirty="0" err="1">
                <a:solidFill>
                  <a:schemeClr val="tx1"/>
                </a:solidFill>
                <a:effectLst/>
                <a:latin typeface="+mn-lt"/>
                <a:ea typeface="+mn-ea"/>
                <a:cs typeface="+mn-cs"/>
              </a:rPr>
              <a:t>gnu.version</a:t>
            </a:r>
            <a:r>
              <a:rPr lang="en-US" altLang="zh-CN" sz="1200" kern="1200" dirty="0">
                <a:solidFill>
                  <a:schemeClr val="tx1"/>
                </a:solidFill>
                <a:effectLst/>
                <a:latin typeface="+mn-lt"/>
                <a:ea typeface="+mn-ea"/>
                <a:cs typeface="+mn-cs"/>
              </a:rPr>
              <a:t>  00000006  0000000000400338  0000000000400338  00000338  2**1</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7 .</a:t>
            </a:r>
            <a:r>
              <a:rPr lang="en-US" altLang="zh-CN" sz="1200" kern="1200" dirty="0" err="1">
                <a:solidFill>
                  <a:schemeClr val="tx1"/>
                </a:solidFill>
                <a:effectLst/>
                <a:latin typeface="+mn-lt"/>
                <a:ea typeface="+mn-ea"/>
                <a:cs typeface="+mn-cs"/>
              </a:rPr>
              <a:t>gnu.version_r</a:t>
            </a:r>
            <a:r>
              <a:rPr lang="en-US" altLang="zh-CN" sz="1200" kern="1200" dirty="0">
                <a:solidFill>
                  <a:schemeClr val="tx1"/>
                </a:solidFill>
                <a:effectLst/>
                <a:latin typeface="+mn-lt"/>
                <a:ea typeface="+mn-ea"/>
                <a:cs typeface="+mn-cs"/>
              </a:rPr>
              <a:t> 00000020  0000000000400340  0000000000400340  00000340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8 .</a:t>
            </a:r>
            <a:r>
              <a:rPr lang="en-US" altLang="zh-CN" sz="1200" kern="1200" dirty="0" err="1">
                <a:solidFill>
                  <a:schemeClr val="tx1"/>
                </a:solidFill>
                <a:effectLst/>
                <a:latin typeface="+mn-lt"/>
                <a:ea typeface="+mn-ea"/>
                <a:cs typeface="+mn-cs"/>
              </a:rPr>
              <a:t>rela.dyn</a:t>
            </a:r>
            <a:r>
              <a:rPr lang="en-US" altLang="zh-CN" sz="1200" kern="1200" dirty="0">
                <a:solidFill>
                  <a:schemeClr val="tx1"/>
                </a:solidFill>
                <a:effectLst/>
                <a:latin typeface="+mn-lt"/>
                <a:ea typeface="+mn-ea"/>
                <a:cs typeface="+mn-cs"/>
              </a:rPr>
              <a:t>     00000018  0000000000400360  0000000000400360  00000360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9 .</a:t>
            </a:r>
            <a:r>
              <a:rPr lang="en-US" altLang="zh-CN" sz="1200" kern="1200" dirty="0" err="1">
                <a:solidFill>
                  <a:schemeClr val="tx1"/>
                </a:solidFill>
                <a:effectLst/>
                <a:latin typeface="+mn-lt"/>
                <a:ea typeface="+mn-ea"/>
                <a:cs typeface="+mn-cs"/>
              </a:rPr>
              <a:t>rela.plt</a:t>
            </a:r>
            <a:r>
              <a:rPr lang="en-US" altLang="zh-CN" sz="1200" kern="1200" dirty="0">
                <a:solidFill>
                  <a:schemeClr val="tx1"/>
                </a:solidFill>
                <a:effectLst/>
                <a:latin typeface="+mn-lt"/>
                <a:ea typeface="+mn-ea"/>
                <a:cs typeface="+mn-cs"/>
              </a:rPr>
              <a:t>     00000018  0000000000400378  0000000000400378  00000378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10 .</a:t>
            </a:r>
            <a:r>
              <a:rPr lang="en-US" altLang="zh-CN" sz="1200" kern="1200" dirty="0" err="1">
                <a:solidFill>
                  <a:schemeClr val="tx1"/>
                </a:solidFill>
                <a:effectLst/>
                <a:latin typeface="+mn-lt"/>
                <a:ea typeface="+mn-ea"/>
                <a:cs typeface="+mn-cs"/>
              </a:rPr>
              <a:t>init</a:t>
            </a:r>
            <a:r>
              <a:rPr lang="en-US" altLang="zh-CN" sz="1200" kern="1200" dirty="0">
                <a:solidFill>
                  <a:schemeClr val="tx1"/>
                </a:solidFill>
                <a:effectLst/>
                <a:latin typeface="+mn-lt"/>
                <a:ea typeface="+mn-ea"/>
                <a:cs typeface="+mn-cs"/>
              </a:rPr>
              <a:t>         0000000e  0000000000400390  0000000000400390  00000390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CODE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11 .</a:t>
            </a:r>
            <a:r>
              <a:rPr lang="en-US" altLang="zh-CN" sz="1200" kern="1200" dirty="0" err="1">
                <a:solidFill>
                  <a:schemeClr val="tx1"/>
                </a:solidFill>
                <a:effectLst/>
                <a:latin typeface="+mn-lt"/>
                <a:ea typeface="+mn-ea"/>
                <a:cs typeface="+mn-cs"/>
              </a:rPr>
              <a:t>plt</a:t>
            </a:r>
            <a:r>
              <a:rPr lang="en-US" altLang="zh-CN" sz="1200" kern="1200" dirty="0">
                <a:solidFill>
                  <a:schemeClr val="tx1"/>
                </a:solidFill>
                <a:effectLst/>
                <a:latin typeface="+mn-lt"/>
                <a:ea typeface="+mn-ea"/>
                <a:cs typeface="+mn-cs"/>
              </a:rPr>
              <a:t>          00000020  00000000004003a0  </a:t>
            </a:r>
            <a:r>
              <a:rPr lang="en-US" altLang="zh-CN" sz="1200" kern="1200" dirty="0" err="1">
                <a:solidFill>
                  <a:schemeClr val="tx1"/>
                </a:solidFill>
                <a:effectLst/>
                <a:latin typeface="+mn-lt"/>
                <a:ea typeface="+mn-ea"/>
                <a:cs typeface="+mn-cs"/>
              </a:rPr>
              <a:t>00000000004003a0</a:t>
            </a:r>
            <a:r>
              <a:rPr lang="en-US" altLang="zh-CN" sz="1200" kern="1200" dirty="0">
                <a:solidFill>
                  <a:schemeClr val="tx1"/>
                </a:solidFill>
                <a:effectLst/>
                <a:latin typeface="+mn-lt"/>
                <a:ea typeface="+mn-ea"/>
                <a:cs typeface="+mn-cs"/>
              </a:rPr>
              <a:t>  000003a0  2**4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CODE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12 .text         000001e4  00000000004003c0  </a:t>
            </a:r>
            <a:r>
              <a:rPr lang="en-US" altLang="zh-CN" sz="1200" kern="1200" dirty="0" err="1">
                <a:solidFill>
                  <a:schemeClr val="tx1"/>
                </a:solidFill>
                <a:effectLst/>
                <a:latin typeface="+mn-lt"/>
                <a:ea typeface="+mn-ea"/>
                <a:cs typeface="+mn-cs"/>
              </a:rPr>
              <a:t>00000000004003c0</a:t>
            </a:r>
            <a:r>
              <a:rPr lang="en-US" altLang="zh-CN" sz="1200" kern="1200" dirty="0">
                <a:solidFill>
                  <a:schemeClr val="tx1"/>
                </a:solidFill>
                <a:effectLst/>
                <a:latin typeface="+mn-lt"/>
                <a:ea typeface="+mn-ea"/>
                <a:cs typeface="+mn-cs"/>
              </a:rPr>
              <a:t>  000003c0  2**4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CODE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13 .</a:t>
            </a:r>
            <a:r>
              <a:rPr lang="en-US" altLang="zh-CN" sz="1200" kern="1200" dirty="0" err="1">
                <a:solidFill>
                  <a:schemeClr val="tx1"/>
                </a:solidFill>
                <a:effectLst/>
                <a:latin typeface="+mn-lt"/>
                <a:ea typeface="+mn-ea"/>
                <a:cs typeface="+mn-cs"/>
              </a:rPr>
              <a:t>fini</a:t>
            </a:r>
            <a:r>
              <a:rPr lang="en-US" altLang="zh-CN" sz="1200" kern="1200" dirty="0">
                <a:solidFill>
                  <a:schemeClr val="tx1"/>
                </a:solidFill>
                <a:effectLst/>
                <a:latin typeface="+mn-lt"/>
                <a:ea typeface="+mn-ea"/>
                <a:cs typeface="+mn-cs"/>
              </a:rPr>
              <a:t>         00000009  00000000004005a4  </a:t>
            </a:r>
            <a:r>
              <a:rPr lang="en-US" altLang="zh-CN" sz="1200" kern="1200" dirty="0" err="1">
                <a:solidFill>
                  <a:schemeClr val="tx1"/>
                </a:solidFill>
                <a:effectLst/>
                <a:latin typeface="+mn-lt"/>
                <a:ea typeface="+mn-ea"/>
                <a:cs typeface="+mn-cs"/>
              </a:rPr>
              <a:t>00000000004005a4</a:t>
            </a:r>
            <a:r>
              <a:rPr lang="en-US" altLang="zh-CN" sz="1200" kern="1200" dirty="0">
                <a:solidFill>
                  <a:schemeClr val="tx1"/>
                </a:solidFill>
                <a:effectLst/>
                <a:latin typeface="+mn-lt"/>
                <a:ea typeface="+mn-ea"/>
                <a:cs typeface="+mn-cs"/>
              </a:rPr>
              <a:t>  000005a4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CODE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14 .</a:t>
            </a:r>
            <a:r>
              <a:rPr lang="en-US" altLang="zh-CN" sz="1200" kern="1200" dirty="0" err="1">
                <a:solidFill>
                  <a:schemeClr val="tx1"/>
                </a:solidFill>
                <a:effectLst/>
                <a:latin typeface="+mn-lt"/>
                <a:ea typeface="+mn-ea"/>
                <a:cs typeface="+mn-cs"/>
              </a:rPr>
              <a:t>rodata</a:t>
            </a:r>
            <a:r>
              <a:rPr lang="en-US" altLang="zh-CN" sz="1200" kern="1200" dirty="0">
                <a:solidFill>
                  <a:schemeClr val="tx1"/>
                </a:solidFill>
                <a:effectLst/>
                <a:latin typeface="+mn-lt"/>
                <a:ea typeface="+mn-ea"/>
                <a:cs typeface="+mn-cs"/>
              </a:rPr>
              <a:t>       00000004  00000000004005b0  </a:t>
            </a:r>
            <a:r>
              <a:rPr lang="en-US" altLang="zh-CN" sz="1200" kern="1200" dirty="0" err="1">
                <a:solidFill>
                  <a:schemeClr val="tx1"/>
                </a:solidFill>
                <a:effectLst/>
                <a:latin typeface="+mn-lt"/>
                <a:ea typeface="+mn-ea"/>
                <a:cs typeface="+mn-cs"/>
              </a:rPr>
              <a:t>00000000004005b0</a:t>
            </a:r>
            <a:r>
              <a:rPr lang="en-US" altLang="zh-CN" sz="1200" kern="1200" dirty="0">
                <a:solidFill>
                  <a:schemeClr val="tx1"/>
                </a:solidFill>
                <a:effectLst/>
                <a:latin typeface="+mn-lt"/>
                <a:ea typeface="+mn-ea"/>
                <a:cs typeface="+mn-cs"/>
              </a:rPr>
              <a:t>  000005b0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15 .</a:t>
            </a:r>
            <a:r>
              <a:rPr lang="en-US" altLang="zh-CN" sz="1200" kern="1200" dirty="0" err="1">
                <a:solidFill>
                  <a:schemeClr val="tx1"/>
                </a:solidFill>
                <a:effectLst/>
                <a:latin typeface="+mn-lt"/>
                <a:ea typeface="+mn-ea"/>
                <a:cs typeface="+mn-cs"/>
              </a:rPr>
              <a:t>eh_frame_hdr</a:t>
            </a:r>
            <a:r>
              <a:rPr lang="en-US" altLang="zh-CN" sz="1200" kern="1200" dirty="0">
                <a:solidFill>
                  <a:schemeClr val="tx1"/>
                </a:solidFill>
                <a:effectLst/>
                <a:latin typeface="+mn-lt"/>
                <a:ea typeface="+mn-ea"/>
                <a:cs typeface="+mn-cs"/>
              </a:rPr>
              <a:t> 00000034  00000000004005b4  </a:t>
            </a:r>
            <a:r>
              <a:rPr lang="en-US" altLang="zh-CN" sz="1200" kern="1200" dirty="0" err="1">
                <a:solidFill>
                  <a:schemeClr val="tx1"/>
                </a:solidFill>
                <a:effectLst/>
                <a:latin typeface="+mn-lt"/>
                <a:ea typeface="+mn-ea"/>
                <a:cs typeface="+mn-cs"/>
              </a:rPr>
              <a:t>00000000004005b4</a:t>
            </a:r>
            <a:r>
              <a:rPr lang="en-US" altLang="zh-CN" sz="1200" kern="1200" dirty="0">
                <a:solidFill>
                  <a:schemeClr val="tx1"/>
                </a:solidFill>
                <a:effectLst/>
                <a:latin typeface="+mn-lt"/>
                <a:ea typeface="+mn-ea"/>
                <a:cs typeface="+mn-cs"/>
              </a:rPr>
              <a:t>  000005b4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16 .</a:t>
            </a:r>
            <a:r>
              <a:rPr lang="en-US" altLang="zh-CN" sz="1200" kern="1200" dirty="0" err="1">
                <a:solidFill>
                  <a:schemeClr val="tx1"/>
                </a:solidFill>
                <a:effectLst/>
                <a:latin typeface="+mn-lt"/>
                <a:ea typeface="+mn-ea"/>
                <a:cs typeface="+mn-cs"/>
              </a:rPr>
              <a:t>eh_frame</a:t>
            </a:r>
            <a:r>
              <a:rPr lang="en-US" altLang="zh-CN" sz="1200" kern="1200" dirty="0">
                <a:solidFill>
                  <a:schemeClr val="tx1"/>
                </a:solidFill>
                <a:effectLst/>
                <a:latin typeface="+mn-lt"/>
                <a:ea typeface="+mn-ea"/>
                <a:cs typeface="+mn-cs"/>
              </a:rPr>
              <a:t>     000000b4  00000000004005e8  </a:t>
            </a:r>
            <a:r>
              <a:rPr lang="en-US" altLang="zh-CN" sz="1200" kern="1200" dirty="0" err="1">
                <a:solidFill>
                  <a:schemeClr val="tx1"/>
                </a:solidFill>
                <a:effectLst/>
                <a:latin typeface="+mn-lt"/>
                <a:ea typeface="+mn-ea"/>
                <a:cs typeface="+mn-cs"/>
              </a:rPr>
              <a:t>00000000004005e8</a:t>
            </a:r>
            <a:r>
              <a:rPr lang="en-US" altLang="zh-CN" sz="1200" kern="1200" dirty="0">
                <a:solidFill>
                  <a:schemeClr val="tx1"/>
                </a:solidFill>
                <a:effectLst/>
                <a:latin typeface="+mn-lt"/>
                <a:ea typeface="+mn-ea"/>
                <a:cs typeface="+mn-cs"/>
              </a:rPr>
              <a:t>  000005e8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READONLY,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17 .</a:t>
            </a:r>
            <a:r>
              <a:rPr lang="en-US" altLang="zh-CN" sz="1200" kern="1200" dirty="0" err="1">
                <a:solidFill>
                  <a:schemeClr val="tx1"/>
                </a:solidFill>
                <a:effectLst/>
                <a:latin typeface="+mn-lt"/>
                <a:ea typeface="+mn-ea"/>
                <a:cs typeface="+mn-cs"/>
              </a:rPr>
              <a:t>init_array</a:t>
            </a:r>
            <a:r>
              <a:rPr lang="en-US" altLang="zh-CN" sz="1200" kern="1200" dirty="0">
                <a:solidFill>
                  <a:schemeClr val="tx1"/>
                </a:solidFill>
                <a:effectLst/>
                <a:latin typeface="+mn-lt"/>
                <a:ea typeface="+mn-ea"/>
                <a:cs typeface="+mn-cs"/>
              </a:rPr>
              <a:t>   00000008  0000000000600df8  </a:t>
            </a:r>
            <a:r>
              <a:rPr lang="en-US" altLang="zh-CN" sz="1200" kern="1200" dirty="0" err="1">
                <a:solidFill>
                  <a:schemeClr val="tx1"/>
                </a:solidFill>
                <a:effectLst/>
                <a:latin typeface="+mn-lt"/>
                <a:ea typeface="+mn-ea"/>
                <a:cs typeface="+mn-cs"/>
              </a:rPr>
              <a:t>0000000000600df8</a:t>
            </a:r>
            <a:r>
              <a:rPr lang="en-US" altLang="zh-CN" sz="1200" kern="1200" dirty="0">
                <a:solidFill>
                  <a:schemeClr val="tx1"/>
                </a:solidFill>
                <a:effectLst/>
                <a:latin typeface="+mn-lt"/>
                <a:ea typeface="+mn-ea"/>
                <a:cs typeface="+mn-cs"/>
              </a:rPr>
              <a:t>  00000df8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18 .</a:t>
            </a:r>
            <a:r>
              <a:rPr lang="en-US" altLang="zh-CN" sz="1200" kern="1200" dirty="0" err="1">
                <a:solidFill>
                  <a:schemeClr val="tx1"/>
                </a:solidFill>
                <a:effectLst/>
                <a:latin typeface="+mn-lt"/>
                <a:ea typeface="+mn-ea"/>
                <a:cs typeface="+mn-cs"/>
              </a:rPr>
              <a:t>fini_array</a:t>
            </a:r>
            <a:r>
              <a:rPr lang="en-US" altLang="zh-CN" sz="1200" kern="1200" dirty="0">
                <a:solidFill>
                  <a:schemeClr val="tx1"/>
                </a:solidFill>
                <a:effectLst/>
                <a:latin typeface="+mn-lt"/>
                <a:ea typeface="+mn-ea"/>
                <a:cs typeface="+mn-cs"/>
              </a:rPr>
              <a:t>   00000008  0000000000600e00  </a:t>
            </a:r>
            <a:r>
              <a:rPr lang="en-US" altLang="zh-CN" sz="1200" kern="1200" dirty="0" err="1">
                <a:solidFill>
                  <a:schemeClr val="tx1"/>
                </a:solidFill>
                <a:effectLst/>
                <a:latin typeface="+mn-lt"/>
                <a:ea typeface="+mn-ea"/>
                <a:cs typeface="+mn-cs"/>
              </a:rPr>
              <a:t>0000000000600e00</a:t>
            </a:r>
            <a:r>
              <a:rPr lang="en-US" altLang="zh-CN" sz="1200" kern="1200" dirty="0">
                <a:solidFill>
                  <a:schemeClr val="tx1"/>
                </a:solidFill>
                <a:effectLst/>
                <a:latin typeface="+mn-lt"/>
                <a:ea typeface="+mn-ea"/>
                <a:cs typeface="+mn-cs"/>
              </a:rPr>
              <a:t>  00000e00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19 .</a:t>
            </a:r>
            <a:r>
              <a:rPr lang="en-US" altLang="zh-CN" sz="1200" kern="1200" dirty="0" err="1">
                <a:solidFill>
                  <a:schemeClr val="tx1"/>
                </a:solidFill>
                <a:effectLst/>
                <a:latin typeface="+mn-lt"/>
                <a:ea typeface="+mn-ea"/>
                <a:cs typeface="+mn-cs"/>
              </a:rPr>
              <a:t>jcr</a:t>
            </a:r>
            <a:r>
              <a:rPr lang="en-US" altLang="zh-CN" sz="1200" kern="1200" dirty="0">
                <a:solidFill>
                  <a:schemeClr val="tx1"/>
                </a:solidFill>
                <a:effectLst/>
                <a:latin typeface="+mn-lt"/>
                <a:ea typeface="+mn-ea"/>
                <a:cs typeface="+mn-cs"/>
              </a:rPr>
              <a:t>          00000008  0000000000600e08  </a:t>
            </a:r>
            <a:r>
              <a:rPr lang="en-US" altLang="zh-CN" sz="1200" kern="1200" dirty="0" err="1">
                <a:solidFill>
                  <a:schemeClr val="tx1"/>
                </a:solidFill>
                <a:effectLst/>
                <a:latin typeface="+mn-lt"/>
                <a:ea typeface="+mn-ea"/>
                <a:cs typeface="+mn-cs"/>
              </a:rPr>
              <a:t>0000000000600e08</a:t>
            </a:r>
            <a:r>
              <a:rPr lang="en-US" altLang="zh-CN" sz="1200" kern="1200" dirty="0">
                <a:solidFill>
                  <a:schemeClr val="tx1"/>
                </a:solidFill>
                <a:effectLst/>
                <a:latin typeface="+mn-lt"/>
                <a:ea typeface="+mn-ea"/>
                <a:cs typeface="+mn-cs"/>
              </a:rPr>
              <a:t>  00000e08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20 .dynamic      000001d0  0000000000600e10  </a:t>
            </a:r>
            <a:r>
              <a:rPr lang="en-US" altLang="zh-CN" sz="1200" kern="1200" dirty="0" err="1">
                <a:solidFill>
                  <a:schemeClr val="tx1"/>
                </a:solidFill>
                <a:effectLst/>
                <a:latin typeface="+mn-lt"/>
                <a:ea typeface="+mn-ea"/>
                <a:cs typeface="+mn-cs"/>
              </a:rPr>
              <a:t>0000000000600e10</a:t>
            </a:r>
            <a:r>
              <a:rPr lang="en-US" altLang="zh-CN" sz="1200" kern="1200" dirty="0">
                <a:solidFill>
                  <a:schemeClr val="tx1"/>
                </a:solidFill>
                <a:effectLst/>
                <a:latin typeface="+mn-lt"/>
                <a:ea typeface="+mn-ea"/>
                <a:cs typeface="+mn-cs"/>
              </a:rPr>
              <a:t>  00000e10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21 .got          00000008  0000000000600fe0  </a:t>
            </a:r>
            <a:r>
              <a:rPr lang="en-US" altLang="zh-CN" sz="1200" kern="1200" dirty="0" err="1">
                <a:solidFill>
                  <a:schemeClr val="tx1"/>
                </a:solidFill>
                <a:effectLst/>
                <a:latin typeface="+mn-lt"/>
                <a:ea typeface="+mn-ea"/>
                <a:cs typeface="+mn-cs"/>
              </a:rPr>
              <a:t>0000000000600fe0</a:t>
            </a:r>
            <a:r>
              <a:rPr lang="en-US" altLang="zh-CN" sz="1200" kern="1200" dirty="0">
                <a:solidFill>
                  <a:schemeClr val="tx1"/>
                </a:solidFill>
                <a:effectLst/>
                <a:latin typeface="+mn-lt"/>
                <a:ea typeface="+mn-ea"/>
                <a:cs typeface="+mn-cs"/>
              </a:rPr>
              <a:t>  00000fe0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22 .</a:t>
            </a:r>
            <a:r>
              <a:rPr lang="en-US" altLang="zh-CN" sz="1200" kern="1200" dirty="0" err="1">
                <a:solidFill>
                  <a:schemeClr val="tx1"/>
                </a:solidFill>
                <a:effectLst/>
                <a:latin typeface="+mn-lt"/>
                <a:ea typeface="+mn-ea"/>
                <a:cs typeface="+mn-cs"/>
              </a:rPr>
              <a:t>got.plt</a:t>
            </a:r>
            <a:r>
              <a:rPr lang="en-US" altLang="zh-CN" sz="1200" kern="1200" dirty="0">
                <a:solidFill>
                  <a:schemeClr val="tx1"/>
                </a:solidFill>
                <a:effectLst/>
                <a:latin typeface="+mn-lt"/>
                <a:ea typeface="+mn-ea"/>
                <a:cs typeface="+mn-cs"/>
              </a:rPr>
              <a:t>      00000020  0000000000600fe8  </a:t>
            </a:r>
            <a:r>
              <a:rPr lang="en-US" altLang="zh-CN" sz="1200" kern="1200" dirty="0" err="1">
                <a:solidFill>
                  <a:schemeClr val="tx1"/>
                </a:solidFill>
                <a:effectLst/>
                <a:latin typeface="+mn-lt"/>
                <a:ea typeface="+mn-ea"/>
                <a:cs typeface="+mn-cs"/>
              </a:rPr>
              <a:t>0000000000600fe8</a:t>
            </a:r>
            <a:r>
              <a:rPr lang="en-US" altLang="zh-CN" sz="1200" kern="1200" dirty="0">
                <a:solidFill>
                  <a:schemeClr val="tx1"/>
                </a:solidFill>
                <a:effectLst/>
                <a:latin typeface="+mn-lt"/>
                <a:ea typeface="+mn-ea"/>
                <a:cs typeface="+mn-cs"/>
              </a:rPr>
              <a:t>  00000fe8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23 .data         00000018  0000000000601008  0000000000601008  00001008  2**3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ALLOC, LOAD,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24 .</a:t>
            </a:r>
            <a:r>
              <a:rPr lang="en-US" altLang="zh-CN" sz="1200" kern="1200" dirty="0" err="1">
                <a:solidFill>
                  <a:schemeClr val="tx1"/>
                </a:solidFill>
                <a:effectLst/>
                <a:latin typeface="+mn-lt"/>
                <a:ea typeface="+mn-ea"/>
                <a:cs typeface="+mn-cs"/>
              </a:rPr>
              <a:t>bss</a:t>
            </a:r>
            <a:r>
              <a:rPr lang="en-US" altLang="zh-CN" sz="1200" kern="1200" dirty="0">
                <a:solidFill>
                  <a:schemeClr val="tx1"/>
                </a:solidFill>
                <a:effectLst/>
                <a:latin typeface="+mn-lt"/>
                <a:ea typeface="+mn-ea"/>
                <a:cs typeface="+mn-cs"/>
              </a:rPr>
              <a:t>          00000008  0000000000601020  0000000000601020  00001020  2**2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ALLOC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25 .comment      00000053  0000000000000000  0000000000000000  00001020  2**0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CONTENTS, READONLY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SYMBOL TABLE: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0000000000400238 l    d  .</a:t>
            </a:r>
            <a:r>
              <a:rPr lang="en-US" altLang="zh-CN" sz="1200" kern="1200" dirty="0" err="1">
                <a:solidFill>
                  <a:schemeClr val="tx1"/>
                </a:solidFill>
                <a:effectLst/>
                <a:latin typeface="+mn-lt"/>
                <a:ea typeface="+mn-ea"/>
                <a:cs typeface="+mn-cs"/>
              </a:rPr>
              <a:t>interp</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interp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0000000000400254 l    d  .</a:t>
            </a:r>
            <a:r>
              <a:rPr lang="en-US" altLang="zh-CN" sz="1200" kern="1200" dirty="0" err="1">
                <a:solidFill>
                  <a:schemeClr val="tx1"/>
                </a:solidFill>
                <a:effectLst/>
                <a:latin typeface="+mn-lt"/>
                <a:ea typeface="+mn-ea"/>
                <a:cs typeface="+mn-cs"/>
              </a:rPr>
              <a:t>note.ABI</a:t>
            </a:r>
            <a:r>
              <a:rPr lang="en-US" altLang="zh-CN" sz="1200" kern="1200" dirty="0">
                <a:solidFill>
                  <a:schemeClr val="tx1"/>
                </a:solidFill>
                <a:effectLst/>
                <a:latin typeface="+mn-lt"/>
                <a:ea typeface="+mn-ea"/>
                <a:cs typeface="+mn-cs"/>
              </a:rPr>
              <a:t>-tag	0000000000000000              .</a:t>
            </a:r>
            <a:r>
              <a:rPr lang="en-US" altLang="zh-CN" sz="1200" kern="1200" dirty="0" err="1">
                <a:solidFill>
                  <a:schemeClr val="tx1"/>
                </a:solidFill>
                <a:effectLst/>
                <a:latin typeface="+mn-lt"/>
                <a:ea typeface="+mn-ea"/>
                <a:cs typeface="+mn-cs"/>
              </a:rPr>
              <a:t>note.ABI</a:t>
            </a:r>
            <a:r>
              <a:rPr lang="en-US" altLang="zh-CN" sz="1200" kern="1200" dirty="0">
                <a:solidFill>
                  <a:schemeClr val="tx1"/>
                </a:solidFill>
                <a:effectLst/>
                <a:latin typeface="+mn-lt"/>
                <a:ea typeface="+mn-ea"/>
                <a:cs typeface="+mn-cs"/>
              </a:rPr>
              <a:t>-tag</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0000000000400274 l    d  .</a:t>
            </a:r>
            <a:r>
              <a:rPr lang="en-US" altLang="zh-CN" sz="1200" kern="1200" dirty="0" err="1">
                <a:solidFill>
                  <a:schemeClr val="tx1"/>
                </a:solidFill>
                <a:effectLst/>
                <a:latin typeface="+mn-lt"/>
                <a:ea typeface="+mn-ea"/>
                <a:cs typeface="+mn-cs"/>
              </a:rPr>
              <a:t>note.gnu.build</a:t>
            </a:r>
            <a:r>
              <a:rPr lang="en-US" altLang="zh-CN" sz="1200" kern="1200" dirty="0">
                <a:solidFill>
                  <a:schemeClr val="tx1"/>
                </a:solidFill>
                <a:effectLst/>
                <a:latin typeface="+mn-lt"/>
                <a:ea typeface="+mn-ea"/>
                <a:cs typeface="+mn-cs"/>
              </a:rPr>
              <a:t>-id	0000000000000000              .</a:t>
            </a:r>
            <a:r>
              <a:rPr lang="en-US" altLang="zh-CN" sz="1200" kern="1200" dirty="0" err="1">
                <a:solidFill>
                  <a:schemeClr val="tx1"/>
                </a:solidFill>
                <a:effectLst/>
                <a:latin typeface="+mn-lt"/>
                <a:ea typeface="+mn-ea"/>
                <a:cs typeface="+mn-cs"/>
              </a:rPr>
              <a:t>note.gnu.build</a:t>
            </a:r>
            <a:r>
              <a:rPr lang="en-US" altLang="zh-CN" sz="1200" kern="1200" dirty="0">
                <a:solidFill>
                  <a:schemeClr val="tx1"/>
                </a:solidFill>
                <a:effectLst/>
                <a:latin typeface="+mn-lt"/>
                <a:ea typeface="+mn-ea"/>
                <a:cs typeface="+mn-cs"/>
              </a:rPr>
              <a:t>-id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0000000000400298 l    d  .</a:t>
            </a:r>
            <a:r>
              <a:rPr lang="en-US" altLang="zh-CN" sz="1200" kern="1200" dirty="0" err="1">
                <a:solidFill>
                  <a:schemeClr val="tx1"/>
                </a:solidFill>
                <a:effectLst/>
                <a:latin typeface="+mn-lt"/>
                <a:ea typeface="+mn-ea"/>
                <a:cs typeface="+mn-cs"/>
              </a:rPr>
              <a:t>gnu.hash</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gnu.hash</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00000000004002b8 l    d  .</a:t>
            </a:r>
            <a:r>
              <a:rPr lang="en-US" altLang="zh-CN" sz="1200" kern="1200" dirty="0" err="1">
                <a:solidFill>
                  <a:schemeClr val="tx1"/>
                </a:solidFill>
                <a:effectLst/>
                <a:latin typeface="+mn-lt"/>
                <a:ea typeface="+mn-ea"/>
                <a:cs typeface="+mn-cs"/>
              </a:rPr>
              <a:t>dynsym</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dynsym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0000000000400300 l    d  .</a:t>
            </a:r>
            <a:r>
              <a:rPr lang="en-US" altLang="zh-CN" sz="1200" kern="1200" dirty="0" err="1">
                <a:solidFill>
                  <a:schemeClr val="tx1"/>
                </a:solidFill>
                <a:effectLst/>
                <a:latin typeface="+mn-lt"/>
                <a:ea typeface="+mn-ea"/>
                <a:cs typeface="+mn-cs"/>
              </a:rPr>
              <a:t>dynstr</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dynstr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0000000000400338 l    d  .</a:t>
            </a:r>
            <a:r>
              <a:rPr lang="en-US" altLang="zh-CN" sz="1200" kern="1200" dirty="0" err="1">
                <a:solidFill>
                  <a:schemeClr val="tx1"/>
                </a:solidFill>
                <a:effectLst/>
                <a:latin typeface="+mn-lt"/>
                <a:ea typeface="+mn-ea"/>
                <a:cs typeface="+mn-cs"/>
              </a:rPr>
              <a:t>gnu.version</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gnu.version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0000000000400340 l    d  .</a:t>
            </a:r>
            <a:r>
              <a:rPr lang="en-US" altLang="zh-CN" sz="1200" kern="1200" dirty="0" err="1">
                <a:solidFill>
                  <a:schemeClr val="tx1"/>
                </a:solidFill>
                <a:effectLst/>
                <a:latin typeface="+mn-lt"/>
                <a:ea typeface="+mn-ea"/>
                <a:cs typeface="+mn-cs"/>
              </a:rPr>
              <a:t>gnu.version_r</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gnu.version_r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0000000000400360 l    d  .</a:t>
            </a:r>
            <a:r>
              <a:rPr lang="en-US" altLang="zh-CN" sz="1200" kern="1200" dirty="0" err="1">
                <a:solidFill>
                  <a:schemeClr val="tx1"/>
                </a:solidFill>
                <a:effectLst/>
                <a:latin typeface="+mn-lt"/>
                <a:ea typeface="+mn-ea"/>
                <a:cs typeface="+mn-cs"/>
              </a:rPr>
              <a:t>rela.dyn</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rela.dyn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0000000000400378 l    d  .</a:t>
            </a:r>
            <a:r>
              <a:rPr lang="en-US" altLang="zh-CN" sz="1200" kern="1200" dirty="0" err="1">
                <a:solidFill>
                  <a:schemeClr val="tx1"/>
                </a:solidFill>
                <a:effectLst/>
                <a:latin typeface="+mn-lt"/>
                <a:ea typeface="+mn-ea"/>
                <a:cs typeface="+mn-cs"/>
              </a:rPr>
              <a:t>rela.plt</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rela.plt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0000000000400390 l    d  .</a:t>
            </a:r>
            <a:r>
              <a:rPr lang="en-US" altLang="zh-CN" sz="1200" kern="1200" dirty="0" err="1">
                <a:solidFill>
                  <a:schemeClr val="tx1"/>
                </a:solidFill>
                <a:effectLst/>
                <a:latin typeface="+mn-lt"/>
                <a:ea typeface="+mn-ea"/>
                <a:cs typeface="+mn-cs"/>
              </a:rPr>
              <a:t>init</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init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00000000004003a0 l    d  .</a:t>
            </a:r>
            <a:r>
              <a:rPr lang="en-US" altLang="zh-CN" sz="1200" kern="1200" dirty="0" err="1">
                <a:solidFill>
                  <a:schemeClr val="tx1"/>
                </a:solidFill>
                <a:effectLst/>
                <a:latin typeface="+mn-lt"/>
                <a:ea typeface="+mn-ea"/>
                <a:cs typeface="+mn-cs"/>
              </a:rPr>
              <a:t>plt</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plt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00000000004003c0 l    d  .text	0000000000000000              .text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00000000004005a4 l    d  .</a:t>
            </a:r>
            <a:r>
              <a:rPr lang="en-US" altLang="zh-CN" sz="1200" kern="1200" dirty="0" err="1">
                <a:solidFill>
                  <a:schemeClr val="tx1"/>
                </a:solidFill>
                <a:effectLst/>
                <a:latin typeface="+mn-lt"/>
                <a:ea typeface="+mn-ea"/>
                <a:cs typeface="+mn-cs"/>
              </a:rPr>
              <a:t>fini</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fini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00000000004005b0 l    d  .</a:t>
            </a:r>
            <a:r>
              <a:rPr lang="en-US" altLang="zh-CN" sz="1200" kern="1200" dirty="0" err="1">
                <a:solidFill>
                  <a:schemeClr val="tx1"/>
                </a:solidFill>
                <a:effectLst/>
                <a:latin typeface="+mn-lt"/>
                <a:ea typeface="+mn-ea"/>
                <a:cs typeface="+mn-cs"/>
              </a:rPr>
              <a:t>rodata</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rodata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00000000004005b4 l    d  .</a:t>
            </a:r>
            <a:r>
              <a:rPr lang="en-US" altLang="zh-CN" sz="1200" kern="1200" dirty="0" err="1">
                <a:solidFill>
                  <a:schemeClr val="tx1"/>
                </a:solidFill>
                <a:effectLst/>
                <a:latin typeface="+mn-lt"/>
                <a:ea typeface="+mn-ea"/>
                <a:cs typeface="+mn-cs"/>
              </a:rPr>
              <a:t>eh_frame_hdr</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eh_frame_hdr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00000000004005e8 l    d  .</a:t>
            </a:r>
            <a:r>
              <a:rPr lang="en-US" altLang="zh-CN" sz="1200" kern="1200" dirty="0" err="1">
                <a:solidFill>
                  <a:schemeClr val="tx1"/>
                </a:solidFill>
                <a:effectLst/>
                <a:latin typeface="+mn-lt"/>
                <a:ea typeface="+mn-ea"/>
                <a:cs typeface="+mn-cs"/>
              </a:rPr>
              <a:t>eh_frame</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eh_frame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0000000000600df8 l    d  .</a:t>
            </a:r>
            <a:r>
              <a:rPr lang="en-US" altLang="zh-CN" sz="1200" kern="1200" dirty="0" err="1">
                <a:solidFill>
                  <a:schemeClr val="tx1"/>
                </a:solidFill>
                <a:effectLst/>
                <a:latin typeface="+mn-lt"/>
                <a:ea typeface="+mn-ea"/>
                <a:cs typeface="+mn-cs"/>
              </a:rPr>
              <a:t>init_array</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init_array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0000000000600e00 l    d  .</a:t>
            </a:r>
            <a:r>
              <a:rPr lang="en-US" altLang="zh-CN" sz="1200" kern="1200" dirty="0" err="1">
                <a:solidFill>
                  <a:schemeClr val="tx1"/>
                </a:solidFill>
                <a:effectLst/>
                <a:latin typeface="+mn-lt"/>
                <a:ea typeface="+mn-ea"/>
                <a:cs typeface="+mn-cs"/>
              </a:rPr>
              <a:t>fini_array</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fini_array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0000000000600e08 l    d  .</a:t>
            </a:r>
            <a:r>
              <a:rPr lang="en-US" altLang="zh-CN" sz="1200" kern="1200" dirty="0" err="1">
                <a:solidFill>
                  <a:schemeClr val="tx1"/>
                </a:solidFill>
                <a:effectLst/>
                <a:latin typeface="+mn-lt"/>
                <a:ea typeface="+mn-ea"/>
                <a:cs typeface="+mn-cs"/>
              </a:rPr>
              <a:t>jcr</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jcr</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0000000000600e10 l    d  .dynamic	0000000000000000              .dynamic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0000000000600fe0 l    d  .got	0000000000000000              .got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0000000000600fe8 l    d  .</a:t>
            </a:r>
            <a:r>
              <a:rPr lang="en-US" altLang="zh-CN" sz="1200" kern="1200" dirty="0" err="1">
                <a:solidFill>
                  <a:schemeClr val="tx1"/>
                </a:solidFill>
                <a:effectLst/>
                <a:latin typeface="+mn-lt"/>
                <a:ea typeface="+mn-ea"/>
                <a:cs typeface="+mn-cs"/>
              </a:rPr>
              <a:t>got.plt</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got.plt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0000000000601008 l    d  .data	0000000000000000              .data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0000000000601020 l    d  .</a:t>
            </a:r>
            <a:r>
              <a:rPr lang="en-US" altLang="zh-CN" sz="1200" kern="1200" dirty="0" err="1">
                <a:solidFill>
                  <a:schemeClr val="tx1"/>
                </a:solidFill>
                <a:effectLst/>
                <a:latin typeface="+mn-lt"/>
                <a:ea typeface="+mn-ea"/>
                <a:cs typeface="+mn-cs"/>
              </a:rPr>
              <a:t>bss</a:t>
            </a:r>
            <a:r>
              <a:rPr lang="en-US" altLang="zh-CN" sz="1200" kern="1200" dirty="0">
                <a:solidFill>
                  <a:schemeClr val="tx1"/>
                </a:solidFill>
                <a:effectLst/>
                <a:latin typeface="+mn-lt"/>
                <a:ea typeface="+mn-ea"/>
                <a:cs typeface="+mn-cs"/>
              </a:rPr>
              <a:t>	0000000000000000              .</a:t>
            </a:r>
            <a:r>
              <a:rPr lang="en-US" altLang="zh-CN" sz="1200" kern="1200" dirty="0" err="1">
                <a:solidFill>
                  <a:schemeClr val="tx1"/>
                </a:solidFill>
                <a:effectLst/>
                <a:latin typeface="+mn-lt"/>
                <a:ea typeface="+mn-ea"/>
                <a:cs typeface="+mn-cs"/>
              </a:rPr>
              <a:t>bss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l    d  .comment	0000000000000000              .comment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00000000004003ec l     F .text	0000000000000000              </a:t>
            </a:r>
            <a:r>
              <a:rPr lang="en-US" altLang="zh-CN" sz="1200" kern="1200" dirty="0" err="1">
                <a:solidFill>
                  <a:schemeClr val="tx1"/>
                </a:solidFill>
                <a:effectLst/>
                <a:latin typeface="+mn-lt"/>
                <a:ea typeface="+mn-ea"/>
                <a:cs typeface="+mn-cs"/>
              </a:rPr>
              <a:t>call_gmon_start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l    df *ABS*	0000000000000000              </a:t>
            </a:r>
            <a:r>
              <a:rPr lang="en-US" altLang="zh-CN" sz="1200" kern="1200" dirty="0" err="1">
                <a:solidFill>
                  <a:schemeClr val="tx1"/>
                </a:solidFill>
                <a:effectLst/>
                <a:latin typeface="+mn-lt"/>
                <a:ea typeface="+mn-ea"/>
                <a:cs typeface="+mn-cs"/>
              </a:rPr>
              <a:t>crtstuff.c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0000000000600e08 l     O .</a:t>
            </a:r>
            <a:r>
              <a:rPr lang="en-US" altLang="zh-CN" sz="1200" kern="1200" dirty="0" err="1">
                <a:solidFill>
                  <a:schemeClr val="tx1"/>
                </a:solidFill>
                <a:effectLst/>
                <a:latin typeface="+mn-lt"/>
                <a:ea typeface="+mn-ea"/>
                <a:cs typeface="+mn-cs"/>
              </a:rPr>
              <a:t>jcr</a:t>
            </a:r>
            <a:r>
              <a:rPr lang="en-US" altLang="zh-CN" sz="1200" kern="1200" dirty="0">
                <a:solidFill>
                  <a:schemeClr val="tx1"/>
                </a:solidFill>
                <a:effectLst/>
                <a:latin typeface="+mn-lt"/>
                <a:ea typeface="+mn-ea"/>
                <a:cs typeface="+mn-cs"/>
              </a:rPr>
              <a:t>	0000000000000000              __JCR_LIST__</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0000000000400410 l     F .text	0000000000000000              </a:t>
            </a:r>
            <a:r>
              <a:rPr lang="en-US" altLang="zh-CN" sz="1200" kern="1200" dirty="0" err="1">
                <a:solidFill>
                  <a:schemeClr val="tx1"/>
                </a:solidFill>
                <a:effectLst/>
                <a:latin typeface="+mn-lt"/>
                <a:ea typeface="+mn-ea"/>
                <a:cs typeface="+mn-cs"/>
              </a:rPr>
              <a:t>deregister_tm_clones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0000000000400440 l     F .text	0000000000000000              </a:t>
            </a:r>
            <a:r>
              <a:rPr lang="en-US" altLang="zh-CN" sz="1200" kern="1200" dirty="0" err="1">
                <a:solidFill>
                  <a:schemeClr val="tx1"/>
                </a:solidFill>
                <a:effectLst/>
                <a:latin typeface="+mn-lt"/>
                <a:ea typeface="+mn-ea"/>
                <a:cs typeface="+mn-cs"/>
              </a:rPr>
              <a:t>register_tm_clones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0000000000400480 l     F .text	0000000000000000              __</a:t>
            </a:r>
            <a:r>
              <a:rPr lang="en-US" altLang="zh-CN" sz="1200" kern="1200" dirty="0" err="1">
                <a:solidFill>
                  <a:schemeClr val="tx1"/>
                </a:solidFill>
                <a:effectLst/>
                <a:latin typeface="+mn-lt"/>
                <a:ea typeface="+mn-ea"/>
                <a:cs typeface="+mn-cs"/>
              </a:rPr>
              <a:t>do_global_dtors_aux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0000000000601020 l     O .</a:t>
            </a:r>
            <a:r>
              <a:rPr lang="en-US" altLang="zh-CN" sz="1200" kern="1200" dirty="0" err="1">
                <a:solidFill>
                  <a:schemeClr val="tx1"/>
                </a:solidFill>
                <a:effectLst/>
                <a:latin typeface="+mn-lt"/>
                <a:ea typeface="+mn-ea"/>
                <a:cs typeface="+mn-cs"/>
              </a:rPr>
              <a:t>bss</a:t>
            </a:r>
            <a:r>
              <a:rPr lang="en-US" altLang="zh-CN" sz="1200" kern="1200" dirty="0">
                <a:solidFill>
                  <a:schemeClr val="tx1"/>
                </a:solidFill>
                <a:effectLst/>
                <a:latin typeface="+mn-lt"/>
                <a:ea typeface="+mn-ea"/>
                <a:cs typeface="+mn-cs"/>
              </a:rPr>
              <a:t>	0000000000000001              completed.6976</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0000000000600e00 l     O .</a:t>
            </a:r>
            <a:r>
              <a:rPr lang="en-US" altLang="zh-CN" sz="1200" kern="1200" dirty="0" err="1">
                <a:solidFill>
                  <a:schemeClr val="tx1"/>
                </a:solidFill>
                <a:effectLst/>
                <a:latin typeface="+mn-lt"/>
                <a:ea typeface="+mn-ea"/>
                <a:cs typeface="+mn-cs"/>
              </a:rPr>
              <a:t>fini_array</a:t>
            </a:r>
            <a:r>
              <a:rPr lang="en-US" altLang="zh-CN" sz="1200" kern="1200" dirty="0">
                <a:solidFill>
                  <a:schemeClr val="tx1"/>
                </a:solidFill>
                <a:effectLst/>
                <a:latin typeface="+mn-lt"/>
                <a:ea typeface="+mn-ea"/>
                <a:cs typeface="+mn-cs"/>
              </a:rPr>
              <a:t>	0000000000000000              __</a:t>
            </a:r>
            <a:r>
              <a:rPr lang="en-US" altLang="zh-CN" sz="1200" kern="1200" dirty="0" err="1">
                <a:solidFill>
                  <a:schemeClr val="tx1"/>
                </a:solidFill>
                <a:effectLst/>
                <a:latin typeface="+mn-lt"/>
                <a:ea typeface="+mn-ea"/>
                <a:cs typeface="+mn-cs"/>
              </a:rPr>
              <a:t>do_global_dtors_aux_fini_array_entry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00000000004004a0 l     F .text	0000000000000000              </a:t>
            </a:r>
            <a:r>
              <a:rPr lang="en-US" altLang="zh-CN" sz="1200" kern="1200" dirty="0" err="1">
                <a:solidFill>
                  <a:schemeClr val="tx1"/>
                </a:solidFill>
                <a:effectLst/>
                <a:latin typeface="+mn-lt"/>
                <a:ea typeface="+mn-ea"/>
                <a:cs typeface="+mn-cs"/>
              </a:rPr>
              <a:t>frame_dummy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0000000000600df8 l     O .</a:t>
            </a:r>
            <a:r>
              <a:rPr lang="en-US" altLang="zh-CN" sz="1200" kern="1200" dirty="0" err="1">
                <a:solidFill>
                  <a:schemeClr val="tx1"/>
                </a:solidFill>
                <a:effectLst/>
                <a:latin typeface="+mn-lt"/>
                <a:ea typeface="+mn-ea"/>
                <a:cs typeface="+mn-cs"/>
              </a:rPr>
              <a:t>init_array</a:t>
            </a:r>
            <a:r>
              <a:rPr lang="en-US" altLang="zh-CN" sz="1200" kern="1200" dirty="0">
                <a:solidFill>
                  <a:schemeClr val="tx1"/>
                </a:solidFill>
                <a:effectLst/>
                <a:latin typeface="+mn-lt"/>
                <a:ea typeface="+mn-ea"/>
                <a:cs typeface="+mn-cs"/>
              </a:rPr>
              <a:t>	0000000000000000              __</a:t>
            </a:r>
            <a:r>
              <a:rPr lang="en-US" altLang="zh-CN" sz="1200" kern="1200" dirty="0" err="1">
                <a:solidFill>
                  <a:schemeClr val="tx1"/>
                </a:solidFill>
                <a:effectLst/>
                <a:latin typeface="+mn-lt"/>
                <a:ea typeface="+mn-ea"/>
                <a:cs typeface="+mn-cs"/>
              </a:rPr>
              <a:t>frame_dummy_init_array_entry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l    df *ABS*	0000000000000000              </a:t>
            </a:r>
            <a:r>
              <a:rPr lang="en-US" altLang="zh-CN" sz="1200" kern="1200" dirty="0" err="1">
                <a:solidFill>
                  <a:schemeClr val="tx1"/>
                </a:solidFill>
                <a:effectLst/>
                <a:latin typeface="+mn-lt"/>
                <a:ea typeface="+mn-ea"/>
                <a:cs typeface="+mn-cs"/>
              </a:rPr>
              <a:t>main.c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l    df *ABS*	0000000000000000              </a:t>
            </a:r>
            <a:r>
              <a:rPr lang="en-US" altLang="zh-CN" sz="1200" kern="1200" dirty="0" err="1">
                <a:solidFill>
                  <a:schemeClr val="tx1"/>
                </a:solidFill>
                <a:effectLst/>
                <a:latin typeface="+mn-lt"/>
                <a:ea typeface="+mn-ea"/>
                <a:cs typeface="+mn-cs"/>
              </a:rPr>
              <a:t>sum.c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l    df *ABS*	0000000000000000              </a:t>
            </a:r>
            <a:r>
              <a:rPr lang="en-US" altLang="zh-CN" sz="1200" kern="1200" dirty="0" err="1">
                <a:solidFill>
                  <a:schemeClr val="tx1"/>
                </a:solidFill>
                <a:effectLst/>
                <a:latin typeface="+mn-lt"/>
                <a:ea typeface="+mn-ea"/>
                <a:cs typeface="+mn-cs"/>
              </a:rPr>
              <a:t>crtstuff.c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0000000000400698 l     O .</a:t>
            </a:r>
            <a:r>
              <a:rPr lang="en-US" altLang="zh-CN" sz="1200" kern="1200" dirty="0" err="1">
                <a:solidFill>
                  <a:schemeClr val="tx1"/>
                </a:solidFill>
                <a:effectLst/>
                <a:latin typeface="+mn-lt"/>
                <a:ea typeface="+mn-ea"/>
                <a:cs typeface="+mn-cs"/>
              </a:rPr>
              <a:t>eh_frame</a:t>
            </a:r>
            <a:r>
              <a:rPr lang="en-US" altLang="zh-CN" sz="1200" kern="1200" dirty="0">
                <a:solidFill>
                  <a:schemeClr val="tx1"/>
                </a:solidFill>
                <a:effectLst/>
                <a:latin typeface="+mn-lt"/>
                <a:ea typeface="+mn-ea"/>
                <a:cs typeface="+mn-cs"/>
              </a:rPr>
              <a:t>	0000000000000000              __FRAME_END__</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0000000000600e08 l     O .</a:t>
            </a:r>
            <a:r>
              <a:rPr lang="en-US" altLang="zh-CN" sz="1200" kern="1200" dirty="0" err="1">
                <a:solidFill>
                  <a:schemeClr val="tx1"/>
                </a:solidFill>
                <a:effectLst/>
                <a:latin typeface="+mn-lt"/>
                <a:ea typeface="+mn-ea"/>
                <a:cs typeface="+mn-cs"/>
              </a:rPr>
              <a:t>jcr</a:t>
            </a:r>
            <a:r>
              <a:rPr lang="en-US" altLang="zh-CN" sz="1200" kern="1200" dirty="0">
                <a:solidFill>
                  <a:schemeClr val="tx1"/>
                </a:solidFill>
                <a:effectLst/>
                <a:latin typeface="+mn-lt"/>
                <a:ea typeface="+mn-ea"/>
                <a:cs typeface="+mn-cs"/>
              </a:rPr>
              <a:t>	0000000000000000              __JCR_END__</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0000000000600e00 l       .</a:t>
            </a:r>
            <a:r>
              <a:rPr lang="en-US" altLang="zh-CN" sz="1200" kern="1200" dirty="0" err="1">
                <a:solidFill>
                  <a:schemeClr val="tx1"/>
                </a:solidFill>
                <a:effectLst/>
                <a:latin typeface="+mn-lt"/>
                <a:ea typeface="+mn-ea"/>
                <a:cs typeface="+mn-cs"/>
              </a:rPr>
              <a:t>init_array</a:t>
            </a:r>
            <a:r>
              <a:rPr lang="en-US" altLang="zh-CN" sz="1200" kern="1200" dirty="0">
                <a:solidFill>
                  <a:schemeClr val="tx1"/>
                </a:solidFill>
                <a:effectLst/>
                <a:latin typeface="+mn-lt"/>
                <a:ea typeface="+mn-ea"/>
                <a:cs typeface="+mn-cs"/>
              </a:rPr>
              <a:t>	0000000000000000              __</a:t>
            </a:r>
            <a:r>
              <a:rPr lang="en-US" altLang="zh-CN" sz="1200" kern="1200" dirty="0" err="1">
                <a:solidFill>
                  <a:schemeClr val="tx1"/>
                </a:solidFill>
                <a:effectLst/>
                <a:latin typeface="+mn-lt"/>
                <a:ea typeface="+mn-ea"/>
                <a:cs typeface="+mn-cs"/>
              </a:rPr>
              <a:t>init_array_end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0000000000600e10 l     O .dynamic	0000000000000000              _DYNAMIC</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0000000000600df8 l       .</a:t>
            </a:r>
            <a:r>
              <a:rPr lang="en-US" altLang="zh-CN" sz="1200" kern="1200" dirty="0" err="1">
                <a:solidFill>
                  <a:schemeClr val="tx1"/>
                </a:solidFill>
                <a:effectLst/>
                <a:latin typeface="+mn-lt"/>
                <a:ea typeface="+mn-ea"/>
                <a:cs typeface="+mn-cs"/>
              </a:rPr>
              <a:t>init_array</a:t>
            </a:r>
            <a:r>
              <a:rPr lang="en-US" altLang="zh-CN" sz="1200" kern="1200" dirty="0">
                <a:solidFill>
                  <a:schemeClr val="tx1"/>
                </a:solidFill>
                <a:effectLst/>
                <a:latin typeface="+mn-lt"/>
                <a:ea typeface="+mn-ea"/>
                <a:cs typeface="+mn-cs"/>
              </a:rPr>
              <a:t>	0000000000000000              __</a:t>
            </a:r>
            <a:r>
              <a:rPr lang="en-US" altLang="zh-CN" sz="1200" kern="1200" dirty="0" err="1">
                <a:solidFill>
                  <a:schemeClr val="tx1"/>
                </a:solidFill>
                <a:effectLst/>
                <a:latin typeface="+mn-lt"/>
                <a:ea typeface="+mn-ea"/>
                <a:cs typeface="+mn-cs"/>
              </a:rPr>
              <a:t>init_array_start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0000000000600fe8 l     O .</a:t>
            </a:r>
            <a:r>
              <a:rPr lang="en-US" altLang="zh-CN" sz="1200" kern="1200" dirty="0" err="1">
                <a:solidFill>
                  <a:schemeClr val="tx1"/>
                </a:solidFill>
                <a:effectLst/>
                <a:latin typeface="+mn-lt"/>
                <a:ea typeface="+mn-ea"/>
                <a:cs typeface="+mn-cs"/>
              </a:rPr>
              <a:t>got.plt</a:t>
            </a:r>
            <a:r>
              <a:rPr lang="en-US" altLang="zh-CN" sz="1200" kern="1200" dirty="0">
                <a:solidFill>
                  <a:schemeClr val="tx1"/>
                </a:solidFill>
                <a:effectLst/>
                <a:latin typeface="+mn-lt"/>
                <a:ea typeface="+mn-ea"/>
                <a:cs typeface="+mn-cs"/>
              </a:rPr>
              <a:t>	0000000000000000              _GLOBAL_OFFSET_TABLE_</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00000000004005a0 g     F .text	0000000000000002              __</a:t>
            </a:r>
            <a:r>
              <a:rPr lang="en-US" altLang="zh-CN" sz="1200" kern="1200" dirty="0" err="1">
                <a:solidFill>
                  <a:schemeClr val="tx1"/>
                </a:solidFill>
                <a:effectLst/>
                <a:latin typeface="+mn-lt"/>
                <a:ea typeface="+mn-ea"/>
                <a:cs typeface="+mn-cs"/>
              </a:rPr>
              <a:t>libc_csu_fini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w      *UND*	0000000000000000              _</a:t>
            </a:r>
            <a:r>
              <a:rPr lang="en-US" altLang="zh-CN" sz="1200" kern="1200" dirty="0" err="1">
                <a:solidFill>
                  <a:schemeClr val="tx1"/>
                </a:solidFill>
                <a:effectLst/>
                <a:latin typeface="+mn-lt"/>
                <a:ea typeface="+mn-ea"/>
                <a:cs typeface="+mn-cs"/>
              </a:rPr>
              <a:t>ITM_deregisterTMCloneTable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0000000000601008  w      .data	0000000000000000              </a:t>
            </a:r>
            <a:r>
              <a:rPr lang="en-US" altLang="zh-CN" sz="1200" kern="1200" dirty="0" err="1">
                <a:solidFill>
                  <a:schemeClr val="tx1"/>
                </a:solidFill>
                <a:effectLst/>
                <a:latin typeface="+mn-lt"/>
                <a:ea typeface="+mn-ea"/>
                <a:cs typeface="+mn-cs"/>
              </a:rPr>
              <a:t>data_start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0000000000601018 g     O .data	0000000000000008              array</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0000000000601020 g       *ABS*	0000000000000000              _</a:t>
            </a:r>
            <a:r>
              <a:rPr lang="en-US" altLang="zh-CN" sz="1200" kern="1200" dirty="0" err="1">
                <a:solidFill>
                  <a:schemeClr val="tx1"/>
                </a:solidFill>
                <a:effectLst/>
                <a:latin typeface="+mn-lt"/>
                <a:ea typeface="+mn-ea"/>
                <a:cs typeface="+mn-cs"/>
              </a:rPr>
              <a:t>edata</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00000000004005a4 g     F .</a:t>
            </a:r>
            <a:r>
              <a:rPr lang="en-US" altLang="zh-CN" sz="1200" kern="1200" dirty="0" err="1">
                <a:solidFill>
                  <a:schemeClr val="tx1"/>
                </a:solidFill>
                <a:effectLst/>
                <a:latin typeface="+mn-lt"/>
                <a:ea typeface="+mn-ea"/>
                <a:cs typeface="+mn-cs"/>
              </a:rPr>
              <a:t>fini</a:t>
            </a:r>
            <a:r>
              <a:rPr lang="en-US" altLang="zh-CN" sz="1200" kern="1200" dirty="0">
                <a:solidFill>
                  <a:schemeClr val="tx1"/>
                </a:solidFill>
                <a:effectLst/>
                <a:latin typeface="+mn-lt"/>
                <a:ea typeface="+mn-ea"/>
                <a:cs typeface="+mn-cs"/>
              </a:rPr>
              <a:t>	0000000000000000              _</a:t>
            </a:r>
            <a:r>
              <a:rPr lang="en-US" altLang="zh-CN" sz="1200" kern="1200" dirty="0" err="1">
                <a:solidFill>
                  <a:schemeClr val="tx1"/>
                </a:solidFill>
                <a:effectLst/>
                <a:latin typeface="+mn-lt"/>
                <a:ea typeface="+mn-ea"/>
                <a:cs typeface="+mn-cs"/>
              </a:rPr>
              <a:t>fini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F *UND*	0000000000000000              __</a:t>
            </a:r>
            <a:r>
              <a:rPr lang="en-US" altLang="zh-CN" sz="1200" kern="1200" dirty="0" err="1">
                <a:solidFill>
                  <a:schemeClr val="tx1"/>
                </a:solidFill>
                <a:effectLst/>
                <a:latin typeface="+mn-lt"/>
                <a:ea typeface="+mn-ea"/>
                <a:cs typeface="+mn-cs"/>
              </a:rPr>
              <a:t>libc_start_main</a:t>
            </a:r>
            <a:r>
              <a:rPr lang="en-US" altLang="zh-CN" sz="1200" kern="1200" dirty="0">
                <a:solidFill>
                  <a:schemeClr val="tx1"/>
                </a:solidFill>
                <a:effectLst/>
                <a:latin typeface="+mn-lt"/>
                <a:ea typeface="+mn-ea"/>
                <a:cs typeface="+mn-cs"/>
              </a:rPr>
              <a:t>@@GLIBC_2.2.5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0000000000601008 g       .data	0000000000000000              __</a:t>
            </a:r>
            <a:r>
              <a:rPr lang="en-US" altLang="zh-CN" sz="1200" kern="1200" dirty="0" err="1">
                <a:solidFill>
                  <a:schemeClr val="tx1"/>
                </a:solidFill>
                <a:effectLst/>
                <a:latin typeface="+mn-lt"/>
                <a:ea typeface="+mn-ea"/>
                <a:cs typeface="+mn-cs"/>
              </a:rPr>
              <a:t>data_start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w      *UND*	0000000000000000              __</a:t>
            </a:r>
            <a:r>
              <a:rPr lang="en-US" altLang="zh-CN" sz="1200" kern="1200" dirty="0" err="1">
                <a:solidFill>
                  <a:schemeClr val="tx1"/>
                </a:solidFill>
                <a:effectLst/>
                <a:latin typeface="+mn-lt"/>
                <a:ea typeface="+mn-ea"/>
                <a:cs typeface="+mn-cs"/>
              </a:rPr>
              <a:t>gmon_start</a:t>
            </a:r>
            <a:r>
              <a:rPr lang="en-US" altLang="zh-CN" sz="1200" kern="1200" dirty="0">
                <a:solidFill>
                  <a:schemeClr val="tx1"/>
                </a:solidFill>
                <a:effectLst/>
                <a:latin typeface="+mn-lt"/>
                <a:ea typeface="+mn-ea"/>
                <a:cs typeface="+mn-cs"/>
              </a:rPr>
              <a:t>__</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0000000000601010 g     O .data	0000000000000000              .hidden __</a:t>
            </a:r>
            <a:r>
              <a:rPr lang="en-US" altLang="zh-CN" sz="1200" kern="1200" dirty="0" err="1">
                <a:solidFill>
                  <a:schemeClr val="tx1"/>
                </a:solidFill>
                <a:effectLst/>
                <a:latin typeface="+mn-lt"/>
                <a:ea typeface="+mn-ea"/>
                <a:cs typeface="+mn-cs"/>
              </a:rPr>
              <a:t>dso_handle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00000000004004e8 g     F .text	000000000000001b              sum</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00000000004005b0 g     O .</a:t>
            </a:r>
            <a:r>
              <a:rPr lang="en-US" altLang="zh-CN" sz="1200" kern="1200" dirty="0" err="1">
                <a:solidFill>
                  <a:schemeClr val="tx1"/>
                </a:solidFill>
                <a:effectLst/>
                <a:latin typeface="+mn-lt"/>
                <a:ea typeface="+mn-ea"/>
                <a:cs typeface="+mn-cs"/>
              </a:rPr>
              <a:t>rodata</a:t>
            </a:r>
            <a:r>
              <a:rPr lang="en-US" altLang="zh-CN" sz="1200" kern="1200" dirty="0">
                <a:solidFill>
                  <a:schemeClr val="tx1"/>
                </a:solidFill>
                <a:effectLst/>
                <a:latin typeface="+mn-lt"/>
                <a:ea typeface="+mn-ea"/>
                <a:cs typeface="+mn-cs"/>
              </a:rPr>
              <a:t>	0000000000000004              _</a:t>
            </a:r>
            <a:r>
              <a:rPr lang="en-US" altLang="zh-CN" sz="1200" kern="1200" dirty="0" err="1">
                <a:solidFill>
                  <a:schemeClr val="tx1"/>
                </a:solidFill>
                <a:effectLst/>
                <a:latin typeface="+mn-lt"/>
                <a:ea typeface="+mn-ea"/>
                <a:cs typeface="+mn-cs"/>
              </a:rPr>
              <a:t>IO_stdin_used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0000000000400510 g     F .text	0000000000000089              __</a:t>
            </a:r>
            <a:r>
              <a:rPr lang="en-US" altLang="zh-CN" sz="1200" kern="1200" dirty="0" err="1">
                <a:solidFill>
                  <a:schemeClr val="tx1"/>
                </a:solidFill>
                <a:effectLst/>
                <a:latin typeface="+mn-lt"/>
                <a:ea typeface="+mn-ea"/>
                <a:cs typeface="+mn-cs"/>
              </a:rPr>
              <a:t>libc_csu_init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0000000000601028 g       *ABS*	0000000000000000              _end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00000000004003c0 g     F .text	0000000000000000              _start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0000000000601020 g       *ABS*	0000000000000000              __</a:t>
            </a:r>
            <a:r>
              <a:rPr lang="en-US" altLang="zh-CN" sz="1200" kern="1200" dirty="0" err="1">
                <a:solidFill>
                  <a:schemeClr val="tx1"/>
                </a:solidFill>
                <a:effectLst/>
                <a:latin typeface="+mn-lt"/>
                <a:ea typeface="+mn-ea"/>
                <a:cs typeface="+mn-cs"/>
              </a:rPr>
              <a:t>bss_start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00000000004004d0 g     F .text	0000000000000018              main</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w      *UND*	0000000000000000              _</a:t>
            </a:r>
            <a:r>
              <a:rPr lang="en-US" altLang="zh-CN" sz="1200" kern="1200" dirty="0" err="1">
                <a:solidFill>
                  <a:schemeClr val="tx1"/>
                </a:solidFill>
                <a:effectLst/>
                <a:latin typeface="+mn-lt"/>
                <a:ea typeface="+mn-ea"/>
                <a:cs typeface="+mn-cs"/>
              </a:rPr>
              <a:t>Jv_RegisterClasses</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0000000000601020 g     O .data	0000000000000000              .hidden __TMC_END__</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0000000000000000  w      *UND*	0000000000000000              _</a:t>
            </a:r>
            <a:r>
              <a:rPr lang="en-US" altLang="zh-CN" sz="1200" kern="1200" dirty="0" err="1">
                <a:solidFill>
                  <a:schemeClr val="tx1"/>
                </a:solidFill>
                <a:effectLst/>
                <a:latin typeface="+mn-lt"/>
                <a:ea typeface="+mn-ea"/>
                <a:cs typeface="+mn-cs"/>
              </a:rPr>
              <a:t>ITM_registerTMCloneTable</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0000000000400390 g     F .</a:t>
            </a:r>
            <a:r>
              <a:rPr lang="en-US" altLang="zh-CN" sz="1200" kern="1200" dirty="0" err="1">
                <a:solidFill>
                  <a:schemeClr val="tx1"/>
                </a:solidFill>
                <a:effectLst/>
                <a:latin typeface="+mn-lt"/>
                <a:ea typeface="+mn-ea"/>
                <a:cs typeface="+mn-cs"/>
              </a:rPr>
              <a:t>init</a:t>
            </a:r>
            <a:r>
              <a:rPr lang="en-US" altLang="zh-CN" sz="1200" kern="1200" dirty="0">
                <a:solidFill>
                  <a:schemeClr val="tx1"/>
                </a:solidFill>
                <a:effectLst/>
                <a:latin typeface="+mn-lt"/>
                <a:ea typeface="+mn-ea"/>
                <a:cs typeface="+mn-cs"/>
              </a:rPr>
              <a:t>	0000000000000000              _</a:t>
            </a:r>
            <a:r>
              <a:rPr lang="en-US" altLang="zh-CN" sz="1200" kern="1200" dirty="0" err="1">
                <a:solidFill>
                  <a:schemeClr val="tx1"/>
                </a:solidFill>
                <a:effectLst/>
                <a:latin typeface="+mn-lt"/>
                <a:ea typeface="+mn-ea"/>
                <a:cs typeface="+mn-cs"/>
              </a:rPr>
              <a:t>init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Disassembly of section .</a:t>
            </a:r>
            <a:r>
              <a:rPr lang="en-US" altLang="zh-CN" sz="1200" kern="1200" dirty="0" err="1">
                <a:solidFill>
                  <a:schemeClr val="tx1"/>
                </a:solidFill>
                <a:effectLst/>
                <a:latin typeface="+mn-lt"/>
                <a:ea typeface="+mn-ea"/>
                <a:cs typeface="+mn-cs"/>
              </a:rPr>
              <a:t>init</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0000000000400390 &lt;_</a:t>
            </a:r>
            <a:r>
              <a:rPr lang="en-US" altLang="zh-CN" sz="1200" kern="1200" dirty="0" err="1">
                <a:solidFill>
                  <a:schemeClr val="tx1"/>
                </a:solidFill>
                <a:effectLst/>
                <a:latin typeface="+mn-lt"/>
                <a:ea typeface="+mn-ea"/>
                <a:cs typeface="+mn-cs"/>
              </a:rPr>
              <a:t>init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400390:	48 83 </a:t>
            </a:r>
            <a:r>
              <a:rPr lang="en-US" altLang="zh-CN" sz="1200" kern="1200" dirty="0" err="1">
                <a:solidFill>
                  <a:schemeClr val="tx1"/>
                </a:solidFill>
                <a:effectLst/>
                <a:latin typeface="+mn-lt"/>
                <a:ea typeface="+mn-ea"/>
                <a:cs typeface="+mn-cs"/>
              </a:rPr>
              <a:t>ec</a:t>
            </a:r>
            <a:r>
              <a:rPr lang="en-US" altLang="zh-CN" sz="1200" kern="1200" dirty="0">
                <a:solidFill>
                  <a:schemeClr val="tx1"/>
                </a:solidFill>
                <a:effectLst/>
                <a:latin typeface="+mn-lt"/>
                <a:ea typeface="+mn-ea"/>
                <a:cs typeface="+mn-cs"/>
              </a:rPr>
              <a:t> 08          	sub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400394:	e8 53 00 00 00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4003ec &lt;</a:t>
            </a:r>
            <a:r>
              <a:rPr lang="en-US" altLang="zh-CN" sz="1200" kern="1200" dirty="0" err="1">
                <a:solidFill>
                  <a:schemeClr val="tx1"/>
                </a:solidFill>
                <a:effectLst/>
                <a:latin typeface="+mn-lt"/>
                <a:ea typeface="+mn-ea"/>
                <a:cs typeface="+mn-cs"/>
              </a:rPr>
              <a:t>call_gmon_start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400399:	48 83 c4 08          	add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40039d: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Disassembly of section .</a:t>
            </a:r>
            <a:r>
              <a:rPr lang="en-US" altLang="zh-CN" sz="1200" kern="1200" dirty="0" err="1">
                <a:solidFill>
                  <a:schemeClr val="tx1"/>
                </a:solidFill>
                <a:effectLst/>
                <a:latin typeface="+mn-lt"/>
                <a:ea typeface="+mn-ea"/>
                <a:cs typeface="+mn-cs"/>
              </a:rPr>
              <a:t>plt</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00000000004003a0 &lt;__libc_start_main@plt-0x10&gt;: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4003a0:	ff 35 4a 0c 20 00    	</a:t>
            </a:r>
            <a:r>
              <a:rPr lang="en-US" altLang="zh-CN" sz="1200" kern="1200" dirty="0" err="1">
                <a:solidFill>
                  <a:schemeClr val="tx1"/>
                </a:solidFill>
                <a:effectLst/>
                <a:latin typeface="+mn-lt"/>
                <a:ea typeface="+mn-ea"/>
                <a:cs typeface="+mn-cs"/>
              </a:rPr>
              <a:t>pushq</a:t>
            </a:r>
            <a:r>
              <a:rPr lang="en-US" altLang="zh-CN" sz="1200" kern="1200" dirty="0">
                <a:solidFill>
                  <a:schemeClr val="tx1"/>
                </a:solidFill>
                <a:effectLst/>
                <a:latin typeface="+mn-lt"/>
                <a:ea typeface="+mn-ea"/>
                <a:cs typeface="+mn-cs"/>
              </a:rPr>
              <a:t>  0x200c4a(%rip)        # 600ff0 &lt;_GLOBAL_OFFSET_TABLE_+0x8&gt;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4003a6:	ff 25 4c 0c 20 00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*0x200c4c(%rip)        # 600ff8 &lt;_GLOBAL_OFFSET_TABLE_+0x10&gt;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4003ac:	0f 1f 40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0x0(%</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00000000004003b0 &lt;__</a:t>
            </a:r>
            <a:r>
              <a:rPr lang="en-US" altLang="zh-CN" sz="1200" kern="1200" dirty="0" err="1">
                <a:solidFill>
                  <a:schemeClr val="tx1"/>
                </a:solidFill>
                <a:effectLst/>
                <a:latin typeface="+mn-lt"/>
                <a:ea typeface="+mn-ea"/>
                <a:cs typeface="+mn-cs"/>
              </a:rPr>
              <a:t>libc_start_main@plt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4003b0:	ff 25 4a 0c 20 00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*0x200c4a(%rip)        # 601000 &lt;_GLOBAL_OFFSET_TABLE_+0x18&gt;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4003b6:	68 00 00 00 00       	</a:t>
            </a:r>
            <a:r>
              <a:rPr lang="en-US" altLang="zh-CN" sz="1200" kern="1200" dirty="0" err="1">
                <a:solidFill>
                  <a:schemeClr val="tx1"/>
                </a:solidFill>
                <a:effectLst/>
                <a:latin typeface="+mn-lt"/>
                <a:ea typeface="+mn-ea"/>
                <a:cs typeface="+mn-cs"/>
              </a:rPr>
              <a:t>pushq</a:t>
            </a:r>
            <a:r>
              <a:rPr lang="en-US" altLang="zh-CN" sz="1200" kern="1200" dirty="0">
                <a:solidFill>
                  <a:schemeClr val="tx1"/>
                </a:solidFill>
                <a:effectLst/>
                <a:latin typeface="+mn-lt"/>
                <a:ea typeface="+mn-ea"/>
                <a:cs typeface="+mn-cs"/>
              </a:rPr>
              <a:t>  $0x0</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4003bb:	e9 e0 ff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4003a0 &lt;_init+0x10&gt;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Disassembly of section .text: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00000000004003c0 &lt;_start&gt;: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4003c0:	31 ed                	</a:t>
            </a:r>
            <a:r>
              <a:rPr lang="en-US" altLang="zh-CN" sz="1200" kern="1200" dirty="0" err="1">
                <a:solidFill>
                  <a:schemeClr val="tx1"/>
                </a:solidFill>
                <a:effectLst/>
                <a:latin typeface="+mn-lt"/>
                <a:ea typeface="+mn-ea"/>
                <a:cs typeface="+mn-cs"/>
              </a:rPr>
              <a:t>xor</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ebp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ebp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4003c2:	49 89 d1             	mov    %rdx,%r9</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4003c5:	5e                   	pop    %</a:t>
            </a:r>
            <a:r>
              <a:rPr lang="en-US" altLang="zh-CN" sz="1200" kern="1200" dirty="0" err="1">
                <a:solidFill>
                  <a:schemeClr val="tx1"/>
                </a:solidFill>
                <a:effectLst/>
                <a:latin typeface="+mn-lt"/>
                <a:ea typeface="+mn-ea"/>
                <a:cs typeface="+mn-cs"/>
              </a:rPr>
              <a:t>rsi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4003c6:	48 89 e2             	mov    %</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4003c9:	48 83 e4 f0          	and    $0xfffffffffffffff0,%rsp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4003cd:	50                   	push   %</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4003ce:	54                   	push   %</a:t>
            </a:r>
            <a:r>
              <a:rPr lang="en-US" altLang="zh-CN" sz="1200" kern="1200" dirty="0" err="1">
                <a:solidFill>
                  <a:schemeClr val="tx1"/>
                </a:solidFill>
                <a:effectLst/>
                <a:latin typeface="+mn-lt"/>
                <a:ea typeface="+mn-ea"/>
                <a:cs typeface="+mn-cs"/>
              </a:rPr>
              <a:t>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4003cf:	49 c7 c0 a0 05 40 00 	mov    $0x4005a0,%r8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4003d6:	48 c7 c1 10 05 40 00 	mov    $0x400510,%rcx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4003dd:	48 c7 </a:t>
            </a:r>
            <a:r>
              <a:rPr lang="en-US" altLang="zh-CN" sz="1200" kern="1200" dirty="0" err="1">
                <a:solidFill>
                  <a:schemeClr val="tx1"/>
                </a:solidFill>
                <a:effectLst/>
                <a:latin typeface="+mn-lt"/>
                <a:ea typeface="+mn-ea"/>
                <a:cs typeface="+mn-cs"/>
              </a:rPr>
              <a:t>c7</a:t>
            </a:r>
            <a:r>
              <a:rPr lang="en-US" altLang="zh-CN" sz="1200" kern="1200" dirty="0">
                <a:solidFill>
                  <a:schemeClr val="tx1"/>
                </a:solidFill>
                <a:effectLst/>
                <a:latin typeface="+mn-lt"/>
                <a:ea typeface="+mn-ea"/>
                <a:cs typeface="+mn-cs"/>
              </a:rPr>
              <a:t> d0 04 40 00 	mov    $0x4004d0,%rdi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4003e4:	e8 c7 ff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4003b0 &lt;__</a:t>
            </a:r>
            <a:r>
              <a:rPr lang="en-US" altLang="zh-CN" sz="1200" kern="1200" dirty="0" err="1">
                <a:solidFill>
                  <a:schemeClr val="tx1"/>
                </a:solidFill>
                <a:effectLst/>
                <a:latin typeface="+mn-lt"/>
                <a:ea typeface="+mn-ea"/>
                <a:cs typeface="+mn-cs"/>
              </a:rPr>
              <a:t>libc_start_main@plt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4003e9:	f4                   	</a:t>
            </a:r>
            <a:r>
              <a:rPr lang="en-US" altLang="zh-CN" sz="1200" kern="1200" dirty="0" err="1">
                <a:solidFill>
                  <a:schemeClr val="tx1"/>
                </a:solidFill>
                <a:effectLst/>
                <a:latin typeface="+mn-lt"/>
                <a:ea typeface="+mn-ea"/>
                <a:cs typeface="+mn-cs"/>
              </a:rPr>
              <a:t>hlt</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4003ea: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4003eb: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00000000004003ec &lt;</a:t>
            </a:r>
            <a:r>
              <a:rPr lang="en-US" altLang="zh-CN" sz="1200" kern="1200" dirty="0" err="1">
                <a:solidFill>
                  <a:schemeClr val="tx1"/>
                </a:solidFill>
                <a:effectLst/>
                <a:latin typeface="+mn-lt"/>
                <a:ea typeface="+mn-ea"/>
                <a:cs typeface="+mn-cs"/>
              </a:rPr>
              <a:t>call_gmon_start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4003ec:	48 83 </a:t>
            </a:r>
            <a:r>
              <a:rPr lang="en-US" altLang="zh-CN" sz="1200" kern="1200" dirty="0" err="1">
                <a:solidFill>
                  <a:schemeClr val="tx1"/>
                </a:solidFill>
                <a:effectLst/>
                <a:latin typeface="+mn-lt"/>
                <a:ea typeface="+mn-ea"/>
                <a:cs typeface="+mn-cs"/>
              </a:rPr>
              <a:t>ec</a:t>
            </a:r>
            <a:r>
              <a:rPr lang="en-US" altLang="zh-CN" sz="1200" kern="1200" dirty="0">
                <a:solidFill>
                  <a:schemeClr val="tx1"/>
                </a:solidFill>
                <a:effectLst/>
                <a:latin typeface="+mn-lt"/>
                <a:ea typeface="+mn-ea"/>
                <a:cs typeface="+mn-cs"/>
              </a:rPr>
              <a:t> 08          	sub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4003f0:	48 8b 05 e9 0b 20 00 	mov    0x200be9(%rip),%</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        # 600fe0 &lt;_DYNAMIC+0x1d0&gt;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4003f7:	48 85 c0             	test   %</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4003fa:	74 02                	je     4003fe &lt;call_gmon_start+0x12&gt;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4003fc:	ff d0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4003fe:	48 83 c4 08          	add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400402: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400403: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400404: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400405: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400406: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400407: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400408: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400409: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40040a: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40040b: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40040c: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40040d: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40040e: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40040f: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0000000000400410 &lt;</a:t>
            </a:r>
            <a:r>
              <a:rPr lang="en-US" altLang="zh-CN" sz="1200" kern="1200" dirty="0" err="1">
                <a:solidFill>
                  <a:schemeClr val="tx1"/>
                </a:solidFill>
                <a:effectLst/>
                <a:latin typeface="+mn-lt"/>
                <a:ea typeface="+mn-ea"/>
                <a:cs typeface="+mn-cs"/>
              </a:rPr>
              <a:t>deregister_tm_clones</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400410:	b8 27 10 60 00       	mov    $0x601027,%eax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400415:	55                   	push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400416:	48 2d 20 10 60 00    	sub    $0x601020,%rax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40041c:	48 83 f8 0e          	</a:t>
            </a:r>
            <a:r>
              <a:rPr lang="en-US" altLang="zh-CN" sz="1200" kern="1200" dirty="0" err="1">
                <a:solidFill>
                  <a:schemeClr val="tx1"/>
                </a:solidFill>
                <a:effectLst/>
                <a:latin typeface="+mn-lt"/>
                <a:ea typeface="+mn-ea"/>
                <a:cs typeface="+mn-cs"/>
              </a:rPr>
              <a:t>cmp</a:t>
            </a:r>
            <a:r>
              <a:rPr lang="en-US" altLang="zh-CN" sz="1200" kern="1200" dirty="0">
                <a:solidFill>
                  <a:schemeClr val="tx1"/>
                </a:solidFill>
                <a:effectLst/>
                <a:latin typeface="+mn-lt"/>
                <a:ea typeface="+mn-ea"/>
                <a:cs typeface="+mn-cs"/>
              </a:rPr>
              <a:t>    $0xe,%rax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400420:	48 89 e5             	mov    %</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400423:	77 02                	ja     400427 &lt;deregister_tm_clones+0x17&gt;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400425:	5d                   	pop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400426: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400427:	b8 00 00 00 00       	mov    $0x0,%eax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40042c:	48 85 c0             	test   %</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40042f:	74 f4                	je     400425 &lt;deregister_tm_clones+0x15&gt;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400431:	5d                   	pop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400432:	bf 20 10 60 00       	mov    $0x601020,%edi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400437:	ff e0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400439:	0f 1f 80 00 00 00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0x0(%</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0000000000400440 &lt;</a:t>
            </a:r>
            <a:r>
              <a:rPr lang="en-US" altLang="zh-CN" sz="1200" kern="1200" dirty="0" err="1">
                <a:solidFill>
                  <a:schemeClr val="tx1"/>
                </a:solidFill>
                <a:effectLst/>
                <a:latin typeface="+mn-lt"/>
                <a:ea typeface="+mn-ea"/>
                <a:cs typeface="+mn-cs"/>
              </a:rPr>
              <a:t>register_tm_clones</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400440:	b8 20 10 60 00       	mov    $0x601020,%eax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400445:	55                   	push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400446:	48 2d 20 10 60 00    	sub    $0x601020,%rax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40044c:	48 c1 f8 03          	</a:t>
            </a:r>
            <a:r>
              <a:rPr lang="en-US" altLang="zh-CN" sz="1200" kern="1200" dirty="0" err="1">
                <a:solidFill>
                  <a:schemeClr val="tx1"/>
                </a:solidFill>
                <a:effectLst/>
                <a:latin typeface="+mn-lt"/>
                <a:ea typeface="+mn-ea"/>
                <a:cs typeface="+mn-cs"/>
              </a:rPr>
              <a:t>sar</a:t>
            </a:r>
            <a:r>
              <a:rPr lang="en-US" altLang="zh-CN" sz="1200" kern="1200" dirty="0">
                <a:solidFill>
                  <a:schemeClr val="tx1"/>
                </a:solidFill>
                <a:effectLst/>
                <a:latin typeface="+mn-lt"/>
                <a:ea typeface="+mn-ea"/>
                <a:cs typeface="+mn-cs"/>
              </a:rPr>
              <a:t>    $0x3,%rax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400450:	48 89 e5             	mov    %</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400453:	48 89 c2             	mov    %</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400456:	48 c1 </a:t>
            </a:r>
            <a:r>
              <a:rPr lang="en-US" altLang="zh-CN" sz="1200" kern="1200" dirty="0" err="1">
                <a:solidFill>
                  <a:schemeClr val="tx1"/>
                </a:solidFill>
                <a:effectLst/>
                <a:latin typeface="+mn-lt"/>
                <a:ea typeface="+mn-ea"/>
                <a:cs typeface="+mn-cs"/>
              </a:rPr>
              <a:t>ea</a:t>
            </a:r>
            <a:r>
              <a:rPr lang="en-US" altLang="zh-CN" sz="1200" kern="1200" dirty="0">
                <a:solidFill>
                  <a:schemeClr val="tx1"/>
                </a:solidFill>
                <a:effectLst/>
                <a:latin typeface="+mn-lt"/>
                <a:ea typeface="+mn-ea"/>
                <a:cs typeface="+mn-cs"/>
              </a:rPr>
              <a:t> 3f          	</a:t>
            </a:r>
            <a:r>
              <a:rPr lang="en-US" altLang="zh-CN" sz="1200" kern="1200" dirty="0" err="1">
                <a:solidFill>
                  <a:schemeClr val="tx1"/>
                </a:solidFill>
                <a:effectLst/>
                <a:latin typeface="+mn-lt"/>
                <a:ea typeface="+mn-ea"/>
                <a:cs typeface="+mn-cs"/>
              </a:rPr>
              <a:t>shr</a:t>
            </a:r>
            <a:r>
              <a:rPr lang="en-US" altLang="zh-CN" sz="1200" kern="1200" dirty="0">
                <a:solidFill>
                  <a:schemeClr val="tx1"/>
                </a:solidFill>
                <a:effectLst/>
                <a:latin typeface="+mn-lt"/>
                <a:ea typeface="+mn-ea"/>
                <a:cs typeface="+mn-cs"/>
              </a:rPr>
              <a:t>    $0x3f,%rdx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40045a:	48 01 d0             	add    %</a:t>
            </a:r>
            <a:r>
              <a:rPr lang="en-US" altLang="zh-CN" sz="1200" kern="1200" dirty="0" err="1">
                <a:solidFill>
                  <a:schemeClr val="tx1"/>
                </a:solidFill>
                <a:effectLst/>
                <a:latin typeface="+mn-lt"/>
                <a:ea typeface="+mn-ea"/>
                <a:cs typeface="+mn-cs"/>
              </a:rPr>
              <a:t>rdx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40045d:	48 d1 f8             	</a:t>
            </a:r>
            <a:r>
              <a:rPr lang="en-US" altLang="zh-CN" sz="1200" kern="1200" dirty="0" err="1">
                <a:solidFill>
                  <a:schemeClr val="tx1"/>
                </a:solidFill>
                <a:effectLst/>
                <a:latin typeface="+mn-lt"/>
                <a:ea typeface="+mn-ea"/>
                <a:cs typeface="+mn-cs"/>
              </a:rPr>
              <a:t>sar</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400460:	75 02                	</a:t>
            </a:r>
            <a:r>
              <a:rPr lang="en-US" altLang="zh-CN" sz="1200" kern="1200" dirty="0" err="1">
                <a:solidFill>
                  <a:schemeClr val="tx1"/>
                </a:solidFill>
                <a:effectLst/>
                <a:latin typeface="+mn-lt"/>
                <a:ea typeface="+mn-ea"/>
                <a:cs typeface="+mn-cs"/>
              </a:rPr>
              <a:t>jne</a:t>
            </a:r>
            <a:r>
              <a:rPr lang="en-US" altLang="zh-CN" sz="1200" kern="1200" dirty="0">
                <a:solidFill>
                  <a:schemeClr val="tx1"/>
                </a:solidFill>
                <a:effectLst/>
                <a:latin typeface="+mn-lt"/>
                <a:ea typeface="+mn-ea"/>
                <a:cs typeface="+mn-cs"/>
              </a:rPr>
              <a:t>    400464 &lt;register_tm_clones+0x24&gt;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400462:	5d                   	pop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400463: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400464:	</a:t>
            </a:r>
            <a:r>
              <a:rPr lang="en-US" altLang="zh-CN" sz="1200" kern="1200" dirty="0" err="1">
                <a:solidFill>
                  <a:schemeClr val="tx1"/>
                </a:solidFill>
                <a:effectLst/>
                <a:latin typeface="+mn-lt"/>
                <a:ea typeface="+mn-ea"/>
                <a:cs typeface="+mn-cs"/>
              </a:rPr>
              <a:t>ba</a:t>
            </a:r>
            <a:r>
              <a:rPr lang="en-US" altLang="zh-CN" sz="1200" kern="1200" dirty="0">
                <a:solidFill>
                  <a:schemeClr val="tx1"/>
                </a:solidFill>
                <a:effectLst/>
                <a:latin typeface="+mn-lt"/>
                <a:ea typeface="+mn-ea"/>
                <a:cs typeface="+mn-cs"/>
              </a:rPr>
              <a:t> 00 00 00 00       	mov    $0x0,%edx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400469:	48 85 d2             	test   %</a:t>
            </a:r>
            <a:r>
              <a:rPr lang="en-US" altLang="zh-CN" sz="1200" kern="1200" dirty="0" err="1">
                <a:solidFill>
                  <a:schemeClr val="tx1"/>
                </a:solidFill>
                <a:effectLst/>
                <a:latin typeface="+mn-lt"/>
                <a:ea typeface="+mn-ea"/>
                <a:cs typeface="+mn-cs"/>
              </a:rPr>
              <a:t>rdx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40046c:	74 f4                	je     400462 &lt;register_tm_clones+0x22&gt;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40046e:	5d                   	pop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40046f:	48 89 c6             	mov    %</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rsi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400472:	bf 20 10 60 00       	mov    $0x601020,%edi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400477:	ff e2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400479:	0f 1f 80 00 00 00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0x0(%</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0000000000400480 &lt;__</a:t>
            </a:r>
            <a:r>
              <a:rPr lang="en-US" altLang="zh-CN" sz="1200" kern="1200" dirty="0" err="1">
                <a:solidFill>
                  <a:schemeClr val="tx1"/>
                </a:solidFill>
                <a:effectLst/>
                <a:latin typeface="+mn-lt"/>
                <a:ea typeface="+mn-ea"/>
                <a:cs typeface="+mn-cs"/>
              </a:rPr>
              <a:t>do_global_dtors_aux</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400480:	80 3d 99 0b 20 00 00 	</a:t>
            </a:r>
            <a:r>
              <a:rPr lang="en-US" altLang="zh-CN" sz="1200" kern="1200" dirty="0" err="1">
                <a:solidFill>
                  <a:schemeClr val="tx1"/>
                </a:solidFill>
                <a:effectLst/>
                <a:latin typeface="+mn-lt"/>
                <a:ea typeface="+mn-ea"/>
                <a:cs typeface="+mn-cs"/>
              </a:rPr>
              <a:t>cmpb</a:t>
            </a:r>
            <a:r>
              <a:rPr lang="en-US" altLang="zh-CN" sz="1200" kern="1200" dirty="0">
                <a:solidFill>
                  <a:schemeClr val="tx1"/>
                </a:solidFill>
                <a:effectLst/>
                <a:latin typeface="+mn-lt"/>
                <a:ea typeface="+mn-ea"/>
                <a:cs typeface="+mn-cs"/>
              </a:rPr>
              <a:t>   $0x0,0x200b99(%rip)        # 601020 &lt;__</a:t>
            </a:r>
            <a:r>
              <a:rPr lang="en-US" altLang="zh-CN" sz="1200" kern="1200" dirty="0" err="1">
                <a:solidFill>
                  <a:schemeClr val="tx1"/>
                </a:solidFill>
                <a:effectLst/>
                <a:latin typeface="+mn-lt"/>
                <a:ea typeface="+mn-ea"/>
                <a:cs typeface="+mn-cs"/>
              </a:rPr>
              <a:t>bss_start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400487:	75 11                	</a:t>
            </a:r>
            <a:r>
              <a:rPr lang="en-US" altLang="zh-CN" sz="1200" kern="1200" dirty="0" err="1">
                <a:solidFill>
                  <a:schemeClr val="tx1"/>
                </a:solidFill>
                <a:effectLst/>
                <a:latin typeface="+mn-lt"/>
                <a:ea typeface="+mn-ea"/>
                <a:cs typeface="+mn-cs"/>
              </a:rPr>
              <a:t>jne</a:t>
            </a:r>
            <a:r>
              <a:rPr lang="en-US" altLang="zh-CN" sz="1200" kern="1200" dirty="0">
                <a:solidFill>
                  <a:schemeClr val="tx1"/>
                </a:solidFill>
                <a:effectLst/>
                <a:latin typeface="+mn-lt"/>
                <a:ea typeface="+mn-ea"/>
                <a:cs typeface="+mn-cs"/>
              </a:rPr>
              <a:t>    40049a &lt;__do_global_dtors_aux+0x1a&gt;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400489:	55                   	push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40048a:	48 89 e5             	mov    %</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40048d:	e8 7e ff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400410 &lt;</a:t>
            </a:r>
            <a:r>
              <a:rPr lang="en-US" altLang="zh-CN" sz="1200" kern="1200" dirty="0" err="1">
                <a:solidFill>
                  <a:schemeClr val="tx1"/>
                </a:solidFill>
                <a:effectLst/>
                <a:latin typeface="+mn-lt"/>
                <a:ea typeface="+mn-ea"/>
                <a:cs typeface="+mn-cs"/>
              </a:rPr>
              <a:t>deregister_tm_clones</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400492:	5d                   	pop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400493:	c6 05 86 0b 20 00 01 	</a:t>
            </a:r>
            <a:r>
              <a:rPr lang="en-US" altLang="zh-CN" sz="1200" kern="1200" dirty="0" err="1">
                <a:solidFill>
                  <a:schemeClr val="tx1"/>
                </a:solidFill>
                <a:effectLst/>
                <a:latin typeface="+mn-lt"/>
                <a:ea typeface="+mn-ea"/>
                <a:cs typeface="+mn-cs"/>
              </a:rPr>
              <a:t>movb</a:t>
            </a:r>
            <a:r>
              <a:rPr lang="en-US" altLang="zh-CN" sz="1200" kern="1200" dirty="0">
                <a:solidFill>
                  <a:schemeClr val="tx1"/>
                </a:solidFill>
                <a:effectLst/>
                <a:latin typeface="+mn-lt"/>
                <a:ea typeface="+mn-ea"/>
                <a:cs typeface="+mn-cs"/>
              </a:rPr>
              <a:t>   $0x1,0x200b86(%rip)        # 601020 &lt;__</a:t>
            </a:r>
            <a:r>
              <a:rPr lang="en-US" altLang="zh-CN" sz="1200" kern="1200" dirty="0" err="1">
                <a:solidFill>
                  <a:schemeClr val="tx1"/>
                </a:solidFill>
                <a:effectLst/>
                <a:latin typeface="+mn-lt"/>
                <a:ea typeface="+mn-ea"/>
                <a:cs typeface="+mn-cs"/>
              </a:rPr>
              <a:t>bss_start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40049a:	f3 c3                	</a:t>
            </a:r>
            <a:r>
              <a:rPr lang="en-US" altLang="zh-CN" sz="1200" kern="1200" dirty="0" err="1">
                <a:solidFill>
                  <a:schemeClr val="tx1"/>
                </a:solidFill>
                <a:effectLst/>
                <a:latin typeface="+mn-lt"/>
                <a:ea typeface="+mn-ea"/>
                <a:cs typeface="+mn-cs"/>
              </a:rPr>
              <a:t>repz</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40049c:	0f 1f 40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0x0(%</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00000000004004a0 &lt;</a:t>
            </a:r>
            <a:r>
              <a:rPr lang="en-US" altLang="zh-CN" sz="1200" kern="1200" dirty="0" err="1">
                <a:solidFill>
                  <a:schemeClr val="tx1"/>
                </a:solidFill>
                <a:effectLst/>
                <a:latin typeface="+mn-lt"/>
                <a:ea typeface="+mn-ea"/>
                <a:cs typeface="+mn-cs"/>
              </a:rPr>
              <a:t>frame_dummy</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4004a0:	48 83 3d 60 09 20 00 	</a:t>
            </a:r>
            <a:r>
              <a:rPr lang="en-US" altLang="zh-CN" sz="1200" kern="1200" dirty="0" err="1">
                <a:solidFill>
                  <a:schemeClr val="tx1"/>
                </a:solidFill>
                <a:effectLst/>
                <a:latin typeface="+mn-lt"/>
                <a:ea typeface="+mn-ea"/>
                <a:cs typeface="+mn-cs"/>
              </a:rPr>
              <a:t>cmpq</a:t>
            </a:r>
            <a:r>
              <a:rPr lang="en-US" altLang="zh-CN" sz="1200" kern="1200" dirty="0">
                <a:solidFill>
                  <a:schemeClr val="tx1"/>
                </a:solidFill>
                <a:effectLst/>
                <a:latin typeface="+mn-lt"/>
                <a:ea typeface="+mn-ea"/>
                <a:cs typeface="+mn-cs"/>
              </a:rPr>
              <a:t>   $0x0,0x200960(%rip)        # 600e08 &lt;__JCR_END__&gt;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4004a7:	00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4004a8:	74 1e                	je     4004c8 &lt;frame_dummy+0x28&gt;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4004aa:	b8 00 00 00 00       	mov    $0x0,%eax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4004af:	48 85 c0             	test   %</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4004b2:	74 14                	je     4004c8 &lt;frame_dummy+0x28&gt;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4004b4:	55                   	push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4004b5:	bf 08 0e 60 00       	mov    $0x600e08,%edi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4004ba:	48 89 e5             	mov    %</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4004bd:	ff d0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4004bf:	5d                   	pop    %</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4004c0:	e9 7b ff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400440 &lt;</a:t>
            </a:r>
            <a:r>
              <a:rPr lang="en-US" altLang="zh-CN" sz="1200" kern="1200" dirty="0" err="1">
                <a:solidFill>
                  <a:schemeClr val="tx1"/>
                </a:solidFill>
                <a:effectLst/>
                <a:latin typeface="+mn-lt"/>
                <a:ea typeface="+mn-ea"/>
                <a:cs typeface="+mn-cs"/>
              </a:rPr>
              <a:t>register_tm_clones</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4004c5:	0f 1f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4004c8:	e9 73 ff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jmpq</a:t>
            </a:r>
            <a:r>
              <a:rPr lang="en-US" altLang="zh-CN" sz="1200" kern="1200" dirty="0">
                <a:solidFill>
                  <a:schemeClr val="tx1"/>
                </a:solidFill>
                <a:effectLst/>
                <a:latin typeface="+mn-lt"/>
                <a:ea typeface="+mn-ea"/>
                <a:cs typeface="+mn-cs"/>
              </a:rPr>
              <a:t>   400440 &lt;</a:t>
            </a:r>
            <a:r>
              <a:rPr lang="en-US" altLang="zh-CN" sz="1200" kern="1200" dirty="0" err="1">
                <a:solidFill>
                  <a:schemeClr val="tx1"/>
                </a:solidFill>
                <a:effectLst/>
                <a:latin typeface="+mn-lt"/>
                <a:ea typeface="+mn-ea"/>
                <a:cs typeface="+mn-cs"/>
              </a:rPr>
              <a:t>register_tm_clones</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4004cd: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4004ce: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4004cf: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00000000004004d0 &lt;main&gt;: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4004d0:	48 83 </a:t>
            </a:r>
            <a:r>
              <a:rPr lang="en-US" altLang="zh-CN" sz="1200" kern="1200" dirty="0" err="1">
                <a:solidFill>
                  <a:schemeClr val="tx1"/>
                </a:solidFill>
                <a:effectLst/>
                <a:latin typeface="+mn-lt"/>
                <a:ea typeface="+mn-ea"/>
                <a:cs typeface="+mn-cs"/>
              </a:rPr>
              <a:t>ec</a:t>
            </a:r>
            <a:r>
              <a:rPr lang="en-US" altLang="zh-CN" sz="1200" kern="1200" dirty="0">
                <a:solidFill>
                  <a:schemeClr val="tx1"/>
                </a:solidFill>
                <a:effectLst/>
                <a:latin typeface="+mn-lt"/>
                <a:ea typeface="+mn-ea"/>
                <a:cs typeface="+mn-cs"/>
              </a:rPr>
              <a:t> 08          	sub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4004d4:	be 02 00 00 00       	mov    $0x2,%esi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4004d9:	bf 18 10 60 00       	mov    $0x601018,%edi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4004de:	e8 05 00 00 00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4004e8 &lt;sum&gt;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4004e3:	48 83 c4 08          	add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4004e7: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00000000004004e8 &lt;sum&gt;: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4004e8:	b8 00 00 00 00       	mov    $0x0,%eax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4004ed:	</a:t>
            </a:r>
            <a:r>
              <a:rPr lang="en-US" altLang="zh-CN" sz="1200" kern="1200" dirty="0" err="1">
                <a:solidFill>
                  <a:schemeClr val="tx1"/>
                </a:solidFill>
                <a:effectLst/>
                <a:latin typeface="+mn-lt"/>
                <a:ea typeface="+mn-ea"/>
                <a:cs typeface="+mn-cs"/>
              </a:rPr>
              <a:t>ba</a:t>
            </a:r>
            <a:r>
              <a:rPr lang="en-US" altLang="zh-CN" sz="1200" kern="1200" dirty="0">
                <a:solidFill>
                  <a:schemeClr val="tx1"/>
                </a:solidFill>
                <a:effectLst/>
                <a:latin typeface="+mn-lt"/>
                <a:ea typeface="+mn-ea"/>
                <a:cs typeface="+mn-cs"/>
              </a:rPr>
              <a:t> 00 00 00 00       	mov    $0x0,%edx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4004f2:	eb 09                	</a:t>
            </a:r>
            <a:r>
              <a:rPr lang="en-US" altLang="zh-CN" sz="1200" kern="1200" dirty="0" err="1">
                <a:solidFill>
                  <a:schemeClr val="tx1"/>
                </a:solidFill>
                <a:effectLst/>
                <a:latin typeface="+mn-lt"/>
                <a:ea typeface="+mn-ea"/>
                <a:cs typeface="+mn-cs"/>
              </a:rPr>
              <a:t>jmp</a:t>
            </a:r>
            <a:r>
              <a:rPr lang="en-US" altLang="zh-CN" sz="1200" kern="1200" dirty="0">
                <a:solidFill>
                  <a:schemeClr val="tx1"/>
                </a:solidFill>
                <a:effectLst/>
                <a:latin typeface="+mn-lt"/>
                <a:ea typeface="+mn-ea"/>
                <a:cs typeface="+mn-cs"/>
              </a:rPr>
              <a:t>    4004fd &lt;sum+0x15&gt;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4004f4:	48 63 ca             	</a:t>
            </a:r>
            <a:r>
              <a:rPr lang="en-US" altLang="zh-CN" sz="1200" kern="1200" dirty="0" err="1">
                <a:solidFill>
                  <a:schemeClr val="tx1"/>
                </a:solidFill>
                <a:effectLst/>
                <a:latin typeface="+mn-lt"/>
                <a:ea typeface="+mn-ea"/>
                <a:cs typeface="+mn-cs"/>
              </a:rPr>
              <a:t>movslq</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edx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rcx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4004f7:	03 04 8f             	add    (%rdi,%rcx,4),%</a:t>
            </a:r>
            <a:r>
              <a:rPr lang="en-US" altLang="zh-CN" sz="1200" kern="1200" dirty="0" err="1">
                <a:solidFill>
                  <a:schemeClr val="tx1"/>
                </a:solidFill>
                <a:effectLst/>
                <a:latin typeface="+mn-lt"/>
                <a:ea typeface="+mn-ea"/>
                <a:cs typeface="+mn-cs"/>
              </a:rPr>
              <a:t>eax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4004fa:	83 c2 01             	add    $0x1,%edx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4004fd:	39 f2                	</a:t>
            </a:r>
            <a:r>
              <a:rPr lang="en-US" altLang="zh-CN" sz="1200" kern="1200" dirty="0" err="1">
                <a:solidFill>
                  <a:schemeClr val="tx1"/>
                </a:solidFill>
                <a:effectLst/>
                <a:latin typeface="+mn-lt"/>
                <a:ea typeface="+mn-ea"/>
                <a:cs typeface="+mn-cs"/>
              </a:rPr>
              <a:t>cmp</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esi</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edx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4004ff:	7c f3                	</a:t>
            </a:r>
            <a:r>
              <a:rPr lang="en-US" altLang="zh-CN" sz="1200" kern="1200" dirty="0" err="1">
                <a:solidFill>
                  <a:schemeClr val="tx1"/>
                </a:solidFill>
                <a:effectLst/>
                <a:latin typeface="+mn-lt"/>
                <a:ea typeface="+mn-ea"/>
                <a:cs typeface="+mn-cs"/>
              </a:rPr>
              <a:t>jl</a:t>
            </a:r>
            <a:r>
              <a:rPr lang="en-US" altLang="zh-CN" sz="1200" kern="1200" dirty="0">
                <a:solidFill>
                  <a:schemeClr val="tx1"/>
                </a:solidFill>
                <a:effectLst/>
                <a:latin typeface="+mn-lt"/>
                <a:ea typeface="+mn-ea"/>
                <a:cs typeface="+mn-cs"/>
              </a:rPr>
              <a:t>     4004f4 &lt;sum+0xc&gt;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400501:	f3 c3                	</a:t>
            </a:r>
            <a:r>
              <a:rPr lang="en-US" altLang="zh-CN" sz="1200" kern="1200" dirty="0" err="1">
                <a:solidFill>
                  <a:schemeClr val="tx1"/>
                </a:solidFill>
                <a:effectLst/>
                <a:latin typeface="+mn-lt"/>
                <a:ea typeface="+mn-ea"/>
                <a:cs typeface="+mn-cs"/>
              </a:rPr>
              <a:t>repz</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400503: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400504: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400505: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400506: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400507: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400508: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400509: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40050a: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40050b: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40050c: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40050d: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40050e: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40050f: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0000000000400510 &lt;__</a:t>
            </a:r>
            <a:r>
              <a:rPr lang="en-US" altLang="zh-CN" sz="1200" kern="1200" dirty="0" err="1">
                <a:solidFill>
                  <a:schemeClr val="tx1"/>
                </a:solidFill>
                <a:effectLst/>
                <a:latin typeface="+mn-lt"/>
                <a:ea typeface="+mn-ea"/>
                <a:cs typeface="+mn-cs"/>
              </a:rPr>
              <a:t>libc_csu_init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400510:	48 89 6c 24 d8       	mov    %rbp,-0x28(%</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400515:	4c 89 64 24 e0       	mov    %r12,-0x20(%</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40051a:	48 8d 2d df 08 20 00 	lea    0x2008df(%rip),%</a:t>
            </a:r>
            <a:r>
              <a:rPr lang="en-US" altLang="zh-CN" sz="1200" kern="1200" dirty="0" err="1">
                <a:solidFill>
                  <a:schemeClr val="tx1"/>
                </a:solidFill>
                <a:effectLst/>
                <a:latin typeface="+mn-lt"/>
                <a:ea typeface="+mn-ea"/>
                <a:cs typeface="+mn-cs"/>
              </a:rPr>
              <a:t>rbp</a:t>
            </a:r>
            <a:r>
              <a:rPr lang="en-US" altLang="zh-CN" sz="1200" kern="1200" dirty="0">
                <a:solidFill>
                  <a:schemeClr val="tx1"/>
                </a:solidFill>
                <a:effectLst/>
                <a:latin typeface="+mn-lt"/>
                <a:ea typeface="+mn-ea"/>
                <a:cs typeface="+mn-cs"/>
              </a:rPr>
              <a:t>        # 600e00 &lt;__</a:t>
            </a:r>
            <a:r>
              <a:rPr lang="en-US" altLang="zh-CN" sz="1200" kern="1200" dirty="0" err="1">
                <a:solidFill>
                  <a:schemeClr val="tx1"/>
                </a:solidFill>
                <a:effectLst/>
                <a:latin typeface="+mn-lt"/>
                <a:ea typeface="+mn-ea"/>
                <a:cs typeface="+mn-cs"/>
              </a:rPr>
              <a:t>init_array_end</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400521:	4c 8d 25 d0 08 20 00 	lea    0x2008d0(%rip),%r12        # 600df8 &lt;__</a:t>
            </a:r>
            <a:r>
              <a:rPr lang="en-US" altLang="zh-CN" sz="1200" kern="1200" dirty="0" err="1">
                <a:solidFill>
                  <a:schemeClr val="tx1"/>
                </a:solidFill>
                <a:effectLst/>
                <a:latin typeface="+mn-lt"/>
                <a:ea typeface="+mn-ea"/>
                <a:cs typeface="+mn-cs"/>
              </a:rPr>
              <a:t>frame_dummy_init_array_entry</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400528:	4c 89 6c 24 e8       	mov    %r13,-0x18(%</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40052d:	4c 89 74 24 f0       	mov    %r14,-0x10(%</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400532:	4c 89 7c 24 f8       	mov    %r15,-0x8(%</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400537:	48 89 5c 24 d0       	mov    %rbx,-0x30(%</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40053c:	48 83 </a:t>
            </a:r>
            <a:r>
              <a:rPr lang="en-US" altLang="zh-CN" sz="1200" kern="1200" dirty="0" err="1">
                <a:solidFill>
                  <a:schemeClr val="tx1"/>
                </a:solidFill>
                <a:effectLst/>
                <a:latin typeface="+mn-lt"/>
                <a:ea typeface="+mn-ea"/>
                <a:cs typeface="+mn-cs"/>
              </a:rPr>
              <a:t>ec</a:t>
            </a:r>
            <a:r>
              <a:rPr lang="en-US" altLang="zh-CN" sz="1200" kern="1200" dirty="0">
                <a:solidFill>
                  <a:schemeClr val="tx1"/>
                </a:solidFill>
                <a:effectLst/>
                <a:latin typeface="+mn-lt"/>
                <a:ea typeface="+mn-ea"/>
                <a:cs typeface="+mn-cs"/>
              </a:rPr>
              <a:t> 38          	sub    $0x38,%rsp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400540:	4c 29 e5             	sub    %r12,%rbp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400543:	41 89 </a:t>
            </a:r>
            <a:r>
              <a:rPr lang="en-US" altLang="zh-CN" sz="1200" kern="1200" dirty="0" err="1">
                <a:solidFill>
                  <a:schemeClr val="tx1"/>
                </a:solidFill>
                <a:effectLst/>
                <a:latin typeface="+mn-lt"/>
                <a:ea typeface="+mn-ea"/>
                <a:cs typeface="+mn-cs"/>
              </a:rPr>
              <a:t>fd</a:t>
            </a:r>
            <a:r>
              <a:rPr lang="en-US" altLang="zh-CN" sz="1200" kern="1200" dirty="0">
                <a:solidFill>
                  <a:schemeClr val="tx1"/>
                </a:solidFill>
                <a:effectLst/>
                <a:latin typeface="+mn-lt"/>
                <a:ea typeface="+mn-ea"/>
                <a:cs typeface="+mn-cs"/>
              </a:rPr>
              <a:t>             	mov    %edi,%r13d</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400546:	49 89 f6             	mov    %rsi,%r14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400549:	48 c1 </a:t>
            </a:r>
            <a:r>
              <a:rPr lang="en-US" altLang="zh-CN" sz="1200" kern="1200" dirty="0" err="1">
                <a:solidFill>
                  <a:schemeClr val="tx1"/>
                </a:solidFill>
                <a:effectLst/>
                <a:latin typeface="+mn-lt"/>
                <a:ea typeface="+mn-ea"/>
                <a:cs typeface="+mn-cs"/>
              </a:rPr>
              <a:t>fd</a:t>
            </a:r>
            <a:r>
              <a:rPr lang="en-US" altLang="zh-CN" sz="1200" kern="1200" dirty="0">
                <a:solidFill>
                  <a:schemeClr val="tx1"/>
                </a:solidFill>
                <a:effectLst/>
                <a:latin typeface="+mn-lt"/>
                <a:ea typeface="+mn-ea"/>
                <a:cs typeface="+mn-cs"/>
              </a:rPr>
              <a:t> 03          	</a:t>
            </a:r>
            <a:r>
              <a:rPr lang="en-US" altLang="zh-CN" sz="1200" kern="1200" dirty="0" err="1">
                <a:solidFill>
                  <a:schemeClr val="tx1"/>
                </a:solidFill>
                <a:effectLst/>
                <a:latin typeface="+mn-lt"/>
                <a:ea typeface="+mn-ea"/>
                <a:cs typeface="+mn-cs"/>
              </a:rPr>
              <a:t>sar</a:t>
            </a:r>
            <a:r>
              <a:rPr lang="en-US" altLang="zh-CN" sz="1200" kern="1200" dirty="0">
                <a:solidFill>
                  <a:schemeClr val="tx1"/>
                </a:solidFill>
                <a:effectLst/>
                <a:latin typeface="+mn-lt"/>
                <a:ea typeface="+mn-ea"/>
                <a:cs typeface="+mn-cs"/>
              </a:rPr>
              <a:t>    $0x3,%rbp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40054d:	49 89 d7             	mov    %rdx,%r15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400550:	e8 3b </a:t>
            </a:r>
            <a:r>
              <a:rPr lang="en-US" altLang="zh-CN" sz="1200" kern="1200" dirty="0" err="1">
                <a:solidFill>
                  <a:schemeClr val="tx1"/>
                </a:solidFill>
                <a:effectLst/>
                <a:latin typeface="+mn-lt"/>
                <a:ea typeface="+mn-ea"/>
                <a:cs typeface="+mn-cs"/>
              </a:rPr>
              <a:t>fe</a:t>
            </a:r>
            <a:r>
              <a:rPr lang="en-US" altLang="zh-CN" sz="1200" kern="1200" dirty="0">
                <a:solidFill>
                  <a:schemeClr val="tx1"/>
                </a:solidFill>
                <a:effectLst/>
                <a:latin typeface="+mn-lt"/>
                <a:ea typeface="+mn-ea"/>
                <a:cs typeface="+mn-cs"/>
              </a:rPr>
              <a:t> ff </a:t>
            </a:r>
            <a:r>
              <a:rPr lang="en-US" altLang="zh-CN" sz="1200" kern="1200" dirty="0" err="1">
                <a:solidFill>
                  <a:schemeClr val="tx1"/>
                </a:solidFill>
                <a:effectLst/>
                <a:latin typeface="+mn-lt"/>
                <a:ea typeface="+mn-ea"/>
                <a:cs typeface="+mn-cs"/>
              </a:rPr>
              <a:t>ff</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400390 &lt;_</a:t>
            </a:r>
            <a:r>
              <a:rPr lang="en-US" altLang="zh-CN" sz="1200" kern="1200" dirty="0" err="1">
                <a:solidFill>
                  <a:schemeClr val="tx1"/>
                </a:solidFill>
                <a:effectLst/>
                <a:latin typeface="+mn-lt"/>
                <a:ea typeface="+mn-ea"/>
                <a:cs typeface="+mn-cs"/>
              </a:rPr>
              <a:t>init</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400555:	48 85 ed             	test   %</a:t>
            </a:r>
            <a:r>
              <a:rPr lang="en-US" altLang="zh-CN" sz="1200" kern="1200" dirty="0" err="1">
                <a:solidFill>
                  <a:schemeClr val="tx1"/>
                </a:solidFill>
                <a:effectLst/>
                <a:latin typeface="+mn-lt"/>
                <a:ea typeface="+mn-ea"/>
                <a:cs typeface="+mn-cs"/>
              </a:rPr>
              <a:t>rbp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400558:	74 1c                	je     400576 &lt;__libc_csu_init+0x66&gt;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40055a:	31 </a:t>
            </a:r>
            <a:r>
              <a:rPr lang="en-US" altLang="zh-CN" sz="1200" kern="1200" dirty="0" err="1">
                <a:solidFill>
                  <a:schemeClr val="tx1"/>
                </a:solidFill>
                <a:effectLst/>
                <a:latin typeface="+mn-lt"/>
                <a:ea typeface="+mn-ea"/>
                <a:cs typeface="+mn-cs"/>
              </a:rPr>
              <a:t>db</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xor</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ebx</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ebx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40055c:	0f 1f 40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0x0(%</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400560:	4c 89 fa             	mov    %r15,%rdx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400563:	4c 89 f6             	mov    %r14,%rsi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400566:	44 89 </a:t>
            </a:r>
            <a:r>
              <a:rPr lang="en-US" altLang="zh-CN" sz="1200" kern="1200" dirty="0" err="1">
                <a:solidFill>
                  <a:schemeClr val="tx1"/>
                </a:solidFill>
                <a:effectLst/>
                <a:latin typeface="+mn-lt"/>
                <a:ea typeface="+mn-ea"/>
                <a:cs typeface="+mn-cs"/>
              </a:rPr>
              <a:t>ef</a:t>
            </a:r>
            <a:r>
              <a:rPr lang="en-US" altLang="zh-CN" sz="1200" kern="1200" dirty="0">
                <a:solidFill>
                  <a:schemeClr val="tx1"/>
                </a:solidFill>
                <a:effectLst/>
                <a:latin typeface="+mn-lt"/>
                <a:ea typeface="+mn-ea"/>
                <a:cs typeface="+mn-cs"/>
              </a:rPr>
              <a:t>             	mov    %r13d,%edi</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400569:	41 ff 14 dc          	</a:t>
            </a:r>
            <a:r>
              <a:rPr lang="en-US" altLang="zh-CN" sz="1200" kern="1200" dirty="0" err="1">
                <a:solidFill>
                  <a:schemeClr val="tx1"/>
                </a:solidFill>
                <a:effectLst/>
                <a:latin typeface="+mn-lt"/>
                <a:ea typeface="+mn-ea"/>
                <a:cs typeface="+mn-cs"/>
              </a:rPr>
              <a:t>callq</a:t>
            </a:r>
            <a:r>
              <a:rPr lang="en-US" altLang="zh-CN" sz="1200" kern="1200" dirty="0">
                <a:solidFill>
                  <a:schemeClr val="tx1"/>
                </a:solidFill>
                <a:effectLst/>
                <a:latin typeface="+mn-lt"/>
                <a:ea typeface="+mn-ea"/>
                <a:cs typeface="+mn-cs"/>
              </a:rPr>
              <a:t>  *(%r12,%rbx,8)</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40056d:	48 83 c3 01          	add    $0x1,%rbx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400571:	48 39 eb             	</a:t>
            </a:r>
            <a:r>
              <a:rPr lang="en-US" altLang="zh-CN" sz="1200" kern="1200" dirty="0" err="1">
                <a:solidFill>
                  <a:schemeClr val="tx1"/>
                </a:solidFill>
                <a:effectLst/>
                <a:latin typeface="+mn-lt"/>
                <a:ea typeface="+mn-ea"/>
                <a:cs typeface="+mn-cs"/>
              </a:rPr>
              <a:t>cmp</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rbp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400574:	75 </a:t>
            </a:r>
            <a:r>
              <a:rPr lang="en-US" altLang="zh-CN" sz="1200" kern="1200" dirty="0" err="1">
                <a:solidFill>
                  <a:schemeClr val="tx1"/>
                </a:solidFill>
                <a:effectLst/>
                <a:latin typeface="+mn-lt"/>
                <a:ea typeface="+mn-ea"/>
                <a:cs typeface="+mn-cs"/>
              </a:rPr>
              <a:t>ea</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jne</a:t>
            </a:r>
            <a:r>
              <a:rPr lang="en-US" altLang="zh-CN" sz="1200" kern="1200" dirty="0">
                <a:solidFill>
                  <a:schemeClr val="tx1"/>
                </a:solidFill>
                <a:effectLst/>
                <a:latin typeface="+mn-lt"/>
                <a:ea typeface="+mn-ea"/>
                <a:cs typeface="+mn-cs"/>
              </a:rPr>
              <a:t>    400560 &lt;__libc_csu_init+0x50&gt;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400576:	48 8b 5c 24 08       	mov    0x8(%</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rbx</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40057b:	48 8b 6c 24 10       	mov    0x10(%</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rbp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400580:	4c 8b 64 24 18       	mov    0x18(%</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),%r12</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400585:	4c 8b 6c 24 20       	mov    0x20(%</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),%r13</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40058a:	4c 8b 74 24 28       	mov    0x28(%</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),%r14</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40058f:	4c 8b 7c 24 30       	mov    0x30(%</a:t>
            </a:r>
            <a:r>
              <a:rPr lang="en-US" altLang="zh-CN" sz="1200" kern="1200" dirty="0" err="1">
                <a:solidFill>
                  <a:schemeClr val="tx1"/>
                </a:solidFill>
                <a:effectLst/>
                <a:latin typeface="+mn-lt"/>
                <a:ea typeface="+mn-ea"/>
                <a:cs typeface="+mn-cs"/>
              </a:rPr>
              <a:t>rsp</a:t>
            </a:r>
            <a:r>
              <a:rPr lang="en-US" altLang="zh-CN" sz="1200" kern="1200" dirty="0">
                <a:solidFill>
                  <a:schemeClr val="tx1"/>
                </a:solidFill>
                <a:effectLst/>
                <a:latin typeface="+mn-lt"/>
                <a:ea typeface="+mn-ea"/>
                <a:cs typeface="+mn-cs"/>
              </a:rPr>
              <a:t>),%r15</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400594:	48 83 c4 38          	add    $0x38,%rsp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400598: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400599:	0f 1f 80 00 00 00 00 	</a:t>
            </a:r>
            <a:r>
              <a:rPr lang="en-US" altLang="zh-CN" sz="1200" kern="1200" dirty="0" err="1">
                <a:solidFill>
                  <a:schemeClr val="tx1"/>
                </a:solidFill>
                <a:effectLst/>
                <a:latin typeface="+mn-lt"/>
                <a:ea typeface="+mn-ea"/>
                <a:cs typeface="+mn-cs"/>
              </a:rPr>
              <a:t>nopl</a:t>
            </a:r>
            <a:r>
              <a:rPr lang="en-US" altLang="zh-CN" sz="1200" kern="1200" dirty="0">
                <a:solidFill>
                  <a:schemeClr val="tx1"/>
                </a:solidFill>
                <a:effectLst/>
                <a:latin typeface="+mn-lt"/>
                <a:ea typeface="+mn-ea"/>
                <a:cs typeface="+mn-cs"/>
              </a:rPr>
              <a:t>   0x0(%</a:t>
            </a:r>
            <a:r>
              <a:rPr lang="en-US" altLang="zh-CN" sz="1200" kern="1200" dirty="0" err="1">
                <a:solidFill>
                  <a:schemeClr val="tx1"/>
                </a:solidFill>
                <a:effectLst/>
                <a:latin typeface="+mn-lt"/>
                <a:ea typeface="+mn-ea"/>
                <a:cs typeface="+mn-cs"/>
              </a:rPr>
              <a:t>rax</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00000000004005a0 &lt;__</a:t>
            </a:r>
            <a:r>
              <a:rPr lang="en-US" altLang="zh-CN" sz="1200" kern="1200" dirty="0" err="1">
                <a:solidFill>
                  <a:schemeClr val="tx1"/>
                </a:solidFill>
                <a:effectLst/>
                <a:latin typeface="+mn-lt"/>
                <a:ea typeface="+mn-ea"/>
                <a:cs typeface="+mn-cs"/>
              </a:rPr>
              <a:t>libc_csu_fini</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4005a0:	f3 c3                	</a:t>
            </a:r>
            <a:r>
              <a:rPr lang="en-US" altLang="zh-CN" sz="1200" kern="1200" dirty="0" err="1">
                <a:solidFill>
                  <a:schemeClr val="tx1"/>
                </a:solidFill>
                <a:effectLst/>
                <a:latin typeface="+mn-lt"/>
                <a:ea typeface="+mn-ea"/>
                <a:cs typeface="+mn-cs"/>
              </a:rPr>
              <a:t>repz</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4005a2: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4005a3:	90                   	</a:t>
            </a:r>
            <a:r>
              <a:rPr lang="en-US" altLang="zh-CN" sz="1200" kern="1200" dirty="0" err="1">
                <a:solidFill>
                  <a:schemeClr val="tx1"/>
                </a:solidFill>
                <a:effectLst/>
                <a:latin typeface="+mn-lt"/>
                <a:ea typeface="+mn-ea"/>
                <a:cs typeface="+mn-cs"/>
              </a:rPr>
              <a:t>nop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Disassembly of section .</a:t>
            </a:r>
            <a:r>
              <a:rPr lang="en-US" altLang="zh-CN" sz="1200" kern="1200" dirty="0" err="1">
                <a:solidFill>
                  <a:schemeClr val="tx1"/>
                </a:solidFill>
                <a:effectLst/>
                <a:latin typeface="+mn-lt"/>
                <a:ea typeface="+mn-ea"/>
                <a:cs typeface="+mn-cs"/>
              </a:rPr>
              <a:t>fini</a:t>
            </a:r>
            <a:r>
              <a:rPr lang="en-US" altLang="zh-CN" sz="1200" kern="1200" dirty="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00000000004005a4 &lt;_</a:t>
            </a:r>
            <a:r>
              <a:rPr lang="en-US" altLang="zh-CN" sz="1200" kern="1200" dirty="0" err="1">
                <a:solidFill>
                  <a:schemeClr val="tx1"/>
                </a:solidFill>
                <a:effectLst/>
                <a:latin typeface="+mn-lt"/>
                <a:ea typeface="+mn-ea"/>
                <a:cs typeface="+mn-cs"/>
              </a:rPr>
              <a:t>fini</a:t>
            </a:r>
            <a:r>
              <a:rPr lang="en-US" altLang="zh-CN" sz="1200" kern="1200" dirty="0">
                <a:solidFill>
                  <a:schemeClr val="tx1"/>
                </a:solidFill>
                <a:effectLst/>
                <a:latin typeface="+mn-lt"/>
                <a:ea typeface="+mn-ea"/>
                <a:cs typeface="+mn-cs"/>
              </a:rPr>
              <a:t>&gt;:</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4005a4:	48 83 </a:t>
            </a:r>
            <a:r>
              <a:rPr lang="en-US" altLang="zh-CN" sz="1200" kern="1200" dirty="0" err="1">
                <a:solidFill>
                  <a:schemeClr val="tx1"/>
                </a:solidFill>
                <a:effectLst/>
                <a:latin typeface="+mn-lt"/>
                <a:ea typeface="+mn-ea"/>
                <a:cs typeface="+mn-cs"/>
              </a:rPr>
              <a:t>ec</a:t>
            </a:r>
            <a:r>
              <a:rPr lang="en-US" altLang="zh-CN" sz="1200" kern="1200" dirty="0">
                <a:solidFill>
                  <a:schemeClr val="tx1"/>
                </a:solidFill>
                <a:effectLst/>
                <a:latin typeface="+mn-lt"/>
                <a:ea typeface="+mn-ea"/>
                <a:cs typeface="+mn-cs"/>
              </a:rPr>
              <a:t> 08          	sub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4005a8:	48 83 c4 08          	add    $0x8,%rsp</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4005ac:	c3                   	</a:t>
            </a:r>
            <a:r>
              <a:rPr lang="en-US" altLang="zh-CN" sz="1200" kern="1200" dirty="0" err="1">
                <a:solidFill>
                  <a:schemeClr val="tx1"/>
                </a:solidFill>
                <a:effectLst/>
                <a:latin typeface="+mn-lt"/>
                <a:ea typeface="+mn-ea"/>
                <a:cs typeface="+mn-cs"/>
              </a:rPr>
              <a:t>retq</a:t>
            </a:r>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endParaRPr lang="zh-CN"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45</a:t>
            </a:fld>
            <a:endParaRPr lang="zh-CN" altLang="en-US"/>
          </a:p>
        </p:txBody>
      </p:sp>
    </p:spTree>
    <p:extLst>
      <p:ext uri="{BB962C8B-B14F-4D97-AF65-F5344CB8AC3E}">
        <p14:creationId xmlns:p14="http://schemas.microsoft.com/office/powerpoint/2010/main" val="3974459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a:t>
            </a:r>
            <a:r>
              <a:rPr lang="en-US" altLang="zh-CN" dirty="0" err="1"/>
              <a:t>stdio.h</a:t>
            </a:r>
            <a:r>
              <a:rPr lang="en-US" altLang="zh-CN" dirty="0"/>
              <a:t>&gt;</a:t>
            </a:r>
          </a:p>
          <a:p>
            <a:r>
              <a:rPr lang="en-US" altLang="zh-CN" dirty="0"/>
              <a:t>#include &lt;</a:t>
            </a:r>
            <a:r>
              <a:rPr lang="en-US" altLang="zh-CN" dirty="0" err="1"/>
              <a:t>stdlib.h</a:t>
            </a:r>
            <a:r>
              <a:rPr lang="en-US" altLang="zh-CN" dirty="0"/>
              <a:t>&gt;</a:t>
            </a:r>
          </a:p>
          <a:p>
            <a:r>
              <a:rPr lang="en-US" altLang="zh-CN" dirty="0"/>
              <a:t>#include &lt;</a:t>
            </a:r>
            <a:r>
              <a:rPr lang="en-US" altLang="zh-CN" dirty="0" err="1"/>
              <a:t>dlfcn.h</a:t>
            </a:r>
            <a:r>
              <a:rPr lang="en-US" altLang="zh-CN" dirty="0"/>
              <a:t>&gt;</a:t>
            </a:r>
          </a:p>
          <a:p>
            <a:r>
              <a:rPr lang="en-US" altLang="zh-CN" dirty="0"/>
              <a:t>int x[2]={1,2};</a:t>
            </a:r>
          </a:p>
          <a:p>
            <a:r>
              <a:rPr lang="en-US" altLang="zh-CN" dirty="0"/>
              <a:t>int y[2]={3,4};</a:t>
            </a:r>
          </a:p>
          <a:p>
            <a:r>
              <a:rPr lang="en-US" altLang="zh-CN" dirty="0"/>
              <a:t>int z[2];</a:t>
            </a:r>
          </a:p>
          <a:p>
            <a:r>
              <a:rPr lang="en-US" altLang="zh-CN" dirty="0"/>
              <a:t>int main()</a:t>
            </a:r>
          </a:p>
          <a:p>
            <a:r>
              <a:rPr lang="en-US" altLang="zh-CN" dirty="0"/>
              <a:t>{</a:t>
            </a:r>
          </a:p>
          <a:p>
            <a:r>
              <a:rPr lang="en-US" altLang="zh-CN" dirty="0"/>
              <a:t>	void *handle;</a:t>
            </a:r>
          </a:p>
          <a:p>
            <a:r>
              <a:rPr lang="en-US" altLang="zh-CN" dirty="0"/>
              <a:t>	void (*</a:t>
            </a:r>
            <a:r>
              <a:rPr lang="en-US" altLang="zh-CN" dirty="0" err="1"/>
              <a:t>addvec</a:t>
            </a:r>
            <a:r>
              <a:rPr lang="en-US" altLang="zh-CN" dirty="0"/>
              <a:t>)(int *, int *, int *, int);</a:t>
            </a:r>
          </a:p>
          <a:p>
            <a:r>
              <a:rPr lang="en-US" altLang="zh-CN" dirty="0"/>
              <a:t>	char *error;</a:t>
            </a:r>
          </a:p>
          <a:p>
            <a:r>
              <a:rPr lang="en-US" altLang="zh-CN" dirty="0"/>
              <a:t>	/*dynamically load the shared library containing </a:t>
            </a:r>
            <a:r>
              <a:rPr lang="en-US" altLang="zh-CN" dirty="0" err="1"/>
              <a:t>addvec</a:t>
            </a:r>
            <a:r>
              <a:rPr lang="en-US" altLang="zh-CN" dirty="0"/>
              <a:t>()*/</a:t>
            </a:r>
          </a:p>
          <a:p>
            <a:r>
              <a:rPr lang="en-US" altLang="zh-CN" dirty="0"/>
              <a:t>	handle=</a:t>
            </a:r>
            <a:r>
              <a:rPr lang="en-US" altLang="zh-CN" dirty="0" err="1"/>
              <a:t>dlopen</a:t>
            </a:r>
            <a:r>
              <a:rPr lang="en-US" altLang="zh-CN" dirty="0"/>
              <a:t>("./</a:t>
            </a:r>
            <a:r>
              <a:rPr lang="en-US" altLang="zh-CN" dirty="0" err="1"/>
              <a:t>libvector.so",RTLD_LAZY</a:t>
            </a:r>
            <a:r>
              <a:rPr lang="en-US" altLang="zh-CN" dirty="0"/>
              <a:t>);</a:t>
            </a:r>
          </a:p>
          <a:p>
            <a:r>
              <a:rPr lang="en-US" altLang="zh-CN" dirty="0"/>
              <a:t>	if(!handle){</a:t>
            </a:r>
          </a:p>
          <a:p>
            <a:r>
              <a:rPr lang="en-US" altLang="zh-CN" dirty="0"/>
              <a:t>		</a:t>
            </a:r>
            <a:r>
              <a:rPr lang="en-US" altLang="zh-CN" dirty="0" err="1"/>
              <a:t>fprintf</a:t>
            </a:r>
            <a:r>
              <a:rPr lang="en-US" altLang="zh-CN" dirty="0"/>
              <a:t>(</a:t>
            </a:r>
            <a:r>
              <a:rPr lang="en-US" altLang="zh-CN" dirty="0" err="1"/>
              <a:t>stderr,"%s</a:t>
            </a:r>
            <a:r>
              <a:rPr lang="en-US" altLang="zh-CN" dirty="0"/>
              <a:t>\n",</a:t>
            </a:r>
            <a:r>
              <a:rPr lang="en-US" altLang="zh-CN" dirty="0" err="1"/>
              <a:t>dlerror</a:t>
            </a:r>
            <a:r>
              <a:rPr lang="en-US" altLang="zh-CN" dirty="0"/>
              <a:t>());</a:t>
            </a:r>
          </a:p>
          <a:p>
            <a:r>
              <a:rPr lang="en-US" altLang="zh-CN" dirty="0"/>
              <a:t>		exit(1);</a:t>
            </a:r>
          </a:p>
          <a:p>
            <a:r>
              <a:rPr lang="en-US" altLang="zh-CN" dirty="0"/>
              <a:t>	}</a:t>
            </a:r>
          </a:p>
          <a:p>
            <a:r>
              <a:rPr lang="en-US" altLang="zh-CN" dirty="0"/>
              <a:t>	/*get a pointer to the </a:t>
            </a:r>
            <a:r>
              <a:rPr lang="en-US" altLang="zh-CN" dirty="0" err="1"/>
              <a:t>addvec</a:t>
            </a:r>
            <a:r>
              <a:rPr lang="en-US" altLang="zh-CN" dirty="0"/>
              <a:t>() function we just loaded*/</a:t>
            </a:r>
          </a:p>
          <a:p>
            <a:r>
              <a:rPr lang="en-US" altLang="zh-CN" dirty="0"/>
              <a:t>	</a:t>
            </a:r>
            <a:r>
              <a:rPr lang="en-US" altLang="zh-CN" dirty="0" err="1"/>
              <a:t>addvec</a:t>
            </a:r>
            <a:r>
              <a:rPr lang="en-US" altLang="zh-CN" dirty="0"/>
              <a:t>=</a:t>
            </a:r>
            <a:r>
              <a:rPr lang="en-US" altLang="zh-CN" dirty="0" err="1"/>
              <a:t>dlsym</a:t>
            </a:r>
            <a:r>
              <a:rPr lang="en-US" altLang="zh-CN" dirty="0"/>
              <a:t>(handle,"</a:t>
            </a:r>
            <a:r>
              <a:rPr lang="en-US" altLang="zh-CN" dirty="0" err="1"/>
              <a:t>addvec</a:t>
            </a:r>
            <a:r>
              <a:rPr lang="en-US" altLang="zh-CN" dirty="0"/>
              <a:t>");</a:t>
            </a:r>
          </a:p>
          <a:p>
            <a:r>
              <a:rPr lang="en-US" altLang="zh-CN" dirty="0"/>
              <a:t>	if((error=</a:t>
            </a:r>
            <a:r>
              <a:rPr lang="en-US" altLang="zh-CN" dirty="0" err="1"/>
              <a:t>dlerror</a:t>
            </a:r>
            <a:r>
              <a:rPr lang="en-US" altLang="zh-CN" dirty="0"/>
              <a:t>())!=NULL){</a:t>
            </a:r>
          </a:p>
          <a:p>
            <a:r>
              <a:rPr lang="en-US" altLang="zh-CN" dirty="0"/>
              <a:t>		</a:t>
            </a:r>
            <a:r>
              <a:rPr lang="en-US" altLang="zh-CN" dirty="0" err="1"/>
              <a:t>fprintf</a:t>
            </a:r>
            <a:r>
              <a:rPr lang="en-US" altLang="zh-CN" dirty="0"/>
              <a:t>(</a:t>
            </a:r>
            <a:r>
              <a:rPr lang="en-US" altLang="zh-CN" dirty="0" err="1"/>
              <a:t>stderr,"%s</a:t>
            </a:r>
            <a:r>
              <a:rPr lang="en-US" altLang="zh-CN" dirty="0"/>
              <a:t>\</a:t>
            </a:r>
            <a:r>
              <a:rPr lang="en-US" altLang="zh-CN" dirty="0" err="1"/>
              <a:t>n",error</a:t>
            </a:r>
            <a:r>
              <a:rPr lang="en-US" altLang="zh-CN" dirty="0"/>
              <a:t>);</a:t>
            </a:r>
          </a:p>
          <a:p>
            <a:r>
              <a:rPr lang="en-US" altLang="zh-CN" dirty="0"/>
              <a:t>		exit(1);</a:t>
            </a:r>
          </a:p>
          <a:p>
            <a:r>
              <a:rPr lang="en-US" altLang="zh-CN" dirty="0"/>
              <a:t>	}</a:t>
            </a:r>
          </a:p>
          <a:p>
            <a:r>
              <a:rPr lang="en-US" altLang="zh-CN" dirty="0"/>
              <a:t>	/*now we call </a:t>
            </a:r>
            <a:r>
              <a:rPr lang="en-US" altLang="zh-CN" dirty="0" err="1"/>
              <a:t>addvec</a:t>
            </a:r>
            <a:r>
              <a:rPr lang="en-US" altLang="zh-CN" dirty="0"/>
              <a:t>() just like any other function*/</a:t>
            </a:r>
          </a:p>
          <a:p>
            <a:r>
              <a:rPr lang="en-US" altLang="zh-CN" dirty="0"/>
              <a:t>	</a:t>
            </a:r>
            <a:r>
              <a:rPr lang="en-US" altLang="zh-CN" dirty="0" err="1"/>
              <a:t>addvec</a:t>
            </a:r>
            <a:r>
              <a:rPr lang="en-US" altLang="zh-CN" dirty="0"/>
              <a:t>(x,y,z,2);</a:t>
            </a:r>
          </a:p>
          <a:p>
            <a:r>
              <a:rPr lang="en-US" altLang="zh-CN" dirty="0"/>
              <a:t>	</a:t>
            </a:r>
            <a:r>
              <a:rPr lang="en-US" altLang="zh-CN" dirty="0" err="1"/>
              <a:t>printf</a:t>
            </a:r>
            <a:r>
              <a:rPr lang="en-US" altLang="zh-CN" dirty="0"/>
              <a:t>("z=[%d %d]\</a:t>
            </a:r>
            <a:r>
              <a:rPr lang="en-US" altLang="zh-CN" dirty="0" err="1"/>
              <a:t>n",z</a:t>
            </a:r>
            <a:r>
              <a:rPr lang="en-US" altLang="zh-CN" dirty="0"/>
              <a:t>[0],z[1]);</a:t>
            </a:r>
          </a:p>
          <a:p>
            <a:r>
              <a:rPr lang="en-US" altLang="zh-CN" dirty="0"/>
              <a:t>	/*unload the shared library*/</a:t>
            </a:r>
          </a:p>
          <a:p>
            <a:r>
              <a:rPr lang="en-US" altLang="zh-CN" dirty="0"/>
              <a:t>	if(</a:t>
            </a:r>
            <a:r>
              <a:rPr lang="en-US" altLang="zh-CN" dirty="0" err="1"/>
              <a:t>dlclose</a:t>
            </a:r>
            <a:r>
              <a:rPr lang="en-US" altLang="zh-CN" dirty="0"/>
              <a:t>(handle)&lt;0){</a:t>
            </a:r>
          </a:p>
          <a:p>
            <a:r>
              <a:rPr lang="en-US" altLang="zh-CN" dirty="0"/>
              <a:t>		</a:t>
            </a:r>
            <a:r>
              <a:rPr lang="en-US" altLang="zh-CN" dirty="0" err="1"/>
              <a:t>fprintf</a:t>
            </a:r>
            <a:r>
              <a:rPr lang="en-US" altLang="zh-CN" dirty="0"/>
              <a:t>(</a:t>
            </a:r>
            <a:r>
              <a:rPr lang="en-US" altLang="zh-CN" dirty="0" err="1"/>
              <a:t>stderr,"%s</a:t>
            </a:r>
            <a:r>
              <a:rPr lang="en-US" altLang="zh-CN" dirty="0"/>
              <a:t>\n",</a:t>
            </a:r>
            <a:r>
              <a:rPr lang="en-US" altLang="zh-CN" dirty="0" err="1"/>
              <a:t>dlerror</a:t>
            </a:r>
            <a:r>
              <a:rPr lang="en-US" altLang="zh-CN" dirty="0"/>
              <a:t>());</a:t>
            </a:r>
          </a:p>
          <a:p>
            <a:r>
              <a:rPr lang="en-US" altLang="zh-CN" dirty="0"/>
              <a:t>		exit(1);</a:t>
            </a:r>
          </a:p>
          <a:p>
            <a:r>
              <a:rPr lang="en-US" altLang="zh-CN" dirty="0"/>
              <a:t>	}</a:t>
            </a:r>
          </a:p>
          <a:p>
            <a:r>
              <a:rPr lang="en-US" altLang="zh-CN" dirty="0"/>
              <a:t>	return 0;</a:t>
            </a:r>
          </a:p>
          <a:p>
            <a:r>
              <a:rPr lang="en-US" altLang="zh-CN" dirty="0"/>
              <a:t>}</a:t>
            </a:r>
          </a:p>
          <a:p>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52</a:t>
            </a:fld>
            <a:endParaRPr lang="zh-CN" altLang="en-US"/>
          </a:p>
        </p:txBody>
      </p:sp>
    </p:spTree>
    <p:extLst>
      <p:ext uri="{BB962C8B-B14F-4D97-AF65-F5344CB8AC3E}">
        <p14:creationId xmlns:p14="http://schemas.microsoft.com/office/powerpoint/2010/main" val="79593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（句柄）来存储进程下的数据对象变化后的地址，也就是当前的地址，其实设计机制很简单 ：系统的某个部门移动了对象的地址后，同时上报给句柄所属部门管理者，管理者将改动写入句柄即可。该数据被重新起用时去其所属句柄内按内容存取即可。</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句柄与普通指针的区别在于，指针包含的是引用对象的内存地址，而句柄则是由系统所管理的引用标识，该标识可以被系统重新定位到一个内存地址上。这种间接访问对象的模式增强了系统对引用对象的控制。</a:t>
            </a:r>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53</a:t>
            </a:fld>
            <a:endParaRPr lang="zh-CN" altLang="en-US"/>
          </a:p>
        </p:txBody>
      </p:sp>
    </p:spTree>
    <p:extLst>
      <p:ext uri="{BB962C8B-B14F-4D97-AF65-F5344CB8AC3E}">
        <p14:creationId xmlns:p14="http://schemas.microsoft.com/office/powerpoint/2010/main" val="2647842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54</a:t>
            </a:fld>
            <a:endParaRPr lang="zh-CN" altLang="en-US"/>
          </a:p>
        </p:txBody>
      </p:sp>
    </p:spTree>
    <p:extLst>
      <p:ext uri="{BB962C8B-B14F-4D97-AF65-F5344CB8AC3E}">
        <p14:creationId xmlns:p14="http://schemas.microsoft.com/office/powerpoint/2010/main" val="20821321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#include &lt;</a:t>
            </a:r>
            <a:r>
              <a:rPr lang="en-US" altLang="zh-CN" dirty="0" err="1"/>
              <a:t>stdio.h</a:t>
            </a:r>
            <a:r>
              <a:rPr lang="en-US" altLang="zh-CN" dirty="0"/>
              <a:t>&gt;</a:t>
            </a:r>
          </a:p>
          <a:p>
            <a:r>
              <a:rPr lang="en-US" altLang="zh-CN" dirty="0"/>
              <a:t>#include &lt;</a:t>
            </a:r>
            <a:r>
              <a:rPr lang="en-US" altLang="zh-CN" dirty="0" err="1"/>
              <a:t>malloc.h</a:t>
            </a:r>
            <a:r>
              <a:rPr lang="en-US" altLang="zh-CN" dirty="0"/>
              <a:t>&gt;</a:t>
            </a:r>
          </a:p>
          <a:p>
            <a:r>
              <a:rPr lang="en-US" altLang="zh-CN" dirty="0"/>
              <a:t>int main()</a:t>
            </a:r>
          </a:p>
          <a:p>
            <a:r>
              <a:rPr lang="en-US" altLang="zh-CN" dirty="0"/>
              <a:t>{</a:t>
            </a:r>
          </a:p>
          <a:p>
            <a:r>
              <a:rPr lang="en-US" altLang="zh-CN" dirty="0"/>
              <a:t>    int *p = malloc(32);</a:t>
            </a:r>
          </a:p>
          <a:p>
            <a:r>
              <a:rPr lang="en-US" altLang="zh-CN" dirty="0"/>
              <a:t>    free(p);</a:t>
            </a:r>
          </a:p>
          <a:p>
            <a:r>
              <a:rPr lang="en-US" altLang="zh-CN" dirty="0"/>
              <a:t>    return(0);</a:t>
            </a:r>
          </a:p>
          <a:p>
            <a:r>
              <a:rPr lang="en-US" altLang="zh-CN" dirty="0"/>
              <a:t>}</a:t>
            </a:r>
          </a:p>
          <a:p>
            <a:r>
              <a:rPr lang="en-US" altLang="zh-CN" dirty="0"/>
              <a:t>/* </a:t>
            </a:r>
            <a:r>
              <a:rPr lang="en-US" altLang="zh-CN" dirty="0" err="1"/>
              <a:t>int.c</a:t>
            </a:r>
            <a:r>
              <a:rPr lang="en-US" altLang="zh-CN" dirty="0"/>
              <a:t>*/</a:t>
            </a:r>
          </a:p>
          <a:p>
            <a:endParaRPr lang="en-US" altLang="zh-CN" dirty="0"/>
          </a:p>
          <a:p>
            <a:r>
              <a:rPr lang="en-US" altLang="zh-CN" dirty="0"/>
              <a:t>#define malloc(size) </a:t>
            </a:r>
            <a:r>
              <a:rPr lang="en-US" altLang="zh-CN" dirty="0" err="1"/>
              <a:t>mymalloc</a:t>
            </a:r>
            <a:r>
              <a:rPr lang="en-US" altLang="zh-CN" dirty="0"/>
              <a:t>(size)</a:t>
            </a:r>
          </a:p>
          <a:p>
            <a:r>
              <a:rPr lang="en-US" altLang="zh-CN" dirty="0"/>
              <a:t>#define free(</a:t>
            </a:r>
            <a:r>
              <a:rPr lang="en-US" altLang="zh-CN" dirty="0" err="1"/>
              <a:t>ptr</a:t>
            </a:r>
            <a:r>
              <a:rPr lang="en-US" altLang="zh-CN" dirty="0"/>
              <a:t>) </a:t>
            </a:r>
            <a:r>
              <a:rPr lang="en-US" altLang="zh-CN" dirty="0" err="1"/>
              <a:t>myfree</a:t>
            </a:r>
            <a:r>
              <a:rPr lang="en-US" altLang="zh-CN" dirty="0"/>
              <a:t>(</a:t>
            </a:r>
            <a:r>
              <a:rPr lang="en-US" altLang="zh-CN" dirty="0" err="1"/>
              <a:t>ptr</a:t>
            </a:r>
            <a:r>
              <a:rPr lang="en-US" altLang="zh-CN" dirty="0"/>
              <a:t>)</a:t>
            </a:r>
          </a:p>
          <a:p>
            <a:r>
              <a:rPr lang="en-US" altLang="zh-CN" dirty="0"/>
              <a:t>void *</a:t>
            </a:r>
            <a:r>
              <a:rPr lang="en-US" altLang="zh-CN" dirty="0" err="1"/>
              <a:t>mymalloc</a:t>
            </a:r>
            <a:r>
              <a:rPr lang="en-US" altLang="zh-CN" dirty="0"/>
              <a:t>(</a:t>
            </a:r>
            <a:r>
              <a:rPr lang="en-US" altLang="zh-CN" dirty="0" err="1"/>
              <a:t>size_t</a:t>
            </a:r>
            <a:r>
              <a:rPr lang="en-US" altLang="zh-CN" dirty="0"/>
              <a:t> size);</a:t>
            </a:r>
          </a:p>
          <a:p>
            <a:r>
              <a:rPr lang="en-US" altLang="zh-CN" dirty="0"/>
              <a:t>void </a:t>
            </a:r>
            <a:r>
              <a:rPr lang="en-US" altLang="zh-CN" dirty="0" err="1"/>
              <a:t>myfree</a:t>
            </a:r>
            <a:r>
              <a:rPr lang="en-US" altLang="zh-CN" dirty="0"/>
              <a:t>(void *</a:t>
            </a:r>
            <a:r>
              <a:rPr lang="en-US" altLang="zh-CN" dirty="0" err="1"/>
              <a:t>ptr</a:t>
            </a:r>
            <a:r>
              <a:rPr lang="en-US" altLang="zh-CN" dirty="0"/>
              <a:t>);</a:t>
            </a:r>
          </a:p>
          <a:p>
            <a:r>
              <a:rPr lang="en-US" altLang="zh-CN" dirty="0"/>
              <a:t>/* </a:t>
            </a:r>
            <a:r>
              <a:rPr lang="en-US" altLang="zh-CN" dirty="0" err="1"/>
              <a:t>malloc.h</a:t>
            </a:r>
            <a:r>
              <a:rPr lang="en-US" altLang="zh-CN" dirty="0"/>
              <a:t>*/</a:t>
            </a:r>
          </a:p>
          <a:p>
            <a:endParaRPr lang="en-US" altLang="zh-CN" dirty="0"/>
          </a:p>
          <a:p>
            <a:r>
              <a:rPr lang="en-US" altLang="zh-CN" dirty="0"/>
              <a:t>#ifdef COMPILETIME</a:t>
            </a:r>
          </a:p>
          <a:p>
            <a:r>
              <a:rPr lang="en-US" altLang="zh-CN" dirty="0"/>
              <a:t>#include &lt;</a:t>
            </a:r>
            <a:r>
              <a:rPr lang="en-US" altLang="zh-CN" dirty="0" err="1"/>
              <a:t>stdio.h</a:t>
            </a:r>
            <a:r>
              <a:rPr lang="en-US" altLang="zh-CN" dirty="0"/>
              <a:t>&gt;</a:t>
            </a:r>
          </a:p>
          <a:p>
            <a:r>
              <a:rPr lang="en-US" altLang="zh-CN" dirty="0"/>
              <a:t>#include &lt;</a:t>
            </a:r>
            <a:r>
              <a:rPr lang="en-US" altLang="zh-CN" dirty="0" err="1"/>
              <a:t>malloc.h</a:t>
            </a:r>
            <a:r>
              <a:rPr lang="en-US" altLang="zh-CN" dirty="0"/>
              <a:t>&gt;</a:t>
            </a:r>
          </a:p>
          <a:p>
            <a:r>
              <a:rPr lang="en-US" altLang="zh-CN" dirty="0"/>
              <a:t>/*malloc wrapper function*/</a:t>
            </a:r>
          </a:p>
          <a:p>
            <a:r>
              <a:rPr lang="en-US" altLang="zh-CN" dirty="0"/>
              <a:t>void *</a:t>
            </a:r>
            <a:r>
              <a:rPr lang="en-US" altLang="zh-CN" dirty="0" err="1"/>
              <a:t>mymalloc</a:t>
            </a:r>
            <a:r>
              <a:rPr lang="en-US" altLang="zh-CN" dirty="0"/>
              <a:t>(</a:t>
            </a:r>
            <a:r>
              <a:rPr lang="en-US" altLang="zh-CN" dirty="0" err="1"/>
              <a:t>size_t</a:t>
            </a:r>
            <a:r>
              <a:rPr lang="en-US" altLang="zh-CN" dirty="0"/>
              <a:t> size)</a:t>
            </a:r>
          </a:p>
          <a:p>
            <a:r>
              <a:rPr lang="en-US" altLang="zh-CN" dirty="0"/>
              <a:t>{</a:t>
            </a:r>
          </a:p>
          <a:p>
            <a:r>
              <a:rPr lang="en-US" altLang="zh-CN" dirty="0"/>
              <a:t>        void *</a:t>
            </a:r>
            <a:r>
              <a:rPr lang="en-US" altLang="zh-CN" dirty="0" err="1"/>
              <a:t>ptr</a:t>
            </a:r>
            <a:r>
              <a:rPr lang="en-US" altLang="zh-CN" dirty="0"/>
              <a:t>=malloc(size);</a:t>
            </a:r>
          </a:p>
          <a:p>
            <a:r>
              <a:rPr lang="en-US" altLang="zh-CN" dirty="0"/>
              <a:t>        </a:t>
            </a:r>
            <a:r>
              <a:rPr lang="en-US" altLang="zh-CN" dirty="0" err="1"/>
              <a:t>printf</a:t>
            </a:r>
            <a:r>
              <a:rPr lang="en-US" altLang="zh-CN" dirty="0"/>
              <a:t>("malloc(%d)=%p\n",(int)size, </a:t>
            </a:r>
            <a:r>
              <a:rPr lang="en-US" altLang="zh-CN" dirty="0" err="1"/>
              <a:t>ptr</a:t>
            </a:r>
            <a:r>
              <a:rPr lang="en-US" altLang="zh-CN" dirty="0"/>
              <a:t>);</a:t>
            </a:r>
          </a:p>
          <a:p>
            <a:r>
              <a:rPr lang="en-US" altLang="zh-CN" dirty="0"/>
              <a:t>        return </a:t>
            </a:r>
            <a:r>
              <a:rPr lang="en-US" altLang="zh-CN" dirty="0" err="1"/>
              <a:t>ptr</a:t>
            </a:r>
            <a:r>
              <a:rPr lang="en-US" altLang="zh-CN" dirty="0"/>
              <a:t>;</a:t>
            </a:r>
          </a:p>
          <a:p>
            <a:r>
              <a:rPr lang="en-US" altLang="zh-CN" dirty="0"/>
              <a:t>}</a:t>
            </a:r>
          </a:p>
          <a:p>
            <a:r>
              <a:rPr lang="en-US" altLang="zh-CN" dirty="0"/>
              <a:t>/*free wrapper function*/</a:t>
            </a:r>
          </a:p>
          <a:p>
            <a:r>
              <a:rPr lang="en-US" altLang="zh-CN" dirty="0"/>
              <a:t>void </a:t>
            </a:r>
            <a:r>
              <a:rPr lang="en-US" altLang="zh-CN" dirty="0" err="1"/>
              <a:t>myfree</a:t>
            </a:r>
            <a:r>
              <a:rPr lang="en-US" altLang="zh-CN" dirty="0"/>
              <a:t>(void *</a:t>
            </a:r>
            <a:r>
              <a:rPr lang="en-US" altLang="zh-CN" dirty="0" err="1"/>
              <a:t>ptr</a:t>
            </a:r>
            <a:r>
              <a:rPr lang="en-US" altLang="zh-CN" dirty="0"/>
              <a:t>)</a:t>
            </a:r>
          </a:p>
          <a:p>
            <a:r>
              <a:rPr lang="en-US" altLang="zh-CN" dirty="0"/>
              <a:t>{</a:t>
            </a:r>
          </a:p>
          <a:p>
            <a:r>
              <a:rPr lang="en-US" altLang="zh-CN" dirty="0"/>
              <a:t>        free(</a:t>
            </a:r>
            <a:r>
              <a:rPr lang="en-US" altLang="zh-CN" dirty="0" err="1"/>
              <a:t>ptr</a:t>
            </a:r>
            <a:r>
              <a:rPr lang="en-US" altLang="zh-CN" dirty="0"/>
              <a:t>);</a:t>
            </a:r>
          </a:p>
          <a:p>
            <a:r>
              <a:rPr lang="en-US" altLang="zh-CN" dirty="0"/>
              <a:t>        </a:t>
            </a:r>
            <a:r>
              <a:rPr lang="en-US" altLang="zh-CN" dirty="0" err="1"/>
              <a:t>printf</a:t>
            </a:r>
            <a:r>
              <a:rPr lang="en-US" altLang="zh-CN" dirty="0"/>
              <a:t>("free (%p)\n",</a:t>
            </a:r>
            <a:r>
              <a:rPr lang="en-US" altLang="zh-CN" dirty="0" err="1"/>
              <a:t>ptr</a:t>
            </a:r>
            <a:r>
              <a:rPr lang="en-US" altLang="zh-CN" dirty="0"/>
              <a:t>);</a:t>
            </a:r>
          </a:p>
          <a:p>
            <a:r>
              <a:rPr lang="en-US" altLang="zh-CN" dirty="0"/>
              <a:t>}</a:t>
            </a:r>
          </a:p>
          <a:p>
            <a:r>
              <a:rPr lang="en-US" altLang="zh-CN" dirty="0"/>
              <a:t>#endif</a:t>
            </a:r>
          </a:p>
          <a:p>
            <a:r>
              <a:rPr lang="en-US" altLang="zh-CN" dirty="0"/>
              <a:t>/* </a:t>
            </a:r>
            <a:r>
              <a:rPr lang="en-US" altLang="zh-CN" dirty="0" err="1"/>
              <a:t>mymalloc.c</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C16CEBB1-29F6-4DD0-A20A-49F07B6D6B29}" type="slidenum">
              <a:rPr lang="zh-CN" altLang="en-US" smtClean="0"/>
              <a:t>61</a:t>
            </a:fld>
            <a:endParaRPr lang="zh-CN" altLang="en-US"/>
          </a:p>
        </p:txBody>
      </p:sp>
    </p:spTree>
    <p:extLst>
      <p:ext uri="{BB962C8B-B14F-4D97-AF65-F5344CB8AC3E}">
        <p14:creationId xmlns:p14="http://schemas.microsoft.com/office/powerpoint/2010/main" val="17937986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6CEBB1-29F6-4DD0-A20A-49F07B6D6B29}" type="slidenum">
              <a:rPr lang="zh-CN" altLang="en-US" smtClean="0"/>
              <a:t>67</a:t>
            </a:fld>
            <a:endParaRPr lang="zh-CN" altLang="en-US"/>
          </a:p>
        </p:txBody>
      </p:sp>
    </p:spTree>
    <p:extLst>
      <p:ext uri="{BB962C8B-B14F-4D97-AF65-F5344CB8AC3E}">
        <p14:creationId xmlns:p14="http://schemas.microsoft.com/office/powerpoint/2010/main" val="2445990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31"/>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812" indent="0" algn="ctr">
              <a:buNone/>
              <a:defRPr>
                <a:solidFill>
                  <a:schemeClr val="tx1">
                    <a:tint val="75000"/>
                  </a:schemeClr>
                </a:solidFill>
              </a:defRPr>
            </a:lvl2pPr>
            <a:lvl3pPr marL="685622" indent="0" algn="ctr">
              <a:buNone/>
              <a:defRPr>
                <a:solidFill>
                  <a:schemeClr val="tx1">
                    <a:tint val="75000"/>
                  </a:schemeClr>
                </a:solidFill>
              </a:defRPr>
            </a:lvl3pPr>
            <a:lvl4pPr marL="1028435" indent="0" algn="ctr">
              <a:buNone/>
              <a:defRPr>
                <a:solidFill>
                  <a:schemeClr val="tx1">
                    <a:tint val="75000"/>
                  </a:schemeClr>
                </a:solidFill>
              </a:defRPr>
            </a:lvl4pPr>
            <a:lvl5pPr marL="1371245" indent="0" algn="ctr">
              <a:buNone/>
              <a:defRPr>
                <a:solidFill>
                  <a:schemeClr val="tx1">
                    <a:tint val="75000"/>
                  </a:schemeClr>
                </a:solidFill>
              </a:defRPr>
            </a:lvl5pPr>
            <a:lvl6pPr marL="1714057" indent="0" algn="ctr">
              <a:buNone/>
              <a:defRPr>
                <a:solidFill>
                  <a:schemeClr val="tx1">
                    <a:tint val="75000"/>
                  </a:schemeClr>
                </a:solidFill>
              </a:defRPr>
            </a:lvl6pPr>
            <a:lvl7pPr marL="2056868" indent="0" algn="ctr">
              <a:buNone/>
              <a:defRPr>
                <a:solidFill>
                  <a:schemeClr val="tx1">
                    <a:tint val="75000"/>
                  </a:schemeClr>
                </a:solidFill>
              </a:defRPr>
            </a:lvl7pPr>
            <a:lvl8pPr marL="2399680" indent="0" algn="ctr">
              <a:buNone/>
              <a:defRPr>
                <a:solidFill>
                  <a:schemeClr val="tx1">
                    <a:tint val="75000"/>
                  </a:schemeClr>
                </a:solidFill>
              </a:defRPr>
            </a:lvl8pPr>
            <a:lvl9pPr marL="2742491"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8B168EB-E298-45B2-8F7D-CDF15E3A530D}" type="datetime1">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2089275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83233" y="112875"/>
            <a:ext cx="7787208" cy="562395"/>
          </a:xfrm>
        </p:spPr>
        <p:txBody>
          <a:bodyPr>
            <a:normAutofit/>
          </a:bodyPr>
          <a:lstStyle>
            <a:lvl1pPr algn="l">
              <a:defRPr sz="3200">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defRPr>
            </a:lvl1pPr>
          </a:lstStyle>
          <a:p>
            <a:r>
              <a:rPr lang="zh-CN" altLang="en-US"/>
              <a:t>单击此处编辑母版标题样式</a:t>
            </a:r>
          </a:p>
        </p:txBody>
      </p:sp>
      <p:sp>
        <p:nvSpPr>
          <p:cNvPr id="3" name="内容占位符 2"/>
          <p:cNvSpPr>
            <a:spLocks noGrp="1"/>
          </p:cNvSpPr>
          <p:nvPr>
            <p:ph idx="1"/>
          </p:nvPr>
        </p:nvSpPr>
        <p:spPr>
          <a:xfrm>
            <a:off x="457200" y="837034"/>
            <a:ext cx="8229600" cy="5289136"/>
          </a:xfrm>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矩形 6">
            <a:extLst>
              <a:ext uri="{FF2B5EF4-FFF2-40B4-BE49-F238E27FC236}">
                <a16:creationId xmlns:a16="http://schemas.microsoft.com/office/drawing/2014/main" id="{7AE443BD-8F94-47DD-909E-FCC207A94E12}"/>
              </a:ext>
            </a:extLst>
          </p:cNvPr>
          <p:cNvSpPr/>
          <p:nvPr userDrawn="1"/>
        </p:nvSpPr>
        <p:spPr>
          <a:xfrm>
            <a:off x="1" y="116632"/>
            <a:ext cx="738572" cy="4372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8" name="组合 7">
            <a:extLst>
              <a:ext uri="{FF2B5EF4-FFF2-40B4-BE49-F238E27FC236}">
                <a16:creationId xmlns:a16="http://schemas.microsoft.com/office/drawing/2014/main" id="{FFB0D252-E3C6-4808-A6CE-C8DD6263714B}"/>
              </a:ext>
            </a:extLst>
          </p:cNvPr>
          <p:cNvGrpSpPr/>
          <p:nvPr userDrawn="1"/>
        </p:nvGrpSpPr>
        <p:grpSpPr>
          <a:xfrm>
            <a:off x="144660" y="127078"/>
            <a:ext cx="431937" cy="616926"/>
            <a:chOff x="841002" y="373970"/>
            <a:chExt cx="504057" cy="822782"/>
          </a:xfrm>
          <a:solidFill>
            <a:srgbClr val="2F5EB0"/>
          </a:solidFill>
        </p:grpSpPr>
        <p:sp>
          <p:nvSpPr>
            <p:cNvPr id="9" name="矩形 8">
              <a:extLst>
                <a:ext uri="{FF2B5EF4-FFF2-40B4-BE49-F238E27FC236}">
                  <a16:creationId xmlns:a16="http://schemas.microsoft.com/office/drawing/2014/main" id="{74C242AE-7D83-4E8A-A404-9E322FEEBDEB}"/>
                </a:ext>
              </a:extLst>
            </p:cNvPr>
            <p:cNvSpPr/>
            <p:nvPr/>
          </p:nvSpPr>
          <p:spPr>
            <a:xfrm>
              <a:off x="841002" y="373970"/>
              <a:ext cx="504056" cy="5486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等腰三角形 9">
              <a:extLst>
                <a:ext uri="{FF2B5EF4-FFF2-40B4-BE49-F238E27FC236}">
                  <a16:creationId xmlns:a16="http://schemas.microsoft.com/office/drawing/2014/main" id="{0F24F281-4631-4F16-B945-1977C3E93EC1}"/>
                </a:ext>
              </a:extLst>
            </p:cNvPr>
            <p:cNvSpPr/>
            <p:nvPr/>
          </p:nvSpPr>
          <p:spPr>
            <a:xfrm rot="10800000">
              <a:off x="841003" y="908720"/>
              <a:ext cx="504056" cy="28803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2" name="矩形 11">
            <a:extLst>
              <a:ext uri="{FF2B5EF4-FFF2-40B4-BE49-F238E27FC236}">
                <a16:creationId xmlns:a16="http://schemas.microsoft.com/office/drawing/2014/main" id="{50741F44-5492-4360-AAC1-4574F348C257}"/>
              </a:ext>
            </a:extLst>
          </p:cNvPr>
          <p:cNvSpPr/>
          <p:nvPr userDrawn="1"/>
        </p:nvSpPr>
        <p:spPr>
          <a:xfrm flipH="1">
            <a:off x="-1" y="6615071"/>
            <a:ext cx="9144001" cy="270313"/>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a:extLst>
              <a:ext uri="{FF2B5EF4-FFF2-40B4-BE49-F238E27FC236}">
                <a16:creationId xmlns:a16="http://schemas.microsoft.com/office/drawing/2014/main" id="{F91F4FFA-E97D-40AE-893A-8515F62CDFC9}"/>
              </a:ext>
            </a:extLst>
          </p:cNvPr>
          <p:cNvSpPr/>
          <p:nvPr userDrawn="1"/>
        </p:nvSpPr>
        <p:spPr>
          <a:xfrm flipH="1">
            <a:off x="-2" y="6668356"/>
            <a:ext cx="9144001" cy="21667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梯形 14">
            <a:extLst>
              <a:ext uri="{FF2B5EF4-FFF2-40B4-BE49-F238E27FC236}">
                <a16:creationId xmlns:a16="http://schemas.microsoft.com/office/drawing/2014/main" id="{5F93A48F-B27C-416B-BBC7-6B3185CFA11B}"/>
              </a:ext>
            </a:extLst>
          </p:cNvPr>
          <p:cNvSpPr/>
          <p:nvPr userDrawn="1"/>
        </p:nvSpPr>
        <p:spPr>
          <a:xfrm>
            <a:off x="7962742" y="6602819"/>
            <a:ext cx="648072" cy="270313"/>
          </a:xfrm>
          <a:prstGeom prst="trapezoid">
            <a:avLst>
              <a:gd name="adj" fmla="val 53529"/>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灯片编号占位符 5"/>
          <p:cNvSpPr>
            <a:spLocks noGrp="1"/>
          </p:cNvSpPr>
          <p:nvPr>
            <p:ph type="sldNum" sz="quarter" idx="12"/>
          </p:nvPr>
        </p:nvSpPr>
        <p:spPr>
          <a:xfrm>
            <a:off x="7884058" y="6594820"/>
            <a:ext cx="802741" cy="286313"/>
          </a:xfrm>
        </p:spPr>
        <p:txBody>
          <a:bodyPr/>
          <a:lstStyle>
            <a:lvl1pPr algn="ctr">
              <a:defRPr sz="1200">
                <a:solidFill>
                  <a:schemeClr val="bg1"/>
                </a:solidFill>
              </a:defRPr>
            </a:lvl1pPr>
          </a:lstStyle>
          <a:p>
            <a:fld id="{6D62327B-ED8D-4CFC-ADD0-A75FA5CBE281}" type="slidenum">
              <a:rPr lang="zh-CN" altLang="en-US" smtClean="0"/>
              <a:pPr/>
              <a:t>‹#›</a:t>
            </a:fld>
            <a:endParaRPr lang="zh-CN" altLang="en-US" dirty="0"/>
          </a:p>
        </p:txBody>
      </p:sp>
      <p:sp>
        <p:nvSpPr>
          <p:cNvPr id="4" name="日期占位符 3"/>
          <p:cNvSpPr>
            <a:spLocks noGrp="1"/>
          </p:cNvSpPr>
          <p:nvPr>
            <p:ph type="dt" sz="half" idx="10"/>
          </p:nvPr>
        </p:nvSpPr>
        <p:spPr>
          <a:xfrm>
            <a:off x="457201" y="6668002"/>
            <a:ext cx="2133600" cy="182562"/>
          </a:xfrm>
        </p:spPr>
        <p:txBody>
          <a:bodyPr/>
          <a:lstStyle>
            <a:lvl1pPr>
              <a:defRPr>
                <a:solidFill>
                  <a:schemeClr val="bg1"/>
                </a:solidFill>
              </a:defRPr>
            </a:lvl1pPr>
          </a:lstStyle>
          <a:p>
            <a:fld id="{342CA798-357E-481B-8E1D-609499653827}" type="datetime1">
              <a:rPr lang="zh-CN" altLang="en-US" smtClean="0"/>
              <a:t>2024/12/6</a:t>
            </a:fld>
            <a:endParaRPr lang="zh-CN" altLang="en-US"/>
          </a:p>
        </p:txBody>
      </p:sp>
      <p:sp>
        <p:nvSpPr>
          <p:cNvPr id="5" name="页脚占位符 4"/>
          <p:cNvSpPr>
            <a:spLocks noGrp="1"/>
          </p:cNvSpPr>
          <p:nvPr>
            <p:ph type="ftr" sz="quarter" idx="11"/>
          </p:nvPr>
        </p:nvSpPr>
        <p:spPr>
          <a:xfrm>
            <a:off x="3124200" y="6668002"/>
            <a:ext cx="2895600" cy="182562"/>
          </a:xfrm>
        </p:spPr>
        <p:txBody>
          <a:bodyPr/>
          <a:lstStyle>
            <a:lvl1pPr>
              <a:defRPr>
                <a:solidFill>
                  <a:schemeClr val="bg1"/>
                </a:solidFill>
              </a:defRPr>
            </a:lvl1pPr>
          </a:lstStyle>
          <a:p>
            <a:endParaRPr lang="zh-CN" altLang="en-US" dirty="0"/>
          </a:p>
        </p:txBody>
      </p:sp>
    </p:spTree>
    <p:extLst>
      <p:ext uri="{BB962C8B-B14F-4D97-AF65-F5344CB8AC3E}">
        <p14:creationId xmlns:p14="http://schemas.microsoft.com/office/powerpoint/2010/main" val="2828639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03EDDB94-E224-4A9A-81DD-70F20CE7459D}"/>
              </a:ext>
            </a:extLst>
          </p:cNvPr>
          <p:cNvSpPr/>
          <p:nvPr userDrawn="1"/>
        </p:nvSpPr>
        <p:spPr>
          <a:xfrm>
            <a:off x="-4522" y="999362"/>
            <a:ext cx="9144000" cy="1295807"/>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a:extLst>
              <a:ext uri="{FF2B5EF4-FFF2-40B4-BE49-F238E27FC236}">
                <a16:creationId xmlns:a16="http://schemas.microsoft.com/office/drawing/2014/main" id="{14FDF281-1498-4AB2-97AC-D3DA69A798D1}"/>
              </a:ext>
            </a:extLst>
          </p:cNvPr>
          <p:cNvSpPr/>
          <p:nvPr userDrawn="1"/>
        </p:nvSpPr>
        <p:spPr>
          <a:xfrm>
            <a:off x="-4521" y="857919"/>
            <a:ext cx="9165837" cy="1383258"/>
          </a:xfrm>
          <a:prstGeom prst="rect">
            <a:avLst/>
          </a:prstGeom>
          <a:gradFill>
            <a:gsLst>
              <a:gs pos="0">
                <a:srgbClr val="0E1A40"/>
              </a:gs>
              <a:gs pos="100000">
                <a:srgbClr val="2F5EB0"/>
              </a:gs>
            </a:gsLst>
            <a:lin ang="13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圆角矩形 8">
            <a:extLst>
              <a:ext uri="{FF2B5EF4-FFF2-40B4-BE49-F238E27FC236}">
                <a16:creationId xmlns:a16="http://schemas.microsoft.com/office/drawing/2014/main" id="{DE9A4BCB-4772-485B-84FE-200C6F4C70E7}"/>
              </a:ext>
            </a:extLst>
          </p:cNvPr>
          <p:cNvSpPr/>
          <p:nvPr userDrawn="1"/>
        </p:nvSpPr>
        <p:spPr>
          <a:xfrm>
            <a:off x="1386476" y="1539284"/>
            <a:ext cx="2753589" cy="431936"/>
          </a:xfrm>
          <a:prstGeom prst="roundRect">
            <a:avLst>
              <a:gd name="adj" fmla="val 0"/>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10" name="TextBox 9">
            <a:extLst>
              <a:ext uri="{FF2B5EF4-FFF2-40B4-BE49-F238E27FC236}">
                <a16:creationId xmlns:a16="http://schemas.microsoft.com/office/drawing/2014/main" id="{F3F948AC-C425-407B-9EC3-F75094A5A8BD}"/>
              </a:ext>
            </a:extLst>
          </p:cNvPr>
          <p:cNvSpPr txBox="1"/>
          <p:nvPr userDrawn="1"/>
        </p:nvSpPr>
        <p:spPr>
          <a:xfrm>
            <a:off x="1332484" y="1578906"/>
            <a:ext cx="2807581" cy="415370"/>
          </a:xfrm>
          <a:prstGeom prst="rect">
            <a:avLst/>
          </a:prstGeom>
          <a:noFill/>
        </p:spPr>
        <p:txBody>
          <a:bodyPr wrap="square" rtlCol="0">
            <a:spAutoFit/>
          </a:bodyPr>
          <a:lstStyle/>
          <a:p>
            <a:pPr algn="ctr"/>
            <a:r>
              <a:rPr lang="zh-CN" altLang="en-US" sz="2099" b="1" dirty="0">
                <a:solidFill>
                  <a:schemeClr val="bg1"/>
                </a:solidFill>
                <a:latin typeface="微软雅黑" pitchFamily="34" charset="-122"/>
                <a:ea typeface="微软雅黑" pitchFamily="34" charset="-122"/>
              </a:rPr>
              <a:t>前言 </a:t>
            </a:r>
            <a:r>
              <a:rPr lang="en-US" altLang="zh-CN" sz="2099" b="1" dirty="0">
                <a:solidFill>
                  <a:schemeClr val="bg1"/>
                </a:solidFill>
                <a:latin typeface="微软雅黑" pitchFamily="34" charset="-122"/>
                <a:ea typeface="微软雅黑" pitchFamily="34" charset="-122"/>
              </a:rPr>
              <a:t>/ </a:t>
            </a:r>
            <a:r>
              <a:rPr lang="en-US" altLang="zh-CN" sz="2099" b="1" dirty="0">
                <a:solidFill>
                  <a:schemeClr val="bg1"/>
                </a:solidFill>
                <a:latin typeface="Impact MT Std" pitchFamily="34" charset="0"/>
                <a:ea typeface="微软雅黑" panose="020B0503020204020204" pitchFamily="34" charset="-122"/>
              </a:rPr>
              <a:t>INTRODUCTION</a:t>
            </a:r>
            <a:endParaRPr lang="zh-CN" altLang="en-US" sz="2099" b="1" dirty="0">
              <a:solidFill>
                <a:schemeClr val="bg1"/>
              </a:solidFill>
              <a:latin typeface="Impact MT Std" pitchFamily="34" charset="0"/>
              <a:ea typeface="微软雅黑" panose="020B0503020204020204" pitchFamily="34" charset="-122"/>
            </a:endParaRPr>
          </a:p>
        </p:txBody>
      </p:sp>
      <p:pic>
        <p:nvPicPr>
          <p:cNvPr id="11" name="图片 10">
            <a:extLst>
              <a:ext uri="{FF2B5EF4-FFF2-40B4-BE49-F238E27FC236}">
                <a16:creationId xmlns:a16="http://schemas.microsoft.com/office/drawing/2014/main" id="{35443E7E-D6BB-44E0-834B-6C248B2F005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5900" t="4646" r="9843"/>
          <a:stretch/>
        </p:blipFill>
        <p:spPr>
          <a:xfrm>
            <a:off x="6804247" y="1559391"/>
            <a:ext cx="1420847" cy="1004986"/>
          </a:xfrm>
          <a:prstGeom prst="rect">
            <a:avLst/>
          </a:prstGeom>
        </p:spPr>
      </p:pic>
      <p:sp>
        <p:nvSpPr>
          <p:cNvPr id="12" name="矩形 11">
            <a:extLst>
              <a:ext uri="{FF2B5EF4-FFF2-40B4-BE49-F238E27FC236}">
                <a16:creationId xmlns:a16="http://schemas.microsoft.com/office/drawing/2014/main" id="{1B9AA08F-471F-4A07-BA34-262C91C5A276}"/>
              </a:ext>
            </a:extLst>
          </p:cNvPr>
          <p:cNvSpPr/>
          <p:nvPr userDrawn="1"/>
        </p:nvSpPr>
        <p:spPr>
          <a:xfrm flipH="1">
            <a:off x="-1" y="5750654"/>
            <a:ext cx="9144001" cy="270313"/>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12">
            <a:extLst>
              <a:ext uri="{FF2B5EF4-FFF2-40B4-BE49-F238E27FC236}">
                <a16:creationId xmlns:a16="http://schemas.microsoft.com/office/drawing/2014/main" id="{7E0B0B34-66F3-4A83-8811-43078C4B741C}"/>
              </a:ext>
            </a:extLst>
          </p:cNvPr>
          <p:cNvSpPr/>
          <p:nvPr userDrawn="1"/>
        </p:nvSpPr>
        <p:spPr>
          <a:xfrm flipH="1">
            <a:off x="-2" y="5803939"/>
            <a:ext cx="9144001" cy="21667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5">
            <a:extLst>
              <a:ext uri="{FF2B5EF4-FFF2-40B4-BE49-F238E27FC236}">
                <a16:creationId xmlns:a16="http://schemas.microsoft.com/office/drawing/2014/main" id="{533AC2DC-FE5F-4B62-B47D-924BCD0CE354}"/>
              </a:ext>
            </a:extLst>
          </p:cNvPr>
          <p:cNvSpPr/>
          <p:nvPr userDrawn="1"/>
        </p:nvSpPr>
        <p:spPr>
          <a:xfrm>
            <a:off x="7480479" y="5726510"/>
            <a:ext cx="763522" cy="83839"/>
          </a:xfrm>
          <a:custGeom>
            <a:avLst/>
            <a:gdLst>
              <a:gd name="connsiteX0" fmla="*/ 0 w 926584"/>
              <a:gd name="connsiteY0" fmla="*/ 0 h 118098"/>
              <a:gd name="connsiteX1" fmla="*/ 926584 w 926584"/>
              <a:gd name="connsiteY1" fmla="*/ 0 h 118098"/>
              <a:gd name="connsiteX2" fmla="*/ 926584 w 926584"/>
              <a:gd name="connsiteY2" fmla="*/ 118098 h 118098"/>
              <a:gd name="connsiteX3" fmla="*/ 0 w 926584"/>
              <a:gd name="connsiteY3" fmla="*/ 118098 h 118098"/>
              <a:gd name="connsiteX4" fmla="*/ 0 w 926584"/>
              <a:gd name="connsiteY4" fmla="*/ 0 h 118098"/>
              <a:gd name="connsiteX0" fmla="*/ 55821 w 982405"/>
              <a:gd name="connsiteY0" fmla="*/ 0 h 144680"/>
              <a:gd name="connsiteX1" fmla="*/ 982405 w 982405"/>
              <a:gd name="connsiteY1" fmla="*/ 0 h 144680"/>
              <a:gd name="connsiteX2" fmla="*/ 982405 w 982405"/>
              <a:gd name="connsiteY2" fmla="*/ 118098 h 144680"/>
              <a:gd name="connsiteX3" fmla="*/ 0 w 982405"/>
              <a:gd name="connsiteY3" fmla="*/ 144680 h 144680"/>
              <a:gd name="connsiteX4" fmla="*/ 55821 w 982405"/>
              <a:gd name="connsiteY4" fmla="*/ 0 h 144680"/>
              <a:gd name="connsiteX0" fmla="*/ 55821 w 998354"/>
              <a:gd name="connsiteY0" fmla="*/ 0 h 147338"/>
              <a:gd name="connsiteX1" fmla="*/ 982405 w 998354"/>
              <a:gd name="connsiteY1" fmla="*/ 0 h 147338"/>
              <a:gd name="connsiteX2" fmla="*/ 998354 w 998354"/>
              <a:gd name="connsiteY2" fmla="*/ 147338 h 147338"/>
              <a:gd name="connsiteX3" fmla="*/ 0 w 998354"/>
              <a:gd name="connsiteY3" fmla="*/ 144680 h 147338"/>
              <a:gd name="connsiteX4" fmla="*/ 55821 w 998354"/>
              <a:gd name="connsiteY4" fmla="*/ 0 h 147338"/>
              <a:gd name="connsiteX0" fmla="*/ 84307 w 1026840"/>
              <a:gd name="connsiteY0" fmla="*/ 0 h 150534"/>
              <a:gd name="connsiteX1" fmla="*/ 1010891 w 1026840"/>
              <a:gd name="connsiteY1" fmla="*/ 0 h 150534"/>
              <a:gd name="connsiteX2" fmla="*/ 1026840 w 1026840"/>
              <a:gd name="connsiteY2" fmla="*/ 147338 h 150534"/>
              <a:gd name="connsiteX3" fmla="*/ 0 w 1026840"/>
              <a:gd name="connsiteY3" fmla="*/ 150534 h 150534"/>
              <a:gd name="connsiteX4" fmla="*/ 84307 w 1026840"/>
              <a:gd name="connsiteY4" fmla="*/ 0 h 150534"/>
              <a:gd name="connsiteX0" fmla="*/ 84307 w 1021143"/>
              <a:gd name="connsiteY0" fmla="*/ 0 h 153193"/>
              <a:gd name="connsiteX1" fmla="*/ 1010891 w 1021143"/>
              <a:gd name="connsiteY1" fmla="*/ 0 h 153193"/>
              <a:gd name="connsiteX2" fmla="*/ 1021143 w 1021143"/>
              <a:gd name="connsiteY2" fmla="*/ 153193 h 153193"/>
              <a:gd name="connsiteX3" fmla="*/ 0 w 1021143"/>
              <a:gd name="connsiteY3" fmla="*/ 150534 h 153193"/>
              <a:gd name="connsiteX4" fmla="*/ 84307 w 1021143"/>
              <a:gd name="connsiteY4" fmla="*/ 0 h 153193"/>
              <a:gd name="connsiteX0" fmla="*/ 92853 w 1021143"/>
              <a:gd name="connsiteY0" fmla="*/ 0 h 153193"/>
              <a:gd name="connsiteX1" fmla="*/ 1010891 w 1021143"/>
              <a:gd name="connsiteY1" fmla="*/ 0 h 153193"/>
              <a:gd name="connsiteX2" fmla="*/ 1021143 w 1021143"/>
              <a:gd name="connsiteY2" fmla="*/ 153193 h 153193"/>
              <a:gd name="connsiteX3" fmla="*/ 0 w 1021143"/>
              <a:gd name="connsiteY3" fmla="*/ 150534 h 153193"/>
              <a:gd name="connsiteX4" fmla="*/ 92853 w 1021143"/>
              <a:gd name="connsiteY4" fmla="*/ 0 h 153193"/>
              <a:gd name="connsiteX0" fmla="*/ 90004 w 1018294"/>
              <a:gd name="connsiteY0" fmla="*/ 0 h 153193"/>
              <a:gd name="connsiteX1" fmla="*/ 1008042 w 1018294"/>
              <a:gd name="connsiteY1" fmla="*/ 0 h 153193"/>
              <a:gd name="connsiteX2" fmla="*/ 1018294 w 1018294"/>
              <a:gd name="connsiteY2" fmla="*/ 153193 h 153193"/>
              <a:gd name="connsiteX3" fmla="*/ 0 w 1018294"/>
              <a:gd name="connsiteY3" fmla="*/ 142728 h 153193"/>
              <a:gd name="connsiteX4" fmla="*/ 90004 w 1018294"/>
              <a:gd name="connsiteY4" fmla="*/ 0 h 153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294" h="153193">
                <a:moveTo>
                  <a:pt x="90004" y="0"/>
                </a:moveTo>
                <a:lnTo>
                  <a:pt x="1008042" y="0"/>
                </a:lnTo>
                <a:lnTo>
                  <a:pt x="1018294" y="153193"/>
                </a:lnTo>
                <a:lnTo>
                  <a:pt x="0" y="142728"/>
                </a:lnTo>
                <a:lnTo>
                  <a:pt x="90004"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a:extLst>
              <a:ext uri="{FF2B5EF4-FFF2-40B4-BE49-F238E27FC236}">
                <a16:creationId xmlns:a16="http://schemas.microsoft.com/office/drawing/2014/main" id="{966F9F20-73DF-4142-AE89-CF042936B117}"/>
              </a:ext>
            </a:extLst>
          </p:cNvPr>
          <p:cNvSpPr/>
          <p:nvPr userDrawn="1"/>
        </p:nvSpPr>
        <p:spPr>
          <a:xfrm>
            <a:off x="7548696" y="5726508"/>
            <a:ext cx="802741" cy="294105"/>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Rectangle 4">
            <a:extLst>
              <a:ext uri="{FF2B5EF4-FFF2-40B4-BE49-F238E27FC236}">
                <a16:creationId xmlns:a16="http://schemas.microsoft.com/office/drawing/2014/main" id="{6DB2DCAC-3EA2-4464-979B-9DF19A2DBB13}"/>
              </a:ext>
            </a:extLst>
          </p:cNvPr>
          <p:cNvSpPr txBox="1">
            <a:spLocks noChangeArrowheads="1"/>
          </p:cNvSpPr>
          <p:nvPr userDrawn="1"/>
        </p:nvSpPr>
        <p:spPr bwMode="auto">
          <a:xfrm>
            <a:off x="7649541" y="5726508"/>
            <a:ext cx="594460" cy="294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fld id="{41CAAC8C-7F0A-4185-8F66-2AEAC35050AC}" type="slidenum">
              <a:rPr lang="zh-CN" altLang="en-US" sz="1500" smtClean="0">
                <a:latin typeface="方正兰亭超细黑简体" panose="02000000000000000000" pitchFamily="2" charset="-122"/>
                <a:ea typeface="方正兰亭超细黑简体" panose="02000000000000000000" pitchFamily="2" charset="-122"/>
              </a:rPr>
              <a:t>‹#›</a:t>
            </a:fld>
            <a:endParaRPr lang="zh-CN" altLang="en-US" sz="1500" dirty="0">
              <a:latin typeface="方正兰亭超细黑简体" panose="02000000000000000000" pitchFamily="2" charset="-122"/>
              <a:ea typeface="方正兰亭超细黑简体" panose="02000000000000000000" pitchFamily="2" charset="-122"/>
            </a:endParaRPr>
          </a:p>
        </p:txBody>
      </p:sp>
      <p:sp>
        <p:nvSpPr>
          <p:cNvPr id="17" name="TextBox 9">
            <a:extLst>
              <a:ext uri="{FF2B5EF4-FFF2-40B4-BE49-F238E27FC236}">
                <a16:creationId xmlns:a16="http://schemas.microsoft.com/office/drawing/2014/main" id="{E86768CA-94CC-48C4-82A8-4EE44292A127}"/>
              </a:ext>
            </a:extLst>
          </p:cNvPr>
          <p:cNvSpPr>
            <a:spLocks noChangeArrowheads="1"/>
          </p:cNvSpPr>
          <p:nvPr userDrawn="1"/>
        </p:nvSpPr>
        <p:spPr bwMode="auto">
          <a:xfrm>
            <a:off x="683568" y="2617662"/>
            <a:ext cx="7920880" cy="2299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0" tIns="45705" rIns="91410" bIns="45705">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lnSpc>
                <a:spcPts val="1650"/>
              </a:lnSpc>
              <a:spcAft>
                <a:spcPts val="900"/>
              </a:spcAft>
            </a:pPr>
            <a:r>
              <a:rPr lang="zh-CN" altLang="en-US" sz="2000" dirty="0">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rPr>
              <a:t>第</a:t>
            </a:r>
            <a:r>
              <a:rPr lang="en-US" altLang="zh-CN" sz="2000" dirty="0">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rPr>
              <a:t>7</a:t>
            </a:r>
            <a:r>
              <a:rPr lang="zh-CN" altLang="en-US" sz="2000" dirty="0">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rPr>
              <a:t>章 链接</a:t>
            </a:r>
            <a:endParaRPr lang="en-US" altLang="zh-CN" sz="2000" dirty="0">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endParaRPr>
          </a:p>
          <a:p>
            <a:pPr algn="just" eaLnBrk="1" hangingPunct="1">
              <a:lnSpc>
                <a:spcPts val="1650"/>
              </a:lnSpc>
              <a:spcAft>
                <a:spcPts val="900"/>
              </a:spcAft>
            </a:pPr>
            <a:r>
              <a:rPr lang="zh-CN" altLang="en-US" sz="1400" dirty="0">
                <a:solidFill>
                  <a:schemeClr val="tx1">
                    <a:lumMod val="50000"/>
                    <a:lumOff val="50000"/>
                  </a:schemeClr>
                </a:solidFill>
                <a:latin typeface="微软雅黑" pitchFamily="34" charset="-122"/>
                <a:ea typeface="微软雅黑" pitchFamily="34" charset="-122"/>
                <a:sym typeface="微软雅黑" pitchFamily="34" charset="-122"/>
              </a:rPr>
              <a:t>教学目标：</a:t>
            </a:r>
            <a:endParaRPr lang="en-US" altLang="zh-CN" sz="1400" dirty="0">
              <a:solidFill>
                <a:schemeClr val="tx1">
                  <a:lumMod val="50000"/>
                  <a:lumOff val="50000"/>
                </a:schemeClr>
              </a:solidFill>
              <a:latin typeface="微软雅黑" pitchFamily="34" charset="-122"/>
              <a:ea typeface="微软雅黑" pitchFamily="34" charset="-122"/>
              <a:sym typeface="微软雅黑" pitchFamily="34" charset="-122"/>
            </a:endParaRPr>
          </a:p>
          <a:p>
            <a:pPr marL="285750" indent="-285750" algn="just" eaLnBrk="1" hangingPunct="1">
              <a:lnSpc>
                <a:spcPts val="1650"/>
              </a:lnSpc>
              <a:spcAft>
                <a:spcPts val="900"/>
              </a:spcAft>
              <a:buFont typeface="Wingdings" panose="05000000000000000000" pitchFamily="2" charset="2"/>
              <a:buChar char="u"/>
            </a:pPr>
            <a:r>
              <a:rPr lang="zh-CN" altLang="en-US" sz="1400" dirty="0">
                <a:solidFill>
                  <a:schemeClr val="tx1">
                    <a:lumMod val="50000"/>
                    <a:lumOff val="50000"/>
                  </a:schemeClr>
                </a:solidFill>
                <a:latin typeface="微软雅黑" pitchFamily="34" charset="-122"/>
                <a:ea typeface="微软雅黑" pitchFamily="34" charset="-122"/>
                <a:sym typeface="微软雅黑" pitchFamily="34" charset="-122"/>
              </a:rPr>
              <a:t>理解链接器如何帮助构造大型程序</a:t>
            </a:r>
            <a:endParaRPr lang="en-US" altLang="zh-CN" sz="1400" dirty="0">
              <a:solidFill>
                <a:schemeClr val="tx1">
                  <a:lumMod val="50000"/>
                  <a:lumOff val="50000"/>
                </a:schemeClr>
              </a:solidFill>
              <a:latin typeface="微软雅黑" pitchFamily="34" charset="-122"/>
              <a:ea typeface="微软雅黑" pitchFamily="34" charset="-122"/>
              <a:sym typeface="微软雅黑" pitchFamily="34" charset="-122"/>
            </a:endParaRPr>
          </a:p>
          <a:p>
            <a:pPr marL="285750" indent="-285750" algn="just" eaLnBrk="1" hangingPunct="1">
              <a:lnSpc>
                <a:spcPts val="1650"/>
              </a:lnSpc>
              <a:spcAft>
                <a:spcPts val="900"/>
              </a:spcAft>
              <a:buFont typeface="Wingdings" panose="05000000000000000000" pitchFamily="2" charset="2"/>
              <a:buChar char="u"/>
            </a:pPr>
            <a:r>
              <a:rPr lang="zh-CN" altLang="en-US" sz="1400" dirty="0">
                <a:solidFill>
                  <a:schemeClr val="tx1">
                    <a:lumMod val="50000"/>
                    <a:lumOff val="50000"/>
                  </a:schemeClr>
                </a:solidFill>
                <a:latin typeface="微软雅黑" pitchFamily="34" charset="-122"/>
                <a:ea typeface="微软雅黑" pitchFamily="34" charset="-122"/>
                <a:sym typeface="微软雅黑" pitchFamily="34" charset="-122"/>
              </a:rPr>
              <a:t>理解链接器如何帮助避免一些危险的编程错误</a:t>
            </a:r>
            <a:endParaRPr lang="en-US" altLang="zh-CN" sz="1400" dirty="0">
              <a:solidFill>
                <a:schemeClr val="tx1">
                  <a:lumMod val="50000"/>
                  <a:lumOff val="50000"/>
                </a:schemeClr>
              </a:solidFill>
              <a:latin typeface="微软雅黑" pitchFamily="34" charset="-122"/>
              <a:ea typeface="微软雅黑" pitchFamily="34" charset="-122"/>
              <a:sym typeface="微软雅黑" pitchFamily="34" charset="-122"/>
            </a:endParaRPr>
          </a:p>
          <a:p>
            <a:pPr marL="285750" indent="-285750" algn="just" eaLnBrk="1" hangingPunct="1">
              <a:lnSpc>
                <a:spcPts val="1650"/>
              </a:lnSpc>
              <a:spcAft>
                <a:spcPts val="900"/>
              </a:spcAft>
              <a:buFont typeface="Wingdings" panose="05000000000000000000" pitchFamily="2" charset="2"/>
              <a:buChar char="u"/>
            </a:pPr>
            <a:r>
              <a:rPr lang="zh-CN" altLang="en-US" sz="1400" dirty="0">
                <a:solidFill>
                  <a:schemeClr val="tx1">
                    <a:lumMod val="50000"/>
                    <a:lumOff val="50000"/>
                  </a:schemeClr>
                </a:solidFill>
                <a:latin typeface="微软雅黑" pitchFamily="34" charset="-122"/>
                <a:ea typeface="微软雅黑" pitchFamily="34" charset="-122"/>
                <a:sym typeface="微软雅黑" pitchFamily="34" charset="-122"/>
              </a:rPr>
              <a:t>理解链接如何帮助理解语言的作用域规则实现</a:t>
            </a:r>
            <a:endParaRPr lang="en-US" altLang="zh-CN" sz="1400" dirty="0">
              <a:solidFill>
                <a:schemeClr val="tx1">
                  <a:lumMod val="50000"/>
                  <a:lumOff val="50000"/>
                </a:schemeClr>
              </a:solidFill>
              <a:latin typeface="微软雅黑" pitchFamily="34" charset="-122"/>
              <a:ea typeface="微软雅黑" pitchFamily="34" charset="-122"/>
              <a:sym typeface="微软雅黑" pitchFamily="34" charset="-122"/>
            </a:endParaRPr>
          </a:p>
          <a:p>
            <a:pPr marL="285750" indent="-285750" algn="just" eaLnBrk="1" hangingPunct="1">
              <a:lnSpc>
                <a:spcPts val="1650"/>
              </a:lnSpc>
              <a:spcAft>
                <a:spcPts val="900"/>
              </a:spcAft>
              <a:buFont typeface="Wingdings" panose="05000000000000000000" pitchFamily="2" charset="2"/>
              <a:buChar char="u"/>
            </a:pPr>
            <a:r>
              <a:rPr lang="zh-CN" altLang="en-US" sz="1400" dirty="0">
                <a:solidFill>
                  <a:schemeClr val="tx1">
                    <a:lumMod val="50000"/>
                    <a:lumOff val="50000"/>
                  </a:schemeClr>
                </a:solidFill>
                <a:latin typeface="微软雅黑" pitchFamily="34" charset="-122"/>
                <a:ea typeface="微软雅黑" pitchFamily="34" charset="-122"/>
                <a:sym typeface="微软雅黑" pitchFamily="34" charset="-122"/>
              </a:rPr>
              <a:t>理解链接如何帮助理解其他重要的系统概念</a:t>
            </a:r>
            <a:endParaRPr lang="en-US" altLang="zh-CN" sz="1400" dirty="0">
              <a:solidFill>
                <a:schemeClr val="tx1">
                  <a:lumMod val="50000"/>
                  <a:lumOff val="50000"/>
                </a:schemeClr>
              </a:solidFill>
              <a:latin typeface="微软雅黑" pitchFamily="34" charset="-122"/>
              <a:ea typeface="微软雅黑" pitchFamily="34" charset="-122"/>
              <a:sym typeface="微软雅黑" pitchFamily="34" charset="-122"/>
            </a:endParaRPr>
          </a:p>
          <a:p>
            <a:pPr marL="285750" indent="-285750" algn="just" eaLnBrk="1" hangingPunct="1">
              <a:lnSpc>
                <a:spcPts val="1650"/>
              </a:lnSpc>
              <a:spcAft>
                <a:spcPts val="900"/>
              </a:spcAft>
              <a:buFont typeface="Wingdings" panose="05000000000000000000" pitchFamily="2" charset="2"/>
              <a:buChar char="u"/>
            </a:pPr>
            <a:r>
              <a:rPr lang="zh-CN" altLang="en-US" sz="1400" dirty="0">
                <a:solidFill>
                  <a:schemeClr val="tx1">
                    <a:lumMod val="50000"/>
                    <a:lumOff val="50000"/>
                  </a:schemeClr>
                </a:solidFill>
                <a:latin typeface="微软雅黑" pitchFamily="34" charset="-122"/>
                <a:ea typeface="微软雅黑" pitchFamily="34" charset="-122"/>
                <a:sym typeface="微软雅黑" pitchFamily="34" charset="-122"/>
              </a:rPr>
              <a:t>理解链接如何利用共享库</a:t>
            </a:r>
            <a:endParaRPr lang="en-US" altLang="zh-CN" sz="1400" dirty="0">
              <a:solidFill>
                <a:schemeClr val="tx1">
                  <a:lumMod val="50000"/>
                  <a:lumOff val="50000"/>
                </a:schemeClr>
              </a:solidFill>
              <a:latin typeface="微软雅黑" pitchFamily="34" charset="-122"/>
              <a:ea typeface="微软雅黑" pitchFamily="34" charset="-122"/>
              <a:sym typeface="微软雅黑" pitchFamily="34" charset="-122"/>
            </a:endParaRPr>
          </a:p>
        </p:txBody>
      </p:sp>
    </p:spTree>
    <p:extLst>
      <p:ext uri="{BB962C8B-B14F-4D97-AF65-F5344CB8AC3E}">
        <p14:creationId xmlns:p14="http://schemas.microsoft.com/office/powerpoint/2010/main" val="913196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par>
                                <p:cTn id="8" presetID="41" presetClass="entr" presetSubtype="0" fill="hold" grpId="0" nodeType="withEffect">
                                  <p:stCondLst>
                                    <p:cond delay="500"/>
                                  </p:stCondLst>
                                  <p:iterate type="lt">
                                    <p:tmPct val="10000"/>
                                  </p:iterate>
                                  <p:childTnLst>
                                    <p:set>
                                      <p:cBhvr>
                                        <p:cTn id="9" dur="1" fill="hold">
                                          <p:stCondLst>
                                            <p:cond delay="0"/>
                                          </p:stCondLst>
                                        </p:cTn>
                                        <p:tgtEl>
                                          <p:spTgt spid="10"/>
                                        </p:tgtEl>
                                        <p:attrNameLst>
                                          <p:attrName>style.visibility</p:attrName>
                                        </p:attrNameLst>
                                      </p:cBhvr>
                                      <p:to>
                                        <p:strVal val="visible"/>
                                      </p:to>
                                    </p:set>
                                    <p:anim calcmode="lin" valueType="num">
                                      <p:cBhvr>
                                        <p:cTn id="10"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11" dur="500" fill="hold"/>
                                        <p:tgtEl>
                                          <p:spTgt spid="10"/>
                                        </p:tgtEl>
                                        <p:attrNameLst>
                                          <p:attrName>ppt_y</p:attrName>
                                        </p:attrNameLst>
                                      </p:cBhvr>
                                      <p:tavLst>
                                        <p:tav tm="0">
                                          <p:val>
                                            <p:strVal val="#ppt_y"/>
                                          </p:val>
                                        </p:tav>
                                        <p:tav tm="100000">
                                          <p:val>
                                            <p:strVal val="#ppt_y"/>
                                          </p:val>
                                        </p:tav>
                                      </p:tavLst>
                                    </p:anim>
                                    <p:anim calcmode="lin" valueType="num">
                                      <p:cBhvr>
                                        <p:cTn id="12"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3"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4" dur="500" tmFilter="0,0; .5, 1; 1, 1"/>
                                        <p:tgtEl>
                                          <p:spTgt spid="10"/>
                                        </p:tgtEl>
                                      </p:cBhvr>
                                    </p:animEffect>
                                  </p:childTnLst>
                                </p:cTn>
                              </p:par>
                            </p:childTnLst>
                          </p:cTn>
                        </p:par>
                        <p:par>
                          <p:cTn id="15" fill="hold">
                            <p:stCondLst>
                              <p:cond delay="2000"/>
                            </p:stCondLst>
                            <p:childTnLst>
                              <p:par>
                                <p:cTn id="16" presetID="14" presetClass="entr" presetSubtype="10" fill="hold" grpId="0" nodeType="after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randombar(horizontal)">
                                      <p:cBhvr>
                                        <p:cTn id="18"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7"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6"/>
            <a:ext cx="5411788"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3791" y="1600206"/>
            <a:ext cx="5411787"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5F6FB2C-A5F1-4D3F-9BFD-B7FE21121B1C}" type="datetime1">
              <a:rPr lang="zh-CN" altLang="en-US" smtClean="0"/>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3481277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812" indent="0">
              <a:buNone/>
              <a:defRPr sz="1500" b="1"/>
            </a:lvl2pPr>
            <a:lvl3pPr marL="685622" indent="0">
              <a:buNone/>
              <a:defRPr sz="1350" b="1"/>
            </a:lvl3pPr>
            <a:lvl4pPr marL="1028435" indent="0">
              <a:buNone/>
              <a:defRPr sz="1200" b="1"/>
            </a:lvl4pPr>
            <a:lvl5pPr marL="1371245" indent="0">
              <a:buNone/>
              <a:defRPr sz="1200" b="1"/>
            </a:lvl5pPr>
            <a:lvl6pPr marL="1714057" indent="0">
              <a:buNone/>
              <a:defRPr sz="1200" b="1"/>
            </a:lvl6pPr>
            <a:lvl7pPr marL="2056868" indent="0">
              <a:buNone/>
              <a:defRPr sz="1200" b="1"/>
            </a:lvl7pPr>
            <a:lvl8pPr marL="2399680" indent="0">
              <a:buNone/>
              <a:defRPr sz="1200" b="1"/>
            </a:lvl8pPr>
            <a:lvl9pPr marL="2742491"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535113"/>
            <a:ext cx="4041775" cy="639762"/>
          </a:xfrm>
        </p:spPr>
        <p:txBody>
          <a:bodyPr anchor="b"/>
          <a:lstStyle>
            <a:lvl1pPr marL="0" indent="0">
              <a:buNone/>
              <a:defRPr sz="1800" b="1"/>
            </a:lvl1pPr>
            <a:lvl2pPr marL="342812" indent="0">
              <a:buNone/>
              <a:defRPr sz="1500" b="1"/>
            </a:lvl2pPr>
            <a:lvl3pPr marL="685622" indent="0">
              <a:buNone/>
              <a:defRPr sz="1350" b="1"/>
            </a:lvl3pPr>
            <a:lvl4pPr marL="1028435" indent="0">
              <a:buNone/>
              <a:defRPr sz="1200" b="1"/>
            </a:lvl4pPr>
            <a:lvl5pPr marL="1371245" indent="0">
              <a:buNone/>
              <a:defRPr sz="1200" b="1"/>
            </a:lvl5pPr>
            <a:lvl6pPr marL="1714057" indent="0">
              <a:buNone/>
              <a:defRPr sz="1200" b="1"/>
            </a:lvl6pPr>
            <a:lvl7pPr marL="2056868" indent="0">
              <a:buNone/>
              <a:defRPr sz="1200" b="1"/>
            </a:lvl7pPr>
            <a:lvl8pPr marL="2399680" indent="0">
              <a:buNone/>
              <a:defRPr sz="1200" b="1"/>
            </a:lvl8pPr>
            <a:lvl9pPr marL="2742491"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8"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5B704AA-D4C6-4C5B-A0E8-A49183CB23F7}" type="datetime1">
              <a:rPr lang="zh-CN" altLang="en-US" smtClean="0"/>
              <a:t>2024/12/6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933381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F58EDA96-312B-4E7A-A57A-A55526233C40}" type="datetime1">
              <a:rPr lang="zh-CN" altLang="en-US" smtClean="0"/>
              <a:t>2024/12/6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6" name="矩形 5">
            <a:extLst>
              <a:ext uri="{FF2B5EF4-FFF2-40B4-BE49-F238E27FC236}">
                <a16:creationId xmlns:a16="http://schemas.microsoft.com/office/drawing/2014/main" id="{046A8922-E4B0-4F96-BF06-E9A70B3A257E}"/>
              </a:ext>
            </a:extLst>
          </p:cNvPr>
          <p:cNvSpPr/>
          <p:nvPr userDrawn="1"/>
        </p:nvSpPr>
        <p:spPr>
          <a:xfrm>
            <a:off x="1" y="857919"/>
            <a:ext cx="738572" cy="4372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7" name="组合 6">
            <a:extLst>
              <a:ext uri="{FF2B5EF4-FFF2-40B4-BE49-F238E27FC236}">
                <a16:creationId xmlns:a16="http://schemas.microsoft.com/office/drawing/2014/main" id="{4C5442C8-F9DA-4C43-A98F-D60E59CDBD2F}"/>
              </a:ext>
            </a:extLst>
          </p:cNvPr>
          <p:cNvGrpSpPr/>
          <p:nvPr userDrawn="1"/>
        </p:nvGrpSpPr>
        <p:grpSpPr>
          <a:xfrm>
            <a:off x="144661" y="857920"/>
            <a:ext cx="431936" cy="627371"/>
            <a:chOff x="841003" y="360040"/>
            <a:chExt cx="504056" cy="836712"/>
          </a:xfrm>
          <a:solidFill>
            <a:srgbClr val="2F5EB0"/>
          </a:solidFill>
        </p:grpSpPr>
        <p:sp>
          <p:nvSpPr>
            <p:cNvPr id="8" name="矩形 7">
              <a:extLst>
                <a:ext uri="{FF2B5EF4-FFF2-40B4-BE49-F238E27FC236}">
                  <a16:creationId xmlns:a16="http://schemas.microsoft.com/office/drawing/2014/main" id="{CF8DB541-49B7-4AB5-B571-79014861FEB6}"/>
                </a:ext>
              </a:extLst>
            </p:cNvPr>
            <p:cNvSpPr/>
            <p:nvPr/>
          </p:nvSpPr>
          <p:spPr>
            <a:xfrm>
              <a:off x="841003" y="360040"/>
              <a:ext cx="504056" cy="5486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等腰三角形 8">
              <a:extLst>
                <a:ext uri="{FF2B5EF4-FFF2-40B4-BE49-F238E27FC236}">
                  <a16:creationId xmlns:a16="http://schemas.microsoft.com/office/drawing/2014/main" id="{62520393-C897-4C8C-8DF1-5AC10686A504}"/>
                </a:ext>
              </a:extLst>
            </p:cNvPr>
            <p:cNvSpPr/>
            <p:nvPr/>
          </p:nvSpPr>
          <p:spPr>
            <a:xfrm rot="10800000">
              <a:off x="841003" y="908720"/>
              <a:ext cx="504056" cy="288032"/>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1" name="矩形 10">
            <a:extLst>
              <a:ext uri="{FF2B5EF4-FFF2-40B4-BE49-F238E27FC236}">
                <a16:creationId xmlns:a16="http://schemas.microsoft.com/office/drawing/2014/main" id="{75C62CD3-441A-4E3F-8D57-145B73D2782F}"/>
              </a:ext>
            </a:extLst>
          </p:cNvPr>
          <p:cNvSpPr/>
          <p:nvPr userDrawn="1"/>
        </p:nvSpPr>
        <p:spPr>
          <a:xfrm flipH="1">
            <a:off x="-1" y="5750654"/>
            <a:ext cx="9144001" cy="270313"/>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a:extLst>
              <a:ext uri="{FF2B5EF4-FFF2-40B4-BE49-F238E27FC236}">
                <a16:creationId xmlns:a16="http://schemas.microsoft.com/office/drawing/2014/main" id="{D5D616B3-11A3-4D53-A661-3A5163AF163A}"/>
              </a:ext>
            </a:extLst>
          </p:cNvPr>
          <p:cNvSpPr/>
          <p:nvPr userDrawn="1"/>
        </p:nvSpPr>
        <p:spPr>
          <a:xfrm flipH="1">
            <a:off x="-2" y="5803939"/>
            <a:ext cx="9144001" cy="21667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矩形 5">
            <a:extLst>
              <a:ext uri="{FF2B5EF4-FFF2-40B4-BE49-F238E27FC236}">
                <a16:creationId xmlns:a16="http://schemas.microsoft.com/office/drawing/2014/main" id="{2102DD34-396B-4C7C-852E-FFC9B72390FD}"/>
              </a:ext>
            </a:extLst>
          </p:cNvPr>
          <p:cNvSpPr/>
          <p:nvPr userDrawn="1"/>
        </p:nvSpPr>
        <p:spPr>
          <a:xfrm>
            <a:off x="7480479" y="5726510"/>
            <a:ext cx="763522" cy="83839"/>
          </a:xfrm>
          <a:custGeom>
            <a:avLst/>
            <a:gdLst>
              <a:gd name="connsiteX0" fmla="*/ 0 w 926584"/>
              <a:gd name="connsiteY0" fmla="*/ 0 h 118098"/>
              <a:gd name="connsiteX1" fmla="*/ 926584 w 926584"/>
              <a:gd name="connsiteY1" fmla="*/ 0 h 118098"/>
              <a:gd name="connsiteX2" fmla="*/ 926584 w 926584"/>
              <a:gd name="connsiteY2" fmla="*/ 118098 h 118098"/>
              <a:gd name="connsiteX3" fmla="*/ 0 w 926584"/>
              <a:gd name="connsiteY3" fmla="*/ 118098 h 118098"/>
              <a:gd name="connsiteX4" fmla="*/ 0 w 926584"/>
              <a:gd name="connsiteY4" fmla="*/ 0 h 118098"/>
              <a:gd name="connsiteX0" fmla="*/ 55821 w 982405"/>
              <a:gd name="connsiteY0" fmla="*/ 0 h 144680"/>
              <a:gd name="connsiteX1" fmla="*/ 982405 w 982405"/>
              <a:gd name="connsiteY1" fmla="*/ 0 h 144680"/>
              <a:gd name="connsiteX2" fmla="*/ 982405 w 982405"/>
              <a:gd name="connsiteY2" fmla="*/ 118098 h 144680"/>
              <a:gd name="connsiteX3" fmla="*/ 0 w 982405"/>
              <a:gd name="connsiteY3" fmla="*/ 144680 h 144680"/>
              <a:gd name="connsiteX4" fmla="*/ 55821 w 982405"/>
              <a:gd name="connsiteY4" fmla="*/ 0 h 144680"/>
              <a:gd name="connsiteX0" fmla="*/ 55821 w 998354"/>
              <a:gd name="connsiteY0" fmla="*/ 0 h 147338"/>
              <a:gd name="connsiteX1" fmla="*/ 982405 w 998354"/>
              <a:gd name="connsiteY1" fmla="*/ 0 h 147338"/>
              <a:gd name="connsiteX2" fmla="*/ 998354 w 998354"/>
              <a:gd name="connsiteY2" fmla="*/ 147338 h 147338"/>
              <a:gd name="connsiteX3" fmla="*/ 0 w 998354"/>
              <a:gd name="connsiteY3" fmla="*/ 144680 h 147338"/>
              <a:gd name="connsiteX4" fmla="*/ 55821 w 998354"/>
              <a:gd name="connsiteY4" fmla="*/ 0 h 147338"/>
              <a:gd name="connsiteX0" fmla="*/ 84307 w 1026840"/>
              <a:gd name="connsiteY0" fmla="*/ 0 h 150534"/>
              <a:gd name="connsiteX1" fmla="*/ 1010891 w 1026840"/>
              <a:gd name="connsiteY1" fmla="*/ 0 h 150534"/>
              <a:gd name="connsiteX2" fmla="*/ 1026840 w 1026840"/>
              <a:gd name="connsiteY2" fmla="*/ 147338 h 150534"/>
              <a:gd name="connsiteX3" fmla="*/ 0 w 1026840"/>
              <a:gd name="connsiteY3" fmla="*/ 150534 h 150534"/>
              <a:gd name="connsiteX4" fmla="*/ 84307 w 1026840"/>
              <a:gd name="connsiteY4" fmla="*/ 0 h 150534"/>
              <a:gd name="connsiteX0" fmla="*/ 84307 w 1021143"/>
              <a:gd name="connsiteY0" fmla="*/ 0 h 153193"/>
              <a:gd name="connsiteX1" fmla="*/ 1010891 w 1021143"/>
              <a:gd name="connsiteY1" fmla="*/ 0 h 153193"/>
              <a:gd name="connsiteX2" fmla="*/ 1021143 w 1021143"/>
              <a:gd name="connsiteY2" fmla="*/ 153193 h 153193"/>
              <a:gd name="connsiteX3" fmla="*/ 0 w 1021143"/>
              <a:gd name="connsiteY3" fmla="*/ 150534 h 153193"/>
              <a:gd name="connsiteX4" fmla="*/ 84307 w 1021143"/>
              <a:gd name="connsiteY4" fmla="*/ 0 h 153193"/>
              <a:gd name="connsiteX0" fmla="*/ 92853 w 1021143"/>
              <a:gd name="connsiteY0" fmla="*/ 0 h 153193"/>
              <a:gd name="connsiteX1" fmla="*/ 1010891 w 1021143"/>
              <a:gd name="connsiteY1" fmla="*/ 0 h 153193"/>
              <a:gd name="connsiteX2" fmla="*/ 1021143 w 1021143"/>
              <a:gd name="connsiteY2" fmla="*/ 153193 h 153193"/>
              <a:gd name="connsiteX3" fmla="*/ 0 w 1021143"/>
              <a:gd name="connsiteY3" fmla="*/ 150534 h 153193"/>
              <a:gd name="connsiteX4" fmla="*/ 92853 w 1021143"/>
              <a:gd name="connsiteY4" fmla="*/ 0 h 153193"/>
              <a:gd name="connsiteX0" fmla="*/ 90004 w 1018294"/>
              <a:gd name="connsiteY0" fmla="*/ 0 h 153193"/>
              <a:gd name="connsiteX1" fmla="*/ 1008042 w 1018294"/>
              <a:gd name="connsiteY1" fmla="*/ 0 h 153193"/>
              <a:gd name="connsiteX2" fmla="*/ 1018294 w 1018294"/>
              <a:gd name="connsiteY2" fmla="*/ 153193 h 153193"/>
              <a:gd name="connsiteX3" fmla="*/ 0 w 1018294"/>
              <a:gd name="connsiteY3" fmla="*/ 142728 h 153193"/>
              <a:gd name="connsiteX4" fmla="*/ 90004 w 1018294"/>
              <a:gd name="connsiteY4" fmla="*/ 0 h 1531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8294" h="153193">
                <a:moveTo>
                  <a:pt x="90004" y="0"/>
                </a:moveTo>
                <a:lnTo>
                  <a:pt x="1008042" y="0"/>
                </a:lnTo>
                <a:lnTo>
                  <a:pt x="1018294" y="153193"/>
                </a:lnTo>
                <a:lnTo>
                  <a:pt x="0" y="142728"/>
                </a:lnTo>
                <a:lnTo>
                  <a:pt x="90004"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矩形 13">
            <a:extLst>
              <a:ext uri="{FF2B5EF4-FFF2-40B4-BE49-F238E27FC236}">
                <a16:creationId xmlns:a16="http://schemas.microsoft.com/office/drawing/2014/main" id="{F45B6625-1BF1-42DE-AA6A-9A6AE29BCD74}"/>
              </a:ext>
            </a:extLst>
          </p:cNvPr>
          <p:cNvSpPr/>
          <p:nvPr userDrawn="1"/>
        </p:nvSpPr>
        <p:spPr>
          <a:xfrm>
            <a:off x="7548696" y="5726508"/>
            <a:ext cx="802741" cy="294105"/>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Rectangle 4">
            <a:extLst>
              <a:ext uri="{FF2B5EF4-FFF2-40B4-BE49-F238E27FC236}">
                <a16:creationId xmlns:a16="http://schemas.microsoft.com/office/drawing/2014/main" id="{0E1D7A87-A78D-42D5-A481-D0BC8D67F4FC}"/>
              </a:ext>
            </a:extLst>
          </p:cNvPr>
          <p:cNvSpPr txBox="1">
            <a:spLocks noChangeArrowheads="1"/>
          </p:cNvSpPr>
          <p:nvPr userDrawn="1"/>
        </p:nvSpPr>
        <p:spPr bwMode="auto">
          <a:xfrm>
            <a:off x="7649541" y="5726508"/>
            <a:ext cx="594460" cy="2941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prstTxWarp prst="textNoShape">
              <a:avLst/>
            </a:prstTxWarp>
          </a:bodyPr>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fld id="{3EECE454-4DD2-43F6-94FA-4290A10A9B81}" type="slidenum">
              <a:rPr lang="en-US" altLang="zh-CN" sz="1500" smtClean="0">
                <a:latin typeface="方正兰亭超细黑简体" panose="02000000000000000000" pitchFamily="2" charset="-122"/>
                <a:ea typeface="方正兰亭超细黑简体" panose="02000000000000000000" pitchFamily="2" charset="-122"/>
              </a:rPr>
              <a:t>‹#›</a:t>
            </a:fld>
            <a:endParaRPr lang="zh-CN" altLang="en-US" sz="1500" dirty="0">
              <a:latin typeface="方正兰亭超细黑简体" panose="02000000000000000000" pitchFamily="2" charset="-122"/>
              <a:ea typeface="方正兰亭超细黑简体" panose="02000000000000000000" pitchFamily="2" charset="-122"/>
            </a:endParaRPr>
          </a:p>
        </p:txBody>
      </p:sp>
    </p:spTree>
    <p:extLst>
      <p:ext uri="{BB962C8B-B14F-4D97-AF65-F5344CB8AC3E}">
        <p14:creationId xmlns:p14="http://schemas.microsoft.com/office/powerpoint/2010/main" val="2562226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74B3FFB-6729-4B8C-BA11-08DFF561E604}" type="datetime1">
              <a:rPr lang="zh-CN" altLang="en-US" smtClean="0"/>
              <a:t>2024/12/6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322624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6"/>
            <a:ext cx="5111750"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435103"/>
            <a:ext cx="3008313" cy="4691063"/>
          </a:xfrm>
        </p:spPr>
        <p:txBody>
          <a:bodyPr/>
          <a:lstStyle>
            <a:lvl1pPr marL="0" indent="0">
              <a:buNone/>
              <a:defRPr sz="1050"/>
            </a:lvl1pPr>
            <a:lvl2pPr marL="342812" indent="0">
              <a:buNone/>
              <a:defRPr sz="900"/>
            </a:lvl2pPr>
            <a:lvl3pPr marL="685622" indent="0">
              <a:buNone/>
              <a:defRPr sz="750"/>
            </a:lvl3pPr>
            <a:lvl4pPr marL="1028435" indent="0">
              <a:buNone/>
              <a:defRPr sz="675"/>
            </a:lvl4pPr>
            <a:lvl5pPr marL="1371245" indent="0">
              <a:buNone/>
              <a:defRPr sz="675"/>
            </a:lvl5pPr>
            <a:lvl6pPr marL="1714057" indent="0">
              <a:buNone/>
              <a:defRPr sz="675"/>
            </a:lvl6pPr>
            <a:lvl7pPr marL="2056868" indent="0">
              <a:buNone/>
              <a:defRPr sz="675"/>
            </a:lvl7pPr>
            <a:lvl8pPr marL="2399680" indent="0">
              <a:buNone/>
              <a:defRPr sz="675"/>
            </a:lvl8pPr>
            <a:lvl9pPr marL="2742491" indent="0">
              <a:buNone/>
              <a:defRPr sz="67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53B07F6-42AE-4E9C-B216-A016595802DE}" type="datetime1">
              <a:rPr lang="zh-CN" altLang="en-US" smtClean="0"/>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9046931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9"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9" y="612775"/>
            <a:ext cx="5486400" cy="4114800"/>
          </a:xfrm>
        </p:spPr>
        <p:txBody>
          <a:bodyPr/>
          <a:lstStyle>
            <a:lvl1pPr marL="0" indent="0">
              <a:buNone/>
              <a:defRPr sz="2399"/>
            </a:lvl1pPr>
            <a:lvl2pPr marL="342812" indent="0">
              <a:buNone/>
              <a:defRPr sz="2099"/>
            </a:lvl2pPr>
            <a:lvl3pPr marL="685622" indent="0">
              <a:buNone/>
              <a:defRPr sz="1800"/>
            </a:lvl3pPr>
            <a:lvl4pPr marL="1028435" indent="0">
              <a:buNone/>
              <a:defRPr sz="1500"/>
            </a:lvl4pPr>
            <a:lvl5pPr marL="1371245" indent="0">
              <a:buNone/>
              <a:defRPr sz="1500"/>
            </a:lvl5pPr>
            <a:lvl6pPr marL="1714057" indent="0">
              <a:buNone/>
              <a:defRPr sz="1500"/>
            </a:lvl6pPr>
            <a:lvl7pPr marL="2056868" indent="0">
              <a:buNone/>
              <a:defRPr sz="1500"/>
            </a:lvl7pPr>
            <a:lvl8pPr marL="2399680" indent="0">
              <a:buNone/>
              <a:defRPr sz="1500"/>
            </a:lvl8pPr>
            <a:lvl9pPr marL="2742491" indent="0">
              <a:buNone/>
              <a:defRPr sz="1500"/>
            </a:lvl9pPr>
          </a:lstStyle>
          <a:p>
            <a:endParaRPr lang="zh-CN" altLang="en-US"/>
          </a:p>
        </p:txBody>
      </p:sp>
      <p:sp>
        <p:nvSpPr>
          <p:cNvPr id="4" name="文本占位符 3"/>
          <p:cNvSpPr>
            <a:spLocks noGrp="1"/>
          </p:cNvSpPr>
          <p:nvPr>
            <p:ph type="body" sz="half" idx="2"/>
          </p:nvPr>
        </p:nvSpPr>
        <p:spPr>
          <a:xfrm>
            <a:off x="1792289" y="5367338"/>
            <a:ext cx="5486400" cy="804862"/>
          </a:xfrm>
        </p:spPr>
        <p:txBody>
          <a:bodyPr/>
          <a:lstStyle>
            <a:lvl1pPr marL="0" indent="0">
              <a:buNone/>
              <a:defRPr sz="1050"/>
            </a:lvl1pPr>
            <a:lvl2pPr marL="342812" indent="0">
              <a:buNone/>
              <a:defRPr sz="900"/>
            </a:lvl2pPr>
            <a:lvl3pPr marL="685622" indent="0">
              <a:buNone/>
              <a:defRPr sz="750"/>
            </a:lvl3pPr>
            <a:lvl4pPr marL="1028435" indent="0">
              <a:buNone/>
              <a:defRPr sz="675"/>
            </a:lvl4pPr>
            <a:lvl5pPr marL="1371245" indent="0">
              <a:buNone/>
              <a:defRPr sz="675"/>
            </a:lvl5pPr>
            <a:lvl6pPr marL="1714057" indent="0">
              <a:buNone/>
              <a:defRPr sz="675"/>
            </a:lvl6pPr>
            <a:lvl7pPr marL="2056868" indent="0">
              <a:buNone/>
              <a:defRPr sz="675"/>
            </a:lvl7pPr>
            <a:lvl8pPr marL="2399680" indent="0">
              <a:buNone/>
              <a:defRPr sz="675"/>
            </a:lvl8pPr>
            <a:lvl9pPr marL="2742491" indent="0">
              <a:buNone/>
              <a:defRPr sz="675"/>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3E6396F-80CD-49A1-89BC-5704DC36E13B}" type="datetime1">
              <a:rPr lang="zh-CN" altLang="en-US" smtClean="0"/>
              <a:t>2024/12/6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4255883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16EB555-6AC2-4CE4-9F36-DEC5836FF4D4}" type="datetime1">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3733420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2375" y="274644"/>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3" y="274644"/>
            <a:ext cx="8080375"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2CE21FD-B713-477E-BCFB-0366BA82C7BD}" type="datetime1">
              <a:rPr lang="zh-CN" altLang="en-US" smtClean="0"/>
              <a:t>2024/12/6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1729238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6356356"/>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F10EA0F-DE7D-4CDE-B2A4-981B9D25510D}" type="datetime1">
              <a:rPr lang="zh-CN" altLang="en-US" smtClean="0"/>
              <a:t>2024/12/6</a:t>
            </a:fld>
            <a:endParaRPr lang="zh-CN" altLang="en-US"/>
          </a:p>
        </p:txBody>
      </p:sp>
      <p:sp>
        <p:nvSpPr>
          <p:cNvPr id="5" name="页脚占位符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E9075AC-DC2A-4E45-86D6-88AB8D4F5B0A}" type="slidenum">
              <a:rPr lang="zh-CN" altLang="en-US" smtClean="0"/>
              <a:t>‹#›</a:t>
            </a:fld>
            <a:endParaRPr lang="zh-CN" altLang="en-US"/>
          </a:p>
        </p:txBody>
      </p:sp>
    </p:spTree>
    <p:extLst>
      <p:ext uri="{BB962C8B-B14F-4D97-AF65-F5344CB8AC3E}">
        <p14:creationId xmlns:p14="http://schemas.microsoft.com/office/powerpoint/2010/main" val="15027684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685622" rtl="0" eaLnBrk="1" latinLnBrk="0" hangingPunct="1">
        <a:spcBef>
          <a:spcPct val="0"/>
        </a:spcBef>
        <a:buNone/>
        <a:defRPr sz="3299" kern="1200">
          <a:solidFill>
            <a:schemeClr val="tx1"/>
          </a:solidFill>
          <a:latin typeface="+mj-lt"/>
          <a:ea typeface="+mj-ea"/>
          <a:cs typeface="+mj-cs"/>
        </a:defRPr>
      </a:lvl1pPr>
    </p:titleStyle>
    <p:body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mn-lt"/>
          <a:ea typeface="+mn-ea"/>
          <a:cs typeface="+mn-cs"/>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mn-lt"/>
          <a:ea typeface="+mn-ea"/>
          <a:cs typeface="+mn-cs"/>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622" rtl="0" eaLnBrk="1" latinLnBrk="0" hangingPunct="1">
        <a:defRPr sz="1350" kern="1200">
          <a:solidFill>
            <a:schemeClr val="tx1"/>
          </a:solidFill>
          <a:latin typeface="+mn-lt"/>
          <a:ea typeface="+mn-ea"/>
          <a:cs typeface="+mn-cs"/>
        </a:defRPr>
      </a:lvl1pPr>
      <a:lvl2pPr marL="342812" algn="l" defTabSz="685622" rtl="0" eaLnBrk="1" latinLnBrk="0" hangingPunct="1">
        <a:defRPr sz="1350" kern="1200">
          <a:solidFill>
            <a:schemeClr val="tx1"/>
          </a:solidFill>
          <a:latin typeface="+mn-lt"/>
          <a:ea typeface="+mn-ea"/>
          <a:cs typeface="+mn-cs"/>
        </a:defRPr>
      </a:lvl2pPr>
      <a:lvl3pPr marL="685622" algn="l" defTabSz="685622" rtl="0" eaLnBrk="1" latinLnBrk="0" hangingPunct="1">
        <a:defRPr sz="1350" kern="1200">
          <a:solidFill>
            <a:schemeClr val="tx1"/>
          </a:solidFill>
          <a:latin typeface="+mn-lt"/>
          <a:ea typeface="+mn-ea"/>
          <a:cs typeface="+mn-cs"/>
        </a:defRPr>
      </a:lvl3pPr>
      <a:lvl4pPr marL="1028435" algn="l" defTabSz="685622" rtl="0" eaLnBrk="1" latinLnBrk="0" hangingPunct="1">
        <a:defRPr sz="1350" kern="1200">
          <a:solidFill>
            <a:schemeClr val="tx1"/>
          </a:solidFill>
          <a:latin typeface="+mn-lt"/>
          <a:ea typeface="+mn-ea"/>
          <a:cs typeface="+mn-cs"/>
        </a:defRPr>
      </a:lvl4pPr>
      <a:lvl5pPr marL="1371245" algn="l" defTabSz="685622" rtl="0" eaLnBrk="1" latinLnBrk="0" hangingPunct="1">
        <a:defRPr sz="1350" kern="1200">
          <a:solidFill>
            <a:schemeClr val="tx1"/>
          </a:solidFill>
          <a:latin typeface="+mn-lt"/>
          <a:ea typeface="+mn-ea"/>
          <a:cs typeface="+mn-cs"/>
        </a:defRPr>
      </a:lvl5pPr>
      <a:lvl6pPr marL="1714057" algn="l" defTabSz="685622" rtl="0" eaLnBrk="1" latinLnBrk="0" hangingPunct="1">
        <a:defRPr sz="1350" kern="1200">
          <a:solidFill>
            <a:schemeClr val="tx1"/>
          </a:solidFill>
          <a:latin typeface="+mn-lt"/>
          <a:ea typeface="+mn-ea"/>
          <a:cs typeface="+mn-cs"/>
        </a:defRPr>
      </a:lvl6pPr>
      <a:lvl7pPr marL="2056868" algn="l" defTabSz="685622" rtl="0" eaLnBrk="1" latinLnBrk="0" hangingPunct="1">
        <a:defRPr sz="1350" kern="1200">
          <a:solidFill>
            <a:schemeClr val="tx1"/>
          </a:solidFill>
          <a:latin typeface="+mn-lt"/>
          <a:ea typeface="+mn-ea"/>
          <a:cs typeface="+mn-cs"/>
        </a:defRPr>
      </a:lvl7pPr>
      <a:lvl8pPr marL="2399680" algn="l" defTabSz="685622" rtl="0" eaLnBrk="1" latinLnBrk="0" hangingPunct="1">
        <a:defRPr sz="1350" kern="1200">
          <a:solidFill>
            <a:schemeClr val="tx1"/>
          </a:solidFill>
          <a:latin typeface="+mn-lt"/>
          <a:ea typeface="+mn-ea"/>
          <a:cs typeface="+mn-cs"/>
        </a:defRPr>
      </a:lvl8pPr>
      <a:lvl9pPr marL="2742491" algn="l" defTabSz="685622"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8.jp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463" y="-16085"/>
            <a:ext cx="9177372" cy="3709007"/>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等腰三角形 26"/>
          <p:cNvSpPr/>
          <p:nvPr/>
        </p:nvSpPr>
        <p:spPr>
          <a:xfrm rot="5400000">
            <a:off x="-220983" y="2574876"/>
            <a:ext cx="983822" cy="488502"/>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矩形 27"/>
          <p:cNvSpPr/>
          <p:nvPr/>
        </p:nvSpPr>
        <p:spPr>
          <a:xfrm rot="2707801">
            <a:off x="628222" y="2912142"/>
            <a:ext cx="249267" cy="24926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矩形 28"/>
          <p:cNvSpPr/>
          <p:nvPr/>
        </p:nvSpPr>
        <p:spPr>
          <a:xfrm rot="2707801">
            <a:off x="603233" y="2705270"/>
            <a:ext cx="128611" cy="12861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8" name="TextBox 77"/>
          <p:cNvSpPr txBox="1"/>
          <p:nvPr/>
        </p:nvSpPr>
        <p:spPr>
          <a:xfrm>
            <a:off x="10133169" y="6986517"/>
            <a:ext cx="704039" cy="300082"/>
          </a:xfrm>
          <a:prstGeom prst="rect">
            <a:avLst/>
          </a:prstGeom>
          <a:noFill/>
        </p:spPr>
        <p:txBody>
          <a:bodyPr wrap="none" rtlCol="0">
            <a:spAutoFit/>
          </a:bodyPr>
          <a:lstStyle/>
          <a:p>
            <a:r>
              <a:rPr lang="zh-CN" altLang="en-US" sz="1350" dirty="0"/>
              <a:t>延时符</a:t>
            </a:r>
          </a:p>
        </p:txBody>
      </p:sp>
      <p:sp>
        <p:nvSpPr>
          <p:cNvPr id="35" name="标题 4">
            <a:extLst>
              <a:ext uri="{FF2B5EF4-FFF2-40B4-BE49-F238E27FC236}">
                <a16:creationId xmlns:a16="http://schemas.microsoft.com/office/drawing/2014/main" id="{9F03963E-A0FA-4839-BD43-D454BCE40772}"/>
              </a:ext>
            </a:extLst>
          </p:cNvPr>
          <p:cNvSpPr txBox="1">
            <a:spLocks/>
          </p:cNvSpPr>
          <p:nvPr/>
        </p:nvSpPr>
        <p:spPr>
          <a:xfrm>
            <a:off x="2245912" y="2131431"/>
            <a:ext cx="5700204" cy="401727"/>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lvl="1" algn="ctr"/>
            <a:r>
              <a:rPr lang="en-US" altLang="zh-CN" sz="2399" b="1" dirty="0">
                <a:solidFill>
                  <a:srgbClr val="FFFF00"/>
                </a:solidFill>
                <a:effectLst>
                  <a:outerShdw blurRad="38100" dist="38100" dir="2700000" algn="tl">
                    <a:srgbClr val="000000">
                      <a:alpha val="43137"/>
                    </a:srgbClr>
                  </a:outerShdw>
                </a:effectLst>
                <a:latin typeface="Arial Rounded MT Bold" panose="020F0704030504030204" pitchFamily="34" charset="0"/>
                <a:ea typeface="方正兰亭黑简体" panose="02000000000000000000" pitchFamily="2" charset="-122"/>
              </a:rPr>
              <a:t>A Programmer’s Perspective</a:t>
            </a:r>
            <a:endParaRPr lang="en-US" altLang="zh-CN" sz="2399" dirty="0">
              <a:solidFill>
                <a:srgbClr val="FFFF00"/>
              </a:solidFill>
              <a:effectLst>
                <a:outerShdw blurRad="38100" dist="38100" dir="2700000" algn="tl">
                  <a:srgbClr val="000000">
                    <a:alpha val="43137"/>
                  </a:srgbClr>
                </a:outerShdw>
              </a:effectLst>
              <a:latin typeface="Arial Rounded MT Bold" panose="020F0704030504030204" pitchFamily="34" charset="0"/>
              <a:ea typeface="方正兰亭黑简体" panose="02000000000000000000" pitchFamily="2" charset="-122"/>
            </a:endParaRPr>
          </a:p>
        </p:txBody>
      </p:sp>
      <p:sp>
        <p:nvSpPr>
          <p:cNvPr id="36" name="TextBox 49">
            <a:extLst>
              <a:ext uri="{FF2B5EF4-FFF2-40B4-BE49-F238E27FC236}">
                <a16:creationId xmlns:a16="http://schemas.microsoft.com/office/drawing/2014/main" id="{7FD5B86A-6D7C-47CC-970F-BB8A91A5AC3E}"/>
              </a:ext>
            </a:extLst>
          </p:cNvPr>
          <p:cNvSpPr txBox="1"/>
          <p:nvPr/>
        </p:nvSpPr>
        <p:spPr>
          <a:xfrm>
            <a:off x="2531592" y="2860517"/>
            <a:ext cx="4543459" cy="600036"/>
          </a:xfrm>
          <a:prstGeom prst="rect">
            <a:avLst/>
          </a:prstGeom>
          <a:noFill/>
        </p:spPr>
        <p:txBody>
          <a:bodyPr wrap="square" rtlCol="0">
            <a:spAutoFit/>
          </a:bodyPr>
          <a:lstStyle/>
          <a:p>
            <a:pPr algn="ctr"/>
            <a:r>
              <a:rPr lang="zh-CN" altLang="en-US" sz="3299"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深入理解计算机系统</a:t>
            </a:r>
          </a:p>
        </p:txBody>
      </p:sp>
      <p:sp>
        <p:nvSpPr>
          <p:cNvPr id="37" name="矩形 36">
            <a:extLst>
              <a:ext uri="{FF2B5EF4-FFF2-40B4-BE49-F238E27FC236}">
                <a16:creationId xmlns:a16="http://schemas.microsoft.com/office/drawing/2014/main" id="{42D0A198-DA5F-4771-9F41-10023E51E2F1}"/>
              </a:ext>
            </a:extLst>
          </p:cNvPr>
          <p:cNvSpPr/>
          <p:nvPr/>
        </p:nvSpPr>
        <p:spPr>
          <a:xfrm>
            <a:off x="667538" y="931842"/>
            <a:ext cx="8129148" cy="1015663"/>
          </a:xfrm>
          <a:prstGeom prst="rect">
            <a:avLst/>
          </a:prstGeom>
          <a:noFill/>
          <a:effectLst>
            <a:outerShdw blurRad="50800" dist="38100" dir="2700000" algn="tl" rotWithShape="0">
              <a:prstClr val="black">
                <a:alpha val="40000"/>
              </a:prstClr>
            </a:outerShdw>
          </a:effectLst>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altLang="zh-CN" sz="6000" b="1" cap="none" spc="0" dirty="0">
                <a:ln/>
                <a:solidFill>
                  <a:srgbClr val="FFFF00"/>
                </a:solidFill>
                <a:effectLst>
                  <a:reflection blurRad="6350" stA="50000" endA="300" endPos="50000" dist="29997" dir="5400000" sy="-100000" algn="bl" rotWithShape="0"/>
                </a:effectLst>
                <a:latin typeface="Baskerville Old Face" panose="02020602080505020303" pitchFamily="18" charset="0"/>
              </a:rPr>
              <a:t>COMPUTER SYSTEMS</a:t>
            </a:r>
            <a:endParaRPr lang="zh-CN" altLang="en-US" sz="6000" b="1" cap="none" spc="0" dirty="0">
              <a:ln/>
              <a:solidFill>
                <a:srgbClr val="FFFF00"/>
              </a:solidFill>
              <a:effectLst>
                <a:reflection blurRad="6350" stA="50000" endA="300" endPos="50000" dist="29997" dir="5400000" sy="-100000" algn="bl" rotWithShape="0"/>
              </a:effectLst>
              <a:latin typeface="Baskerville Old Face" panose="02020602080505020303" pitchFamily="18" charset="0"/>
            </a:endParaRPr>
          </a:p>
        </p:txBody>
      </p:sp>
      <p:sp>
        <p:nvSpPr>
          <p:cNvPr id="38" name="矩形 37">
            <a:extLst>
              <a:ext uri="{FF2B5EF4-FFF2-40B4-BE49-F238E27FC236}">
                <a16:creationId xmlns:a16="http://schemas.microsoft.com/office/drawing/2014/main" id="{FCA74FF9-EB0B-4B1F-9223-4BBBE5F7903F}"/>
              </a:ext>
            </a:extLst>
          </p:cNvPr>
          <p:cNvSpPr/>
          <p:nvPr/>
        </p:nvSpPr>
        <p:spPr>
          <a:xfrm>
            <a:off x="0" y="4900763"/>
            <a:ext cx="9177372" cy="114270"/>
          </a:xfrm>
          <a:prstGeom prst="rect">
            <a:avLst/>
          </a:prstGeom>
          <a:solidFill>
            <a:srgbClr val="1C27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39" name="组合 38">
            <a:extLst>
              <a:ext uri="{FF2B5EF4-FFF2-40B4-BE49-F238E27FC236}">
                <a16:creationId xmlns:a16="http://schemas.microsoft.com/office/drawing/2014/main" id="{7D5307B0-05AB-4A51-96C3-3C152C87C60D}"/>
              </a:ext>
            </a:extLst>
          </p:cNvPr>
          <p:cNvGrpSpPr/>
          <p:nvPr/>
        </p:nvGrpSpPr>
        <p:grpSpPr>
          <a:xfrm>
            <a:off x="3491880" y="4132519"/>
            <a:ext cx="536647" cy="539727"/>
            <a:chOff x="1721162" y="4373847"/>
            <a:chExt cx="715716" cy="719823"/>
          </a:xfrm>
        </p:grpSpPr>
        <p:sp>
          <p:nvSpPr>
            <p:cNvPr id="40" name="Oval 28">
              <a:extLst>
                <a:ext uri="{FF2B5EF4-FFF2-40B4-BE49-F238E27FC236}">
                  <a16:creationId xmlns:a16="http://schemas.microsoft.com/office/drawing/2014/main" id="{935FD7C5-AA16-4885-ACD2-C7790631C92E}"/>
                </a:ext>
              </a:extLst>
            </p:cNvPr>
            <p:cNvSpPr/>
            <p:nvPr/>
          </p:nvSpPr>
          <p:spPr>
            <a:xfrm>
              <a:off x="1721162" y="4373847"/>
              <a:ext cx="715716" cy="719823"/>
            </a:xfrm>
            <a:prstGeom prst="ellipse">
              <a:avLst/>
            </a:prstGeom>
            <a:gradFill>
              <a:gsLst>
                <a:gs pos="0">
                  <a:srgbClr val="0E1A40"/>
                </a:gs>
                <a:gs pos="100000">
                  <a:srgbClr val="2F5EB0"/>
                </a:gs>
              </a:gsLst>
              <a:lin ang="13800000" scaled="0"/>
            </a:gra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8797">
                <a:solidFill>
                  <a:schemeClr val="tx2">
                    <a:lumMod val="50000"/>
                  </a:schemeClr>
                </a:solidFill>
              </a:endParaRPr>
            </a:p>
          </p:txBody>
        </p:sp>
        <p:sp>
          <p:nvSpPr>
            <p:cNvPr id="41" name="Freeform 7">
              <a:extLst>
                <a:ext uri="{FF2B5EF4-FFF2-40B4-BE49-F238E27FC236}">
                  <a16:creationId xmlns:a16="http://schemas.microsoft.com/office/drawing/2014/main" id="{592123B0-B7E2-4945-A164-9D14B4D13B6C}"/>
                </a:ext>
              </a:extLst>
            </p:cNvPr>
            <p:cNvSpPr>
              <a:spLocks/>
            </p:cNvSpPr>
            <p:nvPr/>
          </p:nvSpPr>
          <p:spPr bwMode="auto">
            <a:xfrm>
              <a:off x="1900092" y="4721918"/>
              <a:ext cx="357856" cy="207410"/>
            </a:xfrm>
            <a:custGeom>
              <a:avLst/>
              <a:gdLst>
                <a:gd name="T0" fmla="*/ 103 w 103"/>
                <a:gd name="T1" fmla="*/ 33 h 60"/>
                <a:gd name="T2" fmla="*/ 94 w 103"/>
                <a:gd name="T3" fmla="*/ 10 h 60"/>
                <a:gd name="T4" fmla="*/ 68 w 103"/>
                <a:gd name="T5" fmla="*/ 0 h 60"/>
                <a:gd name="T6" fmla="*/ 68 w 103"/>
                <a:gd name="T7" fmla="*/ 0 h 60"/>
                <a:gd name="T8" fmla="*/ 67 w 103"/>
                <a:gd name="T9" fmla="*/ 0 h 60"/>
                <a:gd name="T10" fmla="*/ 59 w 103"/>
                <a:gd name="T11" fmla="*/ 38 h 60"/>
                <a:gd name="T12" fmla="*/ 55 w 103"/>
                <a:gd name="T13" fmla="*/ 12 h 60"/>
                <a:gd name="T14" fmla="*/ 58 w 103"/>
                <a:gd name="T15" fmla="*/ 6 h 60"/>
                <a:gd name="T16" fmla="*/ 53 w 103"/>
                <a:gd name="T17" fmla="*/ 2 h 60"/>
                <a:gd name="T18" fmla="*/ 52 w 103"/>
                <a:gd name="T19" fmla="*/ 2 h 60"/>
                <a:gd name="T20" fmla="*/ 52 w 103"/>
                <a:gd name="T21" fmla="*/ 2 h 60"/>
                <a:gd name="T22" fmla="*/ 50 w 103"/>
                <a:gd name="T23" fmla="*/ 2 h 60"/>
                <a:gd name="T24" fmla="*/ 46 w 103"/>
                <a:gd name="T25" fmla="*/ 6 h 60"/>
                <a:gd name="T26" fmla="*/ 49 w 103"/>
                <a:gd name="T27" fmla="*/ 12 h 60"/>
                <a:gd name="T28" fmla="*/ 44 w 103"/>
                <a:gd name="T29" fmla="*/ 38 h 60"/>
                <a:gd name="T30" fmla="*/ 36 w 103"/>
                <a:gd name="T31" fmla="*/ 0 h 60"/>
                <a:gd name="T32" fmla="*/ 36 w 103"/>
                <a:gd name="T33" fmla="*/ 0 h 60"/>
                <a:gd name="T34" fmla="*/ 35 w 103"/>
                <a:gd name="T35" fmla="*/ 0 h 60"/>
                <a:gd name="T36" fmla="*/ 9 w 103"/>
                <a:gd name="T37" fmla="*/ 10 h 60"/>
                <a:gd name="T38" fmla="*/ 1 w 103"/>
                <a:gd name="T39" fmla="*/ 33 h 60"/>
                <a:gd name="T40" fmla="*/ 0 w 103"/>
                <a:gd name="T41" fmla="*/ 57 h 60"/>
                <a:gd name="T42" fmla="*/ 19 w 103"/>
                <a:gd name="T43" fmla="*/ 59 h 60"/>
                <a:gd name="T44" fmla="*/ 19 w 103"/>
                <a:gd name="T45" fmla="*/ 38 h 60"/>
                <a:gd name="T46" fmla="*/ 21 w 103"/>
                <a:gd name="T47" fmla="*/ 30 h 60"/>
                <a:gd name="T48" fmla="*/ 21 w 103"/>
                <a:gd name="T49" fmla="*/ 59 h 60"/>
                <a:gd name="T50" fmla="*/ 52 w 103"/>
                <a:gd name="T51" fmla="*/ 60 h 60"/>
                <a:gd name="T52" fmla="*/ 82 w 103"/>
                <a:gd name="T53" fmla="*/ 59 h 60"/>
                <a:gd name="T54" fmla="*/ 82 w 103"/>
                <a:gd name="T55" fmla="*/ 30 h 60"/>
                <a:gd name="T56" fmla="*/ 84 w 103"/>
                <a:gd name="T57" fmla="*/ 38 h 60"/>
                <a:gd name="T58" fmla="*/ 84 w 103"/>
                <a:gd name="T59" fmla="*/ 59 h 60"/>
                <a:gd name="T60" fmla="*/ 103 w 103"/>
                <a:gd name="T61" fmla="*/ 57 h 60"/>
                <a:gd name="T62" fmla="*/ 103 w 103"/>
                <a:gd name="T63" fmla="*/ 3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3" h="60">
                  <a:moveTo>
                    <a:pt x="103" y="33"/>
                  </a:moveTo>
                  <a:cubicBezTo>
                    <a:pt x="101" y="17"/>
                    <a:pt x="97" y="12"/>
                    <a:pt x="94" y="10"/>
                  </a:cubicBezTo>
                  <a:cubicBezTo>
                    <a:pt x="87" y="6"/>
                    <a:pt x="73" y="2"/>
                    <a:pt x="68" y="0"/>
                  </a:cubicBezTo>
                  <a:cubicBezTo>
                    <a:pt x="68" y="0"/>
                    <a:pt x="68" y="0"/>
                    <a:pt x="68" y="0"/>
                  </a:cubicBezTo>
                  <a:cubicBezTo>
                    <a:pt x="68" y="0"/>
                    <a:pt x="68" y="0"/>
                    <a:pt x="67" y="0"/>
                  </a:cubicBezTo>
                  <a:cubicBezTo>
                    <a:pt x="67" y="5"/>
                    <a:pt x="59" y="38"/>
                    <a:pt x="59" y="38"/>
                  </a:cubicBezTo>
                  <a:cubicBezTo>
                    <a:pt x="59" y="38"/>
                    <a:pt x="55" y="12"/>
                    <a:pt x="55" y="12"/>
                  </a:cubicBezTo>
                  <a:cubicBezTo>
                    <a:pt x="55" y="12"/>
                    <a:pt x="58" y="6"/>
                    <a:pt x="58" y="6"/>
                  </a:cubicBezTo>
                  <a:cubicBezTo>
                    <a:pt x="53" y="2"/>
                    <a:pt x="53" y="2"/>
                    <a:pt x="53" y="2"/>
                  </a:cubicBezTo>
                  <a:cubicBezTo>
                    <a:pt x="52" y="2"/>
                    <a:pt x="52" y="2"/>
                    <a:pt x="52" y="2"/>
                  </a:cubicBezTo>
                  <a:cubicBezTo>
                    <a:pt x="52" y="2"/>
                    <a:pt x="52" y="2"/>
                    <a:pt x="52" y="2"/>
                  </a:cubicBezTo>
                  <a:cubicBezTo>
                    <a:pt x="50" y="2"/>
                    <a:pt x="50" y="2"/>
                    <a:pt x="50" y="2"/>
                  </a:cubicBezTo>
                  <a:cubicBezTo>
                    <a:pt x="46" y="6"/>
                    <a:pt x="46" y="6"/>
                    <a:pt x="46" y="6"/>
                  </a:cubicBezTo>
                  <a:cubicBezTo>
                    <a:pt x="49" y="12"/>
                    <a:pt x="49" y="12"/>
                    <a:pt x="49" y="12"/>
                  </a:cubicBezTo>
                  <a:cubicBezTo>
                    <a:pt x="44" y="38"/>
                    <a:pt x="44" y="38"/>
                    <a:pt x="44" y="38"/>
                  </a:cubicBezTo>
                  <a:cubicBezTo>
                    <a:pt x="44" y="38"/>
                    <a:pt x="37" y="5"/>
                    <a:pt x="36" y="0"/>
                  </a:cubicBezTo>
                  <a:cubicBezTo>
                    <a:pt x="36" y="0"/>
                    <a:pt x="36" y="0"/>
                    <a:pt x="36" y="0"/>
                  </a:cubicBezTo>
                  <a:cubicBezTo>
                    <a:pt x="36" y="0"/>
                    <a:pt x="35" y="0"/>
                    <a:pt x="35" y="0"/>
                  </a:cubicBezTo>
                  <a:cubicBezTo>
                    <a:pt x="30" y="2"/>
                    <a:pt x="16" y="6"/>
                    <a:pt x="9" y="10"/>
                  </a:cubicBezTo>
                  <a:cubicBezTo>
                    <a:pt x="7" y="12"/>
                    <a:pt x="2" y="17"/>
                    <a:pt x="1" y="33"/>
                  </a:cubicBezTo>
                  <a:cubicBezTo>
                    <a:pt x="1" y="34"/>
                    <a:pt x="1" y="47"/>
                    <a:pt x="0" y="57"/>
                  </a:cubicBezTo>
                  <a:cubicBezTo>
                    <a:pt x="7" y="58"/>
                    <a:pt x="12" y="59"/>
                    <a:pt x="19" y="59"/>
                  </a:cubicBezTo>
                  <a:cubicBezTo>
                    <a:pt x="19" y="52"/>
                    <a:pt x="19" y="41"/>
                    <a:pt x="19" y="38"/>
                  </a:cubicBezTo>
                  <a:cubicBezTo>
                    <a:pt x="19" y="35"/>
                    <a:pt x="20" y="32"/>
                    <a:pt x="21" y="30"/>
                  </a:cubicBezTo>
                  <a:cubicBezTo>
                    <a:pt x="21" y="59"/>
                    <a:pt x="21" y="59"/>
                    <a:pt x="21" y="59"/>
                  </a:cubicBezTo>
                  <a:cubicBezTo>
                    <a:pt x="30" y="60"/>
                    <a:pt x="42" y="60"/>
                    <a:pt x="52" y="60"/>
                  </a:cubicBezTo>
                  <a:cubicBezTo>
                    <a:pt x="62" y="60"/>
                    <a:pt x="73" y="60"/>
                    <a:pt x="82" y="59"/>
                  </a:cubicBezTo>
                  <a:cubicBezTo>
                    <a:pt x="82" y="30"/>
                    <a:pt x="82" y="30"/>
                    <a:pt x="82" y="30"/>
                  </a:cubicBezTo>
                  <a:cubicBezTo>
                    <a:pt x="83" y="32"/>
                    <a:pt x="84" y="35"/>
                    <a:pt x="84" y="38"/>
                  </a:cubicBezTo>
                  <a:cubicBezTo>
                    <a:pt x="84" y="41"/>
                    <a:pt x="84" y="52"/>
                    <a:pt x="84" y="59"/>
                  </a:cubicBezTo>
                  <a:cubicBezTo>
                    <a:pt x="91" y="58"/>
                    <a:pt x="97" y="58"/>
                    <a:pt x="103" y="57"/>
                  </a:cubicBezTo>
                  <a:cubicBezTo>
                    <a:pt x="103" y="47"/>
                    <a:pt x="103" y="34"/>
                    <a:pt x="103" y="33"/>
                  </a:cubicBezTo>
                  <a:close/>
                </a:path>
              </a:pathLst>
            </a:custGeom>
            <a:solidFill>
              <a:schemeClr val="bg1"/>
            </a:solidFill>
            <a:ln>
              <a:noFill/>
            </a:ln>
          </p:spPr>
          <p:txBody>
            <a:bodyPr vert="horz" wrap="square" lIns="68562" tIns="34281" rIns="68562" bIns="34281" numCol="1" anchor="t" anchorCtr="0" compatLnSpc="1">
              <a:prstTxWarp prst="textNoShape">
                <a:avLst/>
              </a:prstTxWarp>
            </a:bodyPr>
            <a:lstStyle/>
            <a:p>
              <a:endParaRPr lang="zh-CN" altLang="en-US" sz="1350">
                <a:solidFill>
                  <a:prstClr val="black"/>
                </a:solidFill>
              </a:endParaRPr>
            </a:p>
          </p:txBody>
        </p:sp>
        <p:sp>
          <p:nvSpPr>
            <p:cNvPr id="42" name="Freeform 8">
              <a:extLst>
                <a:ext uri="{FF2B5EF4-FFF2-40B4-BE49-F238E27FC236}">
                  <a16:creationId xmlns:a16="http://schemas.microsoft.com/office/drawing/2014/main" id="{FD6CC92E-7408-47DE-ABE3-5A5B5882D813}"/>
                </a:ext>
              </a:extLst>
            </p:cNvPr>
            <p:cNvSpPr>
              <a:spLocks/>
            </p:cNvSpPr>
            <p:nvPr/>
          </p:nvSpPr>
          <p:spPr bwMode="auto">
            <a:xfrm>
              <a:off x="1998517" y="4531827"/>
              <a:ext cx="162560" cy="190091"/>
            </a:xfrm>
            <a:custGeom>
              <a:avLst/>
              <a:gdLst>
                <a:gd name="T0" fmla="*/ 4 w 52"/>
                <a:gd name="T1" fmla="*/ 25 h 61"/>
                <a:gd name="T2" fmla="*/ 0 w 52"/>
                <a:gd name="T3" fmla="*/ 29 h 61"/>
                <a:gd name="T4" fmla="*/ 5 w 52"/>
                <a:gd name="T5" fmla="*/ 39 h 61"/>
                <a:gd name="T6" fmla="*/ 26 w 52"/>
                <a:gd name="T7" fmla="*/ 61 h 61"/>
                <a:gd name="T8" fmla="*/ 47 w 52"/>
                <a:gd name="T9" fmla="*/ 39 h 61"/>
                <a:gd name="T10" fmla="*/ 52 w 52"/>
                <a:gd name="T11" fmla="*/ 29 h 61"/>
                <a:gd name="T12" fmla="*/ 48 w 52"/>
                <a:gd name="T13" fmla="*/ 25 h 61"/>
                <a:gd name="T14" fmla="*/ 26 w 52"/>
                <a:gd name="T15" fmla="*/ 0 h 61"/>
                <a:gd name="T16" fmla="*/ 4 w 52"/>
                <a:gd name="T17"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 h="61">
                  <a:moveTo>
                    <a:pt x="4" y="25"/>
                  </a:moveTo>
                  <a:cubicBezTo>
                    <a:pt x="2" y="25"/>
                    <a:pt x="0" y="27"/>
                    <a:pt x="0" y="29"/>
                  </a:cubicBezTo>
                  <a:cubicBezTo>
                    <a:pt x="0" y="33"/>
                    <a:pt x="2" y="39"/>
                    <a:pt x="5" y="39"/>
                  </a:cubicBezTo>
                  <a:cubicBezTo>
                    <a:pt x="8" y="51"/>
                    <a:pt x="15" y="61"/>
                    <a:pt x="26" y="61"/>
                  </a:cubicBezTo>
                  <a:cubicBezTo>
                    <a:pt x="37" y="61"/>
                    <a:pt x="44" y="51"/>
                    <a:pt x="47" y="39"/>
                  </a:cubicBezTo>
                  <a:cubicBezTo>
                    <a:pt x="50" y="38"/>
                    <a:pt x="52" y="33"/>
                    <a:pt x="52" y="29"/>
                  </a:cubicBezTo>
                  <a:cubicBezTo>
                    <a:pt x="51" y="27"/>
                    <a:pt x="50" y="26"/>
                    <a:pt x="48" y="25"/>
                  </a:cubicBezTo>
                  <a:cubicBezTo>
                    <a:pt x="48" y="11"/>
                    <a:pt x="39" y="0"/>
                    <a:pt x="26" y="0"/>
                  </a:cubicBezTo>
                  <a:cubicBezTo>
                    <a:pt x="13" y="0"/>
                    <a:pt x="4" y="11"/>
                    <a:pt x="4" y="25"/>
                  </a:cubicBezTo>
                  <a:close/>
                </a:path>
              </a:pathLst>
            </a:custGeom>
            <a:solidFill>
              <a:schemeClr val="bg1"/>
            </a:solidFill>
            <a:ln>
              <a:noFill/>
            </a:ln>
          </p:spPr>
          <p:txBody>
            <a:bodyPr vert="horz" wrap="square" lIns="68562" tIns="34281" rIns="68562" bIns="34281" numCol="1" anchor="t" anchorCtr="0" compatLnSpc="1">
              <a:prstTxWarp prst="textNoShape">
                <a:avLst/>
              </a:prstTxWarp>
            </a:bodyPr>
            <a:lstStyle/>
            <a:p>
              <a:endParaRPr lang="zh-CN" altLang="en-US" sz="1350">
                <a:solidFill>
                  <a:prstClr val="black"/>
                </a:solidFill>
              </a:endParaRPr>
            </a:p>
          </p:txBody>
        </p:sp>
      </p:grpSp>
      <p:sp>
        <p:nvSpPr>
          <p:cNvPr id="43" name="矩形 3">
            <a:extLst>
              <a:ext uri="{FF2B5EF4-FFF2-40B4-BE49-F238E27FC236}">
                <a16:creationId xmlns:a16="http://schemas.microsoft.com/office/drawing/2014/main" id="{5EB4C10D-C44F-4DAA-8AE6-02CAF4E7DB38}"/>
              </a:ext>
            </a:extLst>
          </p:cNvPr>
          <p:cNvSpPr>
            <a:spLocks noChangeArrowheads="1"/>
          </p:cNvSpPr>
          <p:nvPr/>
        </p:nvSpPr>
        <p:spPr bwMode="auto">
          <a:xfrm>
            <a:off x="4061030" y="4169360"/>
            <a:ext cx="1899200" cy="359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51416" tIns="25709" rIns="51416" bIns="25709">
            <a:spAutoFit/>
          </a:bodyPr>
          <a:lstStyle/>
          <a:p>
            <a:pPr>
              <a:spcBef>
                <a:spcPct val="0"/>
              </a:spcBef>
              <a:buFont typeface="Arial" charset="0"/>
              <a:buNone/>
            </a:pPr>
            <a:r>
              <a:rPr lang="zh-CN" altLang="en-US" sz="2000" dirty="0">
                <a:solidFill>
                  <a:srgbClr val="2F5EB0"/>
                </a:solidFill>
                <a:latin typeface="微软雅黑" panose="020B0503020204020204" pitchFamily="34" charset="-122"/>
                <a:ea typeface="微软雅黑" panose="020B0503020204020204" pitchFamily="34" charset="-122"/>
                <a:cs typeface="Arial" panose="020B0604020202020204" pitchFamily="34" charset="0"/>
              </a:rPr>
              <a:t>主讲人：张延松</a:t>
            </a:r>
          </a:p>
        </p:txBody>
      </p:sp>
      <p:sp>
        <p:nvSpPr>
          <p:cNvPr id="44" name="矩形 43">
            <a:extLst>
              <a:ext uri="{FF2B5EF4-FFF2-40B4-BE49-F238E27FC236}">
                <a16:creationId xmlns:a16="http://schemas.microsoft.com/office/drawing/2014/main" id="{5D3D1CD9-25EA-4957-9245-9ADA11BB9214}"/>
              </a:ext>
            </a:extLst>
          </p:cNvPr>
          <p:cNvSpPr/>
          <p:nvPr/>
        </p:nvSpPr>
        <p:spPr>
          <a:xfrm>
            <a:off x="4117549" y="4554228"/>
            <a:ext cx="828000" cy="30367"/>
          </a:xfrm>
          <a:prstGeom prst="rect">
            <a:avLst/>
          </a:prstGeom>
          <a:solidFill>
            <a:srgbClr val="2F5EB0"/>
          </a:solidFill>
          <a:ln>
            <a:noFill/>
          </a:ln>
        </p:spPr>
        <p:style>
          <a:lnRef idx="2">
            <a:schemeClr val="accent1">
              <a:shade val="50000"/>
            </a:schemeClr>
          </a:lnRef>
          <a:fillRef idx="1">
            <a:schemeClr val="accent1"/>
          </a:fillRef>
          <a:effectRef idx="0">
            <a:schemeClr val="accent1"/>
          </a:effectRef>
          <a:fontRef idx="minor">
            <a:schemeClr val="lt1"/>
          </a:fontRef>
        </p:style>
        <p:txBody>
          <a:bodyPr lIns="51419" tIns="25709" rIns="51419" bIns="25709" rtlCol="0" anchor="ctr"/>
          <a:lstStyle/>
          <a:p>
            <a:pPr algn="ctr"/>
            <a:endParaRPr lang="zh-CN" altLang="en-US" sz="1350">
              <a:solidFill>
                <a:schemeClr val="accent5">
                  <a:lumMod val="60000"/>
                  <a:lumOff val="40000"/>
                </a:schemeClr>
              </a:solidFill>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0F04D171-AE91-4566-AEE0-EC46CA42219A}"/>
              </a:ext>
            </a:extLst>
          </p:cNvPr>
          <p:cNvSpPr/>
          <p:nvPr/>
        </p:nvSpPr>
        <p:spPr>
          <a:xfrm>
            <a:off x="4968160" y="4554228"/>
            <a:ext cx="1080000" cy="3036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1419" tIns="25709" rIns="51419" bIns="25709" rtlCol="0" anchor="ctr"/>
          <a:lstStyle/>
          <a:p>
            <a:pPr algn="ctr"/>
            <a:endParaRPr lang="zh-CN" altLang="en-US" sz="1350">
              <a:solidFill>
                <a:schemeClr val="accent5">
                  <a:lumMod val="60000"/>
                  <a:lumOff val="40000"/>
                </a:schemeClr>
              </a:solidFill>
              <a:latin typeface="微软雅黑" panose="020B0503020204020204" pitchFamily="34" charset="-122"/>
              <a:ea typeface="微软雅黑" panose="020B0503020204020204" pitchFamily="34" charset="-122"/>
            </a:endParaRPr>
          </a:p>
        </p:txBody>
      </p:sp>
      <p:pic>
        <p:nvPicPr>
          <p:cNvPr id="46" name="图片 45">
            <a:extLst>
              <a:ext uri="{FF2B5EF4-FFF2-40B4-BE49-F238E27FC236}">
                <a16:creationId xmlns:a16="http://schemas.microsoft.com/office/drawing/2014/main" id="{B1378883-D4BD-49C0-9C7B-7ADF2E15316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8594" y="5201954"/>
            <a:ext cx="2926646" cy="1646238"/>
          </a:xfrm>
          <a:prstGeom prst="ellipse">
            <a:avLst/>
          </a:prstGeom>
          <a:ln>
            <a:noFill/>
          </a:ln>
          <a:effectLst>
            <a:softEdge rad="381000"/>
          </a:effectLst>
        </p:spPr>
      </p:pic>
      <p:sp>
        <p:nvSpPr>
          <p:cNvPr id="47" name="副标题 2">
            <a:extLst>
              <a:ext uri="{FF2B5EF4-FFF2-40B4-BE49-F238E27FC236}">
                <a16:creationId xmlns:a16="http://schemas.microsoft.com/office/drawing/2014/main" id="{0125E8D5-775D-45F3-A193-CC6FC527E42F}"/>
              </a:ext>
            </a:extLst>
          </p:cNvPr>
          <p:cNvSpPr txBox="1">
            <a:spLocks/>
          </p:cNvSpPr>
          <p:nvPr/>
        </p:nvSpPr>
        <p:spPr>
          <a:xfrm>
            <a:off x="2176490" y="5559063"/>
            <a:ext cx="5060762" cy="932020"/>
          </a:xfrm>
          <a:prstGeom prst="rect">
            <a:avLst/>
          </a:prstGeom>
        </p:spPr>
        <p:txBody>
          <a:bodyPr>
            <a:noAutofit/>
          </a:bodyPr>
          <a:lstStyle>
            <a:lvl1pPr marL="0" indent="0" algn="ctr" defTabSz="685622" rtl="0" eaLnBrk="1" latinLnBrk="0" hangingPunct="1">
              <a:spcBef>
                <a:spcPct val="20000"/>
              </a:spcBef>
              <a:buFont typeface="Arial" panose="020B0604020202020204" pitchFamily="34" charset="0"/>
              <a:buNone/>
              <a:defRPr sz="4000" b="1" kern="1200">
                <a:solidFill>
                  <a:srgbClr val="FF0000"/>
                </a:solidFill>
                <a:effectLst>
                  <a:outerShdw blurRad="38100" dist="38100" dir="2700000" algn="tl">
                    <a:srgbClr val="000000">
                      <a:alpha val="43137"/>
                    </a:srgbClr>
                  </a:outerShdw>
                </a:effectLst>
                <a:latin typeface="Comic Sans MS" panose="030F0702030302020204" pitchFamily="66" charset="0"/>
                <a:ea typeface="华文隶书" panose="02010800040101010101" pitchFamily="2" charset="-122"/>
                <a:cs typeface="+mn-cs"/>
              </a:defRPr>
            </a:lvl1pPr>
            <a:lvl2pPr marL="457200" indent="0" algn="ctr" defTabSz="685622" rtl="0" eaLnBrk="1" latinLnBrk="0" hangingPunct="1">
              <a:spcBef>
                <a:spcPct val="20000"/>
              </a:spcBef>
              <a:buFont typeface="Arial" panose="020B0604020202020204" pitchFamily="34" charset="0"/>
              <a:buNone/>
              <a:defRPr sz="2000" kern="1200">
                <a:solidFill>
                  <a:schemeClr val="tx1"/>
                </a:solidFill>
                <a:latin typeface="+mn-lt"/>
                <a:ea typeface="+mn-ea"/>
                <a:cs typeface="+mn-cs"/>
              </a:defRPr>
            </a:lvl2pPr>
            <a:lvl3pPr marL="914400" indent="0" algn="ctr" defTabSz="685622" rtl="0" eaLnBrk="1" latinLnBrk="0" hangingPunct="1">
              <a:spcBef>
                <a:spcPct val="20000"/>
              </a:spcBef>
              <a:buFont typeface="Arial" panose="020B0604020202020204" pitchFamily="34" charset="0"/>
              <a:buNone/>
              <a:defRPr sz="1800" kern="1200">
                <a:solidFill>
                  <a:schemeClr val="tx1"/>
                </a:solidFill>
                <a:latin typeface="+mn-lt"/>
                <a:ea typeface="+mn-ea"/>
                <a:cs typeface="+mn-cs"/>
              </a:defRPr>
            </a:lvl3pPr>
            <a:lvl4pPr marL="1371600" indent="0" algn="ctr" defTabSz="685622" rtl="0" eaLnBrk="1" latinLnBrk="0" hangingPunct="1">
              <a:spcBef>
                <a:spcPct val="20000"/>
              </a:spcBef>
              <a:buFont typeface="Arial" panose="020B0604020202020204" pitchFamily="34" charset="0"/>
              <a:buNone/>
              <a:defRPr sz="1600" kern="1200">
                <a:solidFill>
                  <a:schemeClr val="tx1"/>
                </a:solidFill>
                <a:latin typeface="+mn-lt"/>
                <a:ea typeface="+mn-ea"/>
                <a:cs typeface="+mn-cs"/>
              </a:defRPr>
            </a:lvl4pPr>
            <a:lvl5pPr marL="1828800" indent="0" algn="ctr" defTabSz="685622" rtl="0" eaLnBrk="1" latinLnBrk="0" hangingPunct="1">
              <a:spcBef>
                <a:spcPct val="20000"/>
              </a:spcBef>
              <a:buFont typeface="Arial" panose="020B0604020202020204" pitchFamily="34" charset="0"/>
              <a:buNone/>
              <a:defRPr sz="1600" kern="1200">
                <a:solidFill>
                  <a:schemeClr val="tx1"/>
                </a:solidFill>
                <a:latin typeface="+mn-lt"/>
                <a:ea typeface="+mn-ea"/>
                <a:cs typeface="+mn-cs"/>
              </a:defRPr>
            </a:lvl5pPr>
            <a:lvl6pPr marL="2286000" indent="0" algn="ctr" defTabSz="685622" rtl="0" eaLnBrk="1" latinLnBrk="0" hangingPunct="1">
              <a:spcBef>
                <a:spcPct val="20000"/>
              </a:spcBef>
              <a:buFont typeface="Arial" panose="020B0604020202020204" pitchFamily="34" charset="0"/>
              <a:buNone/>
              <a:defRPr sz="1600" kern="1200">
                <a:solidFill>
                  <a:schemeClr val="tx1"/>
                </a:solidFill>
                <a:latin typeface="+mn-lt"/>
                <a:ea typeface="+mn-ea"/>
                <a:cs typeface="+mn-cs"/>
              </a:defRPr>
            </a:lvl6pPr>
            <a:lvl7pPr marL="2743200" indent="0" algn="ctr" defTabSz="685622" rtl="0" eaLnBrk="1" latinLnBrk="0" hangingPunct="1">
              <a:spcBef>
                <a:spcPct val="20000"/>
              </a:spcBef>
              <a:buFont typeface="Arial" panose="020B0604020202020204" pitchFamily="34" charset="0"/>
              <a:buNone/>
              <a:defRPr sz="1600" kern="1200">
                <a:solidFill>
                  <a:schemeClr val="tx1"/>
                </a:solidFill>
                <a:latin typeface="+mn-lt"/>
                <a:ea typeface="+mn-ea"/>
                <a:cs typeface="+mn-cs"/>
              </a:defRPr>
            </a:lvl7pPr>
            <a:lvl8pPr marL="3200400" indent="0" algn="ctr" defTabSz="685622" rtl="0" eaLnBrk="1" latinLnBrk="0" hangingPunct="1">
              <a:spcBef>
                <a:spcPct val="20000"/>
              </a:spcBef>
              <a:buFont typeface="Arial" panose="020B0604020202020204" pitchFamily="34" charset="0"/>
              <a:buNone/>
              <a:defRPr sz="1600" kern="1200">
                <a:solidFill>
                  <a:schemeClr val="tx1"/>
                </a:solidFill>
                <a:latin typeface="+mn-lt"/>
                <a:ea typeface="+mn-ea"/>
                <a:cs typeface="+mn-cs"/>
              </a:defRPr>
            </a:lvl8pPr>
            <a:lvl9pPr marL="3657600" indent="0" algn="ctr" defTabSz="685622" rtl="0" eaLnBrk="1" latinLnBrk="0" hangingPunct="1">
              <a:spcBef>
                <a:spcPct val="20000"/>
              </a:spcBef>
              <a:buFont typeface="Arial" panose="020B0604020202020204" pitchFamily="34" charset="0"/>
              <a:buNone/>
              <a:defRPr sz="1600" kern="1200">
                <a:solidFill>
                  <a:schemeClr val="tx1"/>
                </a:solidFill>
                <a:latin typeface="+mn-lt"/>
                <a:ea typeface="+mn-ea"/>
                <a:cs typeface="+mn-cs"/>
              </a:defRPr>
            </a:lvl9pPr>
          </a:lstStyle>
          <a:p>
            <a:r>
              <a:rPr lang="zh-CN" altLang="en-US" sz="2400" dirty="0"/>
              <a:t>中国人民大学 信息学院</a:t>
            </a:r>
            <a:endParaRPr lang="en-US" altLang="zh-CN" sz="2400" dirty="0"/>
          </a:p>
          <a:p>
            <a:r>
              <a:rPr lang="en-US" altLang="zh-CN" sz="2400" dirty="0"/>
              <a:t>zhangys_ruc@hotmail.com</a:t>
            </a:r>
            <a:endParaRPr lang="zh-CN" altLang="en-US" sz="2400" dirty="0"/>
          </a:p>
        </p:txBody>
      </p:sp>
    </p:spTree>
    <p:extLst>
      <p:ext uri="{BB962C8B-B14F-4D97-AF65-F5344CB8AC3E}">
        <p14:creationId xmlns:p14="http://schemas.microsoft.com/office/powerpoint/2010/main" val="294707789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8" fill="hold" grpId="0" nodeType="withEffect">
                                  <p:stCondLst>
                                    <p:cond delay="100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0-#ppt_w/2"/>
                                          </p:val>
                                        </p:tav>
                                        <p:tav tm="100000">
                                          <p:val>
                                            <p:strVal val="#ppt_x"/>
                                          </p:val>
                                        </p:tav>
                                      </p:tavLst>
                                    </p:anim>
                                    <p:anim calcmode="lin" valueType="num">
                                      <p:cBhvr additive="base">
                                        <p:cTn id="12" dur="500" fill="hold"/>
                                        <p:tgtEl>
                                          <p:spTgt spid="2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100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0-#ppt_w/2"/>
                                          </p:val>
                                        </p:tav>
                                        <p:tav tm="100000">
                                          <p:val>
                                            <p:strVal val="#ppt_x"/>
                                          </p:val>
                                        </p:tav>
                                      </p:tavLst>
                                    </p:anim>
                                    <p:anim calcmode="lin" valueType="num">
                                      <p:cBhvr additive="base">
                                        <p:cTn id="16" dur="500" fill="hold"/>
                                        <p:tgtEl>
                                          <p:spTgt spid="2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100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0-#ppt_w/2"/>
                                          </p:val>
                                        </p:tav>
                                        <p:tav tm="100000">
                                          <p:val>
                                            <p:strVal val="#ppt_x"/>
                                          </p:val>
                                        </p:tav>
                                      </p:tavLst>
                                    </p:anim>
                                    <p:anim calcmode="lin" valueType="num">
                                      <p:cBhvr additive="base">
                                        <p:cTn id="20" dur="500" fill="hold"/>
                                        <p:tgtEl>
                                          <p:spTgt spid="29"/>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10" presetClass="entr" presetSubtype="0" fill="hold" grpId="0" nodeType="afterEffect">
                                  <p:stCondLst>
                                    <p:cond delay="0"/>
                                  </p:stCondLst>
                                  <p:childTnLst>
                                    <p:set>
                                      <p:cBhvr>
                                        <p:cTn id="23" dur="1" fill="hold">
                                          <p:stCondLst>
                                            <p:cond delay="0"/>
                                          </p:stCondLst>
                                        </p:cTn>
                                        <p:tgtEl>
                                          <p:spTgt spid="78"/>
                                        </p:tgtEl>
                                        <p:attrNameLst>
                                          <p:attrName>style.visibility</p:attrName>
                                        </p:attrNameLst>
                                      </p:cBhvr>
                                      <p:to>
                                        <p:strVal val="visible"/>
                                      </p:to>
                                    </p:set>
                                    <p:animEffect transition="in" filter="fade">
                                      <p:cBhvr>
                                        <p:cTn id="24" dur="1250"/>
                                        <p:tgtEl>
                                          <p:spTgt spid="78"/>
                                        </p:tgtEl>
                                      </p:cBhvr>
                                    </p:animEffect>
                                  </p:childTnLst>
                                </p:cTn>
                              </p:par>
                            </p:childTnLst>
                          </p:cTn>
                        </p:par>
                        <p:par>
                          <p:cTn id="25" fill="hold">
                            <p:stCondLst>
                              <p:cond delay="2750"/>
                            </p:stCondLst>
                            <p:childTnLst>
                              <p:par>
                                <p:cTn id="26" presetID="41" presetClass="entr" presetSubtype="0" fill="hold" grpId="0" nodeType="afterEffect">
                                  <p:stCondLst>
                                    <p:cond delay="0"/>
                                  </p:stCondLst>
                                  <p:iterate type="lt">
                                    <p:tmPct val="10000"/>
                                  </p:iterate>
                                  <p:childTnLst>
                                    <p:set>
                                      <p:cBhvr>
                                        <p:cTn id="27" dur="1" fill="hold">
                                          <p:stCondLst>
                                            <p:cond delay="0"/>
                                          </p:stCondLst>
                                        </p:cTn>
                                        <p:tgtEl>
                                          <p:spTgt spid="35"/>
                                        </p:tgtEl>
                                        <p:attrNameLst>
                                          <p:attrName>style.visibility</p:attrName>
                                        </p:attrNameLst>
                                      </p:cBhvr>
                                      <p:to>
                                        <p:strVal val="visible"/>
                                      </p:to>
                                    </p:set>
                                    <p:anim calcmode="lin" valueType="num">
                                      <p:cBhvr>
                                        <p:cTn id="28" dur="500" fill="hold"/>
                                        <p:tgtEl>
                                          <p:spTgt spid="35"/>
                                        </p:tgtEl>
                                        <p:attrNameLst>
                                          <p:attrName>ppt_x</p:attrName>
                                        </p:attrNameLst>
                                      </p:cBhvr>
                                      <p:tavLst>
                                        <p:tav tm="0">
                                          <p:val>
                                            <p:strVal val="#ppt_x"/>
                                          </p:val>
                                        </p:tav>
                                        <p:tav tm="50000">
                                          <p:val>
                                            <p:strVal val="#ppt_x+.1"/>
                                          </p:val>
                                        </p:tav>
                                        <p:tav tm="100000">
                                          <p:val>
                                            <p:strVal val="#ppt_x"/>
                                          </p:val>
                                        </p:tav>
                                      </p:tavLst>
                                    </p:anim>
                                    <p:anim calcmode="lin" valueType="num">
                                      <p:cBhvr>
                                        <p:cTn id="29" dur="500" fill="hold"/>
                                        <p:tgtEl>
                                          <p:spTgt spid="35"/>
                                        </p:tgtEl>
                                        <p:attrNameLst>
                                          <p:attrName>ppt_y</p:attrName>
                                        </p:attrNameLst>
                                      </p:cBhvr>
                                      <p:tavLst>
                                        <p:tav tm="0">
                                          <p:val>
                                            <p:strVal val="#ppt_y"/>
                                          </p:val>
                                        </p:tav>
                                        <p:tav tm="100000">
                                          <p:val>
                                            <p:strVal val="#ppt_y"/>
                                          </p:val>
                                        </p:tav>
                                      </p:tavLst>
                                    </p:anim>
                                    <p:anim calcmode="lin" valueType="num">
                                      <p:cBhvr>
                                        <p:cTn id="30" dur="500" fill="hold"/>
                                        <p:tgtEl>
                                          <p:spTgt spid="35"/>
                                        </p:tgtEl>
                                        <p:attrNameLst>
                                          <p:attrName>ppt_h</p:attrName>
                                        </p:attrNameLst>
                                      </p:cBhvr>
                                      <p:tavLst>
                                        <p:tav tm="0">
                                          <p:val>
                                            <p:strVal val="#ppt_h/10"/>
                                          </p:val>
                                        </p:tav>
                                        <p:tav tm="50000">
                                          <p:val>
                                            <p:strVal val="#ppt_h+.01"/>
                                          </p:val>
                                        </p:tav>
                                        <p:tav tm="100000">
                                          <p:val>
                                            <p:strVal val="#ppt_h"/>
                                          </p:val>
                                        </p:tav>
                                      </p:tavLst>
                                    </p:anim>
                                    <p:anim calcmode="lin" valueType="num">
                                      <p:cBhvr>
                                        <p:cTn id="31" dur="500" fill="hold"/>
                                        <p:tgtEl>
                                          <p:spTgt spid="35"/>
                                        </p:tgtEl>
                                        <p:attrNameLst>
                                          <p:attrName>ppt_w</p:attrName>
                                        </p:attrNameLst>
                                      </p:cBhvr>
                                      <p:tavLst>
                                        <p:tav tm="0">
                                          <p:val>
                                            <p:strVal val="#ppt_w/10"/>
                                          </p:val>
                                        </p:tav>
                                        <p:tav tm="50000">
                                          <p:val>
                                            <p:strVal val="#ppt_w+.01"/>
                                          </p:val>
                                        </p:tav>
                                        <p:tav tm="100000">
                                          <p:val>
                                            <p:strVal val="#ppt_w"/>
                                          </p:val>
                                        </p:tav>
                                      </p:tavLst>
                                    </p:anim>
                                    <p:animEffect transition="in" filter="fade">
                                      <p:cBhvr>
                                        <p:cTn id="32" dur="500" tmFilter="0,0; .5, 1; 1, 1"/>
                                        <p:tgtEl>
                                          <p:spTgt spid="35"/>
                                        </p:tgtEl>
                                      </p:cBhvr>
                                    </p:animEffect>
                                  </p:childTnLst>
                                </p:cTn>
                              </p:par>
                            </p:childTnLst>
                          </p:cTn>
                        </p:par>
                        <p:par>
                          <p:cTn id="33" fill="hold">
                            <p:stCondLst>
                              <p:cond delay="4400"/>
                            </p:stCondLst>
                            <p:childTnLst>
                              <p:par>
                                <p:cTn id="34" presetID="41" presetClass="entr" presetSubtype="0" fill="hold" grpId="0" nodeType="afterEffect">
                                  <p:stCondLst>
                                    <p:cond delay="0"/>
                                  </p:stCondLst>
                                  <p:iterate type="lt">
                                    <p:tmPct val="10000"/>
                                  </p:iterate>
                                  <p:childTnLst>
                                    <p:set>
                                      <p:cBhvr>
                                        <p:cTn id="35" dur="1" fill="hold">
                                          <p:stCondLst>
                                            <p:cond delay="0"/>
                                          </p:stCondLst>
                                        </p:cTn>
                                        <p:tgtEl>
                                          <p:spTgt spid="36"/>
                                        </p:tgtEl>
                                        <p:attrNameLst>
                                          <p:attrName>style.visibility</p:attrName>
                                        </p:attrNameLst>
                                      </p:cBhvr>
                                      <p:to>
                                        <p:strVal val="visible"/>
                                      </p:to>
                                    </p:set>
                                    <p:anim calcmode="lin" valueType="num">
                                      <p:cBhvr>
                                        <p:cTn id="36" dur="500" fill="hold"/>
                                        <p:tgtEl>
                                          <p:spTgt spid="36"/>
                                        </p:tgtEl>
                                        <p:attrNameLst>
                                          <p:attrName>ppt_x</p:attrName>
                                        </p:attrNameLst>
                                      </p:cBhvr>
                                      <p:tavLst>
                                        <p:tav tm="0">
                                          <p:val>
                                            <p:strVal val="#ppt_x"/>
                                          </p:val>
                                        </p:tav>
                                        <p:tav tm="50000">
                                          <p:val>
                                            <p:strVal val="#ppt_x+.1"/>
                                          </p:val>
                                        </p:tav>
                                        <p:tav tm="100000">
                                          <p:val>
                                            <p:strVal val="#ppt_x"/>
                                          </p:val>
                                        </p:tav>
                                      </p:tavLst>
                                    </p:anim>
                                    <p:anim calcmode="lin" valueType="num">
                                      <p:cBhvr>
                                        <p:cTn id="37" dur="500" fill="hold"/>
                                        <p:tgtEl>
                                          <p:spTgt spid="36"/>
                                        </p:tgtEl>
                                        <p:attrNameLst>
                                          <p:attrName>ppt_y</p:attrName>
                                        </p:attrNameLst>
                                      </p:cBhvr>
                                      <p:tavLst>
                                        <p:tav tm="0">
                                          <p:val>
                                            <p:strVal val="#ppt_y"/>
                                          </p:val>
                                        </p:tav>
                                        <p:tav tm="100000">
                                          <p:val>
                                            <p:strVal val="#ppt_y"/>
                                          </p:val>
                                        </p:tav>
                                      </p:tavLst>
                                    </p:anim>
                                    <p:anim calcmode="lin" valueType="num">
                                      <p:cBhvr>
                                        <p:cTn id="38" dur="500" fill="hold"/>
                                        <p:tgtEl>
                                          <p:spTgt spid="36"/>
                                        </p:tgtEl>
                                        <p:attrNameLst>
                                          <p:attrName>ppt_h</p:attrName>
                                        </p:attrNameLst>
                                      </p:cBhvr>
                                      <p:tavLst>
                                        <p:tav tm="0">
                                          <p:val>
                                            <p:strVal val="#ppt_h/10"/>
                                          </p:val>
                                        </p:tav>
                                        <p:tav tm="50000">
                                          <p:val>
                                            <p:strVal val="#ppt_h+.01"/>
                                          </p:val>
                                        </p:tav>
                                        <p:tav tm="100000">
                                          <p:val>
                                            <p:strVal val="#ppt_h"/>
                                          </p:val>
                                        </p:tav>
                                      </p:tavLst>
                                    </p:anim>
                                    <p:anim calcmode="lin" valueType="num">
                                      <p:cBhvr>
                                        <p:cTn id="39" dur="500" fill="hold"/>
                                        <p:tgtEl>
                                          <p:spTgt spid="36"/>
                                        </p:tgtEl>
                                        <p:attrNameLst>
                                          <p:attrName>ppt_w</p:attrName>
                                        </p:attrNameLst>
                                      </p:cBhvr>
                                      <p:tavLst>
                                        <p:tav tm="0">
                                          <p:val>
                                            <p:strVal val="#ppt_w/10"/>
                                          </p:val>
                                        </p:tav>
                                        <p:tav tm="50000">
                                          <p:val>
                                            <p:strVal val="#ppt_w+.01"/>
                                          </p:val>
                                        </p:tav>
                                        <p:tav tm="100000">
                                          <p:val>
                                            <p:strVal val="#ppt_w"/>
                                          </p:val>
                                        </p:tav>
                                      </p:tavLst>
                                    </p:anim>
                                    <p:animEffect transition="in" filter="fade">
                                      <p:cBhvr>
                                        <p:cTn id="40" dur="500" tmFilter="0,0; .5, 1; 1, 1"/>
                                        <p:tgtEl>
                                          <p:spTgt spid="36"/>
                                        </p:tgtEl>
                                      </p:cBhvr>
                                    </p:animEffect>
                                  </p:childTnLst>
                                </p:cTn>
                              </p:par>
                              <p:par>
                                <p:cTn id="41" presetID="2" presetClass="entr" presetSubtype="4" fill="hold" grpId="0" nodeType="withEffect">
                                  <p:stCondLst>
                                    <p:cond delay="250"/>
                                  </p:stCondLst>
                                  <p:childTnLst>
                                    <p:set>
                                      <p:cBhvr>
                                        <p:cTn id="42" dur="1" fill="hold">
                                          <p:stCondLst>
                                            <p:cond delay="0"/>
                                          </p:stCondLst>
                                        </p:cTn>
                                        <p:tgtEl>
                                          <p:spTgt spid="38"/>
                                        </p:tgtEl>
                                        <p:attrNameLst>
                                          <p:attrName>style.visibility</p:attrName>
                                        </p:attrNameLst>
                                      </p:cBhvr>
                                      <p:to>
                                        <p:strVal val="visible"/>
                                      </p:to>
                                    </p:set>
                                    <p:anim calcmode="lin" valueType="num">
                                      <p:cBhvr additive="base">
                                        <p:cTn id="43" dur="500" fill="hold"/>
                                        <p:tgtEl>
                                          <p:spTgt spid="38"/>
                                        </p:tgtEl>
                                        <p:attrNameLst>
                                          <p:attrName>ppt_x</p:attrName>
                                        </p:attrNameLst>
                                      </p:cBhvr>
                                      <p:tavLst>
                                        <p:tav tm="0">
                                          <p:val>
                                            <p:strVal val="#ppt_x"/>
                                          </p:val>
                                        </p:tav>
                                        <p:tav tm="100000">
                                          <p:val>
                                            <p:strVal val="#ppt_x"/>
                                          </p:val>
                                        </p:tav>
                                      </p:tavLst>
                                    </p:anim>
                                    <p:anim calcmode="lin" valueType="num">
                                      <p:cBhvr additive="base">
                                        <p:cTn id="44" dur="500" fill="hold"/>
                                        <p:tgtEl>
                                          <p:spTgt spid="38"/>
                                        </p:tgtEl>
                                        <p:attrNameLst>
                                          <p:attrName>ppt_y</p:attrName>
                                        </p:attrNameLst>
                                      </p:cBhvr>
                                      <p:tavLst>
                                        <p:tav tm="0">
                                          <p:val>
                                            <p:strVal val="1+#ppt_h/2"/>
                                          </p:val>
                                        </p:tav>
                                        <p:tav tm="100000">
                                          <p:val>
                                            <p:strVal val="#ppt_y"/>
                                          </p:val>
                                        </p:tav>
                                      </p:tavLst>
                                    </p:anim>
                                  </p:childTnLst>
                                </p:cTn>
                              </p:par>
                            </p:childTnLst>
                          </p:cTn>
                        </p:par>
                        <p:par>
                          <p:cTn id="45" fill="hold">
                            <p:stCondLst>
                              <p:cond delay="5300"/>
                            </p:stCondLst>
                            <p:childTnLst>
                              <p:par>
                                <p:cTn id="46" presetID="53" presetClass="entr" presetSubtype="16" fill="hold" nodeType="afterEffect">
                                  <p:stCondLst>
                                    <p:cond delay="0"/>
                                  </p:stCondLst>
                                  <p:childTnLst>
                                    <p:set>
                                      <p:cBhvr>
                                        <p:cTn id="47" dur="1" fill="hold">
                                          <p:stCondLst>
                                            <p:cond delay="0"/>
                                          </p:stCondLst>
                                        </p:cTn>
                                        <p:tgtEl>
                                          <p:spTgt spid="39"/>
                                        </p:tgtEl>
                                        <p:attrNameLst>
                                          <p:attrName>style.visibility</p:attrName>
                                        </p:attrNameLst>
                                      </p:cBhvr>
                                      <p:to>
                                        <p:strVal val="visible"/>
                                      </p:to>
                                    </p:set>
                                    <p:anim calcmode="lin" valueType="num">
                                      <p:cBhvr>
                                        <p:cTn id="48" dur="500" fill="hold"/>
                                        <p:tgtEl>
                                          <p:spTgt spid="39"/>
                                        </p:tgtEl>
                                        <p:attrNameLst>
                                          <p:attrName>ppt_w</p:attrName>
                                        </p:attrNameLst>
                                      </p:cBhvr>
                                      <p:tavLst>
                                        <p:tav tm="0">
                                          <p:val>
                                            <p:fltVal val="0"/>
                                          </p:val>
                                        </p:tav>
                                        <p:tav tm="100000">
                                          <p:val>
                                            <p:strVal val="#ppt_w"/>
                                          </p:val>
                                        </p:tav>
                                      </p:tavLst>
                                    </p:anim>
                                    <p:anim calcmode="lin" valueType="num">
                                      <p:cBhvr>
                                        <p:cTn id="49" dur="500" fill="hold"/>
                                        <p:tgtEl>
                                          <p:spTgt spid="39"/>
                                        </p:tgtEl>
                                        <p:attrNameLst>
                                          <p:attrName>ppt_h</p:attrName>
                                        </p:attrNameLst>
                                      </p:cBhvr>
                                      <p:tavLst>
                                        <p:tav tm="0">
                                          <p:val>
                                            <p:fltVal val="0"/>
                                          </p:val>
                                        </p:tav>
                                        <p:tav tm="100000">
                                          <p:val>
                                            <p:strVal val="#ppt_h"/>
                                          </p:val>
                                        </p:tav>
                                      </p:tavLst>
                                    </p:anim>
                                    <p:animEffect transition="in" filter="fade">
                                      <p:cBhvr>
                                        <p:cTn id="50" dur="500"/>
                                        <p:tgtEl>
                                          <p:spTgt spid="39"/>
                                        </p:tgtEl>
                                      </p:cBhvr>
                                    </p:animEffect>
                                  </p:childTnLst>
                                </p:cTn>
                              </p:par>
                            </p:childTnLst>
                          </p:cTn>
                        </p:par>
                        <p:par>
                          <p:cTn id="51" fill="hold">
                            <p:stCondLst>
                              <p:cond delay="5800"/>
                            </p:stCondLst>
                            <p:childTnLst>
                              <p:par>
                                <p:cTn id="52" presetID="22" presetClass="entr" presetSubtype="8" fill="hold" grpId="0" nodeType="afterEffect">
                                  <p:stCondLst>
                                    <p:cond delay="0"/>
                                  </p:stCondLst>
                                  <p:childTnLst>
                                    <p:set>
                                      <p:cBhvr>
                                        <p:cTn id="53" dur="1" fill="hold">
                                          <p:stCondLst>
                                            <p:cond delay="0"/>
                                          </p:stCondLst>
                                        </p:cTn>
                                        <p:tgtEl>
                                          <p:spTgt spid="43"/>
                                        </p:tgtEl>
                                        <p:attrNameLst>
                                          <p:attrName>style.visibility</p:attrName>
                                        </p:attrNameLst>
                                      </p:cBhvr>
                                      <p:to>
                                        <p:strVal val="visible"/>
                                      </p:to>
                                    </p:set>
                                    <p:animEffect transition="in" filter="wipe(left)">
                                      <p:cBhvr>
                                        <p:cTn id="54" dur="500"/>
                                        <p:tgtEl>
                                          <p:spTgt spid="43"/>
                                        </p:tgtEl>
                                      </p:cBhvr>
                                    </p:animEffect>
                                  </p:childTnLst>
                                </p:cTn>
                              </p:par>
                            </p:childTnLst>
                          </p:cTn>
                        </p:par>
                        <p:par>
                          <p:cTn id="55" fill="hold">
                            <p:stCondLst>
                              <p:cond delay="6300"/>
                            </p:stCondLst>
                            <p:childTnLst>
                              <p:par>
                                <p:cTn id="56" presetID="22" presetClass="entr" presetSubtype="8" fill="hold" grpId="0" nodeType="afterEffect">
                                  <p:stCondLst>
                                    <p:cond delay="0"/>
                                  </p:stCondLst>
                                  <p:childTnLst>
                                    <p:set>
                                      <p:cBhvr>
                                        <p:cTn id="57" dur="1" fill="hold">
                                          <p:stCondLst>
                                            <p:cond delay="0"/>
                                          </p:stCondLst>
                                        </p:cTn>
                                        <p:tgtEl>
                                          <p:spTgt spid="44"/>
                                        </p:tgtEl>
                                        <p:attrNameLst>
                                          <p:attrName>style.visibility</p:attrName>
                                        </p:attrNameLst>
                                      </p:cBhvr>
                                      <p:to>
                                        <p:strVal val="visible"/>
                                      </p:to>
                                    </p:set>
                                    <p:animEffect transition="in" filter="wipe(left)">
                                      <p:cBhvr>
                                        <p:cTn id="58" dur="500"/>
                                        <p:tgtEl>
                                          <p:spTgt spid="44"/>
                                        </p:tgtEl>
                                      </p:cBhvr>
                                    </p:animEffect>
                                  </p:childTnLst>
                                </p:cTn>
                              </p:par>
                            </p:childTnLst>
                          </p:cTn>
                        </p:par>
                        <p:par>
                          <p:cTn id="59" fill="hold">
                            <p:stCondLst>
                              <p:cond delay="6800"/>
                            </p:stCondLst>
                            <p:childTnLst>
                              <p:par>
                                <p:cTn id="60" presetID="22" presetClass="entr" presetSubtype="8" fill="hold" grpId="0" nodeType="afterEffect">
                                  <p:stCondLst>
                                    <p:cond delay="0"/>
                                  </p:stCondLst>
                                  <p:childTnLst>
                                    <p:set>
                                      <p:cBhvr>
                                        <p:cTn id="61" dur="1" fill="hold">
                                          <p:stCondLst>
                                            <p:cond delay="0"/>
                                          </p:stCondLst>
                                        </p:cTn>
                                        <p:tgtEl>
                                          <p:spTgt spid="45"/>
                                        </p:tgtEl>
                                        <p:attrNameLst>
                                          <p:attrName>style.visibility</p:attrName>
                                        </p:attrNameLst>
                                      </p:cBhvr>
                                      <p:to>
                                        <p:strVal val="visible"/>
                                      </p:to>
                                    </p:set>
                                    <p:animEffect transition="in" filter="wipe(left)">
                                      <p:cBhvr>
                                        <p:cTn id="62" dur="75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7" grpId="0" animBg="1"/>
      <p:bldP spid="28" grpId="0" animBg="1"/>
      <p:bldP spid="29" grpId="0" animBg="1"/>
      <p:bldP spid="78" grpId="0"/>
      <p:bldP spid="35" grpId="0"/>
      <p:bldP spid="36" grpId="0"/>
      <p:bldP spid="38" grpId="0" animBg="1"/>
      <p:bldP spid="43" grpId="0"/>
      <p:bldP spid="44" grpId="0" animBg="1"/>
      <p:bldP spid="4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428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5">
            <a:extLst>
              <a:ext uri="{FF2B5EF4-FFF2-40B4-BE49-F238E27FC236}">
                <a16:creationId xmlns:a16="http://schemas.microsoft.com/office/drawing/2014/main" id="{93D8D422-7D5B-4CC7-854B-6420D7BBF70E}"/>
              </a:ext>
            </a:extLst>
          </p:cNvPr>
          <p:cNvSpPr/>
          <p:nvPr/>
        </p:nvSpPr>
        <p:spPr>
          <a:xfrm rot="2919292">
            <a:off x="4646075" y="2998098"/>
            <a:ext cx="597509" cy="548919"/>
          </a:xfrm>
          <a:custGeom>
            <a:avLst/>
            <a:gdLst>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120" h="1407198">
                <a:moveTo>
                  <a:pt x="0" y="0"/>
                </a:moveTo>
                <a:lnTo>
                  <a:pt x="1080120" y="0"/>
                </a:lnTo>
                <a:cubicBezTo>
                  <a:pt x="831575" y="585667"/>
                  <a:pt x="892944" y="1005638"/>
                  <a:pt x="1080120" y="1407198"/>
                </a:cubicBezTo>
                <a:lnTo>
                  <a:pt x="0" y="1407198"/>
                </a:lnTo>
                <a:cubicBezTo>
                  <a:pt x="171833" y="1017912"/>
                  <a:pt x="260819" y="542709"/>
                  <a:pt x="0"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矩形 5">
            <a:extLst>
              <a:ext uri="{FF2B5EF4-FFF2-40B4-BE49-F238E27FC236}">
                <a16:creationId xmlns:a16="http://schemas.microsoft.com/office/drawing/2014/main" id="{9E752071-778D-4A44-9D93-D33011EA3DC2}"/>
              </a:ext>
            </a:extLst>
          </p:cNvPr>
          <p:cNvSpPr/>
          <p:nvPr/>
        </p:nvSpPr>
        <p:spPr>
          <a:xfrm rot="18719445">
            <a:off x="3796307" y="2948496"/>
            <a:ext cx="597509" cy="548919"/>
          </a:xfrm>
          <a:custGeom>
            <a:avLst/>
            <a:gdLst>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 name="connsiteX0" fmla="*/ 0 w 1080120"/>
              <a:gd name="connsiteY0" fmla="*/ 0 h 1407198"/>
              <a:gd name="connsiteX1" fmla="*/ 1080120 w 1080120"/>
              <a:gd name="connsiteY1" fmla="*/ 0 h 1407198"/>
              <a:gd name="connsiteX2" fmla="*/ 1080120 w 1080120"/>
              <a:gd name="connsiteY2" fmla="*/ 1407198 h 1407198"/>
              <a:gd name="connsiteX3" fmla="*/ 0 w 1080120"/>
              <a:gd name="connsiteY3" fmla="*/ 1407198 h 1407198"/>
              <a:gd name="connsiteX4" fmla="*/ 0 w 1080120"/>
              <a:gd name="connsiteY4" fmla="*/ 0 h 1407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0120" h="1407198">
                <a:moveTo>
                  <a:pt x="0" y="0"/>
                </a:moveTo>
                <a:lnTo>
                  <a:pt x="1080120" y="0"/>
                </a:lnTo>
                <a:cubicBezTo>
                  <a:pt x="831575" y="585667"/>
                  <a:pt x="892944" y="1005638"/>
                  <a:pt x="1080120" y="1407198"/>
                </a:cubicBezTo>
                <a:lnTo>
                  <a:pt x="0" y="1407198"/>
                </a:lnTo>
                <a:cubicBezTo>
                  <a:pt x="171833" y="1017912"/>
                  <a:pt x="260819" y="542709"/>
                  <a:pt x="0"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5" name="组合 4">
            <a:extLst>
              <a:ext uri="{FF2B5EF4-FFF2-40B4-BE49-F238E27FC236}">
                <a16:creationId xmlns:a16="http://schemas.microsoft.com/office/drawing/2014/main" id="{984289B7-6B22-414F-A7F8-F99D22E65911}"/>
              </a:ext>
            </a:extLst>
          </p:cNvPr>
          <p:cNvGrpSpPr/>
          <p:nvPr/>
        </p:nvGrpSpPr>
        <p:grpSpPr>
          <a:xfrm>
            <a:off x="3386213" y="2543011"/>
            <a:ext cx="755887" cy="755887"/>
            <a:chOff x="4416945" y="2276872"/>
            <a:chExt cx="1008112" cy="1008112"/>
          </a:xfrm>
        </p:grpSpPr>
        <p:sp>
          <p:nvSpPr>
            <p:cNvPr id="6" name="椭圆 5">
              <a:extLst>
                <a:ext uri="{FF2B5EF4-FFF2-40B4-BE49-F238E27FC236}">
                  <a16:creationId xmlns:a16="http://schemas.microsoft.com/office/drawing/2014/main" id="{FA561BB3-5429-419A-BF1F-55384AE94DA7}"/>
                </a:ext>
              </a:extLst>
            </p:cNvPr>
            <p:cNvSpPr/>
            <p:nvPr/>
          </p:nvSpPr>
          <p:spPr>
            <a:xfrm>
              <a:off x="4416945" y="2276872"/>
              <a:ext cx="1008112" cy="1008112"/>
            </a:xfrm>
            <a:prstGeom prst="ellipse">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Freeform 92">
              <a:extLst>
                <a:ext uri="{FF2B5EF4-FFF2-40B4-BE49-F238E27FC236}">
                  <a16:creationId xmlns:a16="http://schemas.microsoft.com/office/drawing/2014/main" id="{556C2095-7687-48A4-980C-C3C0411F998D}"/>
                </a:ext>
              </a:extLst>
            </p:cNvPr>
            <p:cNvSpPr>
              <a:spLocks noEditPoints="1"/>
            </p:cNvSpPr>
            <p:nvPr/>
          </p:nvSpPr>
          <p:spPr bwMode="auto">
            <a:xfrm>
              <a:off x="4780507" y="2642667"/>
              <a:ext cx="280988" cy="287338"/>
            </a:xfrm>
            <a:custGeom>
              <a:avLst/>
              <a:gdLst>
                <a:gd name="T0" fmla="*/ 161 w 195"/>
                <a:gd name="T1" fmla="*/ 101 h 200"/>
                <a:gd name="T2" fmla="*/ 152 w 195"/>
                <a:gd name="T3" fmla="*/ 99 h 200"/>
                <a:gd name="T4" fmla="*/ 159 w 195"/>
                <a:gd name="T5" fmla="*/ 87 h 200"/>
                <a:gd name="T6" fmla="*/ 161 w 195"/>
                <a:gd name="T7" fmla="*/ 87 h 200"/>
                <a:gd name="T8" fmla="*/ 184 w 195"/>
                <a:gd name="T9" fmla="*/ 46 h 200"/>
                <a:gd name="T10" fmla="*/ 164 w 195"/>
                <a:gd name="T11" fmla="*/ 23 h 200"/>
                <a:gd name="T12" fmla="*/ 164 w 195"/>
                <a:gd name="T13" fmla="*/ 9 h 200"/>
                <a:gd name="T14" fmla="*/ 195 w 195"/>
                <a:gd name="T15" fmla="*/ 46 h 200"/>
                <a:gd name="T16" fmla="*/ 161 w 195"/>
                <a:gd name="T17" fmla="*/ 101 h 200"/>
                <a:gd name="T18" fmla="*/ 98 w 195"/>
                <a:gd name="T19" fmla="*/ 130 h 200"/>
                <a:gd name="T20" fmla="*/ 36 w 195"/>
                <a:gd name="T21" fmla="*/ 40 h 200"/>
                <a:gd name="T22" fmla="*/ 36 w 195"/>
                <a:gd name="T23" fmla="*/ 0 h 200"/>
                <a:gd name="T24" fmla="*/ 160 w 195"/>
                <a:gd name="T25" fmla="*/ 0 h 200"/>
                <a:gd name="T26" fmla="*/ 160 w 195"/>
                <a:gd name="T27" fmla="*/ 40 h 200"/>
                <a:gd name="T28" fmla="*/ 98 w 195"/>
                <a:gd name="T29" fmla="*/ 130 h 200"/>
                <a:gd name="T30" fmla="*/ 67 w 195"/>
                <a:gd name="T31" fmla="*/ 12 h 200"/>
                <a:gd name="T32" fmla="*/ 52 w 195"/>
                <a:gd name="T33" fmla="*/ 12 h 200"/>
                <a:gd name="T34" fmla="*/ 99 w 195"/>
                <a:gd name="T35" fmla="*/ 119 h 200"/>
                <a:gd name="T36" fmla="*/ 67 w 195"/>
                <a:gd name="T37" fmla="*/ 12 h 200"/>
                <a:gd name="T38" fmla="*/ 34 w 195"/>
                <a:gd name="T39" fmla="*/ 87 h 200"/>
                <a:gd name="T40" fmla="*/ 36 w 195"/>
                <a:gd name="T41" fmla="*/ 87 h 200"/>
                <a:gd name="T42" fmla="*/ 43 w 195"/>
                <a:gd name="T43" fmla="*/ 99 h 200"/>
                <a:gd name="T44" fmla="*/ 34 w 195"/>
                <a:gd name="T45" fmla="*/ 101 h 200"/>
                <a:gd name="T46" fmla="*/ 0 w 195"/>
                <a:gd name="T47" fmla="*/ 46 h 200"/>
                <a:gd name="T48" fmla="*/ 31 w 195"/>
                <a:gd name="T49" fmla="*/ 9 h 200"/>
                <a:gd name="T50" fmla="*/ 31 w 195"/>
                <a:gd name="T51" fmla="*/ 23 h 200"/>
                <a:gd name="T52" fmla="*/ 11 w 195"/>
                <a:gd name="T53" fmla="*/ 46 h 200"/>
                <a:gd name="T54" fmla="*/ 34 w 195"/>
                <a:gd name="T55" fmla="*/ 87 h 200"/>
                <a:gd name="T56" fmla="*/ 87 w 195"/>
                <a:gd name="T57" fmla="*/ 147 h 200"/>
                <a:gd name="T58" fmla="*/ 97 w 195"/>
                <a:gd name="T59" fmla="*/ 136 h 200"/>
                <a:gd name="T60" fmla="*/ 108 w 195"/>
                <a:gd name="T61" fmla="*/ 147 h 200"/>
                <a:gd name="T62" fmla="*/ 97 w 195"/>
                <a:gd name="T63" fmla="*/ 157 h 200"/>
                <a:gd name="T64" fmla="*/ 87 w 195"/>
                <a:gd name="T65" fmla="*/ 147 h 200"/>
                <a:gd name="T66" fmla="*/ 128 w 195"/>
                <a:gd name="T67" fmla="*/ 170 h 200"/>
                <a:gd name="T68" fmla="*/ 118 w 195"/>
                <a:gd name="T69" fmla="*/ 180 h 200"/>
                <a:gd name="T70" fmla="*/ 78 w 195"/>
                <a:gd name="T71" fmla="*/ 180 h 200"/>
                <a:gd name="T72" fmla="*/ 68 w 195"/>
                <a:gd name="T73" fmla="*/ 170 h 200"/>
                <a:gd name="T74" fmla="*/ 78 w 195"/>
                <a:gd name="T75" fmla="*/ 160 h 200"/>
                <a:gd name="T76" fmla="*/ 118 w 195"/>
                <a:gd name="T77" fmla="*/ 160 h 200"/>
                <a:gd name="T78" fmla="*/ 128 w 195"/>
                <a:gd name="T79" fmla="*/ 170 h 200"/>
                <a:gd name="T80" fmla="*/ 58 w 195"/>
                <a:gd name="T81" fmla="*/ 184 h 200"/>
                <a:gd name="T82" fmla="*/ 134 w 195"/>
                <a:gd name="T83" fmla="*/ 184 h 200"/>
                <a:gd name="T84" fmla="*/ 144 w 195"/>
                <a:gd name="T85" fmla="*/ 200 h 200"/>
                <a:gd name="T86" fmla="*/ 48 w 195"/>
                <a:gd name="T87" fmla="*/ 200 h 200"/>
                <a:gd name="T88" fmla="*/ 58 w 195"/>
                <a:gd name="T89" fmla="*/ 18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5" h="200">
                  <a:moveTo>
                    <a:pt x="161" y="101"/>
                  </a:moveTo>
                  <a:cubicBezTo>
                    <a:pt x="158" y="101"/>
                    <a:pt x="155" y="100"/>
                    <a:pt x="152" y="99"/>
                  </a:cubicBezTo>
                  <a:cubicBezTo>
                    <a:pt x="155" y="96"/>
                    <a:pt x="157" y="92"/>
                    <a:pt x="159" y="87"/>
                  </a:cubicBezTo>
                  <a:cubicBezTo>
                    <a:pt x="159" y="87"/>
                    <a:pt x="160" y="87"/>
                    <a:pt x="161" y="87"/>
                  </a:cubicBezTo>
                  <a:cubicBezTo>
                    <a:pt x="176" y="87"/>
                    <a:pt x="184" y="64"/>
                    <a:pt x="184" y="46"/>
                  </a:cubicBezTo>
                  <a:cubicBezTo>
                    <a:pt x="184" y="31"/>
                    <a:pt x="175" y="23"/>
                    <a:pt x="164" y="23"/>
                  </a:cubicBezTo>
                  <a:cubicBezTo>
                    <a:pt x="164" y="18"/>
                    <a:pt x="164" y="13"/>
                    <a:pt x="164" y="9"/>
                  </a:cubicBezTo>
                  <a:cubicBezTo>
                    <a:pt x="181" y="9"/>
                    <a:pt x="195" y="23"/>
                    <a:pt x="195" y="46"/>
                  </a:cubicBezTo>
                  <a:cubicBezTo>
                    <a:pt x="195" y="71"/>
                    <a:pt x="182" y="101"/>
                    <a:pt x="161" y="101"/>
                  </a:cubicBezTo>
                  <a:close/>
                  <a:moveTo>
                    <a:pt x="98" y="130"/>
                  </a:moveTo>
                  <a:cubicBezTo>
                    <a:pt x="65" y="130"/>
                    <a:pt x="36" y="90"/>
                    <a:pt x="36" y="40"/>
                  </a:cubicBezTo>
                  <a:cubicBezTo>
                    <a:pt x="36" y="37"/>
                    <a:pt x="36" y="3"/>
                    <a:pt x="36" y="0"/>
                  </a:cubicBezTo>
                  <a:cubicBezTo>
                    <a:pt x="160" y="0"/>
                    <a:pt x="160" y="0"/>
                    <a:pt x="160" y="0"/>
                  </a:cubicBezTo>
                  <a:cubicBezTo>
                    <a:pt x="160" y="3"/>
                    <a:pt x="160" y="37"/>
                    <a:pt x="160" y="40"/>
                  </a:cubicBezTo>
                  <a:cubicBezTo>
                    <a:pt x="160" y="90"/>
                    <a:pt x="131" y="130"/>
                    <a:pt x="98" y="130"/>
                  </a:cubicBezTo>
                  <a:close/>
                  <a:moveTo>
                    <a:pt x="67" y="12"/>
                  </a:moveTo>
                  <a:cubicBezTo>
                    <a:pt x="52" y="12"/>
                    <a:pt x="52" y="12"/>
                    <a:pt x="52" y="12"/>
                  </a:cubicBezTo>
                  <a:cubicBezTo>
                    <a:pt x="52" y="12"/>
                    <a:pt x="50" y="116"/>
                    <a:pt x="99" y="119"/>
                  </a:cubicBezTo>
                  <a:cubicBezTo>
                    <a:pt x="62" y="92"/>
                    <a:pt x="67" y="12"/>
                    <a:pt x="67" y="12"/>
                  </a:cubicBezTo>
                  <a:close/>
                  <a:moveTo>
                    <a:pt x="34" y="87"/>
                  </a:moveTo>
                  <a:cubicBezTo>
                    <a:pt x="35" y="87"/>
                    <a:pt x="36" y="87"/>
                    <a:pt x="36" y="87"/>
                  </a:cubicBezTo>
                  <a:cubicBezTo>
                    <a:pt x="38" y="92"/>
                    <a:pt x="40" y="96"/>
                    <a:pt x="43" y="99"/>
                  </a:cubicBezTo>
                  <a:cubicBezTo>
                    <a:pt x="40" y="100"/>
                    <a:pt x="37" y="101"/>
                    <a:pt x="34" y="101"/>
                  </a:cubicBezTo>
                  <a:cubicBezTo>
                    <a:pt x="13" y="101"/>
                    <a:pt x="0" y="71"/>
                    <a:pt x="0" y="46"/>
                  </a:cubicBezTo>
                  <a:cubicBezTo>
                    <a:pt x="0" y="23"/>
                    <a:pt x="14" y="9"/>
                    <a:pt x="31" y="9"/>
                  </a:cubicBezTo>
                  <a:cubicBezTo>
                    <a:pt x="31" y="13"/>
                    <a:pt x="31" y="18"/>
                    <a:pt x="31" y="23"/>
                  </a:cubicBezTo>
                  <a:cubicBezTo>
                    <a:pt x="20" y="23"/>
                    <a:pt x="11" y="31"/>
                    <a:pt x="11" y="46"/>
                  </a:cubicBezTo>
                  <a:cubicBezTo>
                    <a:pt x="11" y="64"/>
                    <a:pt x="19" y="87"/>
                    <a:pt x="34" y="87"/>
                  </a:cubicBezTo>
                  <a:close/>
                  <a:moveTo>
                    <a:pt x="87" y="147"/>
                  </a:moveTo>
                  <a:cubicBezTo>
                    <a:pt x="87" y="141"/>
                    <a:pt x="91" y="136"/>
                    <a:pt x="97" y="136"/>
                  </a:cubicBezTo>
                  <a:cubicBezTo>
                    <a:pt x="103" y="136"/>
                    <a:pt x="108" y="141"/>
                    <a:pt x="108" y="147"/>
                  </a:cubicBezTo>
                  <a:cubicBezTo>
                    <a:pt x="108" y="153"/>
                    <a:pt x="103" y="157"/>
                    <a:pt x="97" y="157"/>
                  </a:cubicBezTo>
                  <a:cubicBezTo>
                    <a:pt x="91" y="157"/>
                    <a:pt x="87" y="153"/>
                    <a:pt x="87" y="147"/>
                  </a:cubicBezTo>
                  <a:close/>
                  <a:moveTo>
                    <a:pt x="128" y="170"/>
                  </a:moveTo>
                  <a:cubicBezTo>
                    <a:pt x="128" y="176"/>
                    <a:pt x="123" y="180"/>
                    <a:pt x="118" y="180"/>
                  </a:cubicBezTo>
                  <a:cubicBezTo>
                    <a:pt x="78" y="180"/>
                    <a:pt x="78" y="180"/>
                    <a:pt x="78" y="180"/>
                  </a:cubicBezTo>
                  <a:cubicBezTo>
                    <a:pt x="72" y="180"/>
                    <a:pt x="68" y="176"/>
                    <a:pt x="68" y="170"/>
                  </a:cubicBezTo>
                  <a:cubicBezTo>
                    <a:pt x="68" y="165"/>
                    <a:pt x="72" y="160"/>
                    <a:pt x="78" y="160"/>
                  </a:cubicBezTo>
                  <a:cubicBezTo>
                    <a:pt x="118" y="160"/>
                    <a:pt x="118" y="160"/>
                    <a:pt x="118" y="160"/>
                  </a:cubicBezTo>
                  <a:cubicBezTo>
                    <a:pt x="123" y="160"/>
                    <a:pt x="128" y="165"/>
                    <a:pt x="128" y="170"/>
                  </a:cubicBezTo>
                  <a:close/>
                  <a:moveTo>
                    <a:pt x="58" y="184"/>
                  </a:moveTo>
                  <a:cubicBezTo>
                    <a:pt x="134" y="184"/>
                    <a:pt x="134" y="184"/>
                    <a:pt x="134" y="184"/>
                  </a:cubicBezTo>
                  <a:cubicBezTo>
                    <a:pt x="143" y="184"/>
                    <a:pt x="144" y="195"/>
                    <a:pt x="144" y="200"/>
                  </a:cubicBezTo>
                  <a:cubicBezTo>
                    <a:pt x="102" y="200"/>
                    <a:pt x="88" y="200"/>
                    <a:pt x="48" y="200"/>
                  </a:cubicBezTo>
                  <a:cubicBezTo>
                    <a:pt x="48" y="195"/>
                    <a:pt x="48" y="184"/>
                    <a:pt x="58" y="184"/>
                  </a:cubicBezTo>
                  <a:close/>
                </a:path>
              </a:pathLst>
            </a:custGeom>
            <a:solidFill>
              <a:schemeClr val="bg1"/>
            </a:solidFill>
            <a:ln>
              <a:noFill/>
            </a:ln>
          </p:spPr>
          <p:txBody>
            <a:bodyPr vert="horz" wrap="square" lIns="68562" tIns="34281" rIns="68562" bIns="34281" numCol="1" anchor="t" anchorCtr="0" compatLnSpc="1">
              <a:prstTxWarp prst="textNoShape">
                <a:avLst/>
              </a:prstTxWarp>
            </a:bodyPr>
            <a:lstStyle/>
            <a:p>
              <a:endParaRPr lang="zh-CN" altLang="en-US" sz="1350"/>
            </a:p>
          </p:txBody>
        </p:sp>
      </p:grpSp>
      <p:grpSp>
        <p:nvGrpSpPr>
          <p:cNvPr id="8" name="组合 7">
            <a:extLst>
              <a:ext uri="{FF2B5EF4-FFF2-40B4-BE49-F238E27FC236}">
                <a16:creationId xmlns:a16="http://schemas.microsoft.com/office/drawing/2014/main" id="{80CCF6BD-B921-48B4-82BA-8EDFCFAC9818}"/>
              </a:ext>
            </a:extLst>
          </p:cNvPr>
          <p:cNvGrpSpPr/>
          <p:nvPr/>
        </p:nvGrpSpPr>
        <p:grpSpPr>
          <a:xfrm>
            <a:off x="4041208" y="3136923"/>
            <a:ext cx="964112" cy="964112"/>
            <a:chOff x="5290496" y="3068960"/>
            <a:chExt cx="1285817" cy="1285817"/>
          </a:xfrm>
        </p:grpSpPr>
        <p:sp>
          <p:nvSpPr>
            <p:cNvPr id="9" name="椭圆 8">
              <a:extLst>
                <a:ext uri="{FF2B5EF4-FFF2-40B4-BE49-F238E27FC236}">
                  <a16:creationId xmlns:a16="http://schemas.microsoft.com/office/drawing/2014/main" id="{113EDFD3-07AE-4767-BE63-DCC17E6B6055}"/>
                </a:ext>
              </a:extLst>
            </p:cNvPr>
            <p:cNvSpPr/>
            <p:nvPr/>
          </p:nvSpPr>
          <p:spPr>
            <a:xfrm>
              <a:off x="5290496" y="3068960"/>
              <a:ext cx="1285817" cy="1285817"/>
            </a:xfrm>
            <a:prstGeom prst="ellipse">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Freeform 90">
              <a:extLst>
                <a:ext uri="{FF2B5EF4-FFF2-40B4-BE49-F238E27FC236}">
                  <a16:creationId xmlns:a16="http://schemas.microsoft.com/office/drawing/2014/main" id="{AFAF651D-F4C7-4C2D-A52E-2FCED9D43EA6}"/>
                </a:ext>
              </a:extLst>
            </p:cNvPr>
            <p:cNvSpPr>
              <a:spLocks noEditPoints="1"/>
            </p:cNvSpPr>
            <p:nvPr/>
          </p:nvSpPr>
          <p:spPr bwMode="auto">
            <a:xfrm>
              <a:off x="5837798" y="3501008"/>
              <a:ext cx="332982" cy="354529"/>
            </a:xfrm>
            <a:custGeom>
              <a:avLst/>
              <a:gdLst>
                <a:gd name="T0" fmla="*/ 20 w 188"/>
                <a:gd name="T1" fmla="*/ 116 h 200"/>
                <a:gd name="T2" fmla="*/ 160 w 188"/>
                <a:gd name="T3" fmla="*/ 96 h 200"/>
                <a:gd name="T4" fmla="*/ 180 w 188"/>
                <a:gd name="T5" fmla="*/ 56 h 200"/>
                <a:gd name="T6" fmla="*/ 180 w 188"/>
                <a:gd name="T7" fmla="*/ 36 h 200"/>
                <a:gd name="T8" fmla="*/ 20 w 188"/>
                <a:gd name="T9" fmla="*/ 8 h 200"/>
                <a:gd name="T10" fmla="*/ 188 w 188"/>
                <a:gd name="T11" fmla="*/ 104 h 200"/>
                <a:gd name="T12" fmla="*/ 120 w 188"/>
                <a:gd name="T13" fmla="*/ 36 h 200"/>
                <a:gd name="T14" fmla="*/ 120 w 188"/>
                <a:gd name="T15" fmla="*/ 56 h 200"/>
                <a:gd name="T16" fmla="*/ 100 w 188"/>
                <a:gd name="T17" fmla="*/ 36 h 200"/>
                <a:gd name="T18" fmla="*/ 40 w 188"/>
                <a:gd name="T19" fmla="*/ 56 h 200"/>
                <a:gd name="T20" fmla="*/ 60 w 188"/>
                <a:gd name="T21" fmla="*/ 56 h 200"/>
                <a:gd name="T22" fmla="*/ 40 w 188"/>
                <a:gd name="T23" fmla="*/ 96 h 200"/>
                <a:gd name="T24" fmla="*/ 60 w 188"/>
                <a:gd name="T25" fmla="*/ 96 h 200"/>
                <a:gd name="T26" fmla="*/ 80 w 188"/>
                <a:gd name="T27" fmla="*/ 96 h 200"/>
                <a:gd name="T28" fmla="*/ 140 w 188"/>
                <a:gd name="T29" fmla="*/ 76 h 200"/>
                <a:gd name="T30" fmla="*/ 120 w 188"/>
                <a:gd name="T31" fmla="*/ 76 h 200"/>
                <a:gd name="T32" fmla="*/ 160 w 188"/>
                <a:gd name="T33" fmla="*/ 56 h 200"/>
                <a:gd name="T34" fmla="*/ 140 w 188"/>
                <a:gd name="T35" fmla="*/ 56 h 200"/>
                <a:gd name="T36" fmla="*/ 120 w 188"/>
                <a:gd name="T37" fmla="*/ 56 h 200"/>
                <a:gd name="T38" fmla="*/ 60 w 188"/>
                <a:gd name="T39" fmla="*/ 76 h 200"/>
                <a:gd name="T40" fmla="*/ 80 w 188"/>
                <a:gd name="T41" fmla="*/ 76 h 200"/>
                <a:gd name="T42" fmla="*/ 16 w 188"/>
                <a:gd name="T43" fmla="*/ 192 h 200"/>
                <a:gd name="T44" fmla="*/ 0 w 188"/>
                <a:gd name="T45" fmla="*/ 8 h 200"/>
                <a:gd name="T46" fmla="*/ 16 w 188"/>
                <a:gd name="T47" fmla="*/ 124 h 200"/>
                <a:gd name="T48" fmla="*/ 16 w 188"/>
                <a:gd name="T49" fmla="*/ 124 h 200"/>
                <a:gd name="T50" fmla="*/ 140 w 188"/>
                <a:gd name="T51" fmla="*/ 96 h 200"/>
                <a:gd name="T52" fmla="*/ 120 w 188"/>
                <a:gd name="T53" fmla="*/ 116 h 200"/>
                <a:gd name="T54" fmla="*/ 120 w 188"/>
                <a:gd name="T55" fmla="*/ 96 h 200"/>
                <a:gd name="T56" fmla="*/ 60 w 188"/>
                <a:gd name="T57" fmla="*/ 116 h 200"/>
                <a:gd name="T58" fmla="*/ 80 w 188"/>
                <a:gd name="T59" fmla="*/ 116 h 200"/>
                <a:gd name="T60" fmla="*/ 40 w 188"/>
                <a:gd name="T61" fmla="*/ 96 h 200"/>
                <a:gd name="T62" fmla="*/ 20 w 188"/>
                <a:gd name="T63" fmla="*/ 76 h 200"/>
                <a:gd name="T64" fmla="*/ 40 w 188"/>
                <a:gd name="T65" fmla="*/ 76 h 200"/>
                <a:gd name="T66" fmla="*/ 20 w 188"/>
                <a:gd name="T67" fmla="*/ 16 h 200"/>
                <a:gd name="T68" fmla="*/ 40 w 188"/>
                <a:gd name="T69" fmla="*/ 36 h 200"/>
                <a:gd name="T70" fmla="*/ 60 w 188"/>
                <a:gd name="T71" fmla="*/ 16 h 200"/>
                <a:gd name="T72" fmla="*/ 80 w 188"/>
                <a:gd name="T73" fmla="*/ 36 h 200"/>
                <a:gd name="T74" fmla="*/ 100 w 188"/>
                <a:gd name="T75" fmla="*/ 16 h 200"/>
                <a:gd name="T76" fmla="*/ 120 w 188"/>
                <a:gd name="T77" fmla="*/ 36 h 200"/>
                <a:gd name="T78" fmla="*/ 140 w 188"/>
                <a:gd name="T79" fmla="*/ 16 h 200"/>
                <a:gd name="T80" fmla="*/ 160 w 188"/>
                <a:gd name="T81" fmla="*/ 36 h 200"/>
                <a:gd name="T82" fmla="*/ 20 w 188"/>
                <a:gd name="T83" fmla="*/ 8 h 200"/>
                <a:gd name="T84" fmla="*/ 20 w 188"/>
                <a:gd name="T85" fmla="*/ 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8" h="200">
                  <a:moveTo>
                    <a:pt x="168" y="124"/>
                  </a:moveTo>
                  <a:cubicBezTo>
                    <a:pt x="168" y="124"/>
                    <a:pt x="57" y="124"/>
                    <a:pt x="20" y="124"/>
                  </a:cubicBezTo>
                  <a:cubicBezTo>
                    <a:pt x="20" y="116"/>
                    <a:pt x="20" y="116"/>
                    <a:pt x="20" y="116"/>
                  </a:cubicBezTo>
                  <a:cubicBezTo>
                    <a:pt x="160" y="116"/>
                    <a:pt x="160" y="116"/>
                    <a:pt x="160" y="116"/>
                  </a:cubicBezTo>
                  <a:cubicBezTo>
                    <a:pt x="171" y="116"/>
                    <a:pt x="180" y="107"/>
                    <a:pt x="180" y="96"/>
                  </a:cubicBezTo>
                  <a:cubicBezTo>
                    <a:pt x="160" y="96"/>
                    <a:pt x="160" y="96"/>
                    <a:pt x="160" y="96"/>
                  </a:cubicBezTo>
                  <a:cubicBezTo>
                    <a:pt x="160" y="76"/>
                    <a:pt x="160" y="76"/>
                    <a:pt x="160" y="76"/>
                  </a:cubicBezTo>
                  <a:cubicBezTo>
                    <a:pt x="180" y="76"/>
                    <a:pt x="180" y="76"/>
                    <a:pt x="180" y="76"/>
                  </a:cubicBezTo>
                  <a:cubicBezTo>
                    <a:pt x="180" y="56"/>
                    <a:pt x="180" y="56"/>
                    <a:pt x="180" y="56"/>
                  </a:cubicBezTo>
                  <a:cubicBezTo>
                    <a:pt x="160" y="56"/>
                    <a:pt x="160" y="56"/>
                    <a:pt x="160" y="56"/>
                  </a:cubicBezTo>
                  <a:cubicBezTo>
                    <a:pt x="160" y="36"/>
                    <a:pt x="160" y="36"/>
                    <a:pt x="160" y="36"/>
                  </a:cubicBezTo>
                  <a:cubicBezTo>
                    <a:pt x="180" y="36"/>
                    <a:pt x="180" y="36"/>
                    <a:pt x="180" y="36"/>
                  </a:cubicBezTo>
                  <a:cubicBezTo>
                    <a:pt x="180" y="25"/>
                    <a:pt x="171" y="16"/>
                    <a:pt x="160" y="16"/>
                  </a:cubicBezTo>
                  <a:cubicBezTo>
                    <a:pt x="20" y="16"/>
                    <a:pt x="20" y="16"/>
                    <a:pt x="20" y="16"/>
                  </a:cubicBezTo>
                  <a:cubicBezTo>
                    <a:pt x="20" y="8"/>
                    <a:pt x="20" y="8"/>
                    <a:pt x="20" y="8"/>
                  </a:cubicBezTo>
                  <a:cubicBezTo>
                    <a:pt x="57" y="8"/>
                    <a:pt x="168" y="8"/>
                    <a:pt x="168" y="8"/>
                  </a:cubicBezTo>
                  <a:cubicBezTo>
                    <a:pt x="179" y="8"/>
                    <a:pt x="188" y="17"/>
                    <a:pt x="188" y="28"/>
                  </a:cubicBezTo>
                  <a:cubicBezTo>
                    <a:pt x="188" y="104"/>
                    <a:pt x="188" y="104"/>
                    <a:pt x="188" y="104"/>
                  </a:cubicBezTo>
                  <a:cubicBezTo>
                    <a:pt x="188" y="115"/>
                    <a:pt x="179" y="124"/>
                    <a:pt x="168" y="124"/>
                  </a:cubicBezTo>
                  <a:close/>
                  <a:moveTo>
                    <a:pt x="120" y="56"/>
                  </a:moveTo>
                  <a:cubicBezTo>
                    <a:pt x="120" y="36"/>
                    <a:pt x="120" y="36"/>
                    <a:pt x="120" y="36"/>
                  </a:cubicBezTo>
                  <a:cubicBezTo>
                    <a:pt x="140" y="36"/>
                    <a:pt x="140" y="36"/>
                    <a:pt x="140" y="36"/>
                  </a:cubicBezTo>
                  <a:cubicBezTo>
                    <a:pt x="140" y="56"/>
                    <a:pt x="140" y="56"/>
                    <a:pt x="140" y="56"/>
                  </a:cubicBezTo>
                  <a:lnTo>
                    <a:pt x="120" y="56"/>
                  </a:lnTo>
                  <a:close/>
                  <a:moveTo>
                    <a:pt x="80" y="56"/>
                  </a:moveTo>
                  <a:cubicBezTo>
                    <a:pt x="80" y="36"/>
                    <a:pt x="80" y="36"/>
                    <a:pt x="80" y="36"/>
                  </a:cubicBezTo>
                  <a:cubicBezTo>
                    <a:pt x="100" y="36"/>
                    <a:pt x="100" y="36"/>
                    <a:pt x="100" y="36"/>
                  </a:cubicBezTo>
                  <a:cubicBezTo>
                    <a:pt x="100" y="56"/>
                    <a:pt x="100" y="56"/>
                    <a:pt x="100" y="56"/>
                  </a:cubicBezTo>
                  <a:lnTo>
                    <a:pt x="80" y="56"/>
                  </a:lnTo>
                  <a:close/>
                  <a:moveTo>
                    <a:pt x="40" y="56"/>
                  </a:moveTo>
                  <a:cubicBezTo>
                    <a:pt x="40" y="36"/>
                    <a:pt x="40" y="36"/>
                    <a:pt x="40" y="36"/>
                  </a:cubicBezTo>
                  <a:cubicBezTo>
                    <a:pt x="60" y="36"/>
                    <a:pt x="60" y="36"/>
                    <a:pt x="60" y="36"/>
                  </a:cubicBezTo>
                  <a:cubicBezTo>
                    <a:pt x="60" y="56"/>
                    <a:pt x="60" y="56"/>
                    <a:pt x="60" y="56"/>
                  </a:cubicBezTo>
                  <a:lnTo>
                    <a:pt x="40" y="56"/>
                  </a:lnTo>
                  <a:close/>
                  <a:moveTo>
                    <a:pt x="60" y="96"/>
                  </a:moveTo>
                  <a:cubicBezTo>
                    <a:pt x="40" y="96"/>
                    <a:pt x="40" y="96"/>
                    <a:pt x="40" y="96"/>
                  </a:cubicBezTo>
                  <a:cubicBezTo>
                    <a:pt x="40" y="76"/>
                    <a:pt x="40" y="76"/>
                    <a:pt x="40" y="76"/>
                  </a:cubicBezTo>
                  <a:cubicBezTo>
                    <a:pt x="60" y="76"/>
                    <a:pt x="60" y="76"/>
                    <a:pt x="60" y="76"/>
                  </a:cubicBezTo>
                  <a:lnTo>
                    <a:pt x="60" y="96"/>
                  </a:lnTo>
                  <a:close/>
                  <a:moveTo>
                    <a:pt x="100" y="76"/>
                  </a:moveTo>
                  <a:cubicBezTo>
                    <a:pt x="100" y="96"/>
                    <a:pt x="100" y="96"/>
                    <a:pt x="100" y="96"/>
                  </a:cubicBezTo>
                  <a:cubicBezTo>
                    <a:pt x="80" y="96"/>
                    <a:pt x="80" y="96"/>
                    <a:pt x="80" y="96"/>
                  </a:cubicBezTo>
                  <a:cubicBezTo>
                    <a:pt x="80" y="76"/>
                    <a:pt x="80" y="76"/>
                    <a:pt x="80" y="76"/>
                  </a:cubicBezTo>
                  <a:lnTo>
                    <a:pt x="100" y="76"/>
                  </a:lnTo>
                  <a:close/>
                  <a:moveTo>
                    <a:pt x="140" y="76"/>
                  </a:moveTo>
                  <a:cubicBezTo>
                    <a:pt x="140" y="96"/>
                    <a:pt x="140" y="96"/>
                    <a:pt x="140" y="96"/>
                  </a:cubicBezTo>
                  <a:cubicBezTo>
                    <a:pt x="120" y="96"/>
                    <a:pt x="120" y="96"/>
                    <a:pt x="120" y="96"/>
                  </a:cubicBezTo>
                  <a:cubicBezTo>
                    <a:pt x="120" y="76"/>
                    <a:pt x="120" y="76"/>
                    <a:pt x="120" y="76"/>
                  </a:cubicBezTo>
                  <a:lnTo>
                    <a:pt x="140" y="76"/>
                  </a:lnTo>
                  <a:close/>
                  <a:moveTo>
                    <a:pt x="140" y="56"/>
                  </a:moveTo>
                  <a:cubicBezTo>
                    <a:pt x="160" y="56"/>
                    <a:pt x="160" y="56"/>
                    <a:pt x="160" y="56"/>
                  </a:cubicBezTo>
                  <a:cubicBezTo>
                    <a:pt x="160" y="76"/>
                    <a:pt x="160" y="76"/>
                    <a:pt x="160" y="76"/>
                  </a:cubicBezTo>
                  <a:cubicBezTo>
                    <a:pt x="140" y="76"/>
                    <a:pt x="140" y="76"/>
                    <a:pt x="140" y="76"/>
                  </a:cubicBezTo>
                  <a:lnTo>
                    <a:pt x="140" y="56"/>
                  </a:lnTo>
                  <a:close/>
                  <a:moveTo>
                    <a:pt x="100" y="76"/>
                  </a:moveTo>
                  <a:cubicBezTo>
                    <a:pt x="100" y="56"/>
                    <a:pt x="100" y="56"/>
                    <a:pt x="100" y="56"/>
                  </a:cubicBezTo>
                  <a:cubicBezTo>
                    <a:pt x="120" y="56"/>
                    <a:pt x="120" y="56"/>
                    <a:pt x="120" y="56"/>
                  </a:cubicBezTo>
                  <a:cubicBezTo>
                    <a:pt x="120" y="76"/>
                    <a:pt x="120" y="76"/>
                    <a:pt x="120" y="76"/>
                  </a:cubicBezTo>
                  <a:lnTo>
                    <a:pt x="100" y="76"/>
                  </a:lnTo>
                  <a:close/>
                  <a:moveTo>
                    <a:pt x="60" y="76"/>
                  </a:moveTo>
                  <a:cubicBezTo>
                    <a:pt x="60" y="56"/>
                    <a:pt x="60" y="56"/>
                    <a:pt x="60" y="56"/>
                  </a:cubicBezTo>
                  <a:cubicBezTo>
                    <a:pt x="80" y="56"/>
                    <a:pt x="80" y="56"/>
                    <a:pt x="80" y="56"/>
                  </a:cubicBezTo>
                  <a:cubicBezTo>
                    <a:pt x="80" y="76"/>
                    <a:pt x="80" y="76"/>
                    <a:pt x="80" y="76"/>
                  </a:cubicBezTo>
                  <a:lnTo>
                    <a:pt x="60" y="76"/>
                  </a:lnTo>
                  <a:close/>
                  <a:moveTo>
                    <a:pt x="16" y="124"/>
                  </a:moveTo>
                  <a:cubicBezTo>
                    <a:pt x="16" y="192"/>
                    <a:pt x="16" y="192"/>
                    <a:pt x="16" y="192"/>
                  </a:cubicBezTo>
                  <a:cubicBezTo>
                    <a:pt x="16" y="196"/>
                    <a:pt x="12" y="200"/>
                    <a:pt x="8" y="200"/>
                  </a:cubicBezTo>
                  <a:cubicBezTo>
                    <a:pt x="3" y="200"/>
                    <a:pt x="0" y="196"/>
                    <a:pt x="0" y="192"/>
                  </a:cubicBezTo>
                  <a:cubicBezTo>
                    <a:pt x="0" y="8"/>
                    <a:pt x="0" y="8"/>
                    <a:pt x="0" y="8"/>
                  </a:cubicBezTo>
                  <a:cubicBezTo>
                    <a:pt x="0" y="3"/>
                    <a:pt x="3" y="0"/>
                    <a:pt x="8" y="0"/>
                  </a:cubicBezTo>
                  <a:cubicBezTo>
                    <a:pt x="12" y="0"/>
                    <a:pt x="16" y="3"/>
                    <a:pt x="16" y="8"/>
                  </a:cubicBezTo>
                  <a:cubicBezTo>
                    <a:pt x="16" y="124"/>
                    <a:pt x="16" y="124"/>
                    <a:pt x="16" y="124"/>
                  </a:cubicBezTo>
                  <a:cubicBezTo>
                    <a:pt x="17" y="124"/>
                    <a:pt x="18" y="124"/>
                    <a:pt x="20" y="124"/>
                  </a:cubicBezTo>
                  <a:cubicBezTo>
                    <a:pt x="20" y="124"/>
                    <a:pt x="20" y="124"/>
                    <a:pt x="20" y="124"/>
                  </a:cubicBezTo>
                  <a:cubicBezTo>
                    <a:pt x="18" y="124"/>
                    <a:pt x="17" y="124"/>
                    <a:pt x="16" y="124"/>
                  </a:cubicBezTo>
                  <a:close/>
                  <a:moveTo>
                    <a:pt x="160" y="116"/>
                  </a:moveTo>
                  <a:cubicBezTo>
                    <a:pt x="140" y="116"/>
                    <a:pt x="140" y="116"/>
                    <a:pt x="140" y="116"/>
                  </a:cubicBezTo>
                  <a:cubicBezTo>
                    <a:pt x="140" y="96"/>
                    <a:pt x="140" y="96"/>
                    <a:pt x="140" y="96"/>
                  </a:cubicBezTo>
                  <a:cubicBezTo>
                    <a:pt x="160" y="96"/>
                    <a:pt x="160" y="96"/>
                    <a:pt x="160" y="96"/>
                  </a:cubicBezTo>
                  <a:lnTo>
                    <a:pt x="160" y="116"/>
                  </a:lnTo>
                  <a:close/>
                  <a:moveTo>
                    <a:pt x="120" y="116"/>
                  </a:moveTo>
                  <a:cubicBezTo>
                    <a:pt x="100" y="116"/>
                    <a:pt x="100" y="116"/>
                    <a:pt x="100" y="116"/>
                  </a:cubicBezTo>
                  <a:cubicBezTo>
                    <a:pt x="100" y="96"/>
                    <a:pt x="100" y="96"/>
                    <a:pt x="100" y="96"/>
                  </a:cubicBezTo>
                  <a:cubicBezTo>
                    <a:pt x="120" y="96"/>
                    <a:pt x="120" y="96"/>
                    <a:pt x="120" y="96"/>
                  </a:cubicBezTo>
                  <a:lnTo>
                    <a:pt x="120" y="116"/>
                  </a:lnTo>
                  <a:close/>
                  <a:moveTo>
                    <a:pt x="80" y="116"/>
                  </a:moveTo>
                  <a:cubicBezTo>
                    <a:pt x="60" y="116"/>
                    <a:pt x="60" y="116"/>
                    <a:pt x="60" y="116"/>
                  </a:cubicBezTo>
                  <a:cubicBezTo>
                    <a:pt x="60" y="96"/>
                    <a:pt x="60" y="96"/>
                    <a:pt x="60" y="96"/>
                  </a:cubicBezTo>
                  <a:cubicBezTo>
                    <a:pt x="80" y="96"/>
                    <a:pt x="80" y="96"/>
                    <a:pt x="80" y="96"/>
                  </a:cubicBezTo>
                  <a:lnTo>
                    <a:pt x="80" y="116"/>
                  </a:lnTo>
                  <a:close/>
                  <a:moveTo>
                    <a:pt x="20" y="116"/>
                  </a:moveTo>
                  <a:cubicBezTo>
                    <a:pt x="20" y="96"/>
                    <a:pt x="20" y="96"/>
                    <a:pt x="20" y="96"/>
                  </a:cubicBezTo>
                  <a:cubicBezTo>
                    <a:pt x="40" y="96"/>
                    <a:pt x="40" y="96"/>
                    <a:pt x="40" y="96"/>
                  </a:cubicBezTo>
                  <a:cubicBezTo>
                    <a:pt x="40" y="116"/>
                    <a:pt x="40" y="116"/>
                    <a:pt x="40" y="116"/>
                  </a:cubicBezTo>
                  <a:lnTo>
                    <a:pt x="20" y="116"/>
                  </a:lnTo>
                  <a:close/>
                  <a:moveTo>
                    <a:pt x="20" y="76"/>
                  </a:moveTo>
                  <a:cubicBezTo>
                    <a:pt x="20" y="56"/>
                    <a:pt x="20" y="56"/>
                    <a:pt x="20" y="56"/>
                  </a:cubicBezTo>
                  <a:cubicBezTo>
                    <a:pt x="40" y="56"/>
                    <a:pt x="40" y="56"/>
                    <a:pt x="40" y="56"/>
                  </a:cubicBezTo>
                  <a:cubicBezTo>
                    <a:pt x="40" y="76"/>
                    <a:pt x="40" y="76"/>
                    <a:pt x="40" y="76"/>
                  </a:cubicBezTo>
                  <a:lnTo>
                    <a:pt x="20" y="76"/>
                  </a:lnTo>
                  <a:close/>
                  <a:moveTo>
                    <a:pt x="20" y="36"/>
                  </a:moveTo>
                  <a:cubicBezTo>
                    <a:pt x="20" y="16"/>
                    <a:pt x="20" y="16"/>
                    <a:pt x="20" y="16"/>
                  </a:cubicBezTo>
                  <a:cubicBezTo>
                    <a:pt x="40" y="16"/>
                    <a:pt x="40" y="16"/>
                    <a:pt x="40" y="16"/>
                  </a:cubicBezTo>
                  <a:cubicBezTo>
                    <a:pt x="40" y="36"/>
                    <a:pt x="40" y="36"/>
                    <a:pt x="40" y="36"/>
                  </a:cubicBezTo>
                  <a:cubicBezTo>
                    <a:pt x="40" y="36"/>
                    <a:pt x="40" y="36"/>
                    <a:pt x="40" y="36"/>
                  </a:cubicBezTo>
                  <a:cubicBezTo>
                    <a:pt x="20" y="36"/>
                    <a:pt x="20" y="36"/>
                    <a:pt x="20" y="36"/>
                  </a:cubicBezTo>
                  <a:close/>
                  <a:moveTo>
                    <a:pt x="60" y="36"/>
                  </a:moveTo>
                  <a:cubicBezTo>
                    <a:pt x="60" y="16"/>
                    <a:pt x="60" y="16"/>
                    <a:pt x="60" y="16"/>
                  </a:cubicBezTo>
                  <a:cubicBezTo>
                    <a:pt x="80" y="16"/>
                    <a:pt x="80" y="16"/>
                    <a:pt x="80" y="16"/>
                  </a:cubicBezTo>
                  <a:cubicBezTo>
                    <a:pt x="80" y="36"/>
                    <a:pt x="80" y="36"/>
                    <a:pt x="80" y="36"/>
                  </a:cubicBezTo>
                  <a:cubicBezTo>
                    <a:pt x="80" y="36"/>
                    <a:pt x="80" y="36"/>
                    <a:pt x="80" y="36"/>
                  </a:cubicBezTo>
                  <a:cubicBezTo>
                    <a:pt x="60" y="36"/>
                    <a:pt x="60" y="36"/>
                    <a:pt x="60" y="36"/>
                  </a:cubicBezTo>
                  <a:close/>
                  <a:moveTo>
                    <a:pt x="100" y="36"/>
                  </a:moveTo>
                  <a:cubicBezTo>
                    <a:pt x="100" y="16"/>
                    <a:pt x="100" y="16"/>
                    <a:pt x="100" y="16"/>
                  </a:cubicBezTo>
                  <a:cubicBezTo>
                    <a:pt x="120" y="16"/>
                    <a:pt x="120" y="16"/>
                    <a:pt x="120" y="16"/>
                  </a:cubicBezTo>
                  <a:cubicBezTo>
                    <a:pt x="120" y="36"/>
                    <a:pt x="120" y="36"/>
                    <a:pt x="120" y="36"/>
                  </a:cubicBezTo>
                  <a:cubicBezTo>
                    <a:pt x="120" y="36"/>
                    <a:pt x="120" y="36"/>
                    <a:pt x="120" y="36"/>
                  </a:cubicBezTo>
                  <a:cubicBezTo>
                    <a:pt x="100" y="36"/>
                    <a:pt x="100" y="36"/>
                    <a:pt x="100" y="36"/>
                  </a:cubicBezTo>
                  <a:close/>
                  <a:moveTo>
                    <a:pt x="140" y="36"/>
                  </a:moveTo>
                  <a:cubicBezTo>
                    <a:pt x="140" y="16"/>
                    <a:pt x="140" y="16"/>
                    <a:pt x="140" y="16"/>
                  </a:cubicBezTo>
                  <a:cubicBezTo>
                    <a:pt x="160" y="16"/>
                    <a:pt x="160" y="16"/>
                    <a:pt x="160" y="16"/>
                  </a:cubicBezTo>
                  <a:cubicBezTo>
                    <a:pt x="160" y="36"/>
                    <a:pt x="160" y="36"/>
                    <a:pt x="160" y="36"/>
                  </a:cubicBezTo>
                  <a:cubicBezTo>
                    <a:pt x="160" y="36"/>
                    <a:pt x="160" y="36"/>
                    <a:pt x="160" y="36"/>
                  </a:cubicBezTo>
                  <a:cubicBezTo>
                    <a:pt x="140" y="36"/>
                    <a:pt x="140" y="36"/>
                    <a:pt x="140" y="36"/>
                  </a:cubicBezTo>
                  <a:close/>
                  <a:moveTo>
                    <a:pt x="20" y="8"/>
                  </a:moveTo>
                  <a:cubicBezTo>
                    <a:pt x="20" y="8"/>
                    <a:pt x="20" y="8"/>
                    <a:pt x="20" y="8"/>
                  </a:cubicBezTo>
                  <a:cubicBezTo>
                    <a:pt x="15" y="8"/>
                    <a:pt x="16" y="8"/>
                    <a:pt x="20" y="8"/>
                  </a:cubicBezTo>
                  <a:close/>
                  <a:moveTo>
                    <a:pt x="20" y="8"/>
                  </a:moveTo>
                  <a:cubicBezTo>
                    <a:pt x="20" y="8"/>
                    <a:pt x="20" y="8"/>
                    <a:pt x="20" y="8"/>
                  </a:cubicBezTo>
                  <a:cubicBezTo>
                    <a:pt x="43" y="8"/>
                    <a:pt x="27" y="8"/>
                    <a:pt x="20" y="8"/>
                  </a:cubicBezTo>
                  <a:close/>
                </a:path>
              </a:pathLst>
            </a:custGeom>
            <a:solidFill>
              <a:schemeClr val="bg1"/>
            </a:solidFill>
            <a:ln>
              <a:noFill/>
            </a:ln>
          </p:spPr>
          <p:txBody>
            <a:bodyPr vert="horz" wrap="square" lIns="68562" tIns="34281" rIns="68562" bIns="34281" numCol="1" anchor="t" anchorCtr="0" compatLnSpc="1">
              <a:prstTxWarp prst="textNoShape">
                <a:avLst/>
              </a:prstTxWarp>
            </a:bodyPr>
            <a:lstStyle/>
            <a:p>
              <a:endParaRPr lang="zh-CN" altLang="en-US" sz="1350"/>
            </a:p>
          </p:txBody>
        </p:sp>
      </p:grpSp>
      <p:grpSp>
        <p:nvGrpSpPr>
          <p:cNvPr id="11" name="组合 10">
            <a:extLst>
              <a:ext uri="{FF2B5EF4-FFF2-40B4-BE49-F238E27FC236}">
                <a16:creationId xmlns:a16="http://schemas.microsoft.com/office/drawing/2014/main" id="{1D300F70-1671-4F46-A76D-C9733175B48E}"/>
              </a:ext>
            </a:extLst>
          </p:cNvPr>
          <p:cNvGrpSpPr/>
          <p:nvPr/>
        </p:nvGrpSpPr>
        <p:grpSpPr>
          <a:xfrm>
            <a:off x="4916327" y="2243774"/>
            <a:ext cx="1133831" cy="1133831"/>
            <a:chOff x="6457627" y="1877786"/>
            <a:chExt cx="1512168" cy="1512168"/>
          </a:xfrm>
        </p:grpSpPr>
        <p:sp>
          <p:nvSpPr>
            <p:cNvPr id="12" name="椭圆 11">
              <a:extLst>
                <a:ext uri="{FF2B5EF4-FFF2-40B4-BE49-F238E27FC236}">
                  <a16:creationId xmlns:a16="http://schemas.microsoft.com/office/drawing/2014/main" id="{E6FB9DBD-AE8F-4B80-B02A-614951FDBD3B}"/>
                </a:ext>
              </a:extLst>
            </p:cNvPr>
            <p:cNvSpPr/>
            <p:nvPr/>
          </p:nvSpPr>
          <p:spPr>
            <a:xfrm>
              <a:off x="6457627" y="1877786"/>
              <a:ext cx="1512168" cy="1512168"/>
            </a:xfrm>
            <a:prstGeom prst="ellipse">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Freeform 96">
              <a:extLst>
                <a:ext uri="{FF2B5EF4-FFF2-40B4-BE49-F238E27FC236}">
                  <a16:creationId xmlns:a16="http://schemas.microsoft.com/office/drawing/2014/main" id="{E29065B4-A62B-4C80-BFD5-C422C2299B53}"/>
                </a:ext>
              </a:extLst>
            </p:cNvPr>
            <p:cNvSpPr>
              <a:spLocks noEditPoints="1"/>
            </p:cNvSpPr>
            <p:nvPr/>
          </p:nvSpPr>
          <p:spPr bwMode="auto">
            <a:xfrm>
              <a:off x="7030838" y="2430778"/>
              <a:ext cx="406183" cy="406183"/>
            </a:xfrm>
            <a:custGeom>
              <a:avLst/>
              <a:gdLst>
                <a:gd name="T0" fmla="*/ 140 w 200"/>
                <a:gd name="T1" fmla="*/ 200 h 200"/>
                <a:gd name="T2" fmla="*/ 140 w 200"/>
                <a:gd name="T3" fmla="*/ 184 h 200"/>
                <a:gd name="T4" fmla="*/ 200 w 200"/>
                <a:gd name="T5" fmla="*/ 184 h 200"/>
                <a:gd name="T6" fmla="*/ 200 w 200"/>
                <a:gd name="T7" fmla="*/ 200 h 200"/>
                <a:gd name="T8" fmla="*/ 140 w 200"/>
                <a:gd name="T9" fmla="*/ 200 h 200"/>
                <a:gd name="T10" fmla="*/ 160 w 200"/>
                <a:gd name="T11" fmla="*/ 87 h 200"/>
                <a:gd name="T12" fmla="*/ 40 w 200"/>
                <a:gd name="T13" fmla="*/ 87 h 200"/>
                <a:gd name="T14" fmla="*/ 40 w 200"/>
                <a:gd name="T15" fmla="*/ 180 h 200"/>
                <a:gd name="T16" fmla="*/ 20 w 200"/>
                <a:gd name="T17" fmla="*/ 180 h 200"/>
                <a:gd name="T18" fmla="*/ 20 w 200"/>
                <a:gd name="T19" fmla="*/ 10 h 200"/>
                <a:gd name="T20" fmla="*/ 30 w 200"/>
                <a:gd name="T21" fmla="*/ 0 h 200"/>
                <a:gd name="T22" fmla="*/ 40 w 200"/>
                <a:gd name="T23" fmla="*/ 10 h 200"/>
                <a:gd name="T24" fmla="*/ 40 w 200"/>
                <a:gd name="T25" fmla="*/ 28 h 200"/>
                <a:gd name="T26" fmla="*/ 160 w 200"/>
                <a:gd name="T27" fmla="*/ 28 h 200"/>
                <a:gd name="T28" fmla="*/ 160 w 200"/>
                <a:gd name="T29" fmla="*/ 10 h 200"/>
                <a:gd name="T30" fmla="*/ 170 w 200"/>
                <a:gd name="T31" fmla="*/ 0 h 200"/>
                <a:gd name="T32" fmla="*/ 180 w 200"/>
                <a:gd name="T33" fmla="*/ 10 h 200"/>
                <a:gd name="T34" fmla="*/ 180 w 200"/>
                <a:gd name="T35" fmla="*/ 180 h 200"/>
                <a:gd name="T36" fmla="*/ 160 w 200"/>
                <a:gd name="T37" fmla="*/ 180 h 200"/>
                <a:gd name="T38" fmla="*/ 160 w 200"/>
                <a:gd name="T39" fmla="*/ 87 h 200"/>
                <a:gd name="T40" fmla="*/ 140 w 200"/>
                <a:gd name="T41" fmla="*/ 40 h 200"/>
                <a:gd name="T42" fmla="*/ 140 w 200"/>
                <a:gd name="T43" fmla="*/ 60 h 200"/>
                <a:gd name="T44" fmla="*/ 120 w 200"/>
                <a:gd name="T45" fmla="*/ 60 h 200"/>
                <a:gd name="T46" fmla="*/ 120 w 200"/>
                <a:gd name="T47" fmla="*/ 40 h 200"/>
                <a:gd name="T48" fmla="*/ 100 w 200"/>
                <a:gd name="T49" fmla="*/ 40 h 200"/>
                <a:gd name="T50" fmla="*/ 100 w 200"/>
                <a:gd name="T51" fmla="*/ 60 h 200"/>
                <a:gd name="T52" fmla="*/ 80 w 200"/>
                <a:gd name="T53" fmla="*/ 60 h 200"/>
                <a:gd name="T54" fmla="*/ 80 w 200"/>
                <a:gd name="T55" fmla="*/ 40 h 200"/>
                <a:gd name="T56" fmla="*/ 60 w 200"/>
                <a:gd name="T57" fmla="*/ 40 h 200"/>
                <a:gd name="T58" fmla="*/ 60 w 200"/>
                <a:gd name="T59" fmla="*/ 60 h 200"/>
                <a:gd name="T60" fmla="*/ 40 w 200"/>
                <a:gd name="T61" fmla="*/ 60 h 200"/>
                <a:gd name="T62" fmla="*/ 40 w 200"/>
                <a:gd name="T63" fmla="*/ 80 h 200"/>
                <a:gd name="T64" fmla="*/ 60 w 200"/>
                <a:gd name="T65" fmla="*/ 80 h 200"/>
                <a:gd name="T66" fmla="*/ 60 w 200"/>
                <a:gd name="T67" fmla="*/ 60 h 200"/>
                <a:gd name="T68" fmla="*/ 80 w 200"/>
                <a:gd name="T69" fmla="*/ 60 h 200"/>
                <a:gd name="T70" fmla="*/ 80 w 200"/>
                <a:gd name="T71" fmla="*/ 80 h 200"/>
                <a:gd name="T72" fmla="*/ 100 w 200"/>
                <a:gd name="T73" fmla="*/ 80 h 200"/>
                <a:gd name="T74" fmla="*/ 100 w 200"/>
                <a:gd name="T75" fmla="*/ 60 h 200"/>
                <a:gd name="T76" fmla="*/ 120 w 200"/>
                <a:gd name="T77" fmla="*/ 60 h 200"/>
                <a:gd name="T78" fmla="*/ 120 w 200"/>
                <a:gd name="T79" fmla="*/ 80 h 200"/>
                <a:gd name="T80" fmla="*/ 140 w 200"/>
                <a:gd name="T81" fmla="*/ 80 h 200"/>
                <a:gd name="T82" fmla="*/ 140 w 200"/>
                <a:gd name="T83" fmla="*/ 60 h 200"/>
                <a:gd name="T84" fmla="*/ 160 w 200"/>
                <a:gd name="T85" fmla="*/ 60 h 200"/>
                <a:gd name="T86" fmla="*/ 160 w 200"/>
                <a:gd name="T87" fmla="*/ 40 h 200"/>
                <a:gd name="T88" fmla="*/ 140 w 200"/>
                <a:gd name="T89" fmla="*/ 40 h 200"/>
                <a:gd name="T90" fmla="*/ 60 w 200"/>
                <a:gd name="T91" fmla="*/ 200 h 200"/>
                <a:gd name="T92" fmla="*/ 0 w 200"/>
                <a:gd name="T93" fmla="*/ 200 h 200"/>
                <a:gd name="T94" fmla="*/ 0 w 200"/>
                <a:gd name="T95" fmla="*/ 184 h 200"/>
                <a:gd name="T96" fmla="*/ 60 w 200"/>
                <a:gd name="T97" fmla="*/ 184 h 200"/>
                <a:gd name="T98" fmla="*/ 60 w 200"/>
                <a:gd name="T99"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0" h="200">
                  <a:moveTo>
                    <a:pt x="140" y="200"/>
                  </a:moveTo>
                  <a:cubicBezTo>
                    <a:pt x="140" y="184"/>
                    <a:pt x="140" y="184"/>
                    <a:pt x="140" y="184"/>
                  </a:cubicBezTo>
                  <a:cubicBezTo>
                    <a:pt x="200" y="184"/>
                    <a:pt x="200" y="184"/>
                    <a:pt x="200" y="184"/>
                  </a:cubicBezTo>
                  <a:cubicBezTo>
                    <a:pt x="200" y="200"/>
                    <a:pt x="200" y="200"/>
                    <a:pt x="200" y="200"/>
                  </a:cubicBezTo>
                  <a:lnTo>
                    <a:pt x="140" y="200"/>
                  </a:lnTo>
                  <a:close/>
                  <a:moveTo>
                    <a:pt x="160" y="87"/>
                  </a:moveTo>
                  <a:cubicBezTo>
                    <a:pt x="40" y="87"/>
                    <a:pt x="40" y="87"/>
                    <a:pt x="40" y="87"/>
                  </a:cubicBezTo>
                  <a:cubicBezTo>
                    <a:pt x="40" y="180"/>
                    <a:pt x="40" y="180"/>
                    <a:pt x="40" y="180"/>
                  </a:cubicBezTo>
                  <a:cubicBezTo>
                    <a:pt x="20" y="180"/>
                    <a:pt x="20" y="180"/>
                    <a:pt x="20" y="180"/>
                  </a:cubicBezTo>
                  <a:cubicBezTo>
                    <a:pt x="20" y="10"/>
                    <a:pt x="20" y="10"/>
                    <a:pt x="20" y="10"/>
                  </a:cubicBezTo>
                  <a:cubicBezTo>
                    <a:pt x="20" y="4"/>
                    <a:pt x="24" y="0"/>
                    <a:pt x="30" y="0"/>
                  </a:cubicBezTo>
                  <a:cubicBezTo>
                    <a:pt x="35" y="0"/>
                    <a:pt x="40" y="4"/>
                    <a:pt x="40" y="10"/>
                  </a:cubicBezTo>
                  <a:cubicBezTo>
                    <a:pt x="40" y="28"/>
                    <a:pt x="40" y="28"/>
                    <a:pt x="40" y="28"/>
                  </a:cubicBezTo>
                  <a:cubicBezTo>
                    <a:pt x="160" y="28"/>
                    <a:pt x="160" y="28"/>
                    <a:pt x="160" y="28"/>
                  </a:cubicBezTo>
                  <a:cubicBezTo>
                    <a:pt x="160" y="10"/>
                    <a:pt x="160" y="10"/>
                    <a:pt x="160" y="10"/>
                  </a:cubicBezTo>
                  <a:cubicBezTo>
                    <a:pt x="160" y="4"/>
                    <a:pt x="164" y="0"/>
                    <a:pt x="170" y="0"/>
                  </a:cubicBezTo>
                  <a:cubicBezTo>
                    <a:pt x="175" y="0"/>
                    <a:pt x="180" y="4"/>
                    <a:pt x="180" y="10"/>
                  </a:cubicBezTo>
                  <a:cubicBezTo>
                    <a:pt x="180" y="180"/>
                    <a:pt x="180" y="180"/>
                    <a:pt x="180" y="180"/>
                  </a:cubicBezTo>
                  <a:cubicBezTo>
                    <a:pt x="160" y="180"/>
                    <a:pt x="160" y="180"/>
                    <a:pt x="160" y="180"/>
                  </a:cubicBezTo>
                  <a:lnTo>
                    <a:pt x="160" y="87"/>
                  </a:lnTo>
                  <a:close/>
                  <a:moveTo>
                    <a:pt x="140" y="40"/>
                  </a:moveTo>
                  <a:cubicBezTo>
                    <a:pt x="140" y="60"/>
                    <a:pt x="140" y="60"/>
                    <a:pt x="140" y="60"/>
                  </a:cubicBezTo>
                  <a:cubicBezTo>
                    <a:pt x="120" y="60"/>
                    <a:pt x="120" y="60"/>
                    <a:pt x="120" y="60"/>
                  </a:cubicBezTo>
                  <a:cubicBezTo>
                    <a:pt x="120" y="40"/>
                    <a:pt x="120" y="40"/>
                    <a:pt x="120" y="40"/>
                  </a:cubicBezTo>
                  <a:cubicBezTo>
                    <a:pt x="100" y="40"/>
                    <a:pt x="100" y="40"/>
                    <a:pt x="100" y="40"/>
                  </a:cubicBezTo>
                  <a:cubicBezTo>
                    <a:pt x="100" y="60"/>
                    <a:pt x="100" y="60"/>
                    <a:pt x="100" y="60"/>
                  </a:cubicBezTo>
                  <a:cubicBezTo>
                    <a:pt x="80" y="60"/>
                    <a:pt x="80" y="60"/>
                    <a:pt x="80" y="60"/>
                  </a:cubicBezTo>
                  <a:cubicBezTo>
                    <a:pt x="80" y="40"/>
                    <a:pt x="80" y="40"/>
                    <a:pt x="80" y="40"/>
                  </a:cubicBezTo>
                  <a:cubicBezTo>
                    <a:pt x="60" y="40"/>
                    <a:pt x="60" y="40"/>
                    <a:pt x="60" y="40"/>
                  </a:cubicBezTo>
                  <a:cubicBezTo>
                    <a:pt x="60" y="60"/>
                    <a:pt x="60" y="60"/>
                    <a:pt x="60" y="60"/>
                  </a:cubicBezTo>
                  <a:cubicBezTo>
                    <a:pt x="40" y="60"/>
                    <a:pt x="40" y="60"/>
                    <a:pt x="40" y="60"/>
                  </a:cubicBezTo>
                  <a:cubicBezTo>
                    <a:pt x="40" y="80"/>
                    <a:pt x="40" y="80"/>
                    <a:pt x="40" y="80"/>
                  </a:cubicBezTo>
                  <a:cubicBezTo>
                    <a:pt x="60" y="80"/>
                    <a:pt x="60" y="80"/>
                    <a:pt x="60" y="80"/>
                  </a:cubicBezTo>
                  <a:cubicBezTo>
                    <a:pt x="60" y="60"/>
                    <a:pt x="60" y="60"/>
                    <a:pt x="60" y="60"/>
                  </a:cubicBezTo>
                  <a:cubicBezTo>
                    <a:pt x="80" y="60"/>
                    <a:pt x="80" y="60"/>
                    <a:pt x="80" y="60"/>
                  </a:cubicBezTo>
                  <a:cubicBezTo>
                    <a:pt x="80" y="80"/>
                    <a:pt x="80" y="80"/>
                    <a:pt x="80" y="80"/>
                  </a:cubicBezTo>
                  <a:cubicBezTo>
                    <a:pt x="100" y="80"/>
                    <a:pt x="100" y="80"/>
                    <a:pt x="100" y="80"/>
                  </a:cubicBezTo>
                  <a:cubicBezTo>
                    <a:pt x="100" y="60"/>
                    <a:pt x="100" y="60"/>
                    <a:pt x="100" y="60"/>
                  </a:cubicBezTo>
                  <a:cubicBezTo>
                    <a:pt x="120" y="60"/>
                    <a:pt x="120" y="60"/>
                    <a:pt x="120" y="60"/>
                  </a:cubicBezTo>
                  <a:cubicBezTo>
                    <a:pt x="120" y="80"/>
                    <a:pt x="120" y="80"/>
                    <a:pt x="120" y="80"/>
                  </a:cubicBezTo>
                  <a:cubicBezTo>
                    <a:pt x="140" y="80"/>
                    <a:pt x="140" y="80"/>
                    <a:pt x="140" y="80"/>
                  </a:cubicBezTo>
                  <a:cubicBezTo>
                    <a:pt x="140" y="60"/>
                    <a:pt x="140" y="60"/>
                    <a:pt x="140" y="60"/>
                  </a:cubicBezTo>
                  <a:cubicBezTo>
                    <a:pt x="160" y="60"/>
                    <a:pt x="160" y="60"/>
                    <a:pt x="160" y="60"/>
                  </a:cubicBezTo>
                  <a:cubicBezTo>
                    <a:pt x="160" y="40"/>
                    <a:pt x="160" y="40"/>
                    <a:pt x="160" y="40"/>
                  </a:cubicBezTo>
                  <a:lnTo>
                    <a:pt x="140" y="40"/>
                  </a:lnTo>
                  <a:close/>
                  <a:moveTo>
                    <a:pt x="60" y="200"/>
                  </a:moveTo>
                  <a:cubicBezTo>
                    <a:pt x="0" y="200"/>
                    <a:pt x="0" y="200"/>
                    <a:pt x="0" y="200"/>
                  </a:cubicBezTo>
                  <a:cubicBezTo>
                    <a:pt x="0" y="184"/>
                    <a:pt x="0" y="184"/>
                    <a:pt x="0" y="184"/>
                  </a:cubicBezTo>
                  <a:cubicBezTo>
                    <a:pt x="60" y="184"/>
                    <a:pt x="60" y="184"/>
                    <a:pt x="60" y="184"/>
                  </a:cubicBezTo>
                  <a:lnTo>
                    <a:pt x="60" y="200"/>
                  </a:lnTo>
                  <a:close/>
                </a:path>
              </a:pathLst>
            </a:custGeom>
            <a:solidFill>
              <a:schemeClr val="bg1"/>
            </a:solidFill>
            <a:ln>
              <a:noFill/>
            </a:ln>
          </p:spPr>
          <p:txBody>
            <a:bodyPr vert="horz" wrap="square" lIns="68562" tIns="34281" rIns="68562" bIns="34281" numCol="1" anchor="t" anchorCtr="0" compatLnSpc="1">
              <a:prstTxWarp prst="textNoShape">
                <a:avLst/>
              </a:prstTxWarp>
            </a:bodyPr>
            <a:lstStyle/>
            <a:p>
              <a:endParaRPr lang="zh-CN" altLang="en-US" sz="1350"/>
            </a:p>
          </p:txBody>
        </p:sp>
      </p:grpSp>
      <p:sp>
        <p:nvSpPr>
          <p:cNvPr id="14" name="弧形 13">
            <a:extLst>
              <a:ext uri="{FF2B5EF4-FFF2-40B4-BE49-F238E27FC236}">
                <a16:creationId xmlns:a16="http://schemas.microsoft.com/office/drawing/2014/main" id="{E8CAE42F-325E-4D10-B571-ECFE90348057}"/>
              </a:ext>
            </a:extLst>
          </p:cNvPr>
          <p:cNvSpPr/>
          <p:nvPr/>
        </p:nvSpPr>
        <p:spPr>
          <a:xfrm rot="15231781">
            <a:off x="3205954" y="2442204"/>
            <a:ext cx="996247" cy="996247"/>
          </a:xfrm>
          <a:prstGeom prst="arc">
            <a:avLst>
              <a:gd name="adj1" fmla="val 10956006"/>
              <a:gd name="adj2" fmla="val 0"/>
            </a:avLst>
          </a:prstGeom>
          <a:ln w="19050">
            <a:solidFill>
              <a:schemeClr val="bg1">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15" name="弧形 14">
            <a:extLst>
              <a:ext uri="{FF2B5EF4-FFF2-40B4-BE49-F238E27FC236}">
                <a16:creationId xmlns:a16="http://schemas.microsoft.com/office/drawing/2014/main" id="{ADD98397-AF04-484D-97F7-4B4BDA5DE697}"/>
              </a:ext>
            </a:extLst>
          </p:cNvPr>
          <p:cNvSpPr/>
          <p:nvPr/>
        </p:nvSpPr>
        <p:spPr>
          <a:xfrm rot="8176387">
            <a:off x="3987746" y="3122436"/>
            <a:ext cx="1159712" cy="1159712"/>
          </a:xfrm>
          <a:prstGeom prst="arc">
            <a:avLst>
              <a:gd name="adj1" fmla="val 13244638"/>
              <a:gd name="adj2" fmla="val 56923"/>
            </a:avLst>
          </a:prstGeom>
          <a:ln w="19050">
            <a:solidFill>
              <a:schemeClr val="bg1">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16" name="椭圆 15">
            <a:extLst>
              <a:ext uri="{FF2B5EF4-FFF2-40B4-BE49-F238E27FC236}">
                <a16:creationId xmlns:a16="http://schemas.microsoft.com/office/drawing/2014/main" id="{AD705848-5B1E-48F5-B9DF-BFBA9672D2E5}"/>
              </a:ext>
            </a:extLst>
          </p:cNvPr>
          <p:cNvSpPr/>
          <p:nvPr/>
        </p:nvSpPr>
        <p:spPr>
          <a:xfrm>
            <a:off x="3569093" y="2342273"/>
            <a:ext cx="269960" cy="269960"/>
          </a:xfrm>
          <a:prstGeom prst="ellipse">
            <a:avLst/>
          </a:prstGeom>
          <a:solidFill>
            <a:srgbClr val="7F7F7F">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标题 4">
            <a:extLst>
              <a:ext uri="{FF2B5EF4-FFF2-40B4-BE49-F238E27FC236}">
                <a16:creationId xmlns:a16="http://schemas.microsoft.com/office/drawing/2014/main" id="{BBEE6FA0-8CEA-4FB9-A957-75B0C714AA11}"/>
              </a:ext>
            </a:extLst>
          </p:cNvPr>
          <p:cNvSpPr txBox="1">
            <a:spLocks/>
          </p:cNvSpPr>
          <p:nvPr/>
        </p:nvSpPr>
        <p:spPr>
          <a:xfrm>
            <a:off x="3536945" y="2350299"/>
            <a:ext cx="334261" cy="2699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200" b="1" dirty="0">
                <a:solidFill>
                  <a:schemeClr val="bg1"/>
                </a:solidFill>
                <a:latin typeface="Impact MT Std" pitchFamily="34" charset="0"/>
                <a:ea typeface="微软雅黑" panose="020B0503020204020204" pitchFamily="34" charset="-122"/>
              </a:rPr>
              <a:t>01</a:t>
            </a:r>
          </a:p>
        </p:txBody>
      </p:sp>
      <p:sp>
        <p:nvSpPr>
          <p:cNvPr id="18" name="椭圆 17">
            <a:extLst>
              <a:ext uri="{FF2B5EF4-FFF2-40B4-BE49-F238E27FC236}">
                <a16:creationId xmlns:a16="http://schemas.microsoft.com/office/drawing/2014/main" id="{DAF61A6D-8551-4DFD-9EF8-9DBB27B5B2C4}"/>
              </a:ext>
            </a:extLst>
          </p:cNvPr>
          <p:cNvSpPr/>
          <p:nvPr/>
        </p:nvSpPr>
        <p:spPr>
          <a:xfrm>
            <a:off x="3966312" y="3830791"/>
            <a:ext cx="269960" cy="269960"/>
          </a:xfrm>
          <a:prstGeom prst="ellipse">
            <a:avLst/>
          </a:prstGeom>
          <a:solidFill>
            <a:srgbClr val="7F7F7F">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标题 4">
            <a:extLst>
              <a:ext uri="{FF2B5EF4-FFF2-40B4-BE49-F238E27FC236}">
                <a16:creationId xmlns:a16="http://schemas.microsoft.com/office/drawing/2014/main" id="{BD9F78A5-A004-4585-BEBE-6383DD6B6A3A}"/>
              </a:ext>
            </a:extLst>
          </p:cNvPr>
          <p:cNvSpPr txBox="1">
            <a:spLocks/>
          </p:cNvSpPr>
          <p:nvPr/>
        </p:nvSpPr>
        <p:spPr>
          <a:xfrm>
            <a:off x="3934165" y="3838816"/>
            <a:ext cx="334261" cy="2699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200" b="1" dirty="0">
                <a:solidFill>
                  <a:schemeClr val="bg1"/>
                </a:solidFill>
                <a:latin typeface="Impact MT Std" pitchFamily="34" charset="0"/>
                <a:ea typeface="微软雅黑" panose="020B0503020204020204" pitchFamily="34" charset="-122"/>
              </a:rPr>
              <a:t>02</a:t>
            </a:r>
          </a:p>
        </p:txBody>
      </p:sp>
      <p:sp>
        <p:nvSpPr>
          <p:cNvPr id="20" name="椭圆 19">
            <a:extLst>
              <a:ext uri="{FF2B5EF4-FFF2-40B4-BE49-F238E27FC236}">
                <a16:creationId xmlns:a16="http://schemas.microsoft.com/office/drawing/2014/main" id="{03FB6826-3214-4A67-A1C5-4AA3D3306086}"/>
              </a:ext>
            </a:extLst>
          </p:cNvPr>
          <p:cNvSpPr/>
          <p:nvPr/>
        </p:nvSpPr>
        <p:spPr>
          <a:xfrm>
            <a:off x="5532078" y="2057082"/>
            <a:ext cx="269960" cy="269960"/>
          </a:xfrm>
          <a:prstGeom prst="ellipse">
            <a:avLst/>
          </a:prstGeom>
          <a:solidFill>
            <a:srgbClr val="7F7F7F">
              <a:alpha val="7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标题 4">
            <a:extLst>
              <a:ext uri="{FF2B5EF4-FFF2-40B4-BE49-F238E27FC236}">
                <a16:creationId xmlns:a16="http://schemas.microsoft.com/office/drawing/2014/main" id="{5F16F94D-F792-4F5C-BA79-5A5DE1BD1F21}"/>
              </a:ext>
            </a:extLst>
          </p:cNvPr>
          <p:cNvSpPr txBox="1">
            <a:spLocks/>
          </p:cNvSpPr>
          <p:nvPr/>
        </p:nvSpPr>
        <p:spPr>
          <a:xfrm>
            <a:off x="5499930" y="2065107"/>
            <a:ext cx="334261" cy="269960"/>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1200" b="1" dirty="0">
                <a:solidFill>
                  <a:schemeClr val="bg1"/>
                </a:solidFill>
                <a:latin typeface="Impact MT Std" pitchFamily="34" charset="0"/>
                <a:ea typeface="微软雅黑" panose="020B0503020204020204" pitchFamily="34" charset="-122"/>
              </a:rPr>
              <a:t>03</a:t>
            </a:r>
          </a:p>
        </p:txBody>
      </p:sp>
      <p:sp>
        <p:nvSpPr>
          <p:cNvPr id="22" name="矩形 21">
            <a:extLst>
              <a:ext uri="{FF2B5EF4-FFF2-40B4-BE49-F238E27FC236}">
                <a16:creationId xmlns:a16="http://schemas.microsoft.com/office/drawing/2014/main" id="{CD316108-C02C-4ADD-B0B6-C04316656B1B}"/>
              </a:ext>
            </a:extLst>
          </p:cNvPr>
          <p:cNvSpPr/>
          <p:nvPr/>
        </p:nvSpPr>
        <p:spPr>
          <a:xfrm>
            <a:off x="370355" y="2227564"/>
            <a:ext cx="1788668" cy="315447"/>
          </a:xfrm>
          <a:prstGeom prst="rect">
            <a:avLst/>
          </a:prstGeom>
        </p:spPr>
        <p:txBody>
          <a:bodyPr wrap="square" lIns="68555" tIns="34278" rIns="68555" bIns="34278">
            <a:spAutoFit/>
          </a:bodyPr>
          <a:lstStyle/>
          <a:p>
            <a:pPr>
              <a:spcBef>
                <a:spcPct val="0"/>
              </a:spcBef>
              <a:buFont typeface="Arial" charset="0"/>
              <a:buNone/>
            </a:pPr>
            <a:r>
              <a:rPr lang="zh-CN" altLang="en-US" sz="1600" b="1" dirty="0">
                <a:solidFill>
                  <a:srgbClr val="2F5EB0"/>
                </a:solidFill>
                <a:latin typeface="微软雅黑" panose="020B0503020204020204" pitchFamily="34" charset="-122"/>
                <a:ea typeface="微软雅黑" panose="020B0503020204020204" pitchFamily="34" charset="-122"/>
                <a:cs typeface="Arial" panose="020B0604020202020204" pitchFamily="34" charset="0"/>
              </a:rPr>
              <a:t>了解链接工作原理</a:t>
            </a:r>
          </a:p>
        </p:txBody>
      </p:sp>
      <p:sp>
        <p:nvSpPr>
          <p:cNvPr id="23" name="矩形 47">
            <a:extLst>
              <a:ext uri="{FF2B5EF4-FFF2-40B4-BE49-F238E27FC236}">
                <a16:creationId xmlns:a16="http://schemas.microsoft.com/office/drawing/2014/main" id="{10531A0B-C24C-4DD1-997E-460EC0A4000F}"/>
              </a:ext>
            </a:extLst>
          </p:cNvPr>
          <p:cNvSpPr>
            <a:spLocks noChangeArrowheads="1"/>
          </p:cNvSpPr>
          <p:nvPr/>
        </p:nvSpPr>
        <p:spPr bwMode="auto">
          <a:xfrm>
            <a:off x="370355" y="2573140"/>
            <a:ext cx="2846756" cy="1177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8" rIns="68555" bIns="3427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200" dirty="0">
                <a:solidFill>
                  <a:schemeClr val="tx1">
                    <a:lumMod val="50000"/>
                    <a:lumOff val="50000"/>
                  </a:schemeClr>
                </a:solidFill>
              </a:rPr>
              <a:t>掌握链接工作原理。</a:t>
            </a:r>
            <a:endParaRPr lang="en-US" altLang="zh-CN" sz="1200" dirty="0">
              <a:solidFill>
                <a:schemeClr val="tx1">
                  <a:lumMod val="50000"/>
                  <a:lumOff val="50000"/>
                </a:schemeClr>
              </a:solidFill>
            </a:endParaRPr>
          </a:p>
          <a:p>
            <a:pPr marL="171450" indent="-171450">
              <a:lnSpc>
                <a:spcPct val="120000"/>
              </a:lnSpc>
              <a:spcBef>
                <a:spcPct val="0"/>
              </a:spcBef>
            </a:pPr>
            <a:r>
              <a:rPr lang="zh-CN" altLang="en-US" sz="1200" dirty="0">
                <a:solidFill>
                  <a:schemeClr val="tx1">
                    <a:lumMod val="50000"/>
                    <a:lumOff val="50000"/>
                  </a:schemeClr>
                </a:solidFill>
                <a:sym typeface="微软雅黑" pitchFamily="34" charset="-122"/>
              </a:rPr>
              <a:t>理解链接器如何帮助构造大型程序</a:t>
            </a:r>
            <a:endParaRPr lang="en-US" altLang="zh-CN" sz="1200" dirty="0">
              <a:solidFill>
                <a:schemeClr val="tx1">
                  <a:lumMod val="50000"/>
                  <a:lumOff val="50000"/>
                </a:schemeClr>
              </a:solidFill>
              <a:sym typeface="微软雅黑" pitchFamily="34" charset="-122"/>
            </a:endParaRPr>
          </a:p>
          <a:p>
            <a:pPr marL="171450" indent="-171450">
              <a:lnSpc>
                <a:spcPct val="120000"/>
              </a:lnSpc>
              <a:spcBef>
                <a:spcPct val="0"/>
              </a:spcBef>
            </a:pPr>
            <a:r>
              <a:rPr lang="zh-CN" altLang="en-US" sz="1200" dirty="0">
                <a:solidFill>
                  <a:schemeClr val="tx1">
                    <a:lumMod val="50000"/>
                    <a:lumOff val="50000"/>
                  </a:schemeClr>
                </a:solidFill>
                <a:sym typeface="微软雅黑" pitchFamily="34" charset="-122"/>
              </a:rPr>
              <a:t>理解符号解析如何 帮助避免编程错误</a:t>
            </a:r>
            <a:endParaRPr lang="en-US" altLang="zh-CN" sz="1200" dirty="0">
              <a:solidFill>
                <a:schemeClr val="tx1">
                  <a:lumMod val="50000"/>
                  <a:lumOff val="50000"/>
                </a:schemeClr>
              </a:solidFill>
              <a:sym typeface="微软雅黑" pitchFamily="34" charset="-122"/>
            </a:endParaRPr>
          </a:p>
          <a:p>
            <a:pPr marL="171450" indent="-171450">
              <a:lnSpc>
                <a:spcPct val="120000"/>
              </a:lnSpc>
              <a:spcBef>
                <a:spcPct val="0"/>
              </a:spcBef>
            </a:pPr>
            <a:r>
              <a:rPr lang="zh-CN" altLang="en-US" sz="1200" dirty="0">
                <a:solidFill>
                  <a:schemeClr val="tx1">
                    <a:lumMod val="50000"/>
                    <a:lumOff val="50000"/>
                  </a:schemeClr>
                </a:solidFill>
                <a:sym typeface="微软雅黑" pitchFamily="34" charset="-122"/>
              </a:rPr>
              <a:t>理解 语言作用域规则的实现方法</a:t>
            </a:r>
            <a:endParaRPr lang="en-US" altLang="zh-CN" sz="1200" dirty="0">
              <a:solidFill>
                <a:schemeClr val="tx1">
                  <a:lumMod val="50000"/>
                  <a:lumOff val="50000"/>
                </a:schemeClr>
              </a:solidFill>
              <a:sym typeface="微软雅黑" pitchFamily="34" charset="-122"/>
            </a:endParaRPr>
          </a:p>
          <a:p>
            <a:pPr marL="171450" indent="-171450">
              <a:lnSpc>
                <a:spcPct val="120000"/>
              </a:lnSpc>
              <a:spcBef>
                <a:spcPct val="0"/>
              </a:spcBef>
            </a:pPr>
            <a:r>
              <a:rPr lang="zh-CN" altLang="en-US" sz="1200" dirty="0">
                <a:solidFill>
                  <a:schemeClr val="tx1">
                    <a:lumMod val="50000"/>
                    <a:lumOff val="50000"/>
                  </a:schemeClr>
                </a:solidFill>
                <a:sym typeface="微软雅黑" pitchFamily="34" charset="-122"/>
              </a:rPr>
              <a:t>学习使用共享库</a:t>
            </a:r>
          </a:p>
        </p:txBody>
      </p:sp>
      <p:sp>
        <p:nvSpPr>
          <p:cNvPr id="24" name="矩形 23">
            <a:extLst>
              <a:ext uri="{FF2B5EF4-FFF2-40B4-BE49-F238E27FC236}">
                <a16:creationId xmlns:a16="http://schemas.microsoft.com/office/drawing/2014/main" id="{912282A2-EF7D-421A-8E5B-85E802DAB842}"/>
              </a:ext>
            </a:extLst>
          </p:cNvPr>
          <p:cNvSpPr/>
          <p:nvPr/>
        </p:nvSpPr>
        <p:spPr>
          <a:xfrm>
            <a:off x="2431926" y="4058964"/>
            <a:ext cx="1609283" cy="315447"/>
          </a:xfrm>
          <a:prstGeom prst="rect">
            <a:avLst/>
          </a:prstGeom>
        </p:spPr>
        <p:txBody>
          <a:bodyPr wrap="square" lIns="68555" tIns="34278" rIns="68555" bIns="34278">
            <a:spAutoFit/>
          </a:bodyPr>
          <a:lstStyle/>
          <a:p>
            <a:pPr>
              <a:spcBef>
                <a:spcPct val="0"/>
              </a:spcBef>
              <a:buFont typeface="Arial" charset="0"/>
              <a:buNone/>
            </a:pPr>
            <a:r>
              <a:rPr lang="zh-CN" altLang="en-US" sz="1600" b="1" dirty="0">
                <a:solidFill>
                  <a:srgbClr val="2F5EB0"/>
                </a:solidFill>
                <a:latin typeface="微软雅黑" panose="020B0503020204020204" pitchFamily="34" charset="-122"/>
                <a:ea typeface="微软雅黑" panose="020B0503020204020204" pitchFamily="34" charset="-122"/>
                <a:cs typeface="Arial" panose="020B0604020202020204" pitchFamily="34" charset="0"/>
              </a:rPr>
              <a:t>实践</a:t>
            </a:r>
          </a:p>
        </p:txBody>
      </p:sp>
      <p:sp>
        <p:nvSpPr>
          <p:cNvPr id="25" name="矩形 47">
            <a:extLst>
              <a:ext uri="{FF2B5EF4-FFF2-40B4-BE49-F238E27FC236}">
                <a16:creationId xmlns:a16="http://schemas.microsoft.com/office/drawing/2014/main" id="{2FAF6149-EC1E-47B0-9732-26211630D641}"/>
              </a:ext>
            </a:extLst>
          </p:cNvPr>
          <p:cNvSpPr>
            <a:spLocks noChangeArrowheads="1"/>
          </p:cNvSpPr>
          <p:nvPr/>
        </p:nvSpPr>
        <p:spPr bwMode="auto">
          <a:xfrm>
            <a:off x="2431411" y="4363650"/>
            <a:ext cx="2484916" cy="272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8" rIns="68555" bIns="3427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zh-CN" altLang="en-US" sz="1200" dirty="0">
                <a:solidFill>
                  <a:schemeClr val="tx1">
                    <a:lumMod val="50000"/>
                    <a:lumOff val="50000"/>
                  </a:schemeClr>
                </a:solidFill>
              </a:rPr>
              <a:t>通过反汇编查看符号解析</a:t>
            </a:r>
            <a:endParaRPr lang="zh-CN" altLang="en-US" sz="1200" dirty="0">
              <a:solidFill>
                <a:schemeClr val="tx1">
                  <a:lumMod val="50000"/>
                  <a:lumOff val="50000"/>
                </a:schemeClr>
              </a:solidFill>
              <a:sym typeface="微软雅黑" pitchFamily="34" charset="-122"/>
            </a:endParaRPr>
          </a:p>
        </p:txBody>
      </p:sp>
      <p:sp>
        <p:nvSpPr>
          <p:cNvPr id="26" name="矩形 25">
            <a:extLst>
              <a:ext uri="{FF2B5EF4-FFF2-40B4-BE49-F238E27FC236}">
                <a16:creationId xmlns:a16="http://schemas.microsoft.com/office/drawing/2014/main" id="{CB168FB5-86F0-4DCD-8903-28A7A9F9615C}"/>
              </a:ext>
            </a:extLst>
          </p:cNvPr>
          <p:cNvSpPr/>
          <p:nvPr/>
        </p:nvSpPr>
        <p:spPr>
          <a:xfrm>
            <a:off x="6320634" y="2979125"/>
            <a:ext cx="1706853" cy="315447"/>
          </a:xfrm>
          <a:prstGeom prst="rect">
            <a:avLst/>
          </a:prstGeom>
        </p:spPr>
        <p:txBody>
          <a:bodyPr wrap="square" lIns="68555" tIns="34278" rIns="68555" bIns="34278">
            <a:spAutoFit/>
          </a:bodyPr>
          <a:lstStyle/>
          <a:p>
            <a:pPr>
              <a:spcBef>
                <a:spcPct val="0"/>
              </a:spcBef>
              <a:buFont typeface="Arial" charset="0"/>
              <a:buNone/>
            </a:pPr>
            <a:r>
              <a:rPr lang="zh-CN" altLang="en-US" sz="1600" b="1" dirty="0">
                <a:solidFill>
                  <a:srgbClr val="2F5EB0"/>
                </a:solidFill>
                <a:latin typeface="微软雅黑" panose="020B0503020204020204" pitchFamily="34" charset="-122"/>
                <a:ea typeface="微软雅黑" panose="020B0503020204020204" pitchFamily="34" charset="-122"/>
                <a:cs typeface="Arial" panose="020B0604020202020204" pitchFamily="34" charset="0"/>
              </a:rPr>
              <a:t>扩展</a:t>
            </a:r>
          </a:p>
        </p:txBody>
      </p:sp>
      <p:sp>
        <p:nvSpPr>
          <p:cNvPr id="27" name="矩形 47">
            <a:extLst>
              <a:ext uri="{FF2B5EF4-FFF2-40B4-BE49-F238E27FC236}">
                <a16:creationId xmlns:a16="http://schemas.microsoft.com/office/drawing/2014/main" id="{F45B93BB-B422-4B73-B298-A677A9C3914F}"/>
              </a:ext>
            </a:extLst>
          </p:cNvPr>
          <p:cNvSpPr>
            <a:spLocks noChangeArrowheads="1"/>
          </p:cNvSpPr>
          <p:nvPr/>
        </p:nvSpPr>
        <p:spPr bwMode="auto">
          <a:xfrm>
            <a:off x="6306222" y="3299130"/>
            <a:ext cx="2370234" cy="512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5" tIns="34278" rIns="68555" bIns="3427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nSpc>
                <a:spcPct val="120000"/>
              </a:lnSpc>
              <a:spcBef>
                <a:spcPct val="0"/>
              </a:spcBef>
              <a:buNone/>
            </a:pPr>
            <a:r>
              <a:rPr lang="en-US" altLang="zh-CN" sz="1200" dirty="0">
                <a:solidFill>
                  <a:schemeClr val="tx1">
                    <a:lumMod val="50000"/>
                    <a:lumOff val="50000"/>
                  </a:schemeClr>
                </a:solidFill>
              </a:rPr>
              <a:t>LLVM JIT</a:t>
            </a:r>
            <a:r>
              <a:rPr lang="zh-CN" altLang="en-US" sz="1200" dirty="0">
                <a:solidFill>
                  <a:schemeClr val="tx1">
                    <a:lumMod val="50000"/>
                    <a:lumOff val="50000"/>
                  </a:schemeClr>
                </a:solidFill>
              </a:rPr>
              <a:t>实时编译技术在数据库中的应用</a:t>
            </a:r>
            <a:endParaRPr lang="zh-CN" altLang="en-US" sz="1200" dirty="0">
              <a:solidFill>
                <a:schemeClr val="tx1">
                  <a:lumMod val="50000"/>
                  <a:lumOff val="50000"/>
                </a:schemeClr>
              </a:solidFill>
              <a:sym typeface="微软雅黑" pitchFamily="34" charset="-122"/>
            </a:endParaRPr>
          </a:p>
        </p:txBody>
      </p:sp>
      <p:sp>
        <p:nvSpPr>
          <p:cNvPr id="29" name="文本框 13">
            <a:extLst>
              <a:ext uri="{FF2B5EF4-FFF2-40B4-BE49-F238E27FC236}">
                <a16:creationId xmlns:a16="http://schemas.microsoft.com/office/drawing/2014/main" id="{AA894C53-B325-4DF7-AEC6-A7C308764E12}"/>
              </a:ext>
            </a:extLst>
          </p:cNvPr>
          <p:cNvSpPr txBox="1"/>
          <p:nvPr/>
        </p:nvSpPr>
        <p:spPr>
          <a:xfrm>
            <a:off x="5220072" y="4861928"/>
            <a:ext cx="3632204" cy="438557"/>
          </a:xfrm>
          <a:prstGeom prst="rect">
            <a:avLst/>
          </a:prstGeom>
          <a:noFill/>
        </p:spPr>
        <p:txBody>
          <a:bodyPr wrap="square" lIns="68558" tIns="34278" rIns="68558" bIns="34278" rtlCol="0">
            <a:spAutoFit/>
          </a:bodyPr>
          <a:lstStyle/>
          <a:p>
            <a:pPr algn="just">
              <a:lnSpc>
                <a:spcPct val="120000"/>
              </a:lnSpc>
              <a:spcBef>
                <a:spcPct val="0"/>
              </a:spcBef>
              <a:buNone/>
            </a:pPr>
            <a:r>
              <a:rPr lang="zh-CN" altLang="en-US" sz="2000" b="1" dirty="0">
                <a:solidFill>
                  <a:schemeClr val="tx1">
                    <a:lumMod val="50000"/>
                    <a:lumOff val="50000"/>
                  </a:schemeClr>
                </a:solidFill>
                <a:latin typeface="微软雅黑" panose="020B0503020204020204" pitchFamily="34" charset="-122"/>
                <a:ea typeface="微软雅黑" panose="020B0503020204020204" pitchFamily="34" charset="-122"/>
              </a:rPr>
              <a:t>目标：</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学习大型软件的分离编译方法</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30" name="Rectangle 49">
            <a:extLst>
              <a:ext uri="{FF2B5EF4-FFF2-40B4-BE49-F238E27FC236}">
                <a16:creationId xmlns:a16="http://schemas.microsoft.com/office/drawing/2014/main" id="{7959175B-F369-457B-995A-896D1A5DC24F}"/>
              </a:ext>
            </a:extLst>
          </p:cNvPr>
          <p:cNvSpPr/>
          <p:nvPr/>
        </p:nvSpPr>
        <p:spPr>
          <a:xfrm>
            <a:off x="683568" y="857758"/>
            <a:ext cx="2159678" cy="461537"/>
          </a:xfrm>
          <a:prstGeom prst="rect">
            <a:avLst/>
          </a:prstGeom>
          <a:effectLst/>
        </p:spPr>
        <p:txBody>
          <a:bodyPr wrap="square">
            <a:spAutoFit/>
          </a:bodyPr>
          <a:lstStyle/>
          <a:p>
            <a:pPr marL="0" lvl="1" algn="ctr"/>
            <a:r>
              <a:rPr lang="zh-CN" altLang="en-US" sz="2399" b="1" dirty="0">
                <a:solidFill>
                  <a:srgbClr val="2F5EB0"/>
                </a:solidFill>
                <a:latin typeface="微软雅黑" pitchFamily="34" charset="-122"/>
                <a:ea typeface="微软雅黑" pitchFamily="34" charset="-122"/>
              </a:rPr>
              <a:t>本章学习要求</a:t>
            </a:r>
            <a:endParaRPr lang="en-US" altLang="zh-CN" sz="2399" b="1" dirty="0">
              <a:solidFill>
                <a:srgbClr val="2F5EB0"/>
              </a:solidFill>
              <a:latin typeface="微软雅黑" pitchFamily="34" charset="-122"/>
              <a:ea typeface="微软雅黑" pitchFamily="34" charset="-122"/>
            </a:endParaRPr>
          </a:p>
        </p:txBody>
      </p:sp>
    </p:spTree>
    <p:extLst>
      <p:ext uri="{BB962C8B-B14F-4D97-AF65-F5344CB8AC3E}">
        <p14:creationId xmlns:p14="http://schemas.microsoft.com/office/powerpoint/2010/main" val="1032028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50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22" presetClass="entr" presetSubtype="8" fill="hold" grpId="0" nodeType="withEffect">
                                  <p:stCondLst>
                                    <p:cond delay="100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par>
                                <p:cTn id="23" presetID="22" presetClass="entr" presetSubtype="8" fill="hold" grpId="0" nodeType="withEffect">
                                  <p:stCondLst>
                                    <p:cond delay="1000"/>
                                  </p:stCondLst>
                                  <p:childTnLst>
                                    <p:set>
                                      <p:cBhvr>
                                        <p:cTn id="24" dur="1" fill="hold">
                                          <p:stCondLst>
                                            <p:cond delay="0"/>
                                          </p:stCondLst>
                                        </p:cTn>
                                        <p:tgtEl>
                                          <p:spTgt spid="3"/>
                                        </p:tgtEl>
                                        <p:attrNameLst>
                                          <p:attrName>style.visibility</p:attrName>
                                        </p:attrNameLst>
                                      </p:cBhvr>
                                      <p:to>
                                        <p:strVal val="visible"/>
                                      </p:to>
                                    </p:set>
                                    <p:animEffect transition="in" filter="wipe(left)">
                                      <p:cBhvr>
                                        <p:cTn id="25" dur="500"/>
                                        <p:tgtEl>
                                          <p:spTgt spid="3"/>
                                        </p:tgtEl>
                                      </p:cBhvr>
                                    </p:animEffect>
                                  </p:childTnLst>
                                </p:cTn>
                              </p:par>
                              <p:par>
                                <p:cTn id="26" presetID="53" presetClass="entr" presetSubtype="16" fill="hold" grpId="0" nodeType="withEffect">
                                  <p:stCondLst>
                                    <p:cond delay="150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par>
                                <p:cTn id="31" presetID="53" presetClass="entr" presetSubtype="16" fill="hold" grpId="0" nodeType="withEffect">
                                  <p:stCondLst>
                                    <p:cond delay="150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par>
                                <p:cTn id="36" presetID="53" presetClass="entr" presetSubtype="16" fill="hold" grpId="0" nodeType="withEffect">
                                  <p:stCondLst>
                                    <p:cond delay="1500"/>
                                  </p:stCondLst>
                                  <p:childTnLst>
                                    <p:set>
                                      <p:cBhvr>
                                        <p:cTn id="37" dur="1" fill="hold">
                                          <p:stCondLst>
                                            <p:cond delay="0"/>
                                          </p:stCondLst>
                                        </p:cTn>
                                        <p:tgtEl>
                                          <p:spTgt spid="18"/>
                                        </p:tgtEl>
                                        <p:attrNameLst>
                                          <p:attrName>style.visibility</p:attrName>
                                        </p:attrNameLst>
                                      </p:cBhvr>
                                      <p:to>
                                        <p:strVal val="visible"/>
                                      </p:to>
                                    </p:set>
                                    <p:anim calcmode="lin" valueType="num">
                                      <p:cBhvr>
                                        <p:cTn id="38" dur="500" fill="hold"/>
                                        <p:tgtEl>
                                          <p:spTgt spid="18"/>
                                        </p:tgtEl>
                                        <p:attrNameLst>
                                          <p:attrName>ppt_w</p:attrName>
                                        </p:attrNameLst>
                                      </p:cBhvr>
                                      <p:tavLst>
                                        <p:tav tm="0">
                                          <p:val>
                                            <p:fltVal val="0"/>
                                          </p:val>
                                        </p:tav>
                                        <p:tav tm="100000">
                                          <p:val>
                                            <p:strVal val="#ppt_w"/>
                                          </p:val>
                                        </p:tav>
                                      </p:tavLst>
                                    </p:anim>
                                    <p:anim calcmode="lin" valueType="num">
                                      <p:cBhvr>
                                        <p:cTn id="39" dur="500" fill="hold"/>
                                        <p:tgtEl>
                                          <p:spTgt spid="18"/>
                                        </p:tgtEl>
                                        <p:attrNameLst>
                                          <p:attrName>ppt_h</p:attrName>
                                        </p:attrNameLst>
                                      </p:cBhvr>
                                      <p:tavLst>
                                        <p:tav tm="0">
                                          <p:val>
                                            <p:fltVal val="0"/>
                                          </p:val>
                                        </p:tav>
                                        <p:tav tm="100000">
                                          <p:val>
                                            <p:strVal val="#ppt_h"/>
                                          </p:val>
                                        </p:tav>
                                      </p:tavLst>
                                    </p:anim>
                                    <p:animEffect transition="in" filter="fade">
                                      <p:cBhvr>
                                        <p:cTn id="40" dur="500"/>
                                        <p:tgtEl>
                                          <p:spTgt spid="18"/>
                                        </p:tgtEl>
                                      </p:cBhvr>
                                    </p:animEffect>
                                  </p:childTnLst>
                                </p:cTn>
                              </p:par>
                              <p:par>
                                <p:cTn id="41" presetID="53" presetClass="entr" presetSubtype="16" fill="hold" grpId="0" nodeType="withEffect">
                                  <p:stCondLst>
                                    <p:cond delay="1500"/>
                                  </p:stCondLst>
                                  <p:childTnLst>
                                    <p:set>
                                      <p:cBhvr>
                                        <p:cTn id="42" dur="1" fill="hold">
                                          <p:stCondLst>
                                            <p:cond delay="0"/>
                                          </p:stCondLst>
                                        </p:cTn>
                                        <p:tgtEl>
                                          <p:spTgt spid="19"/>
                                        </p:tgtEl>
                                        <p:attrNameLst>
                                          <p:attrName>style.visibility</p:attrName>
                                        </p:attrNameLst>
                                      </p:cBhvr>
                                      <p:to>
                                        <p:strVal val="visible"/>
                                      </p:to>
                                    </p:set>
                                    <p:anim calcmode="lin" valueType="num">
                                      <p:cBhvr>
                                        <p:cTn id="43" dur="500" fill="hold"/>
                                        <p:tgtEl>
                                          <p:spTgt spid="19"/>
                                        </p:tgtEl>
                                        <p:attrNameLst>
                                          <p:attrName>ppt_w</p:attrName>
                                        </p:attrNameLst>
                                      </p:cBhvr>
                                      <p:tavLst>
                                        <p:tav tm="0">
                                          <p:val>
                                            <p:fltVal val="0"/>
                                          </p:val>
                                        </p:tav>
                                        <p:tav tm="100000">
                                          <p:val>
                                            <p:strVal val="#ppt_w"/>
                                          </p:val>
                                        </p:tav>
                                      </p:tavLst>
                                    </p:anim>
                                    <p:anim calcmode="lin" valueType="num">
                                      <p:cBhvr>
                                        <p:cTn id="44" dur="500" fill="hold"/>
                                        <p:tgtEl>
                                          <p:spTgt spid="19"/>
                                        </p:tgtEl>
                                        <p:attrNameLst>
                                          <p:attrName>ppt_h</p:attrName>
                                        </p:attrNameLst>
                                      </p:cBhvr>
                                      <p:tavLst>
                                        <p:tav tm="0">
                                          <p:val>
                                            <p:fltVal val="0"/>
                                          </p:val>
                                        </p:tav>
                                        <p:tav tm="100000">
                                          <p:val>
                                            <p:strVal val="#ppt_h"/>
                                          </p:val>
                                        </p:tav>
                                      </p:tavLst>
                                    </p:anim>
                                    <p:animEffect transition="in" filter="fade">
                                      <p:cBhvr>
                                        <p:cTn id="45" dur="500"/>
                                        <p:tgtEl>
                                          <p:spTgt spid="19"/>
                                        </p:tgtEl>
                                      </p:cBhvr>
                                    </p:animEffect>
                                  </p:childTnLst>
                                </p:cTn>
                              </p:par>
                              <p:par>
                                <p:cTn id="46" presetID="53" presetClass="entr" presetSubtype="16" fill="hold" grpId="0" nodeType="withEffect">
                                  <p:stCondLst>
                                    <p:cond delay="1500"/>
                                  </p:stCondLst>
                                  <p:childTnLst>
                                    <p:set>
                                      <p:cBhvr>
                                        <p:cTn id="47" dur="1" fill="hold">
                                          <p:stCondLst>
                                            <p:cond delay="0"/>
                                          </p:stCondLst>
                                        </p:cTn>
                                        <p:tgtEl>
                                          <p:spTgt spid="20"/>
                                        </p:tgtEl>
                                        <p:attrNameLst>
                                          <p:attrName>style.visibility</p:attrName>
                                        </p:attrNameLst>
                                      </p:cBhvr>
                                      <p:to>
                                        <p:strVal val="visible"/>
                                      </p:to>
                                    </p:set>
                                    <p:anim calcmode="lin" valueType="num">
                                      <p:cBhvr>
                                        <p:cTn id="48" dur="500" fill="hold"/>
                                        <p:tgtEl>
                                          <p:spTgt spid="20"/>
                                        </p:tgtEl>
                                        <p:attrNameLst>
                                          <p:attrName>ppt_w</p:attrName>
                                        </p:attrNameLst>
                                      </p:cBhvr>
                                      <p:tavLst>
                                        <p:tav tm="0">
                                          <p:val>
                                            <p:fltVal val="0"/>
                                          </p:val>
                                        </p:tav>
                                        <p:tav tm="100000">
                                          <p:val>
                                            <p:strVal val="#ppt_w"/>
                                          </p:val>
                                        </p:tav>
                                      </p:tavLst>
                                    </p:anim>
                                    <p:anim calcmode="lin" valueType="num">
                                      <p:cBhvr>
                                        <p:cTn id="49" dur="500" fill="hold"/>
                                        <p:tgtEl>
                                          <p:spTgt spid="20"/>
                                        </p:tgtEl>
                                        <p:attrNameLst>
                                          <p:attrName>ppt_h</p:attrName>
                                        </p:attrNameLst>
                                      </p:cBhvr>
                                      <p:tavLst>
                                        <p:tav tm="0">
                                          <p:val>
                                            <p:fltVal val="0"/>
                                          </p:val>
                                        </p:tav>
                                        <p:tav tm="100000">
                                          <p:val>
                                            <p:strVal val="#ppt_h"/>
                                          </p:val>
                                        </p:tav>
                                      </p:tavLst>
                                    </p:anim>
                                    <p:animEffect transition="in" filter="fade">
                                      <p:cBhvr>
                                        <p:cTn id="50" dur="500"/>
                                        <p:tgtEl>
                                          <p:spTgt spid="20"/>
                                        </p:tgtEl>
                                      </p:cBhvr>
                                    </p:animEffect>
                                  </p:childTnLst>
                                </p:cTn>
                              </p:par>
                              <p:par>
                                <p:cTn id="51" presetID="53" presetClass="entr" presetSubtype="16" fill="hold" grpId="0" nodeType="withEffect">
                                  <p:stCondLst>
                                    <p:cond delay="1500"/>
                                  </p:stCondLst>
                                  <p:childTnLst>
                                    <p:set>
                                      <p:cBhvr>
                                        <p:cTn id="52" dur="1" fill="hold">
                                          <p:stCondLst>
                                            <p:cond delay="0"/>
                                          </p:stCondLst>
                                        </p:cTn>
                                        <p:tgtEl>
                                          <p:spTgt spid="21"/>
                                        </p:tgtEl>
                                        <p:attrNameLst>
                                          <p:attrName>style.visibility</p:attrName>
                                        </p:attrNameLst>
                                      </p:cBhvr>
                                      <p:to>
                                        <p:strVal val="visible"/>
                                      </p:to>
                                    </p:set>
                                    <p:anim calcmode="lin" valueType="num">
                                      <p:cBhvr>
                                        <p:cTn id="53" dur="500" fill="hold"/>
                                        <p:tgtEl>
                                          <p:spTgt spid="21"/>
                                        </p:tgtEl>
                                        <p:attrNameLst>
                                          <p:attrName>ppt_w</p:attrName>
                                        </p:attrNameLst>
                                      </p:cBhvr>
                                      <p:tavLst>
                                        <p:tav tm="0">
                                          <p:val>
                                            <p:fltVal val="0"/>
                                          </p:val>
                                        </p:tav>
                                        <p:tav tm="100000">
                                          <p:val>
                                            <p:strVal val="#ppt_w"/>
                                          </p:val>
                                        </p:tav>
                                      </p:tavLst>
                                    </p:anim>
                                    <p:anim calcmode="lin" valueType="num">
                                      <p:cBhvr>
                                        <p:cTn id="54" dur="500" fill="hold"/>
                                        <p:tgtEl>
                                          <p:spTgt spid="21"/>
                                        </p:tgtEl>
                                        <p:attrNameLst>
                                          <p:attrName>ppt_h</p:attrName>
                                        </p:attrNameLst>
                                      </p:cBhvr>
                                      <p:tavLst>
                                        <p:tav tm="0">
                                          <p:val>
                                            <p:fltVal val="0"/>
                                          </p:val>
                                        </p:tav>
                                        <p:tav tm="100000">
                                          <p:val>
                                            <p:strVal val="#ppt_h"/>
                                          </p:val>
                                        </p:tav>
                                      </p:tavLst>
                                    </p:anim>
                                    <p:animEffect transition="in" filter="fade">
                                      <p:cBhvr>
                                        <p:cTn id="55" dur="500"/>
                                        <p:tgtEl>
                                          <p:spTgt spid="21"/>
                                        </p:tgtEl>
                                      </p:cBhvr>
                                    </p:animEffect>
                                  </p:childTnLst>
                                </p:cTn>
                              </p:par>
                              <p:par>
                                <p:cTn id="56" presetID="14" presetClass="entr" presetSubtype="10" fill="hold" grpId="0" nodeType="withEffect">
                                  <p:stCondLst>
                                    <p:cond delay="2000"/>
                                  </p:stCondLst>
                                  <p:childTnLst>
                                    <p:set>
                                      <p:cBhvr>
                                        <p:cTn id="57" dur="1" fill="hold">
                                          <p:stCondLst>
                                            <p:cond delay="0"/>
                                          </p:stCondLst>
                                        </p:cTn>
                                        <p:tgtEl>
                                          <p:spTgt spid="22"/>
                                        </p:tgtEl>
                                        <p:attrNameLst>
                                          <p:attrName>style.visibility</p:attrName>
                                        </p:attrNameLst>
                                      </p:cBhvr>
                                      <p:to>
                                        <p:strVal val="visible"/>
                                      </p:to>
                                    </p:set>
                                    <p:animEffect transition="in" filter="randombar(horizontal)">
                                      <p:cBhvr>
                                        <p:cTn id="58" dur="400"/>
                                        <p:tgtEl>
                                          <p:spTgt spid="22"/>
                                        </p:tgtEl>
                                      </p:cBhvr>
                                    </p:animEffect>
                                  </p:childTnLst>
                                </p:cTn>
                              </p:par>
                              <p:par>
                                <p:cTn id="59" presetID="14" presetClass="entr" presetSubtype="10" fill="hold" grpId="0" nodeType="withEffect">
                                  <p:stCondLst>
                                    <p:cond delay="2000"/>
                                  </p:stCondLst>
                                  <p:childTnLst>
                                    <p:set>
                                      <p:cBhvr>
                                        <p:cTn id="60" dur="1" fill="hold">
                                          <p:stCondLst>
                                            <p:cond delay="0"/>
                                          </p:stCondLst>
                                        </p:cTn>
                                        <p:tgtEl>
                                          <p:spTgt spid="23"/>
                                        </p:tgtEl>
                                        <p:attrNameLst>
                                          <p:attrName>style.visibility</p:attrName>
                                        </p:attrNameLst>
                                      </p:cBhvr>
                                      <p:to>
                                        <p:strVal val="visible"/>
                                      </p:to>
                                    </p:set>
                                    <p:animEffect transition="in" filter="randombar(horizontal)">
                                      <p:cBhvr>
                                        <p:cTn id="61" dur="400"/>
                                        <p:tgtEl>
                                          <p:spTgt spid="23"/>
                                        </p:tgtEl>
                                      </p:cBhvr>
                                    </p:animEffect>
                                  </p:childTnLst>
                                </p:cTn>
                              </p:par>
                            </p:childTnLst>
                          </p:cTn>
                        </p:par>
                        <p:par>
                          <p:cTn id="62" fill="hold">
                            <p:stCondLst>
                              <p:cond delay="2400"/>
                            </p:stCondLst>
                            <p:childTnLst>
                              <p:par>
                                <p:cTn id="63" presetID="22" presetClass="entr" presetSubtype="1" fill="hold" grpId="0" nodeType="afterEffect">
                                  <p:stCondLst>
                                    <p:cond delay="0"/>
                                  </p:stCondLst>
                                  <p:childTnLst>
                                    <p:set>
                                      <p:cBhvr>
                                        <p:cTn id="64" dur="1" fill="hold">
                                          <p:stCondLst>
                                            <p:cond delay="0"/>
                                          </p:stCondLst>
                                        </p:cTn>
                                        <p:tgtEl>
                                          <p:spTgt spid="14"/>
                                        </p:tgtEl>
                                        <p:attrNameLst>
                                          <p:attrName>style.visibility</p:attrName>
                                        </p:attrNameLst>
                                      </p:cBhvr>
                                      <p:to>
                                        <p:strVal val="visible"/>
                                      </p:to>
                                    </p:set>
                                    <p:animEffect transition="in" filter="wipe(up)">
                                      <p:cBhvr>
                                        <p:cTn id="65" dur="500"/>
                                        <p:tgtEl>
                                          <p:spTgt spid="14"/>
                                        </p:tgtEl>
                                      </p:cBhvr>
                                    </p:animEffect>
                                  </p:childTnLst>
                                </p:cTn>
                              </p:par>
                              <p:par>
                                <p:cTn id="66" presetID="14" presetClass="entr" presetSubtype="10" fill="hold" grpId="0" nodeType="withEffect">
                                  <p:stCondLst>
                                    <p:cond delay="500"/>
                                  </p:stCondLst>
                                  <p:childTnLst>
                                    <p:set>
                                      <p:cBhvr>
                                        <p:cTn id="67" dur="1" fill="hold">
                                          <p:stCondLst>
                                            <p:cond delay="0"/>
                                          </p:stCondLst>
                                        </p:cTn>
                                        <p:tgtEl>
                                          <p:spTgt spid="24"/>
                                        </p:tgtEl>
                                        <p:attrNameLst>
                                          <p:attrName>style.visibility</p:attrName>
                                        </p:attrNameLst>
                                      </p:cBhvr>
                                      <p:to>
                                        <p:strVal val="visible"/>
                                      </p:to>
                                    </p:set>
                                    <p:animEffect transition="in" filter="randombar(horizontal)">
                                      <p:cBhvr>
                                        <p:cTn id="68" dur="400"/>
                                        <p:tgtEl>
                                          <p:spTgt spid="24"/>
                                        </p:tgtEl>
                                      </p:cBhvr>
                                    </p:animEffect>
                                  </p:childTnLst>
                                </p:cTn>
                              </p:par>
                              <p:par>
                                <p:cTn id="69" presetID="14" presetClass="entr" presetSubtype="10" fill="hold" grpId="0" nodeType="withEffect">
                                  <p:stCondLst>
                                    <p:cond delay="500"/>
                                  </p:stCondLst>
                                  <p:childTnLst>
                                    <p:set>
                                      <p:cBhvr>
                                        <p:cTn id="70" dur="1" fill="hold">
                                          <p:stCondLst>
                                            <p:cond delay="0"/>
                                          </p:stCondLst>
                                        </p:cTn>
                                        <p:tgtEl>
                                          <p:spTgt spid="25"/>
                                        </p:tgtEl>
                                        <p:attrNameLst>
                                          <p:attrName>style.visibility</p:attrName>
                                        </p:attrNameLst>
                                      </p:cBhvr>
                                      <p:to>
                                        <p:strVal val="visible"/>
                                      </p:to>
                                    </p:set>
                                    <p:animEffect transition="in" filter="randombar(horizontal)">
                                      <p:cBhvr>
                                        <p:cTn id="71" dur="400"/>
                                        <p:tgtEl>
                                          <p:spTgt spid="25"/>
                                        </p:tgtEl>
                                      </p:cBhvr>
                                    </p:animEffect>
                                  </p:childTnLst>
                                </p:cTn>
                              </p:par>
                            </p:childTnLst>
                          </p:cTn>
                        </p:par>
                        <p:par>
                          <p:cTn id="72" fill="hold">
                            <p:stCondLst>
                              <p:cond delay="3300"/>
                            </p:stCondLst>
                            <p:childTnLst>
                              <p:par>
                                <p:cTn id="73" presetID="22" presetClass="entr" presetSubtype="8" fill="hold" grpId="0" nodeType="after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wipe(left)">
                                      <p:cBhvr>
                                        <p:cTn id="75" dur="500"/>
                                        <p:tgtEl>
                                          <p:spTgt spid="15"/>
                                        </p:tgtEl>
                                      </p:cBhvr>
                                    </p:animEffect>
                                  </p:childTnLst>
                                </p:cTn>
                              </p:par>
                              <p:par>
                                <p:cTn id="76" presetID="14" presetClass="entr" presetSubtype="10" fill="hold" grpId="0" nodeType="withEffect">
                                  <p:stCondLst>
                                    <p:cond delay="500"/>
                                  </p:stCondLst>
                                  <p:childTnLst>
                                    <p:set>
                                      <p:cBhvr>
                                        <p:cTn id="77" dur="1" fill="hold">
                                          <p:stCondLst>
                                            <p:cond delay="0"/>
                                          </p:stCondLst>
                                        </p:cTn>
                                        <p:tgtEl>
                                          <p:spTgt spid="26"/>
                                        </p:tgtEl>
                                        <p:attrNameLst>
                                          <p:attrName>style.visibility</p:attrName>
                                        </p:attrNameLst>
                                      </p:cBhvr>
                                      <p:to>
                                        <p:strVal val="visible"/>
                                      </p:to>
                                    </p:set>
                                    <p:animEffect transition="in" filter="randombar(horizontal)">
                                      <p:cBhvr>
                                        <p:cTn id="78" dur="400"/>
                                        <p:tgtEl>
                                          <p:spTgt spid="26"/>
                                        </p:tgtEl>
                                      </p:cBhvr>
                                    </p:animEffect>
                                  </p:childTnLst>
                                </p:cTn>
                              </p:par>
                              <p:par>
                                <p:cTn id="79" presetID="14" presetClass="entr" presetSubtype="10" fill="hold" grpId="0" nodeType="withEffect">
                                  <p:stCondLst>
                                    <p:cond delay="500"/>
                                  </p:stCondLst>
                                  <p:childTnLst>
                                    <p:set>
                                      <p:cBhvr>
                                        <p:cTn id="80" dur="1" fill="hold">
                                          <p:stCondLst>
                                            <p:cond delay="0"/>
                                          </p:stCondLst>
                                        </p:cTn>
                                        <p:tgtEl>
                                          <p:spTgt spid="27"/>
                                        </p:tgtEl>
                                        <p:attrNameLst>
                                          <p:attrName>style.visibility</p:attrName>
                                        </p:attrNameLst>
                                      </p:cBhvr>
                                      <p:to>
                                        <p:strVal val="visible"/>
                                      </p:to>
                                    </p:set>
                                    <p:animEffect transition="in" filter="randombar(horizontal)">
                                      <p:cBhvr>
                                        <p:cTn id="81" dur="400"/>
                                        <p:tgtEl>
                                          <p:spTgt spid="27"/>
                                        </p:tgtEl>
                                      </p:cBhvr>
                                    </p:animEffect>
                                  </p:childTnLst>
                                </p:cTn>
                              </p:par>
                              <p:par>
                                <p:cTn id="82" presetID="22" presetClass="entr" presetSubtype="2"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wipe(right)">
                                      <p:cBhvr>
                                        <p:cTn id="84" dur="750"/>
                                        <p:tgtEl>
                                          <p:spTgt spid="29"/>
                                        </p:tgtEl>
                                      </p:cBhvr>
                                    </p:animEffect>
                                  </p:childTnLst>
                                </p:cTn>
                              </p:par>
                              <p:par>
                                <p:cTn id="85" presetID="53" presetClass="entr" presetSubtype="16" fill="hold" grpId="0" nodeType="withEffect">
                                  <p:stCondLst>
                                    <p:cond delay="2500"/>
                                  </p:stCondLst>
                                  <p:childTnLst>
                                    <p:set>
                                      <p:cBhvr>
                                        <p:cTn id="86" dur="1" fill="hold">
                                          <p:stCondLst>
                                            <p:cond delay="0"/>
                                          </p:stCondLst>
                                        </p:cTn>
                                        <p:tgtEl>
                                          <p:spTgt spid="30"/>
                                        </p:tgtEl>
                                        <p:attrNameLst>
                                          <p:attrName>style.visibility</p:attrName>
                                        </p:attrNameLst>
                                      </p:cBhvr>
                                      <p:to>
                                        <p:strVal val="visible"/>
                                      </p:to>
                                    </p:set>
                                    <p:anim calcmode="lin" valueType="num">
                                      <p:cBhvr>
                                        <p:cTn id="87" dur="500" fill="hold"/>
                                        <p:tgtEl>
                                          <p:spTgt spid="30"/>
                                        </p:tgtEl>
                                        <p:attrNameLst>
                                          <p:attrName>ppt_w</p:attrName>
                                        </p:attrNameLst>
                                      </p:cBhvr>
                                      <p:tavLst>
                                        <p:tav tm="0">
                                          <p:val>
                                            <p:fltVal val="0"/>
                                          </p:val>
                                        </p:tav>
                                        <p:tav tm="100000">
                                          <p:val>
                                            <p:strVal val="#ppt_w"/>
                                          </p:val>
                                        </p:tav>
                                      </p:tavLst>
                                    </p:anim>
                                    <p:anim calcmode="lin" valueType="num">
                                      <p:cBhvr>
                                        <p:cTn id="88" dur="500" fill="hold"/>
                                        <p:tgtEl>
                                          <p:spTgt spid="30"/>
                                        </p:tgtEl>
                                        <p:attrNameLst>
                                          <p:attrName>ppt_h</p:attrName>
                                        </p:attrNameLst>
                                      </p:cBhvr>
                                      <p:tavLst>
                                        <p:tav tm="0">
                                          <p:val>
                                            <p:fltVal val="0"/>
                                          </p:val>
                                        </p:tav>
                                        <p:tav tm="100000">
                                          <p:val>
                                            <p:strVal val="#ppt_h"/>
                                          </p:val>
                                        </p:tav>
                                      </p:tavLst>
                                    </p:anim>
                                    <p:animEffect transition="in" filter="fade">
                                      <p:cBhvr>
                                        <p:cTn id="8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4" grpId="0" animBg="1"/>
      <p:bldP spid="15" grpId="0" animBg="1"/>
      <p:bldP spid="16" grpId="0" animBg="1"/>
      <p:bldP spid="17" grpId="0"/>
      <p:bldP spid="18" grpId="0" animBg="1"/>
      <p:bldP spid="19" grpId="0"/>
      <p:bldP spid="20" grpId="0" animBg="1"/>
      <p:bldP spid="21" grpId="0"/>
      <p:bldP spid="22" grpId="0"/>
      <p:bldP spid="23" grpId="0"/>
      <p:bldP spid="24" grpId="0"/>
      <p:bldP spid="25" grpId="0"/>
      <p:bldP spid="26" grpId="0"/>
      <p:bldP spid="27" grpId="0"/>
      <p:bldP spid="29"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28E74-B89B-41BB-9D00-854945AC17B5}"/>
              </a:ext>
            </a:extLst>
          </p:cNvPr>
          <p:cNvSpPr>
            <a:spLocks noGrp="1"/>
          </p:cNvSpPr>
          <p:nvPr>
            <p:ph type="title"/>
          </p:nvPr>
        </p:nvSpPr>
        <p:spPr/>
        <p:txBody>
          <a:bodyPr>
            <a:normAutofit fontScale="90000"/>
          </a:bodyPr>
          <a:lstStyle/>
          <a:p>
            <a:r>
              <a:rPr lang="en-US" altLang="zh-CN" dirty="0"/>
              <a:t>7.1 </a:t>
            </a:r>
            <a:r>
              <a:rPr lang="zh-CN" altLang="en-US" dirty="0"/>
              <a:t>编译器驱动程序</a:t>
            </a:r>
          </a:p>
        </p:txBody>
      </p:sp>
      <p:sp>
        <p:nvSpPr>
          <p:cNvPr id="3" name="内容占位符 2">
            <a:extLst>
              <a:ext uri="{FF2B5EF4-FFF2-40B4-BE49-F238E27FC236}">
                <a16:creationId xmlns:a16="http://schemas.microsoft.com/office/drawing/2014/main" id="{7450A30F-C86A-4FF2-B37C-5B08FFD80A2D}"/>
              </a:ext>
            </a:extLst>
          </p:cNvPr>
          <p:cNvSpPr>
            <a:spLocks noGrp="1"/>
          </p:cNvSpPr>
          <p:nvPr>
            <p:ph idx="1"/>
          </p:nvPr>
        </p:nvSpPr>
        <p:spPr>
          <a:xfrm>
            <a:off x="457200" y="837034"/>
            <a:ext cx="8229600" cy="2425933"/>
          </a:xfrm>
        </p:spPr>
        <p:txBody>
          <a:bodyPr/>
          <a:lstStyle/>
          <a:p>
            <a:r>
              <a:rPr lang="zh-CN" altLang="en-US" dirty="0"/>
              <a:t>示例：</a:t>
            </a:r>
            <a:endParaRPr lang="en-US" altLang="zh-CN" dirty="0"/>
          </a:p>
          <a:p>
            <a:pPr lvl="1"/>
            <a:r>
              <a:rPr lang="en-US" altLang="zh-CN" dirty="0"/>
              <a:t>Main</a:t>
            </a:r>
            <a:r>
              <a:rPr lang="zh-CN" altLang="en-US" dirty="0"/>
              <a:t>函数初始化一个整数数组</a:t>
            </a:r>
            <a:endParaRPr lang="en-US" altLang="zh-CN" dirty="0"/>
          </a:p>
          <a:p>
            <a:pPr lvl="1"/>
            <a:r>
              <a:rPr lang="en-US" altLang="zh-CN" dirty="0"/>
              <a:t>Sum</a:t>
            </a:r>
            <a:r>
              <a:rPr lang="zh-CN" altLang="en-US" dirty="0"/>
              <a:t>函数对元素求和</a:t>
            </a:r>
          </a:p>
        </p:txBody>
      </p:sp>
      <p:sp>
        <p:nvSpPr>
          <p:cNvPr id="4" name="灯片编号占位符 3">
            <a:extLst>
              <a:ext uri="{FF2B5EF4-FFF2-40B4-BE49-F238E27FC236}">
                <a16:creationId xmlns:a16="http://schemas.microsoft.com/office/drawing/2014/main" id="{BE0CDEC4-479C-44DD-B42B-3BB04B605179}"/>
              </a:ext>
            </a:extLst>
          </p:cNvPr>
          <p:cNvSpPr>
            <a:spLocks noGrp="1"/>
          </p:cNvSpPr>
          <p:nvPr>
            <p:ph type="sldNum" sz="quarter" idx="12"/>
          </p:nvPr>
        </p:nvSpPr>
        <p:spPr/>
        <p:txBody>
          <a:bodyPr/>
          <a:lstStyle/>
          <a:p>
            <a:fld id="{6D62327B-ED8D-4CFC-ADD0-A75FA5CBE281}" type="slidenum">
              <a:rPr lang="zh-CN" altLang="en-US" smtClean="0"/>
              <a:pPr/>
              <a:t>4</a:t>
            </a:fld>
            <a:endParaRPr lang="zh-CN" altLang="en-US" dirty="0"/>
          </a:p>
        </p:txBody>
      </p:sp>
      <p:sp>
        <p:nvSpPr>
          <p:cNvPr id="5" name="Rectangle 3">
            <a:extLst>
              <a:ext uri="{FF2B5EF4-FFF2-40B4-BE49-F238E27FC236}">
                <a16:creationId xmlns:a16="http://schemas.microsoft.com/office/drawing/2014/main" id="{BFC87483-9F82-4BA6-A2DA-9571465AB4A3}"/>
              </a:ext>
            </a:extLst>
          </p:cNvPr>
          <p:cNvSpPr>
            <a:spLocks noChangeArrowheads="1"/>
          </p:cNvSpPr>
          <p:nvPr/>
        </p:nvSpPr>
        <p:spPr bwMode="auto">
          <a:xfrm>
            <a:off x="203324" y="2636912"/>
            <a:ext cx="4075906" cy="2862323"/>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none">
            <a:prstTxWarp prst="textNoShape">
              <a:avLst/>
            </a:prstTxWarp>
            <a:spAutoFit/>
          </a:bodyPr>
          <a:lstStyle/>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sum</a:t>
            </a:r>
            <a:r>
              <a:rPr lang="en-US" sz="1800" dirty="0">
                <a:solidFill>
                  <a:srgbClr val="000000"/>
                </a:solidFill>
                <a:latin typeface="Menlo-Regular"/>
              </a:rPr>
              <a:t>(</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a</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n</a:t>
            </a:r>
            <a:r>
              <a:rPr lang="en-US" sz="1800" dirty="0">
                <a:solidFill>
                  <a:srgbClr val="000000"/>
                </a:solidFill>
                <a:latin typeface="Menlo-Regular"/>
              </a:rPr>
              <a:t>);</a:t>
            </a:r>
          </a:p>
          <a:p>
            <a:endParaRPr lang="en-US" sz="1800" dirty="0">
              <a:solidFill>
                <a:srgbClr val="000000"/>
              </a:solidFill>
              <a:latin typeface="Menlo-Regular"/>
            </a:endParaRPr>
          </a:p>
          <a:p>
            <a:r>
              <a:rPr lang="hu-HU" sz="1800" dirty="0">
                <a:solidFill>
                  <a:srgbClr val="2D961E"/>
                </a:solidFill>
                <a:latin typeface="Menlo-Regular"/>
              </a:rPr>
              <a:t>int</a:t>
            </a:r>
            <a:r>
              <a:rPr lang="hu-HU" sz="1800" dirty="0">
                <a:solidFill>
                  <a:srgbClr val="000000"/>
                </a:solidFill>
                <a:latin typeface="Menlo-Regular"/>
              </a:rPr>
              <a:t> </a:t>
            </a:r>
            <a:r>
              <a:rPr lang="hu-HU" sz="1800" dirty="0">
                <a:solidFill>
                  <a:srgbClr val="C1651C"/>
                </a:solidFill>
                <a:latin typeface="Menlo-Regular"/>
              </a:rPr>
              <a:t>array</a:t>
            </a:r>
            <a:r>
              <a:rPr lang="hu-HU" sz="1800" dirty="0">
                <a:solidFill>
                  <a:srgbClr val="000000"/>
                </a:solidFill>
                <a:latin typeface="Menlo-Regular"/>
              </a:rPr>
              <a:t>[2] = {1, 2};</a:t>
            </a:r>
          </a:p>
          <a:p>
            <a:endParaRPr lang="hu-HU" sz="1800" dirty="0">
              <a:solidFill>
                <a:srgbClr val="000000"/>
              </a:solidFill>
              <a:latin typeface="Menlo-Regular"/>
            </a:endParaRPr>
          </a:p>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main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val</a:t>
            </a:r>
            <a:r>
              <a:rPr lang="fr-FR" sz="1800" dirty="0">
                <a:solidFill>
                  <a:srgbClr val="000000"/>
                </a:solidFill>
                <a:latin typeface="Menlo-Regular"/>
              </a:rPr>
              <a:t> = </a:t>
            </a:r>
            <a:r>
              <a:rPr lang="fr-FR" sz="1800" dirty="0" err="1">
                <a:solidFill>
                  <a:srgbClr val="000000"/>
                </a:solidFill>
                <a:latin typeface="Menlo-Regular"/>
              </a:rPr>
              <a:t>sum</a:t>
            </a:r>
            <a:r>
              <a:rPr lang="fr-FR" sz="1800" dirty="0">
                <a:solidFill>
                  <a:srgbClr val="000000"/>
                </a:solidFill>
                <a:latin typeface="Menlo-Regular"/>
              </a:rPr>
              <a:t>(</a:t>
            </a:r>
            <a:r>
              <a:rPr lang="fr-FR" sz="1800" dirty="0" err="1">
                <a:solidFill>
                  <a:srgbClr val="000000"/>
                </a:solidFill>
                <a:latin typeface="Menlo-Regular"/>
              </a:rPr>
              <a:t>array</a:t>
            </a:r>
            <a:r>
              <a:rPr lang="fr-FR" sz="1800" dirty="0">
                <a:solidFill>
                  <a:srgbClr val="000000"/>
                </a:solidFill>
                <a:latin typeface="Menlo-Regular"/>
              </a:rPr>
              <a:t>, 2);</a:t>
            </a:r>
          </a:p>
          <a:p>
            <a:r>
              <a:rPr lang="fr-FR" sz="1800" dirty="0">
                <a:solidFill>
                  <a:srgbClr val="000000"/>
                </a:solidFill>
                <a:latin typeface="Menlo-Regular"/>
              </a:rPr>
              <a:t>    </a:t>
            </a:r>
            <a:r>
              <a:rPr lang="fr-FR" sz="1800" dirty="0">
                <a:solidFill>
                  <a:srgbClr val="C200FF"/>
                </a:solidFill>
                <a:latin typeface="Menlo-Regular"/>
              </a:rPr>
              <a:t>return</a:t>
            </a:r>
            <a:r>
              <a:rPr lang="fr-FR" sz="1800" dirty="0">
                <a:solidFill>
                  <a:srgbClr val="000000"/>
                </a:solidFill>
                <a:latin typeface="Menlo-Regular"/>
              </a:rPr>
              <a:t> val;</a:t>
            </a:r>
          </a:p>
          <a:p>
            <a:r>
              <a:rPr lang="fr-FR" sz="1800" dirty="0">
                <a:solidFill>
                  <a:srgbClr val="000000"/>
                </a:solidFill>
                <a:latin typeface="Menlo-Regular"/>
              </a:rPr>
              <a:t>}</a:t>
            </a:r>
          </a:p>
          <a:p>
            <a:endParaRPr lang="en-US" sz="1800" dirty="0">
              <a:latin typeface="Courier New"/>
              <a:cs typeface="Courier New"/>
            </a:endParaRPr>
          </a:p>
        </p:txBody>
      </p:sp>
      <p:sp>
        <p:nvSpPr>
          <p:cNvPr id="6" name="Rectangle 6">
            <a:extLst>
              <a:ext uri="{FF2B5EF4-FFF2-40B4-BE49-F238E27FC236}">
                <a16:creationId xmlns:a16="http://schemas.microsoft.com/office/drawing/2014/main" id="{DCA8465C-9EB6-4FBA-95C7-EFBBDCC24A2E}"/>
              </a:ext>
            </a:extLst>
          </p:cNvPr>
          <p:cNvSpPr>
            <a:spLocks noChangeArrowheads="1"/>
          </p:cNvSpPr>
          <p:nvPr/>
        </p:nvSpPr>
        <p:spPr bwMode="auto">
          <a:xfrm>
            <a:off x="4788024" y="2636912"/>
            <a:ext cx="4214878" cy="2862323"/>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none">
            <a:prstTxWarp prst="textNoShape">
              <a:avLst/>
            </a:prstTxWarp>
            <a:spAutoFit/>
          </a:bodyPr>
          <a:lstStyle/>
          <a:p>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4A00FF"/>
                </a:solidFill>
                <a:latin typeface="Menlo-Regular"/>
              </a:rPr>
              <a:t>sum</a:t>
            </a:r>
            <a:r>
              <a:rPr lang="en-US" sz="1800" dirty="0">
                <a:solidFill>
                  <a:srgbClr val="000000"/>
                </a:solidFill>
                <a:latin typeface="Menlo-Regular"/>
              </a:rPr>
              <a:t>(</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a</a:t>
            </a:r>
            <a:r>
              <a:rPr lang="en-US" sz="1800" dirty="0">
                <a:solidFill>
                  <a:srgbClr val="000000"/>
                </a:solidFill>
                <a:latin typeface="Menlo-Regular"/>
              </a:rPr>
              <a:t>, </a:t>
            </a:r>
            <a:r>
              <a:rPr lang="en-US" sz="1800" dirty="0" err="1">
                <a:solidFill>
                  <a:srgbClr val="2D961E"/>
                </a:solidFill>
                <a:latin typeface="Menlo-Regular"/>
              </a:rPr>
              <a:t>int</a:t>
            </a:r>
            <a:r>
              <a:rPr lang="en-US" sz="1800" dirty="0">
                <a:solidFill>
                  <a:srgbClr val="000000"/>
                </a:solidFill>
                <a:latin typeface="Menlo-Regular"/>
              </a:rPr>
              <a:t> </a:t>
            </a:r>
            <a:r>
              <a:rPr lang="en-US" sz="1800" dirty="0">
                <a:solidFill>
                  <a:srgbClr val="C1651C"/>
                </a:solidFill>
                <a:latin typeface="Menlo-Regular"/>
              </a:rPr>
              <a:t>n</a:t>
            </a:r>
            <a:r>
              <a:rPr lang="en-US" sz="1800" dirty="0">
                <a:solidFill>
                  <a:srgbClr val="000000"/>
                </a:solidFill>
                <a:latin typeface="Menlo-Regular"/>
              </a:rPr>
              <a:t>)</a:t>
            </a:r>
          </a:p>
          <a:p>
            <a:r>
              <a:rPr lang="en-US" sz="1800" dirty="0">
                <a:solidFill>
                  <a:srgbClr val="000000"/>
                </a:solidFill>
                <a:latin typeface="Menlo-Regular"/>
              </a:rPr>
              <a:t>{</a:t>
            </a:r>
          </a:p>
          <a:p>
            <a:r>
              <a:rPr lang="fr-FR" sz="1800" dirty="0">
                <a:solidFill>
                  <a:srgbClr val="000000"/>
                </a:solidFill>
                <a:latin typeface="Menlo-Regular"/>
              </a:rPr>
              <a:t>    </a:t>
            </a:r>
            <a:r>
              <a:rPr lang="fr-FR" sz="1800" dirty="0" err="1">
                <a:solidFill>
                  <a:srgbClr val="2D961E"/>
                </a:solidFill>
                <a:latin typeface="Menlo-Regular"/>
              </a:rPr>
              <a:t>int</a:t>
            </a:r>
            <a:r>
              <a:rPr lang="fr-FR" sz="1800" dirty="0">
                <a:solidFill>
                  <a:srgbClr val="000000"/>
                </a:solidFill>
                <a:latin typeface="Menlo-Regular"/>
              </a:rPr>
              <a:t> </a:t>
            </a:r>
            <a:r>
              <a:rPr lang="fr-FR" sz="1800" dirty="0">
                <a:solidFill>
                  <a:srgbClr val="C1651C"/>
                </a:solidFill>
                <a:latin typeface="Menlo-Regular"/>
              </a:rPr>
              <a:t>i</a:t>
            </a:r>
            <a:r>
              <a:rPr lang="fr-FR" sz="1800" dirty="0">
                <a:solidFill>
                  <a:srgbClr val="000000"/>
                </a:solidFill>
                <a:latin typeface="Menlo-Regular"/>
              </a:rPr>
              <a:t>, </a:t>
            </a:r>
            <a:r>
              <a:rPr lang="fr-FR" sz="1800" dirty="0">
                <a:solidFill>
                  <a:srgbClr val="C1651C"/>
                </a:solidFill>
                <a:latin typeface="Menlo-Regular"/>
              </a:rPr>
              <a:t>s</a:t>
            </a:r>
            <a:r>
              <a:rPr lang="fr-FR" sz="1800" dirty="0">
                <a:solidFill>
                  <a:srgbClr val="000000"/>
                </a:solidFill>
                <a:latin typeface="Menlo-Regular"/>
              </a:rPr>
              <a:t> = 0;</a:t>
            </a:r>
          </a:p>
          <a:p>
            <a:endParaRPr lang="fr-FR" sz="1800" dirty="0">
              <a:solidFill>
                <a:srgbClr val="000000"/>
              </a:solidFill>
              <a:latin typeface="Menlo-Regular"/>
            </a:endParaRPr>
          </a:p>
          <a:p>
            <a:r>
              <a:rPr lang="da-DK" sz="1800" dirty="0">
                <a:solidFill>
                  <a:srgbClr val="000000"/>
                </a:solidFill>
                <a:latin typeface="Menlo-Regular"/>
              </a:rPr>
              <a:t>    </a:t>
            </a:r>
            <a:r>
              <a:rPr lang="da-DK" sz="1800" dirty="0">
                <a:solidFill>
                  <a:srgbClr val="C200FF"/>
                </a:solidFill>
                <a:latin typeface="Menlo-Regular"/>
              </a:rPr>
              <a:t>for</a:t>
            </a:r>
            <a:r>
              <a:rPr lang="da-DK" sz="1800" dirty="0">
                <a:solidFill>
                  <a:srgbClr val="000000"/>
                </a:solidFill>
                <a:latin typeface="Menlo-Regular"/>
              </a:rPr>
              <a:t> (i = 0; i &lt; n; i++) {</a:t>
            </a:r>
          </a:p>
          <a:p>
            <a:r>
              <a:rPr lang="da-DK" sz="1800" dirty="0">
                <a:solidFill>
                  <a:srgbClr val="000000"/>
                </a:solidFill>
                <a:latin typeface="Menlo-Regular"/>
              </a:rPr>
              <a:t>        s += a[i];</a:t>
            </a:r>
          </a:p>
          <a:p>
            <a:r>
              <a:rPr lang="da-DK" sz="1800" dirty="0">
                <a:solidFill>
                  <a:srgbClr val="000000"/>
                </a:solidFill>
                <a:latin typeface="Menlo-Regular"/>
              </a:rPr>
              <a:t>    }</a:t>
            </a:r>
          </a:p>
          <a:p>
            <a:r>
              <a:rPr lang="is-IS" sz="1800" dirty="0">
                <a:solidFill>
                  <a:srgbClr val="000000"/>
                </a:solidFill>
                <a:latin typeface="Menlo-Regular"/>
              </a:rPr>
              <a:t>    </a:t>
            </a:r>
            <a:r>
              <a:rPr lang="is-IS" sz="1800" dirty="0">
                <a:solidFill>
                  <a:srgbClr val="C200FF"/>
                </a:solidFill>
                <a:latin typeface="Menlo-Regular"/>
              </a:rPr>
              <a:t>return</a:t>
            </a:r>
            <a:r>
              <a:rPr lang="is-IS" sz="1800" dirty="0">
                <a:solidFill>
                  <a:srgbClr val="000000"/>
                </a:solidFill>
                <a:latin typeface="Menlo-Regular"/>
              </a:rPr>
              <a:t> s;</a:t>
            </a:r>
          </a:p>
          <a:p>
            <a:r>
              <a:rPr lang="is-IS" sz="1800" dirty="0">
                <a:solidFill>
                  <a:srgbClr val="000000"/>
                </a:solidFill>
                <a:latin typeface="Menlo-Regular"/>
              </a:rPr>
              <a:t>}</a:t>
            </a:r>
          </a:p>
          <a:p>
            <a:endParaRPr lang="is-IS" sz="1800" dirty="0">
              <a:solidFill>
                <a:srgbClr val="000000"/>
              </a:solidFill>
              <a:latin typeface="Menlo-Regular"/>
            </a:endParaRPr>
          </a:p>
        </p:txBody>
      </p:sp>
      <p:sp>
        <p:nvSpPr>
          <p:cNvPr id="7" name="Rectangle 3">
            <a:extLst>
              <a:ext uri="{FF2B5EF4-FFF2-40B4-BE49-F238E27FC236}">
                <a16:creationId xmlns:a16="http://schemas.microsoft.com/office/drawing/2014/main" id="{97D54574-08DF-483D-9945-ABA6649DD062}"/>
              </a:ext>
            </a:extLst>
          </p:cNvPr>
          <p:cNvSpPr>
            <a:spLocks noChangeArrowheads="1"/>
          </p:cNvSpPr>
          <p:nvPr/>
        </p:nvSpPr>
        <p:spPr bwMode="auto">
          <a:xfrm>
            <a:off x="3263530" y="5151036"/>
            <a:ext cx="1067294"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main.c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8" name="Rectangle 3">
            <a:extLst>
              <a:ext uri="{FF2B5EF4-FFF2-40B4-BE49-F238E27FC236}">
                <a16:creationId xmlns:a16="http://schemas.microsoft.com/office/drawing/2014/main" id="{406AC17E-DC68-4E32-8768-09832366C649}"/>
              </a:ext>
            </a:extLst>
          </p:cNvPr>
          <p:cNvSpPr>
            <a:spLocks noChangeArrowheads="1"/>
          </p:cNvSpPr>
          <p:nvPr/>
        </p:nvSpPr>
        <p:spPr bwMode="auto">
          <a:xfrm>
            <a:off x="7935608" y="5141572"/>
            <a:ext cx="928772"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sum.c</a:t>
            </a:r>
            <a:endParaRPr lang="en-GB" sz="1800" b="1" i="1" dirty="0">
              <a:solidFill>
                <a:schemeClr val="tx1">
                  <a:lumMod val="50000"/>
                  <a:lumOff val="50000"/>
                </a:schemeClr>
              </a:solidFill>
              <a:latin typeface="Courier New" pitchFamily="49" charset="0"/>
              <a:ea typeface="msgothic" charset="0"/>
              <a:cs typeface="msgothic" charset="0"/>
            </a:endParaRPr>
          </a:p>
        </p:txBody>
      </p:sp>
    </p:spTree>
    <p:extLst>
      <p:ext uri="{BB962C8B-B14F-4D97-AF65-F5344CB8AC3E}">
        <p14:creationId xmlns:p14="http://schemas.microsoft.com/office/powerpoint/2010/main" val="2767539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D29E10-B9A3-4108-BD9F-150C82D5A8D7}"/>
              </a:ext>
            </a:extLst>
          </p:cNvPr>
          <p:cNvSpPr>
            <a:spLocks noGrp="1"/>
          </p:cNvSpPr>
          <p:nvPr>
            <p:ph type="title"/>
          </p:nvPr>
        </p:nvSpPr>
        <p:spPr/>
        <p:txBody>
          <a:bodyPr>
            <a:normAutofit fontScale="90000"/>
          </a:bodyPr>
          <a:lstStyle/>
          <a:p>
            <a:r>
              <a:rPr lang="zh-CN" altLang="en-US" dirty="0"/>
              <a:t>静态链接示例</a:t>
            </a:r>
          </a:p>
        </p:txBody>
      </p:sp>
      <p:sp>
        <p:nvSpPr>
          <p:cNvPr id="3" name="内容占位符 2">
            <a:extLst>
              <a:ext uri="{FF2B5EF4-FFF2-40B4-BE49-F238E27FC236}">
                <a16:creationId xmlns:a16="http://schemas.microsoft.com/office/drawing/2014/main" id="{43452280-44B5-4611-A222-934D2CFF9550}"/>
              </a:ext>
            </a:extLst>
          </p:cNvPr>
          <p:cNvSpPr>
            <a:spLocks noGrp="1"/>
          </p:cNvSpPr>
          <p:nvPr>
            <p:ph idx="1"/>
          </p:nvPr>
        </p:nvSpPr>
        <p:spPr>
          <a:xfrm>
            <a:off x="457200" y="837034"/>
            <a:ext cx="8229600" cy="819049"/>
          </a:xfrm>
        </p:spPr>
        <p:txBody>
          <a:bodyPr/>
          <a:lstStyle/>
          <a:p>
            <a:r>
              <a:rPr lang="zh-CN" altLang="en-US" sz="2000" dirty="0">
                <a:latin typeface="Calibri"/>
                <a:cs typeface="Calibri"/>
              </a:rPr>
              <a:t>编译系统提供编译器驱动程序，代表用户在需要时调用语言预处理器、编译器、汇编器和链接器：</a:t>
            </a:r>
            <a:endParaRPr lang="en-US" altLang="zh-CN" sz="2000" dirty="0">
              <a:latin typeface="Calibri"/>
              <a:cs typeface="Calibri"/>
            </a:endParaRPr>
          </a:p>
          <a:p>
            <a:endParaRPr lang="zh-CN" altLang="en-US" dirty="0"/>
          </a:p>
        </p:txBody>
      </p:sp>
      <p:sp>
        <p:nvSpPr>
          <p:cNvPr id="4" name="灯片编号占位符 3">
            <a:extLst>
              <a:ext uri="{FF2B5EF4-FFF2-40B4-BE49-F238E27FC236}">
                <a16:creationId xmlns:a16="http://schemas.microsoft.com/office/drawing/2014/main" id="{5C9822FA-1356-4201-A578-545198894AD7}"/>
              </a:ext>
            </a:extLst>
          </p:cNvPr>
          <p:cNvSpPr>
            <a:spLocks noGrp="1"/>
          </p:cNvSpPr>
          <p:nvPr>
            <p:ph type="sldNum" sz="quarter" idx="12"/>
          </p:nvPr>
        </p:nvSpPr>
        <p:spPr/>
        <p:txBody>
          <a:bodyPr/>
          <a:lstStyle/>
          <a:p>
            <a:fld id="{6D62327B-ED8D-4CFC-ADD0-A75FA5CBE281}" type="slidenum">
              <a:rPr lang="zh-CN" altLang="en-US" smtClean="0"/>
              <a:pPr/>
              <a:t>5</a:t>
            </a:fld>
            <a:endParaRPr lang="zh-CN" altLang="en-US" dirty="0"/>
          </a:p>
        </p:txBody>
      </p:sp>
      <p:sp>
        <p:nvSpPr>
          <p:cNvPr id="6" name="Line 4">
            <a:extLst>
              <a:ext uri="{FF2B5EF4-FFF2-40B4-BE49-F238E27FC236}">
                <a16:creationId xmlns:a16="http://schemas.microsoft.com/office/drawing/2014/main" id="{FF0324AD-D1EA-46F2-8839-2B28843DC307}"/>
              </a:ext>
            </a:extLst>
          </p:cNvPr>
          <p:cNvSpPr>
            <a:spLocks noChangeShapeType="1"/>
          </p:cNvSpPr>
          <p:nvPr/>
        </p:nvSpPr>
        <p:spPr bwMode="auto">
          <a:xfrm>
            <a:off x="5521858" y="237140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7" name="Rectangle 5">
            <a:extLst>
              <a:ext uri="{FF2B5EF4-FFF2-40B4-BE49-F238E27FC236}">
                <a16:creationId xmlns:a16="http://schemas.microsoft.com/office/drawing/2014/main" id="{910689C3-74A9-40C4-9469-A01FEA54B8CA}"/>
              </a:ext>
            </a:extLst>
          </p:cNvPr>
          <p:cNvSpPr>
            <a:spLocks noChangeArrowheads="1"/>
          </p:cNvSpPr>
          <p:nvPr/>
        </p:nvSpPr>
        <p:spPr bwMode="auto">
          <a:xfrm>
            <a:off x="4912258" y="4428805"/>
            <a:ext cx="2971800" cy="366767"/>
          </a:xfrm>
          <a:prstGeom prst="rect">
            <a:avLst/>
          </a:prstGeom>
          <a:solidFill>
            <a:srgbClr val="DEDFF5"/>
          </a:solidFill>
          <a:ln w="28575">
            <a:solidFill>
              <a:schemeClr val="tx1"/>
            </a:solidFill>
            <a:miter lim="800000"/>
            <a:headEnd/>
            <a:tailEnd/>
          </a:ln>
          <a:effectLst/>
        </p:spPr>
        <p:txBody>
          <a:bodyPr lIns="90487" tIns="44450" rIns="90487" bIns="44450">
            <a:prstTxWarp prst="textNoShape">
              <a:avLst/>
            </a:prstTxWarp>
            <a:spAutoFit/>
          </a:bodyPr>
          <a:lstStyle/>
          <a:p>
            <a:pPr algn="ctr"/>
            <a:r>
              <a:rPr lang="en-US" sz="1800">
                <a:latin typeface="Calibri"/>
                <a:cs typeface="Calibri"/>
              </a:rPr>
              <a:t>Linker (ld)</a:t>
            </a:r>
          </a:p>
        </p:txBody>
      </p:sp>
      <p:sp>
        <p:nvSpPr>
          <p:cNvPr id="8" name="Rectangle 6">
            <a:extLst>
              <a:ext uri="{FF2B5EF4-FFF2-40B4-BE49-F238E27FC236}">
                <a16:creationId xmlns:a16="http://schemas.microsoft.com/office/drawing/2014/main" id="{E247324F-DEAC-4844-B55A-9F49EF436642}"/>
              </a:ext>
            </a:extLst>
          </p:cNvPr>
          <p:cNvSpPr>
            <a:spLocks noChangeArrowheads="1"/>
          </p:cNvSpPr>
          <p:nvPr/>
        </p:nvSpPr>
        <p:spPr bwMode="auto">
          <a:xfrm>
            <a:off x="4683658" y="2741292"/>
            <a:ext cx="1752600" cy="666750"/>
          </a:xfrm>
          <a:prstGeom prst="rect">
            <a:avLst/>
          </a:prstGeom>
          <a:solidFill>
            <a:srgbClr val="DEDFF5"/>
          </a:solidFill>
          <a:ln w="28575">
            <a:solidFill>
              <a:schemeClr val="tx1"/>
            </a:solidFill>
            <a:miter lim="800000"/>
            <a:headEnd/>
            <a:tailEnd/>
          </a:ln>
          <a:effectLst/>
        </p:spPr>
        <p:txBody>
          <a:bodyPr lIns="90487" tIns="44450" rIns="90487" bIns="44450">
            <a:prstTxWarp prst="textNoShape">
              <a:avLst/>
            </a:prstTxWarp>
            <a:spAutoFit/>
          </a:bodyPr>
          <a:lstStyle/>
          <a:p>
            <a:pPr algn="ctr"/>
            <a:r>
              <a:rPr lang="en-US" sz="1800" dirty="0">
                <a:latin typeface="Calibri"/>
                <a:cs typeface="Calibri"/>
              </a:rPr>
              <a:t>Translators</a:t>
            </a:r>
          </a:p>
          <a:p>
            <a:pPr algn="ctr"/>
            <a:r>
              <a:rPr lang="en-US" sz="1800" dirty="0">
                <a:latin typeface="Calibri"/>
                <a:cs typeface="Calibri"/>
              </a:rPr>
              <a:t>(</a:t>
            </a:r>
            <a:r>
              <a:rPr lang="en-US" sz="1800" dirty="0" err="1">
                <a:latin typeface="Calibri"/>
                <a:cs typeface="Calibri"/>
              </a:rPr>
              <a:t>cpp</a:t>
            </a:r>
            <a:r>
              <a:rPr lang="en-US" sz="1800" dirty="0">
                <a:latin typeface="Calibri"/>
                <a:cs typeface="Calibri"/>
              </a:rPr>
              <a:t>, cc1, as)</a:t>
            </a:r>
          </a:p>
        </p:txBody>
      </p:sp>
      <p:sp>
        <p:nvSpPr>
          <p:cNvPr id="9" name="Text Box 7">
            <a:extLst>
              <a:ext uri="{FF2B5EF4-FFF2-40B4-BE49-F238E27FC236}">
                <a16:creationId xmlns:a16="http://schemas.microsoft.com/office/drawing/2014/main" id="{5E13199D-787E-44B3-8B73-EE425E79ABA1}"/>
              </a:ext>
            </a:extLst>
          </p:cNvPr>
          <p:cNvSpPr txBox="1">
            <a:spLocks noChangeArrowheads="1"/>
          </p:cNvSpPr>
          <p:nvPr/>
        </p:nvSpPr>
        <p:spPr bwMode="auto">
          <a:xfrm>
            <a:off x="4988458" y="1998342"/>
            <a:ext cx="1015798" cy="369332"/>
          </a:xfrm>
          <a:prstGeom prst="rect">
            <a:avLst/>
          </a:prstGeom>
          <a:noFill/>
          <a:ln w="25400">
            <a:noFill/>
            <a:miter lim="800000"/>
            <a:headEnd/>
            <a:tailEnd/>
          </a:ln>
          <a:effectLst/>
        </p:spPr>
        <p:txBody>
          <a:bodyPr wrap="none">
            <a:prstTxWarp prst="textNoShape">
              <a:avLst/>
            </a:prstTxWarp>
            <a:spAutoFit/>
          </a:bodyPr>
          <a:lstStyle/>
          <a:p>
            <a:r>
              <a:rPr lang="en-US" sz="1800" dirty="0" err="1">
                <a:latin typeface="Courier New"/>
                <a:cs typeface="Courier New"/>
              </a:rPr>
              <a:t>main.c</a:t>
            </a:r>
            <a:endParaRPr lang="en-US" sz="1800" dirty="0">
              <a:latin typeface="Courier New"/>
              <a:cs typeface="Courier New"/>
            </a:endParaRPr>
          </a:p>
        </p:txBody>
      </p:sp>
      <p:sp>
        <p:nvSpPr>
          <p:cNvPr id="10" name="Text Box 8">
            <a:extLst>
              <a:ext uri="{FF2B5EF4-FFF2-40B4-BE49-F238E27FC236}">
                <a16:creationId xmlns:a16="http://schemas.microsoft.com/office/drawing/2014/main" id="{9C2FA0E1-7C07-42B1-B46C-861D73AF9B78}"/>
              </a:ext>
            </a:extLst>
          </p:cNvPr>
          <p:cNvSpPr txBox="1">
            <a:spLocks noChangeArrowheads="1"/>
          </p:cNvSpPr>
          <p:nvPr/>
        </p:nvSpPr>
        <p:spPr bwMode="auto">
          <a:xfrm>
            <a:off x="5123396" y="3674742"/>
            <a:ext cx="1015798" cy="369332"/>
          </a:xfrm>
          <a:prstGeom prst="rect">
            <a:avLst/>
          </a:prstGeom>
          <a:noFill/>
          <a:ln w="25400">
            <a:noFill/>
            <a:miter lim="800000"/>
            <a:headEnd/>
            <a:tailEnd/>
          </a:ln>
          <a:effectLst/>
        </p:spPr>
        <p:txBody>
          <a:bodyPr wrap="none">
            <a:prstTxWarp prst="textNoShape">
              <a:avLst/>
            </a:prstTxWarp>
            <a:spAutoFit/>
          </a:bodyPr>
          <a:lstStyle/>
          <a:p>
            <a:r>
              <a:rPr lang="en-US" sz="1800">
                <a:latin typeface="Courier New"/>
                <a:cs typeface="Courier New"/>
              </a:rPr>
              <a:t>main.o</a:t>
            </a:r>
          </a:p>
        </p:txBody>
      </p:sp>
      <p:sp>
        <p:nvSpPr>
          <p:cNvPr id="11" name="Rectangle 9">
            <a:extLst>
              <a:ext uri="{FF2B5EF4-FFF2-40B4-BE49-F238E27FC236}">
                <a16:creationId xmlns:a16="http://schemas.microsoft.com/office/drawing/2014/main" id="{142B2D48-D961-4EE9-8BDA-B08D0B2D045C}"/>
              </a:ext>
            </a:extLst>
          </p:cNvPr>
          <p:cNvSpPr>
            <a:spLocks noChangeArrowheads="1"/>
          </p:cNvSpPr>
          <p:nvPr/>
        </p:nvSpPr>
        <p:spPr bwMode="auto">
          <a:xfrm>
            <a:off x="6588658" y="2741292"/>
            <a:ext cx="1797050" cy="666750"/>
          </a:xfrm>
          <a:prstGeom prst="rect">
            <a:avLst/>
          </a:prstGeom>
          <a:solidFill>
            <a:srgbClr val="DEDFF5"/>
          </a:solidFill>
          <a:ln w="28575">
            <a:solidFill>
              <a:schemeClr val="tx1"/>
            </a:solidFill>
            <a:miter lim="800000"/>
            <a:headEnd/>
            <a:tailEnd/>
          </a:ln>
          <a:effectLst/>
        </p:spPr>
        <p:txBody>
          <a:bodyPr lIns="90487" tIns="44450" rIns="90487" bIns="44450">
            <a:prstTxWarp prst="textNoShape">
              <a:avLst/>
            </a:prstTxWarp>
            <a:spAutoFit/>
          </a:bodyPr>
          <a:lstStyle/>
          <a:p>
            <a:pPr algn="ctr"/>
            <a:r>
              <a:rPr lang="en-US" sz="1800" dirty="0">
                <a:latin typeface="Calibri"/>
                <a:cs typeface="Calibri"/>
              </a:rPr>
              <a:t>Translators</a:t>
            </a:r>
          </a:p>
          <a:p>
            <a:pPr algn="ctr"/>
            <a:r>
              <a:rPr lang="en-US" sz="1800" dirty="0">
                <a:latin typeface="Calibri"/>
                <a:cs typeface="Calibri"/>
              </a:rPr>
              <a:t>(</a:t>
            </a:r>
            <a:r>
              <a:rPr lang="en-US" sz="1800" dirty="0" err="1">
                <a:latin typeface="Calibri"/>
                <a:cs typeface="Calibri"/>
              </a:rPr>
              <a:t>cpp</a:t>
            </a:r>
            <a:r>
              <a:rPr lang="en-US" sz="1800" dirty="0">
                <a:latin typeface="Calibri"/>
                <a:cs typeface="Calibri"/>
              </a:rPr>
              <a:t>, cc1, as)</a:t>
            </a:r>
          </a:p>
        </p:txBody>
      </p:sp>
      <p:sp>
        <p:nvSpPr>
          <p:cNvPr id="12" name="Text Box 10">
            <a:extLst>
              <a:ext uri="{FF2B5EF4-FFF2-40B4-BE49-F238E27FC236}">
                <a16:creationId xmlns:a16="http://schemas.microsoft.com/office/drawing/2014/main" id="{D5C1EDA6-711A-492C-AEC4-8F59696461CE}"/>
              </a:ext>
            </a:extLst>
          </p:cNvPr>
          <p:cNvSpPr txBox="1">
            <a:spLocks noChangeArrowheads="1"/>
          </p:cNvSpPr>
          <p:nvPr/>
        </p:nvSpPr>
        <p:spPr bwMode="auto">
          <a:xfrm>
            <a:off x="7045858" y="1998342"/>
            <a:ext cx="877276" cy="369332"/>
          </a:xfrm>
          <a:prstGeom prst="rect">
            <a:avLst/>
          </a:prstGeom>
          <a:noFill/>
          <a:ln w="25400">
            <a:noFill/>
            <a:miter lim="800000"/>
            <a:headEnd/>
            <a:tailEnd/>
          </a:ln>
          <a:effectLst/>
        </p:spPr>
        <p:txBody>
          <a:bodyPr wrap="none">
            <a:prstTxWarp prst="textNoShape">
              <a:avLst/>
            </a:prstTxWarp>
            <a:spAutoFit/>
          </a:bodyPr>
          <a:lstStyle/>
          <a:p>
            <a:r>
              <a:rPr lang="en-US" sz="1800" dirty="0" err="1">
                <a:latin typeface="Courier New"/>
                <a:cs typeface="Courier New"/>
              </a:rPr>
              <a:t>sum.c</a:t>
            </a:r>
            <a:endParaRPr lang="en-US" sz="1800" dirty="0">
              <a:latin typeface="Courier New"/>
              <a:cs typeface="Courier New"/>
            </a:endParaRPr>
          </a:p>
        </p:txBody>
      </p:sp>
      <p:sp>
        <p:nvSpPr>
          <p:cNvPr id="13" name="Text Box 11">
            <a:extLst>
              <a:ext uri="{FF2B5EF4-FFF2-40B4-BE49-F238E27FC236}">
                <a16:creationId xmlns:a16="http://schemas.microsoft.com/office/drawing/2014/main" id="{085ED4F2-1A31-4EBD-934D-AD09B64C52AA}"/>
              </a:ext>
            </a:extLst>
          </p:cNvPr>
          <p:cNvSpPr txBox="1">
            <a:spLocks noChangeArrowheads="1"/>
          </p:cNvSpPr>
          <p:nvPr/>
        </p:nvSpPr>
        <p:spPr bwMode="auto">
          <a:xfrm>
            <a:off x="7123158" y="3674742"/>
            <a:ext cx="877276" cy="369332"/>
          </a:xfrm>
          <a:prstGeom prst="rect">
            <a:avLst/>
          </a:prstGeom>
          <a:noFill/>
          <a:ln w="25400">
            <a:noFill/>
            <a:miter lim="800000"/>
            <a:headEnd/>
            <a:tailEnd/>
          </a:ln>
          <a:effectLst/>
        </p:spPr>
        <p:txBody>
          <a:bodyPr wrap="none">
            <a:prstTxWarp prst="textNoShape">
              <a:avLst/>
            </a:prstTxWarp>
            <a:spAutoFit/>
          </a:bodyPr>
          <a:lstStyle/>
          <a:p>
            <a:pPr algn="ctr"/>
            <a:r>
              <a:rPr lang="en-US" sz="1800" dirty="0" err="1">
                <a:latin typeface="Courier New"/>
                <a:cs typeface="Courier New"/>
              </a:rPr>
              <a:t>sum.o</a:t>
            </a:r>
            <a:endParaRPr lang="en-US" sz="1800" dirty="0">
              <a:latin typeface="Courier New"/>
              <a:cs typeface="Courier New"/>
            </a:endParaRPr>
          </a:p>
        </p:txBody>
      </p:sp>
      <p:sp>
        <p:nvSpPr>
          <p:cNvPr id="14" name="Text Box 12">
            <a:extLst>
              <a:ext uri="{FF2B5EF4-FFF2-40B4-BE49-F238E27FC236}">
                <a16:creationId xmlns:a16="http://schemas.microsoft.com/office/drawing/2014/main" id="{B7D6B55F-A85F-4728-8330-DDD0FC603F28}"/>
              </a:ext>
            </a:extLst>
          </p:cNvPr>
          <p:cNvSpPr txBox="1">
            <a:spLocks noChangeArrowheads="1"/>
          </p:cNvSpPr>
          <p:nvPr/>
        </p:nvSpPr>
        <p:spPr bwMode="auto">
          <a:xfrm>
            <a:off x="6055258" y="5120955"/>
            <a:ext cx="738754" cy="369332"/>
          </a:xfrm>
          <a:prstGeom prst="rect">
            <a:avLst/>
          </a:prstGeom>
          <a:noFill/>
          <a:ln w="25400">
            <a:noFill/>
            <a:miter lim="800000"/>
            <a:headEnd/>
            <a:tailEnd/>
          </a:ln>
          <a:effectLst/>
        </p:spPr>
        <p:txBody>
          <a:bodyPr wrap="none">
            <a:prstTxWarp prst="textNoShape">
              <a:avLst/>
            </a:prstTxWarp>
            <a:spAutoFit/>
          </a:bodyPr>
          <a:lstStyle/>
          <a:p>
            <a:r>
              <a:rPr lang="en-US" sz="1800" dirty="0" err="1">
                <a:latin typeface="Courier New"/>
                <a:cs typeface="Courier New"/>
              </a:rPr>
              <a:t>prog</a:t>
            </a:r>
            <a:endParaRPr lang="en-US" sz="1800" dirty="0">
              <a:latin typeface="Courier New"/>
              <a:cs typeface="Courier New"/>
            </a:endParaRPr>
          </a:p>
        </p:txBody>
      </p:sp>
      <p:sp>
        <p:nvSpPr>
          <p:cNvPr id="15" name="Line 13">
            <a:extLst>
              <a:ext uri="{FF2B5EF4-FFF2-40B4-BE49-F238E27FC236}">
                <a16:creationId xmlns:a16="http://schemas.microsoft.com/office/drawing/2014/main" id="{2B2BA1DC-FBAA-4C33-B26B-A3C10C7F8890}"/>
              </a:ext>
            </a:extLst>
          </p:cNvPr>
          <p:cNvSpPr>
            <a:spLocks noChangeShapeType="1"/>
          </p:cNvSpPr>
          <p:nvPr/>
        </p:nvSpPr>
        <p:spPr bwMode="auto">
          <a:xfrm>
            <a:off x="7514171" y="237140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16" name="Line 14">
            <a:extLst>
              <a:ext uri="{FF2B5EF4-FFF2-40B4-BE49-F238E27FC236}">
                <a16:creationId xmlns:a16="http://schemas.microsoft.com/office/drawing/2014/main" id="{E58879FF-DE31-40C2-A492-8E9EC780A126}"/>
              </a:ext>
            </a:extLst>
          </p:cNvPr>
          <p:cNvSpPr>
            <a:spLocks noChangeShapeType="1"/>
          </p:cNvSpPr>
          <p:nvPr/>
        </p:nvSpPr>
        <p:spPr bwMode="auto">
          <a:xfrm>
            <a:off x="5521858" y="343820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17" name="Line 15">
            <a:extLst>
              <a:ext uri="{FF2B5EF4-FFF2-40B4-BE49-F238E27FC236}">
                <a16:creationId xmlns:a16="http://schemas.microsoft.com/office/drawing/2014/main" id="{9509FF3B-1414-4993-A2D1-96A035C73A65}"/>
              </a:ext>
            </a:extLst>
          </p:cNvPr>
          <p:cNvSpPr>
            <a:spLocks noChangeShapeType="1"/>
          </p:cNvSpPr>
          <p:nvPr/>
        </p:nvSpPr>
        <p:spPr bwMode="auto">
          <a:xfrm>
            <a:off x="7514171" y="343820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18" name="Line 16">
            <a:extLst>
              <a:ext uri="{FF2B5EF4-FFF2-40B4-BE49-F238E27FC236}">
                <a16:creationId xmlns:a16="http://schemas.microsoft.com/office/drawing/2014/main" id="{56627E3C-C235-42A9-B15B-759A2B47ED6C}"/>
              </a:ext>
            </a:extLst>
          </p:cNvPr>
          <p:cNvSpPr>
            <a:spLocks noChangeShapeType="1"/>
          </p:cNvSpPr>
          <p:nvPr/>
        </p:nvSpPr>
        <p:spPr bwMode="auto">
          <a:xfrm>
            <a:off x="7514171" y="404780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19" name="Line 17">
            <a:extLst>
              <a:ext uri="{FF2B5EF4-FFF2-40B4-BE49-F238E27FC236}">
                <a16:creationId xmlns:a16="http://schemas.microsoft.com/office/drawing/2014/main" id="{AD4FE728-D96A-4ED1-8C00-6078918B3064}"/>
              </a:ext>
            </a:extLst>
          </p:cNvPr>
          <p:cNvSpPr>
            <a:spLocks noChangeShapeType="1"/>
          </p:cNvSpPr>
          <p:nvPr/>
        </p:nvSpPr>
        <p:spPr bwMode="auto">
          <a:xfrm>
            <a:off x="6414033" y="4820917"/>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0" name="Line 18">
            <a:extLst>
              <a:ext uri="{FF2B5EF4-FFF2-40B4-BE49-F238E27FC236}">
                <a16:creationId xmlns:a16="http://schemas.microsoft.com/office/drawing/2014/main" id="{2FAC83D8-A9DE-442D-8FC7-2BD1D38E245E}"/>
              </a:ext>
            </a:extLst>
          </p:cNvPr>
          <p:cNvSpPr>
            <a:spLocks noChangeShapeType="1"/>
          </p:cNvSpPr>
          <p:nvPr/>
        </p:nvSpPr>
        <p:spPr bwMode="auto">
          <a:xfrm>
            <a:off x="5521858" y="4047805"/>
            <a:ext cx="0" cy="381000"/>
          </a:xfrm>
          <a:prstGeom prst="line">
            <a:avLst/>
          </a:prstGeom>
          <a:noFill/>
          <a:ln w="28575">
            <a:solidFill>
              <a:schemeClr val="tx1"/>
            </a:solidFill>
            <a:round/>
            <a:headEnd/>
            <a:tailEnd type="triangle" w="med" len="med"/>
          </a:ln>
          <a:effectLst/>
        </p:spPr>
        <p:txBody>
          <a:bodyPr lIns="90487" tIns="44450" rIns="90487" bIns="44450">
            <a:prstTxWarp prst="textNoShape">
              <a:avLst/>
            </a:prstTxWarp>
            <a:spAutoFit/>
          </a:bodyPr>
          <a:lstStyle/>
          <a:p>
            <a:endParaRPr lang="en-US" sz="1800"/>
          </a:p>
        </p:txBody>
      </p:sp>
      <p:sp>
        <p:nvSpPr>
          <p:cNvPr id="21" name="Text Box 19">
            <a:extLst>
              <a:ext uri="{FF2B5EF4-FFF2-40B4-BE49-F238E27FC236}">
                <a16:creationId xmlns:a16="http://schemas.microsoft.com/office/drawing/2014/main" id="{DD2710A6-2E5B-4E3E-A93B-7C621A6B69BB}"/>
              </a:ext>
            </a:extLst>
          </p:cNvPr>
          <p:cNvSpPr txBox="1">
            <a:spLocks noChangeArrowheads="1"/>
          </p:cNvSpPr>
          <p:nvPr/>
        </p:nvSpPr>
        <p:spPr bwMode="auto">
          <a:xfrm>
            <a:off x="7936359" y="1987229"/>
            <a:ext cx="877163" cy="369332"/>
          </a:xfrm>
          <a:prstGeom prst="rect">
            <a:avLst/>
          </a:prstGeom>
          <a:noFill/>
          <a:ln w="25400">
            <a:noFill/>
            <a:miter lim="800000"/>
            <a:headEnd/>
            <a:tailEnd/>
          </a:ln>
          <a:effectLst/>
        </p:spPr>
        <p:txBody>
          <a:bodyPr wrap="none">
            <a:prstTxWarp prst="textNoShape">
              <a:avLst/>
            </a:prstTxWarp>
            <a:spAutoFit/>
          </a:bodyPr>
          <a:lstStyle/>
          <a:p>
            <a:r>
              <a:rPr lang="zh-CN" altLang="en-US" sz="1800" dirty="0">
                <a:solidFill>
                  <a:srgbClr val="C00000"/>
                </a:solidFill>
                <a:latin typeface="Calibri"/>
                <a:cs typeface="Calibri"/>
              </a:rPr>
              <a:t>源文件</a:t>
            </a:r>
            <a:endParaRPr lang="en-US" sz="1800" dirty="0">
              <a:solidFill>
                <a:srgbClr val="C00000"/>
              </a:solidFill>
              <a:latin typeface="Calibri"/>
              <a:cs typeface="Calibri"/>
            </a:endParaRPr>
          </a:p>
        </p:txBody>
      </p:sp>
      <p:sp>
        <p:nvSpPr>
          <p:cNvPr id="22" name="Text Box 20">
            <a:extLst>
              <a:ext uri="{FF2B5EF4-FFF2-40B4-BE49-F238E27FC236}">
                <a16:creationId xmlns:a16="http://schemas.microsoft.com/office/drawing/2014/main" id="{DEB57FCA-F189-4961-B5E9-648786947DBB}"/>
              </a:ext>
            </a:extLst>
          </p:cNvPr>
          <p:cNvSpPr txBox="1">
            <a:spLocks noChangeArrowheads="1"/>
          </p:cNvSpPr>
          <p:nvPr/>
        </p:nvSpPr>
        <p:spPr bwMode="auto">
          <a:xfrm>
            <a:off x="8036004" y="3536242"/>
            <a:ext cx="1107996" cy="646331"/>
          </a:xfrm>
          <a:prstGeom prst="rect">
            <a:avLst/>
          </a:prstGeom>
          <a:noFill/>
          <a:ln w="25400">
            <a:noFill/>
            <a:miter lim="800000"/>
            <a:headEnd/>
            <a:tailEnd/>
          </a:ln>
          <a:effectLst/>
        </p:spPr>
        <p:txBody>
          <a:bodyPr wrap="none">
            <a:prstTxWarp prst="textNoShape">
              <a:avLst/>
            </a:prstTxWarp>
            <a:spAutoFit/>
          </a:bodyPr>
          <a:lstStyle/>
          <a:p>
            <a:r>
              <a:rPr lang="zh-CN" altLang="en-US" sz="1800" dirty="0">
                <a:solidFill>
                  <a:srgbClr val="C00000"/>
                </a:solidFill>
                <a:latin typeface="Calibri"/>
                <a:cs typeface="Calibri"/>
              </a:rPr>
              <a:t>可重定位</a:t>
            </a:r>
            <a:endParaRPr lang="en-US" altLang="zh-CN" sz="1800" dirty="0">
              <a:solidFill>
                <a:srgbClr val="C00000"/>
              </a:solidFill>
              <a:latin typeface="Calibri"/>
              <a:cs typeface="Calibri"/>
            </a:endParaRPr>
          </a:p>
          <a:p>
            <a:r>
              <a:rPr lang="zh-CN" altLang="en-US" sz="1800" dirty="0">
                <a:solidFill>
                  <a:srgbClr val="C00000"/>
                </a:solidFill>
                <a:latin typeface="Calibri"/>
                <a:cs typeface="Calibri"/>
              </a:rPr>
              <a:t>目标文件</a:t>
            </a:r>
            <a:endParaRPr lang="en-US" sz="1800" dirty="0">
              <a:solidFill>
                <a:srgbClr val="C00000"/>
              </a:solidFill>
              <a:latin typeface="Calibri"/>
              <a:cs typeface="Calibri"/>
            </a:endParaRPr>
          </a:p>
        </p:txBody>
      </p:sp>
      <p:sp>
        <p:nvSpPr>
          <p:cNvPr id="23" name="Text Box 21">
            <a:extLst>
              <a:ext uri="{FF2B5EF4-FFF2-40B4-BE49-F238E27FC236}">
                <a16:creationId xmlns:a16="http://schemas.microsoft.com/office/drawing/2014/main" id="{59176E07-4685-4242-A430-3585CE467201}"/>
              </a:ext>
            </a:extLst>
          </p:cNvPr>
          <p:cNvSpPr txBox="1">
            <a:spLocks noChangeArrowheads="1"/>
          </p:cNvSpPr>
          <p:nvPr/>
        </p:nvSpPr>
        <p:spPr bwMode="auto">
          <a:xfrm>
            <a:off x="7343507" y="4941056"/>
            <a:ext cx="1800493" cy="646331"/>
          </a:xfrm>
          <a:prstGeom prst="rect">
            <a:avLst/>
          </a:prstGeom>
          <a:noFill/>
          <a:ln w="25400">
            <a:noFill/>
            <a:miter lim="800000"/>
            <a:headEnd/>
            <a:tailEnd/>
          </a:ln>
          <a:effectLst/>
        </p:spPr>
        <p:txBody>
          <a:bodyPr wrap="none">
            <a:prstTxWarp prst="textNoShape">
              <a:avLst/>
            </a:prstTxWarp>
            <a:spAutoFit/>
          </a:bodyPr>
          <a:lstStyle/>
          <a:p>
            <a:pPr algn="ctr"/>
            <a:r>
              <a:rPr lang="zh-CN" altLang="en-US" sz="1800" dirty="0">
                <a:solidFill>
                  <a:srgbClr val="C00000"/>
                </a:solidFill>
                <a:latin typeface="Calibri"/>
                <a:cs typeface="Calibri"/>
              </a:rPr>
              <a:t>完全链接的</a:t>
            </a:r>
            <a:endParaRPr lang="en-US" altLang="zh-CN" sz="1800" dirty="0">
              <a:solidFill>
                <a:srgbClr val="C00000"/>
              </a:solidFill>
              <a:latin typeface="Calibri"/>
              <a:cs typeface="Calibri"/>
            </a:endParaRPr>
          </a:p>
          <a:p>
            <a:pPr algn="ctr"/>
            <a:r>
              <a:rPr lang="zh-CN" altLang="en-US" sz="1800" dirty="0">
                <a:solidFill>
                  <a:srgbClr val="C00000"/>
                </a:solidFill>
                <a:latin typeface="Calibri"/>
                <a:cs typeface="Calibri"/>
              </a:rPr>
              <a:t>可执行目标文件</a:t>
            </a:r>
            <a:endParaRPr lang="en-US" sz="1800" dirty="0">
              <a:solidFill>
                <a:srgbClr val="C00000"/>
              </a:solidFill>
              <a:latin typeface="Calibri"/>
              <a:cs typeface="Calibri"/>
            </a:endParaRPr>
          </a:p>
        </p:txBody>
      </p:sp>
      <p:sp>
        <p:nvSpPr>
          <p:cNvPr id="24" name="矩形 23">
            <a:extLst>
              <a:ext uri="{FF2B5EF4-FFF2-40B4-BE49-F238E27FC236}">
                <a16:creationId xmlns:a16="http://schemas.microsoft.com/office/drawing/2014/main" id="{69A7548A-66FD-4CC8-AD2B-B61FD6775B7B}"/>
              </a:ext>
            </a:extLst>
          </p:cNvPr>
          <p:cNvSpPr/>
          <p:nvPr/>
        </p:nvSpPr>
        <p:spPr>
          <a:xfrm>
            <a:off x="560053" y="1635891"/>
            <a:ext cx="6059383" cy="2646878"/>
          </a:xfrm>
          <a:prstGeom prst="rect">
            <a:avLst/>
          </a:prstGeom>
        </p:spPr>
        <p:txBody>
          <a:bodyPr wrap="square">
            <a:spAutoFit/>
          </a:bodyPr>
          <a:lstStyle/>
          <a:p>
            <a:pPr marL="0" lvl="1"/>
            <a:r>
              <a:rPr lang="en-US" altLang="zh-CN" dirty="0" err="1">
                <a:latin typeface="Courier New" charset="0"/>
              </a:rPr>
              <a:t>linux</a:t>
            </a:r>
            <a:r>
              <a:rPr lang="en-US" altLang="zh-CN" dirty="0">
                <a:latin typeface="Courier New" charset="0"/>
              </a:rPr>
              <a:t>&gt; </a:t>
            </a:r>
            <a:r>
              <a:rPr lang="en-US" altLang="zh-CN" i="1" dirty="0" err="1">
                <a:latin typeface="Courier New" charset="0"/>
              </a:rPr>
              <a:t>gcc</a:t>
            </a:r>
            <a:r>
              <a:rPr lang="en-US" altLang="zh-CN" i="1" dirty="0">
                <a:latin typeface="Courier New" charset="0"/>
              </a:rPr>
              <a:t> -</a:t>
            </a:r>
            <a:r>
              <a:rPr lang="en-US" altLang="zh-CN" i="1" dirty="0" err="1">
                <a:latin typeface="Courier New" charset="0"/>
              </a:rPr>
              <a:t>Og</a:t>
            </a:r>
            <a:r>
              <a:rPr lang="en-US" altLang="zh-CN" i="1" dirty="0">
                <a:latin typeface="Courier New" charset="0"/>
              </a:rPr>
              <a:t> -o prog </a:t>
            </a:r>
            <a:r>
              <a:rPr lang="en-US" altLang="zh-CN" i="1" dirty="0" err="1">
                <a:latin typeface="Courier New" charset="0"/>
              </a:rPr>
              <a:t>main.c</a:t>
            </a:r>
            <a:r>
              <a:rPr lang="en-US" altLang="zh-CN" i="1" dirty="0">
                <a:latin typeface="Courier New" charset="0"/>
              </a:rPr>
              <a:t> </a:t>
            </a:r>
            <a:r>
              <a:rPr lang="en-US" altLang="zh-CN" i="1" dirty="0" err="1">
                <a:latin typeface="Courier New" charset="0"/>
              </a:rPr>
              <a:t>sum.c</a:t>
            </a:r>
            <a:endParaRPr lang="en-US" altLang="zh-CN" i="1" dirty="0">
              <a:latin typeface="Courier New" charset="0"/>
            </a:endParaRPr>
          </a:p>
          <a:p>
            <a:pPr marL="285750" lvl="2" indent="-285750">
              <a:buFont typeface="Arial" panose="020B0604020202020204" pitchFamily="34" charset="0"/>
              <a:buChar char="•"/>
            </a:pPr>
            <a:r>
              <a:rPr lang="zh-CN" altLang="en-US" sz="1600" dirty="0">
                <a:latin typeface="Times New Roman" panose="02020603050405020304" pitchFamily="18" charset="0"/>
                <a:cs typeface="Times New Roman" panose="02020603050405020304" pitchFamily="18" charset="0"/>
              </a:rPr>
              <a:t>在</a:t>
            </a:r>
            <a:r>
              <a:rPr lang="en-US" altLang="zh-CN" sz="1600" dirty="0">
                <a:latin typeface="Times New Roman" panose="02020603050405020304" pitchFamily="18" charset="0"/>
                <a:cs typeface="Times New Roman" panose="02020603050405020304" pitchFamily="18" charset="0"/>
              </a:rPr>
              <a:t>shell</a:t>
            </a:r>
            <a:r>
              <a:rPr lang="zh-CN" altLang="en-US" sz="1600" dirty="0">
                <a:latin typeface="Times New Roman" panose="02020603050405020304" pitchFamily="18" charset="0"/>
                <a:cs typeface="Times New Roman" panose="02020603050405020304" pitchFamily="18" charset="0"/>
              </a:rPr>
              <a:t>中调用</a:t>
            </a:r>
            <a:r>
              <a:rPr lang="en-US" altLang="zh-CN" sz="1600" dirty="0" err="1">
                <a:latin typeface="Times New Roman" panose="02020603050405020304" pitchFamily="18" charset="0"/>
                <a:cs typeface="Times New Roman" panose="02020603050405020304" pitchFamily="18" charset="0"/>
              </a:rPr>
              <a:t>gcc</a:t>
            </a:r>
            <a:r>
              <a:rPr lang="zh-CN" altLang="en-US" sz="1600" dirty="0">
                <a:latin typeface="Times New Roman" panose="02020603050405020304" pitchFamily="18" charset="0"/>
                <a:cs typeface="Times New Roman" panose="02020603050405020304" pitchFamily="18" charset="0"/>
              </a:rPr>
              <a:t>驱动程序：</a:t>
            </a:r>
            <a:endParaRPr lang="en-US" altLang="zh-CN" sz="1600" dirty="0">
              <a:latin typeface="Times New Roman" panose="02020603050405020304" pitchFamily="18" charset="0"/>
              <a:cs typeface="Times New Roman" panose="02020603050405020304" pitchFamily="18" charset="0"/>
            </a:endParaRPr>
          </a:p>
          <a:p>
            <a:pPr marL="628650" lvl="4" indent="-171450">
              <a:buFont typeface="Arial" panose="020B0604020202020204" pitchFamily="34" charset="0"/>
              <a:buChar char="•"/>
            </a:pPr>
            <a:r>
              <a:rPr lang="zh-CN" altLang="en-US" sz="1400" dirty="0">
                <a:latin typeface="Times New Roman" panose="02020603050405020304" pitchFamily="18" charset="0"/>
                <a:cs typeface="Times New Roman" panose="02020603050405020304" pitchFamily="18" charset="0"/>
              </a:rPr>
              <a:t>将源程序翻译成</a:t>
            </a:r>
            <a:r>
              <a:rPr lang="en-US" altLang="zh-CN" sz="1400" dirty="0">
                <a:latin typeface="Times New Roman" panose="02020603050405020304" pitchFamily="18" charset="0"/>
                <a:cs typeface="Times New Roman" panose="02020603050405020304" pitchFamily="18" charset="0"/>
              </a:rPr>
              <a:t>ASCII</a:t>
            </a:r>
            <a:r>
              <a:rPr lang="zh-CN" altLang="en-US" sz="1400" dirty="0">
                <a:latin typeface="Times New Roman" panose="02020603050405020304" pitchFamily="18" charset="0"/>
                <a:cs typeface="Times New Roman" panose="02020603050405020304" pitchFamily="18" charset="0"/>
              </a:rPr>
              <a:t>码中间文件</a:t>
            </a:r>
            <a:br>
              <a:rPr lang="en-US" altLang="zh-CN" sz="1400" dirty="0">
                <a:latin typeface="Times New Roman" panose="02020603050405020304" pitchFamily="18" charset="0"/>
                <a:cs typeface="Times New Roman" panose="02020603050405020304" pitchFamily="18" charset="0"/>
              </a:rPr>
            </a:br>
            <a:r>
              <a:rPr lang="en-US" altLang="zh-CN" sz="1400" dirty="0" err="1">
                <a:latin typeface="Times New Roman" panose="02020603050405020304" pitchFamily="18" charset="0"/>
                <a:cs typeface="Times New Roman" panose="02020603050405020304" pitchFamily="18" charset="0"/>
              </a:rPr>
              <a:t>cpp</a:t>
            </a:r>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main.c</a:t>
            </a:r>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tmp</a:t>
            </a:r>
            <a:r>
              <a:rPr lang="en-US" altLang="zh-CN" sz="1400" dirty="0">
                <a:latin typeface="Times New Roman" panose="02020603050405020304" pitchFamily="18" charset="0"/>
                <a:cs typeface="Times New Roman" panose="02020603050405020304" pitchFamily="18" charset="0"/>
              </a:rPr>
              <a:t>/</a:t>
            </a:r>
            <a:r>
              <a:rPr lang="en-US" altLang="zh-CN" sz="1400" dirty="0" err="1">
                <a:latin typeface="Times New Roman" panose="02020603050405020304" pitchFamily="18" charset="0"/>
                <a:cs typeface="Times New Roman" panose="02020603050405020304" pitchFamily="18" charset="0"/>
              </a:rPr>
              <a:t>main.i</a:t>
            </a:r>
            <a:endParaRPr lang="en-US" altLang="zh-CN" sz="1400" dirty="0">
              <a:latin typeface="Times New Roman" panose="02020603050405020304" pitchFamily="18" charset="0"/>
              <a:cs typeface="Times New Roman" panose="02020603050405020304" pitchFamily="18" charset="0"/>
            </a:endParaRPr>
          </a:p>
          <a:p>
            <a:pPr marL="628650" lvl="4" indent="-171450">
              <a:buFont typeface="Arial" panose="020B0604020202020204" pitchFamily="34" charset="0"/>
              <a:buChar char="•"/>
            </a:pPr>
            <a:r>
              <a:rPr lang="zh-CN" altLang="en-US" sz="1200" dirty="0">
                <a:latin typeface="Times New Roman" panose="02020603050405020304" pitchFamily="18" charset="0"/>
                <a:cs typeface="Times New Roman" panose="02020603050405020304" pitchFamily="18" charset="0"/>
              </a:rPr>
              <a:t>运行</a:t>
            </a:r>
            <a:r>
              <a:rPr lang="en-US" altLang="zh-CN" sz="1200" dirty="0">
                <a:latin typeface="Times New Roman" panose="02020603050405020304" pitchFamily="18" charset="0"/>
                <a:cs typeface="Times New Roman" panose="02020603050405020304" pitchFamily="18" charset="0"/>
              </a:rPr>
              <a:t>C</a:t>
            </a:r>
            <a:r>
              <a:rPr lang="zh-CN" altLang="en-US" sz="1200" dirty="0">
                <a:latin typeface="Times New Roman" panose="02020603050405020304" pitchFamily="18" charset="0"/>
                <a:cs typeface="Times New Roman" panose="02020603050405020304" pitchFamily="18" charset="0"/>
              </a:rPr>
              <a:t>编译器，将</a:t>
            </a:r>
            <a:r>
              <a:rPr lang="en-US" altLang="zh-CN" sz="1200" dirty="0" err="1">
                <a:latin typeface="Times New Roman" panose="02020603050405020304" pitchFamily="18" charset="0"/>
                <a:cs typeface="Times New Roman" panose="02020603050405020304" pitchFamily="18" charset="0"/>
              </a:rPr>
              <a:t>main.i</a:t>
            </a:r>
            <a:r>
              <a:rPr lang="zh-CN" altLang="en-US" sz="1200" dirty="0">
                <a:latin typeface="Times New Roman" panose="02020603050405020304" pitchFamily="18" charset="0"/>
                <a:cs typeface="Times New Roman" panose="02020603050405020304" pitchFamily="18" charset="0"/>
              </a:rPr>
              <a:t>翻译成</a:t>
            </a:r>
            <a:r>
              <a:rPr lang="en-US" altLang="zh-CN" sz="1200" dirty="0">
                <a:latin typeface="Times New Roman" panose="02020603050405020304" pitchFamily="18" charset="0"/>
                <a:cs typeface="Times New Roman" panose="02020603050405020304" pitchFamily="18" charset="0"/>
              </a:rPr>
              <a:t>ASCII</a:t>
            </a:r>
            <a:r>
              <a:rPr lang="zh-CN" altLang="en-US" sz="1200" dirty="0">
                <a:latin typeface="Times New Roman" panose="02020603050405020304" pitchFamily="18" charset="0"/>
                <a:cs typeface="Times New Roman" panose="02020603050405020304" pitchFamily="18" charset="0"/>
              </a:rPr>
              <a:t>汇编语言文件</a:t>
            </a:r>
            <a:br>
              <a:rPr lang="en-US" altLang="zh-CN" sz="1200" dirty="0">
                <a:latin typeface="Times New Roman" panose="02020603050405020304" pitchFamily="18" charset="0"/>
                <a:cs typeface="Times New Roman" panose="02020603050405020304" pitchFamily="18" charset="0"/>
              </a:rPr>
            </a:br>
            <a:r>
              <a:rPr lang="en-US" altLang="zh-CN" sz="1200" dirty="0">
                <a:latin typeface="Times New Roman" panose="02020603050405020304" pitchFamily="18" charset="0"/>
                <a:cs typeface="Times New Roman" panose="02020603050405020304" pitchFamily="18" charset="0"/>
              </a:rPr>
              <a:t>cc1 /</a:t>
            </a:r>
            <a:r>
              <a:rPr lang="en-US" altLang="zh-CN" sz="1200" dirty="0" err="1">
                <a:latin typeface="Times New Roman" panose="02020603050405020304" pitchFamily="18" charset="0"/>
                <a:cs typeface="Times New Roman" panose="02020603050405020304" pitchFamily="18" charset="0"/>
              </a:rPr>
              <a:t>tmp</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main.i</a:t>
            </a:r>
            <a:r>
              <a:rPr lang="en-US" altLang="zh-CN" sz="1200" dirty="0">
                <a:latin typeface="Times New Roman" panose="02020603050405020304" pitchFamily="18" charset="0"/>
                <a:cs typeface="Times New Roman" panose="02020603050405020304" pitchFamily="18" charset="0"/>
              </a:rPr>
              <a:t> –</a:t>
            </a:r>
            <a:r>
              <a:rPr lang="en-US" altLang="zh-CN" sz="1200" dirty="0" err="1">
                <a:latin typeface="Times New Roman" panose="02020603050405020304" pitchFamily="18" charset="0"/>
                <a:cs typeface="Times New Roman" panose="02020603050405020304" pitchFamily="18" charset="0"/>
              </a:rPr>
              <a:t>Og</a:t>
            </a:r>
            <a:r>
              <a:rPr lang="en-US" altLang="zh-CN" sz="1200" dirty="0">
                <a:latin typeface="Times New Roman" panose="02020603050405020304" pitchFamily="18" charset="0"/>
                <a:cs typeface="Times New Roman" panose="02020603050405020304" pitchFamily="18" charset="0"/>
              </a:rPr>
              <a:t> –o /</a:t>
            </a:r>
            <a:r>
              <a:rPr lang="en-US" altLang="zh-CN" sz="1200" dirty="0" err="1">
                <a:latin typeface="Times New Roman" panose="02020603050405020304" pitchFamily="18" charset="0"/>
                <a:cs typeface="Times New Roman" panose="02020603050405020304" pitchFamily="18" charset="0"/>
              </a:rPr>
              <a:t>tmp</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main.s</a:t>
            </a:r>
            <a:endParaRPr lang="en-US" altLang="zh-CN" sz="1200" dirty="0">
              <a:latin typeface="Times New Roman" panose="02020603050405020304" pitchFamily="18" charset="0"/>
              <a:cs typeface="Times New Roman" panose="02020603050405020304" pitchFamily="18" charset="0"/>
            </a:endParaRPr>
          </a:p>
          <a:p>
            <a:pPr marL="628650" lvl="4" indent="-171450">
              <a:buFont typeface="Arial" panose="020B0604020202020204" pitchFamily="34" charset="0"/>
              <a:buChar char="•"/>
            </a:pPr>
            <a:r>
              <a:rPr lang="zh-CN" altLang="en-US" sz="1200" dirty="0">
                <a:latin typeface="Times New Roman" panose="02020603050405020304" pitchFamily="18" charset="0"/>
                <a:cs typeface="Times New Roman" panose="02020603050405020304" pitchFamily="18" charset="0"/>
              </a:rPr>
              <a:t>运行汇编器，将</a:t>
            </a:r>
            <a:r>
              <a:rPr lang="en-US" altLang="zh-CN" sz="1200" dirty="0" err="1">
                <a:latin typeface="Times New Roman" panose="02020603050405020304" pitchFamily="18" charset="0"/>
                <a:cs typeface="Times New Roman" panose="02020603050405020304" pitchFamily="18" charset="0"/>
              </a:rPr>
              <a:t>main.s</a:t>
            </a:r>
            <a:r>
              <a:rPr lang="zh-CN" altLang="en-US" sz="1200" dirty="0">
                <a:latin typeface="Times New Roman" panose="02020603050405020304" pitchFamily="18" charset="0"/>
                <a:cs typeface="Times New Roman" panose="02020603050405020304" pitchFamily="18" charset="0"/>
              </a:rPr>
              <a:t>翻译成可重定位目标文件</a:t>
            </a:r>
            <a:br>
              <a:rPr lang="en-US" altLang="zh-CN" sz="1200" dirty="0">
                <a:latin typeface="Times New Roman" panose="02020603050405020304" pitchFamily="18" charset="0"/>
                <a:cs typeface="Times New Roman" panose="02020603050405020304" pitchFamily="18" charset="0"/>
              </a:rPr>
            </a:br>
            <a:r>
              <a:rPr lang="en-US" altLang="zh-CN" sz="1200" dirty="0">
                <a:latin typeface="Times New Roman" panose="02020603050405020304" pitchFamily="18" charset="0"/>
                <a:cs typeface="Times New Roman" panose="02020603050405020304" pitchFamily="18" charset="0"/>
              </a:rPr>
              <a:t>as –o /</a:t>
            </a:r>
            <a:r>
              <a:rPr lang="en-US" altLang="zh-CN" sz="1200" dirty="0" err="1">
                <a:latin typeface="Times New Roman" panose="02020603050405020304" pitchFamily="18" charset="0"/>
                <a:cs typeface="Times New Roman" panose="02020603050405020304" pitchFamily="18" charset="0"/>
              </a:rPr>
              <a:t>tmp</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main.o</a:t>
            </a:r>
            <a:r>
              <a:rPr lang="en-US" altLang="zh-CN" sz="1200" dirty="0">
                <a:latin typeface="Times New Roman" panose="02020603050405020304" pitchFamily="18" charset="0"/>
                <a:cs typeface="Times New Roman" panose="02020603050405020304" pitchFamily="18" charset="0"/>
              </a:rPr>
              <a:t> /</a:t>
            </a:r>
            <a:r>
              <a:rPr lang="en-US" altLang="zh-CN" sz="1200" dirty="0" err="1">
                <a:latin typeface="Times New Roman" panose="02020603050405020304" pitchFamily="18" charset="0"/>
                <a:cs typeface="Times New Roman" panose="02020603050405020304" pitchFamily="18" charset="0"/>
              </a:rPr>
              <a:t>tmp</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main.s</a:t>
            </a:r>
            <a:endParaRPr lang="en-US" altLang="zh-CN" sz="1200" dirty="0">
              <a:latin typeface="Times New Roman" panose="02020603050405020304" pitchFamily="18" charset="0"/>
              <a:cs typeface="Times New Roman" panose="02020603050405020304" pitchFamily="18" charset="0"/>
            </a:endParaRPr>
          </a:p>
          <a:p>
            <a:pPr marL="628650" lvl="4" indent="-171450">
              <a:buFont typeface="Arial" panose="020B0604020202020204" pitchFamily="34" charset="0"/>
              <a:buChar char="•"/>
            </a:pPr>
            <a:r>
              <a:rPr lang="zh-CN" altLang="en-US" sz="1200" dirty="0">
                <a:latin typeface="Times New Roman" panose="02020603050405020304" pitchFamily="18" charset="0"/>
                <a:cs typeface="Times New Roman" panose="02020603050405020304" pitchFamily="18" charset="0"/>
              </a:rPr>
              <a:t>运行链接器程序，将</a:t>
            </a:r>
            <a:r>
              <a:rPr lang="en-US" altLang="zh-CN" sz="1200" dirty="0" err="1">
                <a:latin typeface="Times New Roman" panose="02020603050405020304" pitchFamily="18" charset="0"/>
                <a:cs typeface="Times New Roman" panose="02020603050405020304" pitchFamily="18" charset="0"/>
              </a:rPr>
              <a:t>main.o</a:t>
            </a:r>
            <a:r>
              <a:rPr lang="zh-CN" altLang="en-US" sz="1200" dirty="0">
                <a:latin typeface="Times New Roman" panose="02020603050405020304" pitchFamily="18" charset="0"/>
                <a:cs typeface="Times New Roman" panose="02020603050405020304" pitchFamily="18" charset="0"/>
              </a:rPr>
              <a:t>和</a:t>
            </a:r>
            <a:r>
              <a:rPr lang="en-US" altLang="zh-CN" sz="1200" dirty="0" err="1">
                <a:latin typeface="Times New Roman" panose="02020603050405020304" pitchFamily="18" charset="0"/>
                <a:cs typeface="Times New Roman" panose="02020603050405020304" pitchFamily="18" charset="0"/>
              </a:rPr>
              <a:t>sum.o</a:t>
            </a:r>
            <a:r>
              <a:rPr lang="zh-CN" altLang="en-US" sz="1200" dirty="0">
                <a:latin typeface="Times New Roman" panose="02020603050405020304" pitchFamily="18" charset="0"/>
                <a:cs typeface="Times New Roman" panose="02020603050405020304" pitchFamily="18" charset="0"/>
              </a:rPr>
              <a:t>以及一些必要的</a:t>
            </a:r>
            <a:br>
              <a:rPr lang="en-US" altLang="zh-CN" sz="1200" dirty="0">
                <a:latin typeface="Times New Roman" panose="02020603050405020304" pitchFamily="18" charset="0"/>
                <a:cs typeface="Times New Roman" panose="02020603050405020304" pitchFamily="18" charset="0"/>
              </a:rPr>
            </a:br>
            <a:r>
              <a:rPr lang="zh-CN" altLang="en-US" sz="1200" dirty="0">
                <a:latin typeface="Times New Roman" panose="02020603050405020304" pitchFamily="18" charset="0"/>
                <a:cs typeface="Times New Roman" panose="02020603050405020304" pitchFamily="18" charset="0"/>
              </a:rPr>
              <a:t>系统目标文件组合起来，创建可执行目标文件</a:t>
            </a:r>
            <a:br>
              <a:rPr lang="en-US" altLang="zh-CN" sz="1200" dirty="0">
                <a:latin typeface="Times New Roman" panose="02020603050405020304" pitchFamily="18" charset="0"/>
                <a:cs typeface="Times New Roman" panose="02020603050405020304" pitchFamily="18" charset="0"/>
              </a:rPr>
            </a:br>
            <a:r>
              <a:rPr lang="en-US" altLang="zh-CN" sz="1200" dirty="0" err="1">
                <a:latin typeface="Times New Roman" panose="02020603050405020304" pitchFamily="18" charset="0"/>
                <a:cs typeface="Times New Roman" panose="02020603050405020304" pitchFamily="18" charset="0"/>
              </a:rPr>
              <a:t>ld</a:t>
            </a:r>
            <a:r>
              <a:rPr lang="en-US" altLang="zh-CN" sz="1200" dirty="0">
                <a:latin typeface="Times New Roman" panose="02020603050405020304" pitchFamily="18" charset="0"/>
                <a:cs typeface="Times New Roman" panose="02020603050405020304" pitchFamily="18" charset="0"/>
              </a:rPr>
              <a:t> –o prog /</a:t>
            </a:r>
            <a:r>
              <a:rPr lang="en-US" altLang="zh-CN" sz="1200" dirty="0" err="1">
                <a:latin typeface="Times New Roman" panose="02020603050405020304" pitchFamily="18" charset="0"/>
                <a:cs typeface="Times New Roman" panose="02020603050405020304" pitchFamily="18" charset="0"/>
              </a:rPr>
              <a:t>tmp</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main.o</a:t>
            </a:r>
            <a:r>
              <a:rPr lang="en-US" altLang="zh-CN" sz="1200" dirty="0">
                <a:latin typeface="Times New Roman" panose="02020603050405020304" pitchFamily="18" charset="0"/>
                <a:cs typeface="Times New Roman" panose="02020603050405020304" pitchFamily="18" charset="0"/>
              </a:rPr>
              <a:t> /</a:t>
            </a:r>
            <a:r>
              <a:rPr lang="en-US" altLang="zh-CN" sz="1200" dirty="0" err="1">
                <a:latin typeface="Times New Roman" panose="02020603050405020304" pitchFamily="18" charset="0"/>
                <a:cs typeface="Times New Roman" panose="02020603050405020304" pitchFamily="18" charset="0"/>
              </a:rPr>
              <a:t>tmp</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sum.o</a:t>
            </a:r>
            <a:endParaRPr lang="en-US" altLang="zh-CN" sz="1200" dirty="0">
              <a:latin typeface="Times New Roman" panose="02020603050405020304" pitchFamily="18" charset="0"/>
              <a:cs typeface="Times New Roman" panose="02020603050405020304" pitchFamily="18" charset="0"/>
            </a:endParaRPr>
          </a:p>
          <a:p>
            <a:pPr marL="0" lvl="1"/>
            <a:r>
              <a:rPr lang="en-US" altLang="zh-CN" sz="2000" dirty="0" err="1">
                <a:latin typeface="Courier New" charset="0"/>
              </a:rPr>
              <a:t>linux</a:t>
            </a:r>
            <a:r>
              <a:rPr lang="en-US" altLang="zh-CN" sz="2000" dirty="0">
                <a:latin typeface="Courier New" charset="0"/>
              </a:rPr>
              <a:t>&gt; </a:t>
            </a:r>
            <a:r>
              <a:rPr lang="en-US" altLang="zh-CN" sz="2000" i="1" dirty="0">
                <a:latin typeface="Courier New" charset="0"/>
              </a:rPr>
              <a:t>./prog</a:t>
            </a:r>
          </a:p>
        </p:txBody>
      </p:sp>
      <p:sp>
        <p:nvSpPr>
          <p:cNvPr id="25" name="矩形 24">
            <a:extLst>
              <a:ext uri="{FF2B5EF4-FFF2-40B4-BE49-F238E27FC236}">
                <a16:creationId xmlns:a16="http://schemas.microsoft.com/office/drawing/2014/main" id="{03A1E169-FEE3-414A-93F5-01AE9D9FEA65}"/>
              </a:ext>
            </a:extLst>
          </p:cNvPr>
          <p:cNvSpPr/>
          <p:nvPr/>
        </p:nvSpPr>
        <p:spPr>
          <a:xfrm>
            <a:off x="476002" y="4941056"/>
            <a:ext cx="4768741" cy="923330"/>
          </a:xfrm>
          <a:prstGeom prst="rect">
            <a:avLst/>
          </a:prstGeom>
        </p:spPr>
        <p:txBody>
          <a:bodyPr wrap="none">
            <a:spAutoFit/>
          </a:bodyPr>
          <a:lstStyle/>
          <a:p>
            <a:r>
              <a:rPr lang="en-US" altLang="zh-CN" dirty="0">
                <a:latin typeface="Times New Roman" panose="02020603050405020304" pitchFamily="18" charset="0"/>
                <a:cs typeface="Times New Roman" panose="02020603050405020304" pitchFamily="18" charset="0"/>
              </a:rPr>
              <a:t>Shell</a:t>
            </a:r>
            <a:r>
              <a:rPr lang="zh-CN" altLang="en-US" dirty="0">
                <a:latin typeface="Times New Roman" panose="02020603050405020304" pitchFamily="18" charset="0"/>
                <a:cs typeface="Times New Roman" panose="02020603050405020304" pitchFamily="18" charset="0"/>
              </a:rPr>
              <a:t>调用操作系统中加载器（</a:t>
            </a:r>
            <a:r>
              <a:rPr lang="en-US" altLang="zh-CN" dirty="0">
                <a:latin typeface="Times New Roman" panose="02020603050405020304" pitchFamily="18" charset="0"/>
                <a:cs typeface="Times New Roman" panose="02020603050405020304" pitchFamily="18" charset="0"/>
              </a:rPr>
              <a:t>loader</a:t>
            </a:r>
            <a:r>
              <a:rPr lang="zh-CN" altLang="en-US" dirty="0">
                <a:latin typeface="Times New Roman" panose="02020603050405020304" pitchFamily="18" charset="0"/>
                <a:cs typeface="Times New Roman" panose="02020603050405020304" pitchFamily="18" charset="0"/>
              </a:rPr>
              <a:t>），将</a:t>
            </a:r>
            <a:br>
              <a:rPr lang="en-US" altLang="zh-CN" dirty="0">
                <a:latin typeface="Times New Roman" panose="02020603050405020304" pitchFamily="18" charset="0"/>
                <a:cs typeface="Times New Roman" panose="02020603050405020304" pitchFamily="18" charset="0"/>
              </a:rPr>
            </a:br>
            <a:r>
              <a:rPr lang="zh-CN" altLang="en-US" dirty="0">
                <a:latin typeface="Times New Roman" panose="02020603050405020304" pitchFamily="18" charset="0"/>
                <a:cs typeface="Times New Roman" panose="02020603050405020304" pitchFamily="18" charset="0"/>
              </a:rPr>
              <a:t>可执行文件</a:t>
            </a:r>
            <a:r>
              <a:rPr lang="en-US" altLang="zh-CN" dirty="0">
                <a:latin typeface="Times New Roman" panose="02020603050405020304" pitchFamily="18" charset="0"/>
                <a:cs typeface="Times New Roman" panose="02020603050405020304" pitchFamily="18" charset="0"/>
              </a:rPr>
              <a:t>prog</a:t>
            </a:r>
            <a:r>
              <a:rPr lang="zh-CN" altLang="en-US" dirty="0">
                <a:latin typeface="Times New Roman" panose="02020603050405020304" pitchFamily="18" charset="0"/>
                <a:cs typeface="Times New Roman" panose="02020603050405020304" pitchFamily="18" charset="0"/>
              </a:rPr>
              <a:t>中的代码和数据复制到内存，</a:t>
            </a:r>
            <a:br>
              <a:rPr lang="en-US" altLang="zh-CN" dirty="0">
                <a:latin typeface="Times New Roman" panose="02020603050405020304" pitchFamily="18" charset="0"/>
                <a:cs typeface="Times New Roman" panose="02020603050405020304" pitchFamily="18" charset="0"/>
              </a:rPr>
            </a:br>
            <a:r>
              <a:rPr lang="zh-CN" altLang="en-US" dirty="0">
                <a:latin typeface="Times New Roman" panose="02020603050405020304" pitchFamily="18" charset="0"/>
                <a:cs typeface="Times New Roman" panose="02020603050405020304" pitchFamily="18" charset="0"/>
              </a:rPr>
              <a:t>然后将控制转移到这个程序的开头</a:t>
            </a:r>
          </a:p>
        </p:txBody>
      </p:sp>
    </p:spTree>
    <p:extLst>
      <p:ext uri="{BB962C8B-B14F-4D97-AF65-F5344CB8AC3E}">
        <p14:creationId xmlns:p14="http://schemas.microsoft.com/office/powerpoint/2010/main" val="2322293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BB7E3E-1A29-4BA2-87FD-EC3E8514B7AD}"/>
              </a:ext>
            </a:extLst>
          </p:cNvPr>
          <p:cNvSpPr>
            <a:spLocks noGrp="1"/>
          </p:cNvSpPr>
          <p:nvPr>
            <p:ph type="title"/>
          </p:nvPr>
        </p:nvSpPr>
        <p:spPr/>
        <p:txBody>
          <a:bodyPr>
            <a:normAutofit fontScale="90000"/>
          </a:bodyPr>
          <a:lstStyle/>
          <a:p>
            <a:r>
              <a:rPr lang="zh-CN" altLang="en-US" dirty="0"/>
              <a:t>实验验证</a:t>
            </a:r>
          </a:p>
        </p:txBody>
      </p:sp>
      <p:sp>
        <p:nvSpPr>
          <p:cNvPr id="3" name="内容占位符 2">
            <a:extLst>
              <a:ext uri="{FF2B5EF4-FFF2-40B4-BE49-F238E27FC236}">
                <a16:creationId xmlns:a16="http://schemas.microsoft.com/office/drawing/2014/main" id="{550BB149-69EF-4078-8FBD-A6C7ECA3F986}"/>
              </a:ext>
            </a:extLst>
          </p:cNvPr>
          <p:cNvSpPr>
            <a:spLocks noGrp="1"/>
          </p:cNvSpPr>
          <p:nvPr>
            <p:ph idx="1"/>
          </p:nvPr>
        </p:nvSpPr>
        <p:spPr/>
        <p:txBody>
          <a:bodyPr/>
          <a:lstStyle/>
          <a:p>
            <a:r>
              <a:rPr lang="en-US" altLang="zh-CN" dirty="0" err="1"/>
              <a:t>gcc</a:t>
            </a:r>
            <a:r>
              <a:rPr lang="en-US" altLang="zh-CN" dirty="0"/>
              <a:t> -o3 -o prog </a:t>
            </a:r>
            <a:r>
              <a:rPr lang="en-US" altLang="zh-CN" dirty="0" err="1"/>
              <a:t>main.c</a:t>
            </a:r>
            <a:r>
              <a:rPr lang="en-US" altLang="zh-CN" dirty="0"/>
              <a:t> </a:t>
            </a:r>
            <a:r>
              <a:rPr lang="en-US" altLang="zh-CN" dirty="0" err="1"/>
              <a:t>sum.c</a:t>
            </a:r>
            <a:endParaRPr lang="zh-CN" altLang="en-US" dirty="0"/>
          </a:p>
        </p:txBody>
      </p:sp>
      <p:sp>
        <p:nvSpPr>
          <p:cNvPr id="4" name="灯片编号占位符 3">
            <a:extLst>
              <a:ext uri="{FF2B5EF4-FFF2-40B4-BE49-F238E27FC236}">
                <a16:creationId xmlns:a16="http://schemas.microsoft.com/office/drawing/2014/main" id="{05DE189A-EFC4-4DD1-8DEE-247B14938AEA}"/>
              </a:ext>
            </a:extLst>
          </p:cNvPr>
          <p:cNvSpPr>
            <a:spLocks noGrp="1"/>
          </p:cNvSpPr>
          <p:nvPr>
            <p:ph type="sldNum" sz="quarter" idx="12"/>
          </p:nvPr>
        </p:nvSpPr>
        <p:spPr/>
        <p:txBody>
          <a:bodyPr/>
          <a:lstStyle/>
          <a:p>
            <a:fld id="{6D62327B-ED8D-4CFC-ADD0-A75FA5CBE281}" type="slidenum">
              <a:rPr lang="zh-CN" altLang="en-US" smtClean="0"/>
              <a:pPr/>
              <a:t>6</a:t>
            </a:fld>
            <a:endParaRPr lang="zh-CN" altLang="en-US" dirty="0"/>
          </a:p>
        </p:txBody>
      </p:sp>
      <p:sp>
        <p:nvSpPr>
          <p:cNvPr id="5" name="Rectangle 3">
            <a:extLst>
              <a:ext uri="{FF2B5EF4-FFF2-40B4-BE49-F238E27FC236}">
                <a16:creationId xmlns:a16="http://schemas.microsoft.com/office/drawing/2014/main" id="{16EC40F3-368F-42BF-A5E2-CC6D05A6F527}"/>
              </a:ext>
            </a:extLst>
          </p:cNvPr>
          <p:cNvSpPr>
            <a:spLocks noChangeArrowheads="1"/>
          </p:cNvSpPr>
          <p:nvPr/>
        </p:nvSpPr>
        <p:spPr bwMode="auto">
          <a:xfrm>
            <a:off x="478178" y="1962637"/>
            <a:ext cx="4390946" cy="286232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none" anchor="ctr">
            <a:prstTxWarp prst="textNoShape">
              <a:avLst/>
            </a:prstTxWarp>
            <a:spAutoFit/>
          </a:bodyPr>
          <a:lstStyle/>
          <a:p>
            <a:r>
              <a:rPr lang="en-US" sz="1600" dirty="0">
                <a:solidFill>
                  <a:schemeClr val="tx1"/>
                </a:solidFill>
                <a:latin typeface="Menlo-Regular"/>
              </a:rPr>
              <a:t>#include &lt;</a:t>
            </a:r>
            <a:r>
              <a:rPr lang="en-US" sz="1600" dirty="0" err="1">
                <a:solidFill>
                  <a:schemeClr val="tx1"/>
                </a:solidFill>
                <a:latin typeface="Menlo-Regular"/>
              </a:rPr>
              <a:t>stdlib.h</a:t>
            </a:r>
            <a:r>
              <a:rPr lang="en-US" sz="1600" dirty="0">
                <a:solidFill>
                  <a:schemeClr val="tx1"/>
                </a:solidFill>
                <a:latin typeface="Menlo-Regular"/>
              </a:rPr>
              <a:t>&gt;</a:t>
            </a:r>
          </a:p>
          <a:p>
            <a:r>
              <a:rPr lang="en-US" sz="1600" dirty="0">
                <a:solidFill>
                  <a:schemeClr val="tx1"/>
                </a:solidFill>
                <a:latin typeface="Menlo-Regular"/>
              </a:rPr>
              <a:t>#include &lt;</a:t>
            </a:r>
            <a:r>
              <a:rPr lang="en-US" sz="1600" dirty="0" err="1">
                <a:solidFill>
                  <a:schemeClr val="tx1"/>
                </a:solidFill>
                <a:latin typeface="Menlo-Regular"/>
              </a:rPr>
              <a:t>stdio.h</a:t>
            </a:r>
            <a:r>
              <a:rPr lang="en-US" sz="1600" dirty="0">
                <a:solidFill>
                  <a:schemeClr val="tx1"/>
                </a:solidFill>
                <a:latin typeface="Menlo-Regular"/>
              </a:rPr>
              <a:t>&gt;</a:t>
            </a:r>
          </a:p>
          <a:p>
            <a:endParaRPr lang="en-US" sz="1600" dirty="0">
              <a:solidFill>
                <a:schemeClr val="tx1"/>
              </a:solidFill>
              <a:latin typeface="Menlo-Regular"/>
            </a:endParaRPr>
          </a:p>
          <a:p>
            <a:r>
              <a:rPr lang="en-US" sz="1600" dirty="0">
                <a:solidFill>
                  <a:schemeClr val="tx1"/>
                </a:solidFill>
                <a:latin typeface="Menlo-Regular"/>
              </a:rPr>
              <a:t>int sum(int *a, int n);</a:t>
            </a:r>
          </a:p>
          <a:p>
            <a:r>
              <a:rPr lang="en-US" sz="1600" dirty="0">
                <a:solidFill>
                  <a:schemeClr val="tx1"/>
                </a:solidFill>
                <a:latin typeface="Menlo-Regular"/>
              </a:rPr>
              <a:t>int array[2]={1,2};</a:t>
            </a:r>
          </a:p>
          <a:p>
            <a:r>
              <a:rPr lang="en-US" sz="1600" dirty="0">
                <a:solidFill>
                  <a:schemeClr val="tx1"/>
                </a:solidFill>
                <a:latin typeface="Menlo-Regular"/>
              </a:rPr>
              <a:t>int main()</a:t>
            </a:r>
          </a:p>
          <a:p>
            <a:r>
              <a:rPr lang="en-US" sz="1600" dirty="0">
                <a:solidFill>
                  <a:schemeClr val="tx1"/>
                </a:solidFill>
                <a:latin typeface="Menlo-Regular"/>
              </a:rPr>
              <a:t>{</a:t>
            </a:r>
          </a:p>
          <a:p>
            <a:r>
              <a:rPr lang="en-US" sz="1600" dirty="0">
                <a:solidFill>
                  <a:schemeClr val="tx1"/>
                </a:solidFill>
                <a:latin typeface="Menlo-Regular"/>
              </a:rPr>
              <a:t>	int </a:t>
            </a:r>
            <a:r>
              <a:rPr lang="en-US" sz="1600" dirty="0" err="1">
                <a:solidFill>
                  <a:schemeClr val="tx1"/>
                </a:solidFill>
                <a:latin typeface="Menlo-Regular"/>
              </a:rPr>
              <a:t>val</a:t>
            </a:r>
            <a:r>
              <a:rPr lang="en-US" sz="1600" dirty="0">
                <a:solidFill>
                  <a:schemeClr val="tx1"/>
                </a:solidFill>
                <a:latin typeface="Menlo-Regular"/>
              </a:rPr>
              <a:t>=sum(array, 2);</a:t>
            </a:r>
          </a:p>
          <a:p>
            <a:r>
              <a:rPr lang="en-US" sz="1600" dirty="0">
                <a:solidFill>
                  <a:schemeClr val="tx1"/>
                </a:solidFill>
                <a:latin typeface="Menlo-Regular"/>
              </a:rPr>
              <a:t>	</a:t>
            </a:r>
            <a:r>
              <a:rPr lang="en-US" sz="1600" dirty="0" err="1">
                <a:solidFill>
                  <a:schemeClr val="tx1"/>
                </a:solidFill>
                <a:latin typeface="Menlo-Regular"/>
              </a:rPr>
              <a:t>printf</a:t>
            </a:r>
            <a:r>
              <a:rPr lang="en-US" sz="1600" dirty="0">
                <a:solidFill>
                  <a:schemeClr val="tx1"/>
                </a:solidFill>
                <a:latin typeface="Menlo-Regular"/>
              </a:rPr>
              <a:t>("sum of array:%d\n",</a:t>
            </a:r>
            <a:r>
              <a:rPr lang="en-US" sz="1600" dirty="0" err="1">
                <a:solidFill>
                  <a:schemeClr val="tx1"/>
                </a:solidFill>
                <a:latin typeface="Menlo-Regular"/>
              </a:rPr>
              <a:t>val</a:t>
            </a:r>
            <a:r>
              <a:rPr lang="en-US" sz="1600" dirty="0">
                <a:solidFill>
                  <a:schemeClr val="tx1"/>
                </a:solidFill>
                <a:latin typeface="Menlo-Regular"/>
              </a:rPr>
              <a:t>);</a:t>
            </a:r>
          </a:p>
          <a:p>
            <a:r>
              <a:rPr lang="en-US" sz="1600" dirty="0">
                <a:solidFill>
                  <a:schemeClr val="tx1"/>
                </a:solidFill>
                <a:latin typeface="Menlo-Regular"/>
              </a:rPr>
              <a:t>	return </a:t>
            </a:r>
            <a:r>
              <a:rPr lang="en-US" sz="1600" dirty="0" err="1">
                <a:solidFill>
                  <a:schemeClr val="tx1"/>
                </a:solidFill>
                <a:latin typeface="Menlo-Regular"/>
              </a:rPr>
              <a:t>val</a:t>
            </a:r>
            <a:r>
              <a:rPr lang="en-US" sz="1600" dirty="0">
                <a:solidFill>
                  <a:schemeClr val="tx1"/>
                </a:solidFill>
                <a:latin typeface="Menlo-Regular"/>
              </a:rPr>
              <a:t>;</a:t>
            </a:r>
          </a:p>
          <a:p>
            <a:r>
              <a:rPr lang="en-US" sz="1600" dirty="0">
                <a:solidFill>
                  <a:schemeClr val="tx1"/>
                </a:solidFill>
                <a:latin typeface="Menlo-Regular"/>
              </a:rPr>
              <a:t>}</a:t>
            </a:r>
            <a:endParaRPr lang="en-US" sz="1600" dirty="0">
              <a:solidFill>
                <a:schemeClr val="tx1"/>
              </a:solidFill>
              <a:latin typeface="Courier New"/>
              <a:cs typeface="Courier New"/>
            </a:endParaRPr>
          </a:p>
        </p:txBody>
      </p:sp>
      <p:sp>
        <p:nvSpPr>
          <p:cNvPr id="6" name="Rectangle 6">
            <a:extLst>
              <a:ext uri="{FF2B5EF4-FFF2-40B4-BE49-F238E27FC236}">
                <a16:creationId xmlns:a16="http://schemas.microsoft.com/office/drawing/2014/main" id="{596FC55B-BC7D-4158-9C4A-E5D23621B03B}"/>
              </a:ext>
            </a:extLst>
          </p:cNvPr>
          <p:cNvSpPr>
            <a:spLocks noChangeArrowheads="1"/>
          </p:cNvSpPr>
          <p:nvPr/>
        </p:nvSpPr>
        <p:spPr bwMode="auto">
          <a:xfrm>
            <a:off x="5229172" y="2239636"/>
            <a:ext cx="3096034" cy="2308324"/>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nchor="ctr">
            <a:prstTxWarp prst="textNoShape">
              <a:avLst/>
            </a:prstTxWarp>
            <a:spAutoFit/>
          </a:bodyPr>
          <a:lstStyle/>
          <a:p>
            <a:r>
              <a:rPr lang="en-US" dirty="0">
                <a:solidFill>
                  <a:srgbClr val="2D961E"/>
                </a:solidFill>
                <a:latin typeface="Menlo-Regular"/>
              </a:rPr>
              <a:t>int sum(int *a, int n)</a:t>
            </a:r>
          </a:p>
          <a:p>
            <a:r>
              <a:rPr lang="en-US" dirty="0">
                <a:solidFill>
                  <a:srgbClr val="2D961E"/>
                </a:solidFill>
                <a:latin typeface="Menlo-Regular"/>
              </a:rPr>
              <a:t>{</a:t>
            </a:r>
          </a:p>
          <a:p>
            <a:r>
              <a:rPr lang="en-US" dirty="0">
                <a:solidFill>
                  <a:srgbClr val="2D961E"/>
                </a:solidFill>
                <a:latin typeface="Menlo-Regular"/>
              </a:rPr>
              <a:t>	int </a:t>
            </a:r>
            <a:r>
              <a:rPr lang="en-US" dirty="0" err="1">
                <a:solidFill>
                  <a:srgbClr val="2D961E"/>
                </a:solidFill>
                <a:latin typeface="Menlo-Regular"/>
              </a:rPr>
              <a:t>i,s</a:t>
            </a:r>
            <a:r>
              <a:rPr lang="en-US" dirty="0">
                <a:solidFill>
                  <a:srgbClr val="2D961E"/>
                </a:solidFill>
                <a:latin typeface="Menlo-Regular"/>
              </a:rPr>
              <a:t>=0;</a:t>
            </a:r>
          </a:p>
          <a:p>
            <a:r>
              <a:rPr lang="en-US" dirty="0">
                <a:solidFill>
                  <a:srgbClr val="2D961E"/>
                </a:solidFill>
                <a:latin typeface="Menlo-Regular"/>
              </a:rPr>
              <a:t>	for(</a:t>
            </a:r>
            <a:r>
              <a:rPr lang="en-US" dirty="0" err="1">
                <a:solidFill>
                  <a:srgbClr val="2D961E"/>
                </a:solidFill>
                <a:latin typeface="Menlo-Regular"/>
              </a:rPr>
              <a:t>i</a:t>
            </a:r>
            <a:r>
              <a:rPr lang="en-US" dirty="0">
                <a:solidFill>
                  <a:srgbClr val="2D961E"/>
                </a:solidFill>
                <a:latin typeface="Menlo-Regular"/>
              </a:rPr>
              <a:t>=0;i&lt;</a:t>
            </a:r>
            <a:r>
              <a:rPr lang="en-US" dirty="0" err="1">
                <a:solidFill>
                  <a:srgbClr val="2D961E"/>
                </a:solidFill>
                <a:latin typeface="Menlo-Regular"/>
              </a:rPr>
              <a:t>n;i</a:t>
            </a:r>
            <a:r>
              <a:rPr lang="en-US" dirty="0">
                <a:solidFill>
                  <a:srgbClr val="2D961E"/>
                </a:solidFill>
                <a:latin typeface="Menlo-Regular"/>
              </a:rPr>
              <a:t>++){</a:t>
            </a:r>
          </a:p>
          <a:p>
            <a:r>
              <a:rPr lang="en-US" dirty="0">
                <a:solidFill>
                  <a:srgbClr val="2D961E"/>
                </a:solidFill>
                <a:latin typeface="Menlo-Regular"/>
              </a:rPr>
              <a:t>		s+=a[</a:t>
            </a:r>
            <a:r>
              <a:rPr lang="en-US" dirty="0" err="1">
                <a:solidFill>
                  <a:srgbClr val="2D961E"/>
                </a:solidFill>
                <a:latin typeface="Menlo-Regular"/>
              </a:rPr>
              <a:t>i</a:t>
            </a:r>
            <a:r>
              <a:rPr lang="en-US" dirty="0">
                <a:solidFill>
                  <a:srgbClr val="2D961E"/>
                </a:solidFill>
                <a:latin typeface="Menlo-Regular"/>
              </a:rPr>
              <a:t>];</a:t>
            </a:r>
          </a:p>
          <a:p>
            <a:r>
              <a:rPr lang="en-US" dirty="0">
                <a:solidFill>
                  <a:srgbClr val="2D961E"/>
                </a:solidFill>
                <a:latin typeface="Menlo-Regular"/>
              </a:rPr>
              <a:t>	}</a:t>
            </a:r>
          </a:p>
          <a:p>
            <a:r>
              <a:rPr lang="en-US" dirty="0">
                <a:solidFill>
                  <a:srgbClr val="2D961E"/>
                </a:solidFill>
                <a:latin typeface="Menlo-Regular"/>
              </a:rPr>
              <a:t>	return s;</a:t>
            </a:r>
          </a:p>
          <a:p>
            <a:r>
              <a:rPr lang="en-US" dirty="0">
                <a:solidFill>
                  <a:srgbClr val="2D961E"/>
                </a:solidFill>
                <a:latin typeface="Menlo-Regular"/>
              </a:rPr>
              <a:t>}</a:t>
            </a:r>
            <a:endParaRPr lang="is-IS" sz="1800" dirty="0">
              <a:solidFill>
                <a:srgbClr val="000000"/>
              </a:solidFill>
              <a:latin typeface="Menlo-Regular"/>
            </a:endParaRPr>
          </a:p>
        </p:txBody>
      </p:sp>
      <p:pic>
        <p:nvPicPr>
          <p:cNvPr id="7" name="图片 6">
            <a:extLst>
              <a:ext uri="{FF2B5EF4-FFF2-40B4-BE49-F238E27FC236}">
                <a16:creationId xmlns:a16="http://schemas.microsoft.com/office/drawing/2014/main" id="{B43F73C7-F501-4381-87AE-ECB2D5571FBF}"/>
              </a:ext>
            </a:extLst>
          </p:cNvPr>
          <p:cNvPicPr>
            <a:picLocks noChangeAspect="1"/>
          </p:cNvPicPr>
          <p:nvPr/>
        </p:nvPicPr>
        <p:blipFill>
          <a:blip r:embed="rId2"/>
          <a:stretch>
            <a:fillRect/>
          </a:stretch>
        </p:blipFill>
        <p:spPr>
          <a:xfrm>
            <a:off x="2216714" y="5570265"/>
            <a:ext cx="5011307" cy="694783"/>
          </a:xfrm>
          <a:prstGeom prst="rect">
            <a:avLst/>
          </a:prstGeom>
        </p:spPr>
      </p:pic>
    </p:spTree>
    <p:extLst>
      <p:ext uri="{BB962C8B-B14F-4D97-AF65-F5344CB8AC3E}">
        <p14:creationId xmlns:p14="http://schemas.microsoft.com/office/powerpoint/2010/main" val="1774236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24DAA-47E2-46D4-A81D-CE14CBF24445}"/>
              </a:ext>
            </a:extLst>
          </p:cNvPr>
          <p:cNvSpPr>
            <a:spLocks noGrp="1"/>
          </p:cNvSpPr>
          <p:nvPr>
            <p:ph type="title"/>
          </p:nvPr>
        </p:nvSpPr>
        <p:spPr/>
        <p:txBody>
          <a:bodyPr>
            <a:normAutofit fontScale="90000"/>
          </a:bodyPr>
          <a:lstStyle/>
          <a:p>
            <a:r>
              <a:rPr lang="en-US" altLang="zh-CN" dirty="0"/>
              <a:t>.c</a:t>
            </a:r>
            <a:r>
              <a:rPr lang="en-US" altLang="zh-CN" dirty="0">
                <a:sym typeface="Wingdings 3" panose="05040102010807070707" pitchFamily="18" charset="2"/>
              </a:rPr>
              <a:t>.</a:t>
            </a:r>
            <a:r>
              <a:rPr lang="en-US" altLang="zh-CN" dirty="0" err="1">
                <a:sym typeface="Wingdings 3" panose="05040102010807070707" pitchFamily="18" charset="2"/>
              </a:rPr>
              <a:t>i</a:t>
            </a:r>
            <a:endParaRPr lang="zh-CN" altLang="en-US" dirty="0"/>
          </a:p>
        </p:txBody>
      </p:sp>
      <p:sp>
        <p:nvSpPr>
          <p:cNvPr id="3" name="内容占位符 2">
            <a:extLst>
              <a:ext uri="{FF2B5EF4-FFF2-40B4-BE49-F238E27FC236}">
                <a16:creationId xmlns:a16="http://schemas.microsoft.com/office/drawing/2014/main" id="{3403CEE0-EFD4-49C5-8F54-71BFD73CF304}"/>
              </a:ext>
            </a:extLst>
          </p:cNvPr>
          <p:cNvSpPr>
            <a:spLocks noGrp="1"/>
          </p:cNvSpPr>
          <p:nvPr>
            <p:ph idx="1"/>
          </p:nvPr>
        </p:nvSpPr>
        <p:spPr/>
        <p:txBody>
          <a:bodyPr/>
          <a:lstStyle/>
          <a:p>
            <a:r>
              <a:rPr lang="en-US" altLang="zh-CN" dirty="0"/>
              <a:t>C</a:t>
            </a:r>
            <a:r>
              <a:rPr lang="zh-CN" altLang="en-US" dirty="0"/>
              <a:t>预处理器</a:t>
            </a:r>
            <a:r>
              <a:rPr lang="en-US" altLang="zh-CN" dirty="0" err="1"/>
              <a:t>cpp</a:t>
            </a:r>
            <a:r>
              <a:rPr lang="zh-CN" altLang="en-US" dirty="0"/>
              <a:t>将</a:t>
            </a:r>
            <a:r>
              <a:rPr lang="en-US" altLang="zh-CN" dirty="0"/>
              <a:t>.c</a:t>
            </a:r>
            <a:r>
              <a:rPr lang="zh-CN" altLang="en-US" dirty="0"/>
              <a:t>源程序翻译成</a:t>
            </a:r>
            <a:r>
              <a:rPr lang="en-US" altLang="zh-CN" dirty="0"/>
              <a:t>.</a:t>
            </a:r>
            <a:r>
              <a:rPr lang="en-US" altLang="zh-CN" dirty="0" err="1"/>
              <a:t>i</a:t>
            </a:r>
            <a:r>
              <a:rPr lang="en-US" altLang="zh-CN" dirty="0"/>
              <a:t> ASCII</a:t>
            </a:r>
            <a:r>
              <a:rPr lang="zh-CN" altLang="en-US" dirty="0"/>
              <a:t>中间文件</a:t>
            </a:r>
            <a:endParaRPr lang="en-US" altLang="zh-CN" dirty="0"/>
          </a:p>
          <a:p>
            <a:pPr lvl="1"/>
            <a:r>
              <a:rPr lang="en-US" altLang="zh-CN" dirty="0" err="1"/>
              <a:t>cpp</a:t>
            </a:r>
            <a:r>
              <a:rPr lang="en-US" altLang="zh-CN" dirty="0"/>
              <a:t> </a:t>
            </a:r>
            <a:r>
              <a:rPr lang="en-US" altLang="zh-CN" dirty="0" err="1"/>
              <a:t>main.c</a:t>
            </a:r>
            <a:r>
              <a:rPr lang="en-US" altLang="zh-CN" dirty="0"/>
              <a:t> </a:t>
            </a:r>
            <a:r>
              <a:rPr lang="en-US" altLang="zh-CN" dirty="0" err="1"/>
              <a:t>main.i</a:t>
            </a:r>
            <a:endParaRPr lang="en-US" altLang="zh-CN" dirty="0"/>
          </a:p>
          <a:p>
            <a:pPr lvl="1"/>
            <a:r>
              <a:rPr lang="en-US" altLang="zh-CN" dirty="0" err="1"/>
              <a:t>cpp</a:t>
            </a:r>
            <a:r>
              <a:rPr lang="en-US" altLang="zh-CN" dirty="0"/>
              <a:t> </a:t>
            </a:r>
            <a:r>
              <a:rPr lang="en-US" altLang="zh-CN" dirty="0" err="1"/>
              <a:t>sum.c</a:t>
            </a:r>
            <a:r>
              <a:rPr lang="en-US" altLang="zh-CN" dirty="0"/>
              <a:t> </a:t>
            </a:r>
            <a:r>
              <a:rPr lang="en-US" altLang="zh-CN" dirty="0" err="1"/>
              <a:t>sum.i</a:t>
            </a:r>
            <a:endParaRPr lang="en-US" altLang="zh-CN" dirty="0"/>
          </a:p>
          <a:p>
            <a:r>
              <a:rPr lang="zh-CN" altLang="en-US" dirty="0"/>
              <a:t>查看</a:t>
            </a:r>
            <a:r>
              <a:rPr lang="en-US" altLang="zh-CN" dirty="0" err="1"/>
              <a:t>main.i</a:t>
            </a:r>
            <a:r>
              <a:rPr lang="zh-CN" altLang="en-US" dirty="0"/>
              <a:t>中间文件</a:t>
            </a:r>
            <a:endParaRPr lang="en-US" altLang="zh-CN" dirty="0"/>
          </a:p>
          <a:p>
            <a:pPr lvl="1"/>
            <a:endParaRPr lang="zh-CN" altLang="en-US" dirty="0"/>
          </a:p>
        </p:txBody>
      </p:sp>
      <p:sp>
        <p:nvSpPr>
          <p:cNvPr id="4" name="灯片编号占位符 3">
            <a:extLst>
              <a:ext uri="{FF2B5EF4-FFF2-40B4-BE49-F238E27FC236}">
                <a16:creationId xmlns:a16="http://schemas.microsoft.com/office/drawing/2014/main" id="{644B6B4E-A33C-44E5-B564-2B2CEDA03693}"/>
              </a:ext>
            </a:extLst>
          </p:cNvPr>
          <p:cNvSpPr>
            <a:spLocks noGrp="1"/>
          </p:cNvSpPr>
          <p:nvPr>
            <p:ph type="sldNum" sz="quarter" idx="12"/>
          </p:nvPr>
        </p:nvSpPr>
        <p:spPr/>
        <p:txBody>
          <a:bodyPr/>
          <a:lstStyle/>
          <a:p>
            <a:fld id="{6D62327B-ED8D-4CFC-ADD0-A75FA5CBE281}" type="slidenum">
              <a:rPr lang="zh-CN" altLang="en-US" smtClean="0"/>
              <a:pPr/>
              <a:t>7</a:t>
            </a:fld>
            <a:endParaRPr lang="zh-CN" altLang="en-US" dirty="0"/>
          </a:p>
        </p:txBody>
      </p:sp>
      <p:pic>
        <p:nvPicPr>
          <p:cNvPr id="5" name="图片 4">
            <a:extLst>
              <a:ext uri="{FF2B5EF4-FFF2-40B4-BE49-F238E27FC236}">
                <a16:creationId xmlns:a16="http://schemas.microsoft.com/office/drawing/2014/main" id="{F96510FB-039B-40B9-8A75-4907F5682D91}"/>
              </a:ext>
            </a:extLst>
          </p:cNvPr>
          <p:cNvPicPr>
            <a:picLocks noChangeAspect="1"/>
          </p:cNvPicPr>
          <p:nvPr/>
        </p:nvPicPr>
        <p:blipFill>
          <a:blip r:embed="rId2"/>
          <a:stretch>
            <a:fillRect/>
          </a:stretch>
        </p:blipFill>
        <p:spPr>
          <a:xfrm>
            <a:off x="4029074" y="1506545"/>
            <a:ext cx="4657725" cy="4619625"/>
          </a:xfrm>
          <a:prstGeom prst="rect">
            <a:avLst/>
          </a:prstGeom>
        </p:spPr>
      </p:pic>
      <p:cxnSp>
        <p:nvCxnSpPr>
          <p:cNvPr id="6" name="直接箭头连接符 5">
            <a:extLst>
              <a:ext uri="{FF2B5EF4-FFF2-40B4-BE49-F238E27FC236}">
                <a16:creationId xmlns:a16="http://schemas.microsoft.com/office/drawing/2014/main" id="{E30C0036-51DC-4129-855C-03806AA9F590}"/>
              </a:ext>
            </a:extLst>
          </p:cNvPr>
          <p:cNvCxnSpPr>
            <a:cxnSpLocks/>
          </p:cNvCxnSpPr>
          <p:nvPr/>
        </p:nvCxnSpPr>
        <p:spPr>
          <a:xfrm flipV="1">
            <a:off x="3419872" y="2204864"/>
            <a:ext cx="609202" cy="1440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2047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24DAA-47E2-46D4-A81D-CE14CBF24445}"/>
              </a:ext>
            </a:extLst>
          </p:cNvPr>
          <p:cNvSpPr>
            <a:spLocks noGrp="1"/>
          </p:cNvSpPr>
          <p:nvPr>
            <p:ph type="title"/>
          </p:nvPr>
        </p:nvSpPr>
        <p:spPr/>
        <p:txBody>
          <a:bodyPr>
            <a:normAutofit fontScale="90000"/>
          </a:bodyPr>
          <a:lstStyle/>
          <a:p>
            <a:r>
              <a:rPr lang="en-US" altLang="zh-CN" dirty="0"/>
              <a:t>.</a:t>
            </a:r>
            <a:r>
              <a:rPr lang="en-US" altLang="zh-CN" dirty="0" err="1">
                <a:sym typeface="Wingdings 3" panose="05040102010807070707" pitchFamily="18" charset="2"/>
              </a:rPr>
              <a:t>i</a:t>
            </a:r>
            <a:r>
              <a:rPr lang="en-US" altLang="zh-CN" dirty="0">
                <a:sym typeface="Wingdings 3" panose="05040102010807070707" pitchFamily="18" charset="2"/>
              </a:rPr>
              <a:t>.s</a:t>
            </a:r>
            <a:endParaRPr lang="zh-CN" altLang="en-US" dirty="0"/>
          </a:p>
        </p:txBody>
      </p:sp>
      <p:sp>
        <p:nvSpPr>
          <p:cNvPr id="3" name="内容占位符 2">
            <a:extLst>
              <a:ext uri="{FF2B5EF4-FFF2-40B4-BE49-F238E27FC236}">
                <a16:creationId xmlns:a16="http://schemas.microsoft.com/office/drawing/2014/main" id="{3403CEE0-EFD4-49C5-8F54-71BFD73CF304}"/>
              </a:ext>
            </a:extLst>
          </p:cNvPr>
          <p:cNvSpPr>
            <a:spLocks noGrp="1"/>
          </p:cNvSpPr>
          <p:nvPr>
            <p:ph idx="1"/>
          </p:nvPr>
        </p:nvSpPr>
        <p:spPr/>
        <p:txBody>
          <a:bodyPr>
            <a:normAutofit/>
          </a:bodyPr>
          <a:lstStyle/>
          <a:p>
            <a:r>
              <a:rPr lang="en-US" altLang="zh-CN" sz="1600" dirty="0"/>
              <a:t>C</a:t>
            </a:r>
            <a:r>
              <a:rPr lang="zh-CN" altLang="en-US" sz="1600" dirty="0"/>
              <a:t>编译器</a:t>
            </a:r>
            <a:r>
              <a:rPr lang="en-US" altLang="zh-CN" sz="1600" dirty="0"/>
              <a:t>cc1</a:t>
            </a:r>
            <a:r>
              <a:rPr lang="zh-CN" altLang="en-US" sz="1600" dirty="0"/>
              <a:t>将</a:t>
            </a:r>
            <a:r>
              <a:rPr lang="en-US" altLang="zh-CN" sz="1600" dirty="0"/>
              <a:t>.</a:t>
            </a:r>
            <a:r>
              <a:rPr lang="en-US" altLang="zh-CN" sz="1600" dirty="0" err="1"/>
              <a:t>i</a:t>
            </a:r>
            <a:r>
              <a:rPr lang="zh-CN" altLang="en-US" sz="1600" dirty="0"/>
              <a:t>翻译成</a:t>
            </a:r>
            <a:r>
              <a:rPr lang="en-US" altLang="zh-CN" sz="1600" dirty="0"/>
              <a:t>.s ASCII</a:t>
            </a:r>
            <a:r>
              <a:rPr lang="zh-CN" altLang="en-US" sz="1600" dirty="0"/>
              <a:t>汇编语言文件</a:t>
            </a:r>
            <a:endParaRPr lang="en-US" altLang="zh-CN" sz="1600" dirty="0"/>
          </a:p>
          <a:p>
            <a:r>
              <a:rPr lang="zh-CN" altLang="en-US" sz="1600" dirty="0"/>
              <a:t>本例中</a:t>
            </a:r>
            <a:r>
              <a:rPr lang="en-US" altLang="zh-CN" sz="1600" dirty="0"/>
              <a:t>cc1</a:t>
            </a:r>
            <a:r>
              <a:rPr lang="zh-CN" altLang="en-US" sz="1600" dirty="0"/>
              <a:t>位置：</a:t>
            </a:r>
            <a:endParaRPr lang="en-US" altLang="zh-CN" sz="1600" dirty="0"/>
          </a:p>
          <a:p>
            <a:pPr lvl="1"/>
            <a:r>
              <a:rPr lang="en-US" altLang="zh-CN" sz="1600" dirty="0"/>
              <a:t>/</a:t>
            </a:r>
            <a:r>
              <a:rPr lang="en-US" altLang="zh-CN" sz="1600" dirty="0" err="1"/>
              <a:t>usr</a:t>
            </a:r>
            <a:r>
              <a:rPr lang="en-US" altLang="zh-CN" sz="1600" dirty="0"/>
              <a:t>/</a:t>
            </a:r>
            <a:r>
              <a:rPr lang="en-US" altLang="zh-CN" sz="1600" dirty="0" err="1"/>
              <a:t>libexec</a:t>
            </a:r>
            <a:r>
              <a:rPr lang="en-US" altLang="zh-CN" sz="1600" dirty="0"/>
              <a:t>/</a:t>
            </a:r>
            <a:r>
              <a:rPr lang="en-US" altLang="zh-CN" sz="1600" dirty="0" err="1"/>
              <a:t>gcc</a:t>
            </a:r>
            <a:r>
              <a:rPr lang="en-US" altLang="zh-CN" sz="1600" dirty="0"/>
              <a:t>/x86_64-redhat-linux/4.8.2/cc1</a:t>
            </a:r>
          </a:p>
          <a:p>
            <a:r>
              <a:rPr lang="en-US" altLang="zh-CN" sz="1600" dirty="0"/>
              <a:t>/</a:t>
            </a:r>
            <a:r>
              <a:rPr lang="en-US" altLang="zh-CN" sz="1600" dirty="0" err="1"/>
              <a:t>usr</a:t>
            </a:r>
            <a:r>
              <a:rPr lang="en-US" altLang="zh-CN" sz="1600" dirty="0"/>
              <a:t>/</a:t>
            </a:r>
            <a:r>
              <a:rPr lang="en-US" altLang="zh-CN" sz="1600" dirty="0" err="1"/>
              <a:t>libexec</a:t>
            </a:r>
            <a:r>
              <a:rPr lang="en-US" altLang="zh-CN" sz="1600" dirty="0"/>
              <a:t>/</a:t>
            </a:r>
            <a:r>
              <a:rPr lang="en-US" altLang="zh-CN" sz="1600" dirty="0" err="1"/>
              <a:t>gcc</a:t>
            </a:r>
            <a:r>
              <a:rPr lang="en-US" altLang="zh-CN" sz="1600" dirty="0"/>
              <a:t>/x86_64-redhat-linux/4.8.2/cc1 </a:t>
            </a:r>
            <a:r>
              <a:rPr lang="en-US" altLang="zh-CN" sz="1600" dirty="0" err="1"/>
              <a:t>main.i</a:t>
            </a:r>
            <a:r>
              <a:rPr lang="en-US" altLang="zh-CN" sz="1600" dirty="0"/>
              <a:t> -O3 -o </a:t>
            </a:r>
            <a:r>
              <a:rPr lang="en-US" altLang="zh-CN" sz="1600" dirty="0" err="1"/>
              <a:t>main.s</a:t>
            </a:r>
            <a:endParaRPr lang="en-US" altLang="zh-CN" sz="1600" dirty="0"/>
          </a:p>
          <a:p>
            <a:r>
              <a:rPr lang="en-US" altLang="zh-CN" sz="1600" dirty="0"/>
              <a:t>/</a:t>
            </a:r>
            <a:r>
              <a:rPr lang="en-US" altLang="zh-CN" sz="1600" dirty="0" err="1"/>
              <a:t>usr</a:t>
            </a:r>
            <a:r>
              <a:rPr lang="en-US" altLang="zh-CN" sz="1600" dirty="0"/>
              <a:t>/</a:t>
            </a:r>
            <a:r>
              <a:rPr lang="en-US" altLang="zh-CN" sz="1600" dirty="0" err="1"/>
              <a:t>libexec</a:t>
            </a:r>
            <a:r>
              <a:rPr lang="en-US" altLang="zh-CN" sz="1600" dirty="0"/>
              <a:t>/</a:t>
            </a:r>
            <a:r>
              <a:rPr lang="en-US" altLang="zh-CN" sz="1600" dirty="0" err="1"/>
              <a:t>gcc</a:t>
            </a:r>
            <a:r>
              <a:rPr lang="en-US" altLang="zh-CN" sz="1600" dirty="0"/>
              <a:t>/x86_64-redhat-linux/4.8.2/cc1 </a:t>
            </a:r>
            <a:r>
              <a:rPr lang="en-US" altLang="zh-CN" sz="1600" dirty="0" err="1"/>
              <a:t>sum.i</a:t>
            </a:r>
            <a:r>
              <a:rPr lang="en-US" altLang="zh-CN" sz="1600" dirty="0"/>
              <a:t> -O3 -o </a:t>
            </a:r>
            <a:r>
              <a:rPr lang="en-US" altLang="zh-CN" sz="1600" dirty="0" err="1"/>
              <a:t>sum.s</a:t>
            </a:r>
            <a:endParaRPr lang="zh-CN" altLang="en-US" sz="1600" dirty="0"/>
          </a:p>
        </p:txBody>
      </p:sp>
      <p:sp>
        <p:nvSpPr>
          <p:cNvPr id="4" name="灯片编号占位符 3">
            <a:extLst>
              <a:ext uri="{FF2B5EF4-FFF2-40B4-BE49-F238E27FC236}">
                <a16:creationId xmlns:a16="http://schemas.microsoft.com/office/drawing/2014/main" id="{644B6B4E-A33C-44E5-B564-2B2CEDA03693}"/>
              </a:ext>
            </a:extLst>
          </p:cNvPr>
          <p:cNvSpPr>
            <a:spLocks noGrp="1"/>
          </p:cNvSpPr>
          <p:nvPr>
            <p:ph type="sldNum" sz="quarter" idx="12"/>
          </p:nvPr>
        </p:nvSpPr>
        <p:spPr/>
        <p:txBody>
          <a:bodyPr/>
          <a:lstStyle/>
          <a:p>
            <a:fld id="{6D62327B-ED8D-4CFC-ADD0-A75FA5CBE281}" type="slidenum">
              <a:rPr lang="zh-CN" altLang="en-US" smtClean="0"/>
              <a:pPr/>
              <a:t>8</a:t>
            </a:fld>
            <a:endParaRPr lang="zh-CN" altLang="en-US" dirty="0"/>
          </a:p>
        </p:txBody>
      </p:sp>
      <p:cxnSp>
        <p:nvCxnSpPr>
          <p:cNvPr id="6" name="直接箭头连接符 5">
            <a:extLst>
              <a:ext uri="{FF2B5EF4-FFF2-40B4-BE49-F238E27FC236}">
                <a16:creationId xmlns:a16="http://schemas.microsoft.com/office/drawing/2014/main" id="{E30C0036-51DC-4129-855C-03806AA9F590}"/>
              </a:ext>
            </a:extLst>
          </p:cNvPr>
          <p:cNvCxnSpPr>
            <a:cxnSpLocks/>
          </p:cNvCxnSpPr>
          <p:nvPr/>
        </p:nvCxnSpPr>
        <p:spPr>
          <a:xfrm>
            <a:off x="6180830" y="1988840"/>
            <a:ext cx="911450" cy="38301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图片 7">
            <a:extLst>
              <a:ext uri="{FF2B5EF4-FFF2-40B4-BE49-F238E27FC236}">
                <a16:creationId xmlns:a16="http://schemas.microsoft.com/office/drawing/2014/main" id="{55456745-3CCD-472D-A980-5C6C0CE93650}"/>
              </a:ext>
            </a:extLst>
          </p:cNvPr>
          <p:cNvPicPr>
            <a:picLocks noChangeAspect="1"/>
          </p:cNvPicPr>
          <p:nvPr/>
        </p:nvPicPr>
        <p:blipFill>
          <a:blip r:embed="rId2"/>
          <a:stretch>
            <a:fillRect/>
          </a:stretch>
        </p:blipFill>
        <p:spPr>
          <a:xfrm>
            <a:off x="28575" y="2586938"/>
            <a:ext cx="6055593" cy="3955129"/>
          </a:xfrm>
          <a:prstGeom prst="rect">
            <a:avLst/>
          </a:prstGeom>
        </p:spPr>
      </p:pic>
      <p:pic>
        <p:nvPicPr>
          <p:cNvPr id="9" name="图片 8">
            <a:extLst>
              <a:ext uri="{FF2B5EF4-FFF2-40B4-BE49-F238E27FC236}">
                <a16:creationId xmlns:a16="http://schemas.microsoft.com/office/drawing/2014/main" id="{2BBD4CC8-6BC0-4998-8308-1F85D982CD92}"/>
              </a:ext>
            </a:extLst>
          </p:cNvPr>
          <p:cNvPicPr>
            <a:picLocks noChangeAspect="1"/>
          </p:cNvPicPr>
          <p:nvPr/>
        </p:nvPicPr>
        <p:blipFill>
          <a:blip r:embed="rId3"/>
          <a:stretch>
            <a:fillRect/>
          </a:stretch>
        </p:blipFill>
        <p:spPr>
          <a:xfrm>
            <a:off x="6180830" y="2371853"/>
            <a:ext cx="2934595" cy="4170214"/>
          </a:xfrm>
          <a:prstGeom prst="rect">
            <a:avLst/>
          </a:prstGeom>
        </p:spPr>
      </p:pic>
    </p:spTree>
    <p:extLst>
      <p:ext uri="{BB962C8B-B14F-4D97-AF65-F5344CB8AC3E}">
        <p14:creationId xmlns:p14="http://schemas.microsoft.com/office/powerpoint/2010/main" val="246167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24DAA-47E2-46D4-A81D-CE14CBF24445}"/>
              </a:ext>
            </a:extLst>
          </p:cNvPr>
          <p:cNvSpPr>
            <a:spLocks noGrp="1"/>
          </p:cNvSpPr>
          <p:nvPr>
            <p:ph type="title"/>
          </p:nvPr>
        </p:nvSpPr>
        <p:spPr/>
        <p:txBody>
          <a:bodyPr>
            <a:normAutofit fontScale="90000"/>
          </a:bodyPr>
          <a:lstStyle/>
          <a:p>
            <a:r>
              <a:rPr lang="en-US" altLang="zh-CN" dirty="0"/>
              <a:t>.</a:t>
            </a:r>
            <a:r>
              <a:rPr lang="en-US" altLang="zh-CN" dirty="0" err="1">
                <a:sym typeface="Wingdings 3" panose="05040102010807070707" pitchFamily="18" charset="2"/>
              </a:rPr>
              <a:t>s.o</a:t>
            </a:r>
            <a:endParaRPr lang="zh-CN" altLang="en-US" dirty="0"/>
          </a:p>
        </p:txBody>
      </p:sp>
      <p:sp>
        <p:nvSpPr>
          <p:cNvPr id="3" name="内容占位符 2">
            <a:extLst>
              <a:ext uri="{FF2B5EF4-FFF2-40B4-BE49-F238E27FC236}">
                <a16:creationId xmlns:a16="http://schemas.microsoft.com/office/drawing/2014/main" id="{3403CEE0-EFD4-49C5-8F54-71BFD73CF304}"/>
              </a:ext>
            </a:extLst>
          </p:cNvPr>
          <p:cNvSpPr>
            <a:spLocks noGrp="1"/>
          </p:cNvSpPr>
          <p:nvPr>
            <p:ph idx="1"/>
          </p:nvPr>
        </p:nvSpPr>
        <p:spPr/>
        <p:txBody>
          <a:bodyPr>
            <a:normAutofit/>
          </a:bodyPr>
          <a:lstStyle/>
          <a:p>
            <a:r>
              <a:rPr lang="zh-CN" altLang="en-US" sz="2800" dirty="0"/>
              <a:t>汇编器</a:t>
            </a:r>
            <a:r>
              <a:rPr lang="en-US" altLang="zh-CN" sz="2800" dirty="0"/>
              <a:t>as</a:t>
            </a:r>
            <a:r>
              <a:rPr lang="zh-CN" altLang="en-US" sz="2800" dirty="0"/>
              <a:t>将</a:t>
            </a:r>
            <a:r>
              <a:rPr lang="en-US" altLang="zh-CN" sz="2800" dirty="0"/>
              <a:t>.s</a:t>
            </a:r>
            <a:r>
              <a:rPr lang="zh-CN" altLang="en-US" sz="2800" dirty="0"/>
              <a:t>翻译成</a:t>
            </a:r>
            <a:r>
              <a:rPr lang="en-US" altLang="zh-CN" sz="2800" dirty="0"/>
              <a:t>.o </a:t>
            </a:r>
            <a:r>
              <a:rPr lang="zh-CN" altLang="en-US" sz="2800" dirty="0"/>
              <a:t>可重定位目标件</a:t>
            </a:r>
            <a:endParaRPr lang="en-US" altLang="zh-CN" sz="2800" dirty="0"/>
          </a:p>
          <a:p>
            <a:pPr lvl="1"/>
            <a:r>
              <a:rPr lang="pt-BR" altLang="zh-CN" sz="2000" dirty="0"/>
              <a:t>as -o main.o main.s</a:t>
            </a:r>
          </a:p>
          <a:p>
            <a:pPr lvl="1"/>
            <a:r>
              <a:rPr lang="pt-BR" altLang="zh-CN" sz="2000" dirty="0"/>
              <a:t>as -o sum.o sum.s</a:t>
            </a:r>
          </a:p>
          <a:p>
            <a:pPr lvl="1"/>
            <a:endParaRPr lang="pt-BR" altLang="zh-CN" sz="2000" dirty="0"/>
          </a:p>
          <a:p>
            <a:pPr lvl="1"/>
            <a:endParaRPr lang="pt-BR" altLang="zh-CN" sz="2000" dirty="0"/>
          </a:p>
          <a:p>
            <a:r>
              <a:rPr lang="zh-CN" altLang="en-US" sz="2300" dirty="0"/>
              <a:t>链接器</a:t>
            </a:r>
            <a:r>
              <a:rPr lang="en-US" altLang="zh-CN" sz="2300" dirty="0" err="1"/>
              <a:t>ld</a:t>
            </a:r>
            <a:r>
              <a:rPr lang="zh-CN" altLang="en-US" sz="2300" dirty="0"/>
              <a:t>将</a:t>
            </a:r>
            <a:r>
              <a:rPr lang="en-US" altLang="zh-CN" sz="2300" dirty="0" err="1"/>
              <a:t>main.o</a:t>
            </a:r>
            <a:r>
              <a:rPr lang="zh-CN" altLang="en-US" sz="2300" dirty="0"/>
              <a:t>和</a:t>
            </a:r>
            <a:r>
              <a:rPr lang="en-US" altLang="zh-CN" sz="2300" dirty="0" err="1"/>
              <a:t>sum.o</a:t>
            </a:r>
            <a:r>
              <a:rPr lang="zh-CN" altLang="en-US" sz="2300" dirty="0"/>
              <a:t>以及一些必要的系统目标文件组合起来，创建可执行目标文件</a:t>
            </a:r>
            <a:r>
              <a:rPr lang="en-US" altLang="zh-CN" sz="2300" dirty="0"/>
              <a:t>prog</a:t>
            </a:r>
            <a:r>
              <a:rPr lang="zh-CN" altLang="en-US" sz="2300" dirty="0"/>
              <a:t>（链接错误，未生成）</a:t>
            </a:r>
            <a:endParaRPr lang="en-US" altLang="zh-CN" sz="2300" dirty="0"/>
          </a:p>
          <a:p>
            <a:pPr lvl="1"/>
            <a:r>
              <a:rPr lang="pt-BR" altLang="zh-CN" sz="2000" dirty="0"/>
              <a:t>ld -o prog main.o sum.o</a:t>
            </a:r>
          </a:p>
          <a:p>
            <a:pPr lvl="1"/>
            <a:endParaRPr lang="pt-BR" altLang="zh-CN" sz="2000" dirty="0"/>
          </a:p>
          <a:p>
            <a:pPr lvl="1"/>
            <a:endParaRPr lang="pt-BR" altLang="zh-CN" sz="2000" dirty="0"/>
          </a:p>
          <a:p>
            <a:endParaRPr lang="pt-BR" altLang="zh-CN" sz="2300" dirty="0"/>
          </a:p>
          <a:p>
            <a:r>
              <a:rPr lang="pt-BR" altLang="zh-CN" sz="2300" dirty="0"/>
              <a:t>Gcc</a:t>
            </a:r>
            <a:r>
              <a:rPr lang="zh-CN" altLang="en-US" sz="2300" dirty="0"/>
              <a:t>直接编译执行</a:t>
            </a:r>
            <a:endParaRPr lang="en-US" altLang="zh-CN" sz="2300" dirty="0"/>
          </a:p>
          <a:p>
            <a:pPr lvl="1"/>
            <a:r>
              <a:rPr lang="en-US" altLang="zh-CN" sz="2000" dirty="0" err="1"/>
              <a:t>gcc</a:t>
            </a:r>
            <a:r>
              <a:rPr lang="en-US" altLang="zh-CN" sz="2000" dirty="0"/>
              <a:t> -O3 -o prog </a:t>
            </a:r>
            <a:r>
              <a:rPr lang="en-US" altLang="zh-CN" sz="2000" dirty="0" err="1"/>
              <a:t>main.c</a:t>
            </a:r>
            <a:r>
              <a:rPr lang="en-US" altLang="zh-CN" sz="2000" dirty="0"/>
              <a:t> </a:t>
            </a:r>
            <a:r>
              <a:rPr lang="en-US" altLang="zh-CN" sz="2000" dirty="0" err="1"/>
              <a:t>sum.c</a:t>
            </a:r>
            <a:endParaRPr lang="en-US" altLang="zh-CN" sz="2000" dirty="0"/>
          </a:p>
          <a:p>
            <a:pPr lvl="1"/>
            <a:endParaRPr lang="zh-CN" altLang="en-US" sz="2000" dirty="0"/>
          </a:p>
        </p:txBody>
      </p:sp>
      <p:sp>
        <p:nvSpPr>
          <p:cNvPr id="4" name="灯片编号占位符 3">
            <a:extLst>
              <a:ext uri="{FF2B5EF4-FFF2-40B4-BE49-F238E27FC236}">
                <a16:creationId xmlns:a16="http://schemas.microsoft.com/office/drawing/2014/main" id="{644B6B4E-A33C-44E5-B564-2B2CEDA03693}"/>
              </a:ext>
            </a:extLst>
          </p:cNvPr>
          <p:cNvSpPr>
            <a:spLocks noGrp="1"/>
          </p:cNvSpPr>
          <p:nvPr>
            <p:ph type="sldNum" sz="quarter" idx="12"/>
          </p:nvPr>
        </p:nvSpPr>
        <p:spPr/>
        <p:txBody>
          <a:bodyPr/>
          <a:lstStyle/>
          <a:p>
            <a:fld id="{6D62327B-ED8D-4CFC-ADD0-A75FA5CBE281}" type="slidenum">
              <a:rPr lang="zh-CN" altLang="en-US" smtClean="0"/>
              <a:pPr/>
              <a:t>9</a:t>
            </a:fld>
            <a:endParaRPr lang="zh-CN" altLang="en-US" dirty="0"/>
          </a:p>
        </p:txBody>
      </p:sp>
      <p:pic>
        <p:nvPicPr>
          <p:cNvPr id="5" name="图片 4">
            <a:extLst>
              <a:ext uri="{FF2B5EF4-FFF2-40B4-BE49-F238E27FC236}">
                <a16:creationId xmlns:a16="http://schemas.microsoft.com/office/drawing/2014/main" id="{07517A65-92A8-4E03-9EFF-779BC35F38C5}"/>
              </a:ext>
            </a:extLst>
          </p:cNvPr>
          <p:cNvPicPr>
            <a:picLocks noChangeAspect="1"/>
          </p:cNvPicPr>
          <p:nvPr/>
        </p:nvPicPr>
        <p:blipFill>
          <a:blip r:embed="rId2"/>
          <a:stretch>
            <a:fillRect/>
          </a:stretch>
        </p:blipFill>
        <p:spPr>
          <a:xfrm>
            <a:off x="1096270" y="2175211"/>
            <a:ext cx="4418565" cy="497866"/>
          </a:xfrm>
          <a:prstGeom prst="rect">
            <a:avLst/>
          </a:prstGeom>
        </p:spPr>
      </p:pic>
      <p:pic>
        <p:nvPicPr>
          <p:cNvPr id="7" name="图片 6">
            <a:extLst>
              <a:ext uri="{FF2B5EF4-FFF2-40B4-BE49-F238E27FC236}">
                <a16:creationId xmlns:a16="http://schemas.microsoft.com/office/drawing/2014/main" id="{C880B68E-D3C9-47E9-913B-B283DCDAA119}"/>
              </a:ext>
            </a:extLst>
          </p:cNvPr>
          <p:cNvPicPr>
            <a:picLocks noChangeAspect="1"/>
          </p:cNvPicPr>
          <p:nvPr/>
        </p:nvPicPr>
        <p:blipFill>
          <a:blip r:embed="rId3"/>
          <a:stretch>
            <a:fillRect/>
          </a:stretch>
        </p:blipFill>
        <p:spPr>
          <a:xfrm>
            <a:off x="1096270" y="4011254"/>
            <a:ext cx="6951459" cy="864096"/>
          </a:xfrm>
          <a:prstGeom prst="rect">
            <a:avLst/>
          </a:prstGeom>
        </p:spPr>
      </p:pic>
      <p:pic>
        <p:nvPicPr>
          <p:cNvPr id="10" name="图片 9">
            <a:extLst>
              <a:ext uri="{FF2B5EF4-FFF2-40B4-BE49-F238E27FC236}">
                <a16:creationId xmlns:a16="http://schemas.microsoft.com/office/drawing/2014/main" id="{21E90189-0599-4596-826E-D4404E693350}"/>
              </a:ext>
            </a:extLst>
          </p:cNvPr>
          <p:cNvPicPr>
            <a:picLocks noChangeAspect="1"/>
          </p:cNvPicPr>
          <p:nvPr/>
        </p:nvPicPr>
        <p:blipFill>
          <a:blip r:embed="rId4"/>
          <a:stretch>
            <a:fillRect/>
          </a:stretch>
        </p:blipFill>
        <p:spPr>
          <a:xfrm>
            <a:off x="1096270" y="5936794"/>
            <a:ext cx="4506297" cy="638175"/>
          </a:xfrm>
          <a:prstGeom prst="rect">
            <a:avLst/>
          </a:prstGeom>
        </p:spPr>
      </p:pic>
    </p:spTree>
    <p:extLst>
      <p:ext uri="{BB962C8B-B14F-4D97-AF65-F5344CB8AC3E}">
        <p14:creationId xmlns:p14="http://schemas.microsoft.com/office/powerpoint/2010/main" val="1668112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366076-9043-4D3E-8660-7948573229C1}"/>
              </a:ext>
            </a:extLst>
          </p:cNvPr>
          <p:cNvSpPr>
            <a:spLocks noGrp="1"/>
          </p:cNvSpPr>
          <p:nvPr>
            <p:ph type="title"/>
          </p:nvPr>
        </p:nvSpPr>
        <p:spPr/>
        <p:txBody>
          <a:bodyPr>
            <a:normAutofit fontScale="90000"/>
          </a:bodyPr>
          <a:lstStyle/>
          <a:p>
            <a:r>
              <a:rPr lang="zh-CN" altLang="en-US" dirty="0"/>
              <a:t>查看</a:t>
            </a:r>
            <a:r>
              <a:rPr lang="en-US" altLang="zh-CN" dirty="0" err="1"/>
              <a:t>gcc</a:t>
            </a:r>
            <a:r>
              <a:rPr lang="zh-CN" altLang="en-US" dirty="0"/>
              <a:t>编译</a:t>
            </a:r>
          </a:p>
        </p:txBody>
      </p:sp>
      <p:sp>
        <p:nvSpPr>
          <p:cNvPr id="3" name="内容占位符 2">
            <a:extLst>
              <a:ext uri="{FF2B5EF4-FFF2-40B4-BE49-F238E27FC236}">
                <a16:creationId xmlns:a16="http://schemas.microsoft.com/office/drawing/2014/main" id="{E48BAA30-D499-42E7-81D2-51CA616E1EE5}"/>
              </a:ext>
            </a:extLst>
          </p:cNvPr>
          <p:cNvSpPr>
            <a:spLocks noGrp="1"/>
          </p:cNvSpPr>
          <p:nvPr>
            <p:ph idx="1"/>
          </p:nvPr>
        </p:nvSpPr>
        <p:spPr>
          <a:xfrm>
            <a:off x="457200" y="675270"/>
            <a:ext cx="8229600" cy="5289136"/>
          </a:xfrm>
        </p:spPr>
        <p:txBody>
          <a:bodyPr>
            <a:normAutofit/>
          </a:bodyPr>
          <a:lstStyle/>
          <a:p>
            <a:r>
              <a:rPr lang="en-US" altLang="zh-CN" sz="1800" dirty="0" err="1"/>
              <a:t>gcc</a:t>
            </a:r>
            <a:r>
              <a:rPr lang="en-US" altLang="zh-CN" sz="1800" dirty="0"/>
              <a:t> -O3 -o prog </a:t>
            </a:r>
            <a:r>
              <a:rPr lang="en-US" altLang="zh-CN" sz="1800" dirty="0" err="1"/>
              <a:t>main.c</a:t>
            </a:r>
            <a:r>
              <a:rPr lang="en-US" altLang="zh-CN" sz="1800" dirty="0"/>
              <a:t> </a:t>
            </a:r>
            <a:r>
              <a:rPr lang="en-US" altLang="zh-CN" sz="1800" dirty="0" err="1"/>
              <a:t>sum.c</a:t>
            </a:r>
            <a:r>
              <a:rPr lang="en-US" altLang="zh-CN" sz="1800" dirty="0"/>
              <a:t> -v</a:t>
            </a:r>
            <a:endParaRPr lang="zh-CN" altLang="en-US" sz="1800" dirty="0"/>
          </a:p>
        </p:txBody>
      </p:sp>
      <p:sp>
        <p:nvSpPr>
          <p:cNvPr id="4" name="灯片编号占位符 3">
            <a:extLst>
              <a:ext uri="{FF2B5EF4-FFF2-40B4-BE49-F238E27FC236}">
                <a16:creationId xmlns:a16="http://schemas.microsoft.com/office/drawing/2014/main" id="{D52FE031-8656-434B-9E3A-6056A9ABA931}"/>
              </a:ext>
            </a:extLst>
          </p:cNvPr>
          <p:cNvSpPr>
            <a:spLocks noGrp="1"/>
          </p:cNvSpPr>
          <p:nvPr>
            <p:ph type="sldNum" sz="quarter" idx="12"/>
          </p:nvPr>
        </p:nvSpPr>
        <p:spPr/>
        <p:txBody>
          <a:bodyPr/>
          <a:lstStyle/>
          <a:p>
            <a:fld id="{6D62327B-ED8D-4CFC-ADD0-A75FA5CBE281}" type="slidenum">
              <a:rPr lang="zh-CN" altLang="en-US" smtClean="0"/>
              <a:pPr/>
              <a:t>10</a:t>
            </a:fld>
            <a:endParaRPr lang="zh-CN" altLang="en-US" dirty="0"/>
          </a:p>
        </p:txBody>
      </p:sp>
      <p:pic>
        <p:nvPicPr>
          <p:cNvPr id="5" name="图片 4">
            <a:extLst>
              <a:ext uri="{FF2B5EF4-FFF2-40B4-BE49-F238E27FC236}">
                <a16:creationId xmlns:a16="http://schemas.microsoft.com/office/drawing/2014/main" id="{3B6FF212-E1F4-43C2-940B-60363D79C905}"/>
              </a:ext>
            </a:extLst>
          </p:cNvPr>
          <p:cNvPicPr>
            <a:picLocks noChangeAspect="1"/>
          </p:cNvPicPr>
          <p:nvPr/>
        </p:nvPicPr>
        <p:blipFill>
          <a:blip r:embed="rId2"/>
          <a:stretch>
            <a:fillRect/>
          </a:stretch>
        </p:blipFill>
        <p:spPr>
          <a:xfrm>
            <a:off x="755576" y="1069723"/>
            <a:ext cx="7632848" cy="5538469"/>
          </a:xfrm>
          <a:prstGeom prst="rect">
            <a:avLst/>
          </a:prstGeom>
        </p:spPr>
      </p:pic>
    </p:spTree>
    <p:extLst>
      <p:ext uri="{BB962C8B-B14F-4D97-AF65-F5344CB8AC3E}">
        <p14:creationId xmlns:p14="http://schemas.microsoft.com/office/powerpoint/2010/main" val="7568412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6156E4-EAD8-483A-9DB4-2050D87D0D39}"/>
              </a:ext>
            </a:extLst>
          </p:cNvPr>
          <p:cNvSpPr>
            <a:spLocks noGrp="1"/>
          </p:cNvSpPr>
          <p:nvPr>
            <p:ph type="title"/>
          </p:nvPr>
        </p:nvSpPr>
        <p:spPr/>
        <p:txBody>
          <a:bodyPr>
            <a:normAutofit fontScale="90000"/>
          </a:bodyPr>
          <a:lstStyle/>
          <a:p>
            <a:r>
              <a:rPr lang="en-US" altLang="zh-CN" dirty="0"/>
              <a:t>7.2 </a:t>
            </a:r>
            <a:r>
              <a:rPr lang="zh-CN" altLang="en-US" dirty="0"/>
              <a:t>静态链接</a:t>
            </a:r>
          </a:p>
        </p:txBody>
      </p:sp>
      <p:sp>
        <p:nvSpPr>
          <p:cNvPr id="3" name="内容占位符 2">
            <a:extLst>
              <a:ext uri="{FF2B5EF4-FFF2-40B4-BE49-F238E27FC236}">
                <a16:creationId xmlns:a16="http://schemas.microsoft.com/office/drawing/2014/main" id="{BE1F7A51-CD1E-4339-9F08-8477ABA82B25}"/>
              </a:ext>
            </a:extLst>
          </p:cNvPr>
          <p:cNvSpPr>
            <a:spLocks noGrp="1"/>
          </p:cNvSpPr>
          <p:nvPr>
            <p:ph idx="1"/>
          </p:nvPr>
        </p:nvSpPr>
        <p:spPr/>
        <p:txBody>
          <a:bodyPr>
            <a:normAutofit fontScale="92500" lnSpcReduction="20000"/>
          </a:bodyPr>
          <a:lstStyle/>
          <a:p>
            <a:r>
              <a:rPr lang="zh-CN" altLang="en-US" dirty="0"/>
              <a:t>静态链接器（</a:t>
            </a:r>
            <a:r>
              <a:rPr lang="en-US" altLang="zh-CN" dirty="0"/>
              <a:t>static linker</a:t>
            </a:r>
            <a:r>
              <a:rPr lang="zh-CN" altLang="en-US" dirty="0"/>
              <a:t>）：以一组可重定位目标文件和命令行参数作为输入，生成一个完全链接的、可以加载和运行的可执行目标为输出。</a:t>
            </a:r>
            <a:endParaRPr lang="en-US" altLang="zh-CN" dirty="0"/>
          </a:p>
          <a:p>
            <a:pPr lvl="1"/>
            <a:r>
              <a:rPr lang="zh-CN" altLang="en-US" dirty="0"/>
              <a:t>输入的可重定位目标文件由各种不同的代码和数据节（</a:t>
            </a:r>
            <a:r>
              <a:rPr lang="en-US" altLang="zh-CN" dirty="0"/>
              <a:t>section</a:t>
            </a:r>
            <a:r>
              <a:rPr lang="zh-CN" altLang="en-US" dirty="0"/>
              <a:t>）组成，每一节都是一个连续的字节序列</a:t>
            </a:r>
            <a:endParaRPr lang="en-US" altLang="zh-CN" dirty="0"/>
          </a:p>
          <a:p>
            <a:pPr lvl="2"/>
            <a:r>
              <a:rPr lang="zh-CN" altLang="en-US" dirty="0"/>
              <a:t>指令、初始化了的全局变量、未初始化的变量在不同的节中</a:t>
            </a:r>
            <a:endParaRPr lang="en-US" altLang="zh-CN" dirty="0"/>
          </a:p>
          <a:p>
            <a:r>
              <a:rPr lang="zh-CN" altLang="en-US" dirty="0"/>
              <a:t>为构造可执行文件，链接器必须完成的两个主要任务：</a:t>
            </a:r>
            <a:endParaRPr lang="en-US" altLang="zh-CN" dirty="0"/>
          </a:p>
          <a:p>
            <a:pPr lvl="1"/>
            <a:r>
              <a:rPr lang="zh-CN" altLang="en-US" dirty="0"/>
              <a:t>符号解析：将每个符号引用和符号定义关联起来</a:t>
            </a:r>
            <a:endParaRPr lang="en-US" altLang="zh-CN" dirty="0"/>
          </a:p>
          <a:p>
            <a:pPr lvl="2"/>
            <a:r>
              <a:rPr lang="zh-CN" altLang="en-US" dirty="0"/>
              <a:t>目标文件定义和引用符号，每个符号对应一个函数、一个全局变量或一个静态变量</a:t>
            </a:r>
            <a:endParaRPr lang="en-US" altLang="zh-CN" dirty="0"/>
          </a:p>
          <a:p>
            <a:pPr lvl="1"/>
            <a:r>
              <a:rPr lang="zh-CN" altLang="en-US" dirty="0"/>
              <a:t>重定位：把每个符号定义与一个内存位置关联起来</a:t>
            </a:r>
            <a:endParaRPr lang="en-US" altLang="zh-CN" dirty="0"/>
          </a:p>
          <a:p>
            <a:pPr lvl="2"/>
            <a:r>
              <a:rPr lang="zh-CN" altLang="en-US" dirty="0"/>
              <a:t>编译器和汇编器生成从地址</a:t>
            </a:r>
            <a:r>
              <a:rPr lang="en-US" altLang="zh-CN" dirty="0"/>
              <a:t>0</a:t>
            </a:r>
            <a:r>
              <a:rPr lang="zh-CN" altLang="en-US" dirty="0"/>
              <a:t>开始的代码和数据节</a:t>
            </a:r>
            <a:endParaRPr lang="en-US" altLang="zh-CN" dirty="0"/>
          </a:p>
          <a:p>
            <a:pPr lvl="2"/>
            <a:r>
              <a:rPr lang="zh-CN" altLang="en-US" dirty="0"/>
              <a:t>链接器重定位这些节，修改所有对这些符号的引用，使它们指向这个内存位置</a:t>
            </a:r>
            <a:endParaRPr lang="en-US" altLang="zh-CN" dirty="0"/>
          </a:p>
          <a:p>
            <a:pPr lvl="2"/>
            <a:r>
              <a:rPr lang="zh-CN" altLang="en-US" dirty="0"/>
              <a:t>链接器使用汇编器产生的重定位条目的详细指令</a:t>
            </a:r>
            <a:endParaRPr lang="en-US" altLang="zh-CN" dirty="0"/>
          </a:p>
          <a:p>
            <a:r>
              <a:rPr lang="zh-CN" altLang="en-US" dirty="0"/>
              <a:t>目标文件是字节块的集合，有些包含代码，有些包含数据，其他的包含引导链接器和加载器的数据结构</a:t>
            </a:r>
            <a:endParaRPr lang="en-US" altLang="zh-CN" dirty="0"/>
          </a:p>
          <a:p>
            <a:pPr lvl="1"/>
            <a:r>
              <a:rPr lang="zh-CN" altLang="en-US" dirty="0"/>
              <a:t>链接器将这些块连接起来，确定被连接块的运行时位置，并且修改代码和数据块中的各种位置</a:t>
            </a:r>
          </a:p>
        </p:txBody>
      </p:sp>
      <p:sp>
        <p:nvSpPr>
          <p:cNvPr id="4" name="灯片编号占位符 3">
            <a:extLst>
              <a:ext uri="{FF2B5EF4-FFF2-40B4-BE49-F238E27FC236}">
                <a16:creationId xmlns:a16="http://schemas.microsoft.com/office/drawing/2014/main" id="{6E31A37E-CDBB-427A-8497-001DF7B33E9A}"/>
              </a:ext>
            </a:extLst>
          </p:cNvPr>
          <p:cNvSpPr>
            <a:spLocks noGrp="1"/>
          </p:cNvSpPr>
          <p:nvPr>
            <p:ph type="sldNum" sz="quarter" idx="12"/>
          </p:nvPr>
        </p:nvSpPr>
        <p:spPr/>
        <p:txBody>
          <a:bodyPr/>
          <a:lstStyle/>
          <a:p>
            <a:fld id="{6D62327B-ED8D-4CFC-ADD0-A75FA5CBE281}" type="slidenum">
              <a:rPr lang="zh-CN" altLang="en-US" smtClean="0"/>
              <a:pPr/>
              <a:t>11</a:t>
            </a:fld>
            <a:endParaRPr lang="zh-CN" altLang="en-US" dirty="0"/>
          </a:p>
        </p:txBody>
      </p:sp>
    </p:spTree>
    <p:extLst>
      <p:ext uri="{BB962C8B-B14F-4D97-AF65-F5344CB8AC3E}">
        <p14:creationId xmlns:p14="http://schemas.microsoft.com/office/powerpoint/2010/main" val="364987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3E56E7-F590-4974-8284-AC1ADADF1D82}"/>
              </a:ext>
            </a:extLst>
          </p:cNvPr>
          <p:cNvSpPr>
            <a:spLocks noGrp="1"/>
          </p:cNvSpPr>
          <p:nvPr>
            <p:ph type="title"/>
          </p:nvPr>
        </p:nvSpPr>
        <p:spPr/>
        <p:txBody>
          <a:bodyPr>
            <a:normAutofit fontScale="90000"/>
          </a:bodyPr>
          <a:lstStyle/>
          <a:p>
            <a:r>
              <a:rPr lang="en-US" altLang="zh-CN" dirty="0"/>
              <a:t>7.3 </a:t>
            </a:r>
            <a:r>
              <a:rPr lang="zh-CN" altLang="en-US" dirty="0"/>
              <a:t>目标文件</a:t>
            </a:r>
          </a:p>
        </p:txBody>
      </p:sp>
      <p:sp>
        <p:nvSpPr>
          <p:cNvPr id="3" name="内容占位符 2">
            <a:extLst>
              <a:ext uri="{FF2B5EF4-FFF2-40B4-BE49-F238E27FC236}">
                <a16:creationId xmlns:a16="http://schemas.microsoft.com/office/drawing/2014/main" id="{9539DB87-F78A-4B1C-B7DE-BDF533BF8565}"/>
              </a:ext>
            </a:extLst>
          </p:cNvPr>
          <p:cNvSpPr>
            <a:spLocks noGrp="1"/>
          </p:cNvSpPr>
          <p:nvPr>
            <p:ph idx="1"/>
          </p:nvPr>
        </p:nvSpPr>
        <p:spPr/>
        <p:txBody>
          <a:bodyPr>
            <a:normAutofit fontScale="92500" lnSpcReduction="20000"/>
          </a:bodyPr>
          <a:lstStyle/>
          <a:p>
            <a:r>
              <a:rPr lang="zh-CN" altLang="en-US" dirty="0"/>
              <a:t>目标文件有三种类型：</a:t>
            </a:r>
            <a:endParaRPr lang="en-US" altLang="zh-CN" dirty="0"/>
          </a:p>
          <a:p>
            <a:pPr lvl="1"/>
            <a:r>
              <a:rPr lang="zh-CN" altLang="en-US" dirty="0"/>
              <a:t>可重定位目标文件（</a:t>
            </a:r>
            <a:r>
              <a:rPr lang="en-US" altLang="zh-CN" dirty="0"/>
              <a:t>.o</a:t>
            </a:r>
            <a:r>
              <a:rPr lang="zh-CN" altLang="en-US" dirty="0"/>
              <a:t>文件）</a:t>
            </a:r>
            <a:endParaRPr lang="en-US" altLang="zh-CN" dirty="0"/>
          </a:p>
          <a:p>
            <a:pPr lvl="2"/>
            <a:r>
              <a:rPr lang="zh-CN" altLang="en-US" dirty="0"/>
              <a:t>包含二进制代码和数据，其形式可以在编译时与其他可重定位目标文件合并起来，创建一个可执行目标文件</a:t>
            </a:r>
            <a:endParaRPr lang="en-US" altLang="zh-CN" dirty="0"/>
          </a:p>
          <a:p>
            <a:pPr lvl="1"/>
            <a:r>
              <a:rPr lang="zh-CN" altLang="en-US" dirty="0"/>
              <a:t>可执行目标文件（</a:t>
            </a:r>
            <a:r>
              <a:rPr lang="en-US" altLang="zh-CN" dirty="0" err="1"/>
              <a:t>a.out</a:t>
            </a:r>
            <a:r>
              <a:rPr lang="zh-CN" altLang="en-US" dirty="0"/>
              <a:t>文件）</a:t>
            </a:r>
            <a:endParaRPr lang="en-US" altLang="zh-CN" dirty="0"/>
          </a:p>
          <a:p>
            <a:pPr lvl="2"/>
            <a:r>
              <a:rPr lang="zh-CN" altLang="en-US" dirty="0"/>
              <a:t>包含二进制代码和数据，其形式可以被直接复制到内存并执行</a:t>
            </a:r>
            <a:endParaRPr lang="en-US" altLang="zh-CN" dirty="0"/>
          </a:p>
          <a:p>
            <a:pPr lvl="1"/>
            <a:r>
              <a:rPr lang="zh-CN" altLang="en-US" dirty="0"/>
              <a:t>共享目标文件（</a:t>
            </a:r>
            <a:r>
              <a:rPr lang="en-US" altLang="zh-CN" dirty="0"/>
              <a:t>.so</a:t>
            </a:r>
            <a:r>
              <a:rPr lang="zh-CN" altLang="en-US" dirty="0"/>
              <a:t>文件）</a:t>
            </a:r>
            <a:endParaRPr lang="en-US" altLang="zh-CN" dirty="0"/>
          </a:p>
          <a:p>
            <a:pPr lvl="2"/>
            <a:r>
              <a:rPr lang="zh-CN" altLang="en-US" dirty="0"/>
              <a:t>一种特殊类型的可重定位目标文件，可以在加载或运行时被动态地加载进内存并连接</a:t>
            </a:r>
            <a:endParaRPr lang="en-US" altLang="zh-CN" dirty="0"/>
          </a:p>
          <a:p>
            <a:r>
              <a:rPr lang="zh-CN" altLang="en-US" dirty="0"/>
              <a:t>编译器和汇编器生成可重定位目标文件（包含共享目标文件），链接器生成可执行目标文件</a:t>
            </a:r>
            <a:endParaRPr lang="en-US" altLang="zh-CN" dirty="0"/>
          </a:p>
          <a:p>
            <a:r>
              <a:rPr lang="zh-CN" altLang="en-US" dirty="0"/>
              <a:t>一个目标模块是一个字节序列，一个目标文件是一个以文件形式存放在磁盘中的目标模块</a:t>
            </a:r>
            <a:endParaRPr lang="en-US" altLang="zh-CN" dirty="0"/>
          </a:p>
          <a:p>
            <a:r>
              <a:rPr lang="zh-CN" altLang="en-US" dirty="0"/>
              <a:t>目标文件的格式：</a:t>
            </a:r>
            <a:endParaRPr lang="en-US" altLang="zh-CN" dirty="0"/>
          </a:p>
          <a:p>
            <a:pPr lvl="1"/>
            <a:r>
              <a:rPr lang="en-US" altLang="zh-CN" dirty="0"/>
              <a:t>Windows</a:t>
            </a:r>
            <a:r>
              <a:rPr lang="zh-CN" altLang="en-US" dirty="0"/>
              <a:t>：可移植可执行格式 ，</a:t>
            </a:r>
            <a:r>
              <a:rPr lang="en-US" altLang="zh-CN" dirty="0"/>
              <a:t>PE</a:t>
            </a:r>
            <a:r>
              <a:rPr lang="zh-CN" altLang="en-US" dirty="0"/>
              <a:t>格式</a:t>
            </a:r>
            <a:endParaRPr lang="en-US" altLang="zh-CN" dirty="0"/>
          </a:p>
          <a:p>
            <a:pPr lvl="1"/>
            <a:r>
              <a:rPr lang="en-US" altLang="zh-CN" dirty="0"/>
              <a:t>MacOS-X</a:t>
            </a:r>
            <a:r>
              <a:rPr lang="zh-CN" altLang="en-US" dirty="0"/>
              <a:t>：</a:t>
            </a:r>
            <a:r>
              <a:rPr lang="en-US" altLang="zh-CN" dirty="0"/>
              <a:t>Mach-O</a:t>
            </a:r>
            <a:r>
              <a:rPr lang="zh-CN" altLang="en-US" dirty="0"/>
              <a:t>格式</a:t>
            </a:r>
            <a:endParaRPr lang="en-US" altLang="zh-CN" dirty="0"/>
          </a:p>
          <a:p>
            <a:pPr lvl="1"/>
            <a:r>
              <a:rPr lang="en-US" altLang="zh-CN" dirty="0"/>
              <a:t>X86-64 Linux</a:t>
            </a:r>
            <a:r>
              <a:rPr lang="zh-CN" altLang="en-US" dirty="0"/>
              <a:t>和</a:t>
            </a:r>
            <a:r>
              <a:rPr lang="en-US" altLang="zh-CN" dirty="0"/>
              <a:t>Unix</a:t>
            </a:r>
            <a:r>
              <a:rPr lang="zh-CN" altLang="en-US" dirty="0"/>
              <a:t>系统：可执行可链接格式，</a:t>
            </a:r>
            <a:r>
              <a:rPr lang="en-US" altLang="zh-CN" dirty="0"/>
              <a:t>ELF</a:t>
            </a:r>
            <a:r>
              <a:rPr lang="zh-CN" altLang="en-US" dirty="0"/>
              <a:t>格式</a:t>
            </a:r>
            <a:endParaRPr lang="en-US" altLang="zh-CN" dirty="0"/>
          </a:p>
          <a:p>
            <a:pPr lvl="2"/>
            <a:r>
              <a:rPr lang="en-US" altLang="zh-CN" dirty="0"/>
              <a:t>Executable and Linkable Format</a:t>
            </a:r>
          </a:p>
        </p:txBody>
      </p:sp>
      <p:sp>
        <p:nvSpPr>
          <p:cNvPr id="4" name="灯片编号占位符 3">
            <a:extLst>
              <a:ext uri="{FF2B5EF4-FFF2-40B4-BE49-F238E27FC236}">
                <a16:creationId xmlns:a16="http://schemas.microsoft.com/office/drawing/2014/main" id="{B83048C7-F436-47B8-BE7F-82F8D5FD993B}"/>
              </a:ext>
            </a:extLst>
          </p:cNvPr>
          <p:cNvSpPr>
            <a:spLocks noGrp="1"/>
          </p:cNvSpPr>
          <p:nvPr>
            <p:ph type="sldNum" sz="quarter" idx="12"/>
          </p:nvPr>
        </p:nvSpPr>
        <p:spPr/>
        <p:txBody>
          <a:bodyPr/>
          <a:lstStyle/>
          <a:p>
            <a:fld id="{6D62327B-ED8D-4CFC-ADD0-A75FA5CBE281}" type="slidenum">
              <a:rPr lang="zh-CN" altLang="en-US" smtClean="0"/>
              <a:pPr/>
              <a:t>12</a:t>
            </a:fld>
            <a:endParaRPr lang="zh-CN" altLang="en-US" dirty="0"/>
          </a:p>
        </p:txBody>
      </p:sp>
    </p:spTree>
    <p:extLst>
      <p:ext uri="{BB962C8B-B14F-4D97-AF65-F5344CB8AC3E}">
        <p14:creationId xmlns:p14="http://schemas.microsoft.com/office/powerpoint/2010/main" val="226368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F5838F-D63A-45D6-8B07-AFD855F90D01}"/>
              </a:ext>
            </a:extLst>
          </p:cNvPr>
          <p:cNvSpPr>
            <a:spLocks noGrp="1"/>
          </p:cNvSpPr>
          <p:nvPr>
            <p:ph type="title"/>
          </p:nvPr>
        </p:nvSpPr>
        <p:spPr/>
        <p:txBody>
          <a:bodyPr>
            <a:normAutofit fontScale="90000"/>
          </a:bodyPr>
          <a:lstStyle/>
          <a:p>
            <a:r>
              <a:rPr lang="en-US" altLang="zh-CN" dirty="0"/>
              <a:t>7.4 </a:t>
            </a:r>
            <a:r>
              <a:rPr lang="zh-CN" altLang="en-US" dirty="0"/>
              <a:t>可重定位目标文件</a:t>
            </a:r>
          </a:p>
        </p:txBody>
      </p:sp>
      <p:sp>
        <p:nvSpPr>
          <p:cNvPr id="3" name="内容占位符 2">
            <a:extLst>
              <a:ext uri="{FF2B5EF4-FFF2-40B4-BE49-F238E27FC236}">
                <a16:creationId xmlns:a16="http://schemas.microsoft.com/office/drawing/2014/main" id="{95F46C43-01CD-4E72-8C9B-71F13B5318D3}"/>
              </a:ext>
            </a:extLst>
          </p:cNvPr>
          <p:cNvSpPr>
            <a:spLocks noGrp="1"/>
          </p:cNvSpPr>
          <p:nvPr>
            <p:ph idx="1"/>
          </p:nvPr>
        </p:nvSpPr>
        <p:spPr>
          <a:xfrm>
            <a:off x="457200" y="837034"/>
            <a:ext cx="5194920" cy="5616302"/>
          </a:xfrm>
        </p:spPr>
        <p:txBody>
          <a:bodyPr>
            <a:normAutofit fontScale="85000" lnSpcReduction="20000"/>
          </a:bodyPr>
          <a:lstStyle/>
          <a:p>
            <a:pPr>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600" dirty="0"/>
              <a:t>ELF</a:t>
            </a:r>
            <a:r>
              <a:rPr lang="zh-CN" altLang="en-US" sz="1600" dirty="0"/>
              <a:t>头：</a:t>
            </a:r>
            <a:endParaRPr lang="en-GB" altLang="zh-CN" sz="1600" dirty="0"/>
          </a:p>
          <a:p>
            <a:pPr lvl="1">
              <a:lnSpc>
                <a:spcPct val="12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400" dirty="0"/>
              <a:t>以一个</a:t>
            </a:r>
            <a:r>
              <a:rPr lang="en-US" altLang="zh-CN" sz="1400" dirty="0"/>
              <a:t>16</a:t>
            </a:r>
            <a:r>
              <a:rPr lang="zh-CN" altLang="en-US" sz="1400" dirty="0"/>
              <a:t>字节的序列开始，描述生成该文件的系统的字的大小和字节顺序</a:t>
            </a:r>
            <a:endParaRPr lang="en-US" altLang="zh-CN" sz="1400" dirty="0"/>
          </a:p>
          <a:p>
            <a:pPr lvl="1">
              <a:lnSpc>
                <a:spcPct val="12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400" dirty="0"/>
              <a:t>ELF</a:t>
            </a:r>
            <a:r>
              <a:rPr lang="zh-CN" altLang="en-US" sz="1400" dirty="0"/>
              <a:t>头大小、目标文件类型、节头部表的文件偏移、节头部表中条目的大小和数量</a:t>
            </a:r>
            <a:endParaRPr lang="en-US" altLang="zh-CN" sz="1400" dirty="0"/>
          </a:p>
          <a:p>
            <a:pPr lvl="1">
              <a:lnSpc>
                <a:spcPct val="12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400" dirty="0"/>
              <a:t>不同节的位置和大小由节头部表描述，目标文件中的每个节都有一个固定大小的条目</a:t>
            </a:r>
            <a:endParaRPr lang="en-US" altLang="zh-CN" sz="1400" dirty="0"/>
          </a:p>
          <a:p>
            <a:pPr marL="0" indent="0">
              <a:lnSpc>
                <a:spcPct val="120000"/>
              </a:lnSpc>
              <a:spcBef>
                <a:spcPts val="563"/>
              </a:spcBef>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700" dirty="0"/>
              <a:t>在</a:t>
            </a:r>
            <a:r>
              <a:rPr lang="en-US" altLang="zh-CN" sz="1700" dirty="0"/>
              <a:t>ELF</a:t>
            </a:r>
            <a:r>
              <a:rPr lang="zh-CN" altLang="en-US" sz="1700" dirty="0"/>
              <a:t>头和节头部表之间的都是节，包括：</a:t>
            </a:r>
            <a:endParaRPr lang="en-GB" altLang="zh-CN" sz="1700" dirty="0"/>
          </a:p>
          <a:p>
            <a:pPr>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600" dirty="0"/>
              <a:t>Segment header table</a:t>
            </a:r>
            <a:r>
              <a:rPr lang="zh-CN" altLang="en-US" sz="1600" dirty="0"/>
              <a:t>段头表</a:t>
            </a:r>
            <a:endParaRPr lang="en-GB" altLang="zh-CN" sz="1600" dirty="0"/>
          </a:p>
          <a:p>
            <a:pPr lvl="1">
              <a:lnSpc>
                <a:spcPct val="12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400" dirty="0"/>
              <a:t>页大小、虚拟地址存储段、段大小</a:t>
            </a:r>
            <a:endParaRPr lang="en-GB" altLang="zh-CN" sz="1400" dirty="0"/>
          </a:p>
          <a:p>
            <a:pPr>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600" dirty="0">
                <a:latin typeface="Courier New" pitchFamily="49" charset="0"/>
              </a:rPr>
              <a:t>.text</a:t>
            </a:r>
            <a:r>
              <a:rPr lang="en-GB" altLang="zh-CN" sz="1600" dirty="0"/>
              <a:t> section</a:t>
            </a:r>
            <a:r>
              <a:rPr lang="zh-CN" altLang="en-US" sz="1600" dirty="0"/>
              <a:t>：已编译程序的机器代码</a:t>
            </a:r>
            <a:endParaRPr lang="en-GB" altLang="zh-CN" sz="1600" dirty="0"/>
          </a:p>
          <a:p>
            <a:pPr>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600" dirty="0">
                <a:latin typeface="Courier New" pitchFamily="49" charset="0"/>
              </a:rPr>
              <a:t>.</a:t>
            </a:r>
            <a:r>
              <a:rPr lang="en-GB" altLang="zh-CN" sz="1600" dirty="0" err="1">
                <a:latin typeface="Courier New" pitchFamily="49" charset="0"/>
              </a:rPr>
              <a:t>rodata</a:t>
            </a:r>
            <a:r>
              <a:rPr lang="en-GB" altLang="zh-CN" sz="1600" dirty="0">
                <a:latin typeface="Courier New" pitchFamily="49" charset="0"/>
              </a:rPr>
              <a:t> </a:t>
            </a:r>
            <a:r>
              <a:rPr lang="en-GB" altLang="zh-CN" sz="1600" dirty="0"/>
              <a:t>section</a:t>
            </a:r>
            <a:r>
              <a:rPr lang="zh-CN" altLang="en-US" sz="1600" dirty="0"/>
              <a:t>：只读数据，如</a:t>
            </a:r>
            <a:r>
              <a:rPr lang="en-US" altLang="zh-CN" sz="1600" dirty="0" err="1"/>
              <a:t>printf</a:t>
            </a:r>
            <a:r>
              <a:rPr lang="zh-CN" altLang="en-US" sz="1600" dirty="0"/>
              <a:t>语句中的格式串和开关语句的跳转表</a:t>
            </a:r>
            <a:endParaRPr lang="en-GB" altLang="zh-CN" sz="1600" dirty="0"/>
          </a:p>
          <a:p>
            <a:pPr>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600" dirty="0">
                <a:latin typeface="Courier New" pitchFamily="49" charset="0"/>
              </a:rPr>
              <a:t>.data</a:t>
            </a:r>
            <a:r>
              <a:rPr lang="en-GB" altLang="zh-CN" sz="1600" dirty="0"/>
              <a:t> section</a:t>
            </a:r>
            <a:r>
              <a:rPr lang="zh-CN" altLang="en-US" sz="1600" dirty="0"/>
              <a:t>：已初始化的全局和静态</a:t>
            </a:r>
            <a:r>
              <a:rPr lang="en-US" altLang="zh-CN" sz="1600" dirty="0"/>
              <a:t>C</a:t>
            </a:r>
            <a:r>
              <a:rPr lang="zh-CN" altLang="en-US" sz="1600" dirty="0"/>
              <a:t>变量</a:t>
            </a:r>
            <a:endParaRPr lang="en-US" altLang="zh-CN" sz="1600" dirty="0"/>
          </a:p>
          <a:p>
            <a:pPr lvl="1">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300" dirty="0"/>
              <a:t>局部</a:t>
            </a:r>
            <a:r>
              <a:rPr lang="en-US" altLang="zh-CN" sz="1300" dirty="0"/>
              <a:t>C</a:t>
            </a:r>
            <a:r>
              <a:rPr lang="zh-CN" altLang="en-US" sz="1300" dirty="0"/>
              <a:t>变量在运行时被保存在栈中，既不出现在</a:t>
            </a:r>
            <a:r>
              <a:rPr lang="en-US" altLang="zh-CN" sz="1300" dirty="0"/>
              <a:t>.data</a:t>
            </a:r>
            <a:r>
              <a:rPr lang="zh-CN" altLang="en-US" sz="1300" dirty="0"/>
              <a:t>节中，也不出现在</a:t>
            </a:r>
            <a:r>
              <a:rPr lang="en-US" altLang="zh-CN" sz="1300" dirty="0"/>
              <a:t>.</a:t>
            </a:r>
            <a:r>
              <a:rPr lang="en-US" altLang="zh-CN" sz="1300" dirty="0" err="1"/>
              <a:t>bss</a:t>
            </a:r>
            <a:r>
              <a:rPr lang="zh-CN" altLang="en-US" sz="1300" dirty="0"/>
              <a:t>节中</a:t>
            </a:r>
            <a:endParaRPr lang="en-GB" altLang="zh-CN" sz="1300" dirty="0"/>
          </a:p>
          <a:p>
            <a:pPr>
              <a:lnSpc>
                <a:spcPct val="12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600" dirty="0">
                <a:latin typeface="Courier New" pitchFamily="49" charset="0"/>
              </a:rPr>
              <a:t>.</a:t>
            </a:r>
            <a:r>
              <a:rPr lang="en-GB" altLang="zh-CN" sz="1600" dirty="0" err="1">
                <a:latin typeface="Courier New" pitchFamily="49" charset="0"/>
              </a:rPr>
              <a:t>bss</a:t>
            </a:r>
            <a:r>
              <a:rPr lang="en-GB" altLang="zh-CN" sz="1600" dirty="0"/>
              <a:t> section</a:t>
            </a:r>
            <a:r>
              <a:rPr lang="zh-CN" altLang="en-US" sz="1600" dirty="0"/>
              <a:t>：未初始化的全局和静态</a:t>
            </a:r>
            <a:r>
              <a:rPr lang="en-US" altLang="zh-CN" sz="1600" dirty="0"/>
              <a:t>C</a:t>
            </a:r>
            <a:r>
              <a:rPr lang="zh-CN" altLang="en-US" sz="1600" dirty="0"/>
              <a:t>变量，以及所有被初始化为</a:t>
            </a:r>
            <a:r>
              <a:rPr lang="en-US" altLang="zh-CN" sz="1600" dirty="0"/>
              <a:t>0</a:t>
            </a:r>
            <a:r>
              <a:rPr lang="zh-CN" altLang="en-US" sz="1600" dirty="0"/>
              <a:t>的全局或静态变量</a:t>
            </a:r>
            <a:endParaRPr lang="en-GB" altLang="zh-CN" sz="1600" dirty="0"/>
          </a:p>
          <a:p>
            <a:pPr lvl="1">
              <a:lnSpc>
                <a:spcPct val="12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400" dirty="0"/>
              <a:t>未初始化变量不需要占据任何实际的磁盘空间</a:t>
            </a:r>
            <a:endParaRPr lang="en-US" altLang="zh-CN" sz="1400" dirty="0"/>
          </a:p>
          <a:p>
            <a:pPr lvl="1">
              <a:lnSpc>
                <a:spcPct val="12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400" dirty="0"/>
              <a:t>运行时在内存中分配这些变量，初始值为</a:t>
            </a:r>
            <a:r>
              <a:rPr lang="en-US" altLang="zh-CN" sz="1400" dirty="0"/>
              <a:t>0</a:t>
            </a:r>
          </a:p>
        </p:txBody>
      </p:sp>
      <p:sp>
        <p:nvSpPr>
          <p:cNvPr id="4" name="灯片编号占位符 3">
            <a:extLst>
              <a:ext uri="{FF2B5EF4-FFF2-40B4-BE49-F238E27FC236}">
                <a16:creationId xmlns:a16="http://schemas.microsoft.com/office/drawing/2014/main" id="{6C99CA21-5AC3-4399-8841-A219A204A9E5}"/>
              </a:ext>
            </a:extLst>
          </p:cNvPr>
          <p:cNvSpPr>
            <a:spLocks noGrp="1"/>
          </p:cNvSpPr>
          <p:nvPr>
            <p:ph type="sldNum" sz="quarter" idx="12"/>
          </p:nvPr>
        </p:nvSpPr>
        <p:spPr/>
        <p:txBody>
          <a:bodyPr/>
          <a:lstStyle/>
          <a:p>
            <a:fld id="{6D62327B-ED8D-4CFC-ADD0-A75FA5CBE281}" type="slidenum">
              <a:rPr lang="zh-CN" altLang="en-US" smtClean="0"/>
              <a:pPr/>
              <a:t>13</a:t>
            </a:fld>
            <a:endParaRPr lang="zh-CN" altLang="en-US" dirty="0"/>
          </a:p>
        </p:txBody>
      </p:sp>
      <p:sp>
        <p:nvSpPr>
          <p:cNvPr id="17" name="Rectangle 3">
            <a:extLst>
              <a:ext uri="{FF2B5EF4-FFF2-40B4-BE49-F238E27FC236}">
                <a16:creationId xmlns:a16="http://schemas.microsoft.com/office/drawing/2014/main" id="{CCDAD183-20F7-462B-AC78-572FCDC15F70}"/>
              </a:ext>
            </a:extLst>
          </p:cNvPr>
          <p:cNvSpPr>
            <a:spLocks noChangeArrowheads="1"/>
          </p:cNvSpPr>
          <p:nvPr/>
        </p:nvSpPr>
        <p:spPr bwMode="auto">
          <a:xfrm>
            <a:off x="5867400" y="10611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ELF header</a:t>
            </a:r>
          </a:p>
        </p:txBody>
      </p:sp>
      <p:sp>
        <p:nvSpPr>
          <p:cNvPr id="18" name="Rectangle 4">
            <a:extLst>
              <a:ext uri="{FF2B5EF4-FFF2-40B4-BE49-F238E27FC236}">
                <a16:creationId xmlns:a16="http://schemas.microsoft.com/office/drawing/2014/main" id="{26A32771-3E25-4596-9DD7-122B3BDD90AC}"/>
              </a:ext>
            </a:extLst>
          </p:cNvPr>
          <p:cNvSpPr>
            <a:spLocks noChangeArrowheads="1"/>
          </p:cNvSpPr>
          <p:nvPr/>
        </p:nvSpPr>
        <p:spPr bwMode="auto">
          <a:xfrm>
            <a:off x="5867400" y="1442120"/>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Segment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(required for executables)</a:t>
            </a:r>
          </a:p>
        </p:txBody>
      </p:sp>
      <p:sp>
        <p:nvSpPr>
          <p:cNvPr id="19" name="Rectangle 5">
            <a:extLst>
              <a:ext uri="{FF2B5EF4-FFF2-40B4-BE49-F238E27FC236}">
                <a16:creationId xmlns:a16="http://schemas.microsoft.com/office/drawing/2014/main" id="{64235688-1D61-4BDB-A0CE-73DC097781C0}"/>
              </a:ext>
            </a:extLst>
          </p:cNvPr>
          <p:cNvSpPr>
            <a:spLocks noChangeArrowheads="1"/>
          </p:cNvSpPr>
          <p:nvPr/>
        </p:nvSpPr>
        <p:spPr bwMode="auto">
          <a:xfrm>
            <a:off x="5867400" y="2051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.text</a:t>
            </a:r>
            <a:r>
              <a:rPr lang="en-GB" sz="1600" b="1" dirty="0">
                <a:latin typeface="Calibri" pitchFamily="34" charset="0"/>
                <a:ea typeface="msgothic" charset="0"/>
                <a:cs typeface="msgothic" charset="0"/>
              </a:rPr>
              <a:t> section</a:t>
            </a:r>
          </a:p>
        </p:txBody>
      </p:sp>
      <p:sp>
        <p:nvSpPr>
          <p:cNvPr id="20" name="Rectangle 6">
            <a:extLst>
              <a:ext uri="{FF2B5EF4-FFF2-40B4-BE49-F238E27FC236}">
                <a16:creationId xmlns:a16="http://schemas.microsoft.com/office/drawing/2014/main" id="{8CEB3F5A-A1EF-4E48-B727-C520438EE410}"/>
              </a:ext>
            </a:extLst>
          </p:cNvPr>
          <p:cNvSpPr>
            <a:spLocks noChangeArrowheads="1"/>
          </p:cNvSpPr>
          <p:nvPr/>
        </p:nvSpPr>
        <p:spPr bwMode="auto">
          <a:xfrm>
            <a:off x="5867400" y="2432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rodata</a:t>
            </a:r>
            <a:r>
              <a:rPr lang="en-GB" sz="1600" b="1" dirty="0">
                <a:latin typeface="Calibri" pitchFamily="34" charset="0"/>
                <a:ea typeface="msgothic" charset="0"/>
                <a:cs typeface="msgothic" charset="0"/>
              </a:rPr>
              <a:t> section</a:t>
            </a:r>
          </a:p>
        </p:txBody>
      </p:sp>
      <p:sp>
        <p:nvSpPr>
          <p:cNvPr id="21" name="Rectangle 7">
            <a:extLst>
              <a:ext uri="{FF2B5EF4-FFF2-40B4-BE49-F238E27FC236}">
                <a16:creationId xmlns:a16="http://schemas.microsoft.com/office/drawing/2014/main" id="{0AF55A97-0A16-4BBE-A48F-C2816A0D3279}"/>
              </a:ext>
            </a:extLst>
          </p:cNvPr>
          <p:cNvSpPr>
            <a:spLocks noChangeArrowheads="1"/>
          </p:cNvSpPr>
          <p:nvPr/>
        </p:nvSpPr>
        <p:spPr bwMode="auto">
          <a:xfrm>
            <a:off x="5867400" y="3194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bss</a:t>
            </a:r>
            <a:r>
              <a:rPr lang="en-GB" sz="1600" b="1" dirty="0">
                <a:latin typeface="Calibri" pitchFamily="34" charset="0"/>
                <a:ea typeface="msgothic" charset="0"/>
                <a:cs typeface="msgothic" charset="0"/>
              </a:rPr>
              <a:t> section</a:t>
            </a:r>
          </a:p>
        </p:txBody>
      </p:sp>
      <p:sp>
        <p:nvSpPr>
          <p:cNvPr id="22" name="Rectangle 8">
            <a:extLst>
              <a:ext uri="{FF2B5EF4-FFF2-40B4-BE49-F238E27FC236}">
                <a16:creationId xmlns:a16="http://schemas.microsoft.com/office/drawing/2014/main" id="{06D21B68-A804-4EF3-9D0A-F784676AF57D}"/>
              </a:ext>
            </a:extLst>
          </p:cNvPr>
          <p:cNvSpPr>
            <a:spLocks noChangeArrowheads="1"/>
          </p:cNvSpPr>
          <p:nvPr/>
        </p:nvSpPr>
        <p:spPr bwMode="auto">
          <a:xfrm>
            <a:off x="5867400" y="3575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symtab</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
        <p:nvSpPr>
          <p:cNvPr id="23" name="Rectangle 9">
            <a:extLst>
              <a:ext uri="{FF2B5EF4-FFF2-40B4-BE49-F238E27FC236}">
                <a16:creationId xmlns:a16="http://schemas.microsoft.com/office/drawing/2014/main" id="{B2458797-A8F7-4656-B272-97ED0AC3C30F}"/>
              </a:ext>
            </a:extLst>
          </p:cNvPr>
          <p:cNvSpPr>
            <a:spLocks noChangeArrowheads="1"/>
          </p:cNvSpPr>
          <p:nvPr/>
        </p:nvSpPr>
        <p:spPr bwMode="auto">
          <a:xfrm>
            <a:off x="5867400" y="3956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rel.txt</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
        <p:nvSpPr>
          <p:cNvPr id="24" name="Rectangle 10">
            <a:extLst>
              <a:ext uri="{FF2B5EF4-FFF2-40B4-BE49-F238E27FC236}">
                <a16:creationId xmlns:a16="http://schemas.microsoft.com/office/drawing/2014/main" id="{9731D004-8283-4F13-B878-9F4E0D6AC816}"/>
              </a:ext>
            </a:extLst>
          </p:cNvPr>
          <p:cNvSpPr>
            <a:spLocks noChangeArrowheads="1"/>
          </p:cNvSpPr>
          <p:nvPr/>
        </p:nvSpPr>
        <p:spPr bwMode="auto">
          <a:xfrm>
            <a:off x="5867400" y="4337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rel.data</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
        <p:nvSpPr>
          <p:cNvPr id="25" name="Rectangle 11">
            <a:extLst>
              <a:ext uri="{FF2B5EF4-FFF2-40B4-BE49-F238E27FC236}">
                <a16:creationId xmlns:a16="http://schemas.microsoft.com/office/drawing/2014/main" id="{CCD3196C-AB32-43D3-BD29-9A5638702EBA}"/>
              </a:ext>
            </a:extLst>
          </p:cNvPr>
          <p:cNvSpPr>
            <a:spLocks noChangeArrowheads="1"/>
          </p:cNvSpPr>
          <p:nvPr/>
        </p:nvSpPr>
        <p:spPr bwMode="auto">
          <a:xfrm>
            <a:off x="5867400" y="4718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.debug </a:t>
            </a:r>
            <a:r>
              <a:rPr lang="en-GB" sz="1600" dirty="0">
                <a:latin typeface="Calibri" pitchFamily="34" charset="0"/>
                <a:ea typeface="msgothic" charset="0"/>
                <a:cs typeface="msgothic" charset="0"/>
              </a:rPr>
              <a:t>section</a:t>
            </a:r>
          </a:p>
        </p:txBody>
      </p:sp>
      <p:sp>
        <p:nvSpPr>
          <p:cNvPr id="26" name="Rectangle 12">
            <a:extLst>
              <a:ext uri="{FF2B5EF4-FFF2-40B4-BE49-F238E27FC236}">
                <a16:creationId xmlns:a16="http://schemas.microsoft.com/office/drawing/2014/main" id="{F9ABC1FA-7999-40B8-B097-E4B722F99EFC}"/>
              </a:ext>
            </a:extLst>
          </p:cNvPr>
          <p:cNvSpPr>
            <a:spLocks noChangeArrowheads="1"/>
          </p:cNvSpPr>
          <p:nvPr/>
        </p:nvSpPr>
        <p:spPr bwMode="auto">
          <a:xfrm>
            <a:off x="5867400" y="5860206"/>
            <a:ext cx="2971800" cy="6096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Section header table</a:t>
            </a:r>
          </a:p>
        </p:txBody>
      </p:sp>
      <p:sp>
        <p:nvSpPr>
          <p:cNvPr id="27" name="Text Box 13">
            <a:extLst>
              <a:ext uri="{FF2B5EF4-FFF2-40B4-BE49-F238E27FC236}">
                <a16:creationId xmlns:a16="http://schemas.microsoft.com/office/drawing/2014/main" id="{DD79FBA5-CAD9-4A19-BF73-9046F46730D1}"/>
              </a:ext>
            </a:extLst>
          </p:cNvPr>
          <p:cNvSpPr txBox="1">
            <a:spLocks noChangeArrowheads="1"/>
          </p:cNvSpPr>
          <p:nvPr/>
        </p:nvSpPr>
        <p:spPr bwMode="auto">
          <a:xfrm>
            <a:off x="8839200" y="908720"/>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066"/>
                </a:solidFill>
                <a:latin typeface="Calibri" pitchFamily="34" charset="0"/>
                <a:ea typeface="msgothic" charset="0"/>
                <a:cs typeface="msgothic" charset="0"/>
              </a:rPr>
              <a:t>0</a:t>
            </a:r>
          </a:p>
        </p:txBody>
      </p:sp>
      <p:sp>
        <p:nvSpPr>
          <p:cNvPr id="28" name="Rectangle 6">
            <a:extLst>
              <a:ext uri="{FF2B5EF4-FFF2-40B4-BE49-F238E27FC236}">
                <a16:creationId xmlns:a16="http://schemas.microsoft.com/office/drawing/2014/main" id="{CC2120A2-CECF-4D50-8CE2-E6BC22B86447}"/>
              </a:ext>
            </a:extLst>
          </p:cNvPr>
          <p:cNvSpPr>
            <a:spLocks noChangeArrowheads="1"/>
          </p:cNvSpPr>
          <p:nvPr/>
        </p:nvSpPr>
        <p:spPr bwMode="auto">
          <a:xfrm>
            <a:off x="5867400" y="2813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.data</a:t>
            </a:r>
            <a:r>
              <a:rPr lang="en-GB" sz="1600" b="1" dirty="0">
                <a:latin typeface="Calibri" pitchFamily="34" charset="0"/>
                <a:ea typeface="msgothic" charset="0"/>
                <a:cs typeface="msgothic" charset="0"/>
              </a:rPr>
              <a:t> section</a:t>
            </a:r>
          </a:p>
        </p:txBody>
      </p:sp>
      <p:sp>
        <p:nvSpPr>
          <p:cNvPr id="29" name="Rectangle 10">
            <a:extLst>
              <a:ext uri="{FF2B5EF4-FFF2-40B4-BE49-F238E27FC236}">
                <a16:creationId xmlns:a16="http://schemas.microsoft.com/office/drawing/2014/main" id="{770033B1-638B-4B6E-8C06-C0B579322276}"/>
              </a:ext>
            </a:extLst>
          </p:cNvPr>
          <p:cNvSpPr>
            <a:spLocks noChangeArrowheads="1"/>
          </p:cNvSpPr>
          <p:nvPr/>
        </p:nvSpPr>
        <p:spPr bwMode="auto">
          <a:xfrm>
            <a:off x="5867400" y="5098963"/>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.line </a:t>
            </a:r>
            <a:r>
              <a:rPr lang="en-GB" sz="1600" dirty="0">
                <a:latin typeface="Calibri" pitchFamily="34" charset="0"/>
                <a:ea typeface="msgothic" charset="0"/>
                <a:cs typeface="msgothic" charset="0"/>
              </a:rPr>
              <a:t>section</a:t>
            </a:r>
          </a:p>
        </p:txBody>
      </p:sp>
      <p:sp>
        <p:nvSpPr>
          <p:cNvPr id="30" name="Rectangle 11">
            <a:extLst>
              <a:ext uri="{FF2B5EF4-FFF2-40B4-BE49-F238E27FC236}">
                <a16:creationId xmlns:a16="http://schemas.microsoft.com/office/drawing/2014/main" id="{5DC3EBB5-9282-4A0A-B835-C9C67B11F2E7}"/>
              </a:ext>
            </a:extLst>
          </p:cNvPr>
          <p:cNvSpPr>
            <a:spLocks noChangeArrowheads="1"/>
          </p:cNvSpPr>
          <p:nvPr/>
        </p:nvSpPr>
        <p:spPr bwMode="auto">
          <a:xfrm>
            <a:off x="5867400" y="5479963"/>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strtab</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Tree>
    <p:extLst>
      <p:ext uri="{BB962C8B-B14F-4D97-AF65-F5344CB8AC3E}">
        <p14:creationId xmlns:p14="http://schemas.microsoft.com/office/powerpoint/2010/main" val="3691123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CE2E45-C3CE-4231-9BE7-02A944466597}"/>
              </a:ext>
            </a:extLst>
          </p:cNvPr>
          <p:cNvSpPr>
            <a:spLocks noGrp="1"/>
          </p:cNvSpPr>
          <p:nvPr>
            <p:ph type="title"/>
          </p:nvPr>
        </p:nvSpPr>
        <p:spPr/>
        <p:txBody>
          <a:bodyPr>
            <a:normAutofit fontScale="90000"/>
          </a:bodyPr>
          <a:lstStyle/>
          <a:p>
            <a:r>
              <a:rPr lang="en-US" altLang="zh-CN" dirty="0"/>
              <a:t>7.4 </a:t>
            </a:r>
            <a:r>
              <a:rPr lang="zh-CN" altLang="en-US" dirty="0"/>
              <a:t>可重定位目标文件</a:t>
            </a:r>
          </a:p>
        </p:txBody>
      </p:sp>
      <p:sp>
        <p:nvSpPr>
          <p:cNvPr id="3" name="内容占位符 2">
            <a:extLst>
              <a:ext uri="{FF2B5EF4-FFF2-40B4-BE49-F238E27FC236}">
                <a16:creationId xmlns:a16="http://schemas.microsoft.com/office/drawing/2014/main" id="{F0C94616-3A87-402A-8AAB-1EEC53C3AA38}"/>
              </a:ext>
            </a:extLst>
          </p:cNvPr>
          <p:cNvSpPr>
            <a:spLocks noGrp="1"/>
          </p:cNvSpPr>
          <p:nvPr>
            <p:ph idx="1"/>
          </p:nvPr>
        </p:nvSpPr>
        <p:spPr>
          <a:xfrm>
            <a:off x="304800" y="837034"/>
            <a:ext cx="5419328" cy="5757786"/>
          </a:xfrm>
        </p:spPr>
        <p:txBody>
          <a:bodyPr>
            <a:normAutofit/>
          </a:bodyPr>
          <a:lstStyle/>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latin typeface="Courier New" pitchFamily="49" charset="0"/>
              </a:rPr>
              <a:t>.</a:t>
            </a:r>
            <a:r>
              <a:rPr lang="en-GB" altLang="zh-CN" sz="1200" dirty="0" err="1">
                <a:latin typeface="Courier New" pitchFamily="49" charset="0"/>
              </a:rPr>
              <a:t>symtab</a:t>
            </a:r>
            <a:r>
              <a:rPr lang="en-GB" altLang="zh-CN" sz="1200" dirty="0"/>
              <a:t> section</a:t>
            </a:r>
            <a:r>
              <a:rPr lang="zh-CN" altLang="en-US" sz="1200" dirty="0"/>
              <a:t>：符号表，存放在程序中定义和引用的函数和全局变量的信息</a:t>
            </a:r>
            <a:endParaRPr lang="en-GB" altLang="zh-CN" sz="1200" dirty="0"/>
          </a:p>
          <a:p>
            <a:pPr lvl="1">
              <a:lnSpc>
                <a:spcPct val="11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100" dirty="0"/>
              <a:t>每个可重定位目标文件在</a:t>
            </a:r>
            <a:r>
              <a:rPr lang="en-GB" altLang="zh-CN" sz="1100" dirty="0">
                <a:latin typeface="Courier New" pitchFamily="49" charset="0"/>
              </a:rPr>
              <a:t>.</a:t>
            </a:r>
            <a:r>
              <a:rPr lang="en-GB" altLang="zh-CN" sz="1100" dirty="0" err="1">
                <a:latin typeface="Courier New" pitchFamily="49" charset="0"/>
              </a:rPr>
              <a:t>symtab</a:t>
            </a:r>
            <a:r>
              <a:rPr lang="zh-CN" altLang="en-US" sz="1100" dirty="0"/>
              <a:t>中都有一张符号表，但不包含局部变量的条目</a:t>
            </a:r>
            <a:endParaRPr lang="en-GB" altLang="zh-CN" sz="1100" dirty="0"/>
          </a:p>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latin typeface="Courier New" pitchFamily="49" charset="0"/>
              </a:rPr>
              <a:t>.</a:t>
            </a:r>
            <a:r>
              <a:rPr lang="en-GB" altLang="zh-CN" sz="1200" dirty="0" err="1">
                <a:latin typeface="Courier New" pitchFamily="49" charset="0"/>
              </a:rPr>
              <a:t>rel.text</a:t>
            </a:r>
            <a:r>
              <a:rPr lang="en-GB" altLang="zh-CN" sz="1200" dirty="0"/>
              <a:t> section</a:t>
            </a:r>
            <a:r>
              <a:rPr lang="zh-CN" altLang="en-US" sz="1200" dirty="0"/>
              <a:t>：</a:t>
            </a:r>
            <a:r>
              <a:rPr lang="en-GB" altLang="zh-CN" sz="1200" dirty="0">
                <a:latin typeface="Courier New" pitchFamily="49" charset="0"/>
              </a:rPr>
              <a:t>.text</a:t>
            </a:r>
            <a:r>
              <a:rPr lang="en-GB" altLang="zh-CN" sz="1200" dirty="0"/>
              <a:t> </a:t>
            </a:r>
            <a:r>
              <a:rPr lang="zh-CN" altLang="en-US" sz="1200" dirty="0"/>
              <a:t>节中位置的列表，当链接器把这个目标文件和其他文件组合时，需要修改这个位置</a:t>
            </a:r>
            <a:endParaRPr lang="en-GB" altLang="zh-CN" sz="1200" dirty="0"/>
          </a:p>
          <a:p>
            <a:pPr lvl="1">
              <a:lnSpc>
                <a:spcPct val="11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100" dirty="0"/>
              <a:t>调用外部函数或引用全局变量的指令需要修改</a:t>
            </a:r>
            <a:endParaRPr lang="en-US" altLang="zh-CN" sz="1100" dirty="0"/>
          </a:p>
          <a:p>
            <a:pPr lvl="1">
              <a:lnSpc>
                <a:spcPct val="11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100" dirty="0"/>
              <a:t>调用本地函数的指令不需要修改</a:t>
            </a:r>
            <a:endParaRPr lang="en-GB" altLang="zh-CN" sz="1100" dirty="0"/>
          </a:p>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latin typeface="Courier New" pitchFamily="49" charset="0"/>
              </a:rPr>
              <a:t>.</a:t>
            </a:r>
            <a:r>
              <a:rPr lang="en-GB" altLang="zh-CN" sz="1200" dirty="0" err="1">
                <a:latin typeface="Courier New" pitchFamily="49" charset="0"/>
              </a:rPr>
              <a:t>rel.data</a:t>
            </a:r>
            <a:r>
              <a:rPr lang="en-GB" altLang="zh-CN" sz="1200" dirty="0"/>
              <a:t> section</a:t>
            </a:r>
            <a:r>
              <a:rPr lang="zh-CN" altLang="en-US" sz="1200" dirty="0"/>
              <a:t>：被模块引用或定义的所有全局变量的重定位信息</a:t>
            </a:r>
            <a:endParaRPr lang="en-US" altLang="zh-CN" sz="1200" dirty="0"/>
          </a:p>
          <a:p>
            <a:pPr lvl="1">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000" dirty="0"/>
              <a:t>已初始化的全局变量的初始值是一个全局变量地址或外部定义函数的地址，需要被修改</a:t>
            </a:r>
            <a:endParaRPr lang="en-GB" altLang="zh-CN" sz="1100" dirty="0"/>
          </a:p>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latin typeface="Courier New" pitchFamily="49" charset="0"/>
              </a:rPr>
              <a:t>.debug</a:t>
            </a:r>
            <a:r>
              <a:rPr lang="en-GB" altLang="zh-CN" sz="1200" dirty="0"/>
              <a:t> section</a:t>
            </a:r>
            <a:r>
              <a:rPr lang="zh-CN" altLang="en-US" sz="1200" dirty="0"/>
              <a:t>：调试符号表，条目是程序中定义的局部变量和类型定义，程序中定义和引用的全局变量，以及原始的</a:t>
            </a:r>
            <a:r>
              <a:rPr lang="en-US" altLang="zh-CN" sz="1200" dirty="0"/>
              <a:t>C</a:t>
            </a:r>
            <a:r>
              <a:rPr lang="zh-CN" altLang="en-US" sz="1200" dirty="0"/>
              <a:t>源文件</a:t>
            </a:r>
            <a:endParaRPr lang="en-GB" altLang="zh-CN" sz="1200" dirty="0"/>
          </a:p>
          <a:p>
            <a:pPr lvl="1">
              <a:lnSpc>
                <a:spcPct val="110000"/>
              </a:lnSpc>
              <a:spcBef>
                <a:spcPts val="563"/>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100" dirty="0"/>
              <a:t>以选项</a:t>
            </a:r>
            <a:r>
              <a:rPr lang="en-US" altLang="zh-CN" sz="1100" dirty="0"/>
              <a:t>-g</a:t>
            </a:r>
            <a:r>
              <a:rPr lang="zh-CN" altLang="en-US" sz="1100" dirty="0"/>
              <a:t>调用编译器驱动程序 时才会得到该表</a:t>
            </a:r>
            <a:r>
              <a:rPr lang="en-GB" altLang="zh-CN" sz="1100" dirty="0"/>
              <a:t>(</a:t>
            </a:r>
            <a:r>
              <a:rPr lang="en-GB" altLang="zh-CN" sz="1100" b="1" dirty="0" err="1">
                <a:latin typeface="Courier New" pitchFamily="49" charset="0"/>
              </a:rPr>
              <a:t>gcc</a:t>
            </a:r>
            <a:r>
              <a:rPr lang="en-GB" altLang="zh-CN" sz="1100" b="1" dirty="0">
                <a:latin typeface="Courier New" pitchFamily="49" charset="0"/>
              </a:rPr>
              <a:t> -g</a:t>
            </a:r>
            <a:r>
              <a:rPr lang="en-GB" altLang="zh-CN" sz="1100" dirty="0"/>
              <a:t>)</a:t>
            </a:r>
          </a:p>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latin typeface="Courier New" pitchFamily="49" charset="0"/>
              </a:rPr>
              <a:t>.line</a:t>
            </a:r>
            <a:r>
              <a:rPr lang="en-GB" altLang="zh-CN" sz="1200" dirty="0"/>
              <a:t> section</a:t>
            </a:r>
            <a:r>
              <a:rPr lang="zh-CN" altLang="en-US" sz="1200" dirty="0"/>
              <a:t>：原始</a:t>
            </a:r>
            <a:r>
              <a:rPr lang="en-US" altLang="zh-CN" sz="1200" dirty="0"/>
              <a:t>C</a:t>
            </a:r>
            <a:r>
              <a:rPr lang="zh-CN" altLang="en-US" sz="1200" dirty="0"/>
              <a:t>源程序中的行号和</a:t>
            </a:r>
            <a:r>
              <a:rPr lang="en-GB" altLang="zh-CN" sz="1200" dirty="0">
                <a:latin typeface="Courier New" pitchFamily="49" charset="0"/>
              </a:rPr>
              <a:t>.text</a:t>
            </a:r>
            <a:r>
              <a:rPr lang="zh-CN" altLang="en-US" sz="1200" dirty="0"/>
              <a:t>节中机器指令之间的映射</a:t>
            </a:r>
            <a:endParaRPr lang="en-US" altLang="zh-CN" sz="1200" dirty="0"/>
          </a:p>
          <a:p>
            <a:pPr lvl="1">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000" dirty="0"/>
              <a:t>以</a:t>
            </a:r>
            <a:r>
              <a:rPr lang="en-US" altLang="zh-CN" sz="1000" dirty="0"/>
              <a:t>-g</a:t>
            </a:r>
            <a:r>
              <a:rPr lang="zh-CN" altLang="en-US" sz="1000" dirty="0"/>
              <a:t>选项调用编译器驱动程序时才会得到这张表</a:t>
            </a:r>
            <a:endParaRPr lang="en-GB" altLang="zh-CN" sz="1000" dirty="0"/>
          </a:p>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latin typeface="Courier New" pitchFamily="49" charset="0"/>
              </a:rPr>
              <a:t>.</a:t>
            </a:r>
            <a:r>
              <a:rPr lang="en-US" altLang="zh-CN" sz="1200" dirty="0" err="1">
                <a:latin typeface="Courier New" pitchFamily="49" charset="0"/>
              </a:rPr>
              <a:t>strtab</a:t>
            </a:r>
            <a:r>
              <a:rPr lang="en-GB" altLang="zh-CN" sz="1200" dirty="0"/>
              <a:t> section</a:t>
            </a:r>
            <a:r>
              <a:rPr lang="zh-CN" altLang="en-US" sz="1200" dirty="0"/>
              <a:t>：字符串表，包括</a:t>
            </a:r>
            <a:r>
              <a:rPr lang="en-GB" altLang="zh-CN" sz="1200" dirty="0">
                <a:latin typeface="Courier New" pitchFamily="49" charset="0"/>
              </a:rPr>
              <a:t>.</a:t>
            </a:r>
            <a:r>
              <a:rPr lang="en-GB" altLang="zh-CN" sz="1200" dirty="0" err="1">
                <a:latin typeface="Courier New" pitchFamily="49" charset="0"/>
              </a:rPr>
              <a:t>symtab</a:t>
            </a:r>
            <a:r>
              <a:rPr lang="zh-CN" altLang="en-US" sz="1200" dirty="0"/>
              <a:t>和</a:t>
            </a:r>
            <a:r>
              <a:rPr lang="en-GB" altLang="zh-CN" sz="1200" dirty="0">
                <a:latin typeface="Courier New" pitchFamily="49" charset="0"/>
              </a:rPr>
              <a:t>.debug</a:t>
            </a:r>
            <a:r>
              <a:rPr lang="zh-CN" altLang="en-US" sz="1200" dirty="0"/>
              <a:t>节中的符号表，以及节头部中的节名字</a:t>
            </a:r>
            <a:endParaRPr lang="en-US" altLang="zh-CN" sz="1200" dirty="0"/>
          </a:p>
          <a:p>
            <a:pPr lvl="1">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sz="1000" dirty="0"/>
              <a:t>以</a:t>
            </a:r>
            <a:r>
              <a:rPr lang="en-US" altLang="zh-CN" sz="1000" dirty="0"/>
              <a:t>-g</a:t>
            </a:r>
            <a:r>
              <a:rPr lang="zh-CN" altLang="en-US" sz="1000" dirty="0"/>
              <a:t>选项调用编译器驱动程序时才会得到这张表</a:t>
            </a:r>
            <a:endParaRPr lang="en-GB" altLang="zh-CN" sz="1000" dirty="0"/>
          </a:p>
          <a:p>
            <a:pPr>
              <a:lnSpc>
                <a:spcPct val="110000"/>
              </a:lnSpc>
              <a:spcBef>
                <a:spcPts val="125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sz="1200" dirty="0"/>
              <a:t>Section header table</a:t>
            </a:r>
            <a:r>
              <a:rPr lang="zh-CN" altLang="en-US" sz="1200" dirty="0"/>
              <a:t>：每节的偏移地址和大小</a:t>
            </a:r>
            <a:endParaRPr lang="en-GB" altLang="zh-CN" sz="1200" dirty="0"/>
          </a:p>
        </p:txBody>
      </p:sp>
      <p:sp>
        <p:nvSpPr>
          <p:cNvPr id="4" name="灯片编号占位符 3">
            <a:extLst>
              <a:ext uri="{FF2B5EF4-FFF2-40B4-BE49-F238E27FC236}">
                <a16:creationId xmlns:a16="http://schemas.microsoft.com/office/drawing/2014/main" id="{26483AE1-A91C-4842-84F6-54BF549D9D2C}"/>
              </a:ext>
            </a:extLst>
          </p:cNvPr>
          <p:cNvSpPr>
            <a:spLocks noGrp="1"/>
          </p:cNvSpPr>
          <p:nvPr>
            <p:ph type="sldNum" sz="quarter" idx="12"/>
          </p:nvPr>
        </p:nvSpPr>
        <p:spPr/>
        <p:txBody>
          <a:bodyPr/>
          <a:lstStyle/>
          <a:p>
            <a:fld id="{6D62327B-ED8D-4CFC-ADD0-A75FA5CBE281}" type="slidenum">
              <a:rPr lang="zh-CN" altLang="en-US" smtClean="0"/>
              <a:pPr/>
              <a:t>14</a:t>
            </a:fld>
            <a:endParaRPr lang="zh-CN" altLang="en-US" dirty="0"/>
          </a:p>
        </p:txBody>
      </p:sp>
      <p:sp>
        <p:nvSpPr>
          <p:cNvPr id="5" name="Rectangle 3">
            <a:extLst>
              <a:ext uri="{FF2B5EF4-FFF2-40B4-BE49-F238E27FC236}">
                <a16:creationId xmlns:a16="http://schemas.microsoft.com/office/drawing/2014/main" id="{0BF7F6AA-BB57-4F80-9D66-5EB3341F2304}"/>
              </a:ext>
            </a:extLst>
          </p:cNvPr>
          <p:cNvSpPr>
            <a:spLocks noChangeArrowheads="1"/>
          </p:cNvSpPr>
          <p:nvPr/>
        </p:nvSpPr>
        <p:spPr bwMode="auto">
          <a:xfrm>
            <a:off x="5867400" y="10611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ELF header</a:t>
            </a:r>
          </a:p>
        </p:txBody>
      </p:sp>
      <p:sp>
        <p:nvSpPr>
          <p:cNvPr id="6" name="Rectangle 4">
            <a:extLst>
              <a:ext uri="{FF2B5EF4-FFF2-40B4-BE49-F238E27FC236}">
                <a16:creationId xmlns:a16="http://schemas.microsoft.com/office/drawing/2014/main" id="{A76FD07B-C4CA-4A3C-A8AB-54A247E0A0B8}"/>
              </a:ext>
            </a:extLst>
          </p:cNvPr>
          <p:cNvSpPr>
            <a:spLocks noChangeArrowheads="1"/>
          </p:cNvSpPr>
          <p:nvPr/>
        </p:nvSpPr>
        <p:spPr bwMode="auto">
          <a:xfrm>
            <a:off x="5867400" y="1442120"/>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Segment header table</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(required for executables)</a:t>
            </a:r>
          </a:p>
        </p:txBody>
      </p:sp>
      <p:sp>
        <p:nvSpPr>
          <p:cNvPr id="7" name="Rectangle 5">
            <a:extLst>
              <a:ext uri="{FF2B5EF4-FFF2-40B4-BE49-F238E27FC236}">
                <a16:creationId xmlns:a16="http://schemas.microsoft.com/office/drawing/2014/main" id="{3F3D9AB0-1A4B-49B7-8B45-7A63B97FF5D1}"/>
              </a:ext>
            </a:extLst>
          </p:cNvPr>
          <p:cNvSpPr>
            <a:spLocks noChangeArrowheads="1"/>
          </p:cNvSpPr>
          <p:nvPr/>
        </p:nvSpPr>
        <p:spPr bwMode="auto">
          <a:xfrm>
            <a:off x="5867400" y="2051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.text</a:t>
            </a:r>
            <a:r>
              <a:rPr lang="en-GB" sz="1600" b="1" dirty="0">
                <a:latin typeface="Calibri" pitchFamily="34" charset="0"/>
                <a:ea typeface="msgothic" charset="0"/>
                <a:cs typeface="msgothic" charset="0"/>
              </a:rPr>
              <a:t> section</a:t>
            </a:r>
          </a:p>
        </p:txBody>
      </p:sp>
      <p:sp>
        <p:nvSpPr>
          <p:cNvPr id="8" name="Rectangle 6">
            <a:extLst>
              <a:ext uri="{FF2B5EF4-FFF2-40B4-BE49-F238E27FC236}">
                <a16:creationId xmlns:a16="http://schemas.microsoft.com/office/drawing/2014/main" id="{401554A8-8ADD-406C-865C-91EAD6D246D8}"/>
              </a:ext>
            </a:extLst>
          </p:cNvPr>
          <p:cNvSpPr>
            <a:spLocks noChangeArrowheads="1"/>
          </p:cNvSpPr>
          <p:nvPr/>
        </p:nvSpPr>
        <p:spPr bwMode="auto">
          <a:xfrm>
            <a:off x="5867400" y="2432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rodata</a:t>
            </a:r>
            <a:r>
              <a:rPr lang="en-GB" sz="1600" b="1" dirty="0">
                <a:latin typeface="Calibri" pitchFamily="34" charset="0"/>
                <a:ea typeface="msgothic" charset="0"/>
                <a:cs typeface="msgothic" charset="0"/>
              </a:rPr>
              <a:t> section</a:t>
            </a:r>
          </a:p>
        </p:txBody>
      </p:sp>
      <p:sp>
        <p:nvSpPr>
          <p:cNvPr id="9" name="Rectangle 7">
            <a:extLst>
              <a:ext uri="{FF2B5EF4-FFF2-40B4-BE49-F238E27FC236}">
                <a16:creationId xmlns:a16="http://schemas.microsoft.com/office/drawing/2014/main" id="{589CA918-5947-4E0E-B7AB-061C9B6F74E3}"/>
              </a:ext>
            </a:extLst>
          </p:cNvPr>
          <p:cNvSpPr>
            <a:spLocks noChangeArrowheads="1"/>
          </p:cNvSpPr>
          <p:nvPr/>
        </p:nvSpPr>
        <p:spPr bwMode="auto">
          <a:xfrm>
            <a:off x="5867400" y="3194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bss</a:t>
            </a:r>
            <a:r>
              <a:rPr lang="en-GB" sz="1600" b="1" dirty="0">
                <a:latin typeface="Calibri" pitchFamily="34" charset="0"/>
                <a:ea typeface="msgothic" charset="0"/>
                <a:cs typeface="msgothic" charset="0"/>
              </a:rPr>
              <a:t> section</a:t>
            </a:r>
          </a:p>
        </p:txBody>
      </p:sp>
      <p:sp>
        <p:nvSpPr>
          <p:cNvPr id="10" name="Rectangle 8">
            <a:extLst>
              <a:ext uri="{FF2B5EF4-FFF2-40B4-BE49-F238E27FC236}">
                <a16:creationId xmlns:a16="http://schemas.microsoft.com/office/drawing/2014/main" id="{FF8A063C-CF9F-452D-BCBF-6F7A86B3CBD0}"/>
              </a:ext>
            </a:extLst>
          </p:cNvPr>
          <p:cNvSpPr>
            <a:spLocks noChangeArrowheads="1"/>
          </p:cNvSpPr>
          <p:nvPr/>
        </p:nvSpPr>
        <p:spPr bwMode="auto">
          <a:xfrm>
            <a:off x="5867400" y="3575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symtab</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
        <p:nvSpPr>
          <p:cNvPr id="11" name="Rectangle 9">
            <a:extLst>
              <a:ext uri="{FF2B5EF4-FFF2-40B4-BE49-F238E27FC236}">
                <a16:creationId xmlns:a16="http://schemas.microsoft.com/office/drawing/2014/main" id="{36B5B21F-05D9-4B4C-A11C-37D66BEEB693}"/>
              </a:ext>
            </a:extLst>
          </p:cNvPr>
          <p:cNvSpPr>
            <a:spLocks noChangeArrowheads="1"/>
          </p:cNvSpPr>
          <p:nvPr/>
        </p:nvSpPr>
        <p:spPr bwMode="auto">
          <a:xfrm>
            <a:off x="5867400" y="3956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rel.txt</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
        <p:nvSpPr>
          <p:cNvPr id="12" name="Rectangle 10">
            <a:extLst>
              <a:ext uri="{FF2B5EF4-FFF2-40B4-BE49-F238E27FC236}">
                <a16:creationId xmlns:a16="http://schemas.microsoft.com/office/drawing/2014/main" id="{5CAF6E6C-60E9-48D4-A5C1-123D351045DC}"/>
              </a:ext>
            </a:extLst>
          </p:cNvPr>
          <p:cNvSpPr>
            <a:spLocks noChangeArrowheads="1"/>
          </p:cNvSpPr>
          <p:nvPr/>
        </p:nvSpPr>
        <p:spPr bwMode="auto">
          <a:xfrm>
            <a:off x="5867400" y="4337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rel.data</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
        <p:nvSpPr>
          <p:cNvPr id="13" name="Rectangle 11">
            <a:extLst>
              <a:ext uri="{FF2B5EF4-FFF2-40B4-BE49-F238E27FC236}">
                <a16:creationId xmlns:a16="http://schemas.microsoft.com/office/drawing/2014/main" id="{26AD9850-628B-44A7-91C9-E131928944E4}"/>
              </a:ext>
            </a:extLst>
          </p:cNvPr>
          <p:cNvSpPr>
            <a:spLocks noChangeArrowheads="1"/>
          </p:cNvSpPr>
          <p:nvPr/>
        </p:nvSpPr>
        <p:spPr bwMode="auto">
          <a:xfrm>
            <a:off x="5867400" y="471872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.debug </a:t>
            </a:r>
            <a:r>
              <a:rPr lang="en-GB" sz="1600" dirty="0">
                <a:latin typeface="Calibri" pitchFamily="34" charset="0"/>
                <a:ea typeface="msgothic" charset="0"/>
                <a:cs typeface="msgothic" charset="0"/>
              </a:rPr>
              <a:t>section</a:t>
            </a:r>
          </a:p>
        </p:txBody>
      </p:sp>
      <p:sp>
        <p:nvSpPr>
          <p:cNvPr id="14" name="Rectangle 12">
            <a:extLst>
              <a:ext uri="{FF2B5EF4-FFF2-40B4-BE49-F238E27FC236}">
                <a16:creationId xmlns:a16="http://schemas.microsoft.com/office/drawing/2014/main" id="{427B4636-84FA-4154-8DB9-FB53E466D9BD}"/>
              </a:ext>
            </a:extLst>
          </p:cNvPr>
          <p:cNvSpPr>
            <a:spLocks noChangeArrowheads="1"/>
          </p:cNvSpPr>
          <p:nvPr/>
        </p:nvSpPr>
        <p:spPr bwMode="auto">
          <a:xfrm>
            <a:off x="5867400" y="5860206"/>
            <a:ext cx="2971800" cy="6096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Section header table</a:t>
            </a:r>
          </a:p>
        </p:txBody>
      </p:sp>
      <p:sp>
        <p:nvSpPr>
          <p:cNvPr id="15" name="Text Box 13">
            <a:extLst>
              <a:ext uri="{FF2B5EF4-FFF2-40B4-BE49-F238E27FC236}">
                <a16:creationId xmlns:a16="http://schemas.microsoft.com/office/drawing/2014/main" id="{589385FE-1B4F-4E52-A4C8-E2E2B811ACCC}"/>
              </a:ext>
            </a:extLst>
          </p:cNvPr>
          <p:cNvSpPr txBox="1">
            <a:spLocks noChangeArrowheads="1"/>
          </p:cNvSpPr>
          <p:nvPr/>
        </p:nvSpPr>
        <p:spPr bwMode="auto">
          <a:xfrm>
            <a:off x="8839200" y="908720"/>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solidFill>
                  <a:srgbClr val="000066"/>
                </a:solidFill>
                <a:latin typeface="Calibri" pitchFamily="34" charset="0"/>
                <a:ea typeface="msgothic" charset="0"/>
                <a:cs typeface="msgothic" charset="0"/>
              </a:rPr>
              <a:t>0</a:t>
            </a:r>
          </a:p>
        </p:txBody>
      </p:sp>
      <p:sp>
        <p:nvSpPr>
          <p:cNvPr id="16" name="Rectangle 6">
            <a:extLst>
              <a:ext uri="{FF2B5EF4-FFF2-40B4-BE49-F238E27FC236}">
                <a16:creationId xmlns:a16="http://schemas.microsoft.com/office/drawing/2014/main" id="{9ABD60EC-C9F9-4929-A0C4-047F35C32C37}"/>
              </a:ext>
            </a:extLst>
          </p:cNvPr>
          <p:cNvSpPr>
            <a:spLocks noChangeArrowheads="1"/>
          </p:cNvSpPr>
          <p:nvPr/>
        </p:nvSpPr>
        <p:spPr bwMode="auto">
          <a:xfrm>
            <a:off x="5867400" y="281372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.data</a:t>
            </a:r>
            <a:r>
              <a:rPr lang="en-GB" sz="1600" b="1" dirty="0">
                <a:latin typeface="Calibri" pitchFamily="34" charset="0"/>
                <a:ea typeface="msgothic" charset="0"/>
                <a:cs typeface="msgothic" charset="0"/>
              </a:rPr>
              <a:t> section</a:t>
            </a:r>
          </a:p>
        </p:txBody>
      </p:sp>
      <p:sp>
        <p:nvSpPr>
          <p:cNvPr id="17" name="Rectangle 10">
            <a:extLst>
              <a:ext uri="{FF2B5EF4-FFF2-40B4-BE49-F238E27FC236}">
                <a16:creationId xmlns:a16="http://schemas.microsoft.com/office/drawing/2014/main" id="{D033CDB7-F8AF-4CCD-AFB3-D73EBDF6846E}"/>
              </a:ext>
            </a:extLst>
          </p:cNvPr>
          <p:cNvSpPr>
            <a:spLocks noChangeArrowheads="1"/>
          </p:cNvSpPr>
          <p:nvPr/>
        </p:nvSpPr>
        <p:spPr bwMode="auto">
          <a:xfrm>
            <a:off x="5867400" y="5098963"/>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.line </a:t>
            </a:r>
            <a:r>
              <a:rPr lang="en-GB" sz="1600" dirty="0">
                <a:latin typeface="Calibri" pitchFamily="34" charset="0"/>
                <a:ea typeface="msgothic" charset="0"/>
                <a:cs typeface="msgothic" charset="0"/>
              </a:rPr>
              <a:t>section</a:t>
            </a:r>
          </a:p>
        </p:txBody>
      </p:sp>
      <p:sp>
        <p:nvSpPr>
          <p:cNvPr id="18" name="Rectangle 11">
            <a:extLst>
              <a:ext uri="{FF2B5EF4-FFF2-40B4-BE49-F238E27FC236}">
                <a16:creationId xmlns:a16="http://schemas.microsoft.com/office/drawing/2014/main" id="{48BDE4EE-3CDF-40B2-B325-25E14A49C6F9}"/>
              </a:ext>
            </a:extLst>
          </p:cNvPr>
          <p:cNvSpPr>
            <a:spLocks noChangeArrowheads="1"/>
          </p:cNvSpPr>
          <p:nvPr/>
        </p:nvSpPr>
        <p:spPr bwMode="auto">
          <a:xfrm>
            <a:off x="5867400" y="5479963"/>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strtab</a:t>
            </a:r>
            <a:r>
              <a:rPr lang="en-GB" sz="1600" b="1" dirty="0">
                <a:latin typeface="Courier New" pitchFamily="49" charset="0"/>
                <a:ea typeface="msgothic" charset="0"/>
                <a:cs typeface="msgothic" charset="0"/>
              </a:rPr>
              <a:t> </a:t>
            </a:r>
            <a:r>
              <a:rPr lang="en-GB" sz="1600" dirty="0">
                <a:latin typeface="Calibri" pitchFamily="34" charset="0"/>
                <a:ea typeface="msgothic" charset="0"/>
                <a:cs typeface="msgothic" charset="0"/>
              </a:rPr>
              <a:t>section</a:t>
            </a:r>
          </a:p>
        </p:txBody>
      </p:sp>
    </p:spTree>
    <p:extLst>
      <p:ext uri="{BB962C8B-B14F-4D97-AF65-F5344CB8AC3E}">
        <p14:creationId xmlns:p14="http://schemas.microsoft.com/office/powerpoint/2010/main" val="2163277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43DEC-AE85-4F22-A9C6-34825678951D}"/>
              </a:ext>
            </a:extLst>
          </p:cNvPr>
          <p:cNvSpPr>
            <a:spLocks noGrp="1"/>
          </p:cNvSpPr>
          <p:nvPr>
            <p:ph type="title"/>
          </p:nvPr>
        </p:nvSpPr>
        <p:spPr/>
        <p:txBody>
          <a:bodyPr>
            <a:normAutofit fontScale="90000"/>
          </a:bodyPr>
          <a:lstStyle/>
          <a:p>
            <a:r>
              <a:rPr lang="en-US" altLang="zh-CN" dirty="0"/>
              <a:t>7.5 </a:t>
            </a:r>
            <a:r>
              <a:rPr lang="zh-CN" altLang="en-US" dirty="0"/>
              <a:t>符号和符号表</a:t>
            </a:r>
          </a:p>
        </p:txBody>
      </p:sp>
      <p:sp>
        <p:nvSpPr>
          <p:cNvPr id="3" name="内容占位符 2">
            <a:extLst>
              <a:ext uri="{FF2B5EF4-FFF2-40B4-BE49-F238E27FC236}">
                <a16:creationId xmlns:a16="http://schemas.microsoft.com/office/drawing/2014/main" id="{1AA32E7F-A473-4638-A552-748467B08650}"/>
              </a:ext>
            </a:extLst>
          </p:cNvPr>
          <p:cNvSpPr>
            <a:spLocks noGrp="1"/>
          </p:cNvSpPr>
          <p:nvPr>
            <p:ph idx="1"/>
          </p:nvPr>
        </p:nvSpPr>
        <p:spPr/>
        <p:txBody>
          <a:bodyPr>
            <a:normAutofit lnSpcReduction="10000"/>
          </a:bodyPr>
          <a:lstStyle/>
          <a:p>
            <a:pPr marL="0" indent="0">
              <a:lnSpc>
                <a:spcPct val="110000"/>
              </a:lnSpc>
              <a:spcBef>
                <a:spcPts val="0"/>
              </a:spcBef>
              <a:buNone/>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每个可重定位目标模块</a:t>
            </a:r>
            <a:r>
              <a:rPr lang="en-US" altLang="zh-CN" i="1" dirty="0"/>
              <a:t>m</a:t>
            </a:r>
            <a:r>
              <a:rPr lang="zh-CN" altLang="en-US" dirty="0"/>
              <a:t>都有一个符号表，包含</a:t>
            </a:r>
            <a:r>
              <a:rPr lang="en-US" altLang="zh-CN" i="1" dirty="0"/>
              <a:t>m</a:t>
            </a:r>
            <a:r>
              <a:rPr lang="zh-CN" altLang="en-US" dirty="0"/>
              <a:t>定义和引用符号的信息，在链接器的上下文中有三种符号：</a:t>
            </a:r>
            <a:endParaRPr lang="en-GB" altLang="zh-CN" dirty="0"/>
          </a:p>
          <a:p>
            <a:pPr>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dirty="0"/>
              <a:t>Global symbols</a:t>
            </a:r>
            <a:r>
              <a:rPr lang="zh-CN" altLang="en-US" dirty="0"/>
              <a:t>全局符号：</a:t>
            </a:r>
            <a:endParaRPr lang="en-GB"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由模块</a:t>
            </a:r>
            <a:r>
              <a:rPr lang="en-GB" altLang="zh-CN" i="1" dirty="0"/>
              <a:t>m</a:t>
            </a:r>
            <a:r>
              <a:rPr lang="zh-CN" altLang="en-US" dirty="0"/>
              <a:t>定义并能被其他模块引用</a:t>
            </a:r>
            <a:endParaRPr lang="en-GB"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非静态</a:t>
            </a:r>
            <a:r>
              <a:rPr lang="en-GB" altLang="zh-CN" dirty="0"/>
              <a:t>C</a:t>
            </a:r>
            <a:r>
              <a:rPr lang="zh-CN" altLang="en-US" dirty="0"/>
              <a:t>函数（被当前文件以外的其他文件调用，具有全局可见性）和全局变量</a:t>
            </a:r>
            <a:endParaRPr lang="en-GB" altLang="zh-CN" dirty="0"/>
          </a:p>
          <a:p>
            <a:pPr>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ltLang="zh-CN" dirty="0"/>
          </a:p>
          <a:p>
            <a:pPr>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dirty="0"/>
              <a:t>External symbols</a:t>
            </a:r>
            <a:r>
              <a:rPr lang="zh-CN" altLang="en-US" dirty="0"/>
              <a:t>外部符号：</a:t>
            </a:r>
            <a:endParaRPr lang="en-GB"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被其他模块定义并被模块</a:t>
            </a:r>
            <a:r>
              <a:rPr lang="en-GB" altLang="zh-CN" i="1" dirty="0"/>
              <a:t>m</a:t>
            </a:r>
            <a:r>
              <a:rPr lang="zh-CN" altLang="en-US" dirty="0"/>
              <a:t>引用的全局符号</a:t>
            </a:r>
            <a:endParaRPr lang="en-US"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在其他模块中定义的非静态</a:t>
            </a:r>
            <a:r>
              <a:rPr lang="en-US" altLang="zh-CN" dirty="0"/>
              <a:t>C</a:t>
            </a:r>
            <a:r>
              <a:rPr lang="zh-CN" altLang="en-US" dirty="0"/>
              <a:t>函数和全局变量</a:t>
            </a:r>
            <a:endParaRPr lang="en-US"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endParaRPr lang="en-GB" altLang="zh-CN" dirty="0"/>
          </a:p>
          <a:p>
            <a:pPr>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en-GB" altLang="zh-CN" dirty="0"/>
              <a:t>Local symbols</a:t>
            </a:r>
            <a:r>
              <a:rPr lang="zh-CN" altLang="en-US" dirty="0"/>
              <a:t>局部符号</a:t>
            </a:r>
            <a:endParaRPr lang="en-GB"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只被模块</a:t>
            </a:r>
            <a:r>
              <a:rPr lang="en-GB" altLang="zh-CN" i="1" dirty="0"/>
              <a:t>m</a:t>
            </a:r>
            <a:r>
              <a:rPr lang="zh-CN" altLang="en-US" dirty="0"/>
              <a:t>定义和引用的局部符号</a:t>
            </a:r>
            <a:endParaRPr lang="en-GB" altLang="zh-CN" dirty="0"/>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t>带</a:t>
            </a:r>
            <a:r>
              <a:rPr lang="en-GB" altLang="zh-CN" b="1" dirty="0">
                <a:latin typeface="Courier New" pitchFamily="49" charset="0"/>
              </a:rPr>
              <a:t>static</a:t>
            </a:r>
            <a:r>
              <a:rPr lang="zh-CN" altLang="en-US" dirty="0">
                <a:latin typeface="Courier New" pitchFamily="49" charset="0"/>
              </a:rPr>
              <a:t>属性的</a:t>
            </a:r>
            <a:r>
              <a:rPr lang="en-US" altLang="zh-CN" dirty="0">
                <a:latin typeface="Courier New" pitchFamily="49" charset="0"/>
              </a:rPr>
              <a:t>C</a:t>
            </a:r>
            <a:r>
              <a:rPr lang="zh-CN" altLang="en-US" dirty="0">
                <a:latin typeface="Courier New" pitchFamily="49" charset="0"/>
              </a:rPr>
              <a:t>函数和全局变量</a:t>
            </a:r>
            <a:endParaRPr lang="en-US" altLang="zh-CN" dirty="0">
              <a:latin typeface="Courier New" pitchFamily="49" charset="0"/>
            </a:endParaRPr>
          </a:p>
          <a:p>
            <a:pPr lvl="1">
              <a:lnSpc>
                <a:spcPct val="110000"/>
              </a:lnSpc>
              <a:spcBef>
                <a:spcPts val="0"/>
              </a:spcBef>
              <a:tabLst>
                <a:tab pos="319088" algn="l"/>
                <a:tab pos="846138" algn="l"/>
                <a:tab pos="1760538" algn="l"/>
                <a:tab pos="2674938" algn="l"/>
                <a:tab pos="3589338" algn="l"/>
                <a:tab pos="4503738" algn="l"/>
                <a:tab pos="5418138" algn="l"/>
                <a:tab pos="6332538" algn="l"/>
                <a:tab pos="7246938" algn="l"/>
                <a:tab pos="8161338" algn="l"/>
                <a:tab pos="9075738" algn="l"/>
                <a:tab pos="9990138" algn="l"/>
              </a:tabLst>
            </a:pPr>
            <a:r>
              <a:rPr lang="zh-CN" altLang="en-US" dirty="0">
                <a:latin typeface="Courier New" pitchFamily="49" charset="0"/>
              </a:rPr>
              <a:t>在模块</a:t>
            </a:r>
            <a:r>
              <a:rPr lang="en-GB" altLang="zh-CN" i="1" dirty="0"/>
              <a:t>m</a:t>
            </a:r>
            <a:r>
              <a:rPr lang="zh-CN" altLang="en-US" dirty="0">
                <a:latin typeface="Courier New" pitchFamily="49" charset="0"/>
              </a:rPr>
              <a:t>中任何位置都可见，但不能被其他模块引用</a:t>
            </a:r>
            <a:endParaRPr lang="en-GB" altLang="zh-CN" dirty="0"/>
          </a:p>
          <a:p>
            <a:pPr>
              <a:lnSpc>
                <a:spcPct val="110000"/>
              </a:lnSpc>
              <a:spcBef>
                <a:spcPts val="0"/>
              </a:spcBef>
            </a:pPr>
            <a:endParaRPr lang="zh-CN" altLang="en-US" dirty="0"/>
          </a:p>
        </p:txBody>
      </p:sp>
      <p:sp>
        <p:nvSpPr>
          <p:cNvPr id="4" name="灯片编号占位符 3">
            <a:extLst>
              <a:ext uri="{FF2B5EF4-FFF2-40B4-BE49-F238E27FC236}">
                <a16:creationId xmlns:a16="http://schemas.microsoft.com/office/drawing/2014/main" id="{0B47044A-C064-4B3B-B2C1-FDF8C5EBF34E}"/>
              </a:ext>
            </a:extLst>
          </p:cNvPr>
          <p:cNvSpPr>
            <a:spLocks noGrp="1"/>
          </p:cNvSpPr>
          <p:nvPr>
            <p:ph type="sldNum" sz="quarter" idx="12"/>
          </p:nvPr>
        </p:nvSpPr>
        <p:spPr/>
        <p:txBody>
          <a:bodyPr/>
          <a:lstStyle/>
          <a:p>
            <a:fld id="{6D62327B-ED8D-4CFC-ADD0-A75FA5CBE281}" type="slidenum">
              <a:rPr lang="zh-CN" altLang="en-US" smtClean="0"/>
              <a:pPr/>
              <a:t>15</a:t>
            </a:fld>
            <a:endParaRPr lang="zh-CN" altLang="en-US" dirty="0"/>
          </a:p>
        </p:txBody>
      </p:sp>
    </p:spTree>
    <p:extLst>
      <p:ext uri="{BB962C8B-B14F-4D97-AF65-F5344CB8AC3E}">
        <p14:creationId xmlns:p14="http://schemas.microsoft.com/office/powerpoint/2010/main" val="4215887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36AB9-0AC1-40AF-94BD-10D301858175}"/>
              </a:ext>
            </a:extLst>
          </p:cNvPr>
          <p:cNvSpPr>
            <a:spLocks noGrp="1"/>
          </p:cNvSpPr>
          <p:nvPr>
            <p:ph type="title"/>
          </p:nvPr>
        </p:nvSpPr>
        <p:spPr/>
        <p:txBody>
          <a:bodyPr>
            <a:normAutofit fontScale="90000"/>
          </a:bodyPr>
          <a:lstStyle/>
          <a:p>
            <a:r>
              <a:rPr lang="en-US" altLang="zh-CN" dirty="0"/>
              <a:t>Static</a:t>
            </a:r>
            <a:r>
              <a:rPr lang="zh-CN" altLang="en-US" dirty="0"/>
              <a:t>属性本地过程变量</a:t>
            </a:r>
          </a:p>
        </p:txBody>
      </p:sp>
      <p:sp>
        <p:nvSpPr>
          <p:cNvPr id="3" name="内容占位符 2">
            <a:extLst>
              <a:ext uri="{FF2B5EF4-FFF2-40B4-BE49-F238E27FC236}">
                <a16:creationId xmlns:a16="http://schemas.microsoft.com/office/drawing/2014/main" id="{193FD026-4100-4D31-B27A-CEEAAA3D587F}"/>
              </a:ext>
            </a:extLst>
          </p:cNvPr>
          <p:cNvSpPr>
            <a:spLocks noGrp="1"/>
          </p:cNvSpPr>
          <p:nvPr>
            <p:ph idx="1"/>
          </p:nvPr>
        </p:nvSpPr>
        <p:spPr>
          <a:xfrm>
            <a:off x="457200" y="837034"/>
            <a:ext cx="6131024" cy="5289136"/>
          </a:xfrm>
        </p:spPr>
        <p:txBody>
          <a:bodyPr>
            <a:normAutofit fontScale="92500" lnSpcReduction="10000"/>
          </a:bodyPr>
          <a:lstStyle/>
          <a:p>
            <a:r>
              <a:rPr lang="zh-CN" altLang="en-US" dirty="0"/>
              <a:t>本地链接器符号和本地程序变量的不同：</a:t>
            </a:r>
            <a:endParaRPr lang="en-US" altLang="zh-CN" dirty="0"/>
          </a:p>
          <a:p>
            <a:pPr lvl="1"/>
            <a:r>
              <a:rPr lang="zh-CN" altLang="en-US" dirty="0"/>
              <a:t>本地程序变量在运行时在栈中管理</a:t>
            </a:r>
            <a:endParaRPr lang="en-US" altLang="zh-CN" dirty="0"/>
          </a:p>
          <a:p>
            <a:pPr lvl="1"/>
            <a:r>
              <a:rPr lang="zh-CN" altLang="en-US" dirty="0"/>
              <a:t>带有</a:t>
            </a:r>
            <a:r>
              <a:rPr lang="en-US" altLang="zh-CN" dirty="0"/>
              <a:t>static</a:t>
            </a:r>
            <a:r>
              <a:rPr lang="zh-CN" altLang="en-US" dirty="0"/>
              <a:t>属性的本地过程变量不在栈中管理</a:t>
            </a:r>
            <a:endParaRPr lang="en-US" altLang="zh-CN" dirty="0"/>
          </a:p>
          <a:p>
            <a:pPr lvl="2"/>
            <a:r>
              <a:rPr lang="zh-CN" altLang="en-US" dirty="0"/>
              <a:t>编译器在</a:t>
            </a:r>
            <a:r>
              <a:rPr lang="en-US" altLang="zh-CN" dirty="0"/>
              <a:t>.data</a:t>
            </a:r>
            <a:r>
              <a:rPr lang="zh-CN" altLang="en-US" dirty="0"/>
              <a:t>或</a:t>
            </a:r>
            <a:r>
              <a:rPr lang="en-US" altLang="zh-CN" dirty="0"/>
              <a:t>.</a:t>
            </a:r>
            <a:r>
              <a:rPr lang="en-US" altLang="zh-CN" dirty="0" err="1"/>
              <a:t>bss</a:t>
            </a:r>
            <a:r>
              <a:rPr lang="zh-CN" altLang="en-US" dirty="0"/>
              <a:t>中为每个定义分配空间</a:t>
            </a:r>
            <a:endParaRPr lang="en-US" altLang="zh-CN" dirty="0"/>
          </a:p>
          <a:p>
            <a:pPr lvl="2"/>
            <a:r>
              <a:rPr lang="zh-CN" altLang="en-US" dirty="0"/>
              <a:t>在符号表中创建一个有唯一名字的本地链接器符号</a:t>
            </a:r>
            <a:endParaRPr lang="en-US" altLang="zh-CN" dirty="0"/>
          </a:p>
          <a:p>
            <a:r>
              <a:rPr lang="zh-CN" altLang="en-US" dirty="0"/>
              <a:t>示例：</a:t>
            </a:r>
            <a:endParaRPr lang="en-US" altLang="zh-CN" dirty="0"/>
          </a:p>
          <a:p>
            <a:pPr lvl="1"/>
            <a:r>
              <a:rPr lang="zh-CN" altLang="en-US" dirty="0"/>
              <a:t>函数</a:t>
            </a:r>
            <a:r>
              <a:rPr lang="en-US" altLang="zh-CN" dirty="0"/>
              <a:t>f()</a:t>
            </a:r>
            <a:r>
              <a:rPr lang="zh-CN" altLang="en-US" dirty="0"/>
              <a:t>和</a:t>
            </a:r>
            <a:r>
              <a:rPr lang="en-US" altLang="zh-CN" dirty="0"/>
              <a:t>g()</a:t>
            </a:r>
            <a:r>
              <a:rPr lang="zh-CN" altLang="en-US" dirty="0"/>
              <a:t>中各定义了一个静态局部变量</a:t>
            </a:r>
            <a:r>
              <a:rPr lang="en-US" altLang="zh-CN" dirty="0"/>
              <a:t>x</a:t>
            </a:r>
          </a:p>
          <a:p>
            <a:pPr lvl="1"/>
            <a:r>
              <a:rPr lang="zh-CN" altLang="en-US" dirty="0"/>
              <a:t>编译器向汇编器输出两个不同名字的局部链接器符号</a:t>
            </a:r>
            <a:endParaRPr lang="en-US" altLang="zh-CN" dirty="0"/>
          </a:p>
          <a:p>
            <a:pPr lvl="2"/>
            <a:r>
              <a:rPr lang="en-US" altLang="zh-CN" dirty="0"/>
              <a:t>X.1</a:t>
            </a:r>
            <a:r>
              <a:rPr lang="zh-CN" altLang="en-US" dirty="0"/>
              <a:t>表示函数</a:t>
            </a:r>
            <a:r>
              <a:rPr lang="en-US" altLang="zh-CN" dirty="0"/>
              <a:t>f</a:t>
            </a:r>
            <a:r>
              <a:rPr lang="zh-CN" altLang="en-US" dirty="0"/>
              <a:t>中的定义</a:t>
            </a:r>
            <a:endParaRPr lang="en-US" altLang="zh-CN" dirty="0"/>
          </a:p>
          <a:p>
            <a:pPr lvl="2"/>
            <a:r>
              <a:rPr lang="en-US" altLang="zh-CN" dirty="0"/>
              <a:t>X.2</a:t>
            </a:r>
            <a:r>
              <a:rPr lang="zh-CN" altLang="en-US" dirty="0"/>
              <a:t>表示函数</a:t>
            </a:r>
            <a:r>
              <a:rPr lang="en-US" altLang="zh-CN" dirty="0"/>
              <a:t>g</a:t>
            </a:r>
            <a:r>
              <a:rPr lang="zh-CN" altLang="en-US" dirty="0"/>
              <a:t>中的定义</a:t>
            </a:r>
            <a:endParaRPr lang="en-US" altLang="zh-CN" dirty="0"/>
          </a:p>
          <a:p>
            <a:r>
              <a:rPr lang="zh-CN" altLang="en-US" dirty="0"/>
              <a:t>用途：利用</a:t>
            </a:r>
            <a:r>
              <a:rPr lang="en-US" altLang="zh-CN" dirty="0"/>
              <a:t>static</a:t>
            </a:r>
            <a:r>
              <a:rPr lang="zh-CN" altLang="en-US" dirty="0"/>
              <a:t>属性隐藏变量和函数名</a:t>
            </a:r>
            <a:endParaRPr lang="en-US" altLang="zh-CN" dirty="0"/>
          </a:p>
          <a:p>
            <a:pPr lvl="1"/>
            <a:r>
              <a:rPr lang="zh-CN" altLang="en-US" dirty="0"/>
              <a:t>带有</a:t>
            </a:r>
            <a:r>
              <a:rPr lang="en-US" altLang="zh-CN" dirty="0"/>
              <a:t>static</a:t>
            </a:r>
            <a:r>
              <a:rPr lang="zh-CN" altLang="en-US" dirty="0"/>
              <a:t>属性声明的全局变量或者函数都是模块私有的</a:t>
            </a:r>
            <a:endParaRPr lang="en-US" altLang="zh-CN" dirty="0"/>
          </a:p>
          <a:p>
            <a:pPr lvl="1"/>
            <a:r>
              <a:rPr lang="zh-CN" altLang="en-US" dirty="0"/>
              <a:t>不带</a:t>
            </a:r>
            <a:r>
              <a:rPr lang="en-US" altLang="zh-CN" dirty="0"/>
              <a:t>static</a:t>
            </a:r>
            <a:r>
              <a:rPr lang="zh-CN" altLang="en-US" dirty="0"/>
              <a:t>属性声明的全局变量和函数都是公共的，可以被其他模块访问</a:t>
            </a:r>
            <a:endParaRPr lang="en-US" altLang="zh-CN" dirty="0"/>
          </a:p>
          <a:p>
            <a:pPr lvl="1"/>
            <a:r>
              <a:rPr lang="zh-CN" altLang="en-US" dirty="0"/>
              <a:t>尽可能用</a:t>
            </a:r>
            <a:r>
              <a:rPr lang="en-US" altLang="zh-CN" dirty="0"/>
              <a:t>static</a:t>
            </a:r>
            <a:r>
              <a:rPr lang="zh-CN" altLang="en-US" dirty="0"/>
              <a:t>属性保护变量和函数是好的编程习惯</a:t>
            </a:r>
          </a:p>
        </p:txBody>
      </p:sp>
      <p:sp>
        <p:nvSpPr>
          <p:cNvPr id="4" name="灯片编号占位符 3">
            <a:extLst>
              <a:ext uri="{FF2B5EF4-FFF2-40B4-BE49-F238E27FC236}">
                <a16:creationId xmlns:a16="http://schemas.microsoft.com/office/drawing/2014/main" id="{2E118E20-EF26-48E9-9035-893E7B22ACB7}"/>
              </a:ext>
            </a:extLst>
          </p:cNvPr>
          <p:cNvSpPr>
            <a:spLocks noGrp="1"/>
          </p:cNvSpPr>
          <p:nvPr>
            <p:ph type="sldNum" sz="quarter" idx="12"/>
          </p:nvPr>
        </p:nvSpPr>
        <p:spPr/>
        <p:txBody>
          <a:bodyPr/>
          <a:lstStyle/>
          <a:p>
            <a:fld id="{6D62327B-ED8D-4CFC-ADD0-A75FA5CBE281}" type="slidenum">
              <a:rPr lang="zh-CN" altLang="en-US" smtClean="0"/>
              <a:pPr/>
              <a:t>16</a:t>
            </a:fld>
            <a:endParaRPr lang="zh-CN" altLang="en-US" dirty="0"/>
          </a:p>
        </p:txBody>
      </p:sp>
      <p:sp>
        <p:nvSpPr>
          <p:cNvPr id="5" name="Rectangle 3">
            <a:extLst>
              <a:ext uri="{FF2B5EF4-FFF2-40B4-BE49-F238E27FC236}">
                <a16:creationId xmlns:a16="http://schemas.microsoft.com/office/drawing/2014/main" id="{1B61C3B3-1676-4091-B5B9-DC11B6F50E67}"/>
              </a:ext>
            </a:extLst>
          </p:cNvPr>
          <p:cNvSpPr>
            <a:spLocks noChangeArrowheads="1"/>
          </p:cNvSpPr>
          <p:nvPr/>
        </p:nvSpPr>
        <p:spPr bwMode="auto">
          <a:xfrm>
            <a:off x="6516216" y="1916832"/>
            <a:ext cx="2592288" cy="286232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sz="1800" dirty="0">
                <a:solidFill>
                  <a:schemeClr val="tx1"/>
                </a:solidFill>
                <a:latin typeface="Menlo-Regular"/>
              </a:rPr>
              <a:t>Int f()</a:t>
            </a:r>
          </a:p>
          <a:p>
            <a:r>
              <a:rPr lang="en-US" dirty="0">
                <a:solidFill>
                  <a:schemeClr val="tx1"/>
                </a:solidFill>
                <a:latin typeface="Menlo-Regular"/>
              </a:rPr>
              <a:t>{</a:t>
            </a:r>
          </a:p>
          <a:p>
            <a:r>
              <a:rPr lang="en-US" dirty="0">
                <a:solidFill>
                  <a:schemeClr val="tx1"/>
                </a:solidFill>
                <a:latin typeface="Menlo-Regular"/>
              </a:rPr>
              <a:t>   static int x=0;</a:t>
            </a:r>
          </a:p>
          <a:p>
            <a:r>
              <a:rPr lang="en-US" sz="1800" dirty="0">
                <a:solidFill>
                  <a:schemeClr val="tx1"/>
                </a:solidFill>
                <a:latin typeface="Menlo-Regular"/>
              </a:rPr>
              <a:t>   return x;</a:t>
            </a:r>
          </a:p>
          <a:p>
            <a:r>
              <a:rPr lang="en-US" dirty="0">
                <a:solidFill>
                  <a:schemeClr val="tx1"/>
                </a:solidFill>
                <a:latin typeface="Menlo-Regular"/>
              </a:rPr>
              <a:t>}</a:t>
            </a:r>
          </a:p>
          <a:p>
            <a:r>
              <a:rPr lang="en-US" sz="1800" dirty="0">
                <a:solidFill>
                  <a:schemeClr val="tx1"/>
                </a:solidFill>
                <a:latin typeface="Menlo-Regular"/>
              </a:rPr>
              <a:t>Int g()</a:t>
            </a:r>
          </a:p>
          <a:p>
            <a:r>
              <a:rPr lang="en-US" dirty="0">
                <a:solidFill>
                  <a:schemeClr val="tx1"/>
                </a:solidFill>
                <a:latin typeface="Menlo-Regular"/>
              </a:rPr>
              <a:t>{</a:t>
            </a:r>
          </a:p>
          <a:p>
            <a:r>
              <a:rPr lang="en-US" sz="1800" dirty="0">
                <a:solidFill>
                  <a:schemeClr val="tx1"/>
                </a:solidFill>
                <a:latin typeface="Menlo-Regular"/>
              </a:rPr>
              <a:t>   static int x=1;</a:t>
            </a:r>
          </a:p>
          <a:p>
            <a:r>
              <a:rPr lang="en-US" dirty="0">
                <a:solidFill>
                  <a:schemeClr val="tx1"/>
                </a:solidFill>
                <a:latin typeface="Menlo-Regular"/>
              </a:rPr>
              <a:t>   return x;</a:t>
            </a:r>
          </a:p>
          <a:p>
            <a:r>
              <a:rPr lang="en-US" sz="1800" dirty="0">
                <a:solidFill>
                  <a:schemeClr val="tx1"/>
                </a:solidFill>
                <a:latin typeface="Menlo-Regular"/>
              </a:rPr>
              <a:t>}</a:t>
            </a:r>
            <a:endParaRPr lang="en-US" sz="1800" dirty="0">
              <a:solidFill>
                <a:schemeClr val="tx1"/>
              </a:solidFill>
              <a:latin typeface="Courier New"/>
              <a:cs typeface="Courier New"/>
            </a:endParaRPr>
          </a:p>
        </p:txBody>
      </p:sp>
    </p:spTree>
    <p:extLst>
      <p:ext uri="{BB962C8B-B14F-4D97-AF65-F5344CB8AC3E}">
        <p14:creationId xmlns:p14="http://schemas.microsoft.com/office/powerpoint/2010/main" val="2222224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807CE5-5F1B-4AF0-8BB2-62B148E9D0D8}"/>
              </a:ext>
            </a:extLst>
          </p:cNvPr>
          <p:cNvSpPr>
            <a:spLocks noGrp="1"/>
          </p:cNvSpPr>
          <p:nvPr>
            <p:ph type="title"/>
          </p:nvPr>
        </p:nvSpPr>
        <p:spPr/>
        <p:txBody>
          <a:bodyPr>
            <a:normAutofit fontScale="90000"/>
          </a:bodyPr>
          <a:lstStyle/>
          <a:p>
            <a:r>
              <a:rPr lang="zh-CN" altLang="en-US" dirty="0"/>
              <a:t>符号表</a:t>
            </a:r>
          </a:p>
        </p:txBody>
      </p:sp>
      <p:sp>
        <p:nvSpPr>
          <p:cNvPr id="4" name="灯片编号占位符 3">
            <a:extLst>
              <a:ext uri="{FF2B5EF4-FFF2-40B4-BE49-F238E27FC236}">
                <a16:creationId xmlns:a16="http://schemas.microsoft.com/office/drawing/2014/main" id="{DCE71B04-E8A1-41ED-8443-D3FBFF280B06}"/>
              </a:ext>
            </a:extLst>
          </p:cNvPr>
          <p:cNvSpPr>
            <a:spLocks noGrp="1"/>
          </p:cNvSpPr>
          <p:nvPr>
            <p:ph type="sldNum" sz="quarter" idx="12"/>
          </p:nvPr>
        </p:nvSpPr>
        <p:spPr/>
        <p:txBody>
          <a:bodyPr/>
          <a:lstStyle/>
          <a:p>
            <a:fld id="{6D62327B-ED8D-4CFC-ADD0-A75FA5CBE281}" type="slidenum">
              <a:rPr lang="zh-CN" altLang="en-US" smtClean="0"/>
              <a:pPr/>
              <a:t>17</a:t>
            </a:fld>
            <a:endParaRPr lang="zh-CN" altLang="en-US" dirty="0"/>
          </a:p>
        </p:txBody>
      </p:sp>
      <p:sp>
        <p:nvSpPr>
          <p:cNvPr id="6" name="Rectangle 3">
            <a:extLst>
              <a:ext uri="{FF2B5EF4-FFF2-40B4-BE49-F238E27FC236}">
                <a16:creationId xmlns:a16="http://schemas.microsoft.com/office/drawing/2014/main" id="{DB43B3F8-044C-4816-870A-33EFAC55BC8A}"/>
              </a:ext>
            </a:extLst>
          </p:cNvPr>
          <p:cNvSpPr>
            <a:spLocks noChangeArrowheads="1"/>
          </p:cNvSpPr>
          <p:nvPr/>
        </p:nvSpPr>
        <p:spPr bwMode="auto">
          <a:xfrm>
            <a:off x="4067944" y="1111277"/>
            <a:ext cx="5076056" cy="5047536"/>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sz="1400" dirty="0">
                <a:solidFill>
                  <a:schemeClr val="tx1"/>
                </a:solidFill>
                <a:latin typeface="Menlo-Regular"/>
              </a:rPr>
              <a:t>/* $begin </a:t>
            </a:r>
            <a:r>
              <a:rPr lang="en-US" sz="1400" dirty="0" err="1">
                <a:solidFill>
                  <a:schemeClr val="tx1"/>
                </a:solidFill>
                <a:latin typeface="Menlo-Regular"/>
              </a:rPr>
              <a:t>elfsymbol</a:t>
            </a:r>
            <a:r>
              <a:rPr lang="en-US" sz="1400" dirty="0">
                <a:solidFill>
                  <a:schemeClr val="tx1"/>
                </a:solidFill>
                <a:latin typeface="Menlo-Regular"/>
              </a:rPr>
              <a:t> */</a:t>
            </a:r>
          </a:p>
          <a:p>
            <a:r>
              <a:rPr lang="en-US" sz="1400" dirty="0">
                <a:solidFill>
                  <a:schemeClr val="tx1"/>
                </a:solidFill>
                <a:latin typeface="Menlo-Regular"/>
              </a:rPr>
              <a:t>typedef struct { </a:t>
            </a:r>
          </a:p>
          <a:p>
            <a:r>
              <a:rPr lang="en-US" sz="1400" dirty="0">
                <a:solidFill>
                  <a:schemeClr val="tx1"/>
                </a:solidFill>
                <a:latin typeface="Menlo-Regular"/>
              </a:rPr>
              <a:t>    int   name;      /* String table offset */ </a:t>
            </a:r>
          </a:p>
          <a:p>
            <a:r>
              <a:rPr lang="en-US" sz="1400" dirty="0">
                <a:solidFill>
                  <a:schemeClr val="tx1"/>
                </a:solidFill>
                <a:latin typeface="Menlo-Regular"/>
              </a:rPr>
              <a:t>    char  type:4,    /* Function or data (4 bits) */ </a:t>
            </a:r>
          </a:p>
          <a:p>
            <a:r>
              <a:rPr lang="en-US" sz="1400" dirty="0">
                <a:solidFill>
                  <a:schemeClr val="tx1"/>
                </a:solidFill>
                <a:latin typeface="Menlo-Regular"/>
              </a:rPr>
              <a:t>	  binding:4; /* Local or global (4 bits) */ </a:t>
            </a:r>
          </a:p>
          <a:p>
            <a:r>
              <a:rPr lang="en-US" sz="1400" dirty="0">
                <a:solidFill>
                  <a:schemeClr val="tx1"/>
                </a:solidFill>
                <a:latin typeface="Menlo-Regular"/>
              </a:rPr>
              <a:t>    char  reserved;  /* Unused */  </a:t>
            </a:r>
          </a:p>
          <a:p>
            <a:r>
              <a:rPr lang="en-US" sz="1400" dirty="0">
                <a:solidFill>
                  <a:schemeClr val="tx1"/>
                </a:solidFill>
                <a:latin typeface="Menlo-Regular"/>
              </a:rPr>
              <a:t>    short section;   /* Section header index */</a:t>
            </a:r>
          </a:p>
          <a:p>
            <a:r>
              <a:rPr lang="en-US" sz="1400" dirty="0">
                <a:solidFill>
                  <a:schemeClr val="tx1"/>
                </a:solidFill>
                <a:latin typeface="Menlo-Regular"/>
              </a:rPr>
              <a:t>    long  value;     /* Section offset or absolute address */ </a:t>
            </a:r>
          </a:p>
          <a:p>
            <a:r>
              <a:rPr lang="en-US" sz="1400" dirty="0">
                <a:solidFill>
                  <a:schemeClr val="tx1"/>
                </a:solidFill>
                <a:latin typeface="Menlo-Regular"/>
              </a:rPr>
              <a:t>    long  size;      /* Object size in bytes */ </a:t>
            </a:r>
          </a:p>
          <a:p>
            <a:r>
              <a:rPr lang="en-US" sz="1400" dirty="0">
                <a:solidFill>
                  <a:schemeClr val="tx1"/>
                </a:solidFill>
                <a:latin typeface="Menlo-Regular"/>
              </a:rPr>
              <a:t>} Elf64_Symbol; </a:t>
            </a:r>
          </a:p>
          <a:p>
            <a:r>
              <a:rPr lang="en-US" sz="1400" dirty="0">
                <a:solidFill>
                  <a:schemeClr val="tx1"/>
                </a:solidFill>
                <a:latin typeface="Menlo-Regular"/>
              </a:rPr>
              <a:t>/* $end </a:t>
            </a:r>
            <a:r>
              <a:rPr lang="en-US" sz="1400" dirty="0" err="1">
                <a:solidFill>
                  <a:schemeClr val="tx1"/>
                </a:solidFill>
                <a:latin typeface="Menlo-Regular"/>
              </a:rPr>
              <a:t>elfsymbol</a:t>
            </a:r>
            <a:r>
              <a:rPr lang="en-US" sz="1400" dirty="0">
                <a:solidFill>
                  <a:schemeClr val="tx1"/>
                </a:solidFill>
                <a:latin typeface="Menlo-Regular"/>
              </a:rPr>
              <a:t> */</a:t>
            </a:r>
          </a:p>
          <a:p>
            <a:endParaRPr lang="en-US" sz="1400" dirty="0">
              <a:solidFill>
                <a:schemeClr val="tx1"/>
              </a:solidFill>
              <a:latin typeface="Menlo-Regular"/>
            </a:endParaRPr>
          </a:p>
          <a:p>
            <a:r>
              <a:rPr lang="en-US" sz="1400" dirty="0">
                <a:solidFill>
                  <a:schemeClr val="tx1"/>
                </a:solidFill>
                <a:latin typeface="Menlo-Regular"/>
              </a:rPr>
              <a:t>/* $begin </a:t>
            </a:r>
            <a:r>
              <a:rPr lang="en-US" sz="1400" dirty="0" err="1">
                <a:solidFill>
                  <a:schemeClr val="tx1"/>
                </a:solidFill>
                <a:latin typeface="Menlo-Regular"/>
              </a:rPr>
              <a:t>elfrelo</a:t>
            </a:r>
            <a:r>
              <a:rPr lang="en-US" sz="1400" dirty="0">
                <a:solidFill>
                  <a:schemeClr val="tx1"/>
                </a:solidFill>
                <a:latin typeface="Menlo-Regular"/>
              </a:rPr>
              <a:t> */</a:t>
            </a:r>
          </a:p>
          <a:p>
            <a:r>
              <a:rPr lang="en-US" sz="1400" dirty="0">
                <a:solidFill>
                  <a:schemeClr val="tx1"/>
                </a:solidFill>
                <a:latin typeface="Menlo-Regular"/>
              </a:rPr>
              <a:t>typedef struct { </a:t>
            </a:r>
          </a:p>
          <a:p>
            <a:r>
              <a:rPr lang="en-US" sz="1400" dirty="0">
                <a:solidFill>
                  <a:schemeClr val="tx1"/>
                </a:solidFill>
                <a:latin typeface="Menlo-Regular"/>
              </a:rPr>
              <a:t>    long offset;    /* Offset of the reference to relocate */ </a:t>
            </a:r>
          </a:p>
          <a:p>
            <a:r>
              <a:rPr lang="en-US" sz="1400" dirty="0">
                <a:solidFill>
                  <a:schemeClr val="tx1"/>
                </a:solidFill>
                <a:latin typeface="Menlo-Regular"/>
              </a:rPr>
              <a:t>    long type:32,   /* Relocation type */ </a:t>
            </a:r>
          </a:p>
          <a:p>
            <a:r>
              <a:rPr lang="en-US" sz="1400" dirty="0">
                <a:solidFill>
                  <a:schemeClr val="tx1"/>
                </a:solidFill>
                <a:latin typeface="Menlo-Regular"/>
              </a:rPr>
              <a:t>	 symbol:32; /* Symbol table index */ </a:t>
            </a:r>
          </a:p>
          <a:p>
            <a:r>
              <a:rPr lang="en-US" sz="1400" dirty="0">
                <a:solidFill>
                  <a:schemeClr val="tx1"/>
                </a:solidFill>
                <a:latin typeface="Menlo-Regular"/>
              </a:rPr>
              <a:t>    long addend;    /* Constant part of relocation expression */</a:t>
            </a:r>
          </a:p>
          <a:p>
            <a:r>
              <a:rPr lang="en-US" sz="1400" dirty="0">
                <a:solidFill>
                  <a:schemeClr val="tx1"/>
                </a:solidFill>
                <a:latin typeface="Menlo-Regular"/>
              </a:rPr>
              <a:t>} Elf64_Rela; </a:t>
            </a:r>
          </a:p>
          <a:p>
            <a:r>
              <a:rPr lang="en-US" sz="1400" dirty="0">
                <a:solidFill>
                  <a:schemeClr val="tx1"/>
                </a:solidFill>
                <a:latin typeface="Menlo-Regular"/>
              </a:rPr>
              <a:t>/* $end </a:t>
            </a:r>
            <a:r>
              <a:rPr lang="en-US" sz="1400" dirty="0" err="1">
                <a:solidFill>
                  <a:schemeClr val="tx1"/>
                </a:solidFill>
                <a:latin typeface="Menlo-Regular"/>
              </a:rPr>
              <a:t>elfrelo</a:t>
            </a:r>
            <a:r>
              <a:rPr lang="en-US" sz="1400" dirty="0">
                <a:solidFill>
                  <a:schemeClr val="tx1"/>
                </a:solidFill>
                <a:latin typeface="Menlo-Regular"/>
              </a:rPr>
              <a:t> */</a:t>
            </a:r>
            <a:endParaRPr lang="en-US" sz="1400" dirty="0">
              <a:solidFill>
                <a:schemeClr val="tx1"/>
              </a:solidFill>
              <a:latin typeface="Courier New"/>
              <a:cs typeface="Courier New"/>
            </a:endParaRPr>
          </a:p>
        </p:txBody>
      </p:sp>
      <p:sp>
        <p:nvSpPr>
          <p:cNvPr id="7" name="内容占位符 2">
            <a:extLst>
              <a:ext uri="{FF2B5EF4-FFF2-40B4-BE49-F238E27FC236}">
                <a16:creationId xmlns:a16="http://schemas.microsoft.com/office/drawing/2014/main" id="{CA77379B-4D43-4128-BDDF-1EC79CDC2A5B}"/>
              </a:ext>
            </a:extLst>
          </p:cNvPr>
          <p:cNvSpPr>
            <a:spLocks noGrp="1"/>
          </p:cNvSpPr>
          <p:nvPr>
            <p:ph idx="1"/>
          </p:nvPr>
        </p:nvSpPr>
        <p:spPr>
          <a:xfrm>
            <a:off x="251520" y="837034"/>
            <a:ext cx="3816424" cy="5616302"/>
          </a:xfrm>
        </p:spPr>
        <p:txBody>
          <a:bodyPr>
            <a:normAutofit lnSpcReduction="10000"/>
          </a:bodyPr>
          <a:lstStyle/>
          <a:p>
            <a:r>
              <a:rPr lang="zh-CN" altLang="en-US" dirty="0"/>
              <a:t>符号表由汇编器构造，使用编译器输出到汇编语言</a:t>
            </a:r>
            <a:r>
              <a:rPr lang="en-US" altLang="zh-CN" dirty="0"/>
              <a:t>.s</a:t>
            </a:r>
            <a:r>
              <a:rPr lang="zh-CN" altLang="en-US" dirty="0"/>
              <a:t>文件中的符号</a:t>
            </a:r>
            <a:endParaRPr lang="en-US" altLang="zh-CN" dirty="0"/>
          </a:p>
          <a:p>
            <a:pPr lvl="1"/>
            <a:r>
              <a:rPr lang="en-US" altLang="zh-CN" dirty="0"/>
              <a:t>.</a:t>
            </a:r>
            <a:r>
              <a:rPr lang="en-US" altLang="zh-CN" dirty="0" err="1"/>
              <a:t>symtab</a:t>
            </a:r>
            <a:r>
              <a:rPr lang="zh-CN" altLang="en-US" dirty="0"/>
              <a:t>节中包含</a:t>
            </a:r>
            <a:r>
              <a:rPr lang="en-US" altLang="zh-CN" dirty="0"/>
              <a:t>ELF</a:t>
            </a:r>
            <a:r>
              <a:rPr lang="zh-CN" altLang="en-US" dirty="0"/>
              <a:t>符号表，包含一个条目的数组，每个条目格式：</a:t>
            </a:r>
            <a:endParaRPr lang="en-US" altLang="zh-CN" dirty="0"/>
          </a:p>
          <a:p>
            <a:pPr lvl="2"/>
            <a:r>
              <a:rPr lang="en-US" altLang="zh-CN" dirty="0"/>
              <a:t>Name</a:t>
            </a:r>
            <a:r>
              <a:rPr lang="zh-CN" altLang="en-US" dirty="0"/>
              <a:t>：字符串表中的字节偏移，指向符号的以</a:t>
            </a:r>
            <a:r>
              <a:rPr lang="en-US" altLang="zh-CN" dirty="0"/>
              <a:t>null</a:t>
            </a:r>
            <a:r>
              <a:rPr lang="zh-CN" altLang="en-US" dirty="0"/>
              <a:t>结尾的字符串名字</a:t>
            </a:r>
            <a:endParaRPr lang="en-US" altLang="zh-CN" dirty="0"/>
          </a:p>
          <a:p>
            <a:pPr lvl="2"/>
            <a:r>
              <a:rPr lang="en-US" altLang="zh-CN" dirty="0"/>
              <a:t>Type</a:t>
            </a:r>
            <a:r>
              <a:rPr lang="zh-CN" altLang="en-US" dirty="0"/>
              <a:t>：数据或函数</a:t>
            </a:r>
            <a:endParaRPr lang="en-US" altLang="zh-CN" dirty="0"/>
          </a:p>
          <a:p>
            <a:pPr lvl="2"/>
            <a:r>
              <a:rPr lang="en-US" altLang="zh-CN" dirty="0"/>
              <a:t>Binding</a:t>
            </a:r>
            <a:r>
              <a:rPr lang="zh-CN" altLang="en-US" dirty="0"/>
              <a:t>：本地或全局</a:t>
            </a:r>
            <a:endParaRPr lang="en-US" altLang="zh-CN" dirty="0"/>
          </a:p>
          <a:p>
            <a:pPr lvl="2"/>
            <a:r>
              <a:rPr lang="en-US" altLang="zh-CN" dirty="0"/>
              <a:t>Section</a:t>
            </a:r>
            <a:r>
              <a:rPr lang="zh-CN" altLang="en-US" dirty="0"/>
              <a:t>：到节头部表的索引</a:t>
            </a:r>
            <a:endParaRPr lang="en-US" altLang="zh-CN" dirty="0"/>
          </a:p>
          <a:p>
            <a:pPr lvl="2"/>
            <a:r>
              <a:rPr lang="en-US" altLang="zh-CN" dirty="0"/>
              <a:t>Value</a:t>
            </a:r>
            <a:r>
              <a:rPr lang="zh-CN" altLang="en-US" dirty="0"/>
              <a:t>：符号的地址，对于可重定位模块来说是距定义目标的节的起始位置的偏移，对可执行目标文件来说是一个绝对运行时地址</a:t>
            </a:r>
            <a:endParaRPr lang="en-US" altLang="zh-CN" dirty="0"/>
          </a:p>
          <a:p>
            <a:pPr lvl="2"/>
            <a:r>
              <a:rPr lang="en-US" altLang="zh-CN" dirty="0"/>
              <a:t>size</a:t>
            </a:r>
            <a:r>
              <a:rPr lang="zh-CN" altLang="en-US" dirty="0"/>
              <a:t>：是目标的大小，以字节为单位</a:t>
            </a:r>
            <a:endParaRPr lang="en-US" altLang="zh-CN" dirty="0"/>
          </a:p>
          <a:p>
            <a:pPr lvl="2"/>
            <a:endParaRPr lang="en-US" altLang="zh-CN" dirty="0"/>
          </a:p>
          <a:p>
            <a:pPr lvl="2"/>
            <a:endParaRPr lang="en-US" altLang="zh-CN" dirty="0"/>
          </a:p>
        </p:txBody>
      </p:sp>
      <p:cxnSp>
        <p:nvCxnSpPr>
          <p:cNvPr id="9" name="直接箭头连接符 8">
            <a:extLst>
              <a:ext uri="{FF2B5EF4-FFF2-40B4-BE49-F238E27FC236}">
                <a16:creationId xmlns:a16="http://schemas.microsoft.com/office/drawing/2014/main" id="{D9AEF10E-7857-495E-92C3-42B8817DA813}"/>
              </a:ext>
            </a:extLst>
          </p:cNvPr>
          <p:cNvCxnSpPr>
            <a:cxnSpLocks/>
          </p:cNvCxnSpPr>
          <p:nvPr/>
        </p:nvCxnSpPr>
        <p:spPr>
          <a:xfrm flipV="1">
            <a:off x="3635896" y="1916832"/>
            <a:ext cx="576064" cy="9361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3962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68E236-6BB9-46A0-8F8F-5584FC6FA40F}"/>
              </a:ext>
            </a:extLst>
          </p:cNvPr>
          <p:cNvSpPr>
            <a:spLocks noGrp="1"/>
          </p:cNvSpPr>
          <p:nvPr>
            <p:ph type="title"/>
          </p:nvPr>
        </p:nvSpPr>
        <p:spPr/>
        <p:txBody>
          <a:bodyPr>
            <a:normAutofit fontScale="90000"/>
          </a:bodyPr>
          <a:lstStyle/>
          <a:p>
            <a:r>
              <a:rPr lang="zh-CN" altLang="en-US" dirty="0"/>
              <a:t>伪节</a:t>
            </a:r>
            <a:r>
              <a:rPr lang="en-US" altLang="zh-CN" dirty="0"/>
              <a:t>(</a:t>
            </a:r>
            <a:r>
              <a:rPr lang="en-US" altLang="zh-CN" dirty="0" err="1"/>
              <a:t>pseudosection</a:t>
            </a:r>
            <a:r>
              <a:rPr lang="en-US" altLang="zh-CN" dirty="0"/>
              <a:t>)</a:t>
            </a:r>
            <a:endParaRPr lang="zh-CN" altLang="en-US" dirty="0"/>
          </a:p>
        </p:txBody>
      </p:sp>
      <p:sp>
        <p:nvSpPr>
          <p:cNvPr id="3" name="内容占位符 2">
            <a:extLst>
              <a:ext uri="{FF2B5EF4-FFF2-40B4-BE49-F238E27FC236}">
                <a16:creationId xmlns:a16="http://schemas.microsoft.com/office/drawing/2014/main" id="{5C1684EF-7272-40E6-AF9E-4D7EF9643A56}"/>
              </a:ext>
            </a:extLst>
          </p:cNvPr>
          <p:cNvSpPr>
            <a:spLocks noGrp="1"/>
          </p:cNvSpPr>
          <p:nvPr>
            <p:ph idx="1"/>
          </p:nvPr>
        </p:nvSpPr>
        <p:spPr/>
        <p:txBody>
          <a:bodyPr/>
          <a:lstStyle/>
          <a:p>
            <a:r>
              <a:rPr lang="zh-CN" altLang="en-US" dirty="0"/>
              <a:t>可重定位目标文件中三个特殊的伪节：</a:t>
            </a:r>
            <a:endParaRPr lang="en-US" altLang="zh-CN" dirty="0"/>
          </a:p>
          <a:p>
            <a:pPr lvl="1"/>
            <a:r>
              <a:rPr lang="en-US" altLang="zh-CN" dirty="0"/>
              <a:t>ABS</a:t>
            </a:r>
            <a:r>
              <a:rPr lang="zh-CN" altLang="en-US" dirty="0"/>
              <a:t>：不该被重定位的符号</a:t>
            </a:r>
            <a:endParaRPr lang="en-US" altLang="zh-CN" dirty="0"/>
          </a:p>
          <a:p>
            <a:pPr lvl="1"/>
            <a:r>
              <a:rPr lang="en-US" altLang="zh-CN" dirty="0"/>
              <a:t>UNDEF</a:t>
            </a:r>
            <a:r>
              <a:rPr lang="zh-CN" altLang="en-US" dirty="0"/>
              <a:t>：未定义的符号，在本目标模块中引用，但却在其他地方定义的符号</a:t>
            </a:r>
            <a:endParaRPr lang="en-US" altLang="zh-CN" dirty="0"/>
          </a:p>
          <a:p>
            <a:pPr lvl="1"/>
            <a:r>
              <a:rPr lang="en-US" altLang="zh-CN" dirty="0"/>
              <a:t>COMMON</a:t>
            </a:r>
            <a:r>
              <a:rPr lang="zh-CN" altLang="en-US" dirty="0"/>
              <a:t>：表示还未被分配位置的未初始化的数据目标</a:t>
            </a:r>
            <a:endParaRPr lang="en-US" altLang="zh-CN" dirty="0"/>
          </a:p>
          <a:p>
            <a:pPr lvl="2"/>
            <a:r>
              <a:rPr lang="en-US" altLang="zh-CN" dirty="0"/>
              <a:t>COMMON</a:t>
            </a:r>
            <a:r>
              <a:rPr lang="zh-CN" altLang="en-US" dirty="0"/>
              <a:t>与</a:t>
            </a:r>
            <a:r>
              <a:rPr lang="en-US" altLang="zh-CN" dirty="0"/>
              <a:t>.</a:t>
            </a:r>
            <a:r>
              <a:rPr lang="en-US" altLang="zh-CN" dirty="0" err="1"/>
              <a:t>bss</a:t>
            </a:r>
            <a:r>
              <a:rPr lang="zh-CN" altLang="en-US" dirty="0"/>
              <a:t>的区别：</a:t>
            </a:r>
            <a:endParaRPr lang="en-US" altLang="zh-CN" dirty="0"/>
          </a:p>
          <a:p>
            <a:pPr lvl="3"/>
            <a:r>
              <a:rPr lang="en-US" altLang="zh-CN" dirty="0"/>
              <a:t>COMMON</a:t>
            </a:r>
            <a:r>
              <a:rPr lang="zh-CN" altLang="en-US" dirty="0"/>
              <a:t>：未初始化的全局变量</a:t>
            </a:r>
            <a:endParaRPr lang="en-US" altLang="zh-CN" dirty="0"/>
          </a:p>
          <a:p>
            <a:pPr lvl="3"/>
            <a:r>
              <a:rPr lang="en-US" altLang="zh-CN" dirty="0"/>
              <a:t>.</a:t>
            </a:r>
            <a:r>
              <a:rPr lang="en-US" altLang="zh-CN" dirty="0" err="1"/>
              <a:t>bss</a:t>
            </a:r>
            <a:r>
              <a:rPr lang="zh-CN" altLang="en-US" dirty="0"/>
              <a:t>：未初始化的静态变量，以及初始化为</a:t>
            </a:r>
            <a:r>
              <a:rPr lang="en-US" altLang="zh-CN" dirty="0"/>
              <a:t>0</a:t>
            </a:r>
            <a:r>
              <a:rPr lang="zh-CN" altLang="en-US" dirty="0"/>
              <a:t>的全局或静态变量</a:t>
            </a:r>
            <a:endParaRPr lang="en-US" altLang="zh-CN" dirty="0"/>
          </a:p>
          <a:p>
            <a:endParaRPr lang="en-US" altLang="zh-CN" dirty="0"/>
          </a:p>
        </p:txBody>
      </p:sp>
      <p:sp>
        <p:nvSpPr>
          <p:cNvPr id="4" name="灯片编号占位符 3">
            <a:extLst>
              <a:ext uri="{FF2B5EF4-FFF2-40B4-BE49-F238E27FC236}">
                <a16:creationId xmlns:a16="http://schemas.microsoft.com/office/drawing/2014/main" id="{F1F2BFE9-E3B3-4199-BD21-3E6BE4140AB5}"/>
              </a:ext>
            </a:extLst>
          </p:cNvPr>
          <p:cNvSpPr>
            <a:spLocks noGrp="1"/>
          </p:cNvSpPr>
          <p:nvPr>
            <p:ph type="sldNum" sz="quarter" idx="12"/>
          </p:nvPr>
        </p:nvSpPr>
        <p:spPr/>
        <p:txBody>
          <a:bodyPr/>
          <a:lstStyle/>
          <a:p>
            <a:fld id="{6D62327B-ED8D-4CFC-ADD0-A75FA5CBE281}" type="slidenum">
              <a:rPr lang="zh-CN" altLang="en-US" smtClean="0"/>
              <a:pPr/>
              <a:t>18</a:t>
            </a:fld>
            <a:endParaRPr lang="zh-CN" altLang="en-US" dirty="0"/>
          </a:p>
        </p:txBody>
      </p:sp>
    </p:spTree>
    <p:extLst>
      <p:ext uri="{BB962C8B-B14F-4D97-AF65-F5344CB8AC3E}">
        <p14:creationId xmlns:p14="http://schemas.microsoft.com/office/powerpoint/2010/main" val="3321596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DC687-F7F4-4BC1-B470-EA8E00C1E856}"/>
              </a:ext>
            </a:extLst>
          </p:cNvPr>
          <p:cNvSpPr>
            <a:spLocks noGrp="1"/>
          </p:cNvSpPr>
          <p:nvPr>
            <p:ph type="title"/>
          </p:nvPr>
        </p:nvSpPr>
        <p:spPr/>
        <p:txBody>
          <a:bodyPr>
            <a:normAutofit fontScale="90000"/>
          </a:bodyPr>
          <a:lstStyle/>
          <a:p>
            <a:r>
              <a:rPr lang="zh-CN" altLang="en-US" dirty="0"/>
              <a:t>示例：</a:t>
            </a:r>
            <a:r>
              <a:rPr lang="en-US" altLang="zh-CN" dirty="0" err="1"/>
              <a:t>Readelf</a:t>
            </a:r>
            <a:r>
              <a:rPr lang="zh-CN" altLang="en-US" dirty="0"/>
              <a:t>命令查看目标文件内容</a:t>
            </a:r>
          </a:p>
        </p:txBody>
      </p:sp>
      <p:sp>
        <p:nvSpPr>
          <p:cNvPr id="3" name="内容占位符 2">
            <a:extLst>
              <a:ext uri="{FF2B5EF4-FFF2-40B4-BE49-F238E27FC236}">
                <a16:creationId xmlns:a16="http://schemas.microsoft.com/office/drawing/2014/main" id="{829ECC51-B778-4F5D-A132-0238B5ADF2B0}"/>
              </a:ext>
            </a:extLst>
          </p:cNvPr>
          <p:cNvSpPr>
            <a:spLocks noGrp="1"/>
          </p:cNvSpPr>
          <p:nvPr>
            <p:ph idx="1"/>
          </p:nvPr>
        </p:nvSpPr>
        <p:spPr/>
        <p:txBody>
          <a:bodyPr>
            <a:noAutofit/>
          </a:bodyPr>
          <a:lstStyle/>
          <a:p>
            <a:r>
              <a:rPr lang="en-US" altLang="zh-CN" sz="1800" dirty="0" err="1"/>
              <a:t>readelf</a:t>
            </a:r>
            <a:r>
              <a:rPr lang="zh-CN" altLang="en-US" sz="1800" dirty="0"/>
              <a:t>命令用来显示一个或者多个</a:t>
            </a:r>
            <a:r>
              <a:rPr lang="en-US" altLang="zh-CN" sz="1800" dirty="0"/>
              <a:t>elf</a:t>
            </a:r>
            <a:r>
              <a:rPr lang="zh-CN" altLang="en-US" sz="1800" dirty="0"/>
              <a:t>格式的目标文件的信息，可以通过它的选项来控制显示哪些信息。</a:t>
            </a:r>
            <a:endParaRPr lang="en-US" altLang="zh-CN" sz="1800" dirty="0"/>
          </a:p>
          <a:p>
            <a:r>
              <a:rPr lang="zh-CN" altLang="en-US" sz="1800" dirty="0"/>
              <a:t>主要选项：</a:t>
            </a:r>
            <a:endParaRPr lang="en-US" altLang="zh-CN" sz="1800" dirty="0"/>
          </a:p>
          <a:p>
            <a:pPr marL="342811" lvl="1" indent="0">
              <a:buNone/>
            </a:pPr>
            <a:r>
              <a:rPr lang="en-US" altLang="zh-CN" sz="1600" dirty="0"/>
              <a:t>-a --all               Equivalent to: -h -l -S -s -r -d -V -A –I</a:t>
            </a:r>
          </a:p>
          <a:p>
            <a:pPr marL="299960" lvl="1" indent="0">
              <a:buNone/>
            </a:pPr>
            <a:r>
              <a:rPr lang="en-US" altLang="zh-CN" sz="1600" dirty="0"/>
              <a:t>-h --file-header       Display the ELF file header</a:t>
            </a:r>
          </a:p>
          <a:p>
            <a:pPr marL="299960" lvl="1" indent="0">
              <a:buNone/>
            </a:pPr>
            <a:r>
              <a:rPr lang="en-US" altLang="zh-CN" sz="1600" dirty="0"/>
              <a:t>-l --program-headers   Display the program headers</a:t>
            </a:r>
          </a:p>
          <a:p>
            <a:pPr marL="299960" lvl="1" indent="0">
              <a:buNone/>
            </a:pPr>
            <a:r>
              <a:rPr lang="en-US" altLang="zh-CN" sz="1600" dirty="0"/>
              <a:t>     --segments          An alias for --program-headers</a:t>
            </a:r>
          </a:p>
          <a:p>
            <a:pPr marL="299960" lvl="1" indent="0">
              <a:buNone/>
            </a:pPr>
            <a:r>
              <a:rPr lang="en-US" altLang="zh-CN" sz="1600" dirty="0"/>
              <a:t>-S --section-headers   Display the sections' header</a:t>
            </a:r>
          </a:p>
          <a:p>
            <a:pPr marL="299960" lvl="1" indent="0">
              <a:buNone/>
            </a:pPr>
            <a:r>
              <a:rPr lang="en-US" altLang="zh-CN" sz="1600" dirty="0"/>
              <a:t>     --sections          An alias for --section-headers</a:t>
            </a:r>
          </a:p>
          <a:p>
            <a:pPr marL="299960" lvl="1" indent="0">
              <a:buNone/>
            </a:pPr>
            <a:r>
              <a:rPr lang="en-US" altLang="zh-CN" sz="1600" dirty="0"/>
              <a:t>-s --</a:t>
            </a:r>
            <a:r>
              <a:rPr lang="en-US" altLang="zh-CN" sz="1600" dirty="0" err="1"/>
              <a:t>syms</a:t>
            </a:r>
            <a:r>
              <a:rPr lang="en-US" altLang="zh-CN" sz="1600" dirty="0"/>
              <a:t>              Display the symbol table</a:t>
            </a:r>
          </a:p>
          <a:p>
            <a:pPr marL="299960" lvl="1" indent="0">
              <a:buNone/>
            </a:pPr>
            <a:r>
              <a:rPr lang="en-US" altLang="zh-CN" sz="1600" dirty="0"/>
              <a:t>     --symbols           An alias for --</a:t>
            </a:r>
            <a:r>
              <a:rPr lang="en-US" altLang="zh-CN" sz="1600" dirty="0" err="1"/>
              <a:t>syms</a:t>
            </a:r>
            <a:endParaRPr lang="en-US" altLang="zh-CN" sz="1600" dirty="0"/>
          </a:p>
          <a:p>
            <a:pPr marL="342811" lvl="1" indent="0">
              <a:buNone/>
            </a:pPr>
            <a:endParaRPr lang="en-US" altLang="zh-CN" sz="1600" dirty="0"/>
          </a:p>
        </p:txBody>
      </p:sp>
      <p:sp>
        <p:nvSpPr>
          <p:cNvPr id="4" name="灯片编号占位符 3">
            <a:extLst>
              <a:ext uri="{FF2B5EF4-FFF2-40B4-BE49-F238E27FC236}">
                <a16:creationId xmlns:a16="http://schemas.microsoft.com/office/drawing/2014/main" id="{0FA04351-202A-4C95-9B34-B543234911B7}"/>
              </a:ext>
            </a:extLst>
          </p:cNvPr>
          <p:cNvSpPr>
            <a:spLocks noGrp="1"/>
          </p:cNvSpPr>
          <p:nvPr>
            <p:ph type="sldNum" sz="quarter" idx="12"/>
          </p:nvPr>
        </p:nvSpPr>
        <p:spPr/>
        <p:txBody>
          <a:bodyPr/>
          <a:lstStyle/>
          <a:p>
            <a:fld id="{6D62327B-ED8D-4CFC-ADD0-A75FA5CBE281}" type="slidenum">
              <a:rPr lang="zh-CN" altLang="en-US" smtClean="0"/>
              <a:pPr/>
              <a:t>19</a:t>
            </a:fld>
            <a:endParaRPr lang="zh-CN" altLang="en-US" dirty="0"/>
          </a:p>
        </p:txBody>
      </p:sp>
    </p:spTree>
    <p:extLst>
      <p:ext uri="{BB962C8B-B14F-4D97-AF65-F5344CB8AC3E}">
        <p14:creationId xmlns:p14="http://schemas.microsoft.com/office/powerpoint/2010/main" val="2519036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2820F-7CBC-46D8-8A67-F627CF85F135}"/>
              </a:ext>
            </a:extLst>
          </p:cNvPr>
          <p:cNvSpPr>
            <a:spLocks noGrp="1"/>
          </p:cNvSpPr>
          <p:nvPr>
            <p:ph type="title"/>
          </p:nvPr>
        </p:nvSpPr>
        <p:spPr/>
        <p:txBody>
          <a:bodyPr>
            <a:normAutofit fontScale="90000"/>
          </a:bodyPr>
          <a:lstStyle/>
          <a:p>
            <a:r>
              <a:rPr lang="en-US" altLang="zh-CN" dirty="0" err="1"/>
              <a:t>readelf</a:t>
            </a:r>
            <a:r>
              <a:rPr lang="en-US" altLang="zh-CN" dirty="0"/>
              <a:t> -a </a:t>
            </a:r>
            <a:r>
              <a:rPr lang="en-US" altLang="zh-CN" dirty="0" err="1"/>
              <a:t>prog</a:t>
            </a:r>
            <a:r>
              <a:rPr lang="zh-CN" altLang="en-US" dirty="0"/>
              <a:t>（示例）</a:t>
            </a:r>
          </a:p>
        </p:txBody>
      </p:sp>
      <p:sp>
        <p:nvSpPr>
          <p:cNvPr id="3" name="内容占位符 2">
            <a:extLst>
              <a:ext uri="{FF2B5EF4-FFF2-40B4-BE49-F238E27FC236}">
                <a16:creationId xmlns:a16="http://schemas.microsoft.com/office/drawing/2014/main" id="{F5B9C77E-3999-4CDE-8A9D-774E5DF24592}"/>
              </a:ext>
            </a:extLst>
          </p:cNvPr>
          <p:cNvSpPr>
            <a:spLocks noGrp="1"/>
          </p:cNvSpPr>
          <p:nvPr>
            <p:ph idx="1"/>
          </p:nvPr>
        </p:nvSpPr>
        <p:spPr/>
        <p:txBody>
          <a:bodyPr/>
          <a:lstStyle/>
          <a:p>
            <a:endParaRPr lang="zh-CN" altLang="en-US"/>
          </a:p>
        </p:txBody>
      </p:sp>
      <p:sp>
        <p:nvSpPr>
          <p:cNvPr id="4" name="灯片编号占位符 3">
            <a:extLst>
              <a:ext uri="{FF2B5EF4-FFF2-40B4-BE49-F238E27FC236}">
                <a16:creationId xmlns:a16="http://schemas.microsoft.com/office/drawing/2014/main" id="{2FAD2E8E-35B8-4CCF-9B26-986672E76985}"/>
              </a:ext>
            </a:extLst>
          </p:cNvPr>
          <p:cNvSpPr>
            <a:spLocks noGrp="1"/>
          </p:cNvSpPr>
          <p:nvPr>
            <p:ph type="sldNum" sz="quarter" idx="12"/>
          </p:nvPr>
        </p:nvSpPr>
        <p:spPr/>
        <p:txBody>
          <a:bodyPr/>
          <a:lstStyle/>
          <a:p>
            <a:fld id="{6D62327B-ED8D-4CFC-ADD0-A75FA5CBE281}" type="slidenum">
              <a:rPr lang="zh-CN" altLang="en-US" smtClean="0"/>
              <a:pPr/>
              <a:t>20</a:t>
            </a:fld>
            <a:endParaRPr lang="zh-CN" altLang="en-US" dirty="0"/>
          </a:p>
        </p:txBody>
      </p:sp>
      <p:pic>
        <p:nvPicPr>
          <p:cNvPr id="5" name="图片 4">
            <a:extLst>
              <a:ext uri="{FF2B5EF4-FFF2-40B4-BE49-F238E27FC236}">
                <a16:creationId xmlns:a16="http://schemas.microsoft.com/office/drawing/2014/main" id="{D00D5C05-87C5-46FE-A097-7368D3355BDD}"/>
              </a:ext>
            </a:extLst>
          </p:cNvPr>
          <p:cNvPicPr>
            <a:picLocks noChangeAspect="1"/>
          </p:cNvPicPr>
          <p:nvPr/>
        </p:nvPicPr>
        <p:blipFill>
          <a:blip r:embed="rId2"/>
          <a:stretch>
            <a:fillRect/>
          </a:stretch>
        </p:blipFill>
        <p:spPr>
          <a:xfrm>
            <a:off x="617319" y="756152"/>
            <a:ext cx="4102626" cy="2816728"/>
          </a:xfrm>
          <a:prstGeom prst="rect">
            <a:avLst/>
          </a:prstGeom>
        </p:spPr>
      </p:pic>
      <p:pic>
        <p:nvPicPr>
          <p:cNvPr id="6" name="图片 5">
            <a:extLst>
              <a:ext uri="{FF2B5EF4-FFF2-40B4-BE49-F238E27FC236}">
                <a16:creationId xmlns:a16="http://schemas.microsoft.com/office/drawing/2014/main" id="{BFCA9356-8EA9-40B0-BD27-BC112952EC57}"/>
              </a:ext>
            </a:extLst>
          </p:cNvPr>
          <p:cNvPicPr>
            <a:picLocks noChangeAspect="1"/>
          </p:cNvPicPr>
          <p:nvPr/>
        </p:nvPicPr>
        <p:blipFill>
          <a:blip r:embed="rId3"/>
          <a:stretch>
            <a:fillRect/>
          </a:stretch>
        </p:blipFill>
        <p:spPr>
          <a:xfrm>
            <a:off x="5161198" y="122465"/>
            <a:ext cx="3865450" cy="3920335"/>
          </a:xfrm>
          <a:prstGeom prst="rect">
            <a:avLst/>
          </a:prstGeom>
        </p:spPr>
      </p:pic>
      <p:pic>
        <p:nvPicPr>
          <p:cNvPr id="7" name="图片 6">
            <a:extLst>
              <a:ext uri="{FF2B5EF4-FFF2-40B4-BE49-F238E27FC236}">
                <a16:creationId xmlns:a16="http://schemas.microsoft.com/office/drawing/2014/main" id="{BACCD798-4E47-4B24-9292-43F795A8089D}"/>
              </a:ext>
            </a:extLst>
          </p:cNvPr>
          <p:cNvPicPr>
            <a:picLocks noChangeAspect="1"/>
          </p:cNvPicPr>
          <p:nvPr/>
        </p:nvPicPr>
        <p:blipFill>
          <a:blip r:embed="rId4"/>
          <a:stretch>
            <a:fillRect/>
          </a:stretch>
        </p:blipFill>
        <p:spPr>
          <a:xfrm>
            <a:off x="403640" y="3879034"/>
            <a:ext cx="3549420" cy="2481874"/>
          </a:xfrm>
          <a:prstGeom prst="rect">
            <a:avLst/>
          </a:prstGeom>
        </p:spPr>
      </p:pic>
      <p:pic>
        <p:nvPicPr>
          <p:cNvPr id="8" name="图片 7">
            <a:extLst>
              <a:ext uri="{FF2B5EF4-FFF2-40B4-BE49-F238E27FC236}">
                <a16:creationId xmlns:a16="http://schemas.microsoft.com/office/drawing/2014/main" id="{53403D11-2533-4B61-ADFA-3FD562573D76}"/>
              </a:ext>
            </a:extLst>
          </p:cNvPr>
          <p:cNvPicPr>
            <a:picLocks noChangeAspect="1"/>
          </p:cNvPicPr>
          <p:nvPr/>
        </p:nvPicPr>
        <p:blipFill>
          <a:blip r:embed="rId5"/>
          <a:stretch>
            <a:fillRect/>
          </a:stretch>
        </p:blipFill>
        <p:spPr>
          <a:xfrm>
            <a:off x="4584576" y="4123682"/>
            <a:ext cx="4559424" cy="2471138"/>
          </a:xfrm>
          <a:prstGeom prst="rect">
            <a:avLst/>
          </a:prstGeom>
        </p:spPr>
      </p:pic>
    </p:spTree>
    <p:extLst>
      <p:ext uri="{BB962C8B-B14F-4D97-AF65-F5344CB8AC3E}">
        <p14:creationId xmlns:p14="http://schemas.microsoft.com/office/powerpoint/2010/main" val="539936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FBDFC6-B393-4849-80D3-503902165C0A}"/>
              </a:ext>
            </a:extLst>
          </p:cNvPr>
          <p:cNvSpPr>
            <a:spLocks noGrp="1"/>
          </p:cNvSpPr>
          <p:nvPr>
            <p:ph type="title"/>
          </p:nvPr>
        </p:nvSpPr>
        <p:spPr/>
        <p:txBody>
          <a:bodyPr>
            <a:normAutofit fontScale="90000"/>
          </a:bodyPr>
          <a:lstStyle/>
          <a:p>
            <a:r>
              <a:rPr lang="zh-CN" altLang="en-US" dirty="0"/>
              <a:t>练习题 </a:t>
            </a:r>
            <a:r>
              <a:rPr lang="en-US" altLang="zh-CN" dirty="0"/>
              <a:t>7.1</a:t>
            </a:r>
            <a:endParaRPr lang="zh-CN" altLang="en-US" dirty="0"/>
          </a:p>
        </p:txBody>
      </p:sp>
      <p:sp>
        <p:nvSpPr>
          <p:cNvPr id="3" name="内容占位符 2">
            <a:extLst>
              <a:ext uri="{FF2B5EF4-FFF2-40B4-BE49-F238E27FC236}">
                <a16:creationId xmlns:a16="http://schemas.microsoft.com/office/drawing/2014/main" id="{E847591F-2E43-4BE6-82AA-38CDC97BA378}"/>
              </a:ext>
            </a:extLst>
          </p:cNvPr>
          <p:cNvSpPr>
            <a:spLocks noGrp="1"/>
          </p:cNvSpPr>
          <p:nvPr>
            <p:ph idx="1"/>
          </p:nvPr>
        </p:nvSpPr>
        <p:spPr>
          <a:xfrm>
            <a:off x="457200" y="837034"/>
            <a:ext cx="8229600" cy="5289136"/>
          </a:xfrm>
        </p:spPr>
        <p:txBody>
          <a:bodyPr>
            <a:normAutofit/>
          </a:bodyPr>
          <a:lstStyle/>
          <a:p>
            <a:r>
              <a:rPr lang="zh-CN" altLang="en-US" sz="2000" dirty="0"/>
              <a:t>针对</a:t>
            </a:r>
            <a:r>
              <a:rPr lang="en-US" altLang="zh-CN" sz="2000" dirty="0" err="1"/>
              <a:t>m.o</a:t>
            </a:r>
            <a:r>
              <a:rPr lang="zh-CN" altLang="en-US" sz="2000" dirty="0"/>
              <a:t>和</a:t>
            </a:r>
            <a:r>
              <a:rPr lang="en-US" altLang="zh-CN" sz="2000" dirty="0" err="1"/>
              <a:t>swap.o</a:t>
            </a:r>
            <a:r>
              <a:rPr lang="zh-CN" altLang="en-US" sz="2000" dirty="0"/>
              <a:t>模块，每个在</a:t>
            </a:r>
            <a:r>
              <a:rPr lang="en-US" altLang="zh-CN" sz="2000" dirty="0" err="1"/>
              <a:t>swap.o</a:t>
            </a:r>
            <a:r>
              <a:rPr lang="zh-CN" altLang="en-US" sz="2000" dirty="0"/>
              <a:t>中定义或引用的符号指出其是否在模块</a:t>
            </a:r>
            <a:r>
              <a:rPr lang="en-US" altLang="zh-CN" sz="2000" dirty="0" err="1"/>
              <a:t>swap.o</a:t>
            </a:r>
            <a:r>
              <a:rPr lang="zh-CN" altLang="en-US" sz="2000" dirty="0"/>
              <a:t>中的</a:t>
            </a:r>
            <a:r>
              <a:rPr lang="en-US" altLang="zh-CN" sz="2000" dirty="0"/>
              <a:t>.</a:t>
            </a:r>
            <a:r>
              <a:rPr lang="en-US" altLang="zh-CN" sz="2000" dirty="0" err="1"/>
              <a:t>symtab</a:t>
            </a:r>
            <a:r>
              <a:rPr lang="zh-CN" altLang="en-US" sz="2000" dirty="0"/>
              <a:t>节中有一个符号条目，如果是，指出定义该符号的模块、符号类型以及它在模块中被分配到的节。</a:t>
            </a:r>
          </a:p>
        </p:txBody>
      </p:sp>
      <p:sp>
        <p:nvSpPr>
          <p:cNvPr id="4" name="灯片编号占位符 3">
            <a:extLst>
              <a:ext uri="{FF2B5EF4-FFF2-40B4-BE49-F238E27FC236}">
                <a16:creationId xmlns:a16="http://schemas.microsoft.com/office/drawing/2014/main" id="{0C350A37-3AEC-4810-8521-77625CEE77F7}"/>
              </a:ext>
            </a:extLst>
          </p:cNvPr>
          <p:cNvSpPr>
            <a:spLocks noGrp="1"/>
          </p:cNvSpPr>
          <p:nvPr>
            <p:ph type="sldNum" sz="quarter" idx="12"/>
          </p:nvPr>
        </p:nvSpPr>
        <p:spPr/>
        <p:txBody>
          <a:bodyPr/>
          <a:lstStyle/>
          <a:p>
            <a:fld id="{6D62327B-ED8D-4CFC-ADD0-A75FA5CBE281}" type="slidenum">
              <a:rPr lang="zh-CN" altLang="en-US" smtClean="0"/>
              <a:pPr/>
              <a:t>21</a:t>
            </a:fld>
            <a:endParaRPr lang="zh-CN" altLang="en-US" dirty="0"/>
          </a:p>
        </p:txBody>
      </p:sp>
      <p:sp>
        <p:nvSpPr>
          <p:cNvPr id="5" name="Rectangle 3">
            <a:extLst>
              <a:ext uri="{FF2B5EF4-FFF2-40B4-BE49-F238E27FC236}">
                <a16:creationId xmlns:a16="http://schemas.microsoft.com/office/drawing/2014/main" id="{5A7D5504-1B35-4C25-94CA-77D819E918AA}"/>
              </a:ext>
            </a:extLst>
          </p:cNvPr>
          <p:cNvSpPr>
            <a:spLocks noChangeArrowheads="1"/>
          </p:cNvSpPr>
          <p:nvPr/>
        </p:nvSpPr>
        <p:spPr bwMode="auto">
          <a:xfrm>
            <a:off x="1534195" y="4225830"/>
            <a:ext cx="2941694" cy="181588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Void swap</a:t>
            </a:r>
            <a:r>
              <a:rPr lang="en-US" sz="1400" dirty="0">
                <a:solidFill>
                  <a:schemeClr val="tx1"/>
                </a:solidFill>
                <a:latin typeface="Menlo-Regular"/>
              </a:rPr>
              <a:t>();</a:t>
            </a:r>
          </a:p>
          <a:p>
            <a:r>
              <a:rPr lang="en-US" sz="1400" dirty="0">
                <a:solidFill>
                  <a:schemeClr val="tx1"/>
                </a:solidFill>
                <a:latin typeface="Menlo-Regular"/>
              </a:rPr>
              <a:t>int </a:t>
            </a:r>
            <a:r>
              <a:rPr lang="en-US" sz="1400" dirty="0" err="1">
                <a:solidFill>
                  <a:schemeClr val="tx1"/>
                </a:solidFill>
                <a:latin typeface="Menlo-Regular"/>
              </a:rPr>
              <a:t>buf</a:t>
            </a:r>
            <a:r>
              <a:rPr lang="en-US" sz="1400" dirty="0">
                <a:solidFill>
                  <a:schemeClr val="tx1"/>
                </a:solidFill>
                <a:latin typeface="Menlo-Regular"/>
              </a:rPr>
              <a:t>[2]={1,2};</a:t>
            </a:r>
          </a:p>
          <a:p>
            <a:r>
              <a:rPr lang="en-US" sz="1400" dirty="0">
                <a:solidFill>
                  <a:schemeClr val="tx1"/>
                </a:solidFill>
                <a:latin typeface="Menlo-Regular"/>
              </a:rPr>
              <a:t>int main()</a:t>
            </a:r>
          </a:p>
          <a:p>
            <a:r>
              <a:rPr lang="en-US" sz="1400" dirty="0">
                <a:solidFill>
                  <a:schemeClr val="tx1"/>
                </a:solidFill>
                <a:latin typeface="Menlo-Regular"/>
              </a:rPr>
              <a:t>{</a:t>
            </a:r>
          </a:p>
          <a:p>
            <a:r>
              <a:rPr lang="en-US" sz="1400" dirty="0">
                <a:solidFill>
                  <a:schemeClr val="tx1"/>
                </a:solidFill>
                <a:latin typeface="Menlo-Regular"/>
              </a:rPr>
              <a:t>	swap();</a:t>
            </a:r>
          </a:p>
          <a:p>
            <a:r>
              <a:rPr lang="en-US" sz="1400" dirty="0">
                <a:solidFill>
                  <a:schemeClr val="tx1"/>
                </a:solidFill>
                <a:latin typeface="Menlo-Regular"/>
              </a:rPr>
              <a:t>	return 0;</a:t>
            </a:r>
          </a:p>
          <a:p>
            <a:r>
              <a:rPr lang="en-US" sz="1400" dirty="0">
                <a:solidFill>
                  <a:schemeClr val="tx1"/>
                </a:solidFill>
                <a:latin typeface="Menlo-Regular"/>
              </a:rPr>
              <a:t>}</a:t>
            </a:r>
          </a:p>
          <a:p>
            <a:r>
              <a:rPr lang="en-US" sz="1400" dirty="0">
                <a:solidFill>
                  <a:schemeClr val="tx1"/>
                </a:solidFill>
                <a:latin typeface="Menlo-Regular"/>
                <a:cs typeface="Courier New"/>
              </a:rPr>
              <a:t>//</a:t>
            </a:r>
            <a:r>
              <a:rPr lang="en-US" sz="1400" dirty="0" err="1">
                <a:solidFill>
                  <a:schemeClr val="tx1"/>
                </a:solidFill>
                <a:latin typeface="Menlo-Regular"/>
                <a:cs typeface="Courier New"/>
              </a:rPr>
              <a:t>m.c</a:t>
            </a:r>
            <a:endParaRPr lang="en-US" sz="1400" dirty="0">
              <a:solidFill>
                <a:schemeClr val="tx1"/>
              </a:solidFill>
              <a:latin typeface="Courier New"/>
              <a:cs typeface="Courier New"/>
            </a:endParaRPr>
          </a:p>
        </p:txBody>
      </p:sp>
      <p:sp>
        <p:nvSpPr>
          <p:cNvPr id="6" name="Rectangle 6">
            <a:extLst>
              <a:ext uri="{FF2B5EF4-FFF2-40B4-BE49-F238E27FC236}">
                <a16:creationId xmlns:a16="http://schemas.microsoft.com/office/drawing/2014/main" id="{6FEBB582-06B7-4B2D-BA47-5D632351787B}"/>
              </a:ext>
            </a:extLst>
          </p:cNvPr>
          <p:cNvSpPr>
            <a:spLocks noChangeArrowheads="1"/>
          </p:cNvSpPr>
          <p:nvPr/>
        </p:nvSpPr>
        <p:spPr bwMode="auto">
          <a:xfrm>
            <a:off x="5571140" y="3794943"/>
            <a:ext cx="3096034" cy="2677656"/>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nchor="ctr">
            <a:prstTxWarp prst="textNoShape">
              <a:avLst/>
            </a:prstTxWarp>
            <a:spAutoFit/>
          </a:bodyPr>
          <a:lstStyle/>
          <a:p>
            <a:r>
              <a:rPr lang="en-US" sz="1400" dirty="0">
                <a:solidFill>
                  <a:schemeClr val="tx1"/>
                </a:solidFill>
                <a:latin typeface="Menlo-Regular"/>
              </a:rPr>
              <a:t>Extern int </a:t>
            </a:r>
            <a:r>
              <a:rPr lang="en-US" sz="1400" dirty="0" err="1">
                <a:solidFill>
                  <a:schemeClr val="tx1"/>
                </a:solidFill>
                <a:latin typeface="Menlo-Regular"/>
              </a:rPr>
              <a:t>buf</a:t>
            </a:r>
            <a:r>
              <a:rPr lang="en-US" sz="1400" dirty="0">
                <a:solidFill>
                  <a:schemeClr val="tx1"/>
                </a:solidFill>
                <a:latin typeface="Menlo-Regular"/>
              </a:rPr>
              <a:t>[];</a:t>
            </a:r>
          </a:p>
          <a:p>
            <a:r>
              <a:rPr lang="en-US" sz="1400" dirty="0">
                <a:solidFill>
                  <a:schemeClr val="tx1"/>
                </a:solidFill>
                <a:latin typeface="Menlo-Regular"/>
              </a:rPr>
              <a:t>Int *bufp0=&amp;</a:t>
            </a:r>
            <a:r>
              <a:rPr lang="en-US" sz="1400" dirty="0" err="1">
                <a:solidFill>
                  <a:schemeClr val="tx1"/>
                </a:solidFill>
                <a:latin typeface="Menlo-Regular"/>
              </a:rPr>
              <a:t>buf</a:t>
            </a:r>
            <a:r>
              <a:rPr lang="en-US" sz="1400" dirty="0">
                <a:solidFill>
                  <a:schemeClr val="tx1"/>
                </a:solidFill>
                <a:latin typeface="Menlo-Regular"/>
              </a:rPr>
              <a:t>[0];</a:t>
            </a:r>
          </a:p>
          <a:p>
            <a:r>
              <a:rPr lang="en-US" sz="1400" dirty="0">
                <a:solidFill>
                  <a:schemeClr val="tx1"/>
                </a:solidFill>
                <a:latin typeface="Menlo-Regular"/>
              </a:rPr>
              <a:t>Int *bufp1;</a:t>
            </a:r>
          </a:p>
          <a:p>
            <a:r>
              <a:rPr lang="en-US" sz="1400" dirty="0">
                <a:solidFill>
                  <a:schemeClr val="tx1"/>
                </a:solidFill>
                <a:latin typeface="Menlo-Regular"/>
              </a:rPr>
              <a:t>Void swap()</a:t>
            </a:r>
          </a:p>
          <a:p>
            <a:r>
              <a:rPr lang="en-US" sz="1400" dirty="0">
                <a:solidFill>
                  <a:schemeClr val="tx1"/>
                </a:solidFill>
                <a:latin typeface="Menlo-Regular"/>
              </a:rPr>
              <a:t>{</a:t>
            </a:r>
          </a:p>
          <a:p>
            <a:r>
              <a:rPr lang="en-US" sz="1400" dirty="0">
                <a:solidFill>
                  <a:schemeClr val="tx1"/>
                </a:solidFill>
                <a:latin typeface="Menlo-Regular"/>
              </a:rPr>
              <a:t>	int temp;</a:t>
            </a:r>
          </a:p>
          <a:p>
            <a:r>
              <a:rPr lang="en-US" sz="1400" dirty="0">
                <a:solidFill>
                  <a:schemeClr val="tx1"/>
                </a:solidFill>
                <a:latin typeface="Menlo-Regular"/>
              </a:rPr>
              <a:t>	bufp1=&amp;</a:t>
            </a:r>
            <a:r>
              <a:rPr lang="en-US" sz="1400" dirty="0" err="1">
                <a:solidFill>
                  <a:schemeClr val="tx1"/>
                </a:solidFill>
                <a:latin typeface="Menlo-Regular"/>
              </a:rPr>
              <a:t>buf</a:t>
            </a:r>
            <a:r>
              <a:rPr lang="en-US" sz="1400" dirty="0">
                <a:solidFill>
                  <a:schemeClr val="tx1"/>
                </a:solidFill>
                <a:latin typeface="Menlo-Regular"/>
              </a:rPr>
              <a:t>[1];</a:t>
            </a:r>
          </a:p>
          <a:p>
            <a:r>
              <a:rPr lang="en-US" sz="1400" dirty="0">
                <a:solidFill>
                  <a:schemeClr val="tx1"/>
                </a:solidFill>
                <a:latin typeface="Menlo-Regular"/>
              </a:rPr>
              <a:t>	temp=*bufp0;</a:t>
            </a:r>
          </a:p>
          <a:p>
            <a:r>
              <a:rPr lang="en-US" sz="1400" dirty="0">
                <a:solidFill>
                  <a:schemeClr val="tx1"/>
                </a:solidFill>
                <a:latin typeface="Menlo-Regular"/>
              </a:rPr>
              <a:t>	*bufp0=*bufp1;</a:t>
            </a:r>
          </a:p>
          <a:p>
            <a:r>
              <a:rPr lang="en-US" sz="1400" dirty="0">
                <a:solidFill>
                  <a:schemeClr val="tx1"/>
                </a:solidFill>
                <a:latin typeface="Menlo-Regular"/>
              </a:rPr>
              <a:t>	*bufp1=temp;</a:t>
            </a:r>
          </a:p>
          <a:p>
            <a:r>
              <a:rPr lang="en-US" sz="1400" dirty="0">
                <a:solidFill>
                  <a:schemeClr val="tx1"/>
                </a:solidFill>
                <a:latin typeface="Menlo-Regular"/>
              </a:rPr>
              <a:t>}</a:t>
            </a:r>
          </a:p>
          <a:p>
            <a:r>
              <a:rPr lang="en-US" sz="1400" dirty="0">
                <a:solidFill>
                  <a:schemeClr val="tx1"/>
                </a:solidFill>
                <a:latin typeface="Menlo-Regular"/>
              </a:rPr>
              <a:t>//</a:t>
            </a:r>
            <a:r>
              <a:rPr lang="en-US" sz="1400" dirty="0" err="1">
                <a:solidFill>
                  <a:schemeClr val="tx1"/>
                </a:solidFill>
                <a:latin typeface="Menlo-Regular"/>
              </a:rPr>
              <a:t>swap.c</a:t>
            </a:r>
            <a:endParaRPr lang="is-IS" sz="1400" dirty="0">
              <a:solidFill>
                <a:schemeClr val="tx1"/>
              </a:solidFill>
              <a:latin typeface="Menlo-Regular"/>
            </a:endParaRPr>
          </a:p>
        </p:txBody>
      </p:sp>
      <p:graphicFrame>
        <p:nvGraphicFramePr>
          <p:cNvPr id="7" name="表格 6">
            <a:extLst>
              <a:ext uri="{FF2B5EF4-FFF2-40B4-BE49-F238E27FC236}">
                <a16:creationId xmlns:a16="http://schemas.microsoft.com/office/drawing/2014/main" id="{533B142F-9AD4-4E1D-8C04-052753E6EA46}"/>
              </a:ext>
            </a:extLst>
          </p:cNvPr>
          <p:cNvGraphicFramePr>
            <a:graphicFrameLocks noGrp="1"/>
          </p:cNvGraphicFramePr>
          <p:nvPr>
            <p:extLst>
              <p:ext uri="{D42A27DB-BD31-4B8C-83A1-F6EECF244321}">
                <p14:modId xmlns:p14="http://schemas.microsoft.com/office/powerpoint/2010/main" val="2843531114"/>
              </p:ext>
            </p:extLst>
          </p:nvPr>
        </p:nvGraphicFramePr>
        <p:xfrm>
          <a:off x="1331640" y="1896538"/>
          <a:ext cx="6696744" cy="1664080"/>
        </p:xfrm>
        <a:graphic>
          <a:graphicData uri="http://schemas.openxmlformats.org/drawingml/2006/table">
            <a:tbl>
              <a:tblPr firstRow="1" bandRow="1">
                <a:tableStyleId>{5C22544A-7EE6-4342-B048-85BDC9FD1C3A}</a:tableStyleId>
              </a:tblPr>
              <a:tblGrid>
                <a:gridCol w="576580">
                  <a:extLst>
                    <a:ext uri="{9D8B030D-6E8A-4147-A177-3AD203B41FA5}">
                      <a16:colId xmlns:a16="http://schemas.microsoft.com/office/drawing/2014/main" val="2608971729"/>
                    </a:ext>
                  </a:extLst>
                </a:gridCol>
                <a:gridCol w="1189355">
                  <a:extLst>
                    <a:ext uri="{9D8B030D-6E8A-4147-A177-3AD203B41FA5}">
                      <a16:colId xmlns:a16="http://schemas.microsoft.com/office/drawing/2014/main" val="2589085799"/>
                    </a:ext>
                  </a:extLst>
                </a:gridCol>
                <a:gridCol w="830580">
                  <a:extLst>
                    <a:ext uri="{9D8B030D-6E8A-4147-A177-3AD203B41FA5}">
                      <a16:colId xmlns:a16="http://schemas.microsoft.com/office/drawing/2014/main" val="2500155714"/>
                    </a:ext>
                  </a:extLst>
                </a:gridCol>
                <a:gridCol w="1440180">
                  <a:extLst>
                    <a:ext uri="{9D8B030D-6E8A-4147-A177-3AD203B41FA5}">
                      <a16:colId xmlns:a16="http://schemas.microsoft.com/office/drawing/2014/main" val="244895118"/>
                    </a:ext>
                  </a:extLst>
                </a:gridCol>
                <a:gridCol w="921067">
                  <a:extLst>
                    <a:ext uri="{9D8B030D-6E8A-4147-A177-3AD203B41FA5}">
                      <a16:colId xmlns:a16="http://schemas.microsoft.com/office/drawing/2014/main" val="1579642416"/>
                    </a:ext>
                  </a:extLst>
                </a:gridCol>
                <a:gridCol w="1738982">
                  <a:extLst>
                    <a:ext uri="{9D8B030D-6E8A-4147-A177-3AD203B41FA5}">
                      <a16:colId xmlns:a16="http://schemas.microsoft.com/office/drawing/2014/main" val="3335317695"/>
                    </a:ext>
                  </a:extLst>
                </a:gridCol>
              </a:tblGrid>
              <a:tr h="242619">
                <a:tc>
                  <a:txBody>
                    <a:bodyPr/>
                    <a:lstStyle/>
                    <a:p>
                      <a:pPr algn="ctr"/>
                      <a:r>
                        <a:rPr lang="zh-CN" altLang="en-US" sz="1200" dirty="0">
                          <a:latin typeface="Times New Roman" panose="02020603050405020304" pitchFamily="18" charset="0"/>
                          <a:cs typeface="Times New Roman" panose="02020603050405020304" pitchFamily="18" charset="0"/>
                        </a:rPr>
                        <a:t>符号</a:t>
                      </a:r>
                    </a:p>
                  </a:txBody>
                  <a:tcPr/>
                </a:tc>
                <a:tc>
                  <a:txBody>
                    <a:bodyPr/>
                    <a:lstStyle/>
                    <a:p>
                      <a:pPr algn="ct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symtab</a:t>
                      </a:r>
                      <a:r>
                        <a:rPr lang="zh-CN" altLang="en-US" sz="1200" dirty="0">
                          <a:latin typeface="Times New Roman" panose="02020603050405020304" pitchFamily="18" charset="0"/>
                          <a:cs typeface="Times New Roman" panose="02020603050405020304" pitchFamily="18" charset="0"/>
                        </a:rPr>
                        <a:t>条目？</a:t>
                      </a:r>
                    </a:p>
                  </a:txBody>
                  <a:tcPr/>
                </a:tc>
                <a:tc>
                  <a:txBody>
                    <a:bodyPr/>
                    <a:lstStyle/>
                    <a:p>
                      <a:pPr algn="ctr"/>
                      <a:r>
                        <a:rPr lang="zh-CN" altLang="en-US" sz="1200" dirty="0">
                          <a:latin typeface="Times New Roman" panose="02020603050405020304" pitchFamily="18" charset="0"/>
                          <a:cs typeface="Times New Roman" panose="02020603050405020304" pitchFamily="18" charset="0"/>
                        </a:rPr>
                        <a:t>符号类型</a:t>
                      </a:r>
                    </a:p>
                  </a:txBody>
                  <a:tcPr/>
                </a:tc>
                <a:tc>
                  <a:txBody>
                    <a:bodyPr/>
                    <a:lstStyle/>
                    <a:p>
                      <a:pPr algn="ctr"/>
                      <a:r>
                        <a:rPr lang="zh-CN" altLang="en-US" sz="1200" dirty="0">
                          <a:latin typeface="Times New Roman" panose="02020603050405020304" pitchFamily="18" charset="0"/>
                          <a:cs typeface="Times New Roman" panose="02020603050405020304" pitchFamily="18" charset="0"/>
                        </a:rPr>
                        <a:t>在哪个模块中定义</a:t>
                      </a:r>
                    </a:p>
                  </a:txBody>
                  <a:tcPr/>
                </a:tc>
                <a:tc>
                  <a:txBody>
                    <a:bodyPr/>
                    <a:lstStyle/>
                    <a:p>
                      <a:pPr algn="ctr"/>
                      <a:r>
                        <a:rPr lang="zh-CN" altLang="en-US" sz="1200" dirty="0">
                          <a:latin typeface="Times New Roman" panose="02020603050405020304" pitchFamily="18" charset="0"/>
                          <a:cs typeface="Times New Roman" panose="02020603050405020304" pitchFamily="18" charset="0"/>
                        </a:rPr>
                        <a:t>节</a:t>
                      </a:r>
                    </a:p>
                  </a:txBody>
                  <a:tcPr/>
                </a:tc>
                <a:tc>
                  <a:txBody>
                    <a:bodyPr/>
                    <a:lstStyle/>
                    <a:p>
                      <a:pPr algn="ctr"/>
                      <a:r>
                        <a:rPr lang="zh-CN" altLang="en-US" sz="1200" dirty="0">
                          <a:latin typeface="Times New Roman" panose="02020603050405020304" pitchFamily="18" charset="0"/>
                          <a:cs typeface="Times New Roman" panose="02020603050405020304" pitchFamily="18" charset="0"/>
                        </a:rPr>
                        <a:t>说明</a:t>
                      </a:r>
                    </a:p>
                  </a:txBody>
                  <a:tcPr/>
                </a:tc>
                <a:extLst>
                  <a:ext uri="{0D108BD9-81ED-4DB2-BD59-A6C34878D82A}">
                    <a16:rowId xmlns:a16="http://schemas.microsoft.com/office/drawing/2014/main" val="500641003"/>
                  </a:ext>
                </a:extLst>
              </a:tr>
              <a:tr h="184323">
                <a:tc>
                  <a:txBody>
                    <a:bodyPr/>
                    <a:lstStyle/>
                    <a:p>
                      <a:r>
                        <a:rPr lang="en-US" altLang="zh-CN" sz="1200" cap="none" baseline="0" dirty="0" err="1">
                          <a:latin typeface="Times New Roman" panose="02020603050405020304" pitchFamily="18" charset="0"/>
                          <a:cs typeface="Times New Roman" panose="02020603050405020304" pitchFamily="18" charset="0"/>
                        </a:rPr>
                        <a:t>buf</a:t>
                      </a:r>
                      <a:endParaRPr lang="en-US" altLang="zh-CN" sz="1200" cap="none" baseline="0" dirty="0">
                        <a:latin typeface="Times New Roman" panose="02020603050405020304" pitchFamily="18" charset="0"/>
                        <a:cs typeface="Times New Roman" panose="02020603050405020304" pitchFamily="18" charset="0"/>
                      </a:endParaRPr>
                    </a:p>
                  </a:txBody>
                  <a:tcPr/>
                </a:tc>
                <a:tc>
                  <a:txBody>
                    <a:bodyPr/>
                    <a:lstStyle/>
                    <a:p>
                      <a:pPr algn="ctr"/>
                      <a:r>
                        <a:rPr lang="zh-CN" altLang="en-US" sz="1200" dirty="0">
                          <a:latin typeface="Times New Roman" panose="02020603050405020304" pitchFamily="18" charset="0"/>
                          <a:cs typeface="Times New Roman" panose="02020603050405020304" pitchFamily="18" charset="0"/>
                        </a:rPr>
                        <a:t>是</a:t>
                      </a:r>
                    </a:p>
                  </a:txBody>
                  <a:tcPr/>
                </a:tc>
                <a:tc>
                  <a:txBody>
                    <a:bodyPr/>
                    <a:lstStyle/>
                    <a:p>
                      <a:pPr algn="ctr"/>
                      <a:r>
                        <a:rPr lang="zh-CN" altLang="en-US" sz="1200" dirty="0">
                          <a:latin typeface="Times New Roman" panose="02020603050405020304" pitchFamily="18" charset="0"/>
                          <a:cs typeface="Times New Roman" panose="02020603050405020304" pitchFamily="18" charset="0"/>
                        </a:rPr>
                        <a:t>外部</a:t>
                      </a:r>
                    </a:p>
                  </a:txBody>
                  <a:tcPr/>
                </a:tc>
                <a:tc>
                  <a:txBody>
                    <a:bodyPr/>
                    <a:lstStyle/>
                    <a:p>
                      <a:pPr algn="ctr"/>
                      <a:r>
                        <a:rPr lang="en-US" altLang="zh-CN" sz="1200" dirty="0" err="1">
                          <a:latin typeface="Times New Roman" panose="02020603050405020304" pitchFamily="18" charset="0"/>
                          <a:cs typeface="Times New Roman" panose="02020603050405020304" pitchFamily="18" charset="0"/>
                        </a:rPr>
                        <a:t>main.o</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200" dirty="0">
                          <a:latin typeface="Times New Roman" panose="02020603050405020304" pitchFamily="18" charset="0"/>
                          <a:cs typeface="Times New Roman" panose="02020603050405020304" pitchFamily="18" charset="0"/>
                        </a:rPr>
                        <a:t>.data</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algn="ctr"/>
                      <a:r>
                        <a:rPr lang="zh-CN" altLang="en-US" sz="1200" dirty="0">
                          <a:latin typeface="Times New Roman" panose="02020603050405020304" pitchFamily="18" charset="0"/>
                          <a:cs typeface="Times New Roman" panose="02020603050405020304" pitchFamily="18" charset="0"/>
                        </a:rPr>
                        <a:t>已初始化的全局变量</a:t>
                      </a:r>
                    </a:p>
                  </a:txBody>
                  <a:tcPr/>
                </a:tc>
                <a:extLst>
                  <a:ext uri="{0D108BD9-81ED-4DB2-BD59-A6C34878D82A}">
                    <a16:rowId xmlns:a16="http://schemas.microsoft.com/office/drawing/2014/main" val="1666452859"/>
                  </a:ext>
                </a:extLst>
              </a:tr>
              <a:tr h="270043">
                <a:tc>
                  <a:txBody>
                    <a:bodyPr/>
                    <a:lstStyle/>
                    <a:p>
                      <a:r>
                        <a:rPr lang="en-US" altLang="zh-CN" sz="1200" cap="none" baseline="0" dirty="0">
                          <a:latin typeface="Times New Roman" panose="02020603050405020304" pitchFamily="18" charset="0"/>
                          <a:cs typeface="Times New Roman" panose="02020603050405020304" pitchFamily="18" charset="0"/>
                        </a:rPr>
                        <a:t>bufp0</a:t>
                      </a:r>
                      <a:endParaRPr lang="zh-CN" altLang="en-US" sz="1200" cap="none" baseline="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p>
                  </a:txBody>
                  <a:tcPr/>
                </a:tc>
                <a:tc>
                  <a:txBody>
                    <a:bodyPr/>
                    <a:lstStyle/>
                    <a:p>
                      <a:pPr algn="ctr"/>
                      <a:r>
                        <a:rPr lang="zh-CN" altLang="en-US" sz="1200" dirty="0">
                          <a:latin typeface="Times New Roman" panose="02020603050405020304" pitchFamily="18" charset="0"/>
                          <a:cs typeface="Times New Roman" panose="02020603050405020304" pitchFamily="18" charset="0"/>
                        </a:rPr>
                        <a:t>全局</a:t>
                      </a:r>
                    </a:p>
                  </a:txBody>
                  <a:tcPr/>
                </a:tc>
                <a:tc>
                  <a:txBody>
                    <a:bodyPr/>
                    <a:lstStyle/>
                    <a:p>
                      <a:pPr algn="ctr"/>
                      <a:r>
                        <a:rPr lang="en-US" altLang="zh-CN" sz="1200" dirty="0" err="1">
                          <a:latin typeface="Times New Roman" panose="02020603050405020304" pitchFamily="18" charset="0"/>
                          <a:cs typeface="Times New Roman" panose="02020603050405020304" pitchFamily="18" charset="0"/>
                        </a:rPr>
                        <a:t>swap.o</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200" dirty="0">
                          <a:latin typeface="Times New Roman" panose="02020603050405020304" pitchFamily="18" charset="0"/>
                          <a:cs typeface="Times New Roman" panose="02020603050405020304" pitchFamily="18" charset="0"/>
                        </a:rPr>
                        <a:t>.data</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已初始化的全局变量</a:t>
                      </a:r>
                    </a:p>
                  </a:txBody>
                  <a:tcPr/>
                </a:tc>
                <a:extLst>
                  <a:ext uri="{0D108BD9-81ED-4DB2-BD59-A6C34878D82A}">
                    <a16:rowId xmlns:a16="http://schemas.microsoft.com/office/drawing/2014/main" val="2936059803"/>
                  </a:ext>
                </a:extLst>
              </a:tr>
              <a:tr h="211747">
                <a:tc>
                  <a:txBody>
                    <a:bodyPr/>
                    <a:lstStyle/>
                    <a:p>
                      <a:r>
                        <a:rPr lang="en-US" altLang="zh-CN" sz="1200" cap="none" baseline="0" dirty="0">
                          <a:latin typeface="Times New Roman" panose="02020603050405020304" pitchFamily="18" charset="0"/>
                          <a:cs typeface="Times New Roman" panose="02020603050405020304" pitchFamily="18" charset="0"/>
                        </a:rPr>
                        <a:t>bufp1</a:t>
                      </a:r>
                      <a:endParaRPr lang="zh-CN" altLang="en-US" sz="1200" cap="none" baseline="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全局</a:t>
                      </a: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swap.o</a:t>
                      </a:r>
                      <a:endPar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1200" dirty="0">
                          <a:latin typeface="Times New Roman" panose="02020603050405020304" pitchFamily="18" charset="0"/>
                          <a:cs typeface="Times New Roman" panose="02020603050405020304" pitchFamily="18" charset="0"/>
                        </a:rPr>
                        <a:t>COMMON</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lang="zh-CN" altLang="en-US" sz="1200" dirty="0">
                          <a:latin typeface="Times New Roman" panose="02020603050405020304" pitchFamily="18" charset="0"/>
                          <a:cs typeface="Times New Roman" panose="02020603050405020304" pitchFamily="18" charset="0"/>
                        </a:rPr>
                        <a:t>未初始化的全局变量</a:t>
                      </a:r>
                    </a:p>
                  </a:txBody>
                  <a:tcPr/>
                </a:tc>
                <a:extLst>
                  <a:ext uri="{0D108BD9-81ED-4DB2-BD59-A6C34878D82A}">
                    <a16:rowId xmlns:a16="http://schemas.microsoft.com/office/drawing/2014/main" val="2546262031"/>
                  </a:ext>
                </a:extLst>
              </a:tr>
              <a:tr h="225459">
                <a:tc>
                  <a:txBody>
                    <a:bodyPr/>
                    <a:lstStyle/>
                    <a:p>
                      <a:r>
                        <a:rPr lang="en-US" altLang="zh-CN" sz="1200" cap="none" baseline="0" dirty="0">
                          <a:latin typeface="Times New Roman" panose="02020603050405020304" pitchFamily="18" charset="0"/>
                          <a:cs typeface="Times New Roman" panose="02020603050405020304" pitchFamily="18" charset="0"/>
                        </a:rPr>
                        <a:t>swap</a:t>
                      </a:r>
                      <a:endParaRPr lang="zh-CN" altLang="en-US" sz="1200" cap="none" baseline="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是</a:t>
                      </a: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全局</a:t>
                      </a: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rPr>
                        <a:t>swap.o</a:t>
                      </a:r>
                      <a:endParaRPr kumimoji="0" lang="zh-CN"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1200" dirty="0">
                          <a:latin typeface="Times New Roman" panose="02020603050405020304" pitchFamily="18" charset="0"/>
                          <a:cs typeface="Times New Roman" panose="02020603050405020304" pitchFamily="18" charset="0"/>
                        </a:rPr>
                        <a:t>.text</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algn="ctr"/>
                      <a:r>
                        <a:rPr lang="zh-CN" altLang="en-US" sz="1200" dirty="0">
                          <a:latin typeface="Times New Roman" panose="02020603050405020304" pitchFamily="18" charset="0"/>
                          <a:cs typeface="Times New Roman" panose="02020603050405020304" pitchFamily="18" charset="0"/>
                        </a:rPr>
                        <a:t>已编译程序的机器代码</a:t>
                      </a:r>
                    </a:p>
                  </a:txBody>
                  <a:tcPr/>
                </a:tc>
                <a:extLst>
                  <a:ext uri="{0D108BD9-81ED-4DB2-BD59-A6C34878D82A}">
                    <a16:rowId xmlns:a16="http://schemas.microsoft.com/office/drawing/2014/main" val="1440115949"/>
                  </a:ext>
                </a:extLst>
              </a:tr>
              <a:tr h="292480">
                <a:tc>
                  <a:txBody>
                    <a:bodyPr/>
                    <a:lstStyle/>
                    <a:p>
                      <a:r>
                        <a:rPr lang="en-US" altLang="zh-CN" sz="1200" cap="none" baseline="0" dirty="0">
                          <a:latin typeface="Times New Roman" panose="02020603050405020304" pitchFamily="18" charset="0"/>
                          <a:cs typeface="Times New Roman" panose="02020603050405020304" pitchFamily="18" charset="0"/>
                        </a:rPr>
                        <a:t>temp</a:t>
                      </a:r>
                      <a:endParaRPr lang="zh-CN" altLang="en-US" sz="1200" cap="none" baseline="0" dirty="0">
                        <a:latin typeface="Times New Roman" panose="02020603050405020304" pitchFamily="18" charset="0"/>
                        <a:cs typeface="Times New Roman" panose="02020603050405020304" pitchFamily="18" charset="0"/>
                      </a:endParaRPr>
                    </a:p>
                  </a:txBody>
                  <a:tcPr/>
                </a:tc>
                <a:tc>
                  <a:txBody>
                    <a:bodyPr/>
                    <a:lstStyle/>
                    <a:p>
                      <a:pPr algn="ctr"/>
                      <a:r>
                        <a:rPr lang="zh-CN" altLang="en-US" sz="1200" dirty="0">
                          <a:latin typeface="Times New Roman" panose="02020603050405020304" pitchFamily="18" charset="0"/>
                          <a:cs typeface="Times New Roman" panose="02020603050405020304" pitchFamily="18" charset="0"/>
                        </a:rPr>
                        <a:t>否</a:t>
                      </a:r>
                    </a:p>
                  </a:txBody>
                  <a:tcPr/>
                </a:tc>
                <a:tc>
                  <a:txBody>
                    <a:bodyPr/>
                    <a:lstStyle/>
                    <a:p>
                      <a:pPr algn="ctr"/>
                      <a:r>
                        <a:rPr lang="en-US" altLang="zh-CN" sz="1200" dirty="0">
                          <a:latin typeface="Times New Roman" panose="02020603050405020304" pitchFamily="18" charset="0"/>
                          <a:cs typeface="Times New Roman" panose="02020603050405020304" pitchFamily="18" charset="0"/>
                        </a:rPr>
                        <a:t>——</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algn="ctr"/>
                      <a:r>
                        <a:rPr lang="en-US" altLang="zh-CN" sz="1200" dirty="0">
                          <a:latin typeface="Times New Roman" panose="02020603050405020304" pitchFamily="18" charset="0"/>
                          <a:cs typeface="Times New Roman" panose="02020603050405020304" pitchFamily="18" charset="0"/>
                        </a:rPr>
                        <a:t>——</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a:t>
                      </a:r>
                      <a:endParaRPr lang="zh-CN" alt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685622" rtl="0" eaLnBrk="1" fontAlgn="auto" latinLnBrk="0" hangingPunct="1">
                        <a:lnSpc>
                          <a:spcPct val="100000"/>
                        </a:lnSpc>
                        <a:spcBef>
                          <a:spcPts val="0"/>
                        </a:spcBef>
                        <a:spcAft>
                          <a:spcPts val="0"/>
                        </a:spcAft>
                        <a:buClrTx/>
                        <a:buSzTx/>
                        <a:buFontTx/>
                        <a:buNone/>
                        <a:tabLst/>
                        <a:defRPr/>
                      </a:pPr>
                      <a:r>
                        <a:rPr lang="en-US" altLang="zh-CN" sz="1200" dirty="0">
                          <a:latin typeface="Times New Roman" panose="02020603050405020304" pitchFamily="18" charset="0"/>
                          <a:cs typeface="Times New Roman" panose="02020603050405020304" pitchFamily="18" charset="0"/>
                        </a:rPr>
                        <a:t>——</a:t>
                      </a:r>
                      <a:endParaRPr lang="zh-CN" altLang="en-US"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9720526"/>
                  </a:ext>
                </a:extLst>
              </a:tr>
            </a:tbl>
          </a:graphicData>
        </a:graphic>
      </p:graphicFrame>
    </p:spTree>
    <p:extLst>
      <p:ext uri="{BB962C8B-B14F-4D97-AF65-F5344CB8AC3E}">
        <p14:creationId xmlns:p14="http://schemas.microsoft.com/office/powerpoint/2010/main" val="778874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作业</a:t>
            </a:r>
            <a:r>
              <a:rPr lang="en-US" altLang="zh-CN" dirty="0"/>
              <a:t>1</a:t>
            </a:r>
            <a:r>
              <a:rPr lang="zh-CN" altLang="en-US" dirty="0"/>
              <a:t>：</a:t>
            </a:r>
          </a:p>
        </p:txBody>
      </p:sp>
      <p:sp>
        <p:nvSpPr>
          <p:cNvPr id="3" name="内容占位符 2"/>
          <p:cNvSpPr>
            <a:spLocks noGrp="1"/>
          </p:cNvSpPr>
          <p:nvPr>
            <p:ph idx="1"/>
          </p:nvPr>
        </p:nvSpPr>
        <p:spPr/>
        <p:txBody>
          <a:bodyPr/>
          <a:lstStyle/>
          <a:p>
            <a:r>
              <a:rPr lang="en-US" altLang="zh-CN" dirty="0"/>
              <a:t>P497-7.6</a:t>
            </a:r>
          </a:p>
          <a:p>
            <a:r>
              <a:rPr lang="zh-CN" altLang="en-US" dirty="0"/>
              <a:t>关于图</a:t>
            </a:r>
            <a:r>
              <a:rPr lang="en-US" altLang="zh-CN" dirty="0"/>
              <a:t>7-5</a:t>
            </a:r>
            <a:r>
              <a:rPr lang="zh-CN" altLang="en-US" dirty="0"/>
              <a:t>的</a:t>
            </a:r>
            <a:r>
              <a:rPr lang="en-US" altLang="zh-CN" dirty="0" err="1"/>
              <a:t>m.o</a:t>
            </a:r>
            <a:r>
              <a:rPr lang="zh-CN" altLang="en-US" dirty="0"/>
              <a:t>模块和给定的</a:t>
            </a:r>
            <a:r>
              <a:rPr lang="en-US" altLang="zh-CN" dirty="0" err="1"/>
              <a:t>swap.c</a:t>
            </a:r>
            <a:r>
              <a:rPr lang="zh-CN" altLang="en-US" dirty="0"/>
              <a:t>函数版本指出符号相关信息</a:t>
            </a:r>
            <a:endParaRPr lang="en-US" altLang="zh-CN" dirty="0"/>
          </a:p>
          <a:p>
            <a:endParaRPr lang="en-US" altLang="zh-CN" dirty="0"/>
          </a:p>
          <a:p>
            <a:r>
              <a:rPr lang="zh-CN" altLang="en-US" dirty="0"/>
              <a:t>目标：强化练习题</a:t>
            </a:r>
            <a:r>
              <a:rPr lang="en-US" altLang="zh-CN" dirty="0"/>
              <a:t>7.1</a:t>
            </a:r>
            <a:endParaRPr lang="zh-CN" altLang="en-US" dirty="0"/>
          </a:p>
        </p:txBody>
      </p:sp>
      <p:sp>
        <p:nvSpPr>
          <p:cNvPr id="4" name="灯片编号占位符 3"/>
          <p:cNvSpPr>
            <a:spLocks noGrp="1"/>
          </p:cNvSpPr>
          <p:nvPr>
            <p:ph type="sldNum" sz="quarter" idx="12"/>
          </p:nvPr>
        </p:nvSpPr>
        <p:spPr/>
        <p:txBody>
          <a:bodyPr/>
          <a:lstStyle/>
          <a:p>
            <a:fld id="{6D62327B-ED8D-4CFC-ADD0-A75FA5CBE281}" type="slidenum">
              <a:rPr lang="zh-CN" altLang="en-US" smtClean="0"/>
              <a:pPr/>
              <a:t>22</a:t>
            </a:fld>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2092" y="-6121"/>
            <a:ext cx="1538307" cy="1025538"/>
          </a:xfrm>
          <a:prstGeom prst="ellipse">
            <a:avLst/>
          </a:prstGeom>
          <a:ln>
            <a:noFill/>
          </a:ln>
          <a:effectLst>
            <a:reflection blurRad="6350" stA="52000" endA="300" endPos="35000" dir="5400000" sy="-100000" algn="bl" rotWithShape="0"/>
            <a:softEdge rad="112500"/>
          </a:effectLst>
        </p:spPr>
      </p:pic>
    </p:spTree>
    <p:extLst>
      <p:ext uri="{BB962C8B-B14F-4D97-AF65-F5344CB8AC3E}">
        <p14:creationId xmlns:p14="http://schemas.microsoft.com/office/powerpoint/2010/main" val="2160808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作业</a:t>
            </a:r>
            <a:r>
              <a:rPr lang="en-US" altLang="zh-CN" dirty="0"/>
              <a:t>2</a:t>
            </a:r>
            <a:r>
              <a:rPr lang="zh-CN" altLang="en-US" dirty="0"/>
              <a:t>：</a:t>
            </a:r>
          </a:p>
        </p:txBody>
      </p:sp>
      <p:sp>
        <p:nvSpPr>
          <p:cNvPr id="3" name="内容占位符 2"/>
          <p:cNvSpPr>
            <a:spLocks noGrp="1"/>
          </p:cNvSpPr>
          <p:nvPr>
            <p:ph idx="1"/>
          </p:nvPr>
        </p:nvSpPr>
        <p:spPr/>
        <p:txBody>
          <a:bodyPr/>
          <a:lstStyle/>
          <a:p>
            <a:r>
              <a:rPr lang="en-US" altLang="zh-CN" dirty="0"/>
              <a:t>P499-7.12</a:t>
            </a:r>
          </a:p>
          <a:p>
            <a:r>
              <a:rPr lang="zh-CN" altLang="en-US" dirty="0"/>
              <a:t>考虑目标文件</a:t>
            </a:r>
            <a:r>
              <a:rPr lang="en-US" altLang="zh-CN" dirty="0" err="1"/>
              <a:t>m.o</a:t>
            </a:r>
            <a:r>
              <a:rPr lang="zh-CN" altLang="en-US" dirty="0"/>
              <a:t>中对函数</a:t>
            </a:r>
            <a:r>
              <a:rPr lang="en-US" altLang="zh-CN" dirty="0"/>
              <a:t>swap</a:t>
            </a:r>
            <a:r>
              <a:rPr lang="zh-CN" altLang="en-US" dirty="0"/>
              <a:t>的调用</a:t>
            </a:r>
            <a:endParaRPr lang="en-US" altLang="zh-CN" dirty="0"/>
          </a:p>
          <a:p>
            <a:endParaRPr lang="en-US" altLang="zh-CN" dirty="0"/>
          </a:p>
          <a:p>
            <a:endParaRPr lang="en-US" altLang="zh-CN" dirty="0"/>
          </a:p>
          <a:p>
            <a:r>
              <a:rPr lang="zh-CN" altLang="en-US" dirty="0"/>
              <a:t>目标：扩展作业</a:t>
            </a:r>
            <a:r>
              <a:rPr lang="en-US" altLang="zh-CN" dirty="0"/>
              <a:t>7.6</a:t>
            </a:r>
            <a:endParaRPr lang="zh-CN" altLang="en-US" dirty="0"/>
          </a:p>
        </p:txBody>
      </p:sp>
      <p:sp>
        <p:nvSpPr>
          <p:cNvPr id="4" name="灯片编号占位符 3"/>
          <p:cNvSpPr>
            <a:spLocks noGrp="1"/>
          </p:cNvSpPr>
          <p:nvPr>
            <p:ph type="sldNum" sz="quarter" idx="12"/>
          </p:nvPr>
        </p:nvSpPr>
        <p:spPr/>
        <p:txBody>
          <a:bodyPr/>
          <a:lstStyle/>
          <a:p>
            <a:fld id="{6D62327B-ED8D-4CFC-ADD0-A75FA5CBE281}" type="slidenum">
              <a:rPr lang="zh-CN" altLang="en-US" smtClean="0"/>
              <a:pPr/>
              <a:t>23</a:t>
            </a:fld>
            <a:endParaRPr lang="zh-CN" altLang="en-US" dirty="0"/>
          </a:p>
        </p:txBody>
      </p:sp>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62092" y="-6121"/>
            <a:ext cx="1538307" cy="1025538"/>
          </a:xfrm>
          <a:prstGeom prst="ellipse">
            <a:avLst/>
          </a:prstGeom>
          <a:ln>
            <a:noFill/>
          </a:ln>
          <a:effectLst>
            <a:reflection blurRad="6350" stA="52000" endA="300" endPos="35000" dir="5400000" sy="-100000" algn="bl" rotWithShape="0"/>
            <a:softEdge rad="112500"/>
          </a:effectLst>
        </p:spPr>
      </p:pic>
    </p:spTree>
    <p:extLst>
      <p:ext uri="{BB962C8B-B14F-4D97-AF65-F5344CB8AC3E}">
        <p14:creationId xmlns:p14="http://schemas.microsoft.com/office/powerpoint/2010/main" val="5592272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8BBCB-F7ED-46D5-98FA-189B3C91E516}"/>
              </a:ext>
            </a:extLst>
          </p:cNvPr>
          <p:cNvSpPr>
            <a:spLocks noGrp="1"/>
          </p:cNvSpPr>
          <p:nvPr>
            <p:ph type="title"/>
          </p:nvPr>
        </p:nvSpPr>
        <p:spPr/>
        <p:txBody>
          <a:bodyPr>
            <a:normAutofit fontScale="90000"/>
          </a:bodyPr>
          <a:lstStyle/>
          <a:p>
            <a:r>
              <a:rPr lang="en-US" altLang="zh-CN" dirty="0"/>
              <a:t>7.6 </a:t>
            </a:r>
            <a:r>
              <a:rPr lang="zh-CN" altLang="en-US" dirty="0"/>
              <a:t>符号解析</a:t>
            </a:r>
          </a:p>
        </p:txBody>
      </p:sp>
      <p:sp>
        <p:nvSpPr>
          <p:cNvPr id="3" name="内容占位符 2">
            <a:extLst>
              <a:ext uri="{FF2B5EF4-FFF2-40B4-BE49-F238E27FC236}">
                <a16:creationId xmlns:a16="http://schemas.microsoft.com/office/drawing/2014/main" id="{0193A12E-CC6A-4511-9208-F59316B8FFB1}"/>
              </a:ext>
            </a:extLst>
          </p:cNvPr>
          <p:cNvSpPr>
            <a:spLocks noGrp="1"/>
          </p:cNvSpPr>
          <p:nvPr>
            <p:ph idx="1"/>
          </p:nvPr>
        </p:nvSpPr>
        <p:spPr/>
        <p:txBody>
          <a:bodyPr>
            <a:normAutofit/>
          </a:bodyPr>
          <a:lstStyle/>
          <a:p>
            <a:r>
              <a:rPr lang="zh-CN" altLang="en-US" sz="2000" dirty="0"/>
              <a:t>链接器解析符号引用的方法：将每个引用与它输入的可重定位目标文件的符号表中的一个确定的符号定义关联起来</a:t>
            </a:r>
            <a:endParaRPr lang="en-US" altLang="zh-CN" sz="2000" dirty="0"/>
          </a:p>
          <a:p>
            <a:r>
              <a:rPr lang="zh-CN" altLang="en-US" sz="2000" dirty="0"/>
              <a:t>当引用定义在相同模块中的局部符号引用时：</a:t>
            </a:r>
            <a:endParaRPr lang="en-US" altLang="zh-CN" sz="2000" dirty="0"/>
          </a:p>
          <a:p>
            <a:pPr lvl="1"/>
            <a:r>
              <a:rPr lang="zh-CN" altLang="en-US" sz="2000" dirty="0"/>
              <a:t>编译器只允许每个模块中每个局部符号有一个定义</a:t>
            </a:r>
            <a:endParaRPr lang="en-US" altLang="zh-CN" sz="2000" dirty="0"/>
          </a:p>
          <a:p>
            <a:pPr lvl="1"/>
            <a:r>
              <a:rPr lang="zh-CN" altLang="en-US" sz="2000" dirty="0"/>
              <a:t>静态局部变量有本地链接器符号，编译器确保它们有唯一的名字</a:t>
            </a:r>
            <a:endParaRPr lang="en-US" altLang="zh-CN" sz="2000" dirty="0"/>
          </a:p>
          <a:p>
            <a:r>
              <a:rPr lang="zh-CN" altLang="en-US" sz="2000" dirty="0"/>
              <a:t>不在当前模块中定义的符号：</a:t>
            </a:r>
            <a:endParaRPr lang="en-US" altLang="zh-CN" sz="2000" dirty="0"/>
          </a:p>
          <a:p>
            <a:pPr lvl="1"/>
            <a:r>
              <a:rPr lang="zh-CN" altLang="en-US" sz="2000" dirty="0"/>
              <a:t>假设该符号在其他某个模块中定义，生成一个链接器符号表条目，把它交给链接器处理</a:t>
            </a:r>
            <a:endParaRPr lang="en-US" altLang="zh-CN" sz="2000" dirty="0"/>
          </a:p>
          <a:p>
            <a:pPr lvl="2"/>
            <a:r>
              <a:rPr lang="zh-CN" altLang="en-US" sz="1600" dirty="0"/>
              <a:t>若链接器在它的任何输入模块中都找不到这个被引用符号的定义，输出错误信息并终止</a:t>
            </a:r>
            <a:endParaRPr lang="en-US" altLang="zh-CN" sz="1600" dirty="0"/>
          </a:p>
          <a:p>
            <a:pPr lvl="2"/>
            <a:r>
              <a:rPr lang="zh-CN" altLang="en-US" sz="1600" dirty="0"/>
              <a:t>示例：链接器解析</a:t>
            </a:r>
            <a:r>
              <a:rPr lang="en-US" altLang="zh-CN" sz="1600" dirty="0"/>
              <a:t>foo</a:t>
            </a:r>
            <a:r>
              <a:rPr lang="zh-CN" altLang="en-US" sz="1600" dirty="0"/>
              <a:t>引用错误</a:t>
            </a:r>
            <a:endParaRPr lang="en-US" altLang="zh-CN" sz="1600" dirty="0"/>
          </a:p>
          <a:p>
            <a:pPr lvl="2"/>
            <a:r>
              <a:rPr lang="pt-BR" altLang="zh-CN" sz="1600" dirty="0"/>
              <a:t> gcc -Wall -O3 -o linkerror linkerror.c</a:t>
            </a:r>
            <a:r>
              <a:rPr lang="zh-CN" altLang="en-US" sz="1600" dirty="0"/>
              <a:t>（注：</a:t>
            </a:r>
            <a:r>
              <a:rPr lang="en-US" altLang="zh-CN" sz="1600" dirty="0"/>
              <a:t> –Wall</a:t>
            </a:r>
            <a:r>
              <a:rPr lang="zh-CN" altLang="en-US" sz="1600" dirty="0"/>
              <a:t>显示警告信息）</a:t>
            </a:r>
            <a:endParaRPr lang="en-US" altLang="zh-CN" sz="1600" dirty="0"/>
          </a:p>
          <a:p>
            <a:pPr lvl="2"/>
            <a:endParaRPr lang="zh-CN" altLang="en-US" sz="1600" dirty="0"/>
          </a:p>
        </p:txBody>
      </p:sp>
      <p:sp>
        <p:nvSpPr>
          <p:cNvPr id="4" name="灯片编号占位符 3">
            <a:extLst>
              <a:ext uri="{FF2B5EF4-FFF2-40B4-BE49-F238E27FC236}">
                <a16:creationId xmlns:a16="http://schemas.microsoft.com/office/drawing/2014/main" id="{282149D7-384F-48A3-BA83-90896F3F7287}"/>
              </a:ext>
            </a:extLst>
          </p:cNvPr>
          <p:cNvSpPr>
            <a:spLocks noGrp="1"/>
          </p:cNvSpPr>
          <p:nvPr>
            <p:ph type="sldNum" sz="quarter" idx="12"/>
          </p:nvPr>
        </p:nvSpPr>
        <p:spPr/>
        <p:txBody>
          <a:bodyPr/>
          <a:lstStyle/>
          <a:p>
            <a:fld id="{6D62327B-ED8D-4CFC-ADD0-A75FA5CBE281}" type="slidenum">
              <a:rPr lang="zh-CN" altLang="en-US" smtClean="0"/>
              <a:pPr/>
              <a:t>24</a:t>
            </a:fld>
            <a:endParaRPr lang="zh-CN" altLang="en-US" dirty="0"/>
          </a:p>
        </p:txBody>
      </p:sp>
      <p:sp>
        <p:nvSpPr>
          <p:cNvPr id="5" name="Rectangle 3">
            <a:extLst>
              <a:ext uri="{FF2B5EF4-FFF2-40B4-BE49-F238E27FC236}">
                <a16:creationId xmlns:a16="http://schemas.microsoft.com/office/drawing/2014/main" id="{5D8FF91C-BAA8-4591-8FAC-A4293B1574D7}"/>
              </a:ext>
            </a:extLst>
          </p:cNvPr>
          <p:cNvSpPr>
            <a:spLocks noChangeArrowheads="1"/>
          </p:cNvSpPr>
          <p:nvPr/>
        </p:nvSpPr>
        <p:spPr bwMode="auto">
          <a:xfrm>
            <a:off x="883233" y="4975500"/>
            <a:ext cx="1960575" cy="1384995"/>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void foo(void);</a:t>
            </a:r>
          </a:p>
          <a:p>
            <a:r>
              <a:rPr lang="en-US" altLang="zh-CN" sz="1400" dirty="0">
                <a:solidFill>
                  <a:schemeClr val="tx1"/>
                </a:solidFill>
                <a:latin typeface="Menlo-Regular"/>
              </a:rPr>
              <a:t>int main(){</a:t>
            </a:r>
          </a:p>
          <a:p>
            <a:r>
              <a:rPr lang="en-US" altLang="zh-CN" sz="1400" dirty="0">
                <a:solidFill>
                  <a:schemeClr val="tx1"/>
                </a:solidFill>
                <a:latin typeface="Menlo-Regular"/>
              </a:rPr>
              <a:t>	foo();</a:t>
            </a:r>
          </a:p>
          <a:p>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err="1">
                <a:solidFill>
                  <a:schemeClr val="tx1"/>
                </a:solidFill>
                <a:latin typeface="Menlo-Regular"/>
                <a:cs typeface="Courier New"/>
              </a:rPr>
              <a:t>linkerror</a:t>
            </a:r>
            <a:r>
              <a:rPr lang="en-US" sz="1400" dirty="0" err="1">
                <a:solidFill>
                  <a:schemeClr val="tx1"/>
                </a:solidFill>
                <a:latin typeface="Menlo-Regular"/>
                <a:cs typeface="Courier New"/>
              </a:rPr>
              <a:t>.c</a:t>
            </a:r>
            <a:endParaRPr lang="en-US" sz="1400" dirty="0">
              <a:solidFill>
                <a:schemeClr val="tx1"/>
              </a:solidFill>
              <a:latin typeface="Courier New"/>
              <a:cs typeface="Courier New"/>
            </a:endParaRPr>
          </a:p>
        </p:txBody>
      </p:sp>
      <p:pic>
        <p:nvPicPr>
          <p:cNvPr id="6" name="图片 5">
            <a:extLst>
              <a:ext uri="{FF2B5EF4-FFF2-40B4-BE49-F238E27FC236}">
                <a16:creationId xmlns:a16="http://schemas.microsoft.com/office/drawing/2014/main" id="{B17947A2-ED7C-43BF-8D3D-2C3F8AD5DA48}"/>
              </a:ext>
            </a:extLst>
          </p:cNvPr>
          <p:cNvPicPr>
            <a:picLocks noChangeAspect="1"/>
          </p:cNvPicPr>
          <p:nvPr/>
        </p:nvPicPr>
        <p:blipFill>
          <a:blip r:embed="rId2"/>
          <a:stretch>
            <a:fillRect/>
          </a:stretch>
        </p:blipFill>
        <p:spPr>
          <a:xfrm>
            <a:off x="2987824" y="5225907"/>
            <a:ext cx="5997136" cy="900263"/>
          </a:xfrm>
          <a:prstGeom prst="rect">
            <a:avLst/>
          </a:prstGeom>
        </p:spPr>
      </p:pic>
    </p:spTree>
    <p:extLst>
      <p:ext uri="{BB962C8B-B14F-4D97-AF65-F5344CB8AC3E}">
        <p14:creationId xmlns:p14="http://schemas.microsoft.com/office/powerpoint/2010/main" val="1419031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CA3BA4-0940-4A02-A15E-776F505E9063}"/>
              </a:ext>
            </a:extLst>
          </p:cNvPr>
          <p:cNvSpPr>
            <a:spLocks noGrp="1"/>
          </p:cNvSpPr>
          <p:nvPr>
            <p:ph type="title"/>
          </p:nvPr>
        </p:nvSpPr>
        <p:spPr/>
        <p:txBody>
          <a:bodyPr>
            <a:normAutofit fontScale="90000"/>
          </a:bodyPr>
          <a:lstStyle/>
          <a:p>
            <a:r>
              <a:rPr lang="en-US" altLang="zh-CN" dirty="0"/>
              <a:t>7.6.1 </a:t>
            </a:r>
            <a:r>
              <a:rPr lang="zh-CN" altLang="en-US" dirty="0"/>
              <a:t>链接器如何解析多重定义的全局符号</a:t>
            </a:r>
          </a:p>
        </p:txBody>
      </p:sp>
      <p:sp>
        <p:nvSpPr>
          <p:cNvPr id="3" name="内容占位符 2">
            <a:extLst>
              <a:ext uri="{FF2B5EF4-FFF2-40B4-BE49-F238E27FC236}">
                <a16:creationId xmlns:a16="http://schemas.microsoft.com/office/drawing/2014/main" id="{BA0C0096-ED84-47F8-AAF3-1B59C17E512E}"/>
              </a:ext>
            </a:extLst>
          </p:cNvPr>
          <p:cNvSpPr>
            <a:spLocks noGrp="1"/>
          </p:cNvSpPr>
          <p:nvPr>
            <p:ph idx="1"/>
          </p:nvPr>
        </p:nvSpPr>
        <p:spPr/>
        <p:txBody>
          <a:bodyPr>
            <a:normAutofit/>
          </a:bodyPr>
          <a:lstStyle/>
          <a:p>
            <a:r>
              <a:rPr lang="zh-CN" altLang="en-US" sz="2000" dirty="0"/>
              <a:t>问题：链接器的输入是一组可重定位目标模块，每个模块定义一组符号，有局部的，有全局的，当多个模块定义同名的全局符号时，如何处理？</a:t>
            </a:r>
            <a:endParaRPr lang="en-US" altLang="zh-CN" sz="2000" dirty="0"/>
          </a:p>
          <a:p>
            <a:r>
              <a:rPr lang="zh-CN" altLang="en-US" sz="2000" dirty="0"/>
              <a:t>编译时，编译器向汇编器输入每个全局符号，或强或弱</a:t>
            </a:r>
            <a:endParaRPr lang="en-US" altLang="zh-CN" sz="2000" dirty="0"/>
          </a:p>
          <a:p>
            <a:pPr lvl="1"/>
            <a:r>
              <a:rPr lang="zh-CN" altLang="en-US" sz="2000" dirty="0"/>
              <a:t>函数和已初始化的全局变量是强符号</a:t>
            </a:r>
            <a:endParaRPr lang="en-US" altLang="zh-CN" sz="2000" dirty="0"/>
          </a:p>
          <a:p>
            <a:pPr lvl="1"/>
            <a:r>
              <a:rPr lang="zh-CN" altLang="en-US" sz="2000" dirty="0"/>
              <a:t>未初始化的全局变量是弱符号</a:t>
            </a:r>
            <a:endParaRPr lang="en-US" altLang="zh-CN" sz="2000" dirty="0"/>
          </a:p>
          <a:p>
            <a:r>
              <a:rPr lang="zh-CN" altLang="en-US" sz="2000" dirty="0"/>
              <a:t>根据强弱符号定义，链接器处理多重定义符号的规则：</a:t>
            </a:r>
            <a:endParaRPr lang="en-US" altLang="zh-CN" sz="2000" dirty="0"/>
          </a:p>
          <a:p>
            <a:pPr lvl="1"/>
            <a:r>
              <a:rPr lang="zh-CN" altLang="en-US" sz="2000" dirty="0"/>
              <a:t>规则</a:t>
            </a:r>
            <a:r>
              <a:rPr lang="en-US" altLang="zh-CN" sz="2000" dirty="0"/>
              <a:t>1</a:t>
            </a:r>
            <a:r>
              <a:rPr lang="zh-CN" altLang="en-US" sz="2000" dirty="0"/>
              <a:t>：不允许有多个同名的强符号</a:t>
            </a:r>
            <a:endParaRPr lang="en-US" altLang="zh-CN" sz="2000" dirty="0"/>
          </a:p>
          <a:p>
            <a:pPr lvl="1"/>
            <a:r>
              <a:rPr lang="zh-CN" altLang="en-US" sz="2000" dirty="0"/>
              <a:t>规则</a:t>
            </a:r>
            <a:r>
              <a:rPr lang="en-US" altLang="zh-CN" sz="2000" dirty="0"/>
              <a:t>2</a:t>
            </a:r>
            <a:r>
              <a:rPr lang="zh-CN" altLang="en-US" sz="2000" dirty="0"/>
              <a:t>：如果有一个强符号和多个弱符号同名，则选择强符号</a:t>
            </a:r>
            <a:endParaRPr lang="en-US" altLang="zh-CN" sz="2000" dirty="0"/>
          </a:p>
          <a:p>
            <a:pPr lvl="1"/>
            <a:r>
              <a:rPr lang="zh-CN" altLang="en-US" sz="2000" dirty="0"/>
              <a:t>规则</a:t>
            </a:r>
            <a:r>
              <a:rPr lang="en-US" altLang="zh-CN" sz="2000" dirty="0"/>
              <a:t>3</a:t>
            </a:r>
            <a:r>
              <a:rPr lang="zh-CN" altLang="en-US" sz="2000" dirty="0"/>
              <a:t>：如果有多个弱符号同名，则从这些弱符号中任意选择一个</a:t>
            </a:r>
            <a:endParaRPr lang="en-US" altLang="zh-CN" sz="2000" dirty="0"/>
          </a:p>
          <a:p>
            <a:r>
              <a:rPr lang="zh-CN" altLang="en-US" sz="2000" dirty="0"/>
              <a:t>当两个模块使用相同的函数名</a:t>
            </a:r>
            <a:r>
              <a:rPr lang="en-US" altLang="zh-CN" sz="2000" dirty="0"/>
              <a:t>main</a:t>
            </a:r>
            <a:r>
              <a:rPr lang="zh-CN" altLang="en-US" sz="2000" dirty="0"/>
              <a:t>时，链接器生成错误信息</a:t>
            </a:r>
            <a:endParaRPr lang="en-US" altLang="zh-CN" sz="2000" dirty="0"/>
          </a:p>
          <a:p>
            <a:pPr lvl="1"/>
            <a:r>
              <a:rPr lang="en-US" altLang="zh-CN" sz="1700" dirty="0" err="1"/>
              <a:t>gcc</a:t>
            </a:r>
            <a:r>
              <a:rPr lang="en-US" altLang="zh-CN" sz="1700" dirty="0"/>
              <a:t> foo1.c bar1.c</a:t>
            </a:r>
          </a:p>
          <a:p>
            <a:pPr lvl="1"/>
            <a:r>
              <a:rPr lang="en-US" altLang="zh-CN" sz="1700" dirty="0"/>
              <a:t>multiple definition of `main’</a:t>
            </a:r>
            <a:r>
              <a:rPr lang="zh-CN" altLang="en-US" sz="1700" dirty="0"/>
              <a:t>，强符号</a:t>
            </a:r>
            <a:r>
              <a:rPr lang="en-US" altLang="zh-CN" sz="1700" dirty="0"/>
              <a:t>main</a:t>
            </a:r>
            <a:r>
              <a:rPr lang="zh-CN" altLang="en-US" sz="1700" dirty="0"/>
              <a:t>被定义多次（规则</a:t>
            </a:r>
            <a:r>
              <a:rPr lang="en-US" altLang="zh-CN" sz="1700" dirty="0"/>
              <a:t>1</a:t>
            </a:r>
            <a:r>
              <a:rPr lang="zh-CN" altLang="en-US" sz="1700" dirty="0"/>
              <a:t>）</a:t>
            </a:r>
          </a:p>
        </p:txBody>
      </p:sp>
      <p:sp>
        <p:nvSpPr>
          <p:cNvPr id="4" name="灯片编号占位符 3">
            <a:extLst>
              <a:ext uri="{FF2B5EF4-FFF2-40B4-BE49-F238E27FC236}">
                <a16:creationId xmlns:a16="http://schemas.microsoft.com/office/drawing/2014/main" id="{CF110BA0-30CB-41BE-9A66-FED4333CD11A}"/>
              </a:ext>
            </a:extLst>
          </p:cNvPr>
          <p:cNvSpPr>
            <a:spLocks noGrp="1"/>
          </p:cNvSpPr>
          <p:nvPr>
            <p:ph type="sldNum" sz="quarter" idx="12"/>
          </p:nvPr>
        </p:nvSpPr>
        <p:spPr/>
        <p:txBody>
          <a:bodyPr/>
          <a:lstStyle/>
          <a:p>
            <a:fld id="{6D62327B-ED8D-4CFC-ADD0-A75FA5CBE281}" type="slidenum">
              <a:rPr lang="zh-CN" altLang="en-US" smtClean="0"/>
              <a:pPr/>
              <a:t>25</a:t>
            </a:fld>
            <a:endParaRPr lang="zh-CN" altLang="en-US" dirty="0"/>
          </a:p>
        </p:txBody>
      </p:sp>
      <p:sp>
        <p:nvSpPr>
          <p:cNvPr id="5" name="Rectangle 3">
            <a:extLst>
              <a:ext uri="{FF2B5EF4-FFF2-40B4-BE49-F238E27FC236}">
                <a16:creationId xmlns:a16="http://schemas.microsoft.com/office/drawing/2014/main" id="{0DB16C12-65F0-4510-8174-8DAD370F0FDA}"/>
              </a:ext>
            </a:extLst>
          </p:cNvPr>
          <p:cNvSpPr>
            <a:spLocks noChangeArrowheads="1"/>
          </p:cNvSpPr>
          <p:nvPr/>
        </p:nvSpPr>
        <p:spPr bwMode="auto">
          <a:xfrm>
            <a:off x="358352" y="5373217"/>
            <a:ext cx="1960575"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int main()</a:t>
            </a:r>
          </a:p>
          <a:p>
            <a:r>
              <a:rPr lang="en-US" altLang="zh-CN" sz="1400" dirty="0">
                <a:solidFill>
                  <a:schemeClr val="tx1"/>
                </a:solidFill>
                <a:latin typeface="Menlo-Regular"/>
              </a:rPr>
              <a:t>{</a:t>
            </a:r>
          </a:p>
          <a:p>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foo1</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sp>
        <p:nvSpPr>
          <p:cNvPr id="6" name="Rectangle 3">
            <a:extLst>
              <a:ext uri="{FF2B5EF4-FFF2-40B4-BE49-F238E27FC236}">
                <a16:creationId xmlns:a16="http://schemas.microsoft.com/office/drawing/2014/main" id="{00C13939-481A-46FB-9034-EF0E406ADC6C}"/>
              </a:ext>
            </a:extLst>
          </p:cNvPr>
          <p:cNvSpPr>
            <a:spLocks noChangeArrowheads="1"/>
          </p:cNvSpPr>
          <p:nvPr/>
        </p:nvSpPr>
        <p:spPr bwMode="auto">
          <a:xfrm>
            <a:off x="2615417" y="5373216"/>
            <a:ext cx="1960575"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int main()</a:t>
            </a:r>
          </a:p>
          <a:p>
            <a:r>
              <a:rPr lang="en-US" altLang="zh-CN" sz="1400" dirty="0">
                <a:solidFill>
                  <a:schemeClr val="tx1"/>
                </a:solidFill>
                <a:latin typeface="Menlo-Regular"/>
              </a:rPr>
              <a:t>{</a:t>
            </a:r>
          </a:p>
          <a:p>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bar1</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pic>
        <p:nvPicPr>
          <p:cNvPr id="7" name="图片 6">
            <a:extLst>
              <a:ext uri="{FF2B5EF4-FFF2-40B4-BE49-F238E27FC236}">
                <a16:creationId xmlns:a16="http://schemas.microsoft.com/office/drawing/2014/main" id="{C3758D42-9575-4859-A707-099BD9494DAE}"/>
              </a:ext>
            </a:extLst>
          </p:cNvPr>
          <p:cNvPicPr>
            <a:picLocks noChangeAspect="1"/>
          </p:cNvPicPr>
          <p:nvPr/>
        </p:nvPicPr>
        <p:blipFill>
          <a:blip r:embed="rId2"/>
          <a:stretch>
            <a:fillRect/>
          </a:stretch>
        </p:blipFill>
        <p:spPr>
          <a:xfrm>
            <a:off x="4846082" y="5432511"/>
            <a:ext cx="4158005" cy="855423"/>
          </a:xfrm>
          <a:prstGeom prst="rect">
            <a:avLst/>
          </a:prstGeom>
        </p:spPr>
      </p:pic>
    </p:spTree>
    <p:extLst>
      <p:ext uri="{BB962C8B-B14F-4D97-AF65-F5344CB8AC3E}">
        <p14:creationId xmlns:p14="http://schemas.microsoft.com/office/powerpoint/2010/main" val="13401141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B502-EEA5-463F-AC9E-42070CB0843B}"/>
              </a:ext>
            </a:extLst>
          </p:cNvPr>
          <p:cNvSpPr>
            <a:spLocks noGrp="1"/>
          </p:cNvSpPr>
          <p:nvPr>
            <p:ph type="title"/>
          </p:nvPr>
        </p:nvSpPr>
        <p:spPr/>
        <p:txBody>
          <a:bodyPr>
            <a:normAutofit fontScale="90000"/>
          </a:bodyPr>
          <a:lstStyle/>
          <a:p>
            <a:r>
              <a:rPr lang="zh-CN" altLang="en-US" dirty="0"/>
              <a:t>链接器规则示例</a:t>
            </a:r>
          </a:p>
        </p:txBody>
      </p:sp>
      <p:sp>
        <p:nvSpPr>
          <p:cNvPr id="3" name="内容占位符 2">
            <a:extLst>
              <a:ext uri="{FF2B5EF4-FFF2-40B4-BE49-F238E27FC236}">
                <a16:creationId xmlns:a16="http://schemas.microsoft.com/office/drawing/2014/main" id="{EB9BA445-2975-41CF-BFA1-9E601B845740}"/>
              </a:ext>
            </a:extLst>
          </p:cNvPr>
          <p:cNvSpPr>
            <a:spLocks noGrp="1"/>
          </p:cNvSpPr>
          <p:nvPr>
            <p:ph idx="1"/>
          </p:nvPr>
        </p:nvSpPr>
        <p:spPr/>
        <p:txBody>
          <a:bodyPr/>
          <a:lstStyle/>
          <a:p>
            <a:r>
              <a:rPr lang="zh-CN" altLang="en-US" dirty="0"/>
              <a:t>全局变量强符号</a:t>
            </a:r>
            <a:r>
              <a:rPr lang="en-US" altLang="zh-CN" dirty="0"/>
              <a:t>x</a:t>
            </a:r>
            <a:r>
              <a:rPr lang="zh-CN" altLang="en-US" dirty="0"/>
              <a:t>多次定义：规则</a:t>
            </a:r>
            <a:r>
              <a:rPr lang="en-US" altLang="zh-CN" dirty="0"/>
              <a:t>1</a:t>
            </a:r>
          </a:p>
          <a:p>
            <a:endParaRPr lang="en-US" altLang="zh-CN" dirty="0"/>
          </a:p>
          <a:p>
            <a:endParaRPr lang="en-US" altLang="zh-CN" dirty="0"/>
          </a:p>
          <a:p>
            <a:endParaRPr lang="en-US" altLang="zh-CN" dirty="0"/>
          </a:p>
          <a:p>
            <a:r>
              <a:rPr lang="zh-CN" altLang="en-US" dirty="0"/>
              <a:t>若一个模块里</a:t>
            </a:r>
            <a:r>
              <a:rPr lang="en-US" altLang="zh-CN" dirty="0"/>
              <a:t>x</a:t>
            </a:r>
            <a:r>
              <a:rPr lang="zh-CN" altLang="en-US" dirty="0"/>
              <a:t>未初始化，则链接器选择另一个模块中定义的强符号：规则</a:t>
            </a:r>
            <a:r>
              <a:rPr lang="en-US" altLang="zh-CN" dirty="0"/>
              <a:t>2</a:t>
            </a:r>
          </a:p>
          <a:p>
            <a:pPr lvl="1"/>
            <a:r>
              <a:rPr lang="zh-CN" altLang="en-US" dirty="0"/>
              <a:t>执行强符号</a:t>
            </a:r>
            <a:r>
              <a:rPr lang="en-US" altLang="zh-CN" dirty="0"/>
              <a:t>f()</a:t>
            </a:r>
            <a:r>
              <a:rPr lang="zh-CN" altLang="en-US" dirty="0"/>
              <a:t>函数赋值</a:t>
            </a:r>
            <a:r>
              <a:rPr lang="en-US" altLang="zh-CN" dirty="0"/>
              <a:t>15212</a:t>
            </a:r>
          </a:p>
          <a:p>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4897FCE8-C386-4905-8FFA-0F330009633F}"/>
              </a:ext>
            </a:extLst>
          </p:cNvPr>
          <p:cNvSpPr>
            <a:spLocks noGrp="1"/>
          </p:cNvSpPr>
          <p:nvPr>
            <p:ph type="sldNum" sz="quarter" idx="12"/>
          </p:nvPr>
        </p:nvSpPr>
        <p:spPr/>
        <p:txBody>
          <a:bodyPr/>
          <a:lstStyle/>
          <a:p>
            <a:fld id="{6D62327B-ED8D-4CFC-ADD0-A75FA5CBE281}" type="slidenum">
              <a:rPr lang="zh-CN" altLang="en-US" smtClean="0"/>
              <a:pPr/>
              <a:t>26</a:t>
            </a:fld>
            <a:endParaRPr lang="zh-CN" altLang="en-US" dirty="0"/>
          </a:p>
        </p:txBody>
      </p:sp>
      <p:sp>
        <p:nvSpPr>
          <p:cNvPr id="5" name="Rectangle 3">
            <a:extLst>
              <a:ext uri="{FF2B5EF4-FFF2-40B4-BE49-F238E27FC236}">
                <a16:creationId xmlns:a16="http://schemas.microsoft.com/office/drawing/2014/main" id="{59DFEDEE-671E-4076-BE63-B48F2072F24A}"/>
              </a:ext>
            </a:extLst>
          </p:cNvPr>
          <p:cNvSpPr>
            <a:spLocks noChangeArrowheads="1"/>
          </p:cNvSpPr>
          <p:nvPr/>
        </p:nvSpPr>
        <p:spPr bwMode="auto">
          <a:xfrm>
            <a:off x="611560" y="1233046"/>
            <a:ext cx="1960575" cy="1384995"/>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int x=15213;</a:t>
            </a:r>
          </a:p>
          <a:p>
            <a:r>
              <a:rPr lang="en-US" altLang="zh-CN" sz="1400" dirty="0">
                <a:solidFill>
                  <a:schemeClr val="tx1"/>
                </a:solidFill>
                <a:latin typeface="Menlo-Regular"/>
              </a:rPr>
              <a:t>int main()</a:t>
            </a:r>
          </a:p>
          <a:p>
            <a:r>
              <a:rPr lang="en-US" altLang="zh-CN" sz="1400" dirty="0">
                <a:solidFill>
                  <a:schemeClr val="tx1"/>
                </a:solidFill>
                <a:latin typeface="Menlo-Regular"/>
              </a:rPr>
              <a:t>{</a:t>
            </a:r>
          </a:p>
          <a:p>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foo2</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sp>
        <p:nvSpPr>
          <p:cNvPr id="6" name="Rectangle 3">
            <a:extLst>
              <a:ext uri="{FF2B5EF4-FFF2-40B4-BE49-F238E27FC236}">
                <a16:creationId xmlns:a16="http://schemas.microsoft.com/office/drawing/2014/main" id="{205CB30D-57FB-4FA5-B88D-2AD22831005E}"/>
              </a:ext>
            </a:extLst>
          </p:cNvPr>
          <p:cNvSpPr>
            <a:spLocks noChangeArrowheads="1"/>
          </p:cNvSpPr>
          <p:nvPr/>
        </p:nvSpPr>
        <p:spPr bwMode="auto">
          <a:xfrm>
            <a:off x="2728854" y="1340767"/>
            <a:ext cx="1960575"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int x=15213;</a:t>
            </a:r>
          </a:p>
          <a:p>
            <a:r>
              <a:rPr lang="en-US" altLang="zh-CN" sz="1400" dirty="0">
                <a:solidFill>
                  <a:schemeClr val="tx1"/>
                </a:solidFill>
                <a:latin typeface="Menlo-Regular"/>
              </a:rPr>
              <a:t>void f()</a:t>
            </a:r>
          </a:p>
          <a:p>
            <a:r>
              <a:rPr lang="en-US" altLang="zh-CN" sz="1400" dirty="0">
                <a:solidFill>
                  <a:schemeClr val="tx1"/>
                </a:solidFill>
                <a:latin typeface="Menlo-Regular"/>
              </a:rPr>
              <a:t>{</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bar2</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pic>
        <p:nvPicPr>
          <p:cNvPr id="7" name="图片 6">
            <a:extLst>
              <a:ext uri="{FF2B5EF4-FFF2-40B4-BE49-F238E27FC236}">
                <a16:creationId xmlns:a16="http://schemas.microsoft.com/office/drawing/2014/main" id="{C8A65C61-8091-4272-AE2B-62512395A992}"/>
              </a:ext>
            </a:extLst>
          </p:cNvPr>
          <p:cNvPicPr>
            <a:picLocks noChangeAspect="1"/>
          </p:cNvPicPr>
          <p:nvPr/>
        </p:nvPicPr>
        <p:blipFill>
          <a:blip r:embed="rId2"/>
          <a:stretch>
            <a:fillRect/>
          </a:stretch>
        </p:blipFill>
        <p:spPr>
          <a:xfrm>
            <a:off x="4789026" y="1628800"/>
            <a:ext cx="4193357" cy="534867"/>
          </a:xfrm>
          <a:prstGeom prst="rect">
            <a:avLst/>
          </a:prstGeom>
        </p:spPr>
      </p:pic>
      <p:sp>
        <p:nvSpPr>
          <p:cNvPr id="8" name="Rectangle 3">
            <a:extLst>
              <a:ext uri="{FF2B5EF4-FFF2-40B4-BE49-F238E27FC236}">
                <a16:creationId xmlns:a16="http://schemas.microsoft.com/office/drawing/2014/main" id="{97F8E1CD-FBF2-4519-AFA2-C946C8318057}"/>
              </a:ext>
            </a:extLst>
          </p:cNvPr>
          <p:cNvSpPr>
            <a:spLocks noChangeArrowheads="1"/>
          </p:cNvSpPr>
          <p:nvPr/>
        </p:nvSpPr>
        <p:spPr bwMode="auto">
          <a:xfrm>
            <a:off x="899592" y="3879401"/>
            <a:ext cx="2809549" cy="2246769"/>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#include &lt;</a:t>
            </a:r>
            <a:r>
              <a:rPr lang="en-US" altLang="zh-CN" sz="1400" dirty="0" err="1">
                <a:solidFill>
                  <a:schemeClr val="tx1"/>
                </a:solidFill>
                <a:latin typeface="Menlo-Regular"/>
              </a:rPr>
              <a:t>stdio.h</a:t>
            </a:r>
            <a:r>
              <a:rPr lang="en-US" altLang="zh-CN" sz="1400" dirty="0">
                <a:solidFill>
                  <a:schemeClr val="tx1"/>
                </a:solidFill>
                <a:latin typeface="Menlo-Regular"/>
              </a:rPr>
              <a:t>&gt;</a:t>
            </a:r>
          </a:p>
          <a:p>
            <a:r>
              <a:rPr lang="en-US" altLang="zh-CN" sz="1400" dirty="0">
                <a:solidFill>
                  <a:schemeClr val="tx1"/>
                </a:solidFill>
                <a:latin typeface="Menlo-Regular"/>
              </a:rPr>
              <a:t>void f(void);</a:t>
            </a:r>
          </a:p>
          <a:p>
            <a:r>
              <a:rPr lang="en-US" altLang="zh-CN" sz="1400" dirty="0">
                <a:solidFill>
                  <a:schemeClr val="tx1"/>
                </a:solidFill>
                <a:latin typeface="Menlo-Regular"/>
              </a:rPr>
              <a:t>int x=15213;</a:t>
            </a:r>
          </a:p>
          <a:p>
            <a:r>
              <a:rPr lang="en-US" altLang="zh-CN" sz="1400" dirty="0">
                <a:solidFill>
                  <a:schemeClr val="tx1"/>
                </a:solidFill>
                <a:latin typeface="Menlo-Regular"/>
              </a:rPr>
              <a:t>int main()</a:t>
            </a:r>
          </a:p>
          <a:p>
            <a:r>
              <a:rPr lang="en-US" altLang="zh-CN" sz="1400" dirty="0">
                <a:solidFill>
                  <a:schemeClr val="tx1"/>
                </a:solidFill>
                <a:latin typeface="Menlo-Regular"/>
              </a:rPr>
              <a:t>{</a:t>
            </a:r>
          </a:p>
          <a:p>
            <a:r>
              <a:rPr lang="en-US" altLang="zh-CN" sz="1400" dirty="0">
                <a:solidFill>
                  <a:schemeClr val="tx1"/>
                </a:solidFill>
                <a:latin typeface="Menlo-Regular"/>
              </a:rPr>
              <a:t>	f();</a:t>
            </a:r>
          </a:p>
          <a:p>
            <a:r>
              <a:rPr lang="en-US" altLang="zh-CN" sz="1400" dirty="0">
                <a:solidFill>
                  <a:schemeClr val="tx1"/>
                </a:solidFill>
                <a:latin typeface="Menlo-Regular"/>
              </a:rPr>
              <a:t>	</a:t>
            </a:r>
            <a:r>
              <a:rPr lang="en-US" altLang="zh-CN" sz="1400" dirty="0" err="1">
                <a:solidFill>
                  <a:schemeClr val="tx1"/>
                </a:solidFill>
                <a:latin typeface="Menlo-Regular"/>
              </a:rPr>
              <a:t>printf</a:t>
            </a:r>
            <a:r>
              <a:rPr lang="en-US" altLang="zh-CN" sz="1400" dirty="0">
                <a:solidFill>
                  <a:schemeClr val="tx1"/>
                </a:solidFill>
                <a:latin typeface="Menlo-Regular"/>
              </a:rPr>
              <a:t>("x=%d\</a:t>
            </a:r>
            <a:r>
              <a:rPr lang="en-US" altLang="zh-CN" sz="1400" dirty="0" err="1">
                <a:solidFill>
                  <a:schemeClr val="tx1"/>
                </a:solidFill>
                <a:latin typeface="Menlo-Regular"/>
              </a:rPr>
              <a:t>n",x</a:t>
            </a:r>
            <a:r>
              <a:rPr lang="en-US" altLang="zh-CN" sz="1400" dirty="0">
                <a:solidFill>
                  <a:schemeClr val="tx1"/>
                </a:solidFill>
                <a:latin typeface="Menlo-Regular"/>
              </a:rPr>
              <a:t>);</a:t>
            </a:r>
          </a:p>
          <a:p>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foo3</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sp>
        <p:nvSpPr>
          <p:cNvPr id="9" name="Rectangle 3">
            <a:extLst>
              <a:ext uri="{FF2B5EF4-FFF2-40B4-BE49-F238E27FC236}">
                <a16:creationId xmlns:a16="http://schemas.microsoft.com/office/drawing/2014/main" id="{94FF46A0-8401-4B76-9E71-D690835E46F4}"/>
              </a:ext>
            </a:extLst>
          </p:cNvPr>
          <p:cNvSpPr>
            <a:spLocks noChangeArrowheads="1"/>
          </p:cNvSpPr>
          <p:nvPr/>
        </p:nvSpPr>
        <p:spPr bwMode="auto">
          <a:xfrm>
            <a:off x="4283968" y="3778094"/>
            <a:ext cx="2713878" cy="181588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#include &lt;</a:t>
            </a:r>
            <a:r>
              <a:rPr lang="en-US" altLang="zh-CN" sz="1400" dirty="0" err="1">
                <a:solidFill>
                  <a:schemeClr val="tx1"/>
                </a:solidFill>
                <a:latin typeface="Menlo-Regular"/>
              </a:rPr>
              <a:t>stdio.h</a:t>
            </a:r>
            <a:r>
              <a:rPr lang="en-US" altLang="zh-CN" sz="1400" dirty="0">
                <a:solidFill>
                  <a:schemeClr val="tx1"/>
                </a:solidFill>
                <a:latin typeface="Menlo-Regular"/>
              </a:rPr>
              <a:t>&gt;</a:t>
            </a:r>
          </a:p>
          <a:p>
            <a:r>
              <a:rPr lang="en-US" altLang="zh-CN" sz="1400" dirty="0" err="1">
                <a:solidFill>
                  <a:schemeClr val="tx1"/>
                </a:solidFill>
                <a:latin typeface="Menlo-Regular"/>
              </a:rPr>
              <a:t>int</a:t>
            </a:r>
            <a:r>
              <a:rPr lang="en-US" altLang="zh-CN" sz="1400" dirty="0">
                <a:solidFill>
                  <a:schemeClr val="tx1"/>
                </a:solidFill>
                <a:latin typeface="Menlo-Regular"/>
              </a:rPr>
              <a:t> x;</a:t>
            </a:r>
          </a:p>
          <a:p>
            <a:r>
              <a:rPr lang="en-US" altLang="zh-CN" sz="1400" dirty="0">
                <a:solidFill>
                  <a:schemeClr val="tx1"/>
                </a:solidFill>
                <a:latin typeface="Menlo-Regular"/>
              </a:rPr>
              <a:t>void f()</a:t>
            </a:r>
          </a:p>
          <a:p>
            <a:r>
              <a:rPr lang="en-US" altLang="zh-CN" sz="1400" dirty="0">
                <a:solidFill>
                  <a:schemeClr val="tx1"/>
                </a:solidFill>
                <a:latin typeface="Menlo-Regular"/>
              </a:rPr>
              <a:t>{</a:t>
            </a:r>
          </a:p>
          <a:p>
            <a:r>
              <a:rPr lang="en-US" altLang="zh-CN" sz="1400" dirty="0" err="1">
                <a:solidFill>
                  <a:schemeClr val="tx1"/>
                </a:solidFill>
                <a:latin typeface="Menlo-Regular"/>
              </a:rPr>
              <a:t>printf</a:t>
            </a:r>
            <a:r>
              <a:rPr lang="en-US" altLang="zh-CN" sz="1400" dirty="0">
                <a:solidFill>
                  <a:schemeClr val="tx1"/>
                </a:solidFill>
                <a:latin typeface="Menlo-Regular"/>
              </a:rPr>
              <a:t>("x=%d\</a:t>
            </a:r>
            <a:r>
              <a:rPr lang="en-US" altLang="zh-CN" sz="1400" dirty="0" err="1">
                <a:solidFill>
                  <a:schemeClr val="tx1"/>
                </a:solidFill>
                <a:latin typeface="Menlo-Regular"/>
              </a:rPr>
              <a:t>n",x</a:t>
            </a:r>
            <a:r>
              <a:rPr lang="en-US" altLang="zh-CN" sz="1400" dirty="0">
                <a:solidFill>
                  <a:schemeClr val="tx1"/>
                </a:solidFill>
                <a:latin typeface="Menlo-Regular"/>
              </a:rPr>
              <a:t>);	</a:t>
            </a:r>
          </a:p>
          <a:p>
            <a:r>
              <a:rPr lang="en-US" altLang="zh-CN" sz="1400" dirty="0">
                <a:solidFill>
                  <a:schemeClr val="tx1"/>
                </a:solidFill>
                <a:latin typeface="Menlo-Regular"/>
              </a:rPr>
              <a:t>x=15212;</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bar3</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pic>
        <p:nvPicPr>
          <p:cNvPr id="11" name="图片 10"/>
          <p:cNvPicPr>
            <a:picLocks noChangeAspect="1"/>
          </p:cNvPicPr>
          <p:nvPr/>
        </p:nvPicPr>
        <p:blipFill>
          <a:blip r:embed="rId3"/>
          <a:stretch>
            <a:fillRect/>
          </a:stretch>
        </p:blipFill>
        <p:spPr>
          <a:xfrm>
            <a:off x="4211960" y="5749772"/>
            <a:ext cx="3839640" cy="631556"/>
          </a:xfrm>
          <a:prstGeom prst="rect">
            <a:avLst/>
          </a:prstGeom>
        </p:spPr>
      </p:pic>
      <p:sp>
        <p:nvSpPr>
          <p:cNvPr id="12" name="矩形 11"/>
          <p:cNvSpPr/>
          <p:nvPr/>
        </p:nvSpPr>
        <p:spPr>
          <a:xfrm>
            <a:off x="1979712" y="4365104"/>
            <a:ext cx="492443" cy="276999"/>
          </a:xfrm>
          <a:prstGeom prst="rect">
            <a:avLst/>
          </a:prstGeom>
        </p:spPr>
        <p:txBody>
          <a:bodyPr wrap="none">
            <a:spAutoFit/>
          </a:bodyPr>
          <a:lstStyle/>
          <a:p>
            <a:r>
              <a:rPr lang="zh-CN" altLang="en-US" sz="1200" dirty="0">
                <a:solidFill>
                  <a:srgbClr val="FF0000"/>
                </a:solidFill>
                <a:latin typeface="Times New Roman" panose="02020603050405020304" pitchFamily="18" charset="0"/>
                <a:cs typeface="Times New Roman" panose="02020603050405020304" pitchFamily="18" charset="0"/>
              </a:rPr>
              <a:t>←</a:t>
            </a:r>
            <a:r>
              <a:rPr lang="zh-CN" altLang="en-US" sz="1200" dirty="0">
                <a:solidFill>
                  <a:srgbClr val="FF0000"/>
                </a:solidFill>
              </a:rPr>
              <a:t>①</a:t>
            </a:r>
          </a:p>
        </p:txBody>
      </p:sp>
      <p:sp>
        <p:nvSpPr>
          <p:cNvPr id="13" name="矩形 12"/>
          <p:cNvSpPr/>
          <p:nvPr/>
        </p:nvSpPr>
        <p:spPr>
          <a:xfrm>
            <a:off x="5004048" y="4869160"/>
            <a:ext cx="492443" cy="276999"/>
          </a:xfrm>
          <a:prstGeom prst="rect">
            <a:avLst/>
          </a:prstGeom>
        </p:spPr>
        <p:txBody>
          <a:bodyPr wrap="none">
            <a:spAutoFit/>
          </a:bodyPr>
          <a:lstStyle/>
          <a:p>
            <a:r>
              <a:rPr lang="zh-CN" altLang="en-US" sz="1200" dirty="0">
                <a:solidFill>
                  <a:srgbClr val="FF0000"/>
                </a:solidFill>
                <a:latin typeface="Times New Roman" panose="02020603050405020304" pitchFamily="18" charset="0"/>
                <a:cs typeface="Times New Roman" panose="02020603050405020304" pitchFamily="18" charset="0"/>
              </a:rPr>
              <a:t>←</a:t>
            </a:r>
            <a:r>
              <a:rPr lang="zh-CN" altLang="en-US" sz="1200" dirty="0">
                <a:solidFill>
                  <a:srgbClr val="FF0000"/>
                </a:solidFill>
              </a:rPr>
              <a:t>②</a:t>
            </a:r>
          </a:p>
        </p:txBody>
      </p:sp>
    </p:spTree>
    <p:extLst>
      <p:ext uri="{BB962C8B-B14F-4D97-AF65-F5344CB8AC3E}">
        <p14:creationId xmlns:p14="http://schemas.microsoft.com/office/powerpoint/2010/main" val="1785973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B502-EEA5-463F-AC9E-42070CB0843B}"/>
              </a:ext>
            </a:extLst>
          </p:cNvPr>
          <p:cNvSpPr>
            <a:spLocks noGrp="1"/>
          </p:cNvSpPr>
          <p:nvPr>
            <p:ph type="title"/>
          </p:nvPr>
        </p:nvSpPr>
        <p:spPr/>
        <p:txBody>
          <a:bodyPr>
            <a:normAutofit fontScale="90000"/>
          </a:bodyPr>
          <a:lstStyle/>
          <a:p>
            <a:r>
              <a:rPr lang="zh-CN" altLang="en-US" dirty="0"/>
              <a:t>链接器规则示例</a:t>
            </a:r>
          </a:p>
        </p:txBody>
      </p:sp>
      <p:sp>
        <p:nvSpPr>
          <p:cNvPr id="3" name="内容占位符 2">
            <a:extLst>
              <a:ext uri="{FF2B5EF4-FFF2-40B4-BE49-F238E27FC236}">
                <a16:creationId xmlns:a16="http://schemas.microsoft.com/office/drawing/2014/main" id="{EB9BA445-2975-41CF-BFA1-9E601B845740}"/>
              </a:ext>
            </a:extLst>
          </p:cNvPr>
          <p:cNvSpPr>
            <a:spLocks noGrp="1"/>
          </p:cNvSpPr>
          <p:nvPr>
            <p:ph idx="1"/>
          </p:nvPr>
        </p:nvSpPr>
        <p:spPr/>
        <p:txBody>
          <a:bodyPr/>
          <a:lstStyle/>
          <a:p>
            <a:r>
              <a:rPr lang="en-US" altLang="zh-CN" dirty="0"/>
              <a:t>X</a:t>
            </a:r>
            <a:r>
              <a:rPr lang="zh-CN" altLang="en-US" dirty="0"/>
              <a:t>有两个弱定义：规则</a:t>
            </a:r>
            <a:r>
              <a:rPr lang="en-US" altLang="zh-CN" dirty="0"/>
              <a:t>3</a:t>
            </a:r>
          </a:p>
          <a:p>
            <a:pPr lvl="1"/>
            <a:r>
              <a:rPr lang="zh-CN" altLang="en-US" dirty="0"/>
              <a:t>两个全局变量</a:t>
            </a:r>
            <a:r>
              <a:rPr lang="en-US" altLang="zh-CN" dirty="0"/>
              <a:t>x</a:t>
            </a:r>
            <a:r>
              <a:rPr lang="zh-CN" altLang="en-US" dirty="0"/>
              <a:t>均未赋值，</a:t>
            </a:r>
            <a:r>
              <a:rPr lang="en-US" altLang="zh-CN" dirty="0"/>
              <a:t>f</a:t>
            </a:r>
            <a:r>
              <a:rPr lang="zh-CN" altLang="en-US" dirty="0"/>
              <a:t>为强符号，</a:t>
            </a:r>
            <a:r>
              <a:rPr lang="en-US" altLang="zh-CN" dirty="0"/>
              <a:t>x</a:t>
            </a:r>
            <a:r>
              <a:rPr lang="zh-CN" altLang="en-US" dirty="0"/>
              <a:t>取</a:t>
            </a:r>
            <a:r>
              <a:rPr lang="en-US" altLang="zh-CN" dirty="0"/>
              <a:t>f</a:t>
            </a:r>
            <a:r>
              <a:rPr lang="zh-CN" altLang="en-US" dirty="0"/>
              <a:t>函数值</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4897FCE8-C386-4905-8FFA-0F330009633F}"/>
              </a:ext>
            </a:extLst>
          </p:cNvPr>
          <p:cNvSpPr>
            <a:spLocks noGrp="1"/>
          </p:cNvSpPr>
          <p:nvPr>
            <p:ph type="sldNum" sz="quarter" idx="12"/>
          </p:nvPr>
        </p:nvSpPr>
        <p:spPr/>
        <p:txBody>
          <a:bodyPr/>
          <a:lstStyle/>
          <a:p>
            <a:fld id="{6D62327B-ED8D-4CFC-ADD0-A75FA5CBE281}" type="slidenum">
              <a:rPr lang="zh-CN" altLang="en-US" smtClean="0"/>
              <a:pPr/>
              <a:t>27</a:t>
            </a:fld>
            <a:endParaRPr lang="zh-CN" altLang="en-US" dirty="0"/>
          </a:p>
        </p:txBody>
      </p:sp>
      <p:sp>
        <p:nvSpPr>
          <p:cNvPr id="8" name="Rectangle 3">
            <a:extLst>
              <a:ext uri="{FF2B5EF4-FFF2-40B4-BE49-F238E27FC236}">
                <a16:creationId xmlns:a16="http://schemas.microsoft.com/office/drawing/2014/main" id="{97F8E1CD-FBF2-4519-AFA2-C946C8318057}"/>
              </a:ext>
            </a:extLst>
          </p:cNvPr>
          <p:cNvSpPr>
            <a:spLocks noChangeArrowheads="1"/>
          </p:cNvSpPr>
          <p:nvPr/>
        </p:nvSpPr>
        <p:spPr bwMode="auto">
          <a:xfrm>
            <a:off x="712754" y="1634406"/>
            <a:ext cx="2779125" cy="2462213"/>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#include &lt;</a:t>
            </a:r>
            <a:r>
              <a:rPr lang="en-US" altLang="zh-CN" sz="1400" dirty="0" err="1">
                <a:solidFill>
                  <a:schemeClr val="tx1"/>
                </a:solidFill>
                <a:latin typeface="Menlo-Regular"/>
              </a:rPr>
              <a:t>stdio.h</a:t>
            </a:r>
            <a:r>
              <a:rPr lang="en-US" altLang="zh-CN" sz="1400" dirty="0">
                <a:solidFill>
                  <a:schemeClr val="tx1"/>
                </a:solidFill>
                <a:latin typeface="Menlo-Regular"/>
              </a:rPr>
              <a:t>&gt;</a:t>
            </a:r>
          </a:p>
          <a:p>
            <a:r>
              <a:rPr lang="en-US" altLang="zh-CN" sz="1400" dirty="0">
                <a:solidFill>
                  <a:schemeClr val="tx1"/>
                </a:solidFill>
                <a:latin typeface="Menlo-Regular"/>
              </a:rPr>
              <a:t>void f(void);</a:t>
            </a:r>
          </a:p>
          <a:p>
            <a:r>
              <a:rPr lang="en-US" altLang="zh-CN" sz="1400" dirty="0">
                <a:solidFill>
                  <a:schemeClr val="tx1"/>
                </a:solidFill>
                <a:latin typeface="Menlo-Regular"/>
              </a:rPr>
              <a:t>int x;</a:t>
            </a:r>
          </a:p>
          <a:p>
            <a:r>
              <a:rPr lang="en-US" altLang="zh-CN" sz="1400" dirty="0">
                <a:solidFill>
                  <a:schemeClr val="tx1"/>
                </a:solidFill>
                <a:latin typeface="Menlo-Regular"/>
              </a:rPr>
              <a:t>int main()</a:t>
            </a:r>
          </a:p>
          <a:p>
            <a:r>
              <a:rPr lang="en-US" altLang="zh-CN" sz="1400" dirty="0">
                <a:solidFill>
                  <a:schemeClr val="tx1"/>
                </a:solidFill>
                <a:latin typeface="Menlo-Regular"/>
              </a:rPr>
              <a:t>{</a:t>
            </a:r>
          </a:p>
          <a:p>
            <a:r>
              <a:rPr lang="en-US" altLang="zh-CN" sz="1400" dirty="0">
                <a:solidFill>
                  <a:schemeClr val="tx1"/>
                </a:solidFill>
                <a:latin typeface="Menlo-Regular"/>
              </a:rPr>
              <a:t>	x=15213;</a:t>
            </a:r>
          </a:p>
          <a:p>
            <a:r>
              <a:rPr lang="en-US" altLang="zh-CN" sz="1400" dirty="0">
                <a:solidFill>
                  <a:schemeClr val="tx1"/>
                </a:solidFill>
                <a:latin typeface="Menlo-Regular"/>
              </a:rPr>
              <a:t>	f();</a:t>
            </a:r>
          </a:p>
          <a:p>
            <a:r>
              <a:rPr lang="en-US" altLang="zh-CN" sz="1400" dirty="0">
                <a:solidFill>
                  <a:schemeClr val="tx1"/>
                </a:solidFill>
                <a:latin typeface="Menlo-Regular"/>
              </a:rPr>
              <a:t>	</a:t>
            </a:r>
            <a:r>
              <a:rPr lang="en-US" altLang="zh-CN" sz="1400" dirty="0" err="1">
                <a:solidFill>
                  <a:schemeClr val="tx1"/>
                </a:solidFill>
                <a:latin typeface="Menlo-Regular"/>
              </a:rPr>
              <a:t>printf</a:t>
            </a:r>
            <a:r>
              <a:rPr lang="en-US" altLang="zh-CN" sz="1400" dirty="0">
                <a:solidFill>
                  <a:schemeClr val="tx1"/>
                </a:solidFill>
                <a:latin typeface="Menlo-Regular"/>
              </a:rPr>
              <a:t>("x=%d\</a:t>
            </a:r>
            <a:r>
              <a:rPr lang="en-US" altLang="zh-CN" sz="1400" dirty="0" err="1">
                <a:solidFill>
                  <a:schemeClr val="tx1"/>
                </a:solidFill>
                <a:latin typeface="Menlo-Regular"/>
              </a:rPr>
              <a:t>n",x</a:t>
            </a:r>
            <a:r>
              <a:rPr lang="en-US" altLang="zh-CN" sz="1400" dirty="0">
                <a:solidFill>
                  <a:schemeClr val="tx1"/>
                </a:solidFill>
                <a:latin typeface="Menlo-Regular"/>
              </a:rPr>
              <a:t>);</a:t>
            </a:r>
          </a:p>
          <a:p>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foo4</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sp>
        <p:nvSpPr>
          <p:cNvPr id="9" name="Rectangle 3">
            <a:extLst>
              <a:ext uri="{FF2B5EF4-FFF2-40B4-BE49-F238E27FC236}">
                <a16:creationId xmlns:a16="http://schemas.microsoft.com/office/drawing/2014/main" id="{94FF46A0-8401-4B76-9E71-D690835E46F4}"/>
              </a:ext>
            </a:extLst>
          </p:cNvPr>
          <p:cNvSpPr>
            <a:spLocks noChangeArrowheads="1"/>
          </p:cNvSpPr>
          <p:nvPr/>
        </p:nvSpPr>
        <p:spPr bwMode="auto">
          <a:xfrm>
            <a:off x="3635896" y="2060848"/>
            <a:ext cx="1960575" cy="1384995"/>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int x;</a:t>
            </a:r>
          </a:p>
          <a:p>
            <a:r>
              <a:rPr lang="en-US" altLang="zh-CN" sz="1400" dirty="0">
                <a:solidFill>
                  <a:schemeClr val="tx1"/>
                </a:solidFill>
                <a:latin typeface="Menlo-Regular"/>
              </a:rPr>
              <a:t>void f()</a:t>
            </a:r>
          </a:p>
          <a:p>
            <a:r>
              <a:rPr lang="en-US" altLang="zh-CN" sz="1400" dirty="0">
                <a:solidFill>
                  <a:schemeClr val="tx1"/>
                </a:solidFill>
                <a:latin typeface="Menlo-Regular"/>
              </a:rPr>
              <a:t>{</a:t>
            </a:r>
          </a:p>
          <a:p>
            <a:r>
              <a:rPr lang="en-US" altLang="zh-CN" sz="1400" dirty="0">
                <a:solidFill>
                  <a:schemeClr val="tx1"/>
                </a:solidFill>
                <a:latin typeface="Menlo-Regular"/>
              </a:rPr>
              <a:t>	x=15212;</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bar4</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pic>
        <p:nvPicPr>
          <p:cNvPr id="11" name="图片 10">
            <a:extLst>
              <a:ext uri="{FF2B5EF4-FFF2-40B4-BE49-F238E27FC236}">
                <a16:creationId xmlns:a16="http://schemas.microsoft.com/office/drawing/2014/main" id="{7C90A648-2E93-410A-8B52-4536C0D3760F}"/>
              </a:ext>
            </a:extLst>
          </p:cNvPr>
          <p:cNvPicPr>
            <a:picLocks noChangeAspect="1"/>
          </p:cNvPicPr>
          <p:nvPr/>
        </p:nvPicPr>
        <p:blipFill>
          <a:blip r:embed="rId2"/>
          <a:stretch>
            <a:fillRect/>
          </a:stretch>
        </p:blipFill>
        <p:spPr>
          <a:xfrm>
            <a:off x="5724128" y="2636912"/>
            <a:ext cx="3171825" cy="457200"/>
          </a:xfrm>
          <a:prstGeom prst="rect">
            <a:avLst/>
          </a:prstGeom>
        </p:spPr>
      </p:pic>
    </p:spTree>
    <p:extLst>
      <p:ext uri="{BB962C8B-B14F-4D97-AF65-F5344CB8AC3E}">
        <p14:creationId xmlns:p14="http://schemas.microsoft.com/office/powerpoint/2010/main" val="27361596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C7B502-EEA5-463F-AC9E-42070CB0843B}"/>
              </a:ext>
            </a:extLst>
          </p:cNvPr>
          <p:cNvSpPr>
            <a:spLocks noGrp="1"/>
          </p:cNvSpPr>
          <p:nvPr>
            <p:ph type="title"/>
          </p:nvPr>
        </p:nvSpPr>
        <p:spPr/>
        <p:txBody>
          <a:bodyPr>
            <a:normAutofit fontScale="90000"/>
          </a:bodyPr>
          <a:lstStyle/>
          <a:p>
            <a:r>
              <a:rPr lang="zh-CN" altLang="en-US" dirty="0"/>
              <a:t>链接器规则示例</a:t>
            </a:r>
          </a:p>
        </p:txBody>
      </p:sp>
      <p:sp>
        <p:nvSpPr>
          <p:cNvPr id="3" name="内容占位符 2">
            <a:extLst>
              <a:ext uri="{FF2B5EF4-FFF2-40B4-BE49-F238E27FC236}">
                <a16:creationId xmlns:a16="http://schemas.microsoft.com/office/drawing/2014/main" id="{EB9BA445-2975-41CF-BFA1-9E601B845740}"/>
              </a:ext>
            </a:extLst>
          </p:cNvPr>
          <p:cNvSpPr>
            <a:spLocks noGrp="1"/>
          </p:cNvSpPr>
          <p:nvPr>
            <p:ph idx="1"/>
          </p:nvPr>
        </p:nvSpPr>
        <p:spPr>
          <a:xfrm>
            <a:off x="457200" y="837034"/>
            <a:ext cx="8229600" cy="2170482"/>
          </a:xfrm>
        </p:spPr>
        <p:txBody>
          <a:bodyPr/>
          <a:lstStyle/>
          <a:p>
            <a:r>
              <a:rPr lang="en-US" altLang="zh-CN" dirty="0"/>
              <a:t>X</a:t>
            </a:r>
            <a:r>
              <a:rPr lang="zh-CN" altLang="en-US" dirty="0"/>
              <a:t>有两个不同数据类型定义：规则</a:t>
            </a:r>
            <a:r>
              <a:rPr lang="en-US" altLang="zh-CN" dirty="0"/>
              <a:t>2</a:t>
            </a:r>
            <a:r>
              <a:rPr lang="zh-CN" altLang="en-US" dirty="0"/>
              <a:t>、规则</a:t>
            </a:r>
            <a:r>
              <a:rPr lang="en-US" altLang="zh-CN" dirty="0"/>
              <a:t>3</a:t>
            </a:r>
          </a:p>
          <a:p>
            <a:pPr lvl="1"/>
            <a:r>
              <a:rPr lang="zh-CN" altLang="en-US" dirty="0"/>
              <a:t>重复的符号定义有不同的数据类型</a:t>
            </a:r>
            <a:endParaRPr lang="en-US" altLang="zh-CN" dirty="0"/>
          </a:p>
          <a:p>
            <a:pPr lvl="1"/>
            <a:r>
              <a:rPr lang="en-US" altLang="zh-CN" dirty="0" err="1"/>
              <a:t>gcc</a:t>
            </a:r>
            <a:r>
              <a:rPr lang="en-US" altLang="zh-CN" dirty="0"/>
              <a:t> -o foobar5 foo5.c bar5.c</a:t>
            </a:r>
          </a:p>
          <a:p>
            <a:pPr lvl="2"/>
            <a:r>
              <a:rPr lang="en-US" altLang="zh-CN" dirty="0"/>
              <a:t>Double</a:t>
            </a:r>
            <a:r>
              <a:rPr lang="zh-CN" altLang="en-US" dirty="0"/>
              <a:t>为</a:t>
            </a:r>
            <a:r>
              <a:rPr lang="en-US" altLang="zh-CN" dirty="0"/>
              <a:t>8</a:t>
            </a:r>
            <a:r>
              <a:rPr lang="zh-CN" altLang="en-US" dirty="0"/>
              <a:t>字节，</a:t>
            </a:r>
            <a:r>
              <a:rPr lang="en-US" altLang="zh-CN" dirty="0"/>
              <a:t>int</a:t>
            </a:r>
            <a:r>
              <a:rPr lang="zh-CN" altLang="en-US" dirty="0"/>
              <a:t>为</a:t>
            </a:r>
            <a:r>
              <a:rPr lang="en-US" altLang="zh-CN" dirty="0"/>
              <a:t>4</a:t>
            </a:r>
            <a:r>
              <a:rPr lang="zh-CN" altLang="en-US" dirty="0"/>
              <a:t>字节，</a:t>
            </a:r>
            <a:r>
              <a:rPr lang="en-US" altLang="zh-CN" dirty="0"/>
              <a:t>f</a:t>
            </a:r>
            <a:r>
              <a:rPr lang="zh-CN" altLang="en-US" dirty="0"/>
              <a:t>函数赋值后覆盖内存</a:t>
            </a:r>
            <a:r>
              <a:rPr lang="en-US" altLang="zh-CN" dirty="0"/>
              <a:t>x</a:t>
            </a:r>
            <a:r>
              <a:rPr lang="zh-CN" altLang="en-US" dirty="0"/>
              <a:t>，</a:t>
            </a:r>
            <a:r>
              <a:rPr lang="en-US" altLang="zh-CN" dirty="0"/>
              <a:t>y</a:t>
            </a:r>
            <a:r>
              <a:rPr lang="zh-CN" altLang="en-US" dirty="0"/>
              <a:t>的位置</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4897FCE8-C386-4905-8FFA-0F330009633F}"/>
              </a:ext>
            </a:extLst>
          </p:cNvPr>
          <p:cNvSpPr>
            <a:spLocks noGrp="1"/>
          </p:cNvSpPr>
          <p:nvPr>
            <p:ph type="sldNum" sz="quarter" idx="12"/>
          </p:nvPr>
        </p:nvSpPr>
        <p:spPr/>
        <p:txBody>
          <a:bodyPr/>
          <a:lstStyle/>
          <a:p>
            <a:fld id="{6D62327B-ED8D-4CFC-ADD0-A75FA5CBE281}" type="slidenum">
              <a:rPr lang="zh-CN" altLang="en-US" smtClean="0"/>
              <a:pPr/>
              <a:t>28</a:t>
            </a:fld>
            <a:endParaRPr lang="zh-CN" altLang="en-US" dirty="0"/>
          </a:p>
        </p:txBody>
      </p:sp>
      <p:sp>
        <p:nvSpPr>
          <p:cNvPr id="8" name="Rectangle 3">
            <a:extLst>
              <a:ext uri="{FF2B5EF4-FFF2-40B4-BE49-F238E27FC236}">
                <a16:creationId xmlns:a16="http://schemas.microsoft.com/office/drawing/2014/main" id="{97F8E1CD-FBF2-4519-AFA2-C946C8318057}"/>
              </a:ext>
            </a:extLst>
          </p:cNvPr>
          <p:cNvSpPr>
            <a:spLocks noChangeArrowheads="1"/>
          </p:cNvSpPr>
          <p:nvPr/>
        </p:nvSpPr>
        <p:spPr bwMode="auto">
          <a:xfrm>
            <a:off x="783323" y="2338954"/>
            <a:ext cx="5012813" cy="2462213"/>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#include &lt;</a:t>
            </a:r>
            <a:r>
              <a:rPr lang="en-US" altLang="zh-CN" sz="1400" dirty="0" err="1">
                <a:solidFill>
                  <a:schemeClr val="tx1"/>
                </a:solidFill>
                <a:latin typeface="Menlo-Regular"/>
              </a:rPr>
              <a:t>stdio.h</a:t>
            </a:r>
            <a:r>
              <a:rPr lang="en-US" altLang="zh-CN" sz="1400" dirty="0">
                <a:solidFill>
                  <a:schemeClr val="tx1"/>
                </a:solidFill>
                <a:latin typeface="Menlo-Regular"/>
              </a:rPr>
              <a:t>&gt;</a:t>
            </a:r>
          </a:p>
          <a:p>
            <a:r>
              <a:rPr lang="en-US" altLang="zh-CN" sz="1400" dirty="0">
                <a:solidFill>
                  <a:schemeClr val="tx1"/>
                </a:solidFill>
                <a:latin typeface="Menlo-Regular"/>
              </a:rPr>
              <a:t>void f(void);</a:t>
            </a:r>
          </a:p>
          <a:p>
            <a:r>
              <a:rPr lang="en-US" altLang="zh-CN" sz="1400" dirty="0">
                <a:solidFill>
                  <a:schemeClr val="tx1"/>
                </a:solidFill>
                <a:latin typeface="Menlo-Regular"/>
              </a:rPr>
              <a:t>int y=15212;</a:t>
            </a:r>
          </a:p>
          <a:p>
            <a:r>
              <a:rPr lang="en-US" altLang="zh-CN" sz="1400" dirty="0">
                <a:solidFill>
                  <a:schemeClr val="tx1"/>
                </a:solidFill>
                <a:latin typeface="Menlo-Regular"/>
              </a:rPr>
              <a:t>int x=15213;</a:t>
            </a:r>
          </a:p>
          <a:p>
            <a:r>
              <a:rPr lang="en-US" altLang="zh-CN" sz="1400" dirty="0">
                <a:solidFill>
                  <a:schemeClr val="tx1"/>
                </a:solidFill>
                <a:latin typeface="Menlo-Regular"/>
              </a:rPr>
              <a:t>int main()</a:t>
            </a:r>
          </a:p>
          <a:p>
            <a:r>
              <a:rPr lang="en-US" altLang="zh-CN" sz="1400" dirty="0">
                <a:solidFill>
                  <a:schemeClr val="tx1"/>
                </a:solidFill>
                <a:latin typeface="Menlo-Regular"/>
              </a:rPr>
              <a:t>{</a:t>
            </a:r>
          </a:p>
          <a:p>
            <a:r>
              <a:rPr lang="en-US" altLang="zh-CN" sz="1400" dirty="0">
                <a:solidFill>
                  <a:schemeClr val="tx1"/>
                </a:solidFill>
                <a:latin typeface="Menlo-Regular"/>
              </a:rPr>
              <a:t>	f();</a:t>
            </a:r>
          </a:p>
          <a:p>
            <a:r>
              <a:rPr lang="es-ES" altLang="zh-CN" sz="1400" dirty="0">
                <a:solidFill>
                  <a:schemeClr val="tx1"/>
                </a:solidFill>
                <a:latin typeface="Menlo-Regular"/>
              </a:rPr>
              <a:t>	printf("x=0x%x[%d] y=0x%x[%d] \n",x,&amp;x,y,&amp;y);</a:t>
            </a:r>
            <a:r>
              <a:rPr lang="en-US" altLang="zh-CN" sz="1400" dirty="0">
                <a:solidFill>
                  <a:schemeClr val="tx1"/>
                </a:solidFill>
                <a:latin typeface="Menlo-Regular"/>
              </a:rPr>
              <a:t>	return 0;</a:t>
            </a:r>
          </a:p>
          <a:p>
            <a:r>
              <a:rPr lang="en-US"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foo5</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sp>
        <p:nvSpPr>
          <p:cNvPr id="9" name="Rectangle 3">
            <a:extLst>
              <a:ext uri="{FF2B5EF4-FFF2-40B4-BE49-F238E27FC236}">
                <a16:creationId xmlns:a16="http://schemas.microsoft.com/office/drawing/2014/main" id="{94FF46A0-8401-4B76-9E71-D690835E46F4}"/>
              </a:ext>
            </a:extLst>
          </p:cNvPr>
          <p:cNvSpPr>
            <a:spLocks noChangeArrowheads="1"/>
          </p:cNvSpPr>
          <p:nvPr/>
        </p:nvSpPr>
        <p:spPr bwMode="auto">
          <a:xfrm>
            <a:off x="6084168" y="2877562"/>
            <a:ext cx="2028800" cy="1384995"/>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fr-FR" altLang="zh-CN" sz="1400" dirty="0">
                <a:solidFill>
                  <a:schemeClr val="tx1"/>
                </a:solidFill>
                <a:latin typeface="Menlo-Regular"/>
              </a:rPr>
              <a:t>double x;</a:t>
            </a:r>
          </a:p>
          <a:p>
            <a:r>
              <a:rPr lang="fr-FR" altLang="zh-CN" sz="1400" dirty="0">
                <a:solidFill>
                  <a:schemeClr val="tx1"/>
                </a:solidFill>
                <a:latin typeface="Menlo-Regular"/>
              </a:rPr>
              <a:t>void f()</a:t>
            </a:r>
          </a:p>
          <a:p>
            <a:r>
              <a:rPr lang="fr-FR" altLang="zh-CN" sz="1400" dirty="0">
                <a:solidFill>
                  <a:schemeClr val="tx1"/>
                </a:solidFill>
                <a:latin typeface="Menlo-Regular"/>
              </a:rPr>
              <a:t>{</a:t>
            </a:r>
          </a:p>
          <a:p>
            <a:r>
              <a:rPr lang="fr-FR" altLang="zh-CN" sz="1400" dirty="0">
                <a:solidFill>
                  <a:schemeClr val="tx1"/>
                </a:solidFill>
                <a:latin typeface="Menlo-Regular"/>
              </a:rPr>
              <a:t>	x=-0.0;</a:t>
            </a:r>
          </a:p>
          <a:p>
            <a:r>
              <a:rPr lang="fr-FR" altLang="zh-CN" sz="1400" dirty="0">
                <a:solidFill>
                  <a:schemeClr val="tx1"/>
                </a:solidFill>
                <a:latin typeface="Menlo-Regular"/>
              </a:rPr>
              <a:t>}</a:t>
            </a:r>
          </a:p>
          <a:p>
            <a:r>
              <a:rPr lang="en-US" sz="1400" dirty="0">
                <a:solidFill>
                  <a:schemeClr val="tx1"/>
                </a:solidFill>
                <a:latin typeface="Menlo-Regular"/>
                <a:cs typeface="Courier New"/>
              </a:rPr>
              <a:t>//</a:t>
            </a:r>
            <a:r>
              <a:rPr lang="en-US" altLang="zh-CN" sz="1400" dirty="0">
                <a:solidFill>
                  <a:schemeClr val="tx1"/>
                </a:solidFill>
                <a:latin typeface="Menlo-Regular"/>
                <a:cs typeface="Courier New"/>
              </a:rPr>
              <a:t>bar5</a:t>
            </a:r>
            <a:r>
              <a:rPr lang="en-US" sz="1400" dirty="0">
                <a:solidFill>
                  <a:schemeClr val="tx1"/>
                </a:solidFill>
                <a:latin typeface="Menlo-Regular"/>
                <a:cs typeface="Courier New"/>
              </a:rPr>
              <a:t>.c</a:t>
            </a:r>
            <a:endParaRPr lang="en-US" sz="1400" dirty="0">
              <a:solidFill>
                <a:schemeClr val="tx1"/>
              </a:solidFill>
              <a:latin typeface="Courier New"/>
              <a:cs typeface="Courier New"/>
            </a:endParaRPr>
          </a:p>
        </p:txBody>
      </p:sp>
      <p:pic>
        <p:nvPicPr>
          <p:cNvPr id="5" name="图片 4">
            <a:extLst>
              <a:ext uri="{FF2B5EF4-FFF2-40B4-BE49-F238E27FC236}">
                <a16:creationId xmlns:a16="http://schemas.microsoft.com/office/drawing/2014/main" id="{765E0C2B-DF6A-4A91-8E68-92D4AEFB809E}"/>
              </a:ext>
            </a:extLst>
          </p:cNvPr>
          <p:cNvPicPr>
            <a:picLocks noChangeAspect="1"/>
          </p:cNvPicPr>
          <p:nvPr/>
        </p:nvPicPr>
        <p:blipFill>
          <a:blip r:embed="rId2"/>
          <a:stretch>
            <a:fillRect/>
          </a:stretch>
        </p:blipFill>
        <p:spPr>
          <a:xfrm>
            <a:off x="783323" y="4930615"/>
            <a:ext cx="7772400" cy="1657350"/>
          </a:xfrm>
          <a:prstGeom prst="rect">
            <a:avLst/>
          </a:prstGeom>
        </p:spPr>
      </p:pic>
    </p:spTree>
    <p:extLst>
      <p:ext uri="{BB962C8B-B14F-4D97-AF65-F5344CB8AC3E}">
        <p14:creationId xmlns:p14="http://schemas.microsoft.com/office/powerpoint/2010/main" val="3118638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8C777F-2EB9-44F1-BD76-49D3DA2E3421}"/>
              </a:ext>
            </a:extLst>
          </p:cNvPr>
          <p:cNvSpPr>
            <a:spLocks noGrp="1"/>
          </p:cNvSpPr>
          <p:nvPr>
            <p:ph type="title"/>
          </p:nvPr>
        </p:nvSpPr>
        <p:spPr/>
        <p:txBody>
          <a:bodyPr>
            <a:normAutofit fontScale="90000"/>
          </a:bodyPr>
          <a:lstStyle/>
          <a:p>
            <a:r>
              <a:rPr lang="zh-CN" altLang="en-US" dirty="0"/>
              <a:t>练习题</a:t>
            </a:r>
            <a:r>
              <a:rPr lang="en-US" altLang="zh-CN" dirty="0"/>
              <a:t>7.2</a:t>
            </a:r>
            <a:endParaRPr lang="zh-CN" altLang="en-US" dirty="0"/>
          </a:p>
        </p:txBody>
      </p:sp>
      <p:sp>
        <p:nvSpPr>
          <p:cNvPr id="3" name="内容占位符 2">
            <a:extLst>
              <a:ext uri="{FF2B5EF4-FFF2-40B4-BE49-F238E27FC236}">
                <a16:creationId xmlns:a16="http://schemas.microsoft.com/office/drawing/2014/main" id="{D1ED796E-87E4-4A7B-9907-56CFD9D0E973}"/>
              </a:ext>
            </a:extLst>
          </p:cNvPr>
          <p:cNvSpPr>
            <a:spLocks noGrp="1"/>
          </p:cNvSpPr>
          <p:nvPr>
            <p:ph idx="1"/>
          </p:nvPr>
        </p:nvSpPr>
        <p:spPr/>
        <p:txBody>
          <a:bodyPr/>
          <a:lstStyle/>
          <a:p>
            <a:r>
              <a:rPr lang="en-US" altLang="zh-CN" dirty="0"/>
              <a:t>REF(</a:t>
            </a:r>
            <a:r>
              <a:rPr lang="en-US" altLang="zh-CN" dirty="0" err="1"/>
              <a:t>x.i</a:t>
            </a:r>
            <a:r>
              <a:rPr lang="en-US" altLang="zh-CN" dirty="0"/>
              <a:t>)</a:t>
            </a:r>
            <a:r>
              <a:rPr lang="zh-CN" altLang="en-US" dirty="0">
                <a:sym typeface="Wingdings 3" panose="05040102010807070707" pitchFamily="18" charset="2"/>
              </a:rPr>
              <a:t></a:t>
            </a:r>
            <a:r>
              <a:rPr lang="en-US" altLang="zh-CN" dirty="0">
                <a:sym typeface="Wingdings 3" panose="05040102010807070707" pitchFamily="18" charset="2"/>
              </a:rPr>
              <a:t>DEF(</a:t>
            </a:r>
            <a:r>
              <a:rPr lang="en-US" altLang="zh-CN" dirty="0" err="1">
                <a:sym typeface="Wingdings 3" panose="05040102010807070707" pitchFamily="18" charset="2"/>
              </a:rPr>
              <a:t>x.k</a:t>
            </a:r>
            <a:r>
              <a:rPr lang="en-US" altLang="zh-CN" dirty="0">
                <a:sym typeface="Wingdings 3" panose="05040102010807070707" pitchFamily="18" charset="2"/>
              </a:rPr>
              <a:t>)</a:t>
            </a:r>
            <a:r>
              <a:rPr lang="zh-CN" altLang="en-US" dirty="0">
                <a:sym typeface="Wingdings 3" panose="05040102010807070707" pitchFamily="18" charset="2"/>
              </a:rPr>
              <a:t>表示链接器将把模块</a:t>
            </a:r>
            <a:r>
              <a:rPr lang="en-US" altLang="zh-CN" dirty="0" err="1">
                <a:sym typeface="Wingdings 3" panose="05040102010807070707" pitchFamily="18" charset="2"/>
              </a:rPr>
              <a:t>i</a:t>
            </a:r>
            <a:r>
              <a:rPr lang="zh-CN" altLang="en-US" dirty="0">
                <a:sym typeface="Wingdings 3" panose="05040102010807070707" pitchFamily="18" charset="2"/>
              </a:rPr>
              <a:t>中对符号</a:t>
            </a:r>
            <a:r>
              <a:rPr lang="en-US" altLang="zh-CN" dirty="0">
                <a:sym typeface="Wingdings 3" panose="05040102010807070707" pitchFamily="18" charset="2"/>
              </a:rPr>
              <a:t>x</a:t>
            </a:r>
            <a:r>
              <a:rPr lang="zh-CN" altLang="en-US" dirty="0">
                <a:sym typeface="Wingdings 3" panose="05040102010807070707" pitchFamily="18" charset="2"/>
              </a:rPr>
              <a:t>的任意引用与模块</a:t>
            </a:r>
            <a:r>
              <a:rPr lang="en-US" altLang="zh-CN" dirty="0">
                <a:sym typeface="Wingdings 3" panose="05040102010807070707" pitchFamily="18" charset="2"/>
              </a:rPr>
              <a:t>k</a:t>
            </a:r>
            <a:r>
              <a:rPr lang="zh-CN" altLang="en-US" dirty="0">
                <a:sym typeface="Wingdings 3" panose="05040102010807070707" pitchFamily="18" charset="2"/>
              </a:rPr>
              <a:t>中</a:t>
            </a:r>
            <a:r>
              <a:rPr lang="en-US" altLang="zh-CN" dirty="0">
                <a:sym typeface="Wingdings 3" panose="05040102010807070707" pitchFamily="18" charset="2"/>
              </a:rPr>
              <a:t>x</a:t>
            </a:r>
            <a:r>
              <a:rPr lang="zh-CN" altLang="en-US" dirty="0">
                <a:sym typeface="Wingdings 3" panose="05040102010807070707" pitchFamily="18" charset="2"/>
              </a:rPr>
              <a:t>的定义关联起来。分析下例链接器如何解析每个模块中对多重定义符号的引用</a:t>
            </a:r>
            <a:endParaRPr lang="en-US" altLang="zh-CN" dirty="0">
              <a:sym typeface="Wingdings 3" panose="05040102010807070707" pitchFamily="18" charset="2"/>
            </a:endParaRPr>
          </a:p>
          <a:p>
            <a:endParaRPr lang="zh-CN" altLang="en-US" dirty="0"/>
          </a:p>
        </p:txBody>
      </p:sp>
      <p:sp>
        <p:nvSpPr>
          <p:cNvPr id="4" name="灯片编号占位符 3">
            <a:extLst>
              <a:ext uri="{FF2B5EF4-FFF2-40B4-BE49-F238E27FC236}">
                <a16:creationId xmlns:a16="http://schemas.microsoft.com/office/drawing/2014/main" id="{7DD698A1-3E2B-4C3A-98DB-EBA3570C6347}"/>
              </a:ext>
            </a:extLst>
          </p:cNvPr>
          <p:cNvSpPr>
            <a:spLocks noGrp="1"/>
          </p:cNvSpPr>
          <p:nvPr>
            <p:ph type="sldNum" sz="quarter" idx="12"/>
          </p:nvPr>
        </p:nvSpPr>
        <p:spPr/>
        <p:txBody>
          <a:bodyPr/>
          <a:lstStyle/>
          <a:p>
            <a:fld id="{6D62327B-ED8D-4CFC-ADD0-A75FA5CBE281}" type="slidenum">
              <a:rPr lang="zh-CN" altLang="en-US" smtClean="0"/>
              <a:pPr/>
              <a:t>29</a:t>
            </a:fld>
            <a:endParaRPr lang="zh-CN" altLang="en-US" dirty="0"/>
          </a:p>
        </p:txBody>
      </p:sp>
      <p:sp>
        <p:nvSpPr>
          <p:cNvPr id="5" name="Rectangle 3">
            <a:extLst>
              <a:ext uri="{FF2B5EF4-FFF2-40B4-BE49-F238E27FC236}">
                <a16:creationId xmlns:a16="http://schemas.microsoft.com/office/drawing/2014/main" id="{38739573-1638-4A9D-8DC5-07ABB092AB9F}"/>
              </a:ext>
            </a:extLst>
          </p:cNvPr>
          <p:cNvSpPr>
            <a:spLocks noChangeArrowheads="1"/>
          </p:cNvSpPr>
          <p:nvPr/>
        </p:nvSpPr>
        <p:spPr bwMode="auto">
          <a:xfrm>
            <a:off x="971600" y="2269304"/>
            <a:ext cx="1440160" cy="954107"/>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/*module 1*/</a:t>
            </a:r>
          </a:p>
          <a:p>
            <a:r>
              <a:rPr lang="en-US" sz="1400" dirty="0">
                <a:solidFill>
                  <a:schemeClr val="tx1"/>
                </a:solidFill>
                <a:latin typeface="Menlo-Regular"/>
                <a:cs typeface="Courier New"/>
              </a:rPr>
              <a:t>Int main()</a:t>
            </a:r>
          </a:p>
          <a:p>
            <a:r>
              <a:rPr lang="en-US" sz="1400" dirty="0">
                <a:solidFill>
                  <a:schemeClr val="tx1"/>
                </a:solidFill>
                <a:latin typeface="Menlo-Regular"/>
                <a:cs typeface="Courier New"/>
              </a:rPr>
              <a:t>{</a:t>
            </a:r>
          </a:p>
          <a:p>
            <a:r>
              <a:rPr lang="en-US" sz="1400" dirty="0">
                <a:solidFill>
                  <a:schemeClr val="tx1"/>
                </a:solidFill>
                <a:latin typeface="Menlo-Regular"/>
                <a:cs typeface="Courier New"/>
              </a:rPr>
              <a:t>}</a:t>
            </a:r>
            <a:endParaRPr lang="en-US" sz="1400" dirty="0">
              <a:solidFill>
                <a:schemeClr val="tx1"/>
              </a:solidFill>
              <a:latin typeface="Courier New"/>
              <a:cs typeface="Courier New"/>
            </a:endParaRPr>
          </a:p>
        </p:txBody>
      </p:sp>
      <p:sp>
        <p:nvSpPr>
          <p:cNvPr id="6" name="Rectangle 3">
            <a:extLst>
              <a:ext uri="{FF2B5EF4-FFF2-40B4-BE49-F238E27FC236}">
                <a16:creationId xmlns:a16="http://schemas.microsoft.com/office/drawing/2014/main" id="{FAF60DEF-18D2-4882-B259-9BFCF7B12279}"/>
              </a:ext>
            </a:extLst>
          </p:cNvPr>
          <p:cNvSpPr>
            <a:spLocks noChangeArrowheads="1"/>
          </p:cNvSpPr>
          <p:nvPr/>
        </p:nvSpPr>
        <p:spPr bwMode="auto">
          <a:xfrm>
            <a:off x="2939280" y="2161581"/>
            <a:ext cx="1440160"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/*module 2*/</a:t>
            </a:r>
          </a:p>
          <a:p>
            <a:r>
              <a:rPr lang="en-US" sz="1400" dirty="0">
                <a:solidFill>
                  <a:schemeClr val="tx1"/>
                </a:solidFill>
                <a:latin typeface="Menlo-Regular"/>
                <a:cs typeface="Courier New"/>
              </a:rPr>
              <a:t>Int main;</a:t>
            </a:r>
          </a:p>
          <a:p>
            <a:r>
              <a:rPr lang="en-US" sz="1400" dirty="0">
                <a:solidFill>
                  <a:schemeClr val="tx1"/>
                </a:solidFill>
                <a:latin typeface="Menlo-Regular"/>
                <a:cs typeface="Courier New"/>
              </a:rPr>
              <a:t>Int p2()</a:t>
            </a:r>
          </a:p>
          <a:p>
            <a:r>
              <a:rPr lang="en-US" sz="1400" dirty="0">
                <a:solidFill>
                  <a:schemeClr val="tx1"/>
                </a:solidFill>
                <a:latin typeface="Menlo-Regular"/>
                <a:cs typeface="Courier New"/>
              </a:rPr>
              <a:t>{</a:t>
            </a:r>
          </a:p>
          <a:p>
            <a:r>
              <a:rPr lang="en-US" sz="1400" dirty="0">
                <a:solidFill>
                  <a:schemeClr val="tx1"/>
                </a:solidFill>
                <a:latin typeface="Menlo-Regular"/>
                <a:cs typeface="Courier New"/>
              </a:rPr>
              <a:t>}</a:t>
            </a:r>
            <a:endParaRPr lang="en-US" sz="1400" dirty="0">
              <a:solidFill>
                <a:schemeClr val="tx1"/>
              </a:solidFill>
              <a:latin typeface="Courier New"/>
              <a:cs typeface="Courier New"/>
            </a:endParaRPr>
          </a:p>
        </p:txBody>
      </p:sp>
      <p:sp>
        <p:nvSpPr>
          <p:cNvPr id="7" name="TextBox 4">
            <a:extLst>
              <a:ext uri="{FF2B5EF4-FFF2-40B4-BE49-F238E27FC236}">
                <a16:creationId xmlns:a16="http://schemas.microsoft.com/office/drawing/2014/main" id="{3E11B38C-B6B0-46BB-AD59-662AA351554F}"/>
              </a:ext>
            </a:extLst>
          </p:cNvPr>
          <p:cNvSpPr txBox="1"/>
          <p:nvPr/>
        </p:nvSpPr>
        <p:spPr>
          <a:xfrm>
            <a:off x="4668570" y="2207748"/>
            <a:ext cx="3791862" cy="1015663"/>
          </a:xfrm>
          <a:prstGeom prst="rect">
            <a:avLst/>
          </a:prstGeom>
          <a:noFill/>
        </p:spPr>
        <p:txBody>
          <a:bodyPr wrap="square" rtlCol="0">
            <a:spAutoFit/>
          </a:bodyPr>
          <a:lstStyle/>
          <a:p>
            <a:r>
              <a:rPr lang="zh-CN" altLang="en-US" sz="2000" dirty="0">
                <a:latin typeface="Calibri" pitchFamily="34" charset="0"/>
              </a:rPr>
              <a:t>按规则</a:t>
            </a:r>
            <a:r>
              <a:rPr lang="en-US" altLang="zh-CN" sz="2000" dirty="0">
                <a:latin typeface="Calibri" pitchFamily="34" charset="0"/>
              </a:rPr>
              <a:t>2</a:t>
            </a:r>
            <a:r>
              <a:rPr lang="zh-CN" altLang="en-US" sz="2000" dirty="0">
                <a:latin typeface="Calibri" pitchFamily="34" charset="0"/>
              </a:rPr>
              <a:t>，选择模块</a:t>
            </a:r>
            <a:r>
              <a:rPr lang="en-US" altLang="zh-CN" sz="2000" dirty="0">
                <a:latin typeface="Calibri" pitchFamily="34" charset="0"/>
              </a:rPr>
              <a:t>1</a:t>
            </a:r>
            <a:r>
              <a:rPr lang="zh-CN" altLang="en-US" sz="2000" dirty="0">
                <a:latin typeface="Calibri" pitchFamily="34" charset="0"/>
              </a:rPr>
              <a:t>中的强符号</a:t>
            </a:r>
            <a:endParaRPr lang="en-US" sz="2000" dirty="0">
              <a:latin typeface="Calibri" pitchFamily="34" charset="0"/>
            </a:endParaRPr>
          </a:p>
          <a:p>
            <a:pPr marL="457200" indent="-457200">
              <a:buAutoNum type="alphaLcParenBoth"/>
            </a:pPr>
            <a:r>
              <a:rPr lang="en-US" sz="2000" dirty="0">
                <a:latin typeface="Calibri" pitchFamily="34" charset="0"/>
              </a:rPr>
              <a:t>REF(main.1)</a:t>
            </a:r>
            <a:r>
              <a:rPr lang="zh-CN" altLang="en-US" sz="2000" dirty="0">
                <a:sym typeface="Wingdings 3" panose="05040102010807070707" pitchFamily="18" charset="2"/>
              </a:rPr>
              <a:t> </a:t>
            </a:r>
            <a:r>
              <a:rPr lang="en-US" altLang="zh-CN" sz="2000" dirty="0">
                <a:sym typeface="Wingdings 3" panose="05040102010807070707" pitchFamily="18" charset="2"/>
              </a:rPr>
              <a:t>DEF(</a:t>
            </a:r>
            <a:r>
              <a:rPr lang="en-US" altLang="zh-CN" sz="2000" dirty="0">
                <a:solidFill>
                  <a:srgbClr val="FF0000"/>
                </a:solidFill>
                <a:effectLst>
                  <a:outerShdw blurRad="38100" dist="38100" dir="2700000" algn="tl">
                    <a:srgbClr val="000000">
                      <a:alpha val="43137"/>
                    </a:srgbClr>
                  </a:outerShdw>
                </a:effectLst>
                <a:sym typeface="Wingdings 3" panose="05040102010807070707" pitchFamily="18" charset="2"/>
              </a:rPr>
              <a:t>main.1</a:t>
            </a:r>
            <a:r>
              <a:rPr lang="en-US" altLang="zh-CN" sz="2000" dirty="0">
                <a:sym typeface="Wingdings 3" panose="05040102010807070707" pitchFamily="18" charset="2"/>
              </a:rPr>
              <a:t>)</a:t>
            </a:r>
          </a:p>
          <a:p>
            <a:pPr marL="457200" indent="-457200">
              <a:buFontTx/>
              <a:buAutoNum type="alphaLcParenBoth"/>
            </a:pPr>
            <a:r>
              <a:rPr lang="en-US" altLang="zh-CN" sz="2000" dirty="0">
                <a:latin typeface="Calibri" pitchFamily="34" charset="0"/>
              </a:rPr>
              <a:t>REF(main.2)</a:t>
            </a:r>
            <a:r>
              <a:rPr lang="zh-CN" altLang="en-US" sz="2000" dirty="0">
                <a:sym typeface="Wingdings 3" panose="05040102010807070707" pitchFamily="18" charset="2"/>
              </a:rPr>
              <a:t> </a:t>
            </a:r>
            <a:r>
              <a:rPr lang="en-US" altLang="zh-CN" sz="2000" dirty="0">
                <a:sym typeface="Wingdings 3" panose="05040102010807070707" pitchFamily="18" charset="2"/>
              </a:rPr>
              <a:t>DEF(</a:t>
            </a:r>
            <a:r>
              <a:rPr lang="en-US" altLang="zh-CN" sz="2000" dirty="0">
                <a:solidFill>
                  <a:srgbClr val="FF0000"/>
                </a:solidFill>
                <a:effectLst>
                  <a:outerShdw blurRad="38100" dist="38100" dir="2700000" algn="tl">
                    <a:srgbClr val="000000">
                      <a:alpha val="43137"/>
                    </a:srgbClr>
                  </a:outerShdw>
                </a:effectLst>
                <a:sym typeface="Wingdings 3" panose="05040102010807070707" pitchFamily="18" charset="2"/>
              </a:rPr>
              <a:t>main.1</a:t>
            </a:r>
            <a:r>
              <a:rPr lang="en-US" altLang="zh-CN" sz="2000" dirty="0">
                <a:sym typeface="Wingdings 3" panose="05040102010807070707" pitchFamily="18" charset="2"/>
              </a:rPr>
              <a:t>)</a:t>
            </a:r>
            <a:endParaRPr lang="en-US" sz="2000" dirty="0">
              <a:latin typeface="Calibri" pitchFamily="34" charset="0"/>
            </a:endParaRPr>
          </a:p>
        </p:txBody>
      </p:sp>
      <p:sp>
        <p:nvSpPr>
          <p:cNvPr id="8" name="矩形 7">
            <a:extLst>
              <a:ext uri="{FF2B5EF4-FFF2-40B4-BE49-F238E27FC236}">
                <a16:creationId xmlns:a16="http://schemas.microsoft.com/office/drawing/2014/main" id="{1C4F60FE-2245-4670-B399-9D33F1851AF1}"/>
              </a:ext>
            </a:extLst>
          </p:cNvPr>
          <p:cNvSpPr/>
          <p:nvPr/>
        </p:nvSpPr>
        <p:spPr>
          <a:xfrm>
            <a:off x="249848" y="2561690"/>
            <a:ext cx="376770" cy="369332"/>
          </a:xfrm>
          <a:prstGeom prst="rect">
            <a:avLst/>
          </a:prstGeom>
        </p:spPr>
        <p:txBody>
          <a:bodyPr wrap="none">
            <a:spAutoFit/>
          </a:bodyPr>
          <a:lstStyle/>
          <a:p>
            <a:r>
              <a:rPr lang="en-US" altLang="zh-CN" dirty="0">
                <a:sym typeface="Wingdings 3" panose="05040102010807070707" pitchFamily="18" charset="2"/>
              </a:rPr>
              <a:t>A.</a:t>
            </a:r>
            <a:endParaRPr lang="zh-CN" altLang="en-US" dirty="0"/>
          </a:p>
        </p:txBody>
      </p:sp>
      <p:sp>
        <p:nvSpPr>
          <p:cNvPr id="9" name="Rectangle 3">
            <a:extLst>
              <a:ext uri="{FF2B5EF4-FFF2-40B4-BE49-F238E27FC236}">
                <a16:creationId xmlns:a16="http://schemas.microsoft.com/office/drawing/2014/main" id="{F2055190-B355-4EF2-894E-7BB0EB2F37E2}"/>
              </a:ext>
            </a:extLst>
          </p:cNvPr>
          <p:cNvSpPr>
            <a:spLocks noChangeArrowheads="1"/>
          </p:cNvSpPr>
          <p:nvPr/>
        </p:nvSpPr>
        <p:spPr bwMode="auto">
          <a:xfrm>
            <a:off x="971600" y="3743220"/>
            <a:ext cx="1440160" cy="954107"/>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/*module 1*/</a:t>
            </a:r>
          </a:p>
          <a:p>
            <a:r>
              <a:rPr lang="en-US" sz="1400" dirty="0">
                <a:solidFill>
                  <a:schemeClr val="tx1"/>
                </a:solidFill>
                <a:latin typeface="Menlo-Regular"/>
                <a:cs typeface="Courier New"/>
              </a:rPr>
              <a:t>void main()</a:t>
            </a:r>
          </a:p>
          <a:p>
            <a:r>
              <a:rPr lang="en-US" sz="1400" dirty="0">
                <a:solidFill>
                  <a:schemeClr val="tx1"/>
                </a:solidFill>
                <a:latin typeface="Menlo-Regular"/>
                <a:cs typeface="Courier New"/>
              </a:rPr>
              <a:t>{</a:t>
            </a:r>
          </a:p>
          <a:p>
            <a:r>
              <a:rPr lang="en-US" sz="1400" dirty="0">
                <a:solidFill>
                  <a:schemeClr val="tx1"/>
                </a:solidFill>
                <a:latin typeface="Menlo-Regular"/>
                <a:cs typeface="Courier New"/>
              </a:rPr>
              <a:t>}</a:t>
            </a:r>
            <a:endParaRPr lang="en-US" sz="1400" dirty="0">
              <a:solidFill>
                <a:schemeClr val="tx1"/>
              </a:solidFill>
              <a:latin typeface="Courier New"/>
              <a:cs typeface="Courier New"/>
            </a:endParaRPr>
          </a:p>
        </p:txBody>
      </p:sp>
      <p:sp>
        <p:nvSpPr>
          <p:cNvPr id="10" name="Rectangle 3">
            <a:extLst>
              <a:ext uri="{FF2B5EF4-FFF2-40B4-BE49-F238E27FC236}">
                <a16:creationId xmlns:a16="http://schemas.microsoft.com/office/drawing/2014/main" id="{77CE2A7F-6619-4256-8BDE-03F1FD62ECD6}"/>
              </a:ext>
            </a:extLst>
          </p:cNvPr>
          <p:cNvSpPr>
            <a:spLocks noChangeArrowheads="1"/>
          </p:cNvSpPr>
          <p:nvPr/>
        </p:nvSpPr>
        <p:spPr bwMode="auto">
          <a:xfrm>
            <a:off x="2939280" y="3635497"/>
            <a:ext cx="1440160"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/*module 2*/</a:t>
            </a:r>
          </a:p>
          <a:p>
            <a:r>
              <a:rPr lang="en-US" sz="1400" dirty="0">
                <a:solidFill>
                  <a:schemeClr val="tx1"/>
                </a:solidFill>
                <a:latin typeface="Menlo-Regular"/>
                <a:cs typeface="Courier New"/>
              </a:rPr>
              <a:t>Int main=1;</a:t>
            </a:r>
          </a:p>
          <a:p>
            <a:r>
              <a:rPr lang="en-US" sz="1400" dirty="0">
                <a:solidFill>
                  <a:schemeClr val="tx1"/>
                </a:solidFill>
                <a:latin typeface="Menlo-Regular"/>
                <a:cs typeface="Courier New"/>
              </a:rPr>
              <a:t>Int p2()</a:t>
            </a:r>
          </a:p>
          <a:p>
            <a:r>
              <a:rPr lang="en-US" sz="1400" dirty="0">
                <a:solidFill>
                  <a:schemeClr val="tx1"/>
                </a:solidFill>
                <a:latin typeface="Menlo-Regular"/>
                <a:cs typeface="Courier New"/>
              </a:rPr>
              <a:t>{</a:t>
            </a:r>
          </a:p>
          <a:p>
            <a:r>
              <a:rPr lang="en-US" sz="1400" dirty="0">
                <a:solidFill>
                  <a:schemeClr val="tx1"/>
                </a:solidFill>
                <a:latin typeface="Menlo-Regular"/>
                <a:cs typeface="Courier New"/>
              </a:rPr>
              <a:t>}</a:t>
            </a:r>
            <a:endParaRPr lang="en-US" sz="1400" dirty="0">
              <a:solidFill>
                <a:schemeClr val="tx1"/>
              </a:solidFill>
              <a:latin typeface="Courier New"/>
              <a:cs typeface="Courier New"/>
            </a:endParaRPr>
          </a:p>
        </p:txBody>
      </p:sp>
      <p:sp>
        <p:nvSpPr>
          <p:cNvPr id="11" name="TextBox 4">
            <a:extLst>
              <a:ext uri="{FF2B5EF4-FFF2-40B4-BE49-F238E27FC236}">
                <a16:creationId xmlns:a16="http://schemas.microsoft.com/office/drawing/2014/main" id="{D3AD0CDF-2549-4B6E-99E0-883A1E5DE07E}"/>
              </a:ext>
            </a:extLst>
          </p:cNvPr>
          <p:cNvSpPr txBox="1"/>
          <p:nvPr/>
        </p:nvSpPr>
        <p:spPr>
          <a:xfrm>
            <a:off x="4668570" y="3513704"/>
            <a:ext cx="3616858" cy="1323439"/>
          </a:xfrm>
          <a:prstGeom prst="rect">
            <a:avLst/>
          </a:prstGeom>
          <a:noFill/>
        </p:spPr>
        <p:txBody>
          <a:bodyPr wrap="square" rtlCol="0">
            <a:spAutoFit/>
          </a:bodyPr>
          <a:lstStyle/>
          <a:p>
            <a:r>
              <a:rPr lang="zh-CN" altLang="en-US" sz="2000" dirty="0">
                <a:latin typeface="Calibri" pitchFamily="34" charset="0"/>
              </a:rPr>
              <a:t>错误，违反规则</a:t>
            </a:r>
            <a:r>
              <a:rPr lang="en-US" altLang="zh-CN" sz="2000" dirty="0">
                <a:latin typeface="Calibri" pitchFamily="34" charset="0"/>
              </a:rPr>
              <a:t>1</a:t>
            </a:r>
            <a:r>
              <a:rPr lang="zh-CN" altLang="en-US" sz="2000" dirty="0">
                <a:latin typeface="Calibri" pitchFamily="34" charset="0"/>
              </a:rPr>
              <a:t>，每个模块都定义了一个强符号</a:t>
            </a:r>
            <a:endParaRPr lang="en-US" sz="2000" dirty="0">
              <a:latin typeface="Calibri" pitchFamily="34" charset="0"/>
            </a:endParaRPr>
          </a:p>
          <a:p>
            <a:pPr marL="457200" indent="-457200">
              <a:buAutoNum type="alphaLcParenBoth"/>
            </a:pPr>
            <a:r>
              <a:rPr lang="en-US" sz="2000" dirty="0">
                <a:latin typeface="Calibri" pitchFamily="34" charset="0"/>
              </a:rPr>
              <a:t>REF(main.1)</a:t>
            </a:r>
            <a:r>
              <a:rPr lang="zh-CN" altLang="en-US" sz="2000" dirty="0">
                <a:sym typeface="Wingdings 3" panose="05040102010807070707" pitchFamily="18" charset="2"/>
              </a:rPr>
              <a:t> </a:t>
            </a:r>
            <a:r>
              <a:rPr lang="en-US" altLang="zh-CN" sz="2000" dirty="0">
                <a:sym typeface="Wingdings 3" panose="05040102010807070707" pitchFamily="18" charset="2"/>
              </a:rPr>
              <a:t>DEF(     ,     )</a:t>
            </a:r>
          </a:p>
          <a:p>
            <a:pPr marL="457200" indent="-457200">
              <a:buFontTx/>
              <a:buAutoNum type="alphaLcParenBoth"/>
            </a:pPr>
            <a:r>
              <a:rPr lang="en-US" altLang="zh-CN" sz="2000" dirty="0">
                <a:latin typeface="Calibri" pitchFamily="34" charset="0"/>
              </a:rPr>
              <a:t>REF(main.2)</a:t>
            </a:r>
            <a:r>
              <a:rPr lang="zh-CN" altLang="en-US" sz="2000" dirty="0">
                <a:sym typeface="Wingdings 3" panose="05040102010807070707" pitchFamily="18" charset="2"/>
              </a:rPr>
              <a:t> </a:t>
            </a:r>
            <a:r>
              <a:rPr lang="en-US" altLang="zh-CN" sz="2000" dirty="0">
                <a:sym typeface="Wingdings 3" panose="05040102010807070707" pitchFamily="18" charset="2"/>
              </a:rPr>
              <a:t>DEF(     ,     )</a:t>
            </a:r>
            <a:endParaRPr lang="en-US" sz="2000" dirty="0">
              <a:latin typeface="Calibri" pitchFamily="34" charset="0"/>
            </a:endParaRPr>
          </a:p>
        </p:txBody>
      </p:sp>
      <p:sp>
        <p:nvSpPr>
          <p:cNvPr id="12" name="矩形 11">
            <a:extLst>
              <a:ext uri="{FF2B5EF4-FFF2-40B4-BE49-F238E27FC236}">
                <a16:creationId xmlns:a16="http://schemas.microsoft.com/office/drawing/2014/main" id="{4A809838-DB3D-48AE-9910-9665446685C4}"/>
              </a:ext>
            </a:extLst>
          </p:cNvPr>
          <p:cNvSpPr/>
          <p:nvPr/>
        </p:nvSpPr>
        <p:spPr>
          <a:xfrm>
            <a:off x="249848" y="4035606"/>
            <a:ext cx="376770" cy="369332"/>
          </a:xfrm>
          <a:prstGeom prst="rect">
            <a:avLst/>
          </a:prstGeom>
        </p:spPr>
        <p:txBody>
          <a:bodyPr wrap="none">
            <a:spAutoFit/>
          </a:bodyPr>
          <a:lstStyle/>
          <a:p>
            <a:r>
              <a:rPr lang="en-US" altLang="zh-CN" dirty="0">
                <a:sym typeface="Wingdings 3" panose="05040102010807070707" pitchFamily="18" charset="2"/>
              </a:rPr>
              <a:t>B.</a:t>
            </a:r>
            <a:endParaRPr lang="zh-CN" altLang="en-US" dirty="0"/>
          </a:p>
        </p:txBody>
      </p:sp>
      <p:sp>
        <p:nvSpPr>
          <p:cNvPr id="13" name="Rectangle 3">
            <a:extLst>
              <a:ext uri="{FF2B5EF4-FFF2-40B4-BE49-F238E27FC236}">
                <a16:creationId xmlns:a16="http://schemas.microsoft.com/office/drawing/2014/main" id="{DCCFC9B5-1FE0-4549-86BD-992EB6098E4D}"/>
              </a:ext>
            </a:extLst>
          </p:cNvPr>
          <p:cNvSpPr>
            <a:spLocks noChangeArrowheads="1"/>
          </p:cNvSpPr>
          <p:nvPr/>
        </p:nvSpPr>
        <p:spPr bwMode="auto">
          <a:xfrm>
            <a:off x="875030" y="5053567"/>
            <a:ext cx="1440160"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/*module 1*/</a:t>
            </a:r>
          </a:p>
          <a:p>
            <a:r>
              <a:rPr lang="en-US" sz="1400" dirty="0">
                <a:solidFill>
                  <a:schemeClr val="tx1"/>
                </a:solidFill>
                <a:latin typeface="Menlo-Regular"/>
                <a:cs typeface="Courier New"/>
              </a:rPr>
              <a:t>Int x;</a:t>
            </a:r>
          </a:p>
          <a:p>
            <a:r>
              <a:rPr lang="en-US" sz="1400" dirty="0">
                <a:solidFill>
                  <a:schemeClr val="tx1"/>
                </a:solidFill>
                <a:latin typeface="Menlo-Regular"/>
                <a:cs typeface="Courier New"/>
              </a:rPr>
              <a:t>Void main()</a:t>
            </a:r>
          </a:p>
          <a:p>
            <a:r>
              <a:rPr lang="en-US" sz="1400" dirty="0">
                <a:solidFill>
                  <a:schemeClr val="tx1"/>
                </a:solidFill>
                <a:latin typeface="Menlo-Regular"/>
                <a:cs typeface="Courier New"/>
              </a:rPr>
              <a:t>{</a:t>
            </a:r>
          </a:p>
          <a:p>
            <a:r>
              <a:rPr lang="en-US" sz="1400" dirty="0">
                <a:solidFill>
                  <a:schemeClr val="tx1"/>
                </a:solidFill>
                <a:latin typeface="Menlo-Regular"/>
                <a:cs typeface="Courier New"/>
              </a:rPr>
              <a:t>}</a:t>
            </a:r>
            <a:endParaRPr lang="en-US" sz="1400" dirty="0">
              <a:solidFill>
                <a:schemeClr val="tx1"/>
              </a:solidFill>
              <a:latin typeface="Courier New"/>
              <a:cs typeface="Courier New"/>
            </a:endParaRPr>
          </a:p>
        </p:txBody>
      </p:sp>
      <p:sp>
        <p:nvSpPr>
          <p:cNvPr id="14" name="Rectangle 3">
            <a:extLst>
              <a:ext uri="{FF2B5EF4-FFF2-40B4-BE49-F238E27FC236}">
                <a16:creationId xmlns:a16="http://schemas.microsoft.com/office/drawing/2014/main" id="{26EA419E-BAA2-4D28-AE89-60F21E084F32}"/>
              </a:ext>
            </a:extLst>
          </p:cNvPr>
          <p:cNvSpPr>
            <a:spLocks noChangeArrowheads="1"/>
          </p:cNvSpPr>
          <p:nvPr/>
        </p:nvSpPr>
        <p:spPr bwMode="auto">
          <a:xfrm>
            <a:off x="2842710" y="5053566"/>
            <a:ext cx="1440160" cy="1169551"/>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/*module 2*/</a:t>
            </a:r>
          </a:p>
          <a:p>
            <a:r>
              <a:rPr lang="en-US" sz="1400" dirty="0">
                <a:solidFill>
                  <a:schemeClr val="tx1"/>
                </a:solidFill>
                <a:latin typeface="Menlo-Regular"/>
                <a:cs typeface="Courier New"/>
              </a:rPr>
              <a:t>Double x=1.0;</a:t>
            </a:r>
          </a:p>
          <a:p>
            <a:r>
              <a:rPr lang="en-US" sz="1400" dirty="0">
                <a:solidFill>
                  <a:schemeClr val="tx1"/>
                </a:solidFill>
                <a:latin typeface="Menlo-Regular"/>
                <a:cs typeface="Courier New"/>
              </a:rPr>
              <a:t>Int p2()</a:t>
            </a:r>
          </a:p>
          <a:p>
            <a:r>
              <a:rPr lang="en-US" sz="1400" dirty="0">
                <a:solidFill>
                  <a:schemeClr val="tx1"/>
                </a:solidFill>
                <a:latin typeface="Menlo-Regular"/>
                <a:cs typeface="Courier New"/>
              </a:rPr>
              <a:t>{</a:t>
            </a:r>
          </a:p>
          <a:p>
            <a:r>
              <a:rPr lang="en-US" sz="1400" dirty="0">
                <a:solidFill>
                  <a:schemeClr val="tx1"/>
                </a:solidFill>
                <a:latin typeface="Menlo-Regular"/>
                <a:cs typeface="Courier New"/>
              </a:rPr>
              <a:t>}</a:t>
            </a:r>
            <a:endParaRPr lang="en-US" sz="1400" dirty="0">
              <a:solidFill>
                <a:schemeClr val="tx1"/>
              </a:solidFill>
              <a:latin typeface="Courier New"/>
              <a:cs typeface="Courier New"/>
            </a:endParaRPr>
          </a:p>
        </p:txBody>
      </p:sp>
      <p:sp>
        <p:nvSpPr>
          <p:cNvPr id="15" name="TextBox 4">
            <a:extLst>
              <a:ext uri="{FF2B5EF4-FFF2-40B4-BE49-F238E27FC236}">
                <a16:creationId xmlns:a16="http://schemas.microsoft.com/office/drawing/2014/main" id="{2D56C4CB-FE58-43EC-9F74-AD21F76179CB}"/>
              </a:ext>
            </a:extLst>
          </p:cNvPr>
          <p:cNvSpPr txBox="1"/>
          <p:nvPr/>
        </p:nvSpPr>
        <p:spPr>
          <a:xfrm>
            <a:off x="4602689" y="5093438"/>
            <a:ext cx="3902460" cy="1015663"/>
          </a:xfrm>
          <a:prstGeom prst="rect">
            <a:avLst/>
          </a:prstGeom>
          <a:noFill/>
        </p:spPr>
        <p:txBody>
          <a:bodyPr wrap="square" rtlCol="0">
            <a:spAutoFit/>
          </a:bodyPr>
          <a:lstStyle/>
          <a:p>
            <a:r>
              <a:rPr lang="zh-CN" altLang="en-US" sz="2000" dirty="0">
                <a:latin typeface="Calibri" pitchFamily="34" charset="0"/>
              </a:rPr>
              <a:t>按规则</a:t>
            </a:r>
            <a:r>
              <a:rPr lang="en-US" altLang="zh-CN" sz="2000" dirty="0">
                <a:latin typeface="Calibri" pitchFamily="34" charset="0"/>
              </a:rPr>
              <a:t>2</a:t>
            </a:r>
            <a:r>
              <a:rPr lang="zh-CN" altLang="en-US" sz="2000" dirty="0">
                <a:latin typeface="Calibri" pitchFamily="34" charset="0"/>
              </a:rPr>
              <a:t>，选择模块</a:t>
            </a:r>
            <a:r>
              <a:rPr lang="en-US" altLang="zh-CN" sz="2000" dirty="0">
                <a:latin typeface="Calibri" pitchFamily="34" charset="0"/>
              </a:rPr>
              <a:t>2</a:t>
            </a:r>
            <a:r>
              <a:rPr lang="zh-CN" altLang="en-US" sz="2000" dirty="0">
                <a:latin typeface="Calibri" pitchFamily="34" charset="0"/>
              </a:rPr>
              <a:t>中的强符号</a:t>
            </a:r>
            <a:endParaRPr lang="en-US" sz="2000" dirty="0">
              <a:latin typeface="Calibri" pitchFamily="34" charset="0"/>
            </a:endParaRPr>
          </a:p>
          <a:p>
            <a:pPr marL="457200" indent="-457200">
              <a:buAutoNum type="alphaLcParenBoth"/>
            </a:pPr>
            <a:r>
              <a:rPr lang="en-US" sz="2000" dirty="0">
                <a:latin typeface="Calibri" pitchFamily="34" charset="0"/>
              </a:rPr>
              <a:t>REF(x.1)</a:t>
            </a:r>
            <a:r>
              <a:rPr lang="zh-CN" altLang="en-US" sz="2000" dirty="0">
                <a:sym typeface="Wingdings 3" panose="05040102010807070707" pitchFamily="18" charset="2"/>
              </a:rPr>
              <a:t> </a:t>
            </a:r>
            <a:r>
              <a:rPr lang="en-US" altLang="zh-CN" sz="2000" dirty="0">
                <a:sym typeface="Wingdings 3" panose="05040102010807070707" pitchFamily="18" charset="2"/>
              </a:rPr>
              <a:t>DEF(</a:t>
            </a:r>
            <a:r>
              <a:rPr lang="en-US" altLang="zh-CN" sz="2000" dirty="0">
                <a:solidFill>
                  <a:srgbClr val="FF0000"/>
                </a:solidFill>
                <a:effectLst>
                  <a:outerShdw blurRad="38100" dist="38100" dir="2700000" algn="tl">
                    <a:srgbClr val="000000">
                      <a:alpha val="43137"/>
                    </a:srgbClr>
                  </a:outerShdw>
                </a:effectLst>
                <a:sym typeface="Wingdings 3" panose="05040102010807070707" pitchFamily="18" charset="2"/>
              </a:rPr>
              <a:t>x.2</a:t>
            </a:r>
            <a:r>
              <a:rPr lang="en-US" altLang="zh-CN" sz="2000" dirty="0">
                <a:sym typeface="Wingdings 3" panose="05040102010807070707" pitchFamily="18" charset="2"/>
              </a:rPr>
              <a:t>)</a:t>
            </a:r>
          </a:p>
          <a:p>
            <a:pPr marL="457200" indent="-457200">
              <a:buFontTx/>
              <a:buAutoNum type="alphaLcParenBoth"/>
            </a:pPr>
            <a:r>
              <a:rPr lang="en-US" altLang="zh-CN" sz="2000" dirty="0">
                <a:latin typeface="Calibri" pitchFamily="34" charset="0"/>
              </a:rPr>
              <a:t>REF(x.2)</a:t>
            </a:r>
            <a:r>
              <a:rPr lang="zh-CN" altLang="en-US" sz="2000" dirty="0">
                <a:sym typeface="Wingdings 3" panose="05040102010807070707" pitchFamily="18" charset="2"/>
              </a:rPr>
              <a:t> </a:t>
            </a:r>
            <a:r>
              <a:rPr lang="en-US" altLang="zh-CN" sz="2000">
                <a:sym typeface="Wingdings 3" panose="05040102010807070707" pitchFamily="18" charset="2"/>
              </a:rPr>
              <a:t>DEF(</a:t>
            </a:r>
            <a:r>
              <a:rPr lang="en-US" altLang="zh-CN" sz="2000">
                <a:solidFill>
                  <a:srgbClr val="FF0000"/>
                </a:solidFill>
                <a:effectLst>
                  <a:outerShdw blurRad="38100" dist="38100" dir="2700000" algn="tl">
                    <a:srgbClr val="000000">
                      <a:alpha val="43137"/>
                    </a:srgbClr>
                  </a:outerShdw>
                </a:effectLst>
                <a:sym typeface="Wingdings 3" panose="05040102010807070707" pitchFamily="18" charset="2"/>
              </a:rPr>
              <a:t>x.2</a:t>
            </a:r>
            <a:r>
              <a:rPr lang="en-US" altLang="zh-CN" sz="2000" dirty="0">
                <a:sym typeface="Wingdings 3" panose="05040102010807070707" pitchFamily="18" charset="2"/>
              </a:rPr>
              <a:t>)</a:t>
            </a:r>
            <a:endParaRPr lang="en-US" sz="2000" dirty="0">
              <a:latin typeface="Calibri" pitchFamily="34" charset="0"/>
            </a:endParaRPr>
          </a:p>
        </p:txBody>
      </p:sp>
      <p:sp>
        <p:nvSpPr>
          <p:cNvPr id="16" name="矩形 15">
            <a:extLst>
              <a:ext uri="{FF2B5EF4-FFF2-40B4-BE49-F238E27FC236}">
                <a16:creationId xmlns:a16="http://schemas.microsoft.com/office/drawing/2014/main" id="{86B3F8EE-F326-470D-B375-4403E26A85AB}"/>
              </a:ext>
            </a:extLst>
          </p:cNvPr>
          <p:cNvSpPr/>
          <p:nvPr/>
        </p:nvSpPr>
        <p:spPr>
          <a:xfrm>
            <a:off x="153278" y="5453675"/>
            <a:ext cx="376770" cy="369332"/>
          </a:xfrm>
          <a:prstGeom prst="rect">
            <a:avLst/>
          </a:prstGeom>
        </p:spPr>
        <p:txBody>
          <a:bodyPr wrap="none">
            <a:spAutoFit/>
          </a:bodyPr>
          <a:lstStyle/>
          <a:p>
            <a:r>
              <a:rPr lang="en-US" altLang="zh-CN" dirty="0">
                <a:sym typeface="Wingdings 3" panose="05040102010807070707" pitchFamily="18" charset="2"/>
              </a:rPr>
              <a:t>C.</a:t>
            </a:r>
            <a:endParaRPr lang="zh-CN" altLang="en-US" dirty="0"/>
          </a:p>
        </p:txBody>
      </p:sp>
    </p:spTree>
    <p:extLst>
      <p:ext uri="{BB962C8B-B14F-4D97-AF65-F5344CB8AC3E}">
        <p14:creationId xmlns:p14="http://schemas.microsoft.com/office/powerpoint/2010/main" val="2895870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C1F5C7-D334-497E-8C08-6A6D0BB5FB88}"/>
              </a:ext>
            </a:extLst>
          </p:cNvPr>
          <p:cNvSpPr>
            <a:spLocks noGrp="1"/>
          </p:cNvSpPr>
          <p:nvPr>
            <p:ph type="title"/>
          </p:nvPr>
        </p:nvSpPr>
        <p:spPr/>
        <p:txBody>
          <a:bodyPr>
            <a:normAutofit fontScale="90000"/>
          </a:bodyPr>
          <a:lstStyle/>
          <a:p>
            <a:r>
              <a:rPr lang="en-US" altLang="zh-CN" dirty="0"/>
              <a:t>7.6.2 </a:t>
            </a:r>
            <a:r>
              <a:rPr lang="zh-CN" altLang="en-US" dirty="0"/>
              <a:t>与静态库链接</a:t>
            </a:r>
          </a:p>
        </p:txBody>
      </p:sp>
      <p:sp>
        <p:nvSpPr>
          <p:cNvPr id="3" name="内容占位符 2">
            <a:extLst>
              <a:ext uri="{FF2B5EF4-FFF2-40B4-BE49-F238E27FC236}">
                <a16:creationId xmlns:a16="http://schemas.microsoft.com/office/drawing/2014/main" id="{A981A4B9-FB48-4073-B6C5-0F2952FDA2C0}"/>
              </a:ext>
            </a:extLst>
          </p:cNvPr>
          <p:cNvSpPr>
            <a:spLocks noGrp="1"/>
          </p:cNvSpPr>
          <p:nvPr>
            <p:ph idx="1"/>
          </p:nvPr>
        </p:nvSpPr>
        <p:spPr/>
        <p:txBody>
          <a:bodyPr>
            <a:normAutofit lnSpcReduction="10000"/>
          </a:bodyPr>
          <a:lstStyle/>
          <a:p>
            <a:r>
              <a:rPr lang="zh-CN" altLang="en-US" dirty="0"/>
              <a:t>静态库</a:t>
            </a:r>
            <a:r>
              <a:rPr lang="en-US" altLang="zh-CN" dirty="0"/>
              <a:t>(static library)</a:t>
            </a:r>
            <a:r>
              <a:rPr lang="zh-CN" altLang="en-US" dirty="0"/>
              <a:t>：编译系统将所有相关的目标模块打包成为一个单独的文件</a:t>
            </a:r>
            <a:endParaRPr lang="en-US" altLang="zh-CN" dirty="0"/>
          </a:p>
          <a:p>
            <a:pPr lvl="1"/>
            <a:r>
              <a:rPr lang="zh-CN" altLang="en-US" dirty="0"/>
              <a:t>用做链接器的输入</a:t>
            </a:r>
            <a:endParaRPr lang="en-US" altLang="zh-CN" dirty="0"/>
          </a:p>
          <a:p>
            <a:pPr lvl="1"/>
            <a:r>
              <a:rPr lang="zh-CN" altLang="en-US" dirty="0"/>
              <a:t>当链接器构造一个输出的可执行文件时，只复制静态库里被应用程序引用的目标模块</a:t>
            </a:r>
            <a:endParaRPr lang="en-US" altLang="zh-CN" dirty="0"/>
          </a:p>
          <a:p>
            <a:r>
              <a:rPr lang="zh-CN" altLang="en-US" dirty="0"/>
              <a:t>静态库主要解决标准</a:t>
            </a:r>
            <a:r>
              <a:rPr lang="en-US" altLang="zh-CN" dirty="0"/>
              <a:t>C</a:t>
            </a:r>
            <a:r>
              <a:rPr lang="zh-CN" altLang="en-US" dirty="0"/>
              <a:t>函数模块链接到目标可执行文件的复本代价和标准函数更新问题</a:t>
            </a:r>
            <a:endParaRPr lang="en-US" altLang="zh-CN" dirty="0"/>
          </a:p>
          <a:p>
            <a:r>
              <a:rPr lang="zh-CN" altLang="en-US" dirty="0"/>
              <a:t>静态库工作原理：</a:t>
            </a:r>
            <a:endParaRPr lang="en-US" altLang="zh-CN" dirty="0"/>
          </a:p>
          <a:p>
            <a:pPr lvl="1"/>
            <a:r>
              <a:rPr lang="zh-CN" altLang="en-US" dirty="0"/>
              <a:t>相关函数被编译为独立的目标模块，然后封装成一个单独的静态库文件</a:t>
            </a:r>
            <a:endParaRPr lang="en-US" altLang="zh-CN" dirty="0"/>
          </a:p>
          <a:p>
            <a:pPr lvl="1"/>
            <a:r>
              <a:rPr lang="zh-CN" altLang="en-US" dirty="0"/>
              <a:t>应用程序可以通过在命令行上指定单独的文件名字来使用这些在库中定义的函数</a:t>
            </a:r>
            <a:endParaRPr lang="en-US" altLang="zh-CN" dirty="0"/>
          </a:p>
          <a:p>
            <a:pPr lvl="1"/>
            <a:r>
              <a:rPr lang="en-US" altLang="zh-CN" dirty="0"/>
              <a:t>Linux</a:t>
            </a:r>
            <a:r>
              <a:rPr lang="zh-CN" altLang="en-US" dirty="0"/>
              <a:t>系统中，静态库以一种文档</a:t>
            </a:r>
            <a:r>
              <a:rPr lang="en-US" altLang="zh-CN" dirty="0"/>
              <a:t>(archive)</a:t>
            </a:r>
            <a:r>
              <a:rPr lang="zh-CN" altLang="en-US" dirty="0"/>
              <a:t>文件格式存放在磁盘中，存档文件是一组连接起来的可重定位目标集合，有一个头部用来描述每个成员大小和位置，文件后缀为</a:t>
            </a:r>
            <a:r>
              <a:rPr lang="en-US" altLang="zh-CN" dirty="0"/>
              <a:t>.a</a:t>
            </a:r>
            <a:endParaRPr lang="zh-CN" altLang="en-US" dirty="0"/>
          </a:p>
        </p:txBody>
      </p:sp>
      <p:sp>
        <p:nvSpPr>
          <p:cNvPr id="4" name="灯片编号占位符 3">
            <a:extLst>
              <a:ext uri="{FF2B5EF4-FFF2-40B4-BE49-F238E27FC236}">
                <a16:creationId xmlns:a16="http://schemas.microsoft.com/office/drawing/2014/main" id="{7F8D640C-4CF5-4F5D-838E-A7777773DC62}"/>
              </a:ext>
            </a:extLst>
          </p:cNvPr>
          <p:cNvSpPr>
            <a:spLocks noGrp="1"/>
          </p:cNvSpPr>
          <p:nvPr>
            <p:ph type="sldNum" sz="quarter" idx="12"/>
          </p:nvPr>
        </p:nvSpPr>
        <p:spPr/>
        <p:txBody>
          <a:bodyPr/>
          <a:lstStyle/>
          <a:p>
            <a:fld id="{6D62327B-ED8D-4CFC-ADD0-A75FA5CBE281}" type="slidenum">
              <a:rPr lang="zh-CN" altLang="en-US" smtClean="0"/>
              <a:pPr/>
              <a:t>30</a:t>
            </a:fld>
            <a:endParaRPr lang="zh-CN" altLang="en-US" dirty="0"/>
          </a:p>
        </p:txBody>
      </p:sp>
    </p:spTree>
    <p:extLst>
      <p:ext uri="{BB962C8B-B14F-4D97-AF65-F5344CB8AC3E}">
        <p14:creationId xmlns:p14="http://schemas.microsoft.com/office/powerpoint/2010/main" val="2393290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B5D72-0D85-45DF-9C04-3B3F8BC4458B}"/>
              </a:ext>
            </a:extLst>
          </p:cNvPr>
          <p:cNvSpPr>
            <a:spLocks noGrp="1"/>
          </p:cNvSpPr>
          <p:nvPr>
            <p:ph type="title"/>
          </p:nvPr>
        </p:nvSpPr>
        <p:spPr/>
        <p:txBody>
          <a:bodyPr>
            <a:normAutofit fontScale="90000"/>
          </a:bodyPr>
          <a:lstStyle/>
          <a:p>
            <a:r>
              <a:rPr lang="zh-CN" altLang="en-US" dirty="0"/>
              <a:t>静态库示例</a:t>
            </a:r>
          </a:p>
        </p:txBody>
      </p:sp>
      <p:sp>
        <p:nvSpPr>
          <p:cNvPr id="4" name="灯片编号占位符 3">
            <a:extLst>
              <a:ext uri="{FF2B5EF4-FFF2-40B4-BE49-F238E27FC236}">
                <a16:creationId xmlns:a16="http://schemas.microsoft.com/office/drawing/2014/main" id="{D7F6BBC8-BB82-469D-A0E4-3CF0636CB210}"/>
              </a:ext>
            </a:extLst>
          </p:cNvPr>
          <p:cNvSpPr>
            <a:spLocks noGrp="1"/>
          </p:cNvSpPr>
          <p:nvPr>
            <p:ph type="sldNum" sz="quarter" idx="12"/>
          </p:nvPr>
        </p:nvSpPr>
        <p:spPr/>
        <p:txBody>
          <a:bodyPr/>
          <a:lstStyle/>
          <a:p>
            <a:fld id="{6D62327B-ED8D-4CFC-ADD0-A75FA5CBE281}" type="slidenum">
              <a:rPr lang="zh-CN" altLang="en-US" smtClean="0"/>
              <a:pPr/>
              <a:t>31</a:t>
            </a:fld>
            <a:endParaRPr lang="zh-CN" altLang="en-US" dirty="0"/>
          </a:p>
        </p:txBody>
      </p:sp>
      <p:sp>
        <p:nvSpPr>
          <p:cNvPr id="5" name="Rectangle 2">
            <a:extLst>
              <a:ext uri="{FF2B5EF4-FFF2-40B4-BE49-F238E27FC236}">
                <a16:creationId xmlns:a16="http://schemas.microsoft.com/office/drawing/2014/main" id="{72B5141F-8B5A-4C47-8853-3F2C29A91526}"/>
              </a:ext>
            </a:extLst>
          </p:cNvPr>
          <p:cNvSpPr>
            <a:spLocks noChangeArrowheads="1"/>
          </p:cNvSpPr>
          <p:nvPr/>
        </p:nvSpPr>
        <p:spPr bwMode="auto">
          <a:xfrm>
            <a:off x="5290925" y="2345675"/>
            <a:ext cx="3768166" cy="2310505"/>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200" dirty="0">
                <a:solidFill>
                  <a:srgbClr val="926492"/>
                </a:solidFill>
                <a:latin typeface="Menlo-Regular"/>
              </a:rPr>
              <a:t>#include</a:t>
            </a:r>
            <a:r>
              <a:rPr lang="en-US" sz="1200" dirty="0">
                <a:solidFill>
                  <a:srgbClr val="000000"/>
                </a:solidFill>
                <a:latin typeface="Menlo-Regular"/>
              </a:rPr>
              <a:t> </a:t>
            </a:r>
            <a:r>
              <a:rPr lang="en-US" sz="1200" dirty="0">
                <a:solidFill>
                  <a:srgbClr val="9D206F"/>
                </a:solidFill>
                <a:latin typeface="Menlo-Regular"/>
              </a:rPr>
              <a:t>&lt;</a:t>
            </a:r>
            <a:r>
              <a:rPr lang="en-US" sz="1200" dirty="0" err="1">
                <a:solidFill>
                  <a:srgbClr val="9D206F"/>
                </a:solidFill>
                <a:latin typeface="Menlo-Regular"/>
              </a:rPr>
              <a:t>stdio.h</a:t>
            </a:r>
            <a:r>
              <a:rPr lang="en-US" sz="1200" dirty="0">
                <a:solidFill>
                  <a:srgbClr val="9D206F"/>
                </a:solidFill>
                <a:latin typeface="Menlo-Regular"/>
              </a:rPr>
              <a:t>&gt;</a:t>
            </a:r>
            <a:endParaRPr lang="en-US" sz="1200" dirty="0">
              <a:solidFill>
                <a:srgbClr val="000000"/>
              </a:solidFill>
              <a:latin typeface="Menlo-Regular"/>
            </a:endParaRPr>
          </a:p>
          <a:p>
            <a:r>
              <a:rPr lang="en-US" sz="1200" dirty="0">
                <a:solidFill>
                  <a:srgbClr val="926492"/>
                </a:solidFill>
                <a:latin typeface="Menlo-Regular"/>
              </a:rPr>
              <a:t>#include</a:t>
            </a:r>
            <a:r>
              <a:rPr lang="en-US" sz="1200" dirty="0">
                <a:solidFill>
                  <a:srgbClr val="000000"/>
                </a:solidFill>
                <a:latin typeface="Menlo-Regular"/>
              </a:rPr>
              <a:t> </a:t>
            </a:r>
            <a:r>
              <a:rPr lang="en-US" sz="1200" dirty="0">
                <a:solidFill>
                  <a:srgbClr val="9D206F"/>
                </a:solidFill>
                <a:latin typeface="Menlo-Regular"/>
              </a:rPr>
              <a:t>"</a:t>
            </a:r>
            <a:r>
              <a:rPr lang="en-US" sz="1200" dirty="0" err="1">
                <a:solidFill>
                  <a:srgbClr val="9D206F"/>
                </a:solidFill>
                <a:latin typeface="Menlo-Regular"/>
              </a:rPr>
              <a:t>vector.h</a:t>
            </a:r>
            <a:r>
              <a:rPr lang="en-US" sz="1200" dirty="0">
                <a:solidFill>
                  <a:srgbClr val="9D206F"/>
                </a:solidFill>
                <a:latin typeface="Menlo-Regular"/>
              </a:rPr>
              <a:t>"</a:t>
            </a:r>
            <a:endParaRPr lang="en-US" sz="1200" dirty="0">
              <a:solidFill>
                <a:srgbClr val="000000"/>
              </a:solidFill>
              <a:latin typeface="Menlo-Regular"/>
            </a:endParaRPr>
          </a:p>
          <a:p>
            <a:r>
              <a:rPr lang="fr-FR" sz="1200" dirty="0">
                <a:solidFill>
                  <a:srgbClr val="2D961E"/>
                </a:solidFill>
                <a:latin typeface="Menlo-Regular"/>
              </a:rPr>
              <a:t>int</a:t>
            </a:r>
            <a:r>
              <a:rPr lang="fr-FR" sz="1200" dirty="0">
                <a:solidFill>
                  <a:srgbClr val="000000"/>
                </a:solidFill>
                <a:latin typeface="Menlo-Regular"/>
              </a:rPr>
              <a:t> </a:t>
            </a:r>
            <a:r>
              <a:rPr lang="fr-FR" sz="1200" dirty="0">
                <a:solidFill>
                  <a:srgbClr val="C1651C"/>
                </a:solidFill>
                <a:latin typeface="Menlo-Regular"/>
              </a:rPr>
              <a:t>x</a:t>
            </a:r>
            <a:r>
              <a:rPr lang="fr-FR" sz="1200" dirty="0">
                <a:solidFill>
                  <a:srgbClr val="000000"/>
                </a:solidFill>
                <a:latin typeface="Menlo-Regular"/>
              </a:rPr>
              <a:t>[2] = {1, 2};</a:t>
            </a:r>
          </a:p>
          <a:p>
            <a:r>
              <a:rPr lang="fr-FR" sz="1200" dirty="0" err="1">
                <a:solidFill>
                  <a:srgbClr val="2D961E"/>
                </a:solidFill>
                <a:latin typeface="Menlo-Regular"/>
              </a:rPr>
              <a:t>int</a:t>
            </a:r>
            <a:r>
              <a:rPr lang="fr-FR" sz="1200" dirty="0">
                <a:solidFill>
                  <a:srgbClr val="000000"/>
                </a:solidFill>
                <a:latin typeface="Menlo-Regular"/>
              </a:rPr>
              <a:t> </a:t>
            </a:r>
            <a:r>
              <a:rPr lang="fr-FR" sz="1200" dirty="0">
                <a:solidFill>
                  <a:srgbClr val="C1651C"/>
                </a:solidFill>
                <a:latin typeface="Menlo-Regular"/>
              </a:rPr>
              <a:t>y</a:t>
            </a:r>
            <a:r>
              <a:rPr lang="fr-FR" sz="1200" dirty="0">
                <a:solidFill>
                  <a:srgbClr val="000000"/>
                </a:solidFill>
                <a:latin typeface="Menlo-Regular"/>
              </a:rPr>
              <a:t>[2] = {3, 4};</a:t>
            </a:r>
          </a:p>
          <a:p>
            <a:r>
              <a:rPr lang="nl-NL" sz="1200" dirty="0">
                <a:solidFill>
                  <a:srgbClr val="2D961E"/>
                </a:solidFill>
                <a:latin typeface="Menlo-Regular"/>
              </a:rPr>
              <a:t>int</a:t>
            </a:r>
            <a:r>
              <a:rPr lang="nl-NL" sz="1200" dirty="0">
                <a:solidFill>
                  <a:srgbClr val="000000"/>
                </a:solidFill>
                <a:latin typeface="Menlo-Regular"/>
              </a:rPr>
              <a:t> </a:t>
            </a:r>
            <a:r>
              <a:rPr lang="nl-NL" sz="1200" dirty="0" err="1">
                <a:solidFill>
                  <a:srgbClr val="C1651C"/>
                </a:solidFill>
                <a:latin typeface="Menlo-Regular"/>
              </a:rPr>
              <a:t>z</a:t>
            </a:r>
            <a:r>
              <a:rPr lang="nl-NL" sz="1200" dirty="0">
                <a:solidFill>
                  <a:srgbClr val="000000"/>
                </a:solidFill>
                <a:latin typeface="Menlo-Regular"/>
              </a:rPr>
              <a:t>[2];</a:t>
            </a:r>
          </a:p>
          <a:p>
            <a:r>
              <a:rPr lang="nl-NL" sz="1200" dirty="0">
                <a:solidFill>
                  <a:srgbClr val="2D961E"/>
                </a:solidFill>
                <a:latin typeface="Menlo-Regular"/>
              </a:rPr>
              <a:t>int</a:t>
            </a:r>
            <a:r>
              <a:rPr lang="nl-NL" sz="1200" dirty="0">
                <a:solidFill>
                  <a:srgbClr val="000000"/>
                </a:solidFill>
                <a:latin typeface="Menlo-Regular"/>
              </a:rPr>
              <a:t> </a:t>
            </a:r>
            <a:r>
              <a:rPr lang="nl-NL" sz="1200" dirty="0">
                <a:solidFill>
                  <a:srgbClr val="4A00FF"/>
                </a:solidFill>
                <a:latin typeface="Menlo-Regular"/>
              </a:rPr>
              <a:t>main</a:t>
            </a:r>
            <a:r>
              <a:rPr lang="nl-NL" sz="1200" dirty="0">
                <a:solidFill>
                  <a:srgbClr val="000000"/>
                </a:solidFill>
                <a:latin typeface="Menlo-Regular"/>
              </a:rPr>
              <a:t>(){</a:t>
            </a:r>
          </a:p>
          <a:p>
            <a:r>
              <a:rPr lang="pl-PL" sz="1200" dirty="0">
                <a:solidFill>
                  <a:srgbClr val="000000"/>
                </a:solidFill>
                <a:latin typeface="Menlo-Regular"/>
              </a:rPr>
              <a:t> </a:t>
            </a:r>
            <a:r>
              <a:rPr lang="en-US" sz="1200" dirty="0">
                <a:solidFill>
                  <a:srgbClr val="000000"/>
                </a:solidFill>
                <a:latin typeface="Menlo-Regular"/>
              </a:rPr>
              <a:t> </a:t>
            </a:r>
            <a:r>
              <a:rPr lang="pl-PL" sz="1200" dirty="0">
                <a:solidFill>
                  <a:srgbClr val="000000"/>
                </a:solidFill>
                <a:latin typeface="Menlo-Regular"/>
              </a:rPr>
              <a:t>multvec(x, y, z, 2);</a:t>
            </a:r>
          </a:p>
          <a:p>
            <a:r>
              <a:rPr lang="pl-PL" sz="1200" dirty="0">
                <a:solidFill>
                  <a:srgbClr val="000000"/>
                </a:solidFill>
                <a:latin typeface="Menlo-Regular"/>
              </a:rPr>
              <a:t>  printf("z = [%d %d]\n", z[0], z[1]);</a:t>
            </a:r>
          </a:p>
          <a:p>
            <a:r>
              <a:rPr lang="en-US" sz="1200" dirty="0">
                <a:solidFill>
                  <a:srgbClr val="000000"/>
                </a:solidFill>
                <a:latin typeface="Menlo-Regular"/>
              </a:rPr>
              <a:t>  </a:t>
            </a:r>
            <a:r>
              <a:rPr lang="pl-PL" sz="1200" dirty="0">
                <a:solidFill>
                  <a:srgbClr val="000000"/>
                </a:solidFill>
                <a:latin typeface="Menlo-Regular"/>
              </a:rPr>
              <a:t>addvec(x, y, z, 2);</a:t>
            </a:r>
          </a:p>
          <a:p>
            <a:r>
              <a:rPr lang="pl-PL" sz="1200" dirty="0">
                <a:solidFill>
                  <a:srgbClr val="000000"/>
                </a:solidFill>
                <a:latin typeface="Menlo-Regular"/>
              </a:rPr>
              <a:t>  printf("z = [%d %d]\n", z[0], z[1]);</a:t>
            </a:r>
            <a:r>
              <a:rPr lang="is-IS" sz="1200" dirty="0">
                <a:solidFill>
                  <a:srgbClr val="000000"/>
                </a:solidFill>
                <a:latin typeface="Menlo-Regular"/>
              </a:rPr>
              <a:t> </a:t>
            </a:r>
          </a:p>
          <a:p>
            <a:r>
              <a:rPr lang="is-IS" sz="1200" dirty="0">
                <a:solidFill>
                  <a:srgbClr val="000000"/>
                </a:solidFill>
                <a:latin typeface="Menlo-Regular"/>
              </a:rPr>
              <a:t>   </a:t>
            </a:r>
            <a:r>
              <a:rPr lang="is-IS" sz="1200" dirty="0">
                <a:solidFill>
                  <a:srgbClr val="C200FF"/>
                </a:solidFill>
                <a:latin typeface="Menlo-Regular"/>
              </a:rPr>
              <a:t>return</a:t>
            </a:r>
            <a:r>
              <a:rPr lang="is-IS" sz="1200" dirty="0">
                <a:solidFill>
                  <a:srgbClr val="000000"/>
                </a:solidFill>
                <a:latin typeface="Menlo-Regular"/>
              </a:rPr>
              <a:t> 0;</a:t>
            </a:r>
          </a:p>
          <a:p>
            <a:r>
              <a:rPr lang="is-IS" sz="1200" dirty="0">
                <a:solidFill>
                  <a:srgbClr val="000000"/>
                </a:solidFill>
                <a:latin typeface="Menlo-Regular"/>
              </a:rPr>
              <a:t>}</a:t>
            </a:r>
          </a:p>
        </p:txBody>
      </p:sp>
      <p:sp>
        <p:nvSpPr>
          <p:cNvPr id="6" name="Rectangle 3">
            <a:extLst>
              <a:ext uri="{FF2B5EF4-FFF2-40B4-BE49-F238E27FC236}">
                <a16:creationId xmlns:a16="http://schemas.microsoft.com/office/drawing/2014/main" id="{0C8E2B29-99ED-477F-8F63-BF7761B8D0E8}"/>
              </a:ext>
            </a:extLst>
          </p:cNvPr>
          <p:cNvSpPr>
            <a:spLocks noChangeArrowheads="1"/>
          </p:cNvSpPr>
          <p:nvPr/>
        </p:nvSpPr>
        <p:spPr bwMode="auto">
          <a:xfrm>
            <a:off x="7682520" y="4338985"/>
            <a:ext cx="1205816"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a:solidFill>
                  <a:schemeClr val="tx1">
                    <a:lumMod val="50000"/>
                    <a:lumOff val="50000"/>
                  </a:schemeClr>
                </a:solidFill>
                <a:latin typeface="Courier New" pitchFamily="49" charset="0"/>
                <a:ea typeface="msgothic" charset="0"/>
                <a:cs typeface="msgothic" charset="0"/>
              </a:rPr>
              <a:t>main2.c</a:t>
            </a:r>
          </a:p>
        </p:txBody>
      </p:sp>
      <p:sp>
        <p:nvSpPr>
          <p:cNvPr id="7" name="Rectangle 2">
            <a:extLst>
              <a:ext uri="{FF2B5EF4-FFF2-40B4-BE49-F238E27FC236}">
                <a16:creationId xmlns:a16="http://schemas.microsoft.com/office/drawing/2014/main" id="{65E0562D-B32C-4CE4-8EC8-332B24B10DAA}"/>
              </a:ext>
            </a:extLst>
          </p:cNvPr>
          <p:cNvSpPr>
            <a:spLocks noChangeArrowheads="1"/>
          </p:cNvSpPr>
          <p:nvPr/>
        </p:nvSpPr>
        <p:spPr bwMode="auto">
          <a:xfrm>
            <a:off x="251520" y="1799143"/>
            <a:ext cx="4441462" cy="2248950"/>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400" dirty="0" err="1">
                <a:solidFill>
                  <a:srgbClr val="2D961E"/>
                </a:solidFill>
                <a:latin typeface="Menlo-Regular"/>
              </a:rPr>
              <a:t>int</a:t>
            </a:r>
            <a:r>
              <a:rPr lang="en-US" sz="1400" dirty="0">
                <a:solidFill>
                  <a:srgbClr val="000000"/>
                </a:solidFill>
                <a:latin typeface="Menlo-Regular"/>
              </a:rPr>
              <a:t> </a:t>
            </a:r>
            <a:r>
              <a:rPr lang="en-US" sz="1400" dirty="0" err="1">
                <a:solidFill>
                  <a:srgbClr val="C1651C"/>
                </a:solidFill>
                <a:latin typeface="Menlo-Regular"/>
              </a:rPr>
              <a:t>addcnt</a:t>
            </a:r>
            <a:r>
              <a:rPr lang="en-US" sz="1400" dirty="0">
                <a:solidFill>
                  <a:srgbClr val="000000"/>
                </a:solidFill>
                <a:latin typeface="Menlo-Regular"/>
              </a:rPr>
              <a:t> = 0;</a:t>
            </a:r>
          </a:p>
          <a:p>
            <a:endParaRPr lang="en-US" sz="1400" dirty="0">
              <a:solidFill>
                <a:srgbClr val="000000"/>
              </a:solidFill>
              <a:latin typeface="Menlo-Regular"/>
            </a:endParaRPr>
          </a:p>
          <a:p>
            <a:r>
              <a:rPr lang="en-US" sz="1400" dirty="0">
                <a:solidFill>
                  <a:srgbClr val="2D961E"/>
                </a:solidFill>
                <a:latin typeface="Menlo-Regular"/>
              </a:rPr>
              <a:t>void</a:t>
            </a:r>
            <a:r>
              <a:rPr lang="en-US" sz="1400" dirty="0">
                <a:solidFill>
                  <a:srgbClr val="000000"/>
                </a:solidFill>
                <a:latin typeface="Menlo-Regular"/>
              </a:rPr>
              <a:t> </a:t>
            </a:r>
            <a:r>
              <a:rPr lang="en-US" sz="1400" dirty="0" err="1">
                <a:solidFill>
                  <a:srgbClr val="4A00FF"/>
                </a:solidFill>
                <a:latin typeface="Menlo-Regular"/>
              </a:rPr>
              <a:t>addvec</a:t>
            </a:r>
            <a:r>
              <a:rPr lang="en-US" sz="1400" dirty="0">
                <a:solidFill>
                  <a:srgbClr val="000000"/>
                </a:solidFill>
                <a:latin typeface="Menlo-Regular"/>
              </a:rPr>
              <a:t>(</a:t>
            </a:r>
            <a:r>
              <a:rPr lang="en-US" sz="1400" dirty="0" err="1">
                <a:solidFill>
                  <a:srgbClr val="2D961E"/>
                </a:solidFill>
                <a:latin typeface="Menlo-Regular"/>
              </a:rPr>
              <a:t>int</a:t>
            </a:r>
            <a:r>
              <a:rPr lang="en-US" sz="1400" dirty="0">
                <a:solidFill>
                  <a:srgbClr val="000000"/>
                </a:solidFill>
                <a:latin typeface="Menlo-Regular"/>
              </a:rPr>
              <a:t> *</a:t>
            </a:r>
            <a:r>
              <a:rPr lang="en-US" sz="1400" dirty="0">
                <a:solidFill>
                  <a:srgbClr val="C1651C"/>
                </a:solidFill>
                <a:latin typeface="Menlo-Regular"/>
              </a:rPr>
              <a:t>x</a:t>
            </a:r>
            <a:r>
              <a:rPr lang="en-US" sz="1400" dirty="0">
                <a:solidFill>
                  <a:srgbClr val="000000"/>
                </a:solidFill>
                <a:latin typeface="Menlo-Regular"/>
              </a:rPr>
              <a:t>, </a:t>
            </a:r>
            <a:r>
              <a:rPr lang="en-US" sz="1400" dirty="0" err="1">
                <a:solidFill>
                  <a:srgbClr val="2D961E"/>
                </a:solidFill>
                <a:latin typeface="Menlo-Regular"/>
              </a:rPr>
              <a:t>int</a:t>
            </a:r>
            <a:r>
              <a:rPr lang="en-US" sz="1400" dirty="0">
                <a:solidFill>
                  <a:srgbClr val="000000"/>
                </a:solidFill>
                <a:latin typeface="Menlo-Regular"/>
              </a:rPr>
              <a:t> *</a:t>
            </a:r>
            <a:r>
              <a:rPr lang="en-US" sz="1400" dirty="0">
                <a:solidFill>
                  <a:srgbClr val="C1651C"/>
                </a:solidFill>
                <a:latin typeface="Menlo-Regular"/>
              </a:rPr>
              <a:t>y</a:t>
            </a:r>
            <a:r>
              <a:rPr lang="en-US" sz="1400" dirty="0">
                <a:solidFill>
                  <a:srgbClr val="000000"/>
                </a:solidFill>
                <a:latin typeface="Menlo-Regular"/>
              </a:rPr>
              <a:t>,</a:t>
            </a:r>
          </a:p>
          <a:p>
            <a:r>
              <a:rPr lang="fr-FR" sz="1400" dirty="0">
                <a:solidFill>
                  <a:srgbClr val="000000"/>
                </a:solidFill>
                <a:latin typeface="Menlo-Regular"/>
              </a:rPr>
              <a:t>            </a:t>
            </a:r>
            <a:r>
              <a:rPr lang="fr-FR" sz="1400" dirty="0" err="1">
                <a:solidFill>
                  <a:srgbClr val="2D961E"/>
                </a:solidFill>
                <a:latin typeface="Menlo-Regular"/>
              </a:rPr>
              <a:t>int</a:t>
            </a:r>
            <a:r>
              <a:rPr lang="fr-FR" sz="1400" dirty="0">
                <a:solidFill>
                  <a:srgbClr val="000000"/>
                </a:solidFill>
                <a:latin typeface="Menlo-Regular"/>
              </a:rPr>
              <a:t> *</a:t>
            </a:r>
            <a:r>
              <a:rPr lang="fr-FR" sz="1400" dirty="0">
                <a:solidFill>
                  <a:srgbClr val="C1651C"/>
                </a:solidFill>
                <a:latin typeface="Menlo-Regular"/>
              </a:rPr>
              <a:t>z</a:t>
            </a:r>
            <a:r>
              <a:rPr lang="fr-FR" sz="1400" dirty="0">
                <a:solidFill>
                  <a:srgbClr val="000000"/>
                </a:solidFill>
                <a:latin typeface="Menlo-Regular"/>
              </a:rPr>
              <a:t>, </a:t>
            </a:r>
            <a:r>
              <a:rPr lang="fr-FR" sz="1400" dirty="0" err="1">
                <a:solidFill>
                  <a:srgbClr val="2D961E"/>
                </a:solidFill>
                <a:latin typeface="Menlo-Regular"/>
              </a:rPr>
              <a:t>int</a:t>
            </a:r>
            <a:r>
              <a:rPr lang="fr-FR" sz="1400" dirty="0">
                <a:solidFill>
                  <a:srgbClr val="000000"/>
                </a:solidFill>
                <a:latin typeface="Menlo-Regular"/>
              </a:rPr>
              <a:t> </a:t>
            </a:r>
            <a:r>
              <a:rPr lang="fr-FR" sz="1400" dirty="0">
                <a:solidFill>
                  <a:srgbClr val="C1651C"/>
                </a:solidFill>
                <a:latin typeface="Menlo-Regular"/>
              </a:rPr>
              <a:t>n</a:t>
            </a:r>
            <a:r>
              <a:rPr lang="fr-FR" sz="1400" dirty="0">
                <a:solidFill>
                  <a:srgbClr val="000000"/>
                </a:solidFill>
                <a:latin typeface="Menlo-Regular"/>
              </a:rPr>
              <a:t>) {</a:t>
            </a:r>
          </a:p>
          <a:p>
            <a:r>
              <a:rPr lang="fr-FR" sz="1400" dirty="0">
                <a:solidFill>
                  <a:srgbClr val="000000"/>
                </a:solidFill>
                <a:latin typeface="Menlo-Regular"/>
              </a:rPr>
              <a:t>    </a:t>
            </a:r>
            <a:r>
              <a:rPr lang="fr-FR" sz="1400" dirty="0" err="1">
                <a:solidFill>
                  <a:srgbClr val="2D961E"/>
                </a:solidFill>
                <a:latin typeface="Menlo-Regular"/>
              </a:rPr>
              <a:t>int</a:t>
            </a:r>
            <a:r>
              <a:rPr lang="fr-FR" sz="1400" dirty="0">
                <a:solidFill>
                  <a:srgbClr val="000000"/>
                </a:solidFill>
                <a:latin typeface="Menlo-Regular"/>
              </a:rPr>
              <a:t> </a:t>
            </a:r>
            <a:r>
              <a:rPr lang="fr-FR" sz="1400" dirty="0">
                <a:solidFill>
                  <a:srgbClr val="C1651C"/>
                </a:solidFill>
                <a:latin typeface="Menlo-Regular"/>
              </a:rPr>
              <a:t>i</a:t>
            </a:r>
            <a:r>
              <a:rPr lang="fr-FR" sz="1400" dirty="0">
                <a:solidFill>
                  <a:srgbClr val="000000"/>
                </a:solidFill>
                <a:latin typeface="Menlo-Regular"/>
              </a:rPr>
              <a:t>;</a:t>
            </a:r>
          </a:p>
          <a:p>
            <a:endParaRPr lang="fr-FR" sz="1400" dirty="0">
              <a:solidFill>
                <a:srgbClr val="000000"/>
              </a:solidFill>
              <a:latin typeface="Menlo-Regular"/>
            </a:endParaRPr>
          </a:p>
          <a:p>
            <a:r>
              <a:rPr lang="fr-FR" sz="1400" dirty="0">
                <a:solidFill>
                  <a:srgbClr val="000000"/>
                </a:solidFill>
                <a:latin typeface="Menlo-Regular"/>
              </a:rPr>
              <a:t>    </a:t>
            </a:r>
            <a:r>
              <a:rPr lang="en-US" sz="1400" dirty="0" err="1">
                <a:solidFill>
                  <a:srgbClr val="000000"/>
                </a:solidFill>
                <a:latin typeface="Menlo-Regular"/>
              </a:rPr>
              <a:t>addcnt</a:t>
            </a:r>
            <a:r>
              <a:rPr lang="en-US" sz="1400" dirty="0">
                <a:solidFill>
                  <a:srgbClr val="000000"/>
                </a:solidFill>
                <a:latin typeface="Menlo-Regular"/>
              </a:rPr>
              <a:t>++;</a:t>
            </a:r>
          </a:p>
          <a:p>
            <a:r>
              <a:rPr lang="en-US" sz="1400" dirty="0">
                <a:solidFill>
                  <a:srgbClr val="000000"/>
                </a:solidFill>
                <a:latin typeface="Menlo-Regular"/>
              </a:rPr>
              <a:t>    </a:t>
            </a:r>
            <a:r>
              <a:rPr lang="da-DK" sz="1400" dirty="0">
                <a:solidFill>
                  <a:srgbClr val="C200FF"/>
                </a:solidFill>
                <a:latin typeface="Menlo-Regular"/>
              </a:rPr>
              <a:t>for</a:t>
            </a:r>
            <a:r>
              <a:rPr lang="da-DK" sz="1400" dirty="0">
                <a:solidFill>
                  <a:srgbClr val="000000"/>
                </a:solidFill>
                <a:latin typeface="Menlo-Regular"/>
              </a:rPr>
              <a:t> (i = 0; i &lt; n; i++)</a:t>
            </a:r>
          </a:p>
          <a:p>
            <a:r>
              <a:rPr lang="es-ES_tradnl" sz="1400" dirty="0">
                <a:solidFill>
                  <a:srgbClr val="000000"/>
                </a:solidFill>
                <a:latin typeface="Menlo-Regular"/>
              </a:rPr>
              <a:t>        z[i] = x[i] + y[i];</a:t>
            </a:r>
          </a:p>
          <a:p>
            <a:r>
              <a:rPr lang="es-ES_tradnl" sz="1400" dirty="0">
                <a:solidFill>
                  <a:srgbClr val="000000"/>
                </a:solidFill>
                <a:latin typeface="Menlo-Regular"/>
              </a:rPr>
              <a:t>}</a:t>
            </a:r>
            <a:endParaRPr lang="is-IS" sz="1400" dirty="0">
              <a:solidFill>
                <a:srgbClr val="000000"/>
              </a:solidFill>
              <a:latin typeface="Menlo-Regular"/>
            </a:endParaRPr>
          </a:p>
        </p:txBody>
      </p:sp>
      <p:sp>
        <p:nvSpPr>
          <p:cNvPr id="8" name="Rectangle 2">
            <a:extLst>
              <a:ext uri="{FF2B5EF4-FFF2-40B4-BE49-F238E27FC236}">
                <a16:creationId xmlns:a16="http://schemas.microsoft.com/office/drawing/2014/main" id="{D25B5B7B-E581-4B39-924E-F8479D96E811}"/>
              </a:ext>
            </a:extLst>
          </p:cNvPr>
          <p:cNvSpPr>
            <a:spLocks noChangeArrowheads="1"/>
          </p:cNvSpPr>
          <p:nvPr/>
        </p:nvSpPr>
        <p:spPr bwMode="auto">
          <a:xfrm>
            <a:off x="251520" y="4130426"/>
            <a:ext cx="4441462" cy="2464394"/>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400" dirty="0" err="1">
                <a:solidFill>
                  <a:srgbClr val="2D961E"/>
                </a:solidFill>
                <a:latin typeface="Menlo-Regular"/>
              </a:rPr>
              <a:t>int</a:t>
            </a:r>
            <a:r>
              <a:rPr lang="en-US" sz="1400" dirty="0">
                <a:solidFill>
                  <a:srgbClr val="000000"/>
                </a:solidFill>
                <a:latin typeface="Menlo-Regular"/>
              </a:rPr>
              <a:t> </a:t>
            </a:r>
            <a:r>
              <a:rPr lang="en-US" sz="1400" dirty="0" err="1">
                <a:solidFill>
                  <a:srgbClr val="C1651C"/>
                </a:solidFill>
                <a:latin typeface="Menlo-Regular"/>
              </a:rPr>
              <a:t>multcnt</a:t>
            </a:r>
            <a:r>
              <a:rPr lang="en-US" sz="1400" dirty="0">
                <a:solidFill>
                  <a:srgbClr val="000000"/>
                </a:solidFill>
                <a:latin typeface="Menlo-Regular"/>
              </a:rPr>
              <a:t> = 0;</a:t>
            </a:r>
          </a:p>
          <a:p>
            <a:endParaRPr lang="en-US" sz="1400" dirty="0">
              <a:solidFill>
                <a:srgbClr val="000000"/>
              </a:solidFill>
              <a:latin typeface="Menlo-Regular"/>
            </a:endParaRPr>
          </a:p>
          <a:p>
            <a:r>
              <a:rPr lang="en-US" sz="1400" dirty="0">
                <a:solidFill>
                  <a:srgbClr val="2D961E"/>
                </a:solidFill>
                <a:latin typeface="Menlo-Regular"/>
              </a:rPr>
              <a:t>void</a:t>
            </a:r>
            <a:r>
              <a:rPr lang="en-US" sz="1400" dirty="0">
                <a:solidFill>
                  <a:srgbClr val="000000"/>
                </a:solidFill>
                <a:latin typeface="Menlo-Regular"/>
              </a:rPr>
              <a:t> </a:t>
            </a:r>
            <a:r>
              <a:rPr lang="en-US" sz="1400" dirty="0" err="1">
                <a:solidFill>
                  <a:srgbClr val="4A00FF"/>
                </a:solidFill>
                <a:latin typeface="Menlo-Regular"/>
              </a:rPr>
              <a:t>multvec</a:t>
            </a:r>
            <a:r>
              <a:rPr lang="en-US" sz="1400" dirty="0">
                <a:solidFill>
                  <a:srgbClr val="000000"/>
                </a:solidFill>
                <a:latin typeface="Menlo-Regular"/>
              </a:rPr>
              <a:t>(</a:t>
            </a:r>
            <a:r>
              <a:rPr lang="en-US" sz="1400" dirty="0" err="1">
                <a:solidFill>
                  <a:srgbClr val="2D961E"/>
                </a:solidFill>
                <a:latin typeface="Menlo-Regular"/>
              </a:rPr>
              <a:t>int</a:t>
            </a:r>
            <a:r>
              <a:rPr lang="en-US" sz="1400" dirty="0">
                <a:solidFill>
                  <a:srgbClr val="000000"/>
                </a:solidFill>
                <a:latin typeface="Menlo-Regular"/>
              </a:rPr>
              <a:t> *</a:t>
            </a:r>
            <a:r>
              <a:rPr lang="en-US" sz="1400" dirty="0">
                <a:solidFill>
                  <a:srgbClr val="C1651C"/>
                </a:solidFill>
                <a:latin typeface="Menlo-Regular"/>
              </a:rPr>
              <a:t>x</a:t>
            </a:r>
            <a:r>
              <a:rPr lang="en-US" sz="1400" dirty="0">
                <a:solidFill>
                  <a:srgbClr val="000000"/>
                </a:solidFill>
                <a:latin typeface="Menlo-Regular"/>
              </a:rPr>
              <a:t>, </a:t>
            </a:r>
            <a:r>
              <a:rPr lang="en-US" sz="1400" dirty="0" err="1">
                <a:solidFill>
                  <a:srgbClr val="2D961E"/>
                </a:solidFill>
                <a:latin typeface="Menlo-Regular"/>
              </a:rPr>
              <a:t>int</a:t>
            </a:r>
            <a:r>
              <a:rPr lang="en-US" sz="1400" dirty="0">
                <a:solidFill>
                  <a:srgbClr val="000000"/>
                </a:solidFill>
                <a:latin typeface="Menlo-Regular"/>
              </a:rPr>
              <a:t> *</a:t>
            </a:r>
            <a:r>
              <a:rPr lang="en-US" sz="1400" dirty="0">
                <a:solidFill>
                  <a:srgbClr val="C1651C"/>
                </a:solidFill>
                <a:latin typeface="Menlo-Regular"/>
              </a:rPr>
              <a:t>y</a:t>
            </a:r>
            <a:r>
              <a:rPr lang="en-US" sz="1400" dirty="0">
                <a:solidFill>
                  <a:srgbClr val="000000"/>
                </a:solidFill>
                <a:latin typeface="Menlo-Regular"/>
              </a:rPr>
              <a:t>,</a:t>
            </a:r>
          </a:p>
          <a:p>
            <a:r>
              <a:rPr lang="fr-FR" sz="1400" dirty="0">
                <a:solidFill>
                  <a:srgbClr val="000000"/>
                </a:solidFill>
                <a:latin typeface="Menlo-Regular"/>
              </a:rPr>
              <a:t>             </a:t>
            </a:r>
            <a:r>
              <a:rPr lang="fr-FR" sz="1400" dirty="0" err="1">
                <a:solidFill>
                  <a:srgbClr val="2D961E"/>
                </a:solidFill>
                <a:latin typeface="Menlo-Regular"/>
              </a:rPr>
              <a:t>int</a:t>
            </a:r>
            <a:r>
              <a:rPr lang="fr-FR" sz="1400" dirty="0">
                <a:solidFill>
                  <a:srgbClr val="000000"/>
                </a:solidFill>
                <a:latin typeface="Menlo-Regular"/>
              </a:rPr>
              <a:t> *</a:t>
            </a:r>
            <a:r>
              <a:rPr lang="fr-FR" sz="1400" dirty="0">
                <a:solidFill>
                  <a:srgbClr val="C1651C"/>
                </a:solidFill>
                <a:latin typeface="Menlo-Regular"/>
              </a:rPr>
              <a:t>z</a:t>
            </a:r>
            <a:r>
              <a:rPr lang="fr-FR" sz="1400" dirty="0">
                <a:solidFill>
                  <a:srgbClr val="000000"/>
                </a:solidFill>
                <a:latin typeface="Menlo-Regular"/>
              </a:rPr>
              <a:t>, </a:t>
            </a:r>
            <a:r>
              <a:rPr lang="fr-FR" sz="1400" dirty="0" err="1">
                <a:solidFill>
                  <a:srgbClr val="2D961E"/>
                </a:solidFill>
                <a:latin typeface="Menlo-Regular"/>
              </a:rPr>
              <a:t>int</a:t>
            </a:r>
            <a:r>
              <a:rPr lang="fr-FR" sz="1400" dirty="0">
                <a:solidFill>
                  <a:srgbClr val="000000"/>
                </a:solidFill>
                <a:latin typeface="Menlo-Regular"/>
              </a:rPr>
              <a:t> </a:t>
            </a:r>
            <a:r>
              <a:rPr lang="fr-FR" sz="1400" dirty="0">
                <a:solidFill>
                  <a:srgbClr val="C1651C"/>
                </a:solidFill>
                <a:latin typeface="Menlo-Regular"/>
              </a:rPr>
              <a:t>n</a:t>
            </a:r>
            <a:r>
              <a:rPr lang="fr-FR" sz="1400" dirty="0">
                <a:solidFill>
                  <a:srgbClr val="000000"/>
                </a:solidFill>
                <a:latin typeface="Menlo-Regular"/>
              </a:rPr>
              <a:t>)</a:t>
            </a:r>
          </a:p>
          <a:p>
            <a:r>
              <a:rPr lang="fr-FR" sz="1400" dirty="0">
                <a:solidFill>
                  <a:srgbClr val="000000"/>
                </a:solidFill>
                <a:latin typeface="Menlo-Regular"/>
              </a:rPr>
              <a:t>{</a:t>
            </a:r>
          </a:p>
          <a:p>
            <a:r>
              <a:rPr lang="fr-FR" sz="1400" dirty="0">
                <a:solidFill>
                  <a:srgbClr val="000000"/>
                </a:solidFill>
                <a:latin typeface="Menlo-Regular"/>
              </a:rPr>
              <a:t>    </a:t>
            </a:r>
            <a:r>
              <a:rPr lang="fr-FR" sz="1400" dirty="0" err="1">
                <a:solidFill>
                  <a:srgbClr val="2D961E"/>
                </a:solidFill>
                <a:latin typeface="Menlo-Regular"/>
              </a:rPr>
              <a:t>int</a:t>
            </a:r>
            <a:r>
              <a:rPr lang="fr-FR" sz="1400" dirty="0">
                <a:solidFill>
                  <a:srgbClr val="000000"/>
                </a:solidFill>
                <a:latin typeface="Menlo-Regular"/>
              </a:rPr>
              <a:t> </a:t>
            </a:r>
            <a:r>
              <a:rPr lang="fr-FR" sz="1400" dirty="0">
                <a:solidFill>
                  <a:srgbClr val="C1651C"/>
                </a:solidFill>
                <a:latin typeface="Menlo-Regular"/>
              </a:rPr>
              <a:t>i</a:t>
            </a:r>
            <a:r>
              <a:rPr lang="fr-FR" sz="1400" dirty="0">
                <a:solidFill>
                  <a:srgbClr val="000000"/>
                </a:solidFill>
                <a:latin typeface="Menlo-Regular"/>
              </a:rPr>
              <a:t>;</a:t>
            </a:r>
          </a:p>
          <a:p>
            <a:endParaRPr lang="fr-FR" sz="1400" dirty="0">
              <a:solidFill>
                <a:srgbClr val="000000"/>
              </a:solidFill>
              <a:latin typeface="Menlo-Regular"/>
            </a:endParaRPr>
          </a:p>
          <a:p>
            <a:r>
              <a:rPr lang="ro-RO" sz="1400" dirty="0">
                <a:solidFill>
                  <a:srgbClr val="000000"/>
                </a:solidFill>
                <a:latin typeface="Menlo-Regular"/>
              </a:rPr>
              <a:t>    multcnt++;</a:t>
            </a:r>
          </a:p>
          <a:p>
            <a:r>
              <a:rPr lang="ro-RO" sz="1400" dirty="0">
                <a:solidFill>
                  <a:srgbClr val="000000"/>
                </a:solidFill>
                <a:latin typeface="Menlo-Regular"/>
              </a:rPr>
              <a:t>    </a:t>
            </a:r>
            <a:r>
              <a:rPr lang="da-DK" sz="1400" dirty="0">
                <a:solidFill>
                  <a:srgbClr val="C200FF"/>
                </a:solidFill>
                <a:latin typeface="Menlo-Regular"/>
              </a:rPr>
              <a:t>for</a:t>
            </a:r>
            <a:r>
              <a:rPr lang="da-DK" sz="1400" dirty="0">
                <a:solidFill>
                  <a:srgbClr val="000000"/>
                </a:solidFill>
                <a:latin typeface="Menlo-Regular"/>
              </a:rPr>
              <a:t> (i = 0; i &lt; n; i++)</a:t>
            </a:r>
          </a:p>
          <a:p>
            <a:r>
              <a:rPr lang="es-ES_tradnl" sz="1400" dirty="0">
                <a:solidFill>
                  <a:srgbClr val="000000"/>
                </a:solidFill>
                <a:latin typeface="Menlo-Regular"/>
              </a:rPr>
              <a:t>        z[i] = x[i] * y[i];</a:t>
            </a:r>
          </a:p>
          <a:p>
            <a:r>
              <a:rPr lang="es-ES_tradnl" sz="1400" dirty="0">
                <a:solidFill>
                  <a:srgbClr val="000000"/>
                </a:solidFill>
                <a:latin typeface="Menlo-Regular"/>
              </a:rPr>
              <a:t>}</a:t>
            </a:r>
            <a:endParaRPr lang="is-IS" sz="1400" dirty="0">
              <a:solidFill>
                <a:srgbClr val="000000"/>
              </a:solidFill>
              <a:latin typeface="Menlo-Regular"/>
            </a:endParaRPr>
          </a:p>
        </p:txBody>
      </p:sp>
      <p:sp>
        <p:nvSpPr>
          <p:cNvPr id="9" name="Rectangle 3">
            <a:extLst>
              <a:ext uri="{FF2B5EF4-FFF2-40B4-BE49-F238E27FC236}">
                <a16:creationId xmlns:a16="http://schemas.microsoft.com/office/drawing/2014/main" id="{D336D62A-944A-4798-87B7-74A681459BE6}"/>
              </a:ext>
            </a:extLst>
          </p:cNvPr>
          <p:cNvSpPr>
            <a:spLocks noChangeArrowheads="1"/>
          </p:cNvSpPr>
          <p:nvPr/>
        </p:nvSpPr>
        <p:spPr bwMode="auto">
          <a:xfrm>
            <a:off x="3273027" y="6258681"/>
            <a:ext cx="1482860"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multvec.c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10" name="Rectangle 3">
            <a:extLst>
              <a:ext uri="{FF2B5EF4-FFF2-40B4-BE49-F238E27FC236}">
                <a16:creationId xmlns:a16="http://schemas.microsoft.com/office/drawing/2014/main" id="{549A326D-DDC2-4392-965F-87CA34011747}"/>
              </a:ext>
            </a:extLst>
          </p:cNvPr>
          <p:cNvSpPr>
            <a:spLocks noChangeArrowheads="1"/>
          </p:cNvSpPr>
          <p:nvPr/>
        </p:nvSpPr>
        <p:spPr bwMode="auto">
          <a:xfrm>
            <a:off x="3378828" y="3626835"/>
            <a:ext cx="1344338" cy="35766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addvec.c</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11" name="TextBox 11">
            <a:extLst>
              <a:ext uri="{FF2B5EF4-FFF2-40B4-BE49-F238E27FC236}">
                <a16:creationId xmlns:a16="http://schemas.microsoft.com/office/drawing/2014/main" id="{2176A925-8BB5-4594-A1FE-CEF5500ED7AE}"/>
              </a:ext>
            </a:extLst>
          </p:cNvPr>
          <p:cNvSpPr txBox="1"/>
          <p:nvPr/>
        </p:nvSpPr>
        <p:spPr>
          <a:xfrm>
            <a:off x="1869393" y="1192370"/>
            <a:ext cx="1205716" cy="369332"/>
          </a:xfrm>
          <a:prstGeom prst="rect">
            <a:avLst/>
          </a:prstGeom>
          <a:noFill/>
        </p:spPr>
        <p:txBody>
          <a:bodyPr wrap="none" rtlCol="0">
            <a:spAutoFit/>
          </a:bodyPr>
          <a:lstStyle/>
          <a:p>
            <a:r>
              <a:rPr lang="en-US" sz="1800" dirty="0" err="1">
                <a:latin typeface="Calibri" pitchFamily="34" charset="0"/>
              </a:rPr>
              <a:t>libvector.a</a:t>
            </a:r>
            <a:endParaRPr lang="en-US" sz="1800" dirty="0">
              <a:latin typeface="Calibri" pitchFamily="34" charset="0"/>
            </a:endParaRPr>
          </a:p>
        </p:txBody>
      </p:sp>
      <p:sp>
        <p:nvSpPr>
          <p:cNvPr id="12" name="Left Brace 9">
            <a:extLst>
              <a:ext uri="{FF2B5EF4-FFF2-40B4-BE49-F238E27FC236}">
                <a16:creationId xmlns:a16="http://schemas.microsoft.com/office/drawing/2014/main" id="{4D63E661-E813-4080-9CA2-C94B47811633}"/>
              </a:ext>
            </a:extLst>
          </p:cNvPr>
          <p:cNvSpPr/>
          <p:nvPr/>
        </p:nvSpPr>
        <p:spPr bwMode="auto">
          <a:xfrm rot="5400000">
            <a:off x="2317660" y="-454388"/>
            <a:ext cx="267093" cy="4241587"/>
          </a:xfrm>
          <a:prstGeom prst="leftBrace">
            <a:avLst>
              <a:gd name="adj1" fmla="val 233773"/>
              <a:gd name="adj2" fmla="val 50261"/>
            </a:avLst>
          </a:prstGeom>
          <a:noFill/>
          <a:ln w="25400"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13" name="Rectangle 2">
            <a:extLst>
              <a:ext uri="{FF2B5EF4-FFF2-40B4-BE49-F238E27FC236}">
                <a16:creationId xmlns:a16="http://schemas.microsoft.com/office/drawing/2014/main" id="{F91C50FD-A228-4380-8010-DB84C52A22D0}"/>
              </a:ext>
            </a:extLst>
          </p:cNvPr>
          <p:cNvSpPr>
            <a:spLocks noChangeArrowheads="1"/>
          </p:cNvSpPr>
          <p:nvPr/>
        </p:nvSpPr>
        <p:spPr bwMode="auto">
          <a:xfrm>
            <a:off x="5281921" y="1312040"/>
            <a:ext cx="3767011" cy="1017844"/>
          </a:xfrm>
          <a:prstGeom prst="rect">
            <a:avLst/>
          </a:prstGeom>
          <a:solidFill>
            <a:srgbClr val="F7F5CD"/>
          </a:solidFill>
          <a:ln w="3240">
            <a:solidFill>
              <a:srgbClr val="000066"/>
            </a:solidFill>
            <a:miter lim="800000"/>
            <a:headEnd/>
            <a:tailEnd/>
          </a:ln>
          <a:effectLst/>
        </p:spPr>
        <p:txBody>
          <a:bodyPr wrap="square" lIns="90000" tIns="46800" rIns="90000" bIns="46800">
            <a:spAutoFit/>
          </a:bodyPr>
          <a:lstStyle/>
          <a:p>
            <a:r>
              <a:rPr lang="en-US" sz="1200" dirty="0">
                <a:latin typeface="Menlo-Regular"/>
              </a:rPr>
              <a:t>#</a:t>
            </a:r>
            <a:r>
              <a:rPr lang="en-US" sz="1200" dirty="0" err="1">
                <a:latin typeface="Menlo-Regular"/>
              </a:rPr>
              <a:t>ifndef</a:t>
            </a:r>
            <a:r>
              <a:rPr lang="en-US" sz="1200" dirty="0">
                <a:latin typeface="Menlo-Regular"/>
              </a:rPr>
              <a:t> VECTOR_H</a:t>
            </a:r>
          </a:p>
          <a:p>
            <a:r>
              <a:rPr lang="en-US" sz="1200" dirty="0">
                <a:latin typeface="Menlo-Regular"/>
              </a:rPr>
              <a:t>#define VECTOR_H</a:t>
            </a:r>
          </a:p>
          <a:p>
            <a:r>
              <a:rPr lang="en-US" sz="1200" dirty="0">
                <a:latin typeface="Menlo-Regular"/>
              </a:rPr>
              <a:t>void </a:t>
            </a:r>
            <a:r>
              <a:rPr lang="en-US" sz="1200" dirty="0" err="1">
                <a:latin typeface="Menlo-Regular"/>
              </a:rPr>
              <a:t>addvec</a:t>
            </a:r>
            <a:r>
              <a:rPr lang="en-US" sz="1200" dirty="0">
                <a:latin typeface="Menlo-Regular"/>
              </a:rPr>
              <a:t>(int *x, int *y, int *z, int n);</a:t>
            </a:r>
          </a:p>
          <a:p>
            <a:r>
              <a:rPr lang="en-US" sz="1200" dirty="0">
                <a:latin typeface="Menlo-Regular"/>
              </a:rPr>
              <a:t>void </a:t>
            </a:r>
            <a:r>
              <a:rPr lang="en-US" sz="1200" dirty="0" err="1">
                <a:latin typeface="Menlo-Regular"/>
              </a:rPr>
              <a:t>multvec</a:t>
            </a:r>
            <a:r>
              <a:rPr lang="en-US" sz="1200" dirty="0">
                <a:latin typeface="Menlo-Regular"/>
              </a:rPr>
              <a:t>(int *x, int *y, int *z, int n);</a:t>
            </a:r>
          </a:p>
          <a:p>
            <a:r>
              <a:rPr lang="en-US" sz="1200" dirty="0">
                <a:latin typeface="Menlo-Regular"/>
              </a:rPr>
              <a:t>#endif </a:t>
            </a:r>
            <a:endParaRPr lang="is-IS" sz="1200" dirty="0">
              <a:latin typeface="Menlo-Regular"/>
            </a:endParaRPr>
          </a:p>
        </p:txBody>
      </p:sp>
      <p:sp>
        <p:nvSpPr>
          <p:cNvPr id="14" name="Rectangle 3">
            <a:extLst>
              <a:ext uri="{FF2B5EF4-FFF2-40B4-BE49-F238E27FC236}">
                <a16:creationId xmlns:a16="http://schemas.microsoft.com/office/drawing/2014/main" id="{8B160BD4-5577-4D94-BAA1-57CFD87BE169}"/>
              </a:ext>
            </a:extLst>
          </p:cNvPr>
          <p:cNvSpPr>
            <a:spLocks noChangeArrowheads="1"/>
          </p:cNvSpPr>
          <p:nvPr/>
        </p:nvSpPr>
        <p:spPr bwMode="auto">
          <a:xfrm>
            <a:off x="7579862" y="2051434"/>
            <a:ext cx="1284624" cy="359010"/>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vector.h</a:t>
            </a:r>
            <a:endParaRPr lang="en-GB" sz="1800" b="1" i="1" dirty="0">
              <a:solidFill>
                <a:schemeClr val="tx1">
                  <a:lumMod val="50000"/>
                  <a:lumOff val="50000"/>
                </a:schemeClr>
              </a:solidFill>
              <a:latin typeface="Courier New" pitchFamily="49" charset="0"/>
              <a:ea typeface="msgothic" charset="0"/>
              <a:cs typeface="msgothic" charset="0"/>
            </a:endParaRPr>
          </a:p>
        </p:txBody>
      </p:sp>
      <p:sp>
        <p:nvSpPr>
          <p:cNvPr id="15" name="TextBox 11">
            <a:extLst>
              <a:ext uri="{FF2B5EF4-FFF2-40B4-BE49-F238E27FC236}">
                <a16:creationId xmlns:a16="http://schemas.microsoft.com/office/drawing/2014/main" id="{A385430A-66E1-4066-8E53-5A3E0A2EC97F}"/>
              </a:ext>
            </a:extLst>
          </p:cNvPr>
          <p:cNvSpPr txBox="1"/>
          <p:nvPr/>
        </p:nvSpPr>
        <p:spPr>
          <a:xfrm>
            <a:off x="883233" y="693319"/>
            <a:ext cx="2836354" cy="523220"/>
          </a:xfrm>
          <a:prstGeom prst="rect">
            <a:avLst/>
          </a:prstGeom>
          <a:noFill/>
        </p:spPr>
        <p:txBody>
          <a:bodyPr wrap="none" rtlCol="0">
            <a:spAutoFit/>
          </a:bodyPr>
          <a:lstStyle/>
          <a:p>
            <a:r>
              <a:rPr lang="en-US" sz="1400" dirty="0" err="1">
                <a:latin typeface="Calibri" pitchFamily="34" charset="0"/>
              </a:rPr>
              <a:t>gcc</a:t>
            </a:r>
            <a:r>
              <a:rPr lang="en-US" sz="1400" dirty="0">
                <a:latin typeface="Calibri" pitchFamily="34" charset="0"/>
              </a:rPr>
              <a:t> -c </a:t>
            </a:r>
            <a:r>
              <a:rPr lang="en-US" sz="1400" dirty="0" err="1">
                <a:latin typeface="Calibri" pitchFamily="34" charset="0"/>
              </a:rPr>
              <a:t>addvec.c</a:t>
            </a:r>
            <a:r>
              <a:rPr lang="en-US" sz="1400" dirty="0">
                <a:latin typeface="Calibri" pitchFamily="34" charset="0"/>
              </a:rPr>
              <a:t> </a:t>
            </a:r>
            <a:r>
              <a:rPr lang="en-US" sz="1400" dirty="0" err="1">
                <a:latin typeface="Calibri" pitchFamily="34" charset="0"/>
              </a:rPr>
              <a:t>multvec.c</a:t>
            </a:r>
            <a:endParaRPr lang="en-US" sz="1400" dirty="0">
              <a:latin typeface="Calibri" pitchFamily="34" charset="0"/>
            </a:endParaRPr>
          </a:p>
          <a:p>
            <a:r>
              <a:rPr lang="en-US" sz="1400" dirty="0" err="1">
                <a:latin typeface="Calibri" pitchFamily="34" charset="0"/>
              </a:rPr>
              <a:t>ar</a:t>
            </a:r>
            <a:r>
              <a:rPr lang="en-US" sz="1400" dirty="0">
                <a:latin typeface="Calibri" pitchFamily="34" charset="0"/>
              </a:rPr>
              <a:t> </a:t>
            </a:r>
            <a:r>
              <a:rPr lang="en-US" sz="1400" dirty="0" err="1">
                <a:latin typeface="Calibri" pitchFamily="34" charset="0"/>
              </a:rPr>
              <a:t>rcs</a:t>
            </a:r>
            <a:r>
              <a:rPr lang="en-US" sz="1400" dirty="0">
                <a:latin typeface="Calibri" pitchFamily="34" charset="0"/>
              </a:rPr>
              <a:t> </a:t>
            </a:r>
            <a:r>
              <a:rPr lang="en-US" sz="1400" dirty="0" err="1">
                <a:latin typeface="Calibri" pitchFamily="34" charset="0"/>
              </a:rPr>
              <a:t>libvector.a</a:t>
            </a:r>
            <a:r>
              <a:rPr lang="en-US" sz="1400" dirty="0">
                <a:latin typeface="Calibri" pitchFamily="34" charset="0"/>
              </a:rPr>
              <a:t> </a:t>
            </a:r>
            <a:r>
              <a:rPr lang="en-US" sz="1400" dirty="0" err="1">
                <a:latin typeface="Calibri" pitchFamily="34" charset="0"/>
              </a:rPr>
              <a:t>addvec.o</a:t>
            </a:r>
            <a:r>
              <a:rPr lang="en-US" sz="1400" dirty="0">
                <a:latin typeface="Calibri" pitchFamily="34" charset="0"/>
              </a:rPr>
              <a:t> </a:t>
            </a:r>
            <a:r>
              <a:rPr lang="en-US" sz="1400" dirty="0" err="1">
                <a:latin typeface="Calibri" pitchFamily="34" charset="0"/>
              </a:rPr>
              <a:t>multvec.o</a:t>
            </a:r>
            <a:endParaRPr lang="en-US" sz="1400" dirty="0">
              <a:latin typeface="Calibri" pitchFamily="34" charset="0"/>
            </a:endParaRPr>
          </a:p>
        </p:txBody>
      </p:sp>
      <p:sp>
        <p:nvSpPr>
          <p:cNvPr id="16" name="箭头: 右 15">
            <a:extLst>
              <a:ext uri="{FF2B5EF4-FFF2-40B4-BE49-F238E27FC236}">
                <a16:creationId xmlns:a16="http://schemas.microsoft.com/office/drawing/2014/main" id="{1BF2297A-DCFF-4A34-AC10-1466199489AE}"/>
              </a:ext>
            </a:extLst>
          </p:cNvPr>
          <p:cNvSpPr/>
          <p:nvPr/>
        </p:nvSpPr>
        <p:spPr>
          <a:xfrm>
            <a:off x="4802071" y="3984498"/>
            <a:ext cx="409949" cy="357663"/>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
        <p:nvSpPr>
          <p:cNvPr id="17" name="TextBox 11">
            <a:extLst>
              <a:ext uri="{FF2B5EF4-FFF2-40B4-BE49-F238E27FC236}">
                <a16:creationId xmlns:a16="http://schemas.microsoft.com/office/drawing/2014/main" id="{AE6BE9CC-94D7-42C0-97E3-325C8264612C}"/>
              </a:ext>
            </a:extLst>
          </p:cNvPr>
          <p:cNvSpPr txBox="1"/>
          <p:nvPr/>
        </p:nvSpPr>
        <p:spPr>
          <a:xfrm>
            <a:off x="5085026" y="-27084"/>
            <a:ext cx="3175741" cy="1169551"/>
          </a:xfrm>
          <a:prstGeom prst="rect">
            <a:avLst/>
          </a:prstGeom>
          <a:noFill/>
        </p:spPr>
        <p:txBody>
          <a:bodyPr wrap="none" rtlCol="0">
            <a:spAutoFit/>
          </a:bodyPr>
          <a:lstStyle/>
          <a:p>
            <a:r>
              <a:rPr lang="en-US" sz="1400" dirty="0" err="1">
                <a:latin typeface="Calibri" pitchFamily="34" charset="0"/>
              </a:rPr>
              <a:t>gcc</a:t>
            </a:r>
            <a:r>
              <a:rPr lang="en-US" sz="1400" dirty="0">
                <a:latin typeface="Calibri" pitchFamily="34" charset="0"/>
              </a:rPr>
              <a:t> -c main2.c</a:t>
            </a:r>
          </a:p>
          <a:p>
            <a:r>
              <a:rPr lang="en-US" sz="1400" dirty="0" err="1">
                <a:latin typeface="Calibri" pitchFamily="34" charset="0"/>
              </a:rPr>
              <a:t>gcc</a:t>
            </a:r>
            <a:r>
              <a:rPr lang="en-US" sz="1400" dirty="0">
                <a:latin typeface="Calibri" pitchFamily="34" charset="0"/>
              </a:rPr>
              <a:t> -static -o prog2c main2.o ./</a:t>
            </a:r>
            <a:r>
              <a:rPr lang="en-US" sz="1400" dirty="0" err="1">
                <a:latin typeface="Calibri" pitchFamily="34" charset="0"/>
              </a:rPr>
              <a:t>libvector.a</a:t>
            </a:r>
            <a:endParaRPr lang="en-US" sz="1400" dirty="0">
              <a:latin typeface="Calibri" pitchFamily="34" charset="0"/>
            </a:endParaRPr>
          </a:p>
          <a:p>
            <a:r>
              <a:rPr lang="zh-CN" altLang="en-US" sz="1400" dirty="0">
                <a:latin typeface="Calibri" pitchFamily="34" charset="0"/>
              </a:rPr>
              <a:t>或</a:t>
            </a:r>
            <a:endParaRPr lang="en-US" altLang="zh-CN" sz="1400" dirty="0">
              <a:latin typeface="Calibri" pitchFamily="34" charset="0"/>
            </a:endParaRPr>
          </a:p>
          <a:p>
            <a:r>
              <a:rPr lang="en-US" sz="1400" dirty="0" err="1">
                <a:latin typeface="Calibri" pitchFamily="34" charset="0"/>
              </a:rPr>
              <a:t>gcc</a:t>
            </a:r>
            <a:r>
              <a:rPr lang="en-US" sz="1400" dirty="0">
                <a:latin typeface="Calibri" pitchFamily="34" charset="0"/>
              </a:rPr>
              <a:t> -c main2.c</a:t>
            </a:r>
          </a:p>
          <a:p>
            <a:r>
              <a:rPr lang="en-US" sz="1400" dirty="0" err="1">
                <a:latin typeface="Calibri" pitchFamily="34" charset="0"/>
              </a:rPr>
              <a:t>gcc</a:t>
            </a:r>
            <a:r>
              <a:rPr lang="en-US" sz="1400" dirty="0">
                <a:latin typeface="Calibri" pitchFamily="34" charset="0"/>
              </a:rPr>
              <a:t> -static -o prog2c main2.o -L. -</a:t>
            </a:r>
            <a:r>
              <a:rPr lang="en-US" sz="1400" dirty="0" err="1">
                <a:latin typeface="Calibri" pitchFamily="34" charset="0"/>
              </a:rPr>
              <a:t>lvector</a:t>
            </a:r>
            <a:endParaRPr lang="en-US" sz="1400" dirty="0">
              <a:latin typeface="Calibri" pitchFamily="34" charset="0"/>
            </a:endParaRPr>
          </a:p>
        </p:txBody>
      </p:sp>
      <p:pic>
        <p:nvPicPr>
          <p:cNvPr id="18" name="图片 17">
            <a:extLst>
              <a:ext uri="{FF2B5EF4-FFF2-40B4-BE49-F238E27FC236}">
                <a16:creationId xmlns:a16="http://schemas.microsoft.com/office/drawing/2014/main" id="{2A02FE4F-785A-4925-AD24-19B7C2AA670C}"/>
              </a:ext>
            </a:extLst>
          </p:cNvPr>
          <p:cNvPicPr>
            <a:picLocks noChangeAspect="1"/>
          </p:cNvPicPr>
          <p:nvPr/>
        </p:nvPicPr>
        <p:blipFill>
          <a:blip r:embed="rId2"/>
          <a:stretch>
            <a:fillRect/>
          </a:stretch>
        </p:blipFill>
        <p:spPr>
          <a:xfrm>
            <a:off x="4829991" y="5070820"/>
            <a:ext cx="4229100" cy="1524000"/>
          </a:xfrm>
          <a:prstGeom prst="rect">
            <a:avLst/>
          </a:prstGeom>
        </p:spPr>
      </p:pic>
    </p:spTree>
    <p:extLst>
      <p:ext uri="{BB962C8B-B14F-4D97-AF65-F5344CB8AC3E}">
        <p14:creationId xmlns:p14="http://schemas.microsoft.com/office/powerpoint/2010/main" val="35030818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D88775-7832-40DB-A38B-24FED9D8EF31}"/>
              </a:ext>
            </a:extLst>
          </p:cNvPr>
          <p:cNvSpPr>
            <a:spLocks noGrp="1"/>
          </p:cNvSpPr>
          <p:nvPr>
            <p:ph type="title"/>
          </p:nvPr>
        </p:nvSpPr>
        <p:spPr/>
        <p:txBody>
          <a:bodyPr>
            <a:normAutofit fontScale="90000"/>
          </a:bodyPr>
          <a:lstStyle/>
          <a:p>
            <a:r>
              <a:rPr lang="zh-CN" altLang="en-US" dirty="0"/>
              <a:t>与静态库链接器行为图</a:t>
            </a:r>
          </a:p>
        </p:txBody>
      </p:sp>
      <p:sp>
        <p:nvSpPr>
          <p:cNvPr id="4" name="灯片编号占位符 3">
            <a:extLst>
              <a:ext uri="{FF2B5EF4-FFF2-40B4-BE49-F238E27FC236}">
                <a16:creationId xmlns:a16="http://schemas.microsoft.com/office/drawing/2014/main" id="{3591A3FB-205D-4493-8AEE-338011E7FD52}"/>
              </a:ext>
            </a:extLst>
          </p:cNvPr>
          <p:cNvSpPr>
            <a:spLocks noGrp="1"/>
          </p:cNvSpPr>
          <p:nvPr>
            <p:ph type="sldNum" sz="quarter" idx="12"/>
          </p:nvPr>
        </p:nvSpPr>
        <p:spPr/>
        <p:txBody>
          <a:bodyPr/>
          <a:lstStyle/>
          <a:p>
            <a:fld id="{6D62327B-ED8D-4CFC-ADD0-A75FA5CBE281}" type="slidenum">
              <a:rPr lang="zh-CN" altLang="en-US" smtClean="0"/>
              <a:pPr/>
              <a:t>32</a:t>
            </a:fld>
            <a:endParaRPr lang="zh-CN" altLang="en-US" dirty="0"/>
          </a:p>
        </p:txBody>
      </p:sp>
      <p:sp>
        <p:nvSpPr>
          <p:cNvPr id="5" name="Line 2">
            <a:extLst>
              <a:ext uri="{FF2B5EF4-FFF2-40B4-BE49-F238E27FC236}">
                <a16:creationId xmlns:a16="http://schemas.microsoft.com/office/drawing/2014/main" id="{137DC18A-1667-4035-9A1E-DB24CDF3FE92}"/>
              </a:ext>
            </a:extLst>
          </p:cNvPr>
          <p:cNvSpPr>
            <a:spLocks noChangeShapeType="1"/>
          </p:cNvSpPr>
          <p:nvPr/>
        </p:nvSpPr>
        <p:spPr bwMode="auto">
          <a:xfrm>
            <a:off x="1724558" y="3081684"/>
            <a:ext cx="1587" cy="381000"/>
          </a:xfrm>
          <a:prstGeom prst="line">
            <a:avLst/>
          </a:prstGeom>
          <a:noFill/>
          <a:ln w="28440">
            <a:solidFill>
              <a:srgbClr val="000066"/>
            </a:solidFill>
            <a:miter lim="800000"/>
            <a:headEnd/>
            <a:tailEnd type="triangle" w="med" len="med"/>
          </a:ln>
          <a:effectLst/>
        </p:spPr>
        <p:txBody>
          <a:bodyPr/>
          <a:lstStyle/>
          <a:p>
            <a:endParaRPr lang="en-US"/>
          </a:p>
        </p:txBody>
      </p:sp>
      <p:sp>
        <p:nvSpPr>
          <p:cNvPr id="6" name="Rectangle 3">
            <a:extLst>
              <a:ext uri="{FF2B5EF4-FFF2-40B4-BE49-F238E27FC236}">
                <a16:creationId xmlns:a16="http://schemas.microsoft.com/office/drawing/2014/main" id="{020E49CA-2043-47AB-947A-1C69417055B4}"/>
              </a:ext>
            </a:extLst>
          </p:cNvPr>
          <p:cNvSpPr>
            <a:spLocks noChangeArrowheads="1"/>
          </p:cNvSpPr>
          <p:nvPr/>
        </p:nvSpPr>
        <p:spPr bwMode="auto">
          <a:xfrm>
            <a:off x="1200683" y="3491260"/>
            <a:ext cx="2070100" cy="644525"/>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itchFamily="34" charset="0"/>
                <a:ea typeface="msgothic" charset="0"/>
                <a:cs typeface="msgothic" charset="0"/>
              </a:rPr>
              <a:t>Translators</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itchFamily="34" charset="0"/>
                <a:ea typeface="msgothic" charset="0"/>
                <a:cs typeface="msgothic" charset="0"/>
              </a:rPr>
              <a:t>(</a:t>
            </a:r>
            <a:r>
              <a:rPr lang="en-GB" sz="1800" b="1" dirty="0" err="1">
                <a:latin typeface="Courier New" pitchFamily="49" charset="0"/>
                <a:ea typeface="msgothic" charset="0"/>
                <a:cs typeface="msgothic" charset="0"/>
              </a:rPr>
              <a:t>cpp</a:t>
            </a:r>
            <a:r>
              <a:rPr lang="en-GB" sz="1800" b="1" dirty="0">
                <a:latin typeface="Calibri" pitchFamily="34" charset="0"/>
                <a:ea typeface="msgothic" charset="0"/>
                <a:cs typeface="msgothic" charset="0"/>
              </a:rPr>
              <a:t>, </a:t>
            </a:r>
            <a:r>
              <a:rPr lang="en-GB" sz="1800" b="1" dirty="0">
                <a:latin typeface="Courier New" pitchFamily="49" charset="0"/>
                <a:ea typeface="msgothic" charset="0"/>
                <a:cs typeface="msgothic" charset="0"/>
              </a:rPr>
              <a:t>cc1</a:t>
            </a:r>
            <a:r>
              <a:rPr lang="en-GB" sz="1800" b="1" dirty="0">
                <a:latin typeface="Calibri" pitchFamily="34" charset="0"/>
                <a:ea typeface="msgothic" charset="0"/>
                <a:cs typeface="msgothic" charset="0"/>
              </a:rPr>
              <a:t>, </a:t>
            </a:r>
            <a:r>
              <a:rPr lang="en-GB" sz="1800" b="1" dirty="0">
                <a:latin typeface="Courier New" pitchFamily="49" charset="0"/>
                <a:ea typeface="msgothic" charset="0"/>
                <a:cs typeface="msgothic" charset="0"/>
              </a:rPr>
              <a:t>as</a:t>
            </a:r>
            <a:r>
              <a:rPr lang="en-GB" sz="1800" b="1" dirty="0">
                <a:latin typeface="Calibri" pitchFamily="34" charset="0"/>
                <a:ea typeface="msgothic" charset="0"/>
                <a:cs typeface="msgothic" charset="0"/>
              </a:rPr>
              <a:t>)</a:t>
            </a:r>
          </a:p>
        </p:txBody>
      </p:sp>
      <p:sp>
        <p:nvSpPr>
          <p:cNvPr id="7" name="Text Box 4">
            <a:extLst>
              <a:ext uri="{FF2B5EF4-FFF2-40B4-BE49-F238E27FC236}">
                <a16:creationId xmlns:a16="http://schemas.microsoft.com/office/drawing/2014/main" id="{1B700625-7D5B-4D30-97D3-37D440F50A9B}"/>
              </a:ext>
            </a:extLst>
          </p:cNvPr>
          <p:cNvSpPr txBox="1">
            <a:spLocks noChangeArrowheads="1"/>
          </p:cNvSpPr>
          <p:nvPr/>
        </p:nvSpPr>
        <p:spPr bwMode="auto">
          <a:xfrm>
            <a:off x="1178458" y="2784822"/>
            <a:ext cx="114676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ourier New" pitchFamily="49" charset="0"/>
                <a:ea typeface="msgothic" charset="0"/>
                <a:cs typeface="msgothic" charset="0"/>
              </a:rPr>
              <a:t>main2.c</a:t>
            </a:r>
          </a:p>
        </p:txBody>
      </p:sp>
      <p:sp>
        <p:nvSpPr>
          <p:cNvPr id="8" name="Text Box 5">
            <a:extLst>
              <a:ext uri="{FF2B5EF4-FFF2-40B4-BE49-F238E27FC236}">
                <a16:creationId xmlns:a16="http://schemas.microsoft.com/office/drawing/2014/main" id="{AAE4E5F4-51CF-41B8-AEBC-1D6D5B24DB64}"/>
              </a:ext>
            </a:extLst>
          </p:cNvPr>
          <p:cNvSpPr txBox="1">
            <a:spLocks noChangeArrowheads="1"/>
          </p:cNvSpPr>
          <p:nvPr/>
        </p:nvSpPr>
        <p:spPr bwMode="auto">
          <a:xfrm>
            <a:off x="2827871" y="4492972"/>
            <a:ext cx="114676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main2.o</a:t>
            </a:r>
          </a:p>
        </p:txBody>
      </p:sp>
      <p:sp>
        <p:nvSpPr>
          <p:cNvPr id="9" name="Line 6">
            <a:extLst>
              <a:ext uri="{FF2B5EF4-FFF2-40B4-BE49-F238E27FC236}">
                <a16:creationId xmlns:a16="http://schemas.microsoft.com/office/drawing/2014/main" id="{6C74F1BE-7474-4F9D-A6D0-292C105F68F0}"/>
              </a:ext>
            </a:extLst>
          </p:cNvPr>
          <p:cNvSpPr>
            <a:spLocks noChangeShapeType="1"/>
          </p:cNvSpPr>
          <p:nvPr/>
        </p:nvSpPr>
        <p:spPr bwMode="auto">
          <a:xfrm>
            <a:off x="2267483" y="4180235"/>
            <a:ext cx="815975" cy="381000"/>
          </a:xfrm>
          <a:prstGeom prst="line">
            <a:avLst/>
          </a:prstGeom>
          <a:noFill/>
          <a:ln w="28440">
            <a:solidFill>
              <a:srgbClr val="000066"/>
            </a:solidFill>
            <a:miter lim="800000"/>
            <a:headEnd/>
            <a:tailEnd type="triangle" w="med" len="med"/>
          </a:ln>
          <a:effectLst/>
        </p:spPr>
        <p:txBody>
          <a:bodyPr/>
          <a:lstStyle/>
          <a:p>
            <a:endParaRPr lang="en-US"/>
          </a:p>
        </p:txBody>
      </p:sp>
      <p:sp>
        <p:nvSpPr>
          <p:cNvPr id="10" name="Line 7">
            <a:extLst>
              <a:ext uri="{FF2B5EF4-FFF2-40B4-BE49-F238E27FC236}">
                <a16:creationId xmlns:a16="http://schemas.microsoft.com/office/drawing/2014/main" id="{63243B6C-BBB6-45EE-BEA2-6BD3D3DF75F1}"/>
              </a:ext>
            </a:extLst>
          </p:cNvPr>
          <p:cNvSpPr>
            <a:spLocks noChangeShapeType="1"/>
          </p:cNvSpPr>
          <p:nvPr/>
        </p:nvSpPr>
        <p:spPr bwMode="auto">
          <a:xfrm>
            <a:off x="3370796" y="4789835"/>
            <a:ext cx="762000" cy="304800"/>
          </a:xfrm>
          <a:prstGeom prst="line">
            <a:avLst/>
          </a:prstGeom>
          <a:noFill/>
          <a:ln w="28440">
            <a:solidFill>
              <a:srgbClr val="000066"/>
            </a:solidFill>
            <a:miter lim="800000"/>
            <a:headEnd/>
            <a:tailEnd type="triangle" w="med" len="med"/>
          </a:ln>
          <a:effectLst/>
        </p:spPr>
        <p:txBody>
          <a:bodyPr/>
          <a:lstStyle/>
          <a:p>
            <a:endParaRPr lang="en-US"/>
          </a:p>
        </p:txBody>
      </p:sp>
      <p:sp>
        <p:nvSpPr>
          <p:cNvPr id="11" name="Text Box 8">
            <a:extLst>
              <a:ext uri="{FF2B5EF4-FFF2-40B4-BE49-F238E27FC236}">
                <a16:creationId xmlns:a16="http://schemas.microsoft.com/office/drawing/2014/main" id="{4E278728-7DE2-4572-A7EF-04B28F8E5F31}"/>
              </a:ext>
            </a:extLst>
          </p:cNvPr>
          <p:cNvSpPr txBox="1">
            <a:spLocks noChangeArrowheads="1"/>
          </p:cNvSpPr>
          <p:nvPr/>
        </p:nvSpPr>
        <p:spPr bwMode="auto">
          <a:xfrm>
            <a:off x="6379108" y="3762722"/>
            <a:ext cx="1008907"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libc.a</a:t>
            </a:r>
          </a:p>
        </p:txBody>
      </p:sp>
      <p:sp>
        <p:nvSpPr>
          <p:cNvPr id="12" name="Line 9">
            <a:extLst>
              <a:ext uri="{FF2B5EF4-FFF2-40B4-BE49-F238E27FC236}">
                <a16:creationId xmlns:a16="http://schemas.microsoft.com/office/drawing/2014/main" id="{3BB5525B-89A3-42A9-9CC4-444ACB1346BC}"/>
              </a:ext>
            </a:extLst>
          </p:cNvPr>
          <p:cNvSpPr>
            <a:spLocks noChangeShapeType="1"/>
          </p:cNvSpPr>
          <p:nvPr/>
        </p:nvSpPr>
        <p:spPr bwMode="auto">
          <a:xfrm>
            <a:off x="5007509" y="4148485"/>
            <a:ext cx="1587" cy="1022350"/>
          </a:xfrm>
          <a:prstGeom prst="line">
            <a:avLst/>
          </a:prstGeom>
          <a:noFill/>
          <a:ln w="28440">
            <a:solidFill>
              <a:srgbClr val="000066"/>
            </a:solidFill>
            <a:miter lim="800000"/>
            <a:headEnd/>
            <a:tailEnd type="triangle" w="med" len="med"/>
          </a:ln>
          <a:effectLst/>
        </p:spPr>
        <p:txBody>
          <a:bodyPr/>
          <a:lstStyle/>
          <a:p>
            <a:endParaRPr lang="en-US"/>
          </a:p>
        </p:txBody>
      </p:sp>
      <p:sp>
        <p:nvSpPr>
          <p:cNvPr id="13" name="Rectangle 10">
            <a:extLst>
              <a:ext uri="{FF2B5EF4-FFF2-40B4-BE49-F238E27FC236}">
                <a16:creationId xmlns:a16="http://schemas.microsoft.com/office/drawing/2014/main" id="{C19CBE5D-8DD0-4EB9-B76F-7CA9C8D55E3B}"/>
              </a:ext>
            </a:extLst>
          </p:cNvPr>
          <p:cNvSpPr>
            <a:spLocks noChangeArrowheads="1"/>
          </p:cNvSpPr>
          <p:nvPr/>
        </p:nvSpPr>
        <p:spPr bwMode="auto">
          <a:xfrm>
            <a:off x="3523196" y="5170835"/>
            <a:ext cx="2971800" cy="360909"/>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itchFamily="34" charset="0"/>
                <a:ea typeface="msgothic" charset="0"/>
                <a:cs typeface="msgothic" charset="0"/>
              </a:rPr>
              <a:t>Linker (</a:t>
            </a:r>
            <a:r>
              <a:rPr lang="en-GB" sz="1800" b="1" dirty="0">
                <a:latin typeface="Courier New" pitchFamily="49" charset="0"/>
                <a:ea typeface="msgothic" charset="0"/>
                <a:cs typeface="msgothic" charset="0"/>
              </a:rPr>
              <a:t>ld</a:t>
            </a:r>
            <a:r>
              <a:rPr lang="en-GB" sz="1800" b="1" dirty="0">
                <a:latin typeface="Calibri" pitchFamily="34" charset="0"/>
                <a:ea typeface="msgothic" charset="0"/>
                <a:cs typeface="msgothic" charset="0"/>
              </a:rPr>
              <a:t>)</a:t>
            </a:r>
          </a:p>
        </p:txBody>
      </p:sp>
      <p:sp>
        <p:nvSpPr>
          <p:cNvPr id="14" name="Text Box 11">
            <a:extLst>
              <a:ext uri="{FF2B5EF4-FFF2-40B4-BE49-F238E27FC236}">
                <a16:creationId xmlns:a16="http://schemas.microsoft.com/office/drawing/2014/main" id="{A6E561A1-C21F-471E-A4A1-BE17474C0192}"/>
              </a:ext>
            </a:extLst>
          </p:cNvPr>
          <p:cNvSpPr txBox="1">
            <a:spLocks noChangeArrowheads="1"/>
          </p:cNvSpPr>
          <p:nvPr/>
        </p:nvSpPr>
        <p:spPr bwMode="auto">
          <a:xfrm>
            <a:off x="4545651" y="6016972"/>
            <a:ext cx="1012890" cy="357663"/>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ourier New" pitchFamily="49" charset="0"/>
                <a:ea typeface="msgothic" charset="0"/>
                <a:cs typeface="msgothic" charset="0"/>
              </a:rPr>
              <a:t>prog2c</a:t>
            </a:r>
          </a:p>
        </p:txBody>
      </p:sp>
      <p:sp>
        <p:nvSpPr>
          <p:cNvPr id="15" name="Line 12">
            <a:extLst>
              <a:ext uri="{FF2B5EF4-FFF2-40B4-BE49-F238E27FC236}">
                <a16:creationId xmlns:a16="http://schemas.microsoft.com/office/drawing/2014/main" id="{8C643FE3-855E-4F23-B1F4-E39049444E76}"/>
              </a:ext>
            </a:extLst>
          </p:cNvPr>
          <p:cNvSpPr>
            <a:spLocks noChangeShapeType="1"/>
          </p:cNvSpPr>
          <p:nvPr/>
        </p:nvSpPr>
        <p:spPr bwMode="auto">
          <a:xfrm>
            <a:off x="5007508" y="5546013"/>
            <a:ext cx="1588" cy="414338"/>
          </a:xfrm>
          <a:prstGeom prst="line">
            <a:avLst/>
          </a:prstGeom>
          <a:noFill/>
          <a:ln w="28440">
            <a:solidFill>
              <a:srgbClr val="000066"/>
            </a:solidFill>
            <a:miter lim="800000"/>
            <a:headEnd/>
            <a:tailEnd type="triangle" w="med" len="med"/>
          </a:ln>
          <a:effectLst/>
        </p:spPr>
        <p:txBody>
          <a:bodyPr/>
          <a:lstStyle/>
          <a:p>
            <a:endParaRPr lang="en-US"/>
          </a:p>
        </p:txBody>
      </p:sp>
      <p:sp>
        <p:nvSpPr>
          <p:cNvPr id="16" name="Text Box 13">
            <a:extLst>
              <a:ext uri="{FF2B5EF4-FFF2-40B4-BE49-F238E27FC236}">
                <a16:creationId xmlns:a16="http://schemas.microsoft.com/office/drawing/2014/main" id="{DEF134E2-7BA4-47EB-B380-D65AE35E6FA6}"/>
              </a:ext>
            </a:extLst>
          </p:cNvPr>
          <p:cNvSpPr txBox="1">
            <a:spLocks noChangeArrowheads="1"/>
          </p:cNvSpPr>
          <p:nvPr/>
        </p:nvSpPr>
        <p:spPr bwMode="auto">
          <a:xfrm>
            <a:off x="6711488" y="4098281"/>
            <a:ext cx="2469280" cy="619017"/>
          </a:xfrm>
          <a:prstGeom prst="rect">
            <a:avLst/>
          </a:prstGeom>
          <a:noFill/>
          <a:ln w="9525">
            <a:noFill/>
            <a:round/>
            <a:headEnd/>
            <a:tailEnd/>
          </a:ln>
          <a:effectLst/>
        </p:spPr>
        <p:txBody>
          <a:bodyPr wrap="squar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printf.o</a:t>
            </a:r>
            <a:r>
              <a:rPr lang="zh-CN" altLang="en-US" sz="1800" b="1" i="1" dirty="0">
                <a:solidFill>
                  <a:schemeClr val="tx1">
                    <a:lumMod val="50000"/>
                    <a:lumOff val="50000"/>
                  </a:schemeClr>
                </a:solidFill>
                <a:latin typeface="Courier New" pitchFamily="49" charset="0"/>
                <a:ea typeface="msgothic" charset="0"/>
                <a:cs typeface="msgothic" charset="0"/>
              </a:rPr>
              <a:t>和其他</a:t>
            </a:r>
            <a:endParaRPr lang="en-US" altLang="zh-CN" sz="1800" b="1" i="1" dirty="0">
              <a:solidFill>
                <a:schemeClr val="tx1">
                  <a:lumMod val="50000"/>
                  <a:lumOff val="50000"/>
                </a:schemeClr>
              </a:solidFill>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i="1" dirty="0" err="1">
                <a:solidFill>
                  <a:schemeClr val="tx1">
                    <a:lumMod val="50000"/>
                    <a:lumOff val="50000"/>
                  </a:schemeClr>
                </a:solidFill>
                <a:latin typeface="Courier New" pitchFamily="49" charset="0"/>
                <a:ea typeface="msgothic" charset="0"/>
                <a:cs typeface="msgothic" charset="0"/>
              </a:rPr>
              <a:t>printf.o</a:t>
            </a:r>
            <a:r>
              <a:rPr lang="zh-CN" altLang="en-US" sz="1800" b="1" i="1" dirty="0">
                <a:solidFill>
                  <a:schemeClr val="tx1">
                    <a:lumMod val="50000"/>
                    <a:lumOff val="50000"/>
                  </a:schemeClr>
                </a:solidFill>
                <a:latin typeface="Courier New" pitchFamily="49" charset="0"/>
                <a:ea typeface="msgothic" charset="0"/>
                <a:cs typeface="msgothic" charset="0"/>
              </a:rPr>
              <a:t>调用的模块</a:t>
            </a:r>
            <a:r>
              <a:rPr lang="en-GB" sz="1800" b="1" i="1" dirty="0">
                <a:solidFill>
                  <a:schemeClr val="tx1">
                    <a:lumMod val="50000"/>
                    <a:lumOff val="50000"/>
                  </a:schemeClr>
                </a:solidFill>
                <a:latin typeface="Courier New" pitchFamily="49" charset="0"/>
                <a:ea typeface="msgothic" charset="0"/>
                <a:cs typeface="msgothic" charset="0"/>
              </a:rPr>
              <a:t> </a:t>
            </a:r>
          </a:p>
        </p:txBody>
      </p:sp>
      <p:sp>
        <p:nvSpPr>
          <p:cNvPr id="17" name="Text Box 14">
            <a:extLst>
              <a:ext uri="{FF2B5EF4-FFF2-40B4-BE49-F238E27FC236}">
                <a16:creationId xmlns:a16="http://schemas.microsoft.com/office/drawing/2014/main" id="{FD8F3568-22DE-41FB-997A-AB694C3A2129}"/>
              </a:ext>
            </a:extLst>
          </p:cNvPr>
          <p:cNvSpPr txBox="1">
            <a:spLocks noChangeArrowheads="1"/>
          </p:cNvSpPr>
          <p:nvPr/>
        </p:nvSpPr>
        <p:spPr bwMode="auto">
          <a:xfrm>
            <a:off x="4213758" y="3762722"/>
            <a:ext cx="1698199"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libvector.a</a:t>
            </a:r>
          </a:p>
        </p:txBody>
      </p:sp>
      <p:sp>
        <p:nvSpPr>
          <p:cNvPr id="18" name="Text Box 15">
            <a:extLst>
              <a:ext uri="{FF2B5EF4-FFF2-40B4-BE49-F238E27FC236}">
                <a16:creationId xmlns:a16="http://schemas.microsoft.com/office/drawing/2014/main" id="{3EA87CEC-09CD-4A2C-B5C7-EC076D158B7C}"/>
              </a:ext>
            </a:extLst>
          </p:cNvPr>
          <p:cNvSpPr txBox="1">
            <a:spLocks noChangeArrowheads="1"/>
          </p:cNvSpPr>
          <p:nvPr/>
        </p:nvSpPr>
        <p:spPr bwMode="auto">
          <a:xfrm>
            <a:off x="5018621" y="4492972"/>
            <a:ext cx="1284624"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addvec.o</a:t>
            </a:r>
          </a:p>
        </p:txBody>
      </p:sp>
      <p:sp>
        <p:nvSpPr>
          <p:cNvPr id="19" name="Line 16">
            <a:extLst>
              <a:ext uri="{FF2B5EF4-FFF2-40B4-BE49-F238E27FC236}">
                <a16:creationId xmlns:a16="http://schemas.microsoft.com/office/drawing/2014/main" id="{E472D413-8840-495E-98B0-C40AE1BABAA1}"/>
              </a:ext>
            </a:extLst>
          </p:cNvPr>
          <p:cNvSpPr>
            <a:spLocks noChangeShapeType="1"/>
          </p:cNvSpPr>
          <p:nvPr/>
        </p:nvSpPr>
        <p:spPr bwMode="auto">
          <a:xfrm flipH="1">
            <a:off x="6007633" y="4089219"/>
            <a:ext cx="841375" cy="1066800"/>
          </a:xfrm>
          <a:prstGeom prst="line">
            <a:avLst/>
          </a:prstGeom>
          <a:noFill/>
          <a:ln w="28440">
            <a:solidFill>
              <a:srgbClr val="000066"/>
            </a:solidFill>
            <a:miter lim="800000"/>
            <a:headEnd/>
            <a:tailEnd type="triangle" w="med" len="med"/>
          </a:ln>
          <a:effectLst/>
        </p:spPr>
        <p:txBody>
          <a:bodyPr/>
          <a:lstStyle/>
          <a:p>
            <a:endParaRPr lang="en-US"/>
          </a:p>
        </p:txBody>
      </p:sp>
      <p:sp>
        <p:nvSpPr>
          <p:cNvPr id="20" name="Text Box 17">
            <a:extLst>
              <a:ext uri="{FF2B5EF4-FFF2-40B4-BE49-F238E27FC236}">
                <a16:creationId xmlns:a16="http://schemas.microsoft.com/office/drawing/2014/main" id="{56415FB9-3FFC-4FED-AEBB-EBA8D91EA3FC}"/>
              </a:ext>
            </a:extLst>
          </p:cNvPr>
          <p:cNvSpPr txBox="1">
            <a:spLocks noChangeArrowheads="1"/>
          </p:cNvSpPr>
          <p:nvPr/>
        </p:nvSpPr>
        <p:spPr bwMode="auto">
          <a:xfrm>
            <a:off x="7388015" y="3751629"/>
            <a:ext cx="874255"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i="1" dirty="0">
                <a:solidFill>
                  <a:srgbClr val="C00000"/>
                </a:solidFill>
                <a:latin typeface="Calibri" pitchFamily="34" charset="0"/>
                <a:ea typeface="msgothic" charset="0"/>
                <a:cs typeface="msgothic" charset="0"/>
              </a:rPr>
              <a:t>静态库</a:t>
            </a:r>
            <a:endParaRPr lang="en-GB" sz="1800" b="1" i="1" dirty="0">
              <a:solidFill>
                <a:srgbClr val="C00000"/>
              </a:solidFill>
              <a:latin typeface="Calibri" pitchFamily="34" charset="0"/>
              <a:ea typeface="msgothic" charset="0"/>
              <a:cs typeface="msgothic" charset="0"/>
            </a:endParaRPr>
          </a:p>
        </p:txBody>
      </p:sp>
      <p:sp>
        <p:nvSpPr>
          <p:cNvPr id="21" name="Text Box 18">
            <a:extLst>
              <a:ext uri="{FF2B5EF4-FFF2-40B4-BE49-F238E27FC236}">
                <a16:creationId xmlns:a16="http://schemas.microsoft.com/office/drawing/2014/main" id="{241CEB3B-4DCC-45D0-B49A-0AD7DBBB93BA}"/>
              </a:ext>
            </a:extLst>
          </p:cNvPr>
          <p:cNvSpPr txBox="1">
            <a:spLocks noChangeArrowheads="1"/>
          </p:cNvSpPr>
          <p:nvPr/>
        </p:nvSpPr>
        <p:spPr bwMode="auto">
          <a:xfrm>
            <a:off x="806429" y="4514147"/>
            <a:ext cx="2028417"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i="1" dirty="0">
                <a:solidFill>
                  <a:srgbClr val="C00000"/>
                </a:solidFill>
                <a:latin typeface="Calibri" pitchFamily="34" charset="0"/>
                <a:ea typeface="msgothic" charset="0"/>
                <a:cs typeface="msgothic" charset="0"/>
              </a:rPr>
              <a:t>可重定位目标文件</a:t>
            </a:r>
            <a:endParaRPr lang="en-GB" sz="1800" b="1" i="1" dirty="0">
              <a:solidFill>
                <a:srgbClr val="C00000"/>
              </a:solidFill>
              <a:latin typeface="Calibri" pitchFamily="34" charset="0"/>
              <a:ea typeface="msgothic" charset="0"/>
              <a:cs typeface="msgothic" charset="0"/>
            </a:endParaRPr>
          </a:p>
        </p:txBody>
      </p:sp>
      <p:sp>
        <p:nvSpPr>
          <p:cNvPr id="22" name="Text Box 19">
            <a:extLst>
              <a:ext uri="{FF2B5EF4-FFF2-40B4-BE49-F238E27FC236}">
                <a16:creationId xmlns:a16="http://schemas.microsoft.com/office/drawing/2014/main" id="{F7AE8F81-2ACE-4BB2-8FE1-B0EC42C7328C}"/>
              </a:ext>
            </a:extLst>
          </p:cNvPr>
          <p:cNvSpPr txBox="1">
            <a:spLocks noChangeArrowheads="1"/>
          </p:cNvSpPr>
          <p:nvPr/>
        </p:nvSpPr>
        <p:spPr bwMode="auto">
          <a:xfrm>
            <a:off x="5558541" y="6024833"/>
            <a:ext cx="2951747"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i="1" dirty="0">
                <a:solidFill>
                  <a:srgbClr val="C00000"/>
                </a:solidFill>
                <a:latin typeface="Calibri" pitchFamily="34" charset="0"/>
                <a:ea typeface="msgothic" charset="0"/>
                <a:cs typeface="msgothic" charset="0"/>
              </a:rPr>
              <a:t>完全链接的可执行目标文件</a:t>
            </a:r>
            <a:endParaRPr lang="en-GB" sz="1800" b="1" i="1" dirty="0">
              <a:solidFill>
                <a:srgbClr val="C00000"/>
              </a:solidFill>
              <a:latin typeface="Calibri" pitchFamily="34" charset="0"/>
              <a:ea typeface="msgothic" charset="0"/>
              <a:cs typeface="msgothic" charset="0"/>
            </a:endParaRPr>
          </a:p>
        </p:txBody>
      </p:sp>
      <p:sp>
        <p:nvSpPr>
          <p:cNvPr id="23" name="Text Box 20">
            <a:extLst>
              <a:ext uri="{FF2B5EF4-FFF2-40B4-BE49-F238E27FC236}">
                <a16:creationId xmlns:a16="http://schemas.microsoft.com/office/drawing/2014/main" id="{278860A4-160F-4289-AF3F-934DC1C6E45D}"/>
              </a:ext>
            </a:extLst>
          </p:cNvPr>
          <p:cNvSpPr txBox="1">
            <a:spLocks noChangeArrowheads="1"/>
          </p:cNvSpPr>
          <p:nvPr/>
        </p:nvSpPr>
        <p:spPr bwMode="auto">
          <a:xfrm>
            <a:off x="2286533" y="2784822"/>
            <a:ext cx="1284624"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itchFamily="49" charset="0"/>
                <a:ea typeface="msgothic" charset="0"/>
                <a:cs typeface="msgothic" charset="0"/>
              </a:rPr>
              <a:t>vector.h</a:t>
            </a:r>
            <a:endParaRPr lang="en-GB" sz="1800" b="1" dirty="0">
              <a:latin typeface="Courier New" pitchFamily="49" charset="0"/>
              <a:ea typeface="msgothic" charset="0"/>
              <a:cs typeface="msgothic" charset="0"/>
            </a:endParaRPr>
          </a:p>
        </p:txBody>
      </p:sp>
      <p:sp>
        <p:nvSpPr>
          <p:cNvPr id="24" name="Line 21">
            <a:extLst>
              <a:ext uri="{FF2B5EF4-FFF2-40B4-BE49-F238E27FC236}">
                <a16:creationId xmlns:a16="http://schemas.microsoft.com/office/drawing/2014/main" id="{AF58F274-5E90-4BC8-920F-7EC146362E5C}"/>
              </a:ext>
            </a:extLst>
          </p:cNvPr>
          <p:cNvSpPr>
            <a:spLocks noChangeShapeType="1"/>
          </p:cNvSpPr>
          <p:nvPr/>
        </p:nvSpPr>
        <p:spPr bwMode="auto">
          <a:xfrm>
            <a:off x="2908833" y="3081684"/>
            <a:ext cx="1587"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5" name="Rectangle 22">
            <a:extLst>
              <a:ext uri="{FF2B5EF4-FFF2-40B4-BE49-F238E27FC236}">
                <a16:creationId xmlns:a16="http://schemas.microsoft.com/office/drawing/2014/main" id="{F53E7760-672C-4A7C-9191-B1A7D4EB0DF9}"/>
              </a:ext>
            </a:extLst>
          </p:cNvPr>
          <p:cNvSpPr>
            <a:spLocks noChangeArrowheads="1"/>
          </p:cNvSpPr>
          <p:nvPr/>
        </p:nvSpPr>
        <p:spPr bwMode="auto">
          <a:xfrm>
            <a:off x="4355046" y="2787997"/>
            <a:ext cx="1304925" cy="644525"/>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alibri" pitchFamily="34" charset="0"/>
                <a:ea typeface="msgothic" charset="0"/>
                <a:cs typeface="msgothic" charset="0"/>
              </a:rPr>
              <a:t>Archiver</a:t>
            </a:r>
            <a:endParaRPr lang="en-GB" sz="18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itchFamily="34" charset="0"/>
                <a:ea typeface="msgothic" charset="0"/>
                <a:cs typeface="msgothic" charset="0"/>
              </a:rPr>
              <a:t>(</a:t>
            </a:r>
            <a:r>
              <a:rPr lang="en-GB" sz="1800" b="1" dirty="0" err="1">
                <a:latin typeface="Courier New" pitchFamily="49" charset="0"/>
                <a:ea typeface="msgothic" charset="0"/>
                <a:cs typeface="msgothic" charset="0"/>
              </a:rPr>
              <a:t>ar</a:t>
            </a:r>
            <a:r>
              <a:rPr lang="en-GB" sz="1800" b="1" dirty="0">
                <a:latin typeface="Calibri" pitchFamily="34" charset="0"/>
                <a:ea typeface="msgothic" charset="0"/>
                <a:cs typeface="msgothic" charset="0"/>
              </a:rPr>
              <a:t>)</a:t>
            </a:r>
          </a:p>
        </p:txBody>
      </p:sp>
      <p:sp>
        <p:nvSpPr>
          <p:cNvPr id="26" name="Line 23">
            <a:extLst>
              <a:ext uri="{FF2B5EF4-FFF2-40B4-BE49-F238E27FC236}">
                <a16:creationId xmlns:a16="http://schemas.microsoft.com/office/drawing/2014/main" id="{67AD1F60-76C5-4419-8487-61613F23B385}"/>
              </a:ext>
            </a:extLst>
          </p:cNvPr>
          <p:cNvSpPr>
            <a:spLocks noChangeShapeType="1"/>
          </p:cNvSpPr>
          <p:nvPr/>
        </p:nvSpPr>
        <p:spPr bwMode="auto">
          <a:xfrm>
            <a:off x="5007509" y="3454747"/>
            <a:ext cx="1587" cy="411163"/>
          </a:xfrm>
          <a:prstGeom prst="line">
            <a:avLst/>
          </a:prstGeom>
          <a:noFill/>
          <a:ln w="28440">
            <a:solidFill>
              <a:srgbClr val="000066"/>
            </a:solidFill>
            <a:miter lim="800000"/>
            <a:headEnd/>
            <a:tailEnd type="triangle" w="med" len="med"/>
          </a:ln>
          <a:effectLst/>
        </p:spPr>
        <p:txBody>
          <a:bodyPr/>
          <a:lstStyle/>
          <a:p>
            <a:endParaRPr lang="en-US"/>
          </a:p>
        </p:txBody>
      </p:sp>
      <p:sp>
        <p:nvSpPr>
          <p:cNvPr id="27" name="Line 24">
            <a:extLst>
              <a:ext uri="{FF2B5EF4-FFF2-40B4-BE49-F238E27FC236}">
                <a16:creationId xmlns:a16="http://schemas.microsoft.com/office/drawing/2014/main" id="{C2F3ECB1-9472-41BB-8B49-81CFF0EA37EB}"/>
              </a:ext>
            </a:extLst>
          </p:cNvPr>
          <p:cNvSpPr>
            <a:spLocks noChangeShapeType="1"/>
          </p:cNvSpPr>
          <p:nvPr/>
        </p:nvSpPr>
        <p:spPr bwMode="auto">
          <a:xfrm>
            <a:off x="4455058" y="2373659"/>
            <a:ext cx="1588" cy="411163"/>
          </a:xfrm>
          <a:prstGeom prst="line">
            <a:avLst/>
          </a:prstGeom>
          <a:noFill/>
          <a:ln w="28440">
            <a:solidFill>
              <a:srgbClr val="000066"/>
            </a:solidFill>
            <a:miter lim="800000"/>
            <a:headEnd/>
            <a:tailEnd type="triangle" w="med" len="med"/>
          </a:ln>
          <a:effectLst/>
        </p:spPr>
        <p:txBody>
          <a:bodyPr/>
          <a:lstStyle/>
          <a:p>
            <a:endParaRPr lang="en-US"/>
          </a:p>
        </p:txBody>
      </p:sp>
      <p:sp>
        <p:nvSpPr>
          <p:cNvPr id="28" name="Line 25">
            <a:extLst>
              <a:ext uri="{FF2B5EF4-FFF2-40B4-BE49-F238E27FC236}">
                <a16:creationId xmlns:a16="http://schemas.microsoft.com/office/drawing/2014/main" id="{0830BCEF-E88A-41C0-9629-A0A7E4997CB7}"/>
              </a:ext>
            </a:extLst>
          </p:cNvPr>
          <p:cNvSpPr>
            <a:spLocks noChangeShapeType="1"/>
          </p:cNvSpPr>
          <p:nvPr/>
        </p:nvSpPr>
        <p:spPr bwMode="auto">
          <a:xfrm>
            <a:off x="5598058" y="2373659"/>
            <a:ext cx="1588" cy="411163"/>
          </a:xfrm>
          <a:prstGeom prst="line">
            <a:avLst/>
          </a:prstGeom>
          <a:noFill/>
          <a:ln w="28440">
            <a:solidFill>
              <a:srgbClr val="000066"/>
            </a:solidFill>
            <a:miter lim="800000"/>
            <a:headEnd/>
            <a:tailEnd type="triangle" w="med" len="med"/>
          </a:ln>
          <a:effectLst/>
        </p:spPr>
        <p:txBody>
          <a:bodyPr/>
          <a:lstStyle/>
          <a:p>
            <a:endParaRPr lang="en-US"/>
          </a:p>
        </p:txBody>
      </p:sp>
      <p:sp>
        <p:nvSpPr>
          <p:cNvPr id="29" name="Text Box 26">
            <a:extLst>
              <a:ext uri="{FF2B5EF4-FFF2-40B4-BE49-F238E27FC236}">
                <a16:creationId xmlns:a16="http://schemas.microsoft.com/office/drawing/2014/main" id="{D5B3949A-FD98-483A-802C-2745F6EEAE6A}"/>
              </a:ext>
            </a:extLst>
          </p:cNvPr>
          <p:cNvSpPr txBox="1">
            <a:spLocks noChangeArrowheads="1"/>
          </p:cNvSpPr>
          <p:nvPr/>
        </p:nvSpPr>
        <p:spPr bwMode="auto">
          <a:xfrm>
            <a:off x="3627971" y="2037110"/>
            <a:ext cx="1284624"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addvec.o</a:t>
            </a:r>
          </a:p>
        </p:txBody>
      </p:sp>
      <p:sp>
        <p:nvSpPr>
          <p:cNvPr id="30" name="Text Box 27">
            <a:extLst>
              <a:ext uri="{FF2B5EF4-FFF2-40B4-BE49-F238E27FC236}">
                <a16:creationId xmlns:a16="http://schemas.microsoft.com/office/drawing/2014/main" id="{D4BF2EDC-F888-4FAA-BC13-FF244CD76EF3}"/>
              </a:ext>
            </a:extLst>
          </p:cNvPr>
          <p:cNvSpPr txBox="1">
            <a:spLocks noChangeArrowheads="1"/>
          </p:cNvSpPr>
          <p:nvPr/>
        </p:nvSpPr>
        <p:spPr bwMode="auto">
          <a:xfrm>
            <a:off x="4951946" y="2022822"/>
            <a:ext cx="1422483" cy="354906"/>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a:latin typeface="Courier New" pitchFamily="49" charset="0"/>
                <a:ea typeface="msgothic" charset="0"/>
                <a:cs typeface="msgothic" charset="0"/>
              </a:rPr>
              <a:t>multvec.o</a:t>
            </a:r>
          </a:p>
        </p:txBody>
      </p:sp>
      <p:sp>
        <p:nvSpPr>
          <p:cNvPr id="31" name="Text Box 18">
            <a:extLst>
              <a:ext uri="{FF2B5EF4-FFF2-40B4-BE49-F238E27FC236}">
                <a16:creationId xmlns:a16="http://schemas.microsoft.com/office/drawing/2014/main" id="{02053C73-70B8-4A04-8090-75D97D0BB7D3}"/>
              </a:ext>
            </a:extLst>
          </p:cNvPr>
          <p:cNvSpPr txBox="1">
            <a:spLocks noChangeArrowheads="1"/>
          </p:cNvSpPr>
          <p:nvPr/>
        </p:nvSpPr>
        <p:spPr bwMode="auto">
          <a:xfrm>
            <a:off x="259632" y="2772915"/>
            <a:ext cx="874255"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i="1" dirty="0">
                <a:solidFill>
                  <a:srgbClr val="C00000"/>
                </a:solidFill>
                <a:latin typeface="Calibri" pitchFamily="34" charset="0"/>
                <a:ea typeface="msgothic" charset="0"/>
                <a:cs typeface="msgothic" charset="0"/>
              </a:rPr>
              <a:t>源文件</a:t>
            </a:r>
            <a:endParaRPr lang="en-GB" sz="1800" b="1" i="1" dirty="0">
              <a:solidFill>
                <a:srgbClr val="C00000"/>
              </a:solidFill>
              <a:latin typeface="Calibri" pitchFamily="34" charset="0"/>
              <a:ea typeface="msgothic" charset="0"/>
              <a:cs typeface="msgothic" charset="0"/>
            </a:endParaRPr>
          </a:p>
        </p:txBody>
      </p:sp>
      <p:sp>
        <p:nvSpPr>
          <p:cNvPr id="32" name="Line 2">
            <a:extLst>
              <a:ext uri="{FF2B5EF4-FFF2-40B4-BE49-F238E27FC236}">
                <a16:creationId xmlns:a16="http://schemas.microsoft.com/office/drawing/2014/main" id="{D50D4343-8051-4A2A-84FE-39D41B352B77}"/>
              </a:ext>
            </a:extLst>
          </p:cNvPr>
          <p:cNvSpPr>
            <a:spLocks noChangeShapeType="1"/>
          </p:cNvSpPr>
          <p:nvPr/>
        </p:nvSpPr>
        <p:spPr bwMode="auto">
          <a:xfrm>
            <a:off x="4436875" y="928239"/>
            <a:ext cx="1587" cy="216000"/>
          </a:xfrm>
          <a:prstGeom prst="line">
            <a:avLst/>
          </a:prstGeom>
          <a:noFill/>
          <a:ln w="28440">
            <a:solidFill>
              <a:srgbClr val="000066"/>
            </a:solidFill>
            <a:miter lim="800000"/>
            <a:headEnd/>
            <a:tailEnd type="triangle" w="med" len="med"/>
          </a:ln>
          <a:effectLst/>
        </p:spPr>
        <p:txBody>
          <a:bodyPr/>
          <a:lstStyle/>
          <a:p>
            <a:endParaRPr lang="en-US"/>
          </a:p>
        </p:txBody>
      </p:sp>
      <p:sp>
        <p:nvSpPr>
          <p:cNvPr id="33" name="Rectangle 3">
            <a:extLst>
              <a:ext uri="{FF2B5EF4-FFF2-40B4-BE49-F238E27FC236}">
                <a16:creationId xmlns:a16="http://schemas.microsoft.com/office/drawing/2014/main" id="{1B75BAAA-B229-4093-B742-4E1B39301D1E}"/>
              </a:ext>
            </a:extLst>
          </p:cNvPr>
          <p:cNvSpPr>
            <a:spLocks noChangeArrowheads="1"/>
          </p:cNvSpPr>
          <p:nvPr/>
        </p:nvSpPr>
        <p:spPr bwMode="auto">
          <a:xfrm>
            <a:off x="3972458" y="1208461"/>
            <a:ext cx="2070100" cy="644525"/>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itchFamily="34" charset="0"/>
                <a:ea typeface="msgothic" charset="0"/>
                <a:cs typeface="msgothic" charset="0"/>
              </a:rPr>
              <a:t>Translators</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alibri" pitchFamily="34" charset="0"/>
                <a:ea typeface="msgothic" charset="0"/>
                <a:cs typeface="msgothic" charset="0"/>
              </a:rPr>
              <a:t>(</a:t>
            </a:r>
            <a:r>
              <a:rPr lang="en-US" altLang="zh-CN" sz="1800" b="1" dirty="0" err="1">
                <a:latin typeface="Courier New" pitchFamily="49" charset="0"/>
                <a:ea typeface="msgothic" charset="0"/>
                <a:cs typeface="msgothic" charset="0"/>
              </a:rPr>
              <a:t>gcc</a:t>
            </a:r>
            <a:r>
              <a:rPr lang="en-US" altLang="zh-CN" sz="1800" b="1" dirty="0">
                <a:latin typeface="Courier New" pitchFamily="49" charset="0"/>
                <a:ea typeface="msgothic" charset="0"/>
                <a:cs typeface="msgothic" charset="0"/>
              </a:rPr>
              <a:t> -c</a:t>
            </a:r>
            <a:r>
              <a:rPr lang="en-GB" sz="1800" b="1" dirty="0">
                <a:latin typeface="Calibri" pitchFamily="34" charset="0"/>
                <a:ea typeface="msgothic" charset="0"/>
                <a:cs typeface="msgothic" charset="0"/>
              </a:rPr>
              <a:t>)</a:t>
            </a:r>
          </a:p>
        </p:txBody>
      </p:sp>
      <p:sp>
        <p:nvSpPr>
          <p:cNvPr id="34" name="Text Box 4">
            <a:extLst>
              <a:ext uri="{FF2B5EF4-FFF2-40B4-BE49-F238E27FC236}">
                <a16:creationId xmlns:a16="http://schemas.microsoft.com/office/drawing/2014/main" id="{1C3BF5D5-F376-40F2-B481-3A10F1AF66F5}"/>
              </a:ext>
            </a:extLst>
          </p:cNvPr>
          <p:cNvSpPr txBox="1">
            <a:spLocks noChangeArrowheads="1"/>
          </p:cNvSpPr>
          <p:nvPr/>
        </p:nvSpPr>
        <p:spPr bwMode="auto">
          <a:xfrm>
            <a:off x="3733997" y="631377"/>
            <a:ext cx="1284624" cy="359010"/>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itchFamily="49" charset="0"/>
                <a:ea typeface="msgothic" charset="0"/>
                <a:cs typeface="msgothic" charset="0"/>
              </a:rPr>
              <a:t>addvec.c</a:t>
            </a:r>
            <a:endParaRPr lang="en-GB" sz="1800" b="1" dirty="0">
              <a:latin typeface="Courier New" pitchFamily="49" charset="0"/>
              <a:ea typeface="msgothic" charset="0"/>
              <a:cs typeface="msgothic" charset="0"/>
            </a:endParaRPr>
          </a:p>
        </p:txBody>
      </p:sp>
      <p:sp>
        <p:nvSpPr>
          <p:cNvPr id="35" name="Text Box 20">
            <a:extLst>
              <a:ext uri="{FF2B5EF4-FFF2-40B4-BE49-F238E27FC236}">
                <a16:creationId xmlns:a16="http://schemas.microsoft.com/office/drawing/2014/main" id="{7B494AE9-7735-42D5-BEF8-083FF8B0E932}"/>
              </a:ext>
            </a:extLst>
          </p:cNvPr>
          <p:cNvSpPr txBox="1">
            <a:spLocks noChangeArrowheads="1"/>
          </p:cNvSpPr>
          <p:nvPr/>
        </p:nvSpPr>
        <p:spPr bwMode="auto">
          <a:xfrm>
            <a:off x="4929923" y="631377"/>
            <a:ext cx="1422483" cy="359010"/>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itchFamily="49" charset="0"/>
                <a:ea typeface="msgothic" charset="0"/>
                <a:cs typeface="msgothic" charset="0"/>
              </a:rPr>
              <a:t>multvec.c</a:t>
            </a:r>
            <a:endParaRPr lang="en-GB" sz="1800" b="1" dirty="0">
              <a:latin typeface="Courier New" pitchFamily="49" charset="0"/>
              <a:ea typeface="msgothic" charset="0"/>
              <a:cs typeface="msgothic" charset="0"/>
            </a:endParaRPr>
          </a:p>
        </p:txBody>
      </p:sp>
      <p:sp>
        <p:nvSpPr>
          <p:cNvPr id="36" name="Line 21">
            <a:extLst>
              <a:ext uri="{FF2B5EF4-FFF2-40B4-BE49-F238E27FC236}">
                <a16:creationId xmlns:a16="http://schemas.microsoft.com/office/drawing/2014/main" id="{C7F80A1D-164B-48E6-9A67-18C632693F2C}"/>
              </a:ext>
            </a:extLst>
          </p:cNvPr>
          <p:cNvSpPr>
            <a:spLocks noChangeShapeType="1"/>
          </p:cNvSpPr>
          <p:nvPr/>
        </p:nvSpPr>
        <p:spPr bwMode="auto">
          <a:xfrm>
            <a:off x="5621150" y="928239"/>
            <a:ext cx="1587" cy="216000"/>
          </a:xfrm>
          <a:prstGeom prst="line">
            <a:avLst/>
          </a:prstGeom>
          <a:noFill/>
          <a:ln w="28440">
            <a:solidFill>
              <a:srgbClr val="000066"/>
            </a:solidFill>
            <a:miter lim="800000"/>
            <a:headEnd/>
            <a:tailEnd type="triangle" w="med" len="med"/>
          </a:ln>
          <a:effectLst/>
        </p:spPr>
        <p:txBody>
          <a:bodyPr/>
          <a:lstStyle/>
          <a:p>
            <a:endParaRPr lang="en-US"/>
          </a:p>
        </p:txBody>
      </p:sp>
      <p:sp>
        <p:nvSpPr>
          <p:cNvPr id="37" name="Line 2">
            <a:extLst>
              <a:ext uri="{FF2B5EF4-FFF2-40B4-BE49-F238E27FC236}">
                <a16:creationId xmlns:a16="http://schemas.microsoft.com/office/drawing/2014/main" id="{354D7CCC-D774-434F-8968-4BCE6BD49A50}"/>
              </a:ext>
            </a:extLst>
          </p:cNvPr>
          <p:cNvSpPr>
            <a:spLocks noChangeShapeType="1"/>
          </p:cNvSpPr>
          <p:nvPr/>
        </p:nvSpPr>
        <p:spPr bwMode="auto">
          <a:xfrm>
            <a:off x="4426630" y="1903710"/>
            <a:ext cx="1587" cy="216000"/>
          </a:xfrm>
          <a:prstGeom prst="line">
            <a:avLst/>
          </a:prstGeom>
          <a:noFill/>
          <a:ln w="28440">
            <a:solidFill>
              <a:srgbClr val="000066"/>
            </a:solidFill>
            <a:miter lim="800000"/>
            <a:headEnd/>
            <a:tailEnd type="triangle" w="med" len="med"/>
          </a:ln>
          <a:effectLst/>
        </p:spPr>
        <p:txBody>
          <a:bodyPr/>
          <a:lstStyle/>
          <a:p>
            <a:endParaRPr lang="en-US"/>
          </a:p>
        </p:txBody>
      </p:sp>
      <p:sp>
        <p:nvSpPr>
          <p:cNvPr id="38" name="Line 21">
            <a:extLst>
              <a:ext uri="{FF2B5EF4-FFF2-40B4-BE49-F238E27FC236}">
                <a16:creationId xmlns:a16="http://schemas.microsoft.com/office/drawing/2014/main" id="{18D3C833-04D1-4231-8081-AC4F13C0CF02}"/>
              </a:ext>
            </a:extLst>
          </p:cNvPr>
          <p:cNvSpPr>
            <a:spLocks noChangeShapeType="1"/>
          </p:cNvSpPr>
          <p:nvPr/>
        </p:nvSpPr>
        <p:spPr bwMode="auto">
          <a:xfrm>
            <a:off x="5610905" y="1903710"/>
            <a:ext cx="1587" cy="216000"/>
          </a:xfrm>
          <a:prstGeom prst="line">
            <a:avLst/>
          </a:prstGeom>
          <a:noFill/>
          <a:ln w="28440">
            <a:solidFill>
              <a:srgbClr val="000066"/>
            </a:solidFill>
            <a:miter lim="800000"/>
            <a:headEnd/>
            <a:tailEnd type="triangle" w="med" len="med"/>
          </a:ln>
          <a:effectLst/>
        </p:spPr>
        <p:txBody>
          <a:bodyPr/>
          <a:lstStyle/>
          <a:p>
            <a:endParaRPr lang="en-US"/>
          </a:p>
        </p:txBody>
      </p:sp>
      <p:sp>
        <p:nvSpPr>
          <p:cNvPr id="39" name="Text Box 18">
            <a:extLst>
              <a:ext uri="{FF2B5EF4-FFF2-40B4-BE49-F238E27FC236}">
                <a16:creationId xmlns:a16="http://schemas.microsoft.com/office/drawing/2014/main" id="{46CCE4E4-7B66-4DF4-A560-B747C6FFA96B}"/>
              </a:ext>
            </a:extLst>
          </p:cNvPr>
          <p:cNvSpPr txBox="1">
            <a:spLocks noChangeArrowheads="1"/>
          </p:cNvSpPr>
          <p:nvPr/>
        </p:nvSpPr>
        <p:spPr bwMode="auto">
          <a:xfrm>
            <a:off x="2755922" y="665035"/>
            <a:ext cx="874255"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i="1" dirty="0">
                <a:solidFill>
                  <a:srgbClr val="C00000"/>
                </a:solidFill>
                <a:latin typeface="Calibri" pitchFamily="34" charset="0"/>
                <a:ea typeface="msgothic" charset="0"/>
                <a:cs typeface="msgothic" charset="0"/>
              </a:rPr>
              <a:t>源文件</a:t>
            </a:r>
            <a:endParaRPr lang="en-GB" sz="1800" b="1" i="1" dirty="0">
              <a:solidFill>
                <a:srgbClr val="C00000"/>
              </a:solidFill>
              <a:latin typeface="Calibri" pitchFamily="34" charset="0"/>
              <a:ea typeface="msgothic" charset="0"/>
              <a:cs typeface="msgothic" charset="0"/>
            </a:endParaRPr>
          </a:p>
        </p:txBody>
      </p:sp>
      <p:sp>
        <p:nvSpPr>
          <p:cNvPr id="41" name="Text Box 18">
            <a:extLst>
              <a:ext uri="{FF2B5EF4-FFF2-40B4-BE49-F238E27FC236}">
                <a16:creationId xmlns:a16="http://schemas.microsoft.com/office/drawing/2014/main" id="{9ECE3A1B-5A82-4535-9B7C-711186D06295}"/>
              </a:ext>
            </a:extLst>
          </p:cNvPr>
          <p:cNvSpPr txBox="1">
            <a:spLocks noChangeArrowheads="1"/>
          </p:cNvSpPr>
          <p:nvPr/>
        </p:nvSpPr>
        <p:spPr bwMode="auto">
          <a:xfrm>
            <a:off x="1623430" y="2057900"/>
            <a:ext cx="2028417" cy="3659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i="1" dirty="0">
                <a:solidFill>
                  <a:srgbClr val="C00000"/>
                </a:solidFill>
                <a:latin typeface="Calibri" pitchFamily="34" charset="0"/>
                <a:ea typeface="msgothic" charset="0"/>
                <a:cs typeface="msgothic" charset="0"/>
              </a:rPr>
              <a:t>可重定位目标文件</a:t>
            </a:r>
            <a:endParaRPr lang="en-GB" sz="1800" b="1" i="1" dirty="0">
              <a:solidFill>
                <a:srgbClr val="C00000"/>
              </a:solidFill>
              <a:latin typeface="Calibri" pitchFamily="34" charset="0"/>
              <a:ea typeface="msgothic" charset="0"/>
              <a:cs typeface="msgothic" charset="0"/>
            </a:endParaRPr>
          </a:p>
        </p:txBody>
      </p:sp>
    </p:spTree>
    <p:extLst>
      <p:ext uri="{BB962C8B-B14F-4D97-AF65-F5344CB8AC3E}">
        <p14:creationId xmlns:p14="http://schemas.microsoft.com/office/powerpoint/2010/main" val="1883430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F259BE-9246-4A3E-B614-158D25C719E5}"/>
              </a:ext>
            </a:extLst>
          </p:cNvPr>
          <p:cNvSpPr>
            <a:spLocks noGrp="1"/>
          </p:cNvSpPr>
          <p:nvPr>
            <p:ph type="title"/>
          </p:nvPr>
        </p:nvSpPr>
        <p:spPr/>
        <p:txBody>
          <a:bodyPr>
            <a:normAutofit fontScale="90000"/>
          </a:bodyPr>
          <a:lstStyle/>
          <a:p>
            <a:r>
              <a:rPr lang="en-US" altLang="zh-CN" dirty="0"/>
              <a:t>7.6.3 </a:t>
            </a:r>
            <a:r>
              <a:rPr lang="zh-CN" altLang="en-US" dirty="0"/>
              <a:t>链接器如何使用静态库来解析引用</a:t>
            </a:r>
          </a:p>
        </p:txBody>
      </p:sp>
      <p:sp>
        <p:nvSpPr>
          <p:cNvPr id="3" name="内容占位符 2">
            <a:extLst>
              <a:ext uri="{FF2B5EF4-FFF2-40B4-BE49-F238E27FC236}">
                <a16:creationId xmlns:a16="http://schemas.microsoft.com/office/drawing/2014/main" id="{6D7129D7-8FE2-40DB-9636-190571BDC8F3}"/>
              </a:ext>
            </a:extLst>
          </p:cNvPr>
          <p:cNvSpPr>
            <a:spLocks noGrp="1"/>
          </p:cNvSpPr>
          <p:nvPr>
            <p:ph idx="1"/>
          </p:nvPr>
        </p:nvSpPr>
        <p:spPr/>
        <p:txBody>
          <a:bodyPr>
            <a:normAutofit fontScale="85000" lnSpcReduction="20000"/>
          </a:bodyPr>
          <a:lstStyle/>
          <a:p>
            <a:pPr>
              <a:lnSpc>
                <a:spcPct val="120000"/>
              </a:lnSpc>
              <a:spcBef>
                <a:spcPts val="0"/>
              </a:spcBef>
            </a:pPr>
            <a:r>
              <a:rPr lang="zh-CN" altLang="en-US" dirty="0"/>
              <a:t>符号解析阶段，链接器从左到右按照它们在编译器驱动程序命令行上出现的顺序来扫描可重定位目标文件和存档文件，扫描中，链接器维护三个集合：</a:t>
            </a:r>
            <a:endParaRPr lang="en-US" altLang="zh-CN" dirty="0"/>
          </a:p>
          <a:p>
            <a:pPr lvl="1">
              <a:lnSpc>
                <a:spcPct val="120000"/>
              </a:lnSpc>
              <a:spcBef>
                <a:spcPts val="0"/>
              </a:spcBef>
            </a:pPr>
            <a:r>
              <a:rPr lang="zh-CN" altLang="en-US" dirty="0"/>
              <a:t>可重定位目标文件集合</a:t>
            </a:r>
            <a:r>
              <a:rPr lang="en-US" altLang="zh-CN" i="1" dirty="0"/>
              <a:t>E</a:t>
            </a:r>
            <a:r>
              <a:rPr lang="zh-CN" altLang="en-US" dirty="0"/>
              <a:t>：集合中的文件会被合并起来形成可执行文件</a:t>
            </a:r>
            <a:endParaRPr lang="en-US" altLang="zh-CN" dirty="0"/>
          </a:p>
          <a:p>
            <a:pPr lvl="1">
              <a:lnSpc>
                <a:spcPct val="120000"/>
              </a:lnSpc>
              <a:spcBef>
                <a:spcPts val="0"/>
              </a:spcBef>
            </a:pPr>
            <a:r>
              <a:rPr lang="zh-CN" altLang="en-US" dirty="0"/>
              <a:t>未解析符号集合</a:t>
            </a:r>
            <a:r>
              <a:rPr lang="en-US" altLang="zh-CN" sz="2100" i="1" dirty="0"/>
              <a:t>U</a:t>
            </a:r>
            <a:r>
              <a:rPr lang="zh-CN" altLang="en-US" dirty="0"/>
              <a:t>：引用了但是尚未定义的符号</a:t>
            </a:r>
            <a:endParaRPr lang="en-US" altLang="zh-CN" dirty="0"/>
          </a:p>
          <a:p>
            <a:pPr lvl="1">
              <a:lnSpc>
                <a:spcPct val="120000"/>
              </a:lnSpc>
              <a:spcBef>
                <a:spcPts val="0"/>
              </a:spcBef>
            </a:pPr>
            <a:r>
              <a:rPr lang="zh-CN" altLang="en-US" dirty="0"/>
              <a:t>符号集合</a:t>
            </a:r>
            <a:r>
              <a:rPr lang="en-US" altLang="zh-CN" sz="2100" i="1" dirty="0"/>
              <a:t>D</a:t>
            </a:r>
            <a:r>
              <a:rPr lang="zh-CN" altLang="en-US" dirty="0"/>
              <a:t>：在前面输入文件中已定义的符号集合</a:t>
            </a:r>
            <a:endParaRPr lang="en-US" altLang="zh-CN" dirty="0"/>
          </a:p>
          <a:p>
            <a:pPr lvl="1">
              <a:lnSpc>
                <a:spcPct val="120000"/>
              </a:lnSpc>
              <a:spcBef>
                <a:spcPts val="0"/>
              </a:spcBef>
            </a:pPr>
            <a:r>
              <a:rPr lang="zh-CN" altLang="en-US" dirty="0"/>
              <a:t>初始时，</a:t>
            </a:r>
            <a:r>
              <a:rPr lang="en-US" altLang="zh-CN" sz="2100" i="1" dirty="0"/>
              <a:t>E</a:t>
            </a:r>
            <a:r>
              <a:rPr lang="zh-CN" altLang="en-US" dirty="0"/>
              <a:t>、</a:t>
            </a:r>
            <a:r>
              <a:rPr lang="en-US" altLang="zh-CN" sz="2100" i="1" dirty="0"/>
              <a:t>U</a:t>
            </a:r>
            <a:r>
              <a:rPr lang="zh-CN" altLang="en-US" dirty="0"/>
              <a:t>、</a:t>
            </a:r>
            <a:r>
              <a:rPr lang="en-US" altLang="zh-CN" sz="2100" i="1" dirty="0"/>
              <a:t>D</a:t>
            </a:r>
            <a:r>
              <a:rPr lang="zh-CN" altLang="en-US" dirty="0"/>
              <a:t>均为空</a:t>
            </a:r>
            <a:endParaRPr lang="en-US" altLang="zh-CN" dirty="0"/>
          </a:p>
          <a:p>
            <a:pPr>
              <a:lnSpc>
                <a:spcPct val="120000"/>
              </a:lnSpc>
              <a:spcBef>
                <a:spcPts val="0"/>
              </a:spcBef>
            </a:pPr>
            <a:r>
              <a:rPr lang="zh-CN" altLang="en-US" dirty="0"/>
              <a:t>解析过程：</a:t>
            </a:r>
            <a:endParaRPr lang="en-US" altLang="zh-CN" dirty="0"/>
          </a:p>
          <a:p>
            <a:pPr lvl="1">
              <a:lnSpc>
                <a:spcPct val="120000"/>
              </a:lnSpc>
              <a:spcBef>
                <a:spcPts val="0"/>
              </a:spcBef>
            </a:pPr>
            <a:r>
              <a:rPr lang="zh-CN" altLang="en-US" dirty="0"/>
              <a:t>命令行上的每个输入文件</a:t>
            </a:r>
            <a:r>
              <a:rPr lang="en-US" altLang="zh-CN" sz="2100" i="1" dirty="0"/>
              <a:t>f</a:t>
            </a:r>
            <a:r>
              <a:rPr lang="zh-CN" altLang="en-US" dirty="0"/>
              <a:t>，链接器判断</a:t>
            </a:r>
            <a:r>
              <a:rPr lang="en-US" altLang="zh-CN" i="1" dirty="0"/>
              <a:t>f</a:t>
            </a:r>
            <a:r>
              <a:rPr lang="zh-CN" altLang="en-US" dirty="0"/>
              <a:t>是一个目标文件还是一个存档文件</a:t>
            </a:r>
            <a:endParaRPr lang="en-US" altLang="zh-CN" dirty="0"/>
          </a:p>
          <a:p>
            <a:pPr lvl="2">
              <a:lnSpc>
                <a:spcPct val="120000"/>
              </a:lnSpc>
              <a:spcBef>
                <a:spcPts val="0"/>
              </a:spcBef>
            </a:pPr>
            <a:r>
              <a:rPr lang="zh-CN" altLang="en-US" dirty="0"/>
              <a:t>如果</a:t>
            </a:r>
            <a:r>
              <a:rPr lang="en-US" altLang="zh-CN" i="1" dirty="0"/>
              <a:t>f</a:t>
            </a:r>
            <a:r>
              <a:rPr lang="zh-CN" altLang="en-US" dirty="0"/>
              <a:t>是一个目标文件，链接器把</a:t>
            </a:r>
            <a:r>
              <a:rPr lang="en-US" altLang="zh-CN" i="1" dirty="0"/>
              <a:t>f</a:t>
            </a:r>
            <a:r>
              <a:rPr lang="zh-CN" altLang="en-US" dirty="0"/>
              <a:t>添加到</a:t>
            </a:r>
            <a:r>
              <a:rPr lang="en-US" altLang="zh-CN" i="1" dirty="0"/>
              <a:t>E</a:t>
            </a:r>
            <a:r>
              <a:rPr lang="zh-CN" altLang="en-US" dirty="0"/>
              <a:t>，修改</a:t>
            </a:r>
            <a:r>
              <a:rPr lang="en-US" altLang="zh-CN" i="1" dirty="0"/>
              <a:t>U</a:t>
            </a:r>
            <a:r>
              <a:rPr lang="zh-CN" altLang="en-US" dirty="0"/>
              <a:t>和</a:t>
            </a:r>
            <a:r>
              <a:rPr lang="en-US" altLang="zh-CN" i="1" dirty="0"/>
              <a:t>D</a:t>
            </a:r>
            <a:r>
              <a:rPr lang="zh-CN" altLang="en-US" dirty="0"/>
              <a:t>来反映</a:t>
            </a:r>
            <a:r>
              <a:rPr lang="en-US" altLang="zh-CN" i="1" dirty="0"/>
              <a:t>f</a:t>
            </a:r>
            <a:r>
              <a:rPr lang="zh-CN" altLang="en-US" dirty="0"/>
              <a:t>中的符号定义和引用，并继续下一个输入文件</a:t>
            </a:r>
            <a:endParaRPr lang="en-US" altLang="zh-CN" dirty="0"/>
          </a:p>
          <a:p>
            <a:pPr lvl="2">
              <a:lnSpc>
                <a:spcPct val="120000"/>
              </a:lnSpc>
              <a:spcBef>
                <a:spcPts val="0"/>
              </a:spcBef>
            </a:pPr>
            <a:r>
              <a:rPr lang="zh-CN" altLang="en-US" dirty="0"/>
              <a:t>如果</a:t>
            </a:r>
            <a:r>
              <a:rPr lang="en-US" altLang="zh-CN" sz="1600" i="1" dirty="0"/>
              <a:t>f</a:t>
            </a:r>
            <a:r>
              <a:rPr lang="zh-CN" altLang="en-US" dirty="0"/>
              <a:t>是一个存档文件，链接器尝试匹配</a:t>
            </a:r>
            <a:r>
              <a:rPr lang="en-US" altLang="zh-CN" sz="1600" i="1" dirty="0"/>
              <a:t>U</a:t>
            </a:r>
            <a:r>
              <a:rPr lang="zh-CN" altLang="en-US" dirty="0"/>
              <a:t>中未解析的符号和由存档文件成员定义的符号</a:t>
            </a:r>
            <a:endParaRPr lang="en-US" altLang="zh-CN" dirty="0"/>
          </a:p>
          <a:p>
            <a:pPr lvl="3">
              <a:lnSpc>
                <a:spcPct val="120000"/>
              </a:lnSpc>
              <a:spcBef>
                <a:spcPts val="0"/>
              </a:spcBef>
            </a:pPr>
            <a:r>
              <a:rPr lang="zh-CN" altLang="en-US" dirty="0"/>
              <a:t>如果某个存档文件成员</a:t>
            </a:r>
            <a:r>
              <a:rPr lang="en-US" altLang="zh-CN" i="1" dirty="0"/>
              <a:t>m</a:t>
            </a:r>
            <a:r>
              <a:rPr lang="zh-CN" altLang="en-US" dirty="0"/>
              <a:t>定义了一个符号来解析</a:t>
            </a:r>
            <a:r>
              <a:rPr lang="en-US" altLang="zh-CN" i="1" dirty="0"/>
              <a:t>U</a:t>
            </a:r>
            <a:r>
              <a:rPr lang="zh-CN" altLang="en-US" dirty="0"/>
              <a:t>中的一个引用，则将</a:t>
            </a:r>
            <a:r>
              <a:rPr lang="en-US" altLang="zh-CN" i="1" dirty="0"/>
              <a:t>m</a:t>
            </a:r>
            <a:r>
              <a:rPr lang="zh-CN" altLang="en-US" dirty="0"/>
              <a:t>加到</a:t>
            </a:r>
            <a:r>
              <a:rPr lang="en-US" altLang="zh-CN" i="1" dirty="0"/>
              <a:t>E</a:t>
            </a:r>
            <a:r>
              <a:rPr lang="zh-CN" altLang="en-US" dirty="0"/>
              <a:t>中，并且链接器修改</a:t>
            </a:r>
            <a:r>
              <a:rPr lang="en-US" altLang="zh-CN" i="1" dirty="0"/>
              <a:t>U</a:t>
            </a:r>
            <a:r>
              <a:rPr lang="zh-CN" altLang="en-US" dirty="0"/>
              <a:t>和</a:t>
            </a:r>
            <a:r>
              <a:rPr lang="en-US" altLang="zh-CN" i="1" dirty="0"/>
              <a:t>D</a:t>
            </a:r>
            <a:r>
              <a:rPr lang="zh-CN" altLang="en-US" dirty="0"/>
              <a:t>来反映</a:t>
            </a:r>
            <a:r>
              <a:rPr lang="en-US" altLang="zh-CN" i="1" dirty="0"/>
              <a:t>m</a:t>
            </a:r>
            <a:r>
              <a:rPr lang="zh-CN" altLang="en-US" dirty="0"/>
              <a:t>中的符号定义和引用</a:t>
            </a:r>
            <a:endParaRPr lang="en-US" altLang="zh-CN" dirty="0"/>
          </a:p>
          <a:p>
            <a:pPr lvl="3">
              <a:lnSpc>
                <a:spcPct val="120000"/>
              </a:lnSpc>
              <a:spcBef>
                <a:spcPts val="0"/>
              </a:spcBef>
            </a:pPr>
            <a:r>
              <a:rPr lang="zh-CN" altLang="en-US" dirty="0"/>
              <a:t>对存档文件中所有的成员目标文件都进行这个过程，直到</a:t>
            </a:r>
            <a:r>
              <a:rPr lang="en-US" altLang="zh-CN" i="1" dirty="0"/>
              <a:t>U</a:t>
            </a:r>
            <a:r>
              <a:rPr lang="zh-CN" altLang="en-US" dirty="0"/>
              <a:t>和</a:t>
            </a:r>
            <a:r>
              <a:rPr lang="en-US" altLang="zh-CN" i="1" dirty="0"/>
              <a:t>D</a:t>
            </a:r>
            <a:r>
              <a:rPr lang="zh-CN" altLang="en-US" dirty="0"/>
              <a:t>不再发生变化 </a:t>
            </a:r>
            <a:endParaRPr lang="en-US" altLang="zh-CN" dirty="0"/>
          </a:p>
          <a:p>
            <a:pPr lvl="3">
              <a:lnSpc>
                <a:spcPct val="120000"/>
              </a:lnSpc>
              <a:spcBef>
                <a:spcPts val="0"/>
              </a:spcBef>
            </a:pPr>
            <a:r>
              <a:rPr lang="zh-CN" altLang="en-US" dirty="0"/>
              <a:t>任何不包含在</a:t>
            </a:r>
            <a:r>
              <a:rPr lang="en-US" altLang="zh-CN" i="1" dirty="0"/>
              <a:t>E</a:t>
            </a:r>
            <a:r>
              <a:rPr lang="zh-CN" altLang="en-US" dirty="0"/>
              <a:t>中的成员目标文件都被简单地抛弃，链接器继续处理下一个输入文件</a:t>
            </a:r>
            <a:endParaRPr lang="en-US" altLang="zh-CN" dirty="0"/>
          </a:p>
          <a:p>
            <a:pPr lvl="1">
              <a:lnSpc>
                <a:spcPct val="120000"/>
              </a:lnSpc>
              <a:spcBef>
                <a:spcPts val="0"/>
              </a:spcBef>
            </a:pPr>
            <a:r>
              <a:rPr lang="zh-CN" altLang="en-US" dirty="0"/>
              <a:t>如果链接器完成对命令行上输入文件的扫描后，</a:t>
            </a:r>
            <a:r>
              <a:rPr lang="en-US" altLang="zh-CN" i="1" dirty="0"/>
              <a:t>U</a:t>
            </a:r>
            <a:r>
              <a:rPr lang="zh-CN" altLang="en-US" dirty="0"/>
              <a:t>是非空的，则链接器输出一个错误并终止；否则会合并和重定位</a:t>
            </a:r>
            <a:r>
              <a:rPr lang="en-US" altLang="zh-CN" i="1" dirty="0"/>
              <a:t>E</a:t>
            </a:r>
            <a:r>
              <a:rPr lang="zh-CN" altLang="en-US" dirty="0"/>
              <a:t>中的目标文件，构建输出的可执行文件</a:t>
            </a:r>
          </a:p>
        </p:txBody>
      </p:sp>
      <p:sp>
        <p:nvSpPr>
          <p:cNvPr id="4" name="灯片编号占位符 3">
            <a:extLst>
              <a:ext uri="{FF2B5EF4-FFF2-40B4-BE49-F238E27FC236}">
                <a16:creationId xmlns:a16="http://schemas.microsoft.com/office/drawing/2014/main" id="{7146B812-DAF2-4081-BB1C-C74B117D0353}"/>
              </a:ext>
            </a:extLst>
          </p:cNvPr>
          <p:cNvSpPr>
            <a:spLocks noGrp="1"/>
          </p:cNvSpPr>
          <p:nvPr>
            <p:ph type="sldNum" sz="quarter" idx="12"/>
          </p:nvPr>
        </p:nvSpPr>
        <p:spPr/>
        <p:txBody>
          <a:bodyPr/>
          <a:lstStyle/>
          <a:p>
            <a:fld id="{6D62327B-ED8D-4CFC-ADD0-A75FA5CBE281}" type="slidenum">
              <a:rPr lang="zh-CN" altLang="en-US" smtClean="0"/>
              <a:pPr/>
              <a:t>33</a:t>
            </a:fld>
            <a:endParaRPr lang="zh-CN" altLang="en-US" dirty="0"/>
          </a:p>
        </p:txBody>
      </p:sp>
    </p:spTree>
    <p:extLst>
      <p:ext uri="{BB962C8B-B14F-4D97-AF65-F5344CB8AC3E}">
        <p14:creationId xmlns:p14="http://schemas.microsoft.com/office/powerpoint/2010/main" val="17182031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7896E8-4408-4ACC-9CCB-7CB38BF3ABD0}"/>
              </a:ext>
            </a:extLst>
          </p:cNvPr>
          <p:cNvSpPr>
            <a:spLocks noGrp="1"/>
          </p:cNvSpPr>
          <p:nvPr>
            <p:ph type="title"/>
          </p:nvPr>
        </p:nvSpPr>
        <p:spPr/>
        <p:txBody>
          <a:bodyPr>
            <a:normAutofit fontScale="90000"/>
          </a:bodyPr>
          <a:lstStyle/>
          <a:p>
            <a:r>
              <a:rPr lang="zh-CN" altLang="en-US" dirty="0"/>
              <a:t>算法可能导致的链接错误</a:t>
            </a:r>
          </a:p>
        </p:txBody>
      </p:sp>
      <p:sp>
        <p:nvSpPr>
          <p:cNvPr id="3" name="内容占位符 2">
            <a:extLst>
              <a:ext uri="{FF2B5EF4-FFF2-40B4-BE49-F238E27FC236}">
                <a16:creationId xmlns:a16="http://schemas.microsoft.com/office/drawing/2014/main" id="{098D3398-7BC1-4019-83BD-BA32317444F0}"/>
              </a:ext>
            </a:extLst>
          </p:cNvPr>
          <p:cNvSpPr>
            <a:spLocks noGrp="1"/>
          </p:cNvSpPr>
          <p:nvPr>
            <p:ph idx="1"/>
          </p:nvPr>
        </p:nvSpPr>
        <p:spPr/>
        <p:txBody>
          <a:bodyPr>
            <a:normAutofit lnSpcReduction="10000"/>
          </a:bodyPr>
          <a:lstStyle/>
          <a:p>
            <a:r>
              <a:rPr lang="zh-CN" altLang="en-US" dirty="0"/>
              <a:t>算法要求命令行上的库和目标文件顺序性</a:t>
            </a:r>
            <a:endParaRPr lang="en-US" altLang="zh-CN" dirty="0"/>
          </a:p>
          <a:p>
            <a:pPr lvl="1"/>
            <a:r>
              <a:rPr lang="zh-CN" altLang="en-US" dirty="0"/>
              <a:t>符号库的出现在引用这个符号的目标文件之前时，引用不能被解析，链接失败</a:t>
            </a:r>
            <a:endParaRPr lang="en-US" altLang="zh-CN" dirty="0"/>
          </a:p>
          <a:p>
            <a:pPr lvl="2"/>
            <a:endParaRPr lang="en-US" altLang="zh-CN" dirty="0"/>
          </a:p>
          <a:p>
            <a:pPr lvl="2"/>
            <a:endParaRPr lang="en-US" altLang="zh-CN" dirty="0"/>
          </a:p>
          <a:p>
            <a:pPr lvl="2"/>
            <a:endParaRPr lang="en-US" altLang="zh-CN" dirty="0"/>
          </a:p>
          <a:p>
            <a:pPr lvl="2"/>
            <a:r>
              <a:rPr lang="zh-CN" altLang="en-US" dirty="0"/>
              <a:t>在处理</a:t>
            </a:r>
            <a:r>
              <a:rPr lang="en-US" altLang="zh-CN" dirty="0" err="1"/>
              <a:t>libvector.a</a:t>
            </a:r>
            <a:r>
              <a:rPr lang="zh-CN" altLang="en-US" dirty="0"/>
              <a:t>时，</a:t>
            </a:r>
            <a:r>
              <a:rPr lang="en-US" altLang="zh-CN" i="1" dirty="0"/>
              <a:t>U</a:t>
            </a:r>
            <a:r>
              <a:rPr lang="zh-CN" altLang="en-US" dirty="0"/>
              <a:t>是空的，没有</a:t>
            </a:r>
            <a:r>
              <a:rPr lang="en-US" altLang="zh-CN" dirty="0" err="1"/>
              <a:t>libvector.a</a:t>
            </a:r>
            <a:r>
              <a:rPr lang="zh-CN" altLang="en-US" dirty="0"/>
              <a:t>中的成员目标文件会添加到</a:t>
            </a:r>
            <a:r>
              <a:rPr lang="en-US" altLang="zh-CN" i="1" dirty="0"/>
              <a:t>E</a:t>
            </a:r>
            <a:r>
              <a:rPr lang="zh-CN" altLang="en-US" dirty="0"/>
              <a:t>中，对</a:t>
            </a:r>
            <a:r>
              <a:rPr lang="en-US" altLang="zh-CN" dirty="0" err="1"/>
              <a:t>addvec</a:t>
            </a:r>
            <a:r>
              <a:rPr lang="zh-CN" altLang="en-US" dirty="0"/>
              <a:t>的引用不会被解析，链接器产生一条错误信息并终止</a:t>
            </a:r>
            <a:endParaRPr lang="en-US" altLang="zh-CN" dirty="0"/>
          </a:p>
          <a:p>
            <a:pPr lvl="1"/>
            <a:r>
              <a:rPr lang="zh-CN" altLang="en-US" dirty="0"/>
              <a:t>库的一般准则是将它们放在命令行的结尾</a:t>
            </a:r>
            <a:endParaRPr lang="en-US" altLang="zh-CN" dirty="0"/>
          </a:p>
          <a:p>
            <a:pPr lvl="2"/>
            <a:r>
              <a:rPr lang="zh-CN" altLang="en-US" dirty="0"/>
              <a:t>如果各个库的成员相互独立，这些库可以以任意顺序放置在命行结尾</a:t>
            </a:r>
            <a:endParaRPr lang="en-US" altLang="zh-CN" dirty="0"/>
          </a:p>
          <a:p>
            <a:pPr lvl="2"/>
            <a:r>
              <a:rPr lang="zh-CN" altLang="en-US" dirty="0"/>
              <a:t>如果库不相互独立，需要对它们排序，使每个被存档文件的成员外部引用的符号</a:t>
            </a:r>
            <a:r>
              <a:rPr lang="en-US" altLang="zh-CN" i="1" dirty="0"/>
              <a:t>s</a:t>
            </a:r>
            <a:r>
              <a:rPr lang="zh-CN" altLang="en-US" dirty="0"/>
              <a:t>在命令行中至少有一个</a:t>
            </a:r>
            <a:r>
              <a:rPr lang="en-US" altLang="zh-CN" i="1" dirty="0"/>
              <a:t>s</a:t>
            </a:r>
            <a:r>
              <a:rPr lang="zh-CN" altLang="en-US" dirty="0"/>
              <a:t>的定义是在对</a:t>
            </a:r>
            <a:r>
              <a:rPr lang="en-US" altLang="zh-CN" i="1" dirty="0"/>
              <a:t>s</a:t>
            </a:r>
            <a:r>
              <a:rPr lang="zh-CN" altLang="en-US" dirty="0"/>
              <a:t>的引用之后</a:t>
            </a:r>
            <a:endParaRPr lang="en-US" altLang="zh-CN" dirty="0"/>
          </a:p>
          <a:p>
            <a:pPr lvl="3"/>
            <a:r>
              <a:rPr lang="zh-CN" altLang="en-US" dirty="0"/>
              <a:t>如：</a:t>
            </a:r>
            <a:r>
              <a:rPr lang="en-US" altLang="zh-CN" dirty="0" err="1"/>
              <a:t>foo.c</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t>foo.c</a:t>
            </a:r>
            <a:r>
              <a:rPr lang="en-US" altLang="zh-CN" dirty="0" err="1">
                <a:sym typeface="Wingdings 3" panose="05040102010807070707" pitchFamily="18" charset="2"/>
              </a:rPr>
              <a:t>libz.a</a:t>
            </a:r>
            <a:r>
              <a:rPr lang="en-US" altLang="zh-CN" dirty="0">
                <a:sym typeface="Wingdings 3" panose="05040102010807070707" pitchFamily="18" charset="2"/>
              </a:rPr>
              <a:t>, </a:t>
            </a:r>
            <a:r>
              <a:rPr lang="en-US" altLang="zh-CN" dirty="0" err="1">
                <a:sym typeface="Wingdings 3" panose="05040102010807070707" pitchFamily="18" charset="2"/>
              </a:rPr>
              <a:t>libx.aliby.a</a:t>
            </a:r>
            <a:r>
              <a:rPr lang="en-US" altLang="zh-CN" dirty="0">
                <a:sym typeface="Wingdings 3" panose="05040102010807070707" pitchFamily="18" charset="2"/>
              </a:rPr>
              <a:t>, </a:t>
            </a:r>
            <a:r>
              <a:rPr lang="en-US" altLang="zh-CN" dirty="0" err="1">
                <a:sym typeface="Wingdings 3" panose="05040102010807070707" pitchFamily="18" charset="2"/>
              </a:rPr>
              <a:t>libz.aliby.a</a:t>
            </a:r>
            <a:r>
              <a:rPr lang="zh-CN" altLang="en-US" dirty="0">
                <a:sym typeface="Wingdings 3" panose="05040102010807070707" pitchFamily="18" charset="2"/>
              </a:rPr>
              <a:t>，则命令行中</a:t>
            </a:r>
            <a:r>
              <a:rPr lang="en-US" altLang="zh-CN" dirty="0" err="1">
                <a:sym typeface="Wingdings 3" panose="05040102010807070707" pitchFamily="18" charset="2"/>
              </a:rPr>
              <a:t>libx.a</a:t>
            </a:r>
            <a:r>
              <a:rPr lang="zh-CN" altLang="en-US" dirty="0">
                <a:sym typeface="Wingdings 3" panose="05040102010807070707" pitchFamily="18" charset="2"/>
              </a:rPr>
              <a:t>和</a:t>
            </a:r>
            <a:r>
              <a:rPr lang="en-US" altLang="zh-CN" dirty="0" err="1">
                <a:sym typeface="Wingdings 3" panose="05040102010807070707" pitchFamily="18" charset="2"/>
              </a:rPr>
              <a:t>libz.a</a:t>
            </a:r>
            <a:r>
              <a:rPr lang="zh-CN" altLang="en-US" dirty="0">
                <a:sym typeface="Wingdings 3" panose="05040102010807070707" pitchFamily="18" charset="2"/>
              </a:rPr>
              <a:t>必须处在</a:t>
            </a:r>
            <a:r>
              <a:rPr lang="en-US" altLang="zh-CN" dirty="0" err="1">
                <a:sym typeface="Wingdings 3" panose="05040102010807070707" pitchFamily="18" charset="2"/>
              </a:rPr>
              <a:t>liby.a</a:t>
            </a:r>
            <a:r>
              <a:rPr lang="zh-CN" altLang="en-US" dirty="0">
                <a:sym typeface="Wingdings 3" panose="05040102010807070707" pitchFamily="18" charset="2"/>
              </a:rPr>
              <a:t>之前，即 </a:t>
            </a:r>
            <a:r>
              <a:rPr lang="en-US" altLang="zh-CN" dirty="0" err="1">
                <a:sym typeface="Wingdings 3" panose="05040102010807070707" pitchFamily="18" charset="2"/>
              </a:rPr>
              <a:t>gcc</a:t>
            </a:r>
            <a:r>
              <a:rPr lang="en-US" altLang="zh-CN" dirty="0">
                <a:sym typeface="Wingdings 3" panose="05040102010807070707" pitchFamily="18" charset="2"/>
              </a:rPr>
              <a:t> </a:t>
            </a:r>
            <a:r>
              <a:rPr lang="en-US" altLang="zh-CN" dirty="0" err="1">
                <a:sym typeface="Wingdings 3" panose="05040102010807070707" pitchFamily="18" charset="2"/>
              </a:rPr>
              <a:t>foo.c</a:t>
            </a:r>
            <a:r>
              <a:rPr lang="en-US" altLang="zh-CN" dirty="0">
                <a:sym typeface="Wingdings 3" panose="05040102010807070707" pitchFamily="18" charset="2"/>
              </a:rPr>
              <a:t> </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sym typeface="Wingdings 3" panose="05040102010807070707" pitchFamily="18" charset="2"/>
              </a:rPr>
              <a:t>libz.a</a:t>
            </a:r>
            <a:r>
              <a:rPr lang="en-US" altLang="zh-CN" dirty="0">
                <a:sym typeface="Wingdings 3" panose="05040102010807070707" pitchFamily="18" charset="2"/>
              </a:rPr>
              <a:t> </a:t>
            </a:r>
            <a:r>
              <a:rPr lang="en-US" altLang="zh-CN" dirty="0" err="1">
                <a:sym typeface="Wingdings 3" panose="05040102010807070707" pitchFamily="18" charset="2"/>
              </a:rPr>
              <a:t>liby.a</a:t>
            </a:r>
            <a:endParaRPr lang="en-US" altLang="zh-CN" dirty="0">
              <a:sym typeface="Wingdings 3" panose="05040102010807070707" pitchFamily="18" charset="2"/>
            </a:endParaRPr>
          </a:p>
          <a:p>
            <a:pPr lvl="2"/>
            <a:r>
              <a:rPr lang="zh-CN" altLang="en-US" dirty="0">
                <a:sym typeface="Wingdings 3" panose="05040102010807070707" pitchFamily="18" charset="2"/>
              </a:rPr>
              <a:t>如果需要满足依赖需求，可以在命令行上重复库</a:t>
            </a:r>
            <a:endParaRPr lang="en-US" altLang="zh-CN" dirty="0">
              <a:sym typeface="Wingdings 3" panose="05040102010807070707" pitchFamily="18" charset="2"/>
            </a:endParaRPr>
          </a:p>
          <a:p>
            <a:pPr lvl="3"/>
            <a:r>
              <a:rPr lang="zh-CN" altLang="en-US" dirty="0">
                <a:sym typeface="Wingdings 3" panose="05040102010807070707" pitchFamily="18" charset="2"/>
              </a:rPr>
              <a:t>如：</a:t>
            </a:r>
            <a:r>
              <a:rPr lang="en-US" altLang="zh-CN" dirty="0"/>
              <a:t> </a:t>
            </a:r>
            <a:r>
              <a:rPr lang="en-US" altLang="zh-CN" dirty="0" err="1"/>
              <a:t>foo.c</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t>foo.c</a:t>
            </a:r>
            <a:r>
              <a:rPr lang="en-US" altLang="zh-CN" dirty="0" err="1">
                <a:sym typeface="Wingdings 3" panose="05040102010807070707" pitchFamily="18" charset="2"/>
              </a:rPr>
              <a:t>liby.a</a:t>
            </a:r>
            <a:r>
              <a:rPr lang="en-US" altLang="zh-CN" dirty="0">
                <a:sym typeface="Wingdings 3" panose="05040102010807070707" pitchFamily="18" charset="2"/>
              </a:rPr>
              <a:t>, </a:t>
            </a:r>
            <a:r>
              <a:rPr lang="en-US" altLang="zh-CN" dirty="0" err="1">
                <a:sym typeface="Wingdings 3" panose="05040102010807070707" pitchFamily="18" charset="2"/>
              </a:rPr>
              <a:t>liby.alibx.a</a:t>
            </a:r>
            <a:r>
              <a:rPr lang="en-US" altLang="zh-CN" dirty="0">
                <a:sym typeface="Wingdings 3" panose="05040102010807070707" pitchFamily="18" charset="2"/>
              </a:rPr>
              <a:t>, </a:t>
            </a:r>
            <a:r>
              <a:rPr lang="en-US" altLang="zh-CN" dirty="0" err="1">
                <a:sym typeface="Wingdings 3" panose="05040102010807070707" pitchFamily="18" charset="2"/>
              </a:rPr>
              <a:t>libx.a</a:t>
            </a:r>
            <a:r>
              <a:rPr lang="zh-CN" altLang="en-US" dirty="0">
                <a:sym typeface="Wingdings 3" panose="05040102010807070707" pitchFamily="18" charset="2"/>
              </a:rPr>
              <a:t>必须在命令行上重复出现，即</a:t>
            </a:r>
            <a:r>
              <a:rPr lang="en-US" altLang="zh-CN" dirty="0" err="1">
                <a:sym typeface="Wingdings 3" panose="05040102010807070707" pitchFamily="18" charset="2"/>
              </a:rPr>
              <a:t>gcc</a:t>
            </a:r>
            <a:r>
              <a:rPr lang="en-US" altLang="zh-CN" dirty="0">
                <a:sym typeface="Wingdings 3" panose="05040102010807070707" pitchFamily="18" charset="2"/>
              </a:rPr>
              <a:t> </a:t>
            </a:r>
            <a:r>
              <a:rPr lang="en-US" altLang="zh-CN" dirty="0" err="1">
                <a:sym typeface="Wingdings 3" panose="05040102010807070707" pitchFamily="18" charset="2"/>
              </a:rPr>
              <a:t>foo.c</a:t>
            </a:r>
            <a:r>
              <a:rPr lang="en-US" altLang="zh-CN" dirty="0">
                <a:sym typeface="Wingdings 3" panose="05040102010807070707" pitchFamily="18" charset="2"/>
              </a:rPr>
              <a:t> </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sym typeface="Wingdings 3" panose="05040102010807070707" pitchFamily="18" charset="2"/>
              </a:rPr>
              <a:t>liby.a</a:t>
            </a:r>
            <a:r>
              <a:rPr lang="en-US" altLang="zh-CN" dirty="0">
                <a:sym typeface="Wingdings 3" panose="05040102010807070707" pitchFamily="18" charset="2"/>
              </a:rPr>
              <a:t> </a:t>
            </a:r>
            <a:r>
              <a:rPr lang="en-US" altLang="zh-CN" dirty="0" err="1">
                <a:sym typeface="Wingdings 3" panose="05040102010807070707" pitchFamily="18" charset="2"/>
              </a:rPr>
              <a:t>libx.a</a:t>
            </a:r>
            <a:endParaRPr lang="en-US" altLang="zh-CN" dirty="0">
              <a:sym typeface="Wingdings 3" panose="05040102010807070707" pitchFamily="18" charset="2"/>
            </a:endParaRPr>
          </a:p>
          <a:p>
            <a:pPr lvl="3"/>
            <a:r>
              <a:rPr lang="zh-CN" altLang="en-US" dirty="0">
                <a:sym typeface="Wingdings 3" panose="05040102010807070707" pitchFamily="18" charset="2"/>
              </a:rPr>
              <a:t>或者，将</a:t>
            </a:r>
            <a:r>
              <a:rPr lang="en-US" altLang="zh-CN" dirty="0" err="1">
                <a:sym typeface="Wingdings 3" panose="05040102010807070707" pitchFamily="18" charset="2"/>
              </a:rPr>
              <a:t>libx.a</a:t>
            </a:r>
            <a:r>
              <a:rPr lang="zh-CN" altLang="en-US" dirty="0">
                <a:sym typeface="Wingdings 3" panose="05040102010807070707" pitchFamily="18" charset="2"/>
              </a:rPr>
              <a:t>和</a:t>
            </a:r>
            <a:r>
              <a:rPr lang="en-US" altLang="zh-CN" dirty="0" err="1">
                <a:sym typeface="Wingdings 3" panose="05040102010807070707" pitchFamily="18" charset="2"/>
              </a:rPr>
              <a:t>liby.a</a:t>
            </a:r>
            <a:r>
              <a:rPr lang="zh-CN" altLang="en-US" dirty="0">
                <a:sym typeface="Wingdings 3" panose="05040102010807070707" pitchFamily="18" charset="2"/>
              </a:rPr>
              <a:t>合并成一个单独的存档文件</a:t>
            </a:r>
            <a:endParaRPr lang="zh-CN" altLang="en-US" dirty="0"/>
          </a:p>
        </p:txBody>
      </p:sp>
      <p:sp>
        <p:nvSpPr>
          <p:cNvPr id="4" name="灯片编号占位符 3">
            <a:extLst>
              <a:ext uri="{FF2B5EF4-FFF2-40B4-BE49-F238E27FC236}">
                <a16:creationId xmlns:a16="http://schemas.microsoft.com/office/drawing/2014/main" id="{732868D9-B17B-416A-940E-6ACDD012BE60}"/>
              </a:ext>
            </a:extLst>
          </p:cNvPr>
          <p:cNvSpPr>
            <a:spLocks noGrp="1"/>
          </p:cNvSpPr>
          <p:nvPr>
            <p:ph type="sldNum" sz="quarter" idx="12"/>
          </p:nvPr>
        </p:nvSpPr>
        <p:spPr/>
        <p:txBody>
          <a:bodyPr/>
          <a:lstStyle/>
          <a:p>
            <a:fld id="{6D62327B-ED8D-4CFC-ADD0-A75FA5CBE281}" type="slidenum">
              <a:rPr lang="zh-CN" altLang="en-US" smtClean="0"/>
              <a:pPr/>
              <a:t>34</a:t>
            </a:fld>
            <a:endParaRPr lang="zh-CN" altLang="en-US" dirty="0"/>
          </a:p>
        </p:txBody>
      </p:sp>
      <p:pic>
        <p:nvPicPr>
          <p:cNvPr id="5" name="图片 4">
            <a:extLst>
              <a:ext uri="{FF2B5EF4-FFF2-40B4-BE49-F238E27FC236}">
                <a16:creationId xmlns:a16="http://schemas.microsoft.com/office/drawing/2014/main" id="{CD30BD40-9198-42CF-9935-A1107E6E4070}"/>
              </a:ext>
            </a:extLst>
          </p:cNvPr>
          <p:cNvPicPr>
            <a:picLocks noChangeAspect="1"/>
          </p:cNvPicPr>
          <p:nvPr/>
        </p:nvPicPr>
        <p:blipFill>
          <a:blip r:embed="rId2"/>
          <a:stretch>
            <a:fillRect/>
          </a:stretch>
        </p:blipFill>
        <p:spPr>
          <a:xfrm>
            <a:off x="1403648" y="1844824"/>
            <a:ext cx="3686175" cy="781050"/>
          </a:xfrm>
          <a:prstGeom prst="rect">
            <a:avLst/>
          </a:prstGeom>
        </p:spPr>
      </p:pic>
    </p:spTree>
    <p:extLst>
      <p:ext uri="{BB962C8B-B14F-4D97-AF65-F5344CB8AC3E}">
        <p14:creationId xmlns:p14="http://schemas.microsoft.com/office/powerpoint/2010/main" val="7281603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3A1C45-2AB4-4E69-97A4-4D9AE3CA2F44}"/>
              </a:ext>
            </a:extLst>
          </p:cNvPr>
          <p:cNvSpPr>
            <a:spLocks noGrp="1"/>
          </p:cNvSpPr>
          <p:nvPr>
            <p:ph type="title"/>
          </p:nvPr>
        </p:nvSpPr>
        <p:spPr/>
        <p:txBody>
          <a:bodyPr>
            <a:normAutofit fontScale="90000"/>
          </a:bodyPr>
          <a:lstStyle/>
          <a:p>
            <a:r>
              <a:rPr lang="zh-CN" altLang="en-US" dirty="0"/>
              <a:t>练习题</a:t>
            </a:r>
            <a:r>
              <a:rPr lang="en-US" altLang="zh-CN" dirty="0"/>
              <a:t>7.3</a:t>
            </a:r>
            <a:endParaRPr lang="zh-CN" altLang="en-US" dirty="0"/>
          </a:p>
        </p:txBody>
      </p:sp>
      <p:sp>
        <p:nvSpPr>
          <p:cNvPr id="3" name="内容占位符 2">
            <a:extLst>
              <a:ext uri="{FF2B5EF4-FFF2-40B4-BE49-F238E27FC236}">
                <a16:creationId xmlns:a16="http://schemas.microsoft.com/office/drawing/2014/main" id="{B9A117D8-216D-4145-A54D-B354F746CB1B}"/>
              </a:ext>
            </a:extLst>
          </p:cNvPr>
          <p:cNvSpPr>
            <a:spLocks noGrp="1"/>
          </p:cNvSpPr>
          <p:nvPr>
            <p:ph idx="1"/>
          </p:nvPr>
        </p:nvSpPr>
        <p:spPr/>
        <p:txBody>
          <a:bodyPr/>
          <a:lstStyle/>
          <a:p>
            <a:r>
              <a:rPr lang="en-US" altLang="zh-CN" dirty="0"/>
              <a:t>a</a:t>
            </a:r>
            <a:r>
              <a:rPr lang="zh-CN" altLang="en-US" dirty="0"/>
              <a:t>和</a:t>
            </a:r>
            <a:r>
              <a:rPr lang="en-US" altLang="zh-CN" dirty="0"/>
              <a:t>b</a:t>
            </a:r>
            <a:r>
              <a:rPr lang="zh-CN" altLang="en-US" dirty="0"/>
              <a:t>表示当前目录中的目标模块或者静态库，</a:t>
            </a:r>
            <a:r>
              <a:rPr lang="en-US" altLang="zh-CN" dirty="0"/>
              <a:t>a</a:t>
            </a:r>
            <a:r>
              <a:rPr lang="en-US" altLang="zh-CN" dirty="0">
                <a:sym typeface="Wingdings 3" panose="05040102010807070707" pitchFamily="18" charset="2"/>
              </a:rPr>
              <a:t> b</a:t>
            </a:r>
            <a:r>
              <a:rPr lang="zh-CN" altLang="en-US" dirty="0">
                <a:sym typeface="Wingdings 3" panose="05040102010807070707" pitchFamily="18" charset="2"/>
              </a:rPr>
              <a:t>表示</a:t>
            </a:r>
            <a:r>
              <a:rPr lang="en-US" altLang="zh-CN" dirty="0">
                <a:sym typeface="Wingdings 3" panose="05040102010807070707" pitchFamily="18" charset="2"/>
              </a:rPr>
              <a:t>a</a:t>
            </a:r>
            <a:r>
              <a:rPr lang="zh-CN" altLang="en-US" dirty="0">
                <a:sym typeface="Wingdings 3" panose="05040102010807070707" pitchFamily="18" charset="2"/>
              </a:rPr>
              <a:t>依赖于</a:t>
            </a:r>
            <a:r>
              <a:rPr lang="en-US" altLang="zh-CN" dirty="0">
                <a:sym typeface="Wingdings 3" panose="05040102010807070707" pitchFamily="18" charset="2"/>
              </a:rPr>
              <a:t>b</a:t>
            </a:r>
            <a:r>
              <a:rPr lang="zh-CN" altLang="en-US" dirty="0">
                <a:sym typeface="Wingdings 3" panose="05040102010807070707" pitchFamily="18" charset="2"/>
              </a:rPr>
              <a:t>，也就是说</a:t>
            </a:r>
            <a:r>
              <a:rPr lang="en-US" altLang="zh-CN" dirty="0">
                <a:sym typeface="Wingdings 3" panose="05040102010807070707" pitchFamily="18" charset="2"/>
              </a:rPr>
              <a:t>b</a:t>
            </a:r>
            <a:r>
              <a:rPr lang="zh-CN" altLang="en-US" dirty="0">
                <a:sym typeface="Wingdings 3" panose="05040102010807070707" pitchFamily="18" charset="2"/>
              </a:rPr>
              <a:t>定义了一个被</a:t>
            </a:r>
            <a:r>
              <a:rPr lang="en-US" altLang="zh-CN" dirty="0">
                <a:sym typeface="Wingdings 3" panose="05040102010807070707" pitchFamily="18" charset="2"/>
              </a:rPr>
              <a:t>a</a:t>
            </a:r>
            <a:r>
              <a:rPr lang="zh-CN" altLang="en-US" dirty="0">
                <a:sym typeface="Wingdings 3" panose="05040102010807070707" pitchFamily="18" charset="2"/>
              </a:rPr>
              <a:t>引用的符号。对于下面每种场景，请给出最小的命令行，即一个含有最少数量的目标文件和库参数的命令，使得静态链接器能解析所有的符号引用</a:t>
            </a:r>
            <a:endParaRPr lang="en-US" altLang="zh-CN" dirty="0">
              <a:sym typeface="Wingdings 3" panose="05040102010807070707" pitchFamily="18" charset="2"/>
            </a:endParaRPr>
          </a:p>
          <a:p>
            <a:r>
              <a:rPr lang="en-US" altLang="zh-CN" dirty="0">
                <a:sym typeface="Wingdings 3" panose="05040102010807070707" pitchFamily="18" charset="2"/>
              </a:rPr>
              <a:t>A. </a:t>
            </a:r>
            <a:r>
              <a:rPr lang="en-US" altLang="zh-CN" dirty="0" err="1">
                <a:sym typeface="Wingdings 3" panose="05040102010807070707" pitchFamily="18" charset="2"/>
              </a:rPr>
              <a:t>p.o</a:t>
            </a:r>
            <a:r>
              <a:rPr lang="en-US" altLang="zh-CN" dirty="0">
                <a:sym typeface="Wingdings 3" panose="05040102010807070707" pitchFamily="18" charset="2"/>
              </a:rPr>
              <a:t> </a:t>
            </a:r>
            <a:r>
              <a:rPr lang="en-US" altLang="zh-CN" dirty="0" err="1">
                <a:sym typeface="Wingdings 3" panose="05040102010807070707" pitchFamily="18" charset="2"/>
              </a:rPr>
              <a:t>libx.a</a:t>
            </a:r>
            <a:endParaRPr lang="en-US" altLang="zh-CN" dirty="0">
              <a:sym typeface="Wingdings 3" panose="05040102010807070707" pitchFamily="18" charset="2"/>
            </a:endParaRPr>
          </a:p>
          <a:p>
            <a:pPr lvl="1"/>
            <a:r>
              <a:rPr lang="en-US" altLang="zh-CN" dirty="0" err="1">
                <a:sym typeface="Wingdings 3" panose="05040102010807070707" pitchFamily="18" charset="2"/>
              </a:rPr>
              <a:t>gcc</a:t>
            </a:r>
            <a:r>
              <a:rPr lang="en-US" altLang="zh-CN" dirty="0">
                <a:sym typeface="Wingdings 3" panose="05040102010807070707" pitchFamily="18" charset="2"/>
              </a:rPr>
              <a:t> </a:t>
            </a:r>
            <a:r>
              <a:rPr lang="en-US" altLang="zh-CN" dirty="0" err="1">
                <a:sym typeface="Wingdings 3" panose="05040102010807070707" pitchFamily="18" charset="2"/>
              </a:rPr>
              <a:t>p.o</a:t>
            </a:r>
            <a:r>
              <a:rPr lang="en-US" altLang="zh-CN" dirty="0">
                <a:sym typeface="Wingdings 3" panose="05040102010807070707" pitchFamily="18" charset="2"/>
              </a:rPr>
              <a:t> </a:t>
            </a:r>
            <a:r>
              <a:rPr lang="en-US" altLang="zh-CN" dirty="0" err="1">
                <a:sym typeface="Wingdings 3" panose="05040102010807070707" pitchFamily="18" charset="2"/>
              </a:rPr>
              <a:t>libx.a</a:t>
            </a:r>
            <a:endParaRPr lang="en-US" altLang="zh-CN" dirty="0">
              <a:sym typeface="Wingdings 3" panose="05040102010807070707" pitchFamily="18" charset="2"/>
            </a:endParaRPr>
          </a:p>
          <a:p>
            <a:r>
              <a:rPr lang="en-US" altLang="zh-CN" dirty="0">
                <a:sym typeface="Wingdings 3" panose="05040102010807070707" pitchFamily="18" charset="2"/>
              </a:rPr>
              <a:t>B. </a:t>
            </a:r>
            <a:r>
              <a:rPr lang="en-US" altLang="zh-CN" dirty="0" err="1">
                <a:sym typeface="Wingdings 3" panose="05040102010807070707" pitchFamily="18" charset="2"/>
              </a:rPr>
              <a:t>p.o</a:t>
            </a:r>
            <a:r>
              <a:rPr lang="en-US" altLang="zh-CN" dirty="0">
                <a:sym typeface="Wingdings 3" panose="05040102010807070707" pitchFamily="18" charset="2"/>
              </a:rPr>
              <a:t> </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sym typeface="Wingdings 3" panose="05040102010807070707" pitchFamily="18" charset="2"/>
              </a:rPr>
              <a:t>liby.a</a:t>
            </a:r>
            <a:endParaRPr lang="en-US" altLang="zh-CN" dirty="0">
              <a:sym typeface="Wingdings 3" panose="05040102010807070707" pitchFamily="18" charset="2"/>
            </a:endParaRPr>
          </a:p>
          <a:p>
            <a:pPr lvl="1"/>
            <a:r>
              <a:rPr lang="en-US" altLang="zh-CN" dirty="0" err="1">
                <a:sym typeface="Wingdings 3" panose="05040102010807070707" pitchFamily="18" charset="2"/>
              </a:rPr>
              <a:t>gcc</a:t>
            </a:r>
            <a:r>
              <a:rPr lang="en-US" altLang="zh-CN" dirty="0">
                <a:sym typeface="Wingdings 3" panose="05040102010807070707" pitchFamily="18" charset="2"/>
              </a:rPr>
              <a:t> </a:t>
            </a:r>
            <a:r>
              <a:rPr lang="en-US" altLang="zh-CN" dirty="0" err="1">
                <a:sym typeface="Wingdings 3" panose="05040102010807070707" pitchFamily="18" charset="2"/>
              </a:rPr>
              <a:t>p.o</a:t>
            </a:r>
            <a:r>
              <a:rPr lang="en-US" altLang="zh-CN" dirty="0">
                <a:sym typeface="Wingdings 3" panose="05040102010807070707" pitchFamily="18" charset="2"/>
              </a:rPr>
              <a:t> </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sym typeface="Wingdings 3" panose="05040102010807070707" pitchFamily="18" charset="2"/>
              </a:rPr>
              <a:t>liby.a</a:t>
            </a:r>
            <a:endParaRPr lang="en-US" altLang="zh-CN" dirty="0">
              <a:sym typeface="Wingdings 3" panose="05040102010807070707" pitchFamily="18" charset="2"/>
            </a:endParaRPr>
          </a:p>
          <a:p>
            <a:r>
              <a:rPr lang="en-US" altLang="zh-CN" dirty="0">
                <a:sym typeface="Wingdings 3" panose="05040102010807070707" pitchFamily="18" charset="2"/>
              </a:rPr>
              <a:t>C. </a:t>
            </a:r>
            <a:r>
              <a:rPr lang="en-US" altLang="zh-CN" dirty="0" err="1">
                <a:sym typeface="Wingdings 3" panose="05040102010807070707" pitchFamily="18" charset="2"/>
              </a:rPr>
              <a:t>p.o</a:t>
            </a:r>
            <a:r>
              <a:rPr lang="en-US" altLang="zh-CN" dirty="0">
                <a:sym typeface="Wingdings 3" panose="05040102010807070707" pitchFamily="18" charset="2"/>
              </a:rPr>
              <a:t> </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sym typeface="Wingdings 3" panose="05040102010807070707" pitchFamily="18" charset="2"/>
              </a:rPr>
              <a:t>liby.a</a:t>
            </a:r>
            <a:r>
              <a:rPr lang="zh-CN" altLang="en-US" dirty="0">
                <a:sym typeface="Wingdings 3" panose="05040102010807070707" pitchFamily="18" charset="2"/>
              </a:rPr>
              <a:t>且</a:t>
            </a:r>
            <a:r>
              <a:rPr lang="en-US" altLang="zh-CN" dirty="0" err="1">
                <a:sym typeface="Wingdings 3" panose="05040102010807070707" pitchFamily="18" charset="2"/>
              </a:rPr>
              <a:t>liby.a</a:t>
            </a:r>
            <a:r>
              <a:rPr lang="en-US" altLang="zh-CN" dirty="0">
                <a:sym typeface="Wingdings 3" panose="05040102010807070707" pitchFamily="18" charset="2"/>
              </a:rPr>
              <a:t> </a:t>
            </a:r>
            <a:r>
              <a:rPr lang="en-US" altLang="zh-CN" dirty="0" err="1">
                <a:sym typeface="Wingdings 3" panose="05040102010807070707" pitchFamily="18" charset="2"/>
              </a:rPr>
              <a:t>libx.a</a:t>
            </a:r>
            <a:r>
              <a:rPr lang="en-US" altLang="zh-CN" dirty="0">
                <a:sym typeface="Wingdings 3" panose="05040102010807070707" pitchFamily="18" charset="2"/>
              </a:rPr>
              <a:t> </a:t>
            </a:r>
            <a:r>
              <a:rPr lang="en-US" altLang="zh-CN" dirty="0" err="1">
                <a:sym typeface="Wingdings 3" panose="05040102010807070707" pitchFamily="18" charset="2"/>
              </a:rPr>
              <a:t>p.o</a:t>
            </a:r>
            <a:endParaRPr lang="en-US" altLang="zh-CN" dirty="0">
              <a:sym typeface="Wingdings 3" panose="05040102010807070707" pitchFamily="18" charset="2"/>
            </a:endParaRPr>
          </a:p>
          <a:p>
            <a:pPr lvl="1"/>
            <a:r>
              <a:rPr lang="en-US" altLang="zh-CN" dirty="0" err="1"/>
              <a:t>gcc</a:t>
            </a:r>
            <a:r>
              <a:rPr lang="en-US" altLang="zh-CN" dirty="0"/>
              <a:t> </a:t>
            </a:r>
            <a:r>
              <a:rPr lang="en-US" altLang="zh-CN" dirty="0" err="1"/>
              <a:t>p.o</a:t>
            </a:r>
            <a:r>
              <a:rPr lang="en-US" altLang="zh-CN" dirty="0"/>
              <a:t> </a:t>
            </a:r>
            <a:r>
              <a:rPr lang="en-US" altLang="zh-CN" dirty="0" err="1"/>
              <a:t>libx.a</a:t>
            </a:r>
            <a:r>
              <a:rPr lang="en-US" altLang="zh-CN" dirty="0"/>
              <a:t> </a:t>
            </a:r>
            <a:r>
              <a:rPr lang="en-US" altLang="zh-CN" dirty="0" err="1"/>
              <a:t>liby.a</a:t>
            </a:r>
            <a:r>
              <a:rPr lang="en-US" altLang="zh-CN" dirty="0"/>
              <a:t> </a:t>
            </a:r>
            <a:r>
              <a:rPr lang="en-US" altLang="zh-CN" dirty="0" err="1"/>
              <a:t>libx.a</a:t>
            </a:r>
            <a:endParaRPr lang="zh-CN" altLang="en-US" dirty="0"/>
          </a:p>
        </p:txBody>
      </p:sp>
      <p:sp>
        <p:nvSpPr>
          <p:cNvPr id="4" name="灯片编号占位符 3">
            <a:extLst>
              <a:ext uri="{FF2B5EF4-FFF2-40B4-BE49-F238E27FC236}">
                <a16:creationId xmlns:a16="http://schemas.microsoft.com/office/drawing/2014/main" id="{6FE57429-552E-4A11-A305-8D692D4ED2EF}"/>
              </a:ext>
            </a:extLst>
          </p:cNvPr>
          <p:cNvSpPr>
            <a:spLocks noGrp="1"/>
          </p:cNvSpPr>
          <p:nvPr>
            <p:ph type="sldNum" sz="quarter" idx="12"/>
          </p:nvPr>
        </p:nvSpPr>
        <p:spPr/>
        <p:txBody>
          <a:bodyPr/>
          <a:lstStyle/>
          <a:p>
            <a:fld id="{6D62327B-ED8D-4CFC-ADD0-A75FA5CBE281}" type="slidenum">
              <a:rPr lang="zh-CN" altLang="en-US" smtClean="0"/>
              <a:pPr/>
              <a:t>35</a:t>
            </a:fld>
            <a:endParaRPr lang="zh-CN" altLang="en-US" dirty="0"/>
          </a:p>
        </p:txBody>
      </p:sp>
    </p:spTree>
    <p:extLst>
      <p:ext uri="{BB962C8B-B14F-4D97-AF65-F5344CB8AC3E}">
        <p14:creationId xmlns:p14="http://schemas.microsoft.com/office/powerpoint/2010/main" val="25923296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DF03BE-6E27-4E5C-9588-7453417E2230}"/>
              </a:ext>
            </a:extLst>
          </p:cNvPr>
          <p:cNvSpPr>
            <a:spLocks noGrp="1"/>
          </p:cNvSpPr>
          <p:nvPr>
            <p:ph type="title"/>
          </p:nvPr>
        </p:nvSpPr>
        <p:spPr/>
        <p:txBody>
          <a:bodyPr>
            <a:normAutofit fontScale="90000"/>
          </a:bodyPr>
          <a:lstStyle/>
          <a:p>
            <a:r>
              <a:rPr lang="en-US" altLang="zh-CN" dirty="0"/>
              <a:t>7.7 </a:t>
            </a:r>
            <a:r>
              <a:rPr lang="zh-CN" altLang="en-US" dirty="0"/>
              <a:t>重定位</a:t>
            </a:r>
          </a:p>
        </p:txBody>
      </p:sp>
      <p:sp>
        <p:nvSpPr>
          <p:cNvPr id="3" name="内容占位符 2">
            <a:extLst>
              <a:ext uri="{FF2B5EF4-FFF2-40B4-BE49-F238E27FC236}">
                <a16:creationId xmlns:a16="http://schemas.microsoft.com/office/drawing/2014/main" id="{943D19E0-D4BA-4B68-ABF4-E9A715AE6C37}"/>
              </a:ext>
            </a:extLst>
          </p:cNvPr>
          <p:cNvSpPr>
            <a:spLocks noGrp="1"/>
          </p:cNvSpPr>
          <p:nvPr>
            <p:ph idx="1"/>
          </p:nvPr>
        </p:nvSpPr>
        <p:spPr/>
        <p:txBody>
          <a:bodyPr>
            <a:normAutofit lnSpcReduction="10000"/>
          </a:bodyPr>
          <a:lstStyle/>
          <a:p>
            <a:r>
              <a:rPr lang="zh-CN" altLang="en-US" dirty="0"/>
              <a:t>链接器完成符号解析后，把代码中的每个符号引用和相应的一个符号定义</a:t>
            </a:r>
            <a:r>
              <a:rPr lang="en-US" altLang="zh-CN" dirty="0"/>
              <a:t>(</a:t>
            </a:r>
            <a:r>
              <a:rPr lang="zh-CN" altLang="en-US" dirty="0"/>
              <a:t>即它的一个输入目标模块中的一个符号表条目</a:t>
            </a:r>
            <a:r>
              <a:rPr lang="en-US" altLang="zh-CN" dirty="0"/>
              <a:t>)</a:t>
            </a:r>
            <a:r>
              <a:rPr lang="zh-CN" altLang="en-US" dirty="0"/>
              <a:t>关联起来。链接器此时知道它的输入目标模块中的代码节和数据节的确切大小，开始重定位步骤，将合并输入模块，并为每个符号分配运行时地址</a:t>
            </a:r>
            <a:endParaRPr lang="en-US" altLang="zh-CN" dirty="0"/>
          </a:p>
          <a:p>
            <a:r>
              <a:rPr lang="zh-CN" altLang="en-US" dirty="0"/>
              <a:t>重定位步骤：</a:t>
            </a:r>
            <a:endParaRPr lang="en-US" altLang="zh-CN" dirty="0"/>
          </a:p>
          <a:p>
            <a:pPr lvl="1"/>
            <a:r>
              <a:rPr lang="zh-CN" altLang="en-US" dirty="0"/>
              <a:t>重定位节和符号定义：链接器将所有相同类型的节合并为同一类型的新的聚合节</a:t>
            </a:r>
            <a:endParaRPr lang="en-US" altLang="zh-CN" dirty="0"/>
          </a:p>
          <a:p>
            <a:pPr lvl="2"/>
            <a:r>
              <a:rPr lang="zh-CN" altLang="en-US" dirty="0"/>
              <a:t>来自所有输入模块的</a:t>
            </a:r>
            <a:r>
              <a:rPr lang="en-US" altLang="zh-CN" dirty="0"/>
              <a:t>.data</a:t>
            </a:r>
            <a:r>
              <a:rPr lang="zh-CN" altLang="en-US" dirty="0"/>
              <a:t>节被全部合并成一个节，成为输出的可执行目标文件的</a:t>
            </a:r>
            <a:r>
              <a:rPr lang="en-US" altLang="zh-CN" dirty="0"/>
              <a:t>.data</a:t>
            </a:r>
            <a:r>
              <a:rPr lang="zh-CN" altLang="en-US" dirty="0"/>
              <a:t>节</a:t>
            </a:r>
            <a:endParaRPr lang="en-US" altLang="zh-CN" dirty="0"/>
          </a:p>
          <a:p>
            <a:pPr lvl="2"/>
            <a:r>
              <a:rPr lang="zh-CN" altLang="en-US" dirty="0"/>
              <a:t>链接器将运行时内存地址赋给新的聚合节，赋给输入模块定义的每个节，以及赋给输入模块定义的每个符号</a:t>
            </a:r>
            <a:endParaRPr lang="en-US" altLang="zh-CN" dirty="0"/>
          </a:p>
          <a:p>
            <a:pPr lvl="2"/>
            <a:r>
              <a:rPr lang="zh-CN" altLang="en-US" dirty="0"/>
              <a:t>程序中的每条指令和全局变量都有唯一的运行时内存地址</a:t>
            </a:r>
            <a:endParaRPr lang="en-US" altLang="zh-CN" dirty="0"/>
          </a:p>
          <a:p>
            <a:pPr lvl="1"/>
            <a:r>
              <a:rPr lang="zh-CN" altLang="en-US" dirty="0"/>
              <a:t>重定位节中的符号引用：链接器修改代码节和数据节中对每个符号的引用，使得它们指向正确的运行时地址</a:t>
            </a:r>
            <a:endParaRPr lang="en-US" altLang="zh-CN" dirty="0"/>
          </a:p>
          <a:p>
            <a:pPr lvl="2"/>
            <a:r>
              <a:rPr lang="zh-CN" altLang="en-US" dirty="0"/>
              <a:t>链接器依赖于可重定位目标模块中称为重定位条目的数据结构</a:t>
            </a:r>
          </a:p>
        </p:txBody>
      </p:sp>
      <p:sp>
        <p:nvSpPr>
          <p:cNvPr id="4" name="灯片编号占位符 3">
            <a:extLst>
              <a:ext uri="{FF2B5EF4-FFF2-40B4-BE49-F238E27FC236}">
                <a16:creationId xmlns:a16="http://schemas.microsoft.com/office/drawing/2014/main" id="{16774AB3-CAD8-4B27-91B7-3672521D7FD4}"/>
              </a:ext>
            </a:extLst>
          </p:cNvPr>
          <p:cNvSpPr>
            <a:spLocks noGrp="1"/>
          </p:cNvSpPr>
          <p:nvPr>
            <p:ph type="sldNum" sz="quarter" idx="12"/>
          </p:nvPr>
        </p:nvSpPr>
        <p:spPr/>
        <p:txBody>
          <a:bodyPr/>
          <a:lstStyle/>
          <a:p>
            <a:fld id="{6D62327B-ED8D-4CFC-ADD0-A75FA5CBE281}" type="slidenum">
              <a:rPr lang="zh-CN" altLang="en-US" smtClean="0"/>
              <a:pPr/>
              <a:t>36</a:t>
            </a:fld>
            <a:endParaRPr lang="zh-CN" altLang="en-US" dirty="0"/>
          </a:p>
        </p:txBody>
      </p:sp>
    </p:spTree>
    <p:extLst>
      <p:ext uri="{BB962C8B-B14F-4D97-AF65-F5344CB8AC3E}">
        <p14:creationId xmlns:p14="http://schemas.microsoft.com/office/powerpoint/2010/main" val="10624802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BD40E-4991-49D6-B2A6-AF5843B59CD8}"/>
              </a:ext>
            </a:extLst>
          </p:cNvPr>
          <p:cNvSpPr>
            <a:spLocks noGrp="1"/>
          </p:cNvSpPr>
          <p:nvPr>
            <p:ph type="title"/>
          </p:nvPr>
        </p:nvSpPr>
        <p:spPr/>
        <p:txBody>
          <a:bodyPr>
            <a:normAutofit fontScale="90000"/>
          </a:bodyPr>
          <a:lstStyle/>
          <a:p>
            <a:r>
              <a:rPr lang="en-US" altLang="zh-CN" dirty="0"/>
              <a:t>7.7.1 </a:t>
            </a:r>
            <a:r>
              <a:rPr lang="zh-CN" altLang="en-US" dirty="0"/>
              <a:t>重定位条目</a:t>
            </a:r>
          </a:p>
        </p:txBody>
      </p:sp>
      <p:sp>
        <p:nvSpPr>
          <p:cNvPr id="3" name="内容占位符 2">
            <a:extLst>
              <a:ext uri="{FF2B5EF4-FFF2-40B4-BE49-F238E27FC236}">
                <a16:creationId xmlns:a16="http://schemas.microsoft.com/office/drawing/2014/main" id="{FE3632D8-E10E-4114-AA33-7A75B7587A81}"/>
              </a:ext>
            </a:extLst>
          </p:cNvPr>
          <p:cNvSpPr>
            <a:spLocks noGrp="1"/>
          </p:cNvSpPr>
          <p:nvPr>
            <p:ph idx="1"/>
          </p:nvPr>
        </p:nvSpPr>
        <p:spPr/>
        <p:txBody>
          <a:bodyPr>
            <a:normAutofit lnSpcReduction="10000"/>
          </a:bodyPr>
          <a:lstStyle/>
          <a:p>
            <a:pPr>
              <a:lnSpc>
                <a:spcPct val="110000"/>
              </a:lnSpc>
              <a:spcBef>
                <a:spcPts val="0"/>
              </a:spcBef>
            </a:pPr>
            <a:r>
              <a:rPr lang="zh-CN" altLang="en-US" sz="1800" dirty="0"/>
              <a:t>汇编器生成一个重定位条目，告诉链接器在将目标文件合并成可执行文件时如何修改这个引用</a:t>
            </a:r>
            <a:endParaRPr lang="en-US" altLang="zh-CN" sz="1800" dirty="0"/>
          </a:p>
          <a:p>
            <a:pPr lvl="1">
              <a:lnSpc>
                <a:spcPct val="110000"/>
              </a:lnSpc>
              <a:spcBef>
                <a:spcPts val="0"/>
              </a:spcBef>
            </a:pPr>
            <a:r>
              <a:rPr lang="zh-CN" altLang="en-US" sz="1800" dirty="0"/>
              <a:t>代码重定位条目放在</a:t>
            </a:r>
            <a:r>
              <a:rPr lang="en-US" altLang="zh-CN" sz="1800" dirty="0"/>
              <a:t>.</a:t>
            </a:r>
            <a:r>
              <a:rPr lang="en-US" altLang="zh-CN" sz="1800" dirty="0" err="1"/>
              <a:t>rel.text</a:t>
            </a:r>
            <a:r>
              <a:rPr lang="zh-CN" altLang="en-US" sz="1800" dirty="0"/>
              <a:t>中，已初始化数据的重定位条目放在</a:t>
            </a:r>
            <a:r>
              <a:rPr lang="en-US" altLang="zh-CN" sz="1800" dirty="0"/>
              <a:t>.</a:t>
            </a:r>
            <a:r>
              <a:rPr lang="en-US" altLang="zh-CN" sz="1800" dirty="0" err="1"/>
              <a:t>rel.data</a:t>
            </a:r>
            <a:r>
              <a:rPr lang="zh-CN" altLang="en-US" sz="1800" dirty="0"/>
              <a:t>中</a:t>
            </a:r>
            <a:endParaRPr lang="en-US" altLang="zh-CN" sz="1800" dirty="0"/>
          </a:p>
          <a:p>
            <a:pPr lvl="1">
              <a:lnSpc>
                <a:spcPct val="110000"/>
              </a:lnSpc>
              <a:spcBef>
                <a:spcPts val="0"/>
              </a:spcBef>
            </a:pPr>
            <a:r>
              <a:rPr lang="en-US" altLang="zh-CN" sz="1800" dirty="0"/>
              <a:t>ELF</a:t>
            </a:r>
            <a:r>
              <a:rPr lang="zh-CN" altLang="en-US" sz="1800" dirty="0"/>
              <a:t>重定位条目格式：</a:t>
            </a:r>
            <a:endParaRPr lang="en-US" altLang="zh-CN" sz="1800" dirty="0"/>
          </a:p>
          <a:p>
            <a:pPr lvl="2">
              <a:lnSpc>
                <a:spcPct val="110000"/>
              </a:lnSpc>
              <a:spcBef>
                <a:spcPts val="0"/>
              </a:spcBef>
            </a:pPr>
            <a:r>
              <a:rPr lang="en-US" altLang="zh-CN" sz="1400" dirty="0"/>
              <a:t>Offset</a:t>
            </a:r>
            <a:r>
              <a:rPr lang="zh-CN" altLang="en-US" sz="1400" dirty="0"/>
              <a:t>是需要被修改的引用的节偏移</a:t>
            </a:r>
            <a:endParaRPr lang="en-US" altLang="zh-CN" sz="1400" dirty="0"/>
          </a:p>
          <a:p>
            <a:pPr lvl="2">
              <a:lnSpc>
                <a:spcPct val="110000"/>
              </a:lnSpc>
              <a:spcBef>
                <a:spcPts val="0"/>
              </a:spcBef>
            </a:pPr>
            <a:r>
              <a:rPr lang="en-US" altLang="zh-CN" sz="1400" dirty="0"/>
              <a:t>Symbol</a:t>
            </a:r>
            <a:r>
              <a:rPr lang="zh-CN" altLang="en-US" sz="1400" dirty="0"/>
              <a:t>标识被修改引用应该指向的符号</a:t>
            </a:r>
            <a:endParaRPr lang="en-US" altLang="zh-CN" sz="1400" dirty="0"/>
          </a:p>
          <a:p>
            <a:pPr lvl="2">
              <a:lnSpc>
                <a:spcPct val="110000"/>
              </a:lnSpc>
              <a:spcBef>
                <a:spcPts val="0"/>
              </a:spcBef>
            </a:pPr>
            <a:r>
              <a:rPr lang="en-US" altLang="zh-CN" sz="1400" dirty="0"/>
              <a:t>Type</a:t>
            </a:r>
            <a:r>
              <a:rPr lang="zh-CN" altLang="en-US" sz="1400" dirty="0"/>
              <a:t>告知链接器如何修改新的引用</a:t>
            </a:r>
            <a:endParaRPr lang="en-US" altLang="zh-CN" sz="1400" dirty="0"/>
          </a:p>
          <a:p>
            <a:pPr lvl="2">
              <a:lnSpc>
                <a:spcPct val="110000"/>
              </a:lnSpc>
              <a:spcBef>
                <a:spcPts val="0"/>
              </a:spcBef>
            </a:pPr>
            <a:r>
              <a:rPr lang="en-US" altLang="zh-CN" sz="1400" dirty="0"/>
              <a:t>Addend</a:t>
            </a:r>
            <a:r>
              <a:rPr lang="zh-CN" altLang="en-US" sz="1400" dirty="0"/>
              <a:t>是一个有符号常数，一些类型的重定位要使用它对被修改引用的值做偏移调整</a:t>
            </a: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lvl="2">
              <a:lnSpc>
                <a:spcPct val="110000"/>
              </a:lnSpc>
              <a:spcBef>
                <a:spcPts val="0"/>
              </a:spcBef>
            </a:pPr>
            <a:endParaRPr lang="en-US" altLang="zh-CN" sz="1400" dirty="0"/>
          </a:p>
          <a:p>
            <a:pPr>
              <a:lnSpc>
                <a:spcPct val="110000"/>
              </a:lnSpc>
              <a:spcBef>
                <a:spcPts val="0"/>
              </a:spcBef>
            </a:pPr>
            <a:r>
              <a:rPr lang="en-US" altLang="zh-CN" sz="1999" dirty="0"/>
              <a:t>ELF</a:t>
            </a:r>
            <a:r>
              <a:rPr lang="zh-CN" altLang="en-US" sz="1999" dirty="0"/>
              <a:t>定义了</a:t>
            </a:r>
            <a:r>
              <a:rPr lang="en-US" altLang="zh-CN" sz="1999" dirty="0"/>
              <a:t>32</a:t>
            </a:r>
            <a:r>
              <a:rPr lang="zh-CN" altLang="en-US" sz="1999" dirty="0"/>
              <a:t>种不同的重定位类型，其中两种最基本的重定位类型：</a:t>
            </a:r>
            <a:endParaRPr lang="en-US" altLang="zh-CN" sz="1999" dirty="0"/>
          </a:p>
          <a:p>
            <a:pPr lvl="1">
              <a:lnSpc>
                <a:spcPct val="110000"/>
              </a:lnSpc>
              <a:spcBef>
                <a:spcPts val="0"/>
              </a:spcBef>
            </a:pPr>
            <a:r>
              <a:rPr lang="en-US" altLang="zh-CN" sz="1699" dirty="0"/>
              <a:t>R_X86_64_PC32</a:t>
            </a:r>
            <a:r>
              <a:rPr lang="zh-CN" altLang="en-US" sz="1699" dirty="0"/>
              <a:t>：重定位一个使用</a:t>
            </a:r>
            <a:r>
              <a:rPr lang="en-US" altLang="zh-CN" sz="1699" dirty="0"/>
              <a:t>32</a:t>
            </a:r>
            <a:r>
              <a:rPr lang="zh-CN" altLang="en-US" sz="1699" dirty="0"/>
              <a:t>位</a:t>
            </a:r>
            <a:r>
              <a:rPr lang="en-US" altLang="zh-CN" sz="1699" dirty="0"/>
              <a:t>PC</a:t>
            </a:r>
            <a:r>
              <a:rPr lang="zh-CN" altLang="en-US" sz="1699" dirty="0"/>
              <a:t>相对地址的引用</a:t>
            </a:r>
            <a:endParaRPr lang="en-US" altLang="zh-CN" sz="1699" dirty="0"/>
          </a:p>
          <a:p>
            <a:pPr lvl="2">
              <a:lnSpc>
                <a:spcPct val="110000"/>
              </a:lnSpc>
              <a:spcBef>
                <a:spcPts val="0"/>
              </a:spcBef>
            </a:pPr>
            <a:r>
              <a:rPr lang="zh-CN" altLang="en-US" sz="1400" dirty="0"/>
              <a:t>一个</a:t>
            </a:r>
            <a:r>
              <a:rPr lang="en-US" altLang="zh-CN" sz="1400" dirty="0"/>
              <a:t>PC</a:t>
            </a:r>
            <a:r>
              <a:rPr lang="zh-CN" altLang="en-US" sz="1400" dirty="0"/>
              <a:t>相对地址就是距程序计数器的当前运行时值的偏移量，</a:t>
            </a:r>
            <a:r>
              <a:rPr lang="en-US" altLang="zh-CN" sz="1400" dirty="0"/>
              <a:t>CPU</a:t>
            </a:r>
            <a:r>
              <a:rPr lang="zh-CN" altLang="en-US" sz="1400" dirty="0"/>
              <a:t>执行一条使用</a:t>
            </a:r>
            <a:r>
              <a:rPr lang="en-US" altLang="zh-CN" sz="1400" dirty="0"/>
              <a:t>PC</a:t>
            </a:r>
            <a:r>
              <a:rPr lang="zh-CN" altLang="en-US" sz="1400" dirty="0"/>
              <a:t>相对寻址指令时将指令中编码的</a:t>
            </a:r>
            <a:r>
              <a:rPr lang="en-US" altLang="zh-CN" sz="1400" dirty="0"/>
              <a:t>32</a:t>
            </a:r>
            <a:r>
              <a:rPr lang="zh-CN" altLang="en-US" sz="1400" dirty="0"/>
              <a:t>位值加上</a:t>
            </a:r>
            <a:r>
              <a:rPr lang="en-US" altLang="zh-CN" sz="1400" dirty="0"/>
              <a:t>PC</a:t>
            </a:r>
            <a:r>
              <a:rPr lang="zh-CN" altLang="en-US" sz="1400" dirty="0"/>
              <a:t>当前运行时址，得到有效地址</a:t>
            </a:r>
            <a:endParaRPr lang="en-US" altLang="zh-CN" sz="1400" dirty="0"/>
          </a:p>
          <a:p>
            <a:pPr lvl="2">
              <a:lnSpc>
                <a:spcPct val="110000"/>
              </a:lnSpc>
              <a:spcBef>
                <a:spcPts val="0"/>
              </a:spcBef>
            </a:pPr>
            <a:r>
              <a:rPr lang="en-US" altLang="zh-CN" sz="1400" dirty="0"/>
              <a:t>R_X86_64_32</a:t>
            </a:r>
            <a:r>
              <a:rPr lang="zh-CN" altLang="en-US" sz="1400" dirty="0"/>
              <a:t>：重定位一个使用</a:t>
            </a:r>
            <a:r>
              <a:rPr lang="en-US" altLang="zh-CN" sz="1400" dirty="0"/>
              <a:t>32</a:t>
            </a:r>
            <a:r>
              <a:rPr lang="zh-CN" altLang="en-US" sz="1400" dirty="0"/>
              <a:t>位绝对地址的引用，</a:t>
            </a:r>
            <a:r>
              <a:rPr lang="en-US" altLang="zh-CN" sz="1400" dirty="0"/>
              <a:t>CPU</a:t>
            </a:r>
            <a:r>
              <a:rPr lang="zh-CN" altLang="en-US" sz="1400" dirty="0"/>
              <a:t>使用在指令中编码的</a:t>
            </a:r>
            <a:r>
              <a:rPr lang="en-US" altLang="zh-CN" sz="1400" dirty="0"/>
              <a:t>32</a:t>
            </a:r>
            <a:r>
              <a:rPr lang="zh-CN" altLang="en-US" sz="1400" dirty="0"/>
              <a:t>位值作为有效地址绝对寻址</a:t>
            </a:r>
            <a:endParaRPr lang="en-US" altLang="zh-CN" sz="1400" dirty="0"/>
          </a:p>
          <a:p>
            <a:pPr>
              <a:lnSpc>
                <a:spcPct val="110000"/>
              </a:lnSpc>
              <a:spcBef>
                <a:spcPts val="0"/>
              </a:spcBef>
            </a:pPr>
            <a:endParaRPr lang="zh-CN" altLang="en-US" sz="1800" dirty="0"/>
          </a:p>
        </p:txBody>
      </p:sp>
      <p:sp>
        <p:nvSpPr>
          <p:cNvPr id="4" name="灯片编号占位符 3">
            <a:extLst>
              <a:ext uri="{FF2B5EF4-FFF2-40B4-BE49-F238E27FC236}">
                <a16:creationId xmlns:a16="http://schemas.microsoft.com/office/drawing/2014/main" id="{027623D8-8E68-4C9B-A272-5E9BE360B3AF}"/>
              </a:ext>
            </a:extLst>
          </p:cNvPr>
          <p:cNvSpPr>
            <a:spLocks noGrp="1"/>
          </p:cNvSpPr>
          <p:nvPr>
            <p:ph type="sldNum" sz="quarter" idx="12"/>
          </p:nvPr>
        </p:nvSpPr>
        <p:spPr/>
        <p:txBody>
          <a:bodyPr/>
          <a:lstStyle/>
          <a:p>
            <a:fld id="{6D62327B-ED8D-4CFC-ADD0-A75FA5CBE281}" type="slidenum">
              <a:rPr lang="zh-CN" altLang="en-US" smtClean="0"/>
              <a:pPr/>
              <a:t>37</a:t>
            </a:fld>
            <a:endParaRPr lang="zh-CN" altLang="en-US" dirty="0"/>
          </a:p>
        </p:txBody>
      </p:sp>
      <p:sp>
        <p:nvSpPr>
          <p:cNvPr id="5" name="Rectangle 3">
            <a:extLst>
              <a:ext uri="{FF2B5EF4-FFF2-40B4-BE49-F238E27FC236}">
                <a16:creationId xmlns:a16="http://schemas.microsoft.com/office/drawing/2014/main" id="{CFF4E498-6B1A-41E3-901E-9AEF2B070B99}"/>
              </a:ext>
            </a:extLst>
          </p:cNvPr>
          <p:cNvSpPr>
            <a:spLocks noChangeArrowheads="1"/>
          </p:cNvSpPr>
          <p:nvPr/>
        </p:nvSpPr>
        <p:spPr bwMode="auto">
          <a:xfrm>
            <a:off x="1331640" y="2852936"/>
            <a:ext cx="6048672" cy="1569660"/>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200" dirty="0">
                <a:solidFill>
                  <a:schemeClr val="tx1"/>
                </a:solidFill>
                <a:latin typeface="Menlo-Regular"/>
              </a:rPr>
              <a:t>/* $begin </a:t>
            </a:r>
            <a:r>
              <a:rPr lang="en-US" altLang="zh-CN" sz="1200" dirty="0" err="1">
                <a:solidFill>
                  <a:schemeClr val="tx1"/>
                </a:solidFill>
                <a:latin typeface="Menlo-Regular"/>
              </a:rPr>
              <a:t>elfrelo</a:t>
            </a:r>
            <a:r>
              <a:rPr lang="en-US" altLang="zh-CN" sz="1200" dirty="0">
                <a:solidFill>
                  <a:schemeClr val="tx1"/>
                </a:solidFill>
                <a:latin typeface="Menlo-Regular"/>
              </a:rPr>
              <a:t> */</a:t>
            </a:r>
          </a:p>
          <a:p>
            <a:r>
              <a:rPr lang="en-US" altLang="zh-CN" sz="1200" dirty="0">
                <a:solidFill>
                  <a:schemeClr val="tx1"/>
                </a:solidFill>
                <a:latin typeface="Menlo-Regular"/>
              </a:rPr>
              <a:t>typedef struct { </a:t>
            </a:r>
          </a:p>
          <a:p>
            <a:r>
              <a:rPr lang="en-US" altLang="zh-CN" sz="1200" dirty="0">
                <a:solidFill>
                  <a:schemeClr val="tx1"/>
                </a:solidFill>
                <a:latin typeface="Menlo-Regular"/>
              </a:rPr>
              <a:t>    long offset;    /* Offset of the reference to relocate */ </a:t>
            </a:r>
          </a:p>
          <a:p>
            <a:r>
              <a:rPr lang="en-US" altLang="zh-CN" sz="1200" dirty="0">
                <a:solidFill>
                  <a:schemeClr val="tx1"/>
                </a:solidFill>
                <a:latin typeface="Menlo-Regular"/>
              </a:rPr>
              <a:t>    long type:32,   /* Relocation type */ </a:t>
            </a:r>
          </a:p>
          <a:p>
            <a:r>
              <a:rPr lang="en-US" altLang="zh-CN" sz="1200" dirty="0">
                <a:solidFill>
                  <a:schemeClr val="tx1"/>
                </a:solidFill>
                <a:latin typeface="Menlo-Regular"/>
              </a:rPr>
              <a:t>             symbol:32; /* Symbol table index */ </a:t>
            </a:r>
          </a:p>
          <a:p>
            <a:r>
              <a:rPr lang="en-US" altLang="zh-CN" sz="1200" dirty="0">
                <a:solidFill>
                  <a:schemeClr val="tx1"/>
                </a:solidFill>
                <a:latin typeface="Menlo-Regular"/>
              </a:rPr>
              <a:t>    long addend;    /* Constant part of relocation expression */</a:t>
            </a:r>
          </a:p>
          <a:p>
            <a:r>
              <a:rPr lang="en-US" altLang="zh-CN" sz="1200" dirty="0">
                <a:solidFill>
                  <a:schemeClr val="tx1"/>
                </a:solidFill>
                <a:latin typeface="Menlo-Regular"/>
              </a:rPr>
              <a:t>} Elf64_Rela; </a:t>
            </a:r>
          </a:p>
          <a:p>
            <a:r>
              <a:rPr lang="en-US" altLang="zh-CN" sz="1200" dirty="0">
                <a:solidFill>
                  <a:schemeClr val="tx1"/>
                </a:solidFill>
                <a:latin typeface="Menlo-Regular"/>
              </a:rPr>
              <a:t>/* $end </a:t>
            </a:r>
            <a:r>
              <a:rPr lang="en-US" altLang="zh-CN" sz="1200" dirty="0" err="1">
                <a:solidFill>
                  <a:schemeClr val="tx1"/>
                </a:solidFill>
                <a:latin typeface="Menlo-Regular"/>
              </a:rPr>
              <a:t>elfrelo</a:t>
            </a:r>
            <a:r>
              <a:rPr lang="en-US" altLang="zh-CN" sz="1200" dirty="0">
                <a:solidFill>
                  <a:schemeClr val="tx1"/>
                </a:solidFill>
                <a:latin typeface="Menlo-Regular"/>
              </a:rPr>
              <a:t> */</a:t>
            </a:r>
            <a:endParaRPr lang="en-US" sz="1200" dirty="0">
              <a:solidFill>
                <a:schemeClr val="tx1"/>
              </a:solidFill>
              <a:latin typeface="Courier New"/>
              <a:cs typeface="Courier New"/>
            </a:endParaRPr>
          </a:p>
        </p:txBody>
      </p:sp>
    </p:spTree>
    <p:extLst>
      <p:ext uri="{BB962C8B-B14F-4D97-AF65-F5344CB8AC3E}">
        <p14:creationId xmlns:p14="http://schemas.microsoft.com/office/powerpoint/2010/main" val="10042846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1A878E-DB28-46FF-B4C6-9984099638D7}"/>
              </a:ext>
            </a:extLst>
          </p:cNvPr>
          <p:cNvSpPr>
            <a:spLocks noGrp="1"/>
          </p:cNvSpPr>
          <p:nvPr>
            <p:ph type="title"/>
          </p:nvPr>
        </p:nvSpPr>
        <p:spPr/>
        <p:txBody>
          <a:bodyPr>
            <a:normAutofit fontScale="90000"/>
          </a:bodyPr>
          <a:lstStyle/>
          <a:p>
            <a:r>
              <a:rPr lang="zh-CN" altLang="en-US" dirty="0"/>
              <a:t>重定位算法</a:t>
            </a:r>
          </a:p>
        </p:txBody>
      </p:sp>
      <p:sp>
        <p:nvSpPr>
          <p:cNvPr id="3" name="内容占位符 2">
            <a:extLst>
              <a:ext uri="{FF2B5EF4-FFF2-40B4-BE49-F238E27FC236}">
                <a16:creationId xmlns:a16="http://schemas.microsoft.com/office/drawing/2014/main" id="{8B48D52E-CB6F-4EE6-B202-5970700A3552}"/>
              </a:ext>
            </a:extLst>
          </p:cNvPr>
          <p:cNvSpPr>
            <a:spLocks noGrp="1"/>
          </p:cNvSpPr>
          <p:nvPr>
            <p:ph idx="1"/>
          </p:nvPr>
        </p:nvSpPr>
        <p:spPr>
          <a:xfrm>
            <a:off x="457200" y="837034"/>
            <a:ext cx="8229600" cy="3672086"/>
          </a:xfrm>
        </p:spPr>
        <p:txBody>
          <a:bodyPr>
            <a:normAutofit/>
          </a:bodyPr>
          <a:lstStyle/>
          <a:p>
            <a:pPr marL="457200" indent="-457200">
              <a:buFont typeface="+mj-lt"/>
              <a:buAutoNum type="arabicPeriod"/>
            </a:pPr>
            <a:r>
              <a:rPr lang="en-US" altLang="zh-CN" sz="1800" dirty="0"/>
              <a:t>Foreach section s{</a:t>
            </a:r>
          </a:p>
          <a:p>
            <a:pPr marL="457200" indent="-457200">
              <a:buFont typeface="+mj-lt"/>
              <a:buAutoNum type="arabicPeriod"/>
            </a:pPr>
            <a:r>
              <a:rPr lang="en-US" altLang="zh-CN" sz="1800" dirty="0"/>
              <a:t>    foreach relocation entry r{</a:t>
            </a:r>
          </a:p>
          <a:p>
            <a:pPr marL="457200" indent="-457200">
              <a:buFont typeface="+mj-lt"/>
              <a:buAutoNum type="arabicPeriod"/>
            </a:pPr>
            <a:r>
              <a:rPr lang="en-US" altLang="zh-CN" sz="1800" dirty="0"/>
              <a:t>         </a:t>
            </a:r>
            <a:r>
              <a:rPr lang="en-US" altLang="zh-CN" sz="1800" dirty="0" err="1"/>
              <a:t>refptr</a:t>
            </a:r>
            <a:r>
              <a:rPr lang="en-US" altLang="zh-CN" sz="1800" dirty="0"/>
              <a:t>=</a:t>
            </a:r>
            <a:r>
              <a:rPr lang="en-US" altLang="zh-CN" sz="1800" dirty="0" err="1"/>
              <a:t>s+r.offset</a:t>
            </a:r>
            <a:r>
              <a:rPr lang="en-US" altLang="zh-CN" sz="1800" dirty="0"/>
              <a:t>;    </a:t>
            </a:r>
          </a:p>
          <a:p>
            <a:pPr marL="457200" indent="-457200">
              <a:buFont typeface="+mj-lt"/>
              <a:buAutoNum type="arabicPeriod"/>
            </a:pPr>
            <a:r>
              <a:rPr lang="en-US" altLang="zh-CN" sz="1800" dirty="0"/>
              <a:t>         /*</a:t>
            </a:r>
            <a:r>
              <a:rPr lang="zh-CN" altLang="en-US" sz="1800" dirty="0"/>
              <a:t>重定位</a:t>
            </a:r>
            <a:r>
              <a:rPr lang="en-US" altLang="zh-CN" sz="1800" dirty="0"/>
              <a:t>32</a:t>
            </a:r>
            <a:r>
              <a:rPr lang="zh-CN" altLang="en-US" sz="1800" dirty="0"/>
              <a:t>位</a:t>
            </a:r>
            <a:r>
              <a:rPr lang="en-US" altLang="zh-CN" sz="1800" dirty="0"/>
              <a:t>PC</a:t>
            </a:r>
            <a:r>
              <a:rPr lang="zh-CN" altLang="en-US" sz="1800" dirty="0"/>
              <a:t>相对地址引用</a:t>
            </a:r>
            <a:r>
              <a:rPr lang="en-US" altLang="zh-CN" sz="1800" dirty="0"/>
              <a:t>*/</a:t>
            </a:r>
          </a:p>
          <a:p>
            <a:pPr marL="457200" indent="-457200">
              <a:buFont typeface="+mj-lt"/>
              <a:buAutoNum type="arabicPeriod"/>
            </a:pPr>
            <a:r>
              <a:rPr lang="en-US" altLang="zh-CN" sz="1800" dirty="0"/>
              <a:t>         if(</a:t>
            </a:r>
            <a:r>
              <a:rPr lang="en-US" altLang="zh-CN" sz="1800" dirty="0" err="1"/>
              <a:t>r.type</a:t>
            </a:r>
            <a:r>
              <a:rPr lang="en-US" altLang="zh-CN" sz="1800" dirty="0"/>
              <a:t>==R_X86_64_PC32){</a:t>
            </a:r>
          </a:p>
          <a:p>
            <a:pPr marL="457200" indent="-457200">
              <a:buFont typeface="+mj-lt"/>
              <a:buAutoNum type="arabicPeriod"/>
            </a:pPr>
            <a:r>
              <a:rPr lang="en-US" altLang="zh-CN" sz="1800" dirty="0"/>
              <a:t>            </a:t>
            </a:r>
            <a:r>
              <a:rPr lang="en-US" altLang="zh-CN" sz="1800" dirty="0" err="1"/>
              <a:t>refaddr</a:t>
            </a:r>
            <a:r>
              <a:rPr lang="en-US" altLang="zh-CN" sz="1800" dirty="0"/>
              <a:t>=ADDR(s)+</a:t>
            </a:r>
            <a:r>
              <a:rPr lang="en-US" altLang="zh-CN" sz="1800" dirty="0" err="1"/>
              <a:t>r.offset</a:t>
            </a:r>
            <a:r>
              <a:rPr lang="en-US" altLang="zh-CN" sz="1800" dirty="0"/>
              <a:t>;</a:t>
            </a:r>
          </a:p>
          <a:p>
            <a:pPr marL="457200" indent="-457200">
              <a:buFont typeface="+mj-lt"/>
              <a:buAutoNum type="arabicPeriod"/>
            </a:pPr>
            <a:r>
              <a:rPr lang="en-US" altLang="zh-CN" sz="1800" dirty="0"/>
              <a:t>            *</a:t>
            </a:r>
            <a:r>
              <a:rPr lang="en-US" altLang="zh-CN" sz="1800" dirty="0" err="1"/>
              <a:t>refptr</a:t>
            </a:r>
            <a:r>
              <a:rPr lang="en-US" altLang="zh-CN" sz="1800" dirty="0"/>
              <a:t>=(unsigned)(ADDR(</a:t>
            </a:r>
            <a:r>
              <a:rPr lang="en-US" altLang="zh-CN" sz="1800" dirty="0" err="1"/>
              <a:t>r.symbol</a:t>
            </a:r>
            <a:r>
              <a:rPr lang="en-US" altLang="zh-CN" sz="1800" dirty="0"/>
              <a:t>)+</a:t>
            </a:r>
            <a:r>
              <a:rPr lang="en-US" altLang="zh-CN" sz="1800" dirty="0" err="1"/>
              <a:t>r.addend-refaddr</a:t>
            </a:r>
            <a:r>
              <a:rPr lang="en-US" altLang="zh-CN" sz="1800" dirty="0"/>
              <a:t>);}</a:t>
            </a:r>
          </a:p>
          <a:p>
            <a:pPr marL="457200" indent="-457200">
              <a:buFont typeface="+mj-lt"/>
              <a:buAutoNum type="arabicPeriod"/>
            </a:pPr>
            <a:r>
              <a:rPr lang="en-US" altLang="zh-CN" sz="1800" dirty="0"/>
              <a:t>         /*</a:t>
            </a:r>
            <a:r>
              <a:rPr lang="zh-CN" altLang="en-US" sz="1800" dirty="0"/>
              <a:t>重定位</a:t>
            </a:r>
            <a:r>
              <a:rPr lang="en-US" altLang="zh-CN" sz="1800" dirty="0"/>
              <a:t>32</a:t>
            </a:r>
            <a:r>
              <a:rPr lang="zh-CN" altLang="en-US" sz="1800" dirty="0"/>
              <a:t>位绝地地址引用</a:t>
            </a:r>
            <a:r>
              <a:rPr lang="en-US" altLang="zh-CN" sz="1800" dirty="0"/>
              <a:t>*/</a:t>
            </a:r>
          </a:p>
          <a:p>
            <a:pPr marL="457200" indent="-457200">
              <a:buFont typeface="+mj-lt"/>
              <a:buAutoNum type="arabicPeriod"/>
            </a:pPr>
            <a:r>
              <a:rPr lang="en-US" altLang="zh-CN" sz="1800" dirty="0"/>
              <a:t>        if(</a:t>
            </a:r>
            <a:r>
              <a:rPr lang="en-US" altLang="zh-CN" sz="1800" dirty="0" err="1"/>
              <a:t>r.type</a:t>
            </a:r>
            <a:r>
              <a:rPr lang="en-US" altLang="zh-CN" sz="1800" dirty="0"/>
              <a:t>==R_X86_64_32){</a:t>
            </a:r>
          </a:p>
          <a:p>
            <a:pPr marL="457200" indent="-457200">
              <a:buFont typeface="+mj-lt"/>
              <a:buAutoNum type="arabicPeriod"/>
            </a:pPr>
            <a:r>
              <a:rPr lang="en-US" altLang="zh-CN" sz="1800" dirty="0"/>
              <a:t>            *</a:t>
            </a:r>
            <a:r>
              <a:rPr lang="en-US" altLang="zh-CN" sz="1800" dirty="0" err="1"/>
              <a:t>refptr</a:t>
            </a:r>
            <a:r>
              <a:rPr lang="en-US" altLang="zh-CN" sz="1800" dirty="0"/>
              <a:t>=(unsigned)(ADDR(</a:t>
            </a:r>
            <a:r>
              <a:rPr lang="en-US" altLang="zh-CN" sz="1800" dirty="0" err="1"/>
              <a:t>r.symbol</a:t>
            </a:r>
            <a:r>
              <a:rPr lang="en-US" altLang="zh-CN" sz="1800" dirty="0"/>
              <a:t>)+</a:t>
            </a:r>
            <a:r>
              <a:rPr lang="en-US" altLang="zh-CN" sz="1800" dirty="0" err="1"/>
              <a:t>r.addend</a:t>
            </a:r>
            <a:r>
              <a:rPr lang="en-US" altLang="zh-CN" sz="1800" dirty="0"/>
              <a:t>);</a:t>
            </a:r>
          </a:p>
          <a:p>
            <a:pPr marL="457200" indent="-457200">
              <a:buFont typeface="+mj-lt"/>
              <a:buAutoNum type="arabicPeriod"/>
            </a:pPr>
            <a:r>
              <a:rPr lang="en-US" altLang="zh-CN" sz="1800" dirty="0"/>
              <a:t>         /*</a:t>
            </a:r>
            <a:r>
              <a:rPr lang="zh-CN" altLang="en-US" sz="1800" dirty="0"/>
              <a:t>重定位</a:t>
            </a:r>
            <a:r>
              <a:rPr lang="en-US" altLang="zh-CN" sz="1800" dirty="0"/>
              <a:t>32</a:t>
            </a:r>
            <a:r>
              <a:rPr lang="zh-CN" altLang="en-US" sz="1800" dirty="0"/>
              <a:t>位绝地地址引用</a:t>
            </a:r>
            <a:r>
              <a:rPr lang="en-US" altLang="zh-CN" sz="1800" dirty="0"/>
              <a:t>*/</a:t>
            </a:r>
            <a:endParaRPr lang="zh-CN" altLang="en-US" sz="1800" dirty="0"/>
          </a:p>
        </p:txBody>
      </p:sp>
      <p:sp>
        <p:nvSpPr>
          <p:cNvPr id="4" name="灯片编号占位符 3">
            <a:extLst>
              <a:ext uri="{FF2B5EF4-FFF2-40B4-BE49-F238E27FC236}">
                <a16:creationId xmlns:a16="http://schemas.microsoft.com/office/drawing/2014/main" id="{A87FF3E0-907E-479A-925D-62E5FC5A3FA2}"/>
              </a:ext>
            </a:extLst>
          </p:cNvPr>
          <p:cNvSpPr>
            <a:spLocks noGrp="1"/>
          </p:cNvSpPr>
          <p:nvPr>
            <p:ph type="sldNum" sz="quarter" idx="12"/>
          </p:nvPr>
        </p:nvSpPr>
        <p:spPr/>
        <p:txBody>
          <a:bodyPr/>
          <a:lstStyle/>
          <a:p>
            <a:fld id="{6D62327B-ED8D-4CFC-ADD0-A75FA5CBE281}" type="slidenum">
              <a:rPr lang="zh-CN" altLang="en-US" smtClean="0"/>
              <a:pPr/>
              <a:t>38</a:t>
            </a:fld>
            <a:endParaRPr lang="zh-CN" altLang="en-US" dirty="0"/>
          </a:p>
        </p:txBody>
      </p:sp>
      <p:sp>
        <p:nvSpPr>
          <p:cNvPr id="5" name="内容占位符 2">
            <a:extLst>
              <a:ext uri="{FF2B5EF4-FFF2-40B4-BE49-F238E27FC236}">
                <a16:creationId xmlns:a16="http://schemas.microsoft.com/office/drawing/2014/main" id="{2B049E15-D98D-4CC8-8E85-F7840F66D5E4}"/>
              </a:ext>
            </a:extLst>
          </p:cNvPr>
          <p:cNvSpPr txBox="1">
            <a:spLocks/>
          </p:cNvSpPr>
          <p:nvPr/>
        </p:nvSpPr>
        <p:spPr>
          <a:xfrm>
            <a:off x="457200" y="4670884"/>
            <a:ext cx="8229600" cy="1455286"/>
          </a:xfrm>
          <a:prstGeom prst="rect">
            <a:avLst/>
          </a:prstGeom>
        </p:spPr>
        <p:txBody>
          <a:bodyPr vert="horz" lIns="91440" tIns="45720" rIns="91440" bIns="45720" rtlCol="0">
            <a:normAutofit/>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a:lnSpc>
                <a:spcPct val="110000"/>
              </a:lnSpc>
              <a:spcBef>
                <a:spcPts val="0"/>
              </a:spcBef>
            </a:pPr>
            <a:r>
              <a:rPr lang="zh-CN" altLang="en-US" sz="1800" dirty="0"/>
              <a:t>假设算法运行时，链接器为每个节</a:t>
            </a:r>
            <a:r>
              <a:rPr lang="en-US" altLang="zh-CN" sz="1800" dirty="0"/>
              <a:t>(ADDR(s))</a:t>
            </a:r>
            <a:r>
              <a:rPr lang="zh-CN" altLang="en-US" sz="1800" dirty="0"/>
              <a:t>和每个符号</a:t>
            </a:r>
            <a:r>
              <a:rPr lang="en-US" altLang="zh-CN" sz="1800" dirty="0"/>
              <a:t>(ADDR(</a:t>
            </a:r>
            <a:r>
              <a:rPr lang="en-US" altLang="zh-CN" sz="1800" dirty="0" err="1"/>
              <a:t>r.symbol</a:t>
            </a:r>
            <a:r>
              <a:rPr lang="en-US" altLang="zh-CN" sz="1800" dirty="0"/>
              <a:t>))</a:t>
            </a:r>
            <a:r>
              <a:rPr lang="zh-CN" altLang="en-US" sz="1800" dirty="0"/>
              <a:t>都选择了运行时地址</a:t>
            </a:r>
            <a:endParaRPr lang="en-US" altLang="zh-CN" sz="1800" dirty="0"/>
          </a:p>
          <a:p>
            <a:pPr lvl="1">
              <a:lnSpc>
                <a:spcPct val="110000"/>
              </a:lnSpc>
              <a:spcBef>
                <a:spcPts val="0"/>
              </a:spcBef>
            </a:pPr>
            <a:r>
              <a:rPr lang="zh-CN" altLang="en-US" sz="1500" dirty="0"/>
              <a:t>第</a:t>
            </a:r>
            <a:r>
              <a:rPr lang="en-US" altLang="zh-CN" sz="1500" dirty="0"/>
              <a:t>3</a:t>
            </a:r>
            <a:r>
              <a:rPr lang="zh-CN" altLang="en-US" sz="1500" dirty="0"/>
              <a:t>行计算的是需要被重定位的</a:t>
            </a:r>
            <a:r>
              <a:rPr lang="en-US" altLang="zh-CN" sz="1500" dirty="0"/>
              <a:t>4</a:t>
            </a:r>
            <a:r>
              <a:rPr lang="zh-CN" altLang="en-US" sz="1500" dirty="0"/>
              <a:t>字节引用的数组</a:t>
            </a:r>
            <a:r>
              <a:rPr lang="en-US" altLang="zh-CN" sz="1500" dirty="0"/>
              <a:t>s</a:t>
            </a:r>
            <a:r>
              <a:rPr lang="zh-CN" altLang="en-US" sz="1500" dirty="0"/>
              <a:t>中的地址</a:t>
            </a:r>
            <a:endParaRPr lang="en-US" altLang="zh-CN" sz="1500" dirty="0"/>
          </a:p>
          <a:p>
            <a:pPr lvl="2">
              <a:lnSpc>
                <a:spcPct val="110000"/>
              </a:lnSpc>
              <a:spcBef>
                <a:spcPts val="0"/>
              </a:spcBef>
            </a:pPr>
            <a:r>
              <a:rPr lang="en-US" altLang="zh-CN" sz="1201" dirty="0"/>
              <a:t>PC</a:t>
            </a:r>
            <a:r>
              <a:rPr lang="zh-CN" altLang="en-US" sz="1201" dirty="0"/>
              <a:t>相对寻址使用</a:t>
            </a:r>
            <a:r>
              <a:rPr lang="en-US" altLang="zh-CN" sz="1201" dirty="0"/>
              <a:t>5~7</a:t>
            </a:r>
            <a:r>
              <a:rPr lang="zh-CN" altLang="en-US" sz="1201" dirty="0"/>
              <a:t>行重定位</a:t>
            </a:r>
            <a:endParaRPr lang="en-US" altLang="zh-CN" sz="1201" dirty="0"/>
          </a:p>
          <a:p>
            <a:pPr lvl="2">
              <a:lnSpc>
                <a:spcPct val="110000"/>
              </a:lnSpc>
              <a:spcBef>
                <a:spcPts val="0"/>
              </a:spcBef>
            </a:pPr>
            <a:r>
              <a:rPr lang="zh-CN" altLang="en-US" sz="1201" dirty="0"/>
              <a:t>绝对寻址使用</a:t>
            </a:r>
            <a:r>
              <a:rPr lang="en-US" altLang="zh-CN" sz="1201" dirty="0"/>
              <a:t>8~10</a:t>
            </a:r>
            <a:r>
              <a:rPr lang="zh-CN" altLang="en-US" sz="1201" dirty="0"/>
              <a:t>行重定位</a:t>
            </a:r>
          </a:p>
        </p:txBody>
      </p:sp>
    </p:spTree>
    <p:extLst>
      <p:ext uri="{BB962C8B-B14F-4D97-AF65-F5344CB8AC3E}">
        <p14:creationId xmlns:p14="http://schemas.microsoft.com/office/powerpoint/2010/main" val="9758607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B34A45-0FA9-4AF4-8C21-8210E1489C87}"/>
              </a:ext>
            </a:extLst>
          </p:cNvPr>
          <p:cNvSpPr>
            <a:spLocks noGrp="1"/>
          </p:cNvSpPr>
          <p:nvPr>
            <p:ph type="title"/>
          </p:nvPr>
        </p:nvSpPr>
        <p:spPr/>
        <p:txBody>
          <a:bodyPr>
            <a:normAutofit fontScale="90000"/>
          </a:bodyPr>
          <a:lstStyle/>
          <a:p>
            <a:r>
              <a:rPr lang="en-US" altLang="zh-CN" dirty="0"/>
              <a:t>7.7.2 </a:t>
            </a:r>
            <a:r>
              <a:rPr lang="zh-CN" altLang="en-US" dirty="0"/>
              <a:t>重定位符号引用</a:t>
            </a:r>
          </a:p>
        </p:txBody>
      </p:sp>
      <p:sp>
        <p:nvSpPr>
          <p:cNvPr id="3" name="内容占位符 2">
            <a:extLst>
              <a:ext uri="{FF2B5EF4-FFF2-40B4-BE49-F238E27FC236}">
                <a16:creationId xmlns:a16="http://schemas.microsoft.com/office/drawing/2014/main" id="{BF100AD7-ACC5-4527-AF05-71CA3420045A}"/>
              </a:ext>
            </a:extLst>
          </p:cNvPr>
          <p:cNvSpPr>
            <a:spLocks noGrp="1"/>
          </p:cNvSpPr>
          <p:nvPr>
            <p:ph idx="1"/>
          </p:nvPr>
        </p:nvSpPr>
        <p:spPr>
          <a:xfrm>
            <a:off x="363539" y="652659"/>
            <a:ext cx="6452301" cy="2088275"/>
          </a:xfrm>
        </p:spPr>
        <p:txBody>
          <a:bodyPr>
            <a:normAutofit fontScale="92500" lnSpcReduction="10000"/>
          </a:bodyPr>
          <a:lstStyle/>
          <a:p>
            <a:pPr marL="457200" indent="-457200">
              <a:buFont typeface="+mj-lt"/>
              <a:buAutoNum type="arabicPeriod"/>
            </a:pPr>
            <a:r>
              <a:rPr lang="en-US" altLang="zh-CN" sz="1400" dirty="0"/>
              <a:t>0000000000000000 &lt;main&gt;:</a:t>
            </a:r>
          </a:p>
          <a:p>
            <a:pPr marL="457200" indent="-457200">
              <a:buFont typeface="+mj-lt"/>
              <a:buAutoNum type="arabicPeriod"/>
            </a:pPr>
            <a:r>
              <a:rPr lang="en-US" altLang="zh-CN" sz="1400" dirty="0"/>
              <a:t>   0:	48 83 </a:t>
            </a:r>
            <a:r>
              <a:rPr lang="en-US" altLang="zh-CN" sz="1400" dirty="0" err="1"/>
              <a:t>ec</a:t>
            </a:r>
            <a:r>
              <a:rPr lang="en-US" altLang="zh-CN" sz="1400" dirty="0"/>
              <a:t> 08                   	sub     $0x8,%rsp</a:t>
            </a:r>
          </a:p>
          <a:p>
            <a:pPr marL="457200" indent="-457200">
              <a:buFont typeface="+mj-lt"/>
              <a:buAutoNum type="arabicPeriod"/>
            </a:pPr>
            <a:r>
              <a:rPr lang="en-US" altLang="zh-CN" sz="1400" dirty="0"/>
              <a:t>   4:	be 02 00 00 00       	mov    $0x2,%esi</a:t>
            </a:r>
          </a:p>
          <a:p>
            <a:pPr marL="457200" indent="-457200">
              <a:buFont typeface="+mj-lt"/>
              <a:buAutoNum type="arabicPeriod"/>
            </a:pPr>
            <a:r>
              <a:rPr lang="en-US" altLang="zh-CN" sz="1400" dirty="0"/>
              <a:t>   9:	bf 00 00 00 00       	mov    $0x0,%edi        </a:t>
            </a:r>
            <a:r>
              <a:rPr lang="en-US" altLang="zh-CN" sz="1400" i="1" dirty="0">
                <a:solidFill>
                  <a:srgbClr val="2F5EB0"/>
                </a:solidFill>
              </a:rPr>
              <a:t>%</a:t>
            </a:r>
            <a:r>
              <a:rPr lang="en-US" altLang="zh-CN" sz="1400" i="1" dirty="0" err="1">
                <a:solidFill>
                  <a:srgbClr val="2F5EB0"/>
                </a:solidFill>
              </a:rPr>
              <a:t>edi</a:t>
            </a:r>
            <a:r>
              <a:rPr lang="en-US" altLang="zh-CN" sz="1400" i="1" dirty="0">
                <a:solidFill>
                  <a:srgbClr val="2F5EB0"/>
                </a:solidFill>
              </a:rPr>
              <a:t>=$array</a:t>
            </a:r>
          </a:p>
          <a:p>
            <a:pPr marL="457200" indent="-457200">
              <a:buFont typeface="+mj-lt"/>
              <a:buAutoNum type="arabicPeriod"/>
            </a:pPr>
            <a:r>
              <a:rPr lang="en-US" altLang="zh-CN" sz="1400" dirty="0"/>
              <a:t>			a: </a:t>
            </a:r>
            <a:r>
              <a:rPr lang="en-US" altLang="zh-CN" sz="1400" dirty="0">
                <a:solidFill>
                  <a:srgbClr val="FF0000"/>
                </a:solidFill>
                <a:effectLst>
                  <a:outerShdw blurRad="38100" dist="38100" dir="2700000" algn="tl">
                    <a:srgbClr val="000000">
                      <a:alpha val="43137"/>
                    </a:srgbClr>
                  </a:outerShdw>
                </a:effectLst>
              </a:rPr>
              <a:t>R_X86_64_32</a:t>
            </a:r>
            <a:r>
              <a:rPr lang="en-US" altLang="zh-CN" sz="1400" dirty="0"/>
              <a:t>	array                         </a:t>
            </a:r>
            <a:r>
              <a:rPr lang="en-US" altLang="zh-CN" sz="1400" i="1" dirty="0">
                <a:solidFill>
                  <a:srgbClr val="2F5EB0"/>
                </a:solidFill>
              </a:rPr>
              <a:t>relocation entry</a:t>
            </a:r>
            <a:r>
              <a:rPr lang="en-US" altLang="zh-CN" sz="1400" dirty="0"/>
              <a:t>   </a:t>
            </a:r>
          </a:p>
          <a:p>
            <a:pPr marL="457200" indent="-457200">
              <a:buFont typeface="+mj-lt"/>
              <a:buAutoNum type="arabicPeriod"/>
            </a:pPr>
            <a:r>
              <a:rPr lang="en-US" altLang="zh-CN" sz="1400" dirty="0"/>
              <a:t>   e:	e8 00 00 00 00       	</a:t>
            </a:r>
            <a:r>
              <a:rPr lang="en-US" altLang="zh-CN" sz="1400" dirty="0" err="1"/>
              <a:t>callq</a:t>
            </a:r>
            <a:r>
              <a:rPr lang="en-US" altLang="zh-CN" sz="1400" dirty="0"/>
              <a:t>  13 &lt;main+0x13&gt;            </a:t>
            </a:r>
            <a:r>
              <a:rPr lang="en-US" altLang="zh-CN" sz="1400" i="1" dirty="0">
                <a:solidFill>
                  <a:srgbClr val="2F5EB0"/>
                </a:solidFill>
              </a:rPr>
              <a:t>sum()</a:t>
            </a:r>
          </a:p>
          <a:p>
            <a:pPr marL="457200" indent="-457200">
              <a:buFont typeface="+mj-lt"/>
              <a:buAutoNum type="arabicPeriod"/>
            </a:pPr>
            <a:r>
              <a:rPr lang="en-US" altLang="zh-CN" sz="1400" dirty="0"/>
              <a:t>			f: </a:t>
            </a:r>
            <a:r>
              <a:rPr lang="en-US" altLang="zh-CN" sz="1400" dirty="0">
                <a:solidFill>
                  <a:srgbClr val="FF0000"/>
                </a:solidFill>
                <a:effectLst>
                  <a:outerShdw blurRad="38100" dist="38100" dir="2700000" algn="tl">
                    <a:srgbClr val="000000">
                      <a:alpha val="43137"/>
                    </a:srgbClr>
                  </a:outerShdw>
                </a:effectLst>
              </a:rPr>
              <a:t>R_X86_64_PC32</a:t>
            </a:r>
            <a:r>
              <a:rPr lang="en-US" altLang="zh-CN" sz="1400" dirty="0"/>
              <a:t>	sum-0x4     </a:t>
            </a:r>
            <a:r>
              <a:rPr lang="en-US" altLang="zh-CN" sz="1400" i="1" dirty="0">
                <a:solidFill>
                  <a:srgbClr val="2F5EB0"/>
                </a:solidFill>
              </a:rPr>
              <a:t>relocation entry</a:t>
            </a:r>
            <a:r>
              <a:rPr lang="en-US" altLang="zh-CN" sz="1400" dirty="0"/>
              <a:t> </a:t>
            </a:r>
          </a:p>
          <a:p>
            <a:pPr marL="457200" indent="-457200">
              <a:buFont typeface="+mj-lt"/>
              <a:buAutoNum type="arabicPeriod"/>
            </a:pPr>
            <a:r>
              <a:rPr lang="en-US" altLang="zh-CN" sz="1400" dirty="0"/>
              <a:t>  13:	48 83 c4 08       	              add     $0x8,%rsp</a:t>
            </a:r>
          </a:p>
          <a:p>
            <a:pPr marL="457200" indent="-457200">
              <a:buFont typeface="+mj-lt"/>
              <a:buAutoNum type="arabicPeriod"/>
            </a:pPr>
            <a:r>
              <a:rPr lang="en-US" altLang="zh-CN" sz="1400" dirty="0"/>
              <a:t>  17:	c3			</a:t>
            </a:r>
            <a:r>
              <a:rPr lang="en-US" altLang="zh-CN" sz="1400" dirty="0" err="1"/>
              <a:t>retq</a:t>
            </a:r>
            <a:endParaRPr lang="zh-CN" altLang="en-US" sz="1400" dirty="0"/>
          </a:p>
        </p:txBody>
      </p:sp>
      <p:sp>
        <p:nvSpPr>
          <p:cNvPr id="4" name="灯片编号占位符 3">
            <a:extLst>
              <a:ext uri="{FF2B5EF4-FFF2-40B4-BE49-F238E27FC236}">
                <a16:creationId xmlns:a16="http://schemas.microsoft.com/office/drawing/2014/main" id="{F19AC232-F958-4D64-BCC7-0B1F87160FAB}"/>
              </a:ext>
            </a:extLst>
          </p:cNvPr>
          <p:cNvSpPr>
            <a:spLocks noGrp="1"/>
          </p:cNvSpPr>
          <p:nvPr>
            <p:ph type="sldNum" sz="quarter" idx="12"/>
          </p:nvPr>
        </p:nvSpPr>
        <p:spPr/>
        <p:txBody>
          <a:bodyPr/>
          <a:lstStyle/>
          <a:p>
            <a:fld id="{6D62327B-ED8D-4CFC-ADD0-A75FA5CBE281}" type="slidenum">
              <a:rPr lang="zh-CN" altLang="en-US" smtClean="0"/>
              <a:pPr/>
              <a:t>39</a:t>
            </a:fld>
            <a:endParaRPr lang="zh-CN" altLang="en-US" dirty="0"/>
          </a:p>
        </p:txBody>
      </p:sp>
      <p:sp>
        <p:nvSpPr>
          <p:cNvPr id="5" name="Rectangle 3">
            <a:extLst>
              <a:ext uri="{FF2B5EF4-FFF2-40B4-BE49-F238E27FC236}">
                <a16:creationId xmlns:a16="http://schemas.microsoft.com/office/drawing/2014/main" id="{476B0497-8C12-41B8-AFDC-CE108FF1AFED}"/>
              </a:ext>
            </a:extLst>
          </p:cNvPr>
          <p:cNvSpPr>
            <a:spLocks noChangeArrowheads="1"/>
          </p:cNvSpPr>
          <p:nvPr/>
        </p:nvSpPr>
        <p:spPr bwMode="auto">
          <a:xfrm>
            <a:off x="6654189" y="784828"/>
            <a:ext cx="2339102" cy="193899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none">
            <a:prstTxWarp prst="textNoShape">
              <a:avLst/>
            </a:prstTxWarp>
            <a:spAutoFit/>
          </a:bodyPr>
          <a:lstStyle/>
          <a:p>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4A00FF"/>
                </a:solidFill>
                <a:latin typeface="Menlo-Regular"/>
              </a:rPr>
              <a:t>sum</a:t>
            </a:r>
            <a:r>
              <a:rPr lang="en-US" sz="1200" dirty="0">
                <a:solidFill>
                  <a:srgbClr val="000000"/>
                </a:solidFill>
                <a:latin typeface="Menlo-Regular"/>
              </a:rPr>
              <a:t>(</a:t>
            </a:r>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C1651C"/>
                </a:solidFill>
                <a:latin typeface="Menlo-Regular"/>
              </a:rPr>
              <a:t>a</a:t>
            </a:r>
            <a:r>
              <a:rPr lang="en-US" sz="1200" dirty="0">
                <a:solidFill>
                  <a:srgbClr val="000000"/>
                </a:solidFill>
                <a:latin typeface="Menlo-Regular"/>
              </a:rPr>
              <a:t>, </a:t>
            </a:r>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C1651C"/>
                </a:solidFill>
                <a:latin typeface="Menlo-Regular"/>
              </a:rPr>
              <a:t>n</a:t>
            </a:r>
            <a:r>
              <a:rPr lang="en-US" sz="1200" dirty="0">
                <a:solidFill>
                  <a:srgbClr val="000000"/>
                </a:solidFill>
                <a:latin typeface="Menlo-Regular"/>
              </a:rPr>
              <a:t>);</a:t>
            </a:r>
          </a:p>
          <a:p>
            <a:endParaRPr lang="en-US" sz="1200" dirty="0">
              <a:solidFill>
                <a:srgbClr val="000000"/>
              </a:solidFill>
              <a:latin typeface="Menlo-Regular"/>
            </a:endParaRPr>
          </a:p>
          <a:p>
            <a:r>
              <a:rPr lang="hu-HU" sz="1200" dirty="0">
                <a:solidFill>
                  <a:srgbClr val="2D961E"/>
                </a:solidFill>
                <a:latin typeface="Menlo-Regular"/>
              </a:rPr>
              <a:t>int</a:t>
            </a:r>
            <a:r>
              <a:rPr lang="hu-HU" sz="1200" dirty="0">
                <a:solidFill>
                  <a:srgbClr val="000000"/>
                </a:solidFill>
                <a:latin typeface="Menlo-Regular"/>
              </a:rPr>
              <a:t> </a:t>
            </a:r>
            <a:r>
              <a:rPr lang="hu-HU" sz="1200" dirty="0">
                <a:solidFill>
                  <a:srgbClr val="C1651C"/>
                </a:solidFill>
                <a:latin typeface="Menlo-Regular"/>
              </a:rPr>
              <a:t>array</a:t>
            </a:r>
            <a:r>
              <a:rPr lang="hu-HU" sz="1200" dirty="0">
                <a:solidFill>
                  <a:srgbClr val="000000"/>
                </a:solidFill>
                <a:latin typeface="Menlo-Regular"/>
              </a:rPr>
              <a:t>[2] = {1, 2};</a:t>
            </a:r>
          </a:p>
          <a:p>
            <a:endParaRPr lang="hu-HU" sz="1200" dirty="0">
              <a:solidFill>
                <a:srgbClr val="000000"/>
              </a:solidFill>
              <a:latin typeface="Menlo-Regular"/>
            </a:endParaRPr>
          </a:p>
          <a:p>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4A00FF"/>
                </a:solidFill>
                <a:latin typeface="Menlo-Regular"/>
              </a:rPr>
              <a:t>main</a:t>
            </a:r>
            <a:r>
              <a:rPr lang="en-US" sz="1200" dirty="0">
                <a:solidFill>
                  <a:srgbClr val="000000"/>
                </a:solidFill>
                <a:latin typeface="Menlo-Regular"/>
              </a:rPr>
              <a:t>()</a:t>
            </a:r>
          </a:p>
          <a:p>
            <a:r>
              <a:rPr lang="en-US" sz="1200" dirty="0">
                <a:solidFill>
                  <a:srgbClr val="000000"/>
                </a:solidFill>
                <a:latin typeface="Menlo-Regular"/>
              </a:rPr>
              <a:t>{</a:t>
            </a:r>
          </a:p>
          <a:p>
            <a:r>
              <a:rPr lang="fr-FR" sz="1200" dirty="0">
                <a:solidFill>
                  <a:srgbClr val="000000"/>
                </a:solidFill>
                <a:latin typeface="Menlo-Regular"/>
              </a:rPr>
              <a:t>    </a:t>
            </a:r>
            <a:r>
              <a:rPr lang="fr-FR" sz="1200" dirty="0" err="1">
                <a:solidFill>
                  <a:srgbClr val="2D961E"/>
                </a:solidFill>
                <a:latin typeface="Menlo-Regular"/>
              </a:rPr>
              <a:t>int</a:t>
            </a:r>
            <a:r>
              <a:rPr lang="fr-FR" sz="1200" dirty="0">
                <a:solidFill>
                  <a:srgbClr val="000000"/>
                </a:solidFill>
                <a:latin typeface="Menlo-Regular"/>
              </a:rPr>
              <a:t> </a:t>
            </a:r>
            <a:r>
              <a:rPr lang="fr-FR" sz="1200" dirty="0">
                <a:solidFill>
                  <a:srgbClr val="C1651C"/>
                </a:solidFill>
                <a:latin typeface="Menlo-Regular"/>
              </a:rPr>
              <a:t>val</a:t>
            </a:r>
            <a:r>
              <a:rPr lang="fr-FR" sz="1200" dirty="0">
                <a:solidFill>
                  <a:srgbClr val="000000"/>
                </a:solidFill>
                <a:latin typeface="Menlo-Regular"/>
              </a:rPr>
              <a:t> = </a:t>
            </a:r>
            <a:r>
              <a:rPr lang="fr-FR" sz="1200" dirty="0" err="1">
                <a:solidFill>
                  <a:srgbClr val="000000"/>
                </a:solidFill>
                <a:latin typeface="Menlo-Regular"/>
              </a:rPr>
              <a:t>sum</a:t>
            </a:r>
            <a:r>
              <a:rPr lang="fr-FR" sz="1200" dirty="0">
                <a:solidFill>
                  <a:srgbClr val="000000"/>
                </a:solidFill>
                <a:latin typeface="Menlo-Regular"/>
              </a:rPr>
              <a:t>(</a:t>
            </a:r>
            <a:r>
              <a:rPr lang="fr-FR" sz="1200" dirty="0" err="1">
                <a:solidFill>
                  <a:srgbClr val="000000"/>
                </a:solidFill>
                <a:latin typeface="Menlo-Regular"/>
              </a:rPr>
              <a:t>array</a:t>
            </a:r>
            <a:r>
              <a:rPr lang="fr-FR" sz="1200" dirty="0">
                <a:solidFill>
                  <a:srgbClr val="000000"/>
                </a:solidFill>
                <a:latin typeface="Menlo-Regular"/>
              </a:rPr>
              <a:t>, 2);</a:t>
            </a:r>
          </a:p>
          <a:p>
            <a:r>
              <a:rPr lang="fr-FR" sz="1200" dirty="0">
                <a:solidFill>
                  <a:srgbClr val="000000"/>
                </a:solidFill>
                <a:latin typeface="Menlo-Regular"/>
              </a:rPr>
              <a:t>    </a:t>
            </a:r>
            <a:r>
              <a:rPr lang="fr-FR" sz="1200" dirty="0">
                <a:solidFill>
                  <a:srgbClr val="C200FF"/>
                </a:solidFill>
                <a:latin typeface="Menlo-Regular"/>
              </a:rPr>
              <a:t>return</a:t>
            </a:r>
            <a:r>
              <a:rPr lang="fr-FR" sz="1200" dirty="0">
                <a:solidFill>
                  <a:srgbClr val="000000"/>
                </a:solidFill>
                <a:latin typeface="Menlo-Regular"/>
              </a:rPr>
              <a:t> val;</a:t>
            </a:r>
          </a:p>
          <a:p>
            <a:r>
              <a:rPr lang="fr-FR" sz="1200" dirty="0">
                <a:solidFill>
                  <a:srgbClr val="000000"/>
                </a:solidFill>
                <a:latin typeface="Menlo-Regular"/>
              </a:rPr>
              <a:t>}</a:t>
            </a:r>
          </a:p>
          <a:p>
            <a:endParaRPr lang="en-US" sz="1200" dirty="0">
              <a:latin typeface="Courier New"/>
              <a:cs typeface="Courier New"/>
            </a:endParaRPr>
          </a:p>
        </p:txBody>
      </p:sp>
      <p:sp>
        <p:nvSpPr>
          <p:cNvPr id="6" name="Rectangle 6">
            <a:extLst>
              <a:ext uri="{FF2B5EF4-FFF2-40B4-BE49-F238E27FC236}">
                <a16:creationId xmlns:a16="http://schemas.microsoft.com/office/drawing/2014/main" id="{CA97FE18-9606-4DC7-AF44-23031843D234}"/>
              </a:ext>
            </a:extLst>
          </p:cNvPr>
          <p:cNvSpPr>
            <a:spLocks noChangeArrowheads="1"/>
          </p:cNvSpPr>
          <p:nvPr/>
        </p:nvSpPr>
        <p:spPr bwMode="auto">
          <a:xfrm>
            <a:off x="6509035" y="4068508"/>
            <a:ext cx="2416046" cy="1938992"/>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none">
            <a:prstTxWarp prst="textNoShape">
              <a:avLst/>
            </a:prstTxWarp>
            <a:spAutoFit/>
          </a:bodyPr>
          <a:lstStyle/>
          <a:p>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4A00FF"/>
                </a:solidFill>
                <a:latin typeface="Menlo-Regular"/>
              </a:rPr>
              <a:t>sum</a:t>
            </a:r>
            <a:r>
              <a:rPr lang="en-US" sz="1200" dirty="0">
                <a:solidFill>
                  <a:srgbClr val="000000"/>
                </a:solidFill>
                <a:latin typeface="Menlo-Regular"/>
              </a:rPr>
              <a:t>(</a:t>
            </a:r>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C1651C"/>
                </a:solidFill>
                <a:latin typeface="Menlo-Regular"/>
              </a:rPr>
              <a:t>a</a:t>
            </a:r>
            <a:r>
              <a:rPr lang="en-US" sz="1200" dirty="0">
                <a:solidFill>
                  <a:srgbClr val="000000"/>
                </a:solidFill>
                <a:latin typeface="Menlo-Regular"/>
              </a:rPr>
              <a:t>, </a:t>
            </a:r>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C1651C"/>
                </a:solidFill>
                <a:latin typeface="Menlo-Regular"/>
              </a:rPr>
              <a:t>n</a:t>
            </a:r>
            <a:r>
              <a:rPr lang="en-US" sz="1200" dirty="0">
                <a:solidFill>
                  <a:srgbClr val="000000"/>
                </a:solidFill>
                <a:latin typeface="Menlo-Regular"/>
              </a:rPr>
              <a:t>)</a:t>
            </a:r>
          </a:p>
          <a:p>
            <a:r>
              <a:rPr lang="en-US" sz="1200" dirty="0">
                <a:solidFill>
                  <a:srgbClr val="000000"/>
                </a:solidFill>
                <a:latin typeface="Menlo-Regular"/>
              </a:rPr>
              <a:t>{</a:t>
            </a:r>
          </a:p>
          <a:p>
            <a:r>
              <a:rPr lang="fr-FR" sz="1200" dirty="0">
                <a:solidFill>
                  <a:srgbClr val="000000"/>
                </a:solidFill>
                <a:latin typeface="Menlo-Regular"/>
              </a:rPr>
              <a:t>    </a:t>
            </a:r>
            <a:r>
              <a:rPr lang="fr-FR" sz="1200" dirty="0" err="1">
                <a:solidFill>
                  <a:srgbClr val="2D961E"/>
                </a:solidFill>
                <a:latin typeface="Menlo-Regular"/>
              </a:rPr>
              <a:t>int</a:t>
            </a:r>
            <a:r>
              <a:rPr lang="fr-FR" sz="1200" dirty="0">
                <a:solidFill>
                  <a:srgbClr val="000000"/>
                </a:solidFill>
                <a:latin typeface="Menlo-Regular"/>
              </a:rPr>
              <a:t> </a:t>
            </a:r>
            <a:r>
              <a:rPr lang="fr-FR" sz="1200" dirty="0">
                <a:solidFill>
                  <a:srgbClr val="C1651C"/>
                </a:solidFill>
                <a:latin typeface="Menlo-Regular"/>
              </a:rPr>
              <a:t>i</a:t>
            </a:r>
            <a:r>
              <a:rPr lang="fr-FR" sz="1200" dirty="0">
                <a:solidFill>
                  <a:srgbClr val="000000"/>
                </a:solidFill>
                <a:latin typeface="Menlo-Regular"/>
              </a:rPr>
              <a:t>, </a:t>
            </a:r>
            <a:r>
              <a:rPr lang="fr-FR" sz="1200" dirty="0">
                <a:solidFill>
                  <a:srgbClr val="C1651C"/>
                </a:solidFill>
                <a:latin typeface="Menlo-Regular"/>
              </a:rPr>
              <a:t>s</a:t>
            </a:r>
            <a:r>
              <a:rPr lang="fr-FR" sz="1200" dirty="0">
                <a:solidFill>
                  <a:srgbClr val="000000"/>
                </a:solidFill>
                <a:latin typeface="Menlo-Regular"/>
              </a:rPr>
              <a:t> = 0;</a:t>
            </a:r>
          </a:p>
          <a:p>
            <a:endParaRPr lang="fr-FR" sz="1200" dirty="0">
              <a:solidFill>
                <a:srgbClr val="000000"/>
              </a:solidFill>
              <a:latin typeface="Menlo-Regular"/>
            </a:endParaRPr>
          </a:p>
          <a:p>
            <a:r>
              <a:rPr lang="da-DK" sz="1200" dirty="0">
                <a:solidFill>
                  <a:srgbClr val="000000"/>
                </a:solidFill>
                <a:latin typeface="Menlo-Regular"/>
              </a:rPr>
              <a:t>    </a:t>
            </a:r>
            <a:r>
              <a:rPr lang="da-DK" sz="1200" dirty="0">
                <a:solidFill>
                  <a:srgbClr val="C200FF"/>
                </a:solidFill>
                <a:latin typeface="Menlo-Regular"/>
              </a:rPr>
              <a:t>for</a:t>
            </a:r>
            <a:r>
              <a:rPr lang="da-DK" sz="1200" dirty="0">
                <a:solidFill>
                  <a:srgbClr val="000000"/>
                </a:solidFill>
                <a:latin typeface="Menlo-Regular"/>
              </a:rPr>
              <a:t> (i = 0; i &lt; n; i++) {</a:t>
            </a:r>
          </a:p>
          <a:p>
            <a:r>
              <a:rPr lang="da-DK" sz="1200" dirty="0">
                <a:solidFill>
                  <a:srgbClr val="000000"/>
                </a:solidFill>
                <a:latin typeface="Menlo-Regular"/>
              </a:rPr>
              <a:t>        s += a[i];</a:t>
            </a:r>
          </a:p>
          <a:p>
            <a:r>
              <a:rPr lang="da-DK" sz="1200" dirty="0">
                <a:solidFill>
                  <a:srgbClr val="000000"/>
                </a:solidFill>
                <a:latin typeface="Menlo-Regular"/>
              </a:rPr>
              <a:t>    }</a:t>
            </a:r>
          </a:p>
          <a:p>
            <a:r>
              <a:rPr lang="is-IS" sz="1200" dirty="0">
                <a:solidFill>
                  <a:srgbClr val="000000"/>
                </a:solidFill>
                <a:latin typeface="Menlo-Regular"/>
              </a:rPr>
              <a:t>    </a:t>
            </a:r>
            <a:r>
              <a:rPr lang="is-IS" sz="1200" dirty="0">
                <a:solidFill>
                  <a:srgbClr val="C200FF"/>
                </a:solidFill>
                <a:latin typeface="Menlo-Regular"/>
              </a:rPr>
              <a:t>return</a:t>
            </a:r>
            <a:r>
              <a:rPr lang="is-IS" sz="1200" dirty="0">
                <a:solidFill>
                  <a:srgbClr val="000000"/>
                </a:solidFill>
                <a:latin typeface="Menlo-Regular"/>
              </a:rPr>
              <a:t> s;</a:t>
            </a:r>
          </a:p>
          <a:p>
            <a:r>
              <a:rPr lang="is-IS" sz="1200" dirty="0">
                <a:solidFill>
                  <a:srgbClr val="000000"/>
                </a:solidFill>
                <a:latin typeface="Menlo-Regular"/>
              </a:rPr>
              <a:t>}</a:t>
            </a:r>
          </a:p>
          <a:p>
            <a:endParaRPr lang="is-IS" sz="1200" dirty="0">
              <a:solidFill>
                <a:srgbClr val="000000"/>
              </a:solidFill>
              <a:latin typeface="Menlo-Regular"/>
            </a:endParaRPr>
          </a:p>
        </p:txBody>
      </p:sp>
      <p:sp>
        <p:nvSpPr>
          <p:cNvPr id="7" name="Rectangle 3">
            <a:extLst>
              <a:ext uri="{FF2B5EF4-FFF2-40B4-BE49-F238E27FC236}">
                <a16:creationId xmlns:a16="http://schemas.microsoft.com/office/drawing/2014/main" id="{DDE28CD1-61D8-4ECF-9D27-B83002030B79}"/>
              </a:ext>
            </a:extLst>
          </p:cNvPr>
          <p:cNvSpPr>
            <a:spLocks noChangeArrowheads="1"/>
          </p:cNvSpPr>
          <p:nvPr/>
        </p:nvSpPr>
        <p:spPr bwMode="auto">
          <a:xfrm>
            <a:off x="7968421" y="2411233"/>
            <a:ext cx="922345" cy="32964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err="1">
                <a:solidFill>
                  <a:schemeClr val="tx1">
                    <a:lumMod val="50000"/>
                    <a:lumOff val="50000"/>
                  </a:schemeClr>
                </a:solidFill>
                <a:latin typeface="Courier New" pitchFamily="49" charset="0"/>
                <a:ea typeface="msgothic" charset="0"/>
                <a:cs typeface="msgothic" charset="0"/>
              </a:rPr>
              <a:t>main.c</a:t>
            </a:r>
            <a:endParaRPr lang="en-GB" sz="1600" b="1" i="1" dirty="0">
              <a:solidFill>
                <a:schemeClr val="tx1">
                  <a:lumMod val="50000"/>
                  <a:lumOff val="50000"/>
                </a:schemeClr>
              </a:solidFill>
              <a:latin typeface="Courier New" pitchFamily="49" charset="0"/>
              <a:ea typeface="msgothic" charset="0"/>
              <a:cs typeface="msgothic" charset="0"/>
            </a:endParaRPr>
          </a:p>
        </p:txBody>
      </p:sp>
      <p:sp>
        <p:nvSpPr>
          <p:cNvPr id="8" name="Rectangle 3">
            <a:extLst>
              <a:ext uri="{FF2B5EF4-FFF2-40B4-BE49-F238E27FC236}">
                <a16:creationId xmlns:a16="http://schemas.microsoft.com/office/drawing/2014/main" id="{88815DB9-8383-4DFF-93A4-CEF53AF49BBF}"/>
              </a:ext>
            </a:extLst>
          </p:cNvPr>
          <p:cNvSpPr>
            <a:spLocks noChangeArrowheads="1"/>
          </p:cNvSpPr>
          <p:nvPr/>
        </p:nvSpPr>
        <p:spPr bwMode="auto">
          <a:xfrm>
            <a:off x="7977914" y="5677857"/>
            <a:ext cx="798914" cy="32964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err="1">
                <a:solidFill>
                  <a:schemeClr val="tx1">
                    <a:lumMod val="50000"/>
                    <a:lumOff val="50000"/>
                  </a:schemeClr>
                </a:solidFill>
                <a:latin typeface="Courier New" pitchFamily="49" charset="0"/>
                <a:ea typeface="msgothic" charset="0"/>
                <a:cs typeface="msgothic" charset="0"/>
              </a:rPr>
              <a:t>sum.c</a:t>
            </a:r>
            <a:endParaRPr lang="en-GB" sz="1600" b="1" i="1" dirty="0">
              <a:solidFill>
                <a:schemeClr val="tx1">
                  <a:lumMod val="50000"/>
                  <a:lumOff val="50000"/>
                </a:schemeClr>
              </a:solidFill>
              <a:latin typeface="Courier New" pitchFamily="49" charset="0"/>
              <a:ea typeface="msgothic" charset="0"/>
              <a:cs typeface="msgothic" charset="0"/>
            </a:endParaRPr>
          </a:p>
        </p:txBody>
      </p:sp>
      <p:sp>
        <p:nvSpPr>
          <p:cNvPr id="10" name="内容占位符 2">
            <a:extLst>
              <a:ext uri="{FF2B5EF4-FFF2-40B4-BE49-F238E27FC236}">
                <a16:creationId xmlns:a16="http://schemas.microsoft.com/office/drawing/2014/main" id="{63B9D4E5-53D0-4265-AB0E-8D850A7D6E0B}"/>
              </a:ext>
            </a:extLst>
          </p:cNvPr>
          <p:cNvSpPr txBox="1">
            <a:spLocks/>
          </p:cNvSpPr>
          <p:nvPr/>
        </p:nvSpPr>
        <p:spPr>
          <a:xfrm>
            <a:off x="254106" y="2740934"/>
            <a:ext cx="6495620" cy="3853886"/>
          </a:xfrm>
          <a:prstGeom prst="rect">
            <a:avLst/>
          </a:prstGeom>
        </p:spPr>
        <p:txBody>
          <a:bodyPr vert="horz" lIns="91440" tIns="45720" rIns="91440" bIns="45720" rtlCol="0">
            <a:normAutofit/>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US" altLang="zh-CN" sz="1400" dirty="0"/>
              <a:t>main</a:t>
            </a:r>
            <a:r>
              <a:rPr lang="zh-CN" altLang="en-US" sz="1400" dirty="0"/>
              <a:t>函数引用两个全局符号：</a:t>
            </a:r>
            <a:r>
              <a:rPr lang="en-US" altLang="zh-CN" sz="1400" dirty="0"/>
              <a:t>array</a:t>
            </a:r>
            <a:r>
              <a:rPr lang="zh-CN" altLang="en-US" sz="1400" dirty="0"/>
              <a:t>引用使用</a:t>
            </a:r>
            <a:r>
              <a:rPr lang="en-US" altLang="zh-CN" sz="1400" dirty="0"/>
              <a:t>32</a:t>
            </a:r>
            <a:r>
              <a:rPr lang="zh-CN" altLang="en-US" sz="1400" dirty="0"/>
              <a:t>位绝对地址进行重定位；</a:t>
            </a:r>
            <a:r>
              <a:rPr lang="en-US" altLang="zh-CN" sz="1400" dirty="0"/>
              <a:t>sum</a:t>
            </a:r>
            <a:r>
              <a:rPr lang="zh-CN" altLang="en-US" sz="1400" dirty="0"/>
              <a:t>引用使用</a:t>
            </a:r>
            <a:r>
              <a:rPr lang="en-US" altLang="zh-CN" sz="1400" dirty="0"/>
              <a:t>32</a:t>
            </a:r>
            <a:r>
              <a:rPr lang="zh-CN" altLang="en-US" sz="1400" dirty="0"/>
              <a:t>位</a:t>
            </a:r>
            <a:r>
              <a:rPr lang="en-US" altLang="zh-CN" sz="1400" dirty="0"/>
              <a:t>PC</a:t>
            </a:r>
            <a:r>
              <a:rPr lang="zh-CN" altLang="en-US" sz="1400" dirty="0"/>
              <a:t>相对地址进行重定位</a:t>
            </a:r>
            <a:endParaRPr lang="en-US" altLang="zh-CN" sz="1400" dirty="0"/>
          </a:p>
          <a:p>
            <a:pPr marL="0" indent="0">
              <a:buNone/>
            </a:pPr>
            <a:r>
              <a:rPr lang="en-US" altLang="zh-CN" sz="1400" dirty="0"/>
              <a:t>1.</a:t>
            </a:r>
            <a:r>
              <a:rPr lang="zh-CN" altLang="en-US" sz="1400" dirty="0"/>
              <a:t>重定位相对引用</a:t>
            </a:r>
            <a:endParaRPr lang="en-US" altLang="zh-CN" sz="1400" dirty="0"/>
          </a:p>
          <a:p>
            <a:pPr lvl="1"/>
            <a:r>
              <a:rPr lang="en-US" altLang="zh-CN" sz="1400" dirty="0"/>
              <a:t>Sum</a:t>
            </a:r>
            <a:r>
              <a:rPr lang="zh-CN" altLang="en-US" sz="1400" dirty="0"/>
              <a:t>函数</a:t>
            </a:r>
            <a:r>
              <a:rPr lang="en-US" altLang="zh-CN" sz="1400" dirty="0"/>
              <a:t>call</a:t>
            </a:r>
            <a:r>
              <a:rPr lang="zh-CN" altLang="en-US" sz="1400" dirty="0"/>
              <a:t>指令开始于节偏移</a:t>
            </a:r>
            <a:r>
              <a:rPr lang="en-US" altLang="zh-CN" sz="1400" dirty="0"/>
              <a:t>0xe</a:t>
            </a:r>
            <a:r>
              <a:rPr lang="zh-CN" altLang="en-US" sz="1400" dirty="0"/>
              <a:t>处理，包括一字节操作作码</a:t>
            </a:r>
            <a:r>
              <a:rPr lang="en-US" altLang="zh-CN" sz="1400" dirty="0"/>
              <a:t>0xe8</a:t>
            </a:r>
            <a:r>
              <a:rPr lang="zh-CN" altLang="en-US" sz="1400" dirty="0"/>
              <a:t>，后面跟着对目标</a:t>
            </a:r>
            <a:r>
              <a:rPr lang="en-US" altLang="zh-CN" sz="1400" dirty="0"/>
              <a:t>sum</a:t>
            </a:r>
            <a:r>
              <a:rPr lang="zh-CN" altLang="en-US" sz="1400" dirty="0"/>
              <a:t>的</a:t>
            </a:r>
            <a:r>
              <a:rPr lang="en-US" altLang="zh-CN" sz="1400" dirty="0"/>
              <a:t>32</a:t>
            </a:r>
            <a:r>
              <a:rPr lang="zh-CN" altLang="en-US" sz="1400" dirty="0"/>
              <a:t>位</a:t>
            </a:r>
            <a:r>
              <a:rPr lang="en-US" altLang="zh-CN" sz="1400" dirty="0"/>
              <a:t>PC</a:t>
            </a:r>
            <a:r>
              <a:rPr lang="zh-CN" altLang="en-US" sz="1400" dirty="0"/>
              <a:t>相对引用占位符</a:t>
            </a:r>
            <a:endParaRPr lang="en-US" altLang="zh-CN" sz="1400" dirty="0"/>
          </a:p>
          <a:p>
            <a:pPr lvl="1"/>
            <a:r>
              <a:rPr lang="zh-CN" altLang="en-US" sz="1400" dirty="0"/>
              <a:t>重定位条目</a:t>
            </a:r>
            <a:r>
              <a:rPr lang="en-US" altLang="zh-CN" sz="1400" dirty="0"/>
              <a:t>r</a:t>
            </a:r>
            <a:r>
              <a:rPr lang="zh-CN" altLang="en-US" sz="1400" dirty="0"/>
              <a:t>由</a:t>
            </a:r>
            <a:r>
              <a:rPr lang="en-US" altLang="zh-CN" sz="1400" dirty="0"/>
              <a:t>4</a:t>
            </a:r>
            <a:r>
              <a:rPr lang="zh-CN" altLang="en-US" sz="1400" dirty="0"/>
              <a:t>个字段组成：</a:t>
            </a:r>
            <a:endParaRPr lang="en-US" altLang="zh-CN" sz="1400" dirty="0"/>
          </a:p>
          <a:p>
            <a:pPr lvl="2"/>
            <a:r>
              <a:rPr lang="en-US" altLang="zh-CN" sz="1100" dirty="0" err="1"/>
              <a:t>r.offset</a:t>
            </a:r>
            <a:r>
              <a:rPr lang="en-US" altLang="zh-CN" sz="1100" dirty="0"/>
              <a:t>=0xf  </a:t>
            </a:r>
            <a:r>
              <a:rPr lang="en-US" altLang="zh-CN" sz="1100" dirty="0" err="1"/>
              <a:t>r.symbol</a:t>
            </a:r>
            <a:r>
              <a:rPr lang="en-US" altLang="zh-CN" sz="1100" dirty="0"/>
              <a:t>=sum  </a:t>
            </a:r>
            <a:r>
              <a:rPr lang="en-US" altLang="zh-CN" sz="1100" dirty="0" err="1"/>
              <a:t>r.type</a:t>
            </a:r>
            <a:r>
              <a:rPr lang="en-US" altLang="zh-CN" sz="1100" dirty="0"/>
              <a:t>=R_X86_64_PC32 </a:t>
            </a:r>
            <a:r>
              <a:rPr lang="en-US" altLang="zh-CN" sz="1100" dirty="0" err="1"/>
              <a:t>r.addend</a:t>
            </a:r>
            <a:r>
              <a:rPr lang="en-US" altLang="zh-CN" sz="1100" dirty="0"/>
              <a:t>=-4</a:t>
            </a:r>
          </a:p>
          <a:p>
            <a:pPr lvl="1"/>
            <a:r>
              <a:rPr lang="zh-CN" altLang="en-US" sz="1400" dirty="0"/>
              <a:t>假设链接器已确定</a:t>
            </a:r>
            <a:r>
              <a:rPr lang="en-US" altLang="zh-CN" sz="1400" dirty="0"/>
              <a:t>ADDR(S)=ADDF(.text)=0x4004d0</a:t>
            </a:r>
            <a:r>
              <a:rPr lang="zh-CN" altLang="en-US" sz="1400" dirty="0"/>
              <a:t>和</a:t>
            </a:r>
            <a:r>
              <a:rPr lang="en-US" altLang="zh-CN" sz="1400" dirty="0"/>
              <a:t>ADDR(</a:t>
            </a:r>
            <a:r>
              <a:rPr lang="en-US" altLang="zh-CN" sz="1400" dirty="0" err="1"/>
              <a:t>r.symbol</a:t>
            </a:r>
            <a:r>
              <a:rPr lang="en-US" altLang="zh-CN" sz="1400" dirty="0"/>
              <a:t>)=ADDR(sum)=0x4004e8</a:t>
            </a:r>
          </a:p>
          <a:p>
            <a:pPr lvl="1"/>
            <a:r>
              <a:rPr lang="zh-CN" altLang="en-US" sz="1400" dirty="0"/>
              <a:t>链接器计算出引用的运行时地址：</a:t>
            </a:r>
            <a:endParaRPr lang="en-US" altLang="zh-CN" sz="1400" dirty="0"/>
          </a:p>
          <a:p>
            <a:pPr lvl="2"/>
            <a:r>
              <a:rPr lang="en-US" altLang="zh-CN" sz="1100" dirty="0" err="1"/>
              <a:t>refaddr</a:t>
            </a:r>
            <a:r>
              <a:rPr lang="en-US" altLang="zh-CN" sz="1100" dirty="0"/>
              <a:t>=ADDR(s)+</a:t>
            </a:r>
            <a:r>
              <a:rPr lang="en-US" altLang="zh-CN" sz="1100" dirty="0" err="1"/>
              <a:t>r.offset</a:t>
            </a:r>
            <a:r>
              <a:rPr lang="en-US" altLang="zh-CN" sz="1100" dirty="0"/>
              <a:t>=0x4004d0+0xf=0x4004df</a:t>
            </a:r>
          </a:p>
          <a:p>
            <a:pPr lvl="1"/>
            <a:r>
              <a:rPr lang="zh-CN" altLang="en-US" sz="1400" dirty="0"/>
              <a:t>更新该引用，使它运行时指向</a:t>
            </a:r>
            <a:r>
              <a:rPr lang="en-US" altLang="zh-CN" sz="1400" dirty="0"/>
              <a:t>sum</a:t>
            </a:r>
            <a:r>
              <a:rPr lang="zh-CN" altLang="en-US" sz="1400" dirty="0"/>
              <a:t>程序</a:t>
            </a:r>
            <a:endParaRPr lang="en-US" altLang="zh-CN" sz="1400" dirty="0"/>
          </a:p>
          <a:p>
            <a:pPr lvl="2"/>
            <a:r>
              <a:rPr lang="en-US" altLang="zh-CN" sz="1100" dirty="0"/>
              <a:t>*</a:t>
            </a:r>
            <a:r>
              <a:rPr lang="en-US" altLang="zh-CN" sz="1100" dirty="0" err="1"/>
              <a:t>refptr</a:t>
            </a:r>
            <a:r>
              <a:rPr lang="en-US" altLang="zh-CN" sz="1100" dirty="0"/>
              <a:t>=(unsigned) (ADDR(</a:t>
            </a:r>
            <a:r>
              <a:rPr lang="en-US" altLang="zh-CN" sz="1100" dirty="0" err="1"/>
              <a:t>r.symbol</a:t>
            </a:r>
            <a:r>
              <a:rPr lang="en-US" altLang="zh-CN" sz="1100" dirty="0"/>
              <a:t>)+</a:t>
            </a:r>
            <a:r>
              <a:rPr lang="en-US" altLang="zh-CN" sz="1100" dirty="0" err="1"/>
              <a:t>r.addend-refaddr</a:t>
            </a:r>
            <a:r>
              <a:rPr lang="en-US" altLang="zh-CN" sz="1100" dirty="0"/>
              <a:t>)=0x4004e8+(-4)-0x4004df=0x5</a:t>
            </a:r>
          </a:p>
          <a:p>
            <a:pPr lvl="1"/>
            <a:r>
              <a:rPr lang="zh-CN" altLang="en-US" sz="1400" dirty="0"/>
              <a:t>在得到的可执行目标文件中，</a:t>
            </a:r>
            <a:r>
              <a:rPr lang="en-US" altLang="zh-CN" sz="1400" dirty="0"/>
              <a:t>call</a:t>
            </a:r>
            <a:r>
              <a:rPr lang="zh-CN" altLang="en-US" sz="1400" dirty="0"/>
              <a:t>指令有如下的重定位形式：</a:t>
            </a:r>
            <a:endParaRPr lang="en-US" altLang="zh-CN" sz="1400" dirty="0"/>
          </a:p>
          <a:p>
            <a:pPr lvl="2"/>
            <a:r>
              <a:rPr lang="zh-CN" altLang="en-US" sz="1100" dirty="0"/>
              <a:t>指令存放在</a:t>
            </a:r>
            <a:r>
              <a:rPr lang="en-US" altLang="zh-CN" sz="1100" dirty="0"/>
              <a:t>4004de: e8 05 00 00 00    </a:t>
            </a:r>
            <a:r>
              <a:rPr lang="en-US" altLang="zh-CN" sz="1100" dirty="0" err="1"/>
              <a:t>callq</a:t>
            </a:r>
            <a:r>
              <a:rPr lang="en-US" altLang="zh-CN" sz="1100" dirty="0"/>
              <a:t> 4004e8  &lt;sum&gt;   </a:t>
            </a:r>
            <a:r>
              <a:rPr lang="en-US" altLang="zh-CN" sz="1100" i="1" dirty="0">
                <a:solidFill>
                  <a:srgbClr val="2F5EB0"/>
                </a:solidFill>
              </a:rPr>
              <a:t>sum</a:t>
            </a:r>
          </a:p>
          <a:p>
            <a:pPr lvl="2"/>
            <a:r>
              <a:rPr lang="en-US" altLang="zh-CN" sz="1100" dirty="0"/>
              <a:t>CPU</a:t>
            </a:r>
            <a:r>
              <a:rPr lang="zh-CN" altLang="en-US" sz="1100" dirty="0"/>
              <a:t>执行</a:t>
            </a:r>
            <a:r>
              <a:rPr lang="en-US" altLang="zh-CN" sz="1100" dirty="0"/>
              <a:t>call</a:t>
            </a:r>
            <a:r>
              <a:rPr lang="zh-CN" altLang="en-US" sz="1100" dirty="0"/>
              <a:t>指令时</a:t>
            </a:r>
            <a:r>
              <a:rPr lang="en-US" altLang="zh-CN" sz="1100" dirty="0"/>
              <a:t>PC</a:t>
            </a:r>
            <a:r>
              <a:rPr lang="zh-CN" altLang="en-US" sz="1100" dirty="0"/>
              <a:t>值为</a:t>
            </a:r>
            <a:r>
              <a:rPr lang="en-US" altLang="zh-CN" sz="1100" dirty="0"/>
              <a:t>0x4004e3</a:t>
            </a:r>
            <a:r>
              <a:rPr lang="zh-CN" altLang="en-US" sz="1100" dirty="0"/>
              <a:t>，执行指令计数后得到</a:t>
            </a:r>
            <a:r>
              <a:rPr lang="en-US" altLang="zh-CN" sz="1100" dirty="0"/>
              <a:t>PC+0x5→PC =0x4004e8</a:t>
            </a:r>
            <a:endParaRPr lang="zh-CN" altLang="en-US" sz="1100" dirty="0"/>
          </a:p>
        </p:txBody>
      </p:sp>
      <p:cxnSp>
        <p:nvCxnSpPr>
          <p:cNvPr id="12" name="直接箭头连接符 11">
            <a:extLst>
              <a:ext uri="{FF2B5EF4-FFF2-40B4-BE49-F238E27FC236}">
                <a16:creationId xmlns:a16="http://schemas.microsoft.com/office/drawing/2014/main" id="{79AFB6EE-8A56-4A4F-8CA2-C41EBEA71C07}"/>
              </a:ext>
            </a:extLst>
          </p:cNvPr>
          <p:cNvCxnSpPr>
            <a:cxnSpLocks/>
          </p:cNvCxnSpPr>
          <p:nvPr/>
        </p:nvCxnSpPr>
        <p:spPr>
          <a:xfrm flipH="1" flipV="1">
            <a:off x="1104078" y="1935452"/>
            <a:ext cx="2352026" cy="1611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63CE7C1B-CAAF-44C0-98A0-67A3A1228D65}"/>
              </a:ext>
            </a:extLst>
          </p:cNvPr>
          <p:cNvCxnSpPr>
            <a:cxnSpLocks/>
          </p:cNvCxnSpPr>
          <p:nvPr/>
        </p:nvCxnSpPr>
        <p:spPr>
          <a:xfrm flipH="1" flipV="1">
            <a:off x="1936999" y="1935336"/>
            <a:ext cx="3945191" cy="16110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2C51EC1E-717C-4746-BA4E-0F7BD119219C}"/>
              </a:ext>
            </a:extLst>
          </p:cNvPr>
          <p:cNvCxnSpPr>
            <a:cxnSpLocks/>
          </p:cNvCxnSpPr>
          <p:nvPr/>
        </p:nvCxnSpPr>
        <p:spPr>
          <a:xfrm flipV="1">
            <a:off x="2715584" y="2257805"/>
            <a:ext cx="806634" cy="1581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DD043924-A7BF-4659-BFDA-F435FC6ED235}"/>
              </a:ext>
            </a:extLst>
          </p:cNvPr>
          <p:cNvCxnSpPr>
            <a:cxnSpLocks/>
          </p:cNvCxnSpPr>
          <p:nvPr/>
        </p:nvCxnSpPr>
        <p:spPr>
          <a:xfrm flipV="1">
            <a:off x="1781934" y="2180790"/>
            <a:ext cx="779958" cy="21123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E056536C-308A-4976-9DC7-2D6CFC8586CF}"/>
              </a:ext>
            </a:extLst>
          </p:cNvPr>
          <p:cNvCxnSpPr>
            <a:cxnSpLocks/>
          </p:cNvCxnSpPr>
          <p:nvPr/>
        </p:nvCxnSpPr>
        <p:spPr>
          <a:xfrm flipH="1">
            <a:off x="1387098" y="4667877"/>
            <a:ext cx="3112894" cy="1458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4EDA606F-0AD5-4047-A0D2-8D6C9F91A2FC}"/>
              </a:ext>
            </a:extLst>
          </p:cNvPr>
          <p:cNvCxnSpPr>
            <a:cxnSpLocks/>
          </p:cNvCxnSpPr>
          <p:nvPr/>
        </p:nvCxnSpPr>
        <p:spPr>
          <a:xfrm>
            <a:off x="1104078" y="1946884"/>
            <a:ext cx="283020" cy="4179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056536C-308A-4976-9DC7-2D6CFC8586CF}"/>
              </a:ext>
            </a:extLst>
          </p:cNvPr>
          <p:cNvCxnSpPr>
            <a:cxnSpLocks/>
          </p:cNvCxnSpPr>
          <p:nvPr/>
        </p:nvCxnSpPr>
        <p:spPr>
          <a:xfrm flipH="1" flipV="1">
            <a:off x="4067944" y="6205341"/>
            <a:ext cx="1814246" cy="1039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D09ECE9-A0BB-49A9-B9A6-E79EF21E1563}"/>
              </a:ext>
            </a:extLst>
          </p:cNvPr>
          <p:cNvCxnSpPr>
            <a:cxnSpLocks/>
          </p:cNvCxnSpPr>
          <p:nvPr/>
        </p:nvCxnSpPr>
        <p:spPr>
          <a:xfrm flipH="1">
            <a:off x="2647551" y="5733256"/>
            <a:ext cx="3364609" cy="3663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任意多边形: 形状 10">
            <a:extLst>
              <a:ext uri="{FF2B5EF4-FFF2-40B4-BE49-F238E27FC236}">
                <a16:creationId xmlns:a16="http://schemas.microsoft.com/office/drawing/2014/main" id="{A50A5B4D-E210-45A8-B442-02D0854326E3}"/>
              </a:ext>
            </a:extLst>
          </p:cNvPr>
          <p:cNvSpPr/>
          <p:nvPr/>
        </p:nvSpPr>
        <p:spPr>
          <a:xfrm>
            <a:off x="3032701" y="6404331"/>
            <a:ext cx="1789965" cy="165945"/>
          </a:xfrm>
          <a:custGeom>
            <a:avLst/>
            <a:gdLst>
              <a:gd name="connsiteX0" fmla="*/ 0 w 1789965"/>
              <a:gd name="connsiteY0" fmla="*/ 7061 h 165945"/>
              <a:gd name="connsiteX1" fmla="*/ 967358 w 1789965"/>
              <a:gd name="connsiteY1" fmla="*/ 165933 h 165945"/>
              <a:gd name="connsiteX2" fmla="*/ 1789965 w 1789965"/>
              <a:gd name="connsiteY2" fmla="*/ 0 h 165945"/>
            </a:gdLst>
            <a:ahLst/>
            <a:cxnLst>
              <a:cxn ang="0">
                <a:pos x="connsiteX0" y="connsiteY0"/>
              </a:cxn>
              <a:cxn ang="0">
                <a:pos x="connsiteX1" y="connsiteY1"/>
              </a:cxn>
              <a:cxn ang="0">
                <a:pos x="connsiteX2" y="connsiteY2"/>
              </a:cxn>
            </a:cxnLst>
            <a:rect l="l" t="t" r="r" b="b"/>
            <a:pathLst>
              <a:path w="1789965" h="165945">
                <a:moveTo>
                  <a:pt x="0" y="7061"/>
                </a:moveTo>
                <a:cubicBezTo>
                  <a:pt x="334515" y="87085"/>
                  <a:pt x="669031" y="167110"/>
                  <a:pt x="967358" y="165933"/>
                </a:cubicBezTo>
                <a:cubicBezTo>
                  <a:pt x="1265685" y="164756"/>
                  <a:pt x="1527825" y="82378"/>
                  <a:pt x="1789965" y="0"/>
                </a:cubicBezTo>
              </a:path>
            </a:pathLst>
          </a:custGeom>
          <a:noFill/>
          <a:ln w="63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a16="http://schemas.microsoft.com/office/drawing/2014/main" id="{C917347E-FC8E-40D4-BD0E-1923D956DA83}"/>
              </a:ext>
            </a:extLst>
          </p:cNvPr>
          <p:cNvCxnSpPr>
            <a:cxnSpLocks/>
          </p:cNvCxnSpPr>
          <p:nvPr/>
        </p:nvCxnSpPr>
        <p:spPr>
          <a:xfrm>
            <a:off x="2608018" y="6221141"/>
            <a:ext cx="2468038" cy="881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34080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113003-84A2-4D16-AE50-82AB4529C0E1}"/>
              </a:ext>
            </a:extLst>
          </p:cNvPr>
          <p:cNvSpPr>
            <a:spLocks noGrp="1"/>
          </p:cNvSpPr>
          <p:nvPr>
            <p:ph type="title"/>
          </p:nvPr>
        </p:nvSpPr>
        <p:spPr/>
        <p:txBody>
          <a:bodyPr>
            <a:normAutofit fontScale="90000"/>
          </a:bodyPr>
          <a:lstStyle/>
          <a:p>
            <a:r>
              <a:rPr lang="en-US" altLang="zh-CN" dirty="0"/>
              <a:t>7.7.2 </a:t>
            </a:r>
            <a:r>
              <a:rPr lang="zh-CN" altLang="en-US" dirty="0"/>
              <a:t>重定位符号引用</a:t>
            </a:r>
          </a:p>
        </p:txBody>
      </p:sp>
      <p:sp>
        <p:nvSpPr>
          <p:cNvPr id="3" name="内容占位符 2">
            <a:extLst>
              <a:ext uri="{FF2B5EF4-FFF2-40B4-BE49-F238E27FC236}">
                <a16:creationId xmlns:a16="http://schemas.microsoft.com/office/drawing/2014/main" id="{78567130-27DC-4843-A203-56972068FFB4}"/>
              </a:ext>
            </a:extLst>
          </p:cNvPr>
          <p:cNvSpPr>
            <a:spLocks noGrp="1"/>
          </p:cNvSpPr>
          <p:nvPr>
            <p:ph idx="1"/>
          </p:nvPr>
        </p:nvSpPr>
        <p:spPr/>
        <p:txBody>
          <a:bodyPr/>
          <a:lstStyle/>
          <a:p>
            <a:r>
              <a:rPr lang="en-US" altLang="zh-CN" dirty="0"/>
              <a:t>2.</a:t>
            </a:r>
            <a:r>
              <a:rPr lang="zh-CN" altLang="en-US" dirty="0"/>
              <a:t>重定位绝对引用</a:t>
            </a:r>
            <a:endParaRPr lang="en-US" altLang="zh-CN" dirty="0"/>
          </a:p>
          <a:p>
            <a:pPr lvl="1"/>
            <a:endParaRPr lang="zh-CN" altLang="en-US" dirty="0"/>
          </a:p>
        </p:txBody>
      </p:sp>
      <p:sp>
        <p:nvSpPr>
          <p:cNvPr id="4" name="灯片编号占位符 3">
            <a:extLst>
              <a:ext uri="{FF2B5EF4-FFF2-40B4-BE49-F238E27FC236}">
                <a16:creationId xmlns:a16="http://schemas.microsoft.com/office/drawing/2014/main" id="{863D3C3A-E335-4016-A8E3-41FED6B95661}"/>
              </a:ext>
            </a:extLst>
          </p:cNvPr>
          <p:cNvSpPr>
            <a:spLocks noGrp="1"/>
          </p:cNvSpPr>
          <p:nvPr>
            <p:ph type="sldNum" sz="quarter" idx="12"/>
          </p:nvPr>
        </p:nvSpPr>
        <p:spPr/>
        <p:txBody>
          <a:bodyPr/>
          <a:lstStyle/>
          <a:p>
            <a:fld id="{6D62327B-ED8D-4CFC-ADD0-A75FA5CBE281}" type="slidenum">
              <a:rPr lang="zh-CN" altLang="en-US" smtClean="0"/>
              <a:pPr/>
              <a:t>40</a:t>
            </a:fld>
            <a:endParaRPr lang="zh-CN" altLang="en-US" dirty="0"/>
          </a:p>
        </p:txBody>
      </p:sp>
      <p:sp>
        <p:nvSpPr>
          <p:cNvPr id="5" name="内容占位符 2">
            <a:extLst>
              <a:ext uri="{FF2B5EF4-FFF2-40B4-BE49-F238E27FC236}">
                <a16:creationId xmlns:a16="http://schemas.microsoft.com/office/drawing/2014/main" id="{01346CB6-9897-432D-948A-1D24105D37F0}"/>
              </a:ext>
            </a:extLst>
          </p:cNvPr>
          <p:cNvSpPr txBox="1">
            <a:spLocks/>
          </p:cNvSpPr>
          <p:nvPr/>
        </p:nvSpPr>
        <p:spPr>
          <a:xfrm>
            <a:off x="390364" y="1236276"/>
            <a:ext cx="6452301" cy="2088275"/>
          </a:xfrm>
          <a:prstGeom prst="rect">
            <a:avLst/>
          </a:prstGeom>
        </p:spPr>
        <p:txBody>
          <a:bodyPr vert="horz" lIns="91440" tIns="45720" rIns="91440" bIns="45720" rtlCol="0">
            <a:normAutofit fontScale="92500" lnSpcReduction="10000"/>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457200" indent="-457200">
              <a:buFont typeface="+mj-lt"/>
              <a:buAutoNum type="arabicPeriod"/>
            </a:pPr>
            <a:r>
              <a:rPr lang="en-US" altLang="zh-CN" sz="1400" dirty="0"/>
              <a:t>0000000000000000 &lt;main&gt;:</a:t>
            </a:r>
          </a:p>
          <a:p>
            <a:pPr marL="457200" indent="-457200">
              <a:buFont typeface="+mj-lt"/>
              <a:buAutoNum type="arabicPeriod"/>
            </a:pPr>
            <a:r>
              <a:rPr lang="en-US" altLang="zh-CN" sz="1400" dirty="0"/>
              <a:t>   0:	48 83 </a:t>
            </a:r>
            <a:r>
              <a:rPr lang="en-US" altLang="zh-CN" sz="1400" dirty="0" err="1"/>
              <a:t>ec</a:t>
            </a:r>
            <a:r>
              <a:rPr lang="en-US" altLang="zh-CN" sz="1400" dirty="0"/>
              <a:t> 08                   	sub     $0x8,%rsp</a:t>
            </a:r>
          </a:p>
          <a:p>
            <a:pPr marL="457200" indent="-457200">
              <a:buFont typeface="+mj-lt"/>
              <a:buAutoNum type="arabicPeriod"/>
            </a:pPr>
            <a:r>
              <a:rPr lang="en-US" altLang="zh-CN" sz="1400" dirty="0"/>
              <a:t>   4:	be 02 00 00 00       	mov    $0x2,%esi</a:t>
            </a:r>
          </a:p>
          <a:p>
            <a:pPr marL="457200" indent="-457200">
              <a:buFont typeface="+mj-lt"/>
              <a:buAutoNum type="arabicPeriod"/>
            </a:pPr>
            <a:r>
              <a:rPr lang="en-US" altLang="zh-CN" sz="1400" dirty="0"/>
              <a:t>   9:	bf 00 00 00 00       	mov    $0x0,%edi        </a:t>
            </a:r>
            <a:r>
              <a:rPr lang="en-US" altLang="zh-CN" sz="1400" i="1" dirty="0">
                <a:solidFill>
                  <a:srgbClr val="2F5EB0"/>
                </a:solidFill>
              </a:rPr>
              <a:t>%</a:t>
            </a:r>
            <a:r>
              <a:rPr lang="en-US" altLang="zh-CN" sz="1400" i="1" dirty="0" err="1">
                <a:solidFill>
                  <a:srgbClr val="2F5EB0"/>
                </a:solidFill>
              </a:rPr>
              <a:t>edi</a:t>
            </a:r>
            <a:r>
              <a:rPr lang="en-US" altLang="zh-CN" sz="1400" i="1" dirty="0">
                <a:solidFill>
                  <a:srgbClr val="2F5EB0"/>
                </a:solidFill>
              </a:rPr>
              <a:t>=$array</a:t>
            </a:r>
          </a:p>
          <a:p>
            <a:pPr marL="457200" indent="-457200">
              <a:buFont typeface="+mj-lt"/>
              <a:buAutoNum type="arabicPeriod"/>
            </a:pPr>
            <a:r>
              <a:rPr lang="en-US" altLang="zh-CN" sz="1400" dirty="0"/>
              <a:t>			a: </a:t>
            </a:r>
            <a:r>
              <a:rPr lang="en-US" altLang="zh-CN" sz="1400" dirty="0">
                <a:solidFill>
                  <a:srgbClr val="FF0000"/>
                </a:solidFill>
                <a:effectLst>
                  <a:outerShdw blurRad="38100" dist="38100" dir="2700000" algn="tl">
                    <a:srgbClr val="000000">
                      <a:alpha val="43137"/>
                    </a:srgbClr>
                  </a:outerShdw>
                </a:effectLst>
              </a:rPr>
              <a:t>R_X86_64_32</a:t>
            </a:r>
            <a:r>
              <a:rPr lang="en-US" altLang="zh-CN" sz="1400" dirty="0"/>
              <a:t>	array                         </a:t>
            </a:r>
            <a:r>
              <a:rPr lang="en-US" altLang="zh-CN" sz="1400" i="1" dirty="0">
                <a:solidFill>
                  <a:srgbClr val="2F5EB0"/>
                </a:solidFill>
              </a:rPr>
              <a:t>relocation entry</a:t>
            </a:r>
            <a:r>
              <a:rPr lang="en-US" altLang="zh-CN" sz="1400" dirty="0"/>
              <a:t>   </a:t>
            </a:r>
          </a:p>
          <a:p>
            <a:pPr marL="457200" indent="-457200">
              <a:buFont typeface="+mj-lt"/>
              <a:buAutoNum type="arabicPeriod"/>
            </a:pPr>
            <a:r>
              <a:rPr lang="en-US" altLang="zh-CN" sz="1400" dirty="0"/>
              <a:t>   e:	e8 00 00 00 00       	</a:t>
            </a:r>
            <a:r>
              <a:rPr lang="en-US" altLang="zh-CN" sz="1400" dirty="0" err="1"/>
              <a:t>callq</a:t>
            </a:r>
            <a:r>
              <a:rPr lang="en-US" altLang="zh-CN" sz="1400" dirty="0"/>
              <a:t>  13 &lt;main+0x13&gt;            </a:t>
            </a:r>
            <a:r>
              <a:rPr lang="en-US" altLang="zh-CN" sz="1400" i="1" dirty="0">
                <a:solidFill>
                  <a:srgbClr val="2F5EB0"/>
                </a:solidFill>
              </a:rPr>
              <a:t>sum()</a:t>
            </a:r>
          </a:p>
          <a:p>
            <a:pPr marL="457200" indent="-457200">
              <a:buFont typeface="+mj-lt"/>
              <a:buAutoNum type="arabicPeriod"/>
            </a:pPr>
            <a:r>
              <a:rPr lang="en-US" altLang="zh-CN" sz="1400" dirty="0"/>
              <a:t>			f: R_X86_64_PC32	sum-0x4     </a:t>
            </a:r>
            <a:r>
              <a:rPr lang="en-US" altLang="zh-CN" sz="1400" i="1" dirty="0">
                <a:solidFill>
                  <a:srgbClr val="2F5EB0"/>
                </a:solidFill>
              </a:rPr>
              <a:t>relocation entry</a:t>
            </a:r>
            <a:r>
              <a:rPr lang="en-US" altLang="zh-CN" sz="1400" dirty="0"/>
              <a:t> </a:t>
            </a:r>
          </a:p>
          <a:p>
            <a:pPr marL="457200" indent="-457200">
              <a:buFont typeface="+mj-lt"/>
              <a:buAutoNum type="arabicPeriod"/>
            </a:pPr>
            <a:r>
              <a:rPr lang="en-US" altLang="zh-CN" sz="1400" dirty="0"/>
              <a:t>  13:	48 83 c4 08       	              add     $0x8,%rsp</a:t>
            </a:r>
          </a:p>
          <a:p>
            <a:pPr marL="457200" indent="-457200">
              <a:buFont typeface="+mj-lt"/>
              <a:buAutoNum type="arabicPeriod"/>
            </a:pPr>
            <a:r>
              <a:rPr lang="en-US" altLang="zh-CN" sz="1400" dirty="0"/>
              <a:t>  17:	c3			</a:t>
            </a:r>
            <a:r>
              <a:rPr lang="en-US" altLang="zh-CN" sz="1400" dirty="0" err="1"/>
              <a:t>retq</a:t>
            </a:r>
            <a:endParaRPr lang="zh-CN" altLang="en-US" sz="1400" dirty="0"/>
          </a:p>
        </p:txBody>
      </p:sp>
      <p:sp>
        <p:nvSpPr>
          <p:cNvPr id="6" name="Rectangle 3">
            <a:extLst>
              <a:ext uri="{FF2B5EF4-FFF2-40B4-BE49-F238E27FC236}">
                <a16:creationId xmlns:a16="http://schemas.microsoft.com/office/drawing/2014/main" id="{AE995E81-2F74-4A5C-8879-A5A6086430D1}"/>
              </a:ext>
            </a:extLst>
          </p:cNvPr>
          <p:cNvSpPr>
            <a:spLocks noChangeArrowheads="1"/>
          </p:cNvSpPr>
          <p:nvPr/>
        </p:nvSpPr>
        <p:spPr bwMode="auto">
          <a:xfrm>
            <a:off x="6538501" y="1001516"/>
            <a:ext cx="2339102" cy="193899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none">
            <a:prstTxWarp prst="textNoShape">
              <a:avLst/>
            </a:prstTxWarp>
            <a:spAutoFit/>
          </a:bodyPr>
          <a:lstStyle/>
          <a:p>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4A00FF"/>
                </a:solidFill>
                <a:latin typeface="Menlo-Regular"/>
              </a:rPr>
              <a:t>sum</a:t>
            </a:r>
            <a:r>
              <a:rPr lang="en-US" sz="1200" dirty="0">
                <a:solidFill>
                  <a:srgbClr val="000000"/>
                </a:solidFill>
                <a:latin typeface="Menlo-Regular"/>
              </a:rPr>
              <a:t>(</a:t>
            </a:r>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C1651C"/>
                </a:solidFill>
                <a:latin typeface="Menlo-Regular"/>
              </a:rPr>
              <a:t>a</a:t>
            </a:r>
            <a:r>
              <a:rPr lang="en-US" sz="1200" dirty="0">
                <a:solidFill>
                  <a:srgbClr val="000000"/>
                </a:solidFill>
                <a:latin typeface="Menlo-Regular"/>
              </a:rPr>
              <a:t>, </a:t>
            </a:r>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C1651C"/>
                </a:solidFill>
                <a:latin typeface="Menlo-Regular"/>
              </a:rPr>
              <a:t>n</a:t>
            </a:r>
            <a:r>
              <a:rPr lang="en-US" sz="1200" dirty="0">
                <a:solidFill>
                  <a:srgbClr val="000000"/>
                </a:solidFill>
                <a:latin typeface="Menlo-Regular"/>
              </a:rPr>
              <a:t>);</a:t>
            </a:r>
          </a:p>
          <a:p>
            <a:endParaRPr lang="en-US" sz="1200" dirty="0">
              <a:solidFill>
                <a:srgbClr val="000000"/>
              </a:solidFill>
              <a:latin typeface="Menlo-Regular"/>
            </a:endParaRPr>
          </a:p>
          <a:p>
            <a:r>
              <a:rPr lang="hu-HU" sz="1200" dirty="0">
                <a:solidFill>
                  <a:srgbClr val="2D961E"/>
                </a:solidFill>
                <a:latin typeface="Menlo-Regular"/>
              </a:rPr>
              <a:t>int</a:t>
            </a:r>
            <a:r>
              <a:rPr lang="hu-HU" sz="1200" dirty="0">
                <a:solidFill>
                  <a:srgbClr val="000000"/>
                </a:solidFill>
                <a:latin typeface="Menlo-Regular"/>
              </a:rPr>
              <a:t> </a:t>
            </a:r>
            <a:r>
              <a:rPr lang="hu-HU" sz="1200" dirty="0">
                <a:solidFill>
                  <a:srgbClr val="C1651C"/>
                </a:solidFill>
                <a:latin typeface="Menlo-Regular"/>
              </a:rPr>
              <a:t>array</a:t>
            </a:r>
            <a:r>
              <a:rPr lang="hu-HU" sz="1200" dirty="0">
                <a:solidFill>
                  <a:srgbClr val="000000"/>
                </a:solidFill>
                <a:latin typeface="Menlo-Regular"/>
              </a:rPr>
              <a:t>[2] = {1, 2};</a:t>
            </a:r>
          </a:p>
          <a:p>
            <a:endParaRPr lang="hu-HU" sz="1200" dirty="0">
              <a:solidFill>
                <a:srgbClr val="000000"/>
              </a:solidFill>
              <a:latin typeface="Menlo-Regular"/>
            </a:endParaRPr>
          </a:p>
          <a:p>
            <a:r>
              <a:rPr lang="en-US" sz="1200" dirty="0" err="1">
                <a:solidFill>
                  <a:srgbClr val="2D961E"/>
                </a:solidFill>
                <a:latin typeface="Menlo-Regular"/>
              </a:rPr>
              <a:t>int</a:t>
            </a:r>
            <a:r>
              <a:rPr lang="en-US" sz="1200" dirty="0">
                <a:solidFill>
                  <a:srgbClr val="000000"/>
                </a:solidFill>
                <a:latin typeface="Menlo-Regular"/>
              </a:rPr>
              <a:t> </a:t>
            </a:r>
            <a:r>
              <a:rPr lang="en-US" sz="1200" dirty="0">
                <a:solidFill>
                  <a:srgbClr val="4A00FF"/>
                </a:solidFill>
                <a:latin typeface="Menlo-Regular"/>
              </a:rPr>
              <a:t>main</a:t>
            </a:r>
            <a:r>
              <a:rPr lang="en-US" sz="1200" dirty="0">
                <a:solidFill>
                  <a:srgbClr val="000000"/>
                </a:solidFill>
                <a:latin typeface="Menlo-Regular"/>
              </a:rPr>
              <a:t>()</a:t>
            </a:r>
          </a:p>
          <a:p>
            <a:r>
              <a:rPr lang="en-US" sz="1200" dirty="0">
                <a:solidFill>
                  <a:srgbClr val="000000"/>
                </a:solidFill>
                <a:latin typeface="Menlo-Regular"/>
              </a:rPr>
              <a:t>{</a:t>
            </a:r>
          </a:p>
          <a:p>
            <a:r>
              <a:rPr lang="fr-FR" sz="1200" dirty="0">
                <a:solidFill>
                  <a:srgbClr val="000000"/>
                </a:solidFill>
                <a:latin typeface="Menlo-Regular"/>
              </a:rPr>
              <a:t>    </a:t>
            </a:r>
            <a:r>
              <a:rPr lang="fr-FR" sz="1200" dirty="0" err="1">
                <a:solidFill>
                  <a:srgbClr val="2D961E"/>
                </a:solidFill>
                <a:latin typeface="Menlo-Regular"/>
              </a:rPr>
              <a:t>int</a:t>
            </a:r>
            <a:r>
              <a:rPr lang="fr-FR" sz="1200" dirty="0">
                <a:solidFill>
                  <a:srgbClr val="000000"/>
                </a:solidFill>
                <a:latin typeface="Menlo-Regular"/>
              </a:rPr>
              <a:t> </a:t>
            </a:r>
            <a:r>
              <a:rPr lang="fr-FR" sz="1200" dirty="0">
                <a:solidFill>
                  <a:srgbClr val="C1651C"/>
                </a:solidFill>
                <a:latin typeface="Menlo-Regular"/>
              </a:rPr>
              <a:t>val</a:t>
            </a:r>
            <a:r>
              <a:rPr lang="fr-FR" sz="1200" dirty="0">
                <a:solidFill>
                  <a:srgbClr val="000000"/>
                </a:solidFill>
                <a:latin typeface="Menlo-Regular"/>
              </a:rPr>
              <a:t> = </a:t>
            </a:r>
            <a:r>
              <a:rPr lang="fr-FR" sz="1200" dirty="0" err="1">
                <a:solidFill>
                  <a:srgbClr val="000000"/>
                </a:solidFill>
                <a:latin typeface="Menlo-Regular"/>
              </a:rPr>
              <a:t>sum</a:t>
            </a:r>
            <a:r>
              <a:rPr lang="fr-FR" sz="1200" dirty="0">
                <a:solidFill>
                  <a:srgbClr val="000000"/>
                </a:solidFill>
                <a:latin typeface="Menlo-Regular"/>
              </a:rPr>
              <a:t>(</a:t>
            </a:r>
            <a:r>
              <a:rPr lang="fr-FR" sz="1200" dirty="0" err="1">
                <a:solidFill>
                  <a:srgbClr val="000000"/>
                </a:solidFill>
                <a:latin typeface="Menlo-Regular"/>
              </a:rPr>
              <a:t>array</a:t>
            </a:r>
            <a:r>
              <a:rPr lang="fr-FR" sz="1200" dirty="0">
                <a:solidFill>
                  <a:srgbClr val="000000"/>
                </a:solidFill>
                <a:latin typeface="Menlo-Regular"/>
              </a:rPr>
              <a:t>, 2);</a:t>
            </a:r>
          </a:p>
          <a:p>
            <a:r>
              <a:rPr lang="fr-FR" sz="1200" dirty="0">
                <a:solidFill>
                  <a:srgbClr val="000000"/>
                </a:solidFill>
                <a:latin typeface="Menlo-Regular"/>
              </a:rPr>
              <a:t>    </a:t>
            </a:r>
            <a:r>
              <a:rPr lang="fr-FR" sz="1200" dirty="0">
                <a:solidFill>
                  <a:srgbClr val="C200FF"/>
                </a:solidFill>
                <a:latin typeface="Menlo-Regular"/>
              </a:rPr>
              <a:t>return</a:t>
            </a:r>
            <a:r>
              <a:rPr lang="fr-FR" sz="1200" dirty="0">
                <a:solidFill>
                  <a:srgbClr val="000000"/>
                </a:solidFill>
                <a:latin typeface="Menlo-Regular"/>
              </a:rPr>
              <a:t> val;</a:t>
            </a:r>
          </a:p>
          <a:p>
            <a:r>
              <a:rPr lang="fr-FR" sz="1200" dirty="0">
                <a:solidFill>
                  <a:srgbClr val="000000"/>
                </a:solidFill>
                <a:latin typeface="Menlo-Regular"/>
              </a:rPr>
              <a:t>}</a:t>
            </a:r>
          </a:p>
          <a:p>
            <a:endParaRPr lang="en-US" sz="1200" dirty="0">
              <a:latin typeface="Courier New"/>
              <a:cs typeface="Courier New"/>
            </a:endParaRPr>
          </a:p>
        </p:txBody>
      </p:sp>
      <p:sp>
        <p:nvSpPr>
          <p:cNvPr id="7" name="Rectangle 6">
            <a:extLst>
              <a:ext uri="{FF2B5EF4-FFF2-40B4-BE49-F238E27FC236}">
                <a16:creationId xmlns:a16="http://schemas.microsoft.com/office/drawing/2014/main" id="{B3E9E9AA-1E88-4317-BCC0-B3DF531DA27C}"/>
              </a:ext>
            </a:extLst>
          </p:cNvPr>
          <p:cNvSpPr>
            <a:spLocks noChangeArrowheads="1"/>
          </p:cNvSpPr>
          <p:nvPr/>
        </p:nvSpPr>
        <p:spPr bwMode="auto">
          <a:xfrm>
            <a:off x="6687879" y="3975179"/>
            <a:ext cx="2230098" cy="1785104"/>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none">
            <a:prstTxWarp prst="textNoShape">
              <a:avLst/>
            </a:prstTxWarp>
            <a:spAutoFit/>
          </a:bodyPr>
          <a:lstStyle/>
          <a:p>
            <a:r>
              <a:rPr lang="en-US" sz="1100" dirty="0" err="1">
                <a:solidFill>
                  <a:srgbClr val="2D961E"/>
                </a:solidFill>
                <a:latin typeface="Menlo-Regular"/>
              </a:rPr>
              <a:t>int</a:t>
            </a:r>
            <a:r>
              <a:rPr lang="en-US" sz="1100" dirty="0">
                <a:solidFill>
                  <a:srgbClr val="000000"/>
                </a:solidFill>
                <a:latin typeface="Menlo-Regular"/>
              </a:rPr>
              <a:t> </a:t>
            </a:r>
            <a:r>
              <a:rPr lang="en-US" sz="1100" dirty="0">
                <a:solidFill>
                  <a:srgbClr val="4A00FF"/>
                </a:solidFill>
                <a:latin typeface="Menlo-Regular"/>
              </a:rPr>
              <a:t>sum</a:t>
            </a:r>
            <a:r>
              <a:rPr lang="en-US" sz="1100" dirty="0">
                <a:solidFill>
                  <a:srgbClr val="000000"/>
                </a:solidFill>
                <a:latin typeface="Menlo-Regular"/>
              </a:rPr>
              <a:t>(</a:t>
            </a:r>
            <a:r>
              <a:rPr lang="en-US" sz="1100" dirty="0" err="1">
                <a:solidFill>
                  <a:srgbClr val="2D961E"/>
                </a:solidFill>
                <a:latin typeface="Menlo-Regular"/>
              </a:rPr>
              <a:t>int</a:t>
            </a:r>
            <a:r>
              <a:rPr lang="en-US" sz="1100" dirty="0">
                <a:solidFill>
                  <a:srgbClr val="000000"/>
                </a:solidFill>
                <a:latin typeface="Menlo-Regular"/>
              </a:rPr>
              <a:t> *</a:t>
            </a:r>
            <a:r>
              <a:rPr lang="en-US" sz="1100" dirty="0">
                <a:solidFill>
                  <a:srgbClr val="C1651C"/>
                </a:solidFill>
                <a:latin typeface="Menlo-Regular"/>
              </a:rPr>
              <a:t>a</a:t>
            </a:r>
            <a:r>
              <a:rPr lang="en-US" sz="1100" dirty="0">
                <a:solidFill>
                  <a:srgbClr val="000000"/>
                </a:solidFill>
                <a:latin typeface="Menlo-Regular"/>
              </a:rPr>
              <a:t>, </a:t>
            </a:r>
            <a:r>
              <a:rPr lang="en-US" sz="1100" dirty="0" err="1">
                <a:solidFill>
                  <a:srgbClr val="2D961E"/>
                </a:solidFill>
                <a:latin typeface="Menlo-Regular"/>
              </a:rPr>
              <a:t>int</a:t>
            </a:r>
            <a:r>
              <a:rPr lang="en-US" sz="1100" dirty="0">
                <a:solidFill>
                  <a:srgbClr val="000000"/>
                </a:solidFill>
                <a:latin typeface="Menlo-Regular"/>
              </a:rPr>
              <a:t> </a:t>
            </a:r>
            <a:r>
              <a:rPr lang="en-US" sz="1100" dirty="0">
                <a:solidFill>
                  <a:srgbClr val="C1651C"/>
                </a:solidFill>
                <a:latin typeface="Menlo-Regular"/>
              </a:rPr>
              <a:t>n</a:t>
            </a:r>
            <a:r>
              <a:rPr lang="en-US" sz="1100" dirty="0">
                <a:solidFill>
                  <a:srgbClr val="000000"/>
                </a:solidFill>
                <a:latin typeface="Menlo-Regular"/>
              </a:rPr>
              <a:t>)</a:t>
            </a:r>
          </a:p>
          <a:p>
            <a:r>
              <a:rPr lang="en-US" sz="1100" dirty="0">
                <a:solidFill>
                  <a:srgbClr val="000000"/>
                </a:solidFill>
                <a:latin typeface="Menlo-Regular"/>
              </a:rPr>
              <a:t>{</a:t>
            </a:r>
          </a:p>
          <a:p>
            <a:r>
              <a:rPr lang="fr-FR" sz="1100" dirty="0">
                <a:solidFill>
                  <a:srgbClr val="000000"/>
                </a:solidFill>
                <a:latin typeface="Menlo-Regular"/>
              </a:rPr>
              <a:t>    </a:t>
            </a:r>
            <a:r>
              <a:rPr lang="fr-FR" sz="1100" dirty="0" err="1">
                <a:solidFill>
                  <a:srgbClr val="2D961E"/>
                </a:solidFill>
                <a:latin typeface="Menlo-Regular"/>
              </a:rPr>
              <a:t>int</a:t>
            </a:r>
            <a:r>
              <a:rPr lang="fr-FR" sz="1100" dirty="0">
                <a:solidFill>
                  <a:srgbClr val="000000"/>
                </a:solidFill>
                <a:latin typeface="Menlo-Regular"/>
              </a:rPr>
              <a:t> </a:t>
            </a:r>
            <a:r>
              <a:rPr lang="fr-FR" sz="1100" dirty="0">
                <a:solidFill>
                  <a:srgbClr val="C1651C"/>
                </a:solidFill>
                <a:latin typeface="Menlo-Regular"/>
              </a:rPr>
              <a:t>i</a:t>
            </a:r>
            <a:r>
              <a:rPr lang="fr-FR" sz="1100" dirty="0">
                <a:solidFill>
                  <a:srgbClr val="000000"/>
                </a:solidFill>
                <a:latin typeface="Menlo-Regular"/>
              </a:rPr>
              <a:t>, </a:t>
            </a:r>
            <a:r>
              <a:rPr lang="fr-FR" sz="1100" dirty="0">
                <a:solidFill>
                  <a:srgbClr val="C1651C"/>
                </a:solidFill>
                <a:latin typeface="Menlo-Regular"/>
              </a:rPr>
              <a:t>s</a:t>
            </a:r>
            <a:r>
              <a:rPr lang="fr-FR" sz="1100" dirty="0">
                <a:solidFill>
                  <a:srgbClr val="000000"/>
                </a:solidFill>
                <a:latin typeface="Menlo-Regular"/>
              </a:rPr>
              <a:t> = 0;</a:t>
            </a:r>
          </a:p>
          <a:p>
            <a:endParaRPr lang="fr-FR" sz="1100" dirty="0">
              <a:solidFill>
                <a:srgbClr val="000000"/>
              </a:solidFill>
              <a:latin typeface="Menlo-Regular"/>
            </a:endParaRPr>
          </a:p>
          <a:p>
            <a:r>
              <a:rPr lang="da-DK" sz="1100" dirty="0">
                <a:solidFill>
                  <a:srgbClr val="000000"/>
                </a:solidFill>
                <a:latin typeface="Menlo-Regular"/>
              </a:rPr>
              <a:t>    </a:t>
            </a:r>
            <a:r>
              <a:rPr lang="da-DK" sz="1100" dirty="0">
                <a:solidFill>
                  <a:srgbClr val="C200FF"/>
                </a:solidFill>
                <a:latin typeface="Menlo-Regular"/>
              </a:rPr>
              <a:t>for</a:t>
            </a:r>
            <a:r>
              <a:rPr lang="da-DK" sz="1100" dirty="0">
                <a:solidFill>
                  <a:srgbClr val="000000"/>
                </a:solidFill>
                <a:latin typeface="Menlo-Regular"/>
              </a:rPr>
              <a:t> (i = 0; i &lt; n; i++) {</a:t>
            </a:r>
          </a:p>
          <a:p>
            <a:r>
              <a:rPr lang="da-DK" sz="1100" dirty="0">
                <a:solidFill>
                  <a:srgbClr val="000000"/>
                </a:solidFill>
                <a:latin typeface="Menlo-Regular"/>
              </a:rPr>
              <a:t>        s += a[i];</a:t>
            </a:r>
          </a:p>
          <a:p>
            <a:r>
              <a:rPr lang="da-DK" sz="1100" dirty="0">
                <a:solidFill>
                  <a:srgbClr val="000000"/>
                </a:solidFill>
                <a:latin typeface="Menlo-Regular"/>
              </a:rPr>
              <a:t>    }</a:t>
            </a:r>
          </a:p>
          <a:p>
            <a:r>
              <a:rPr lang="is-IS" sz="1100" dirty="0">
                <a:solidFill>
                  <a:srgbClr val="000000"/>
                </a:solidFill>
                <a:latin typeface="Menlo-Regular"/>
              </a:rPr>
              <a:t>    </a:t>
            </a:r>
            <a:r>
              <a:rPr lang="is-IS" sz="1100" dirty="0">
                <a:solidFill>
                  <a:srgbClr val="C200FF"/>
                </a:solidFill>
                <a:latin typeface="Menlo-Regular"/>
              </a:rPr>
              <a:t>return</a:t>
            </a:r>
            <a:r>
              <a:rPr lang="is-IS" sz="1100" dirty="0">
                <a:solidFill>
                  <a:srgbClr val="000000"/>
                </a:solidFill>
                <a:latin typeface="Menlo-Regular"/>
              </a:rPr>
              <a:t> s;</a:t>
            </a:r>
          </a:p>
          <a:p>
            <a:r>
              <a:rPr lang="is-IS" sz="1100" dirty="0">
                <a:solidFill>
                  <a:srgbClr val="000000"/>
                </a:solidFill>
                <a:latin typeface="Menlo-Regular"/>
              </a:rPr>
              <a:t>}</a:t>
            </a:r>
          </a:p>
          <a:p>
            <a:endParaRPr lang="is-IS" sz="1100" dirty="0">
              <a:solidFill>
                <a:srgbClr val="000000"/>
              </a:solidFill>
              <a:latin typeface="Menlo-Regular"/>
            </a:endParaRPr>
          </a:p>
        </p:txBody>
      </p:sp>
      <p:sp>
        <p:nvSpPr>
          <p:cNvPr id="8" name="Rectangle 3">
            <a:extLst>
              <a:ext uri="{FF2B5EF4-FFF2-40B4-BE49-F238E27FC236}">
                <a16:creationId xmlns:a16="http://schemas.microsoft.com/office/drawing/2014/main" id="{EA9415AB-2435-4995-B64B-C1324FAF7AD4}"/>
              </a:ext>
            </a:extLst>
          </p:cNvPr>
          <p:cNvSpPr>
            <a:spLocks noChangeArrowheads="1"/>
          </p:cNvSpPr>
          <p:nvPr/>
        </p:nvSpPr>
        <p:spPr bwMode="auto">
          <a:xfrm>
            <a:off x="7708052" y="2553142"/>
            <a:ext cx="922345" cy="32964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err="1">
                <a:solidFill>
                  <a:schemeClr val="tx1">
                    <a:lumMod val="50000"/>
                    <a:lumOff val="50000"/>
                  </a:schemeClr>
                </a:solidFill>
                <a:latin typeface="Courier New" pitchFamily="49" charset="0"/>
                <a:ea typeface="msgothic" charset="0"/>
                <a:cs typeface="msgothic" charset="0"/>
              </a:rPr>
              <a:t>main.c</a:t>
            </a:r>
            <a:endParaRPr lang="en-GB" sz="1600" b="1" i="1" dirty="0">
              <a:solidFill>
                <a:schemeClr val="tx1">
                  <a:lumMod val="50000"/>
                  <a:lumOff val="50000"/>
                </a:schemeClr>
              </a:solidFill>
              <a:latin typeface="Courier New" pitchFamily="49" charset="0"/>
              <a:ea typeface="msgothic" charset="0"/>
              <a:cs typeface="msgothic" charset="0"/>
            </a:endParaRPr>
          </a:p>
        </p:txBody>
      </p:sp>
      <p:sp>
        <p:nvSpPr>
          <p:cNvPr id="9" name="Rectangle 3">
            <a:extLst>
              <a:ext uri="{FF2B5EF4-FFF2-40B4-BE49-F238E27FC236}">
                <a16:creationId xmlns:a16="http://schemas.microsoft.com/office/drawing/2014/main" id="{C5B4C961-C43E-409F-B403-38D58233C686}"/>
              </a:ext>
            </a:extLst>
          </p:cNvPr>
          <p:cNvSpPr>
            <a:spLocks noChangeArrowheads="1"/>
          </p:cNvSpPr>
          <p:nvPr/>
        </p:nvSpPr>
        <p:spPr bwMode="auto">
          <a:xfrm>
            <a:off x="7954722" y="5448762"/>
            <a:ext cx="798914" cy="329643"/>
          </a:xfrm>
          <a:prstGeom prst="rect">
            <a:avLst/>
          </a:prstGeom>
          <a:noFill/>
          <a:ln w="3240">
            <a:noFill/>
            <a:miter lim="800000"/>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i="1" dirty="0" err="1">
                <a:solidFill>
                  <a:schemeClr val="tx1">
                    <a:lumMod val="50000"/>
                    <a:lumOff val="50000"/>
                  </a:schemeClr>
                </a:solidFill>
                <a:latin typeface="Courier New" pitchFamily="49" charset="0"/>
                <a:ea typeface="msgothic" charset="0"/>
                <a:cs typeface="msgothic" charset="0"/>
              </a:rPr>
              <a:t>sum.c</a:t>
            </a:r>
            <a:endParaRPr lang="en-GB" sz="1600" b="1" i="1" dirty="0">
              <a:solidFill>
                <a:schemeClr val="tx1">
                  <a:lumMod val="50000"/>
                  <a:lumOff val="50000"/>
                </a:schemeClr>
              </a:solidFill>
              <a:latin typeface="Courier New" pitchFamily="49" charset="0"/>
              <a:ea typeface="msgothic" charset="0"/>
              <a:cs typeface="msgothic" charset="0"/>
            </a:endParaRPr>
          </a:p>
        </p:txBody>
      </p:sp>
      <p:sp>
        <p:nvSpPr>
          <p:cNvPr id="10" name="内容占位符 2">
            <a:extLst>
              <a:ext uri="{FF2B5EF4-FFF2-40B4-BE49-F238E27FC236}">
                <a16:creationId xmlns:a16="http://schemas.microsoft.com/office/drawing/2014/main" id="{440D8AEB-8754-4E02-86AD-A7C2C13306CD}"/>
              </a:ext>
            </a:extLst>
          </p:cNvPr>
          <p:cNvSpPr txBox="1">
            <a:spLocks/>
          </p:cNvSpPr>
          <p:nvPr/>
        </p:nvSpPr>
        <p:spPr>
          <a:xfrm>
            <a:off x="254106" y="3324550"/>
            <a:ext cx="6495620" cy="3270269"/>
          </a:xfrm>
          <a:prstGeom prst="rect">
            <a:avLst/>
          </a:prstGeom>
        </p:spPr>
        <p:txBody>
          <a:bodyPr vert="horz" lIns="91440" tIns="45720" rIns="91440" bIns="45720" rtlCol="0">
            <a:normAutofit/>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r>
              <a:rPr lang="en-US" altLang="zh-CN" sz="1600" dirty="0"/>
              <a:t>Mov</a:t>
            </a:r>
            <a:r>
              <a:rPr lang="zh-CN" altLang="en-US" sz="1600" dirty="0"/>
              <a:t>指令将</a:t>
            </a:r>
            <a:r>
              <a:rPr lang="en-US" altLang="zh-CN" sz="1600" dirty="0"/>
              <a:t>array</a:t>
            </a:r>
            <a:r>
              <a:rPr lang="zh-CN" altLang="en-US" sz="1600" dirty="0"/>
              <a:t>的地址复制到寄存器</a:t>
            </a:r>
            <a:r>
              <a:rPr lang="en-US" altLang="zh-CN" sz="1600" dirty="0"/>
              <a:t>%</a:t>
            </a:r>
            <a:r>
              <a:rPr lang="en-US" altLang="zh-CN" sz="1600" dirty="0" err="1"/>
              <a:t>edi</a:t>
            </a:r>
            <a:r>
              <a:rPr lang="zh-CN" altLang="en-US" sz="1600" dirty="0"/>
              <a:t>中，</a:t>
            </a:r>
            <a:r>
              <a:rPr lang="en-US" altLang="zh-CN" sz="1600" dirty="0"/>
              <a:t>mov</a:t>
            </a:r>
            <a:r>
              <a:rPr lang="zh-CN" altLang="en-US" sz="1600" dirty="0"/>
              <a:t>指令开始于节偏移量</a:t>
            </a:r>
            <a:r>
              <a:rPr lang="en-US" altLang="zh-CN" sz="1600" dirty="0"/>
              <a:t>0x9</a:t>
            </a:r>
            <a:r>
              <a:rPr lang="zh-CN" altLang="en-US" sz="1600" dirty="0"/>
              <a:t>的位置，包括</a:t>
            </a:r>
            <a:r>
              <a:rPr lang="en-US" altLang="zh-CN" sz="1600" dirty="0"/>
              <a:t>1</a:t>
            </a:r>
            <a:r>
              <a:rPr lang="zh-CN" altLang="en-US" sz="1600" dirty="0"/>
              <a:t>字节操作码</a:t>
            </a:r>
            <a:r>
              <a:rPr lang="en-US" altLang="zh-CN" sz="1600" dirty="0"/>
              <a:t>0xbf</a:t>
            </a:r>
            <a:r>
              <a:rPr lang="zh-CN" altLang="en-US" sz="1600" dirty="0"/>
              <a:t>，后面跟着对</a:t>
            </a:r>
            <a:r>
              <a:rPr lang="en-US" altLang="zh-CN" sz="1600" dirty="0"/>
              <a:t>array</a:t>
            </a:r>
            <a:r>
              <a:rPr lang="zh-CN" altLang="en-US" sz="1600" dirty="0"/>
              <a:t>的</a:t>
            </a:r>
            <a:r>
              <a:rPr lang="en-US" altLang="zh-CN" sz="1600" dirty="0"/>
              <a:t>32</a:t>
            </a:r>
            <a:r>
              <a:rPr lang="zh-CN" altLang="en-US" sz="1600" dirty="0"/>
              <a:t>位绝对引用的占位符</a:t>
            </a:r>
            <a:endParaRPr lang="en-US" altLang="zh-CN" sz="1600" dirty="0"/>
          </a:p>
          <a:p>
            <a:pPr lvl="1"/>
            <a:r>
              <a:rPr lang="en-US" altLang="zh-CN" sz="1200" dirty="0" err="1"/>
              <a:t>r.offset</a:t>
            </a:r>
            <a:r>
              <a:rPr lang="en-US" altLang="zh-CN" sz="1200" dirty="0"/>
              <a:t>=0xa   </a:t>
            </a:r>
            <a:r>
              <a:rPr lang="en-US" altLang="zh-CN" sz="1200" dirty="0" err="1"/>
              <a:t>r.symbol</a:t>
            </a:r>
            <a:r>
              <a:rPr lang="en-US" altLang="zh-CN" sz="1200" dirty="0"/>
              <a:t>=array    </a:t>
            </a:r>
            <a:r>
              <a:rPr lang="en-US" altLang="zh-CN" sz="1200" dirty="0" err="1"/>
              <a:t>r.type</a:t>
            </a:r>
            <a:r>
              <a:rPr lang="en-US" altLang="zh-CN" sz="1200" dirty="0"/>
              <a:t>=R_X86_64_32   </a:t>
            </a:r>
            <a:r>
              <a:rPr lang="en-US" altLang="zh-CN" sz="1200" dirty="0" err="1"/>
              <a:t>r.addend</a:t>
            </a:r>
            <a:r>
              <a:rPr lang="en-US" altLang="zh-CN" sz="1200" dirty="0"/>
              <a:t>=0</a:t>
            </a:r>
          </a:p>
          <a:p>
            <a:pPr lvl="1"/>
            <a:r>
              <a:rPr lang="zh-CN" altLang="en-US" sz="1200" dirty="0"/>
              <a:t>链接器要修改从偏移量</a:t>
            </a:r>
            <a:r>
              <a:rPr lang="en-US" altLang="zh-CN" sz="1200" dirty="0"/>
              <a:t>0xa</a:t>
            </a:r>
            <a:r>
              <a:rPr lang="zh-CN" altLang="en-US" sz="1200" dirty="0"/>
              <a:t>开始的绝对引用，运行时指向</a:t>
            </a:r>
            <a:r>
              <a:rPr lang="en-US" altLang="zh-CN" sz="1200" dirty="0"/>
              <a:t>array</a:t>
            </a:r>
            <a:r>
              <a:rPr lang="zh-CN" altLang="en-US" sz="1200" dirty="0"/>
              <a:t>的第一个字节，假设链接器已确定</a:t>
            </a:r>
            <a:r>
              <a:rPr lang="en-US" altLang="zh-CN" sz="1200" dirty="0"/>
              <a:t>ADDR(</a:t>
            </a:r>
            <a:r>
              <a:rPr lang="en-US" altLang="zh-CN" sz="1200" dirty="0" err="1"/>
              <a:t>r.symbol</a:t>
            </a:r>
            <a:r>
              <a:rPr lang="en-US" altLang="zh-CN" sz="1200" dirty="0"/>
              <a:t>)=ADDR(array)=0x601018</a:t>
            </a:r>
          </a:p>
          <a:p>
            <a:pPr lvl="1"/>
            <a:r>
              <a:rPr lang="zh-CN" altLang="en-US" sz="1200" dirty="0"/>
              <a:t>链接器修改引用：</a:t>
            </a:r>
            <a:endParaRPr lang="en-US" altLang="zh-CN" sz="1200" dirty="0"/>
          </a:p>
          <a:p>
            <a:pPr lvl="1"/>
            <a:r>
              <a:rPr lang="en-US" altLang="zh-CN" sz="1200" dirty="0"/>
              <a:t>*</a:t>
            </a:r>
            <a:r>
              <a:rPr lang="en-US" altLang="zh-CN" sz="1200" dirty="0" err="1"/>
              <a:t>refptr</a:t>
            </a:r>
            <a:r>
              <a:rPr lang="en-US" altLang="zh-CN" sz="1200" dirty="0"/>
              <a:t>=(unsigned) (ADDR(</a:t>
            </a:r>
            <a:r>
              <a:rPr lang="en-US" altLang="zh-CN" sz="1200" dirty="0" err="1"/>
              <a:t>r.symbol</a:t>
            </a:r>
            <a:r>
              <a:rPr lang="en-US" altLang="zh-CN" sz="1200" dirty="0"/>
              <a:t>)+</a:t>
            </a:r>
            <a:r>
              <a:rPr lang="en-US" altLang="zh-CN" sz="1200" dirty="0" err="1"/>
              <a:t>r.addend</a:t>
            </a:r>
            <a:r>
              <a:rPr lang="en-US" altLang="zh-CN" sz="1200" dirty="0"/>
              <a:t>)</a:t>
            </a:r>
          </a:p>
          <a:p>
            <a:pPr lvl="1"/>
            <a:r>
              <a:rPr lang="en-US" altLang="zh-CN" sz="1200" dirty="0"/>
              <a:t>           =(unsigned) (0x601018+0)</a:t>
            </a:r>
          </a:p>
          <a:p>
            <a:pPr lvl="1"/>
            <a:r>
              <a:rPr lang="en-US" altLang="zh-CN" sz="1200" dirty="0"/>
              <a:t>           =(unsigned) (0x601018)</a:t>
            </a:r>
          </a:p>
          <a:p>
            <a:r>
              <a:rPr lang="zh-CN" altLang="en-US" sz="1500" dirty="0"/>
              <a:t>得到的可执行目标，该引用有下面的重定位形式：</a:t>
            </a:r>
            <a:endParaRPr lang="en-US" altLang="zh-CN" sz="1500" dirty="0"/>
          </a:p>
          <a:p>
            <a:pPr lvl="1"/>
            <a:r>
              <a:rPr lang="en-US" altLang="zh-CN" sz="1200" dirty="0"/>
              <a:t>4004d9:  bf 18 10 60 00     mov    $</a:t>
            </a:r>
            <a:r>
              <a:rPr lang="en-US" altLang="zh-CN" sz="1200" b="1" dirty="0">
                <a:solidFill>
                  <a:srgbClr val="00B050"/>
                </a:solidFill>
                <a:effectLst>
                  <a:outerShdw blurRad="38100" dist="38100" dir="2700000" algn="tl">
                    <a:srgbClr val="000000">
                      <a:alpha val="43137"/>
                    </a:srgbClr>
                  </a:outerShdw>
                </a:effectLst>
              </a:rPr>
              <a:t>0x601018</a:t>
            </a:r>
            <a:r>
              <a:rPr lang="en-US" altLang="zh-CN" sz="1200" dirty="0"/>
              <a:t>,%edi</a:t>
            </a:r>
          </a:p>
          <a:p>
            <a:pPr lvl="1"/>
            <a:endParaRPr lang="en-US" altLang="zh-CN" sz="1200" dirty="0"/>
          </a:p>
        </p:txBody>
      </p:sp>
    </p:spTree>
    <p:extLst>
      <p:ext uri="{BB962C8B-B14F-4D97-AF65-F5344CB8AC3E}">
        <p14:creationId xmlns:p14="http://schemas.microsoft.com/office/powerpoint/2010/main" val="3145950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A52185-0FA4-419E-A84E-F3D18F59718F}"/>
              </a:ext>
            </a:extLst>
          </p:cNvPr>
          <p:cNvSpPr>
            <a:spLocks noGrp="1"/>
          </p:cNvSpPr>
          <p:nvPr>
            <p:ph type="title"/>
          </p:nvPr>
        </p:nvSpPr>
        <p:spPr/>
        <p:txBody>
          <a:bodyPr>
            <a:noAutofit/>
          </a:bodyPr>
          <a:lstStyle/>
          <a:p>
            <a:r>
              <a:rPr lang="zh-CN" altLang="en-US" sz="2400" dirty="0"/>
              <a:t>最终可执行目标文件中已重定位的</a:t>
            </a:r>
            <a:r>
              <a:rPr lang="en-US" altLang="zh-CN" sz="2400" dirty="0"/>
              <a:t>.text</a:t>
            </a:r>
            <a:r>
              <a:rPr lang="zh-CN" altLang="en-US" sz="2400" dirty="0"/>
              <a:t>节和</a:t>
            </a:r>
            <a:r>
              <a:rPr lang="en-US" altLang="zh-CN" sz="2400" dirty="0"/>
              <a:t>.data</a:t>
            </a:r>
            <a:r>
              <a:rPr lang="zh-CN" altLang="en-US" sz="2400" dirty="0"/>
              <a:t>节</a:t>
            </a:r>
          </a:p>
        </p:txBody>
      </p:sp>
      <p:sp>
        <p:nvSpPr>
          <p:cNvPr id="4" name="灯片编号占位符 3">
            <a:extLst>
              <a:ext uri="{FF2B5EF4-FFF2-40B4-BE49-F238E27FC236}">
                <a16:creationId xmlns:a16="http://schemas.microsoft.com/office/drawing/2014/main" id="{575B82C1-4A20-4412-A857-B06FED102A57}"/>
              </a:ext>
            </a:extLst>
          </p:cNvPr>
          <p:cNvSpPr>
            <a:spLocks noGrp="1"/>
          </p:cNvSpPr>
          <p:nvPr>
            <p:ph type="sldNum" sz="quarter" idx="12"/>
          </p:nvPr>
        </p:nvSpPr>
        <p:spPr/>
        <p:txBody>
          <a:bodyPr/>
          <a:lstStyle/>
          <a:p>
            <a:fld id="{6D62327B-ED8D-4CFC-ADD0-A75FA5CBE281}" type="slidenum">
              <a:rPr lang="zh-CN" altLang="en-US" smtClean="0"/>
              <a:pPr/>
              <a:t>41</a:t>
            </a:fld>
            <a:endParaRPr lang="zh-CN" altLang="en-US" dirty="0"/>
          </a:p>
        </p:txBody>
      </p:sp>
      <p:sp>
        <p:nvSpPr>
          <p:cNvPr id="5" name="内容占位符 2">
            <a:extLst>
              <a:ext uri="{FF2B5EF4-FFF2-40B4-BE49-F238E27FC236}">
                <a16:creationId xmlns:a16="http://schemas.microsoft.com/office/drawing/2014/main" id="{5C4E9B25-0E85-4000-8B7A-37636B2DC5BD}"/>
              </a:ext>
            </a:extLst>
          </p:cNvPr>
          <p:cNvSpPr txBox="1">
            <a:spLocks/>
          </p:cNvSpPr>
          <p:nvPr/>
        </p:nvSpPr>
        <p:spPr>
          <a:xfrm>
            <a:off x="1043608" y="1124744"/>
            <a:ext cx="7128792" cy="4464496"/>
          </a:xfrm>
          <a:prstGeom prst="rect">
            <a:avLst/>
          </a:prstGeom>
        </p:spPr>
        <p:txBody>
          <a:bodyPr vert="horz" lIns="91440" tIns="45720" rIns="91440" bIns="45720" rtlCol="0">
            <a:normAutofit/>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457200" indent="-457200">
              <a:buFont typeface="+mj-lt"/>
              <a:buAutoNum type="arabicPeriod"/>
            </a:pPr>
            <a:r>
              <a:rPr lang="en-US" altLang="zh-CN" sz="1400" dirty="0"/>
              <a:t>00000000004004d0 &lt;main&gt;:</a:t>
            </a:r>
          </a:p>
          <a:p>
            <a:pPr marL="457200" indent="-457200">
              <a:buFont typeface="+mj-lt"/>
              <a:buAutoNum type="arabicPeriod"/>
            </a:pPr>
            <a:r>
              <a:rPr lang="en-US" altLang="zh-CN" sz="1400" dirty="0"/>
              <a:t>   4004d0:	48 83 </a:t>
            </a:r>
            <a:r>
              <a:rPr lang="en-US" altLang="zh-CN" sz="1400" dirty="0" err="1"/>
              <a:t>ec</a:t>
            </a:r>
            <a:r>
              <a:rPr lang="en-US" altLang="zh-CN" sz="1400" dirty="0"/>
              <a:t> 08                   	sub     $0x8,%rsp</a:t>
            </a:r>
          </a:p>
          <a:p>
            <a:pPr marL="457200" indent="-457200">
              <a:buFont typeface="+mj-lt"/>
              <a:buAutoNum type="arabicPeriod"/>
            </a:pPr>
            <a:r>
              <a:rPr lang="en-US" altLang="zh-CN" sz="1400" dirty="0"/>
              <a:t>   4004d4:	be 02 00 00 00       		mov    $0x2,%esi</a:t>
            </a:r>
          </a:p>
          <a:p>
            <a:pPr marL="457200" indent="-457200">
              <a:buFont typeface="+mj-lt"/>
              <a:buAutoNum type="arabicPeriod"/>
            </a:pPr>
            <a:r>
              <a:rPr lang="en-US" altLang="zh-CN" sz="1400" dirty="0"/>
              <a:t>   4004d9:	bf 18 10 60 00       		mov    $0x0,%edi        </a:t>
            </a:r>
            <a:r>
              <a:rPr lang="en-US" altLang="zh-CN" sz="1400" i="1" dirty="0">
                <a:solidFill>
                  <a:srgbClr val="2F5EB0"/>
                </a:solidFill>
              </a:rPr>
              <a:t>%</a:t>
            </a:r>
            <a:r>
              <a:rPr lang="en-US" altLang="zh-CN" sz="1400" i="1" dirty="0" err="1">
                <a:solidFill>
                  <a:srgbClr val="2F5EB0"/>
                </a:solidFill>
              </a:rPr>
              <a:t>edi</a:t>
            </a:r>
            <a:r>
              <a:rPr lang="en-US" altLang="zh-CN" sz="1400" i="1" dirty="0">
                <a:solidFill>
                  <a:srgbClr val="2F5EB0"/>
                </a:solidFill>
              </a:rPr>
              <a:t>=$array</a:t>
            </a:r>
          </a:p>
          <a:p>
            <a:pPr marL="457200" indent="-457200">
              <a:buFont typeface="+mj-lt"/>
              <a:buAutoNum type="arabicPeriod"/>
            </a:pPr>
            <a:r>
              <a:rPr lang="en-US" altLang="zh-CN" sz="1400" dirty="0"/>
              <a:t>   4004de:	e8 00 00 00 00       		</a:t>
            </a:r>
            <a:r>
              <a:rPr lang="en-US" altLang="zh-CN" sz="1400" dirty="0" err="1"/>
              <a:t>callq</a:t>
            </a:r>
            <a:r>
              <a:rPr lang="en-US" altLang="zh-CN" sz="1400" dirty="0"/>
              <a:t>    4004e8  &lt;sum&gt;</a:t>
            </a:r>
            <a:endParaRPr lang="en-US" altLang="zh-CN" sz="1400" i="1" dirty="0">
              <a:solidFill>
                <a:srgbClr val="2F5EB0"/>
              </a:solidFill>
            </a:endParaRPr>
          </a:p>
          <a:p>
            <a:pPr marL="457200" indent="-457200">
              <a:buFont typeface="+mj-lt"/>
              <a:buAutoNum type="arabicPeriod"/>
            </a:pPr>
            <a:r>
              <a:rPr lang="en-US" altLang="zh-CN" sz="1400" dirty="0"/>
              <a:t>   4004e3:	48 83 c4 08       	              	add     $0x8,%rsp</a:t>
            </a:r>
          </a:p>
          <a:p>
            <a:pPr marL="457200" indent="-457200">
              <a:buFont typeface="+mj-lt"/>
              <a:buAutoNum type="arabicPeriod"/>
            </a:pPr>
            <a:r>
              <a:rPr lang="en-US" altLang="zh-CN" sz="1400" dirty="0"/>
              <a:t>   4004e7:	c3			</a:t>
            </a:r>
            <a:r>
              <a:rPr lang="en-US" altLang="zh-CN" sz="1400" dirty="0" err="1"/>
              <a:t>retq</a:t>
            </a:r>
            <a:endParaRPr lang="en-US" altLang="zh-CN" sz="1400" dirty="0"/>
          </a:p>
          <a:p>
            <a:pPr marL="457200" indent="-457200">
              <a:buFont typeface="+mj-lt"/>
              <a:buAutoNum type="arabicPeriod"/>
            </a:pPr>
            <a:r>
              <a:rPr lang="en-US" altLang="zh-CN" sz="1400" dirty="0"/>
              <a:t>00000000004004e8 &lt;sum&gt;:</a:t>
            </a:r>
          </a:p>
          <a:p>
            <a:pPr marL="457200" indent="-457200">
              <a:buFont typeface="+mj-lt"/>
              <a:buAutoNum type="arabicPeriod"/>
            </a:pPr>
            <a:r>
              <a:rPr lang="en-US" altLang="zh-CN" sz="1400" dirty="0"/>
              <a:t>   4004e8:	b8 00 00 00 00                   	mov     $0x0,%eax</a:t>
            </a:r>
          </a:p>
          <a:p>
            <a:pPr marL="457200" indent="-457200">
              <a:buFont typeface="+mj-lt"/>
              <a:buAutoNum type="arabicPeriod"/>
            </a:pPr>
            <a:r>
              <a:rPr lang="en-US" altLang="zh-CN" sz="1400" dirty="0"/>
              <a:t>   4004ed:	</a:t>
            </a:r>
            <a:r>
              <a:rPr lang="en-US" altLang="zh-CN" sz="1400" dirty="0" err="1"/>
              <a:t>ba</a:t>
            </a:r>
            <a:r>
              <a:rPr lang="en-US" altLang="zh-CN" sz="1400" dirty="0"/>
              <a:t> 00 00 00 00                   	mov     $0x0,%edx </a:t>
            </a:r>
          </a:p>
          <a:p>
            <a:pPr marL="457200" indent="-457200">
              <a:buFont typeface="+mj-lt"/>
              <a:buAutoNum type="arabicPeriod"/>
            </a:pPr>
            <a:r>
              <a:rPr lang="en-US" altLang="zh-CN" sz="1400" dirty="0"/>
              <a:t>   4004f2:	eb 09                   		</a:t>
            </a:r>
            <a:r>
              <a:rPr lang="en-US" altLang="zh-CN" sz="1400" dirty="0" err="1"/>
              <a:t>jmp</a:t>
            </a:r>
            <a:r>
              <a:rPr lang="en-US" altLang="zh-CN" sz="1400" dirty="0"/>
              <a:t>      4004fd &lt;sum+0x15&gt;</a:t>
            </a:r>
          </a:p>
          <a:p>
            <a:pPr marL="457200" indent="-457200">
              <a:buFont typeface="+mj-lt"/>
              <a:buAutoNum type="arabicPeriod"/>
            </a:pPr>
            <a:r>
              <a:rPr lang="en-US" altLang="zh-CN" sz="1400" dirty="0"/>
              <a:t>   4004f4:	48 63 ca			</a:t>
            </a:r>
            <a:r>
              <a:rPr lang="en-US" altLang="zh-CN" sz="1400" dirty="0" err="1"/>
              <a:t>movslq</a:t>
            </a:r>
            <a:r>
              <a:rPr lang="en-US" altLang="zh-CN" sz="1400" dirty="0"/>
              <a:t>  %</a:t>
            </a:r>
            <a:r>
              <a:rPr lang="en-US" altLang="zh-CN" sz="1400" dirty="0" err="1"/>
              <a:t>edx</a:t>
            </a:r>
            <a:r>
              <a:rPr lang="zh-CN" altLang="en-US" sz="1400" dirty="0"/>
              <a:t>，</a:t>
            </a:r>
            <a:r>
              <a:rPr lang="en-US" altLang="zh-CN" sz="1400" dirty="0"/>
              <a:t>%</a:t>
            </a:r>
            <a:r>
              <a:rPr lang="en-US" altLang="zh-CN" sz="1400" dirty="0" err="1"/>
              <a:t>rcx</a:t>
            </a:r>
            <a:r>
              <a:rPr lang="en-US" altLang="zh-CN" sz="1400" dirty="0"/>
              <a:t> </a:t>
            </a:r>
          </a:p>
          <a:p>
            <a:pPr marL="457200" indent="-457200">
              <a:buFont typeface="+mj-lt"/>
              <a:buAutoNum type="arabicPeriod"/>
            </a:pPr>
            <a:r>
              <a:rPr lang="en-US" altLang="zh-CN" sz="1400" dirty="0"/>
              <a:t>   4004f7:	03 04 8f			add       (%rdi,%rcx,4),%</a:t>
            </a:r>
            <a:r>
              <a:rPr lang="en-US" altLang="zh-CN" sz="1400" dirty="0" err="1"/>
              <a:t>eax</a:t>
            </a:r>
            <a:endParaRPr lang="en-US" altLang="zh-CN" sz="1400" dirty="0"/>
          </a:p>
          <a:p>
            <a:pPr marL="457200" indent="-457200">
              <a:buFont typeface="+mj-lt"/>
              <a:buAutoNum type="arabicPeriod"/>
            </a:pPr>
            <a:r>
              <a:rPr lang="en-US" altLang="zh-CN" sz="1400" dirty="0"/>
              <a:t>   4004fa:	83 c2 01			add       $0x1,%edx</a:t>
            </a:r>
          </a:p>
          <a:p>
            <a:pPr marL="457200" indent="-457200">
              <a:buFont typeface="+mj-lt"/>
              <a:buAutoNum type="arabicPeriod"/>
            </a:pPr>
            <a:r>
              <a:rPr lang="en-US" altLang="zh-CN" sz="1400" dirty="0"/>
              <a:t>   4004fd:	39 f2			</a:t>
            </a:r>
            <a:r>
              <a:rPr lang="en-US" altLang="zh-CN" sz="1400" dirty="0" err="1"/>
              <a:t>cmp</a:t>
            </a:r>
            <a:r>
              <a:rPr lang="en-US" altLang="zh-CN" sz="1400" dirty="0"/>
              <a:t>       %</a:t>
            </a:r>
            <a:r>
              <a:rPr lang="en-US" altLang="zh-CN" sz="1400" dirty="0" err="1"/>
              <a:t>esi</a:t>
            </a:r>
            <a:r>
              <a:rPr lang="en-US" altLang="zh-CN" sz="1400" dirty="0"/>
              <a:t>,%</a:t>
            </a:r>
            <a:r>
              <a:rPr lang="en-US" altLang="zh-CN" sz="1400" dirty="0" err="1"/>
              <a:t>edx</a:t>
            </a:r>
            <a:endParaRPr lang="en-US" altLang="zh-CN" sz="1400" dirty="0"/>
          </a:p>
          <a:p>
            <a:pPr marL="457200" indent="-457200">
              <a:buFont typeface="+mj-lt"/>
              <a:buAutoNum type="arabicPeriod"/>
            </a:pPr>
            <a:r>
              <a:rPr lang="en-US" altLang="zh-CN" sz="1400" dirty="0"/>
              <a:t>   4004ff:	7c f3			</a:t>
            </a:r>
            <a:r>
              <a:rPr lang="en-US" altLang="zh-CN" sz="1400" dirty="0" err="1"/>
              <a:t>jl</a:t>
            </a:r>
            <a:r>
              <a:rPr lang="en-US" altLang="zh-CN" sz="1400" dirty="0"/>
              <a:t>           4004f4 &lt;sum+0xc)</a:t>
            </a:r>
          </a:p>
          <a:p>
            <a:pPr marL="457200" indent="-457200">
              <a:buFont typeface="+mj-lt"/>
              <a:buAutoNum type="arabicPeriod"/>
            </a:pPr>
            <a:r>
              <a:rPr lang="en-US" altLang="zh-CN" sz="1400" dirty="0"/>
              <a:t>   400501:	f3 c3			</a:t>
            </a:r>
            <a:r>
              <a:rPr lang="en-US" altLang="zh-CN" sz="1400" dirty="0" err="1"/>
              <a:t>repz</a:t>
            </a:r>
            <a:r>
              <a:rPr lang="en-US" altLang="zh-CN" sz="1400" dirty="0"/>
              <a:t>       </a:t>
            </a:r>
            <a:r>
              <a:rPr lang="en-US" altLang="zh-CN" sz="1400" dirty="0" err="1"/>
              <a:t>retq</a:t>
            </a:r>
            <a:endParaRPr lang="zh-CN" altLang="en-US" sz="1400" dirty="0"/>
          </a:p>
        </p:txBody>
      </p:sp>
      <p:sp>
        <p:nvSpPr>
          <p:cNvPr id="6" name="矩形 5">
            <a:extLst>
              <a:ext uri="{FF2B5EF4-FFF2-40B4-BE49-F238E27FC236}">
                <a16:creationId xmlns:a16="http://schemas.microsoft.com/office/drawing/2014/main" id="{30D107FD-1686-4744-838E-91FC03A2151E}"/>
              </a:ext>
            </a:extLst>
          </p:cNvPr>
          <p:cNvSpPr/>
          <p:nvPr/>
        </p:nvSpPr>
        <p:spPr>
          <a:xfrm>
            <a:off x="2627784" y="675270"/>
            <a:ext cx="1133644" cy="369332"/>
          </a:xfrm>
          <a:prstGeom prst="rect">
            <a:avLst/>
          </a:prstGeom>
        </p:spPr>
        <p:txBody>
          <a:bodyPr wrap="none">
            <a:spAutoFit/>
          </a:bodyPr>
          <a:lstStyle/>
          <a:p>
            <a:r>
              <a:rPr lang="en-US" altLang="zh-CN" b="1" dirty="0">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ADDR(S)</a:t>
            </a:r>
            <a:endParaRPr lang="zh-CN" altLang="en-US" b="1" dirty="0">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7" name="直接箭头连接符 6">
            <a:extLst>
              <a:ext uri="{FF2B5EF4-FFF2-40B4-BE49-F238E27FC236}">
                <a16:creationId xmlns:a16="http://schemas.microsoft.com/office/drawing/2014/main" id="{4AA283DD-0317-4C53-9C19-E22FD41E9DB4}"/>
              </a:ext>
            </a:extLst>
          </p:cNvPr>
          <p:cNvCxnSpPr>
            <a:cxnSpLocks/>
            <a:stCxn id="6" idx="2"/>
          </p:cNvCxnSpPr>
          <p:nvPr/>
        </p:nvCxnSpPr>
        <p:spPr>
          <a:xfrm flipH="1">
            <a:off x="2555776" y="1044602"/>
            <a:ext cx="638830" cy="801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0A5EC8EC-9B4C-45BF-A325-277D1AB50893}"/>
              </a:ext>
            </a:extLst>
          </p:cNvPr>
          <p:cNvSpPr/>
          <p:nvPr/>
        </p:nvSpPr>
        <p:spPr>
          <a:xfrm>
            <a:off x="3761428" y="2908503"/>
            <a:ext cx="2169482" cy="369332"/>
          </a:xfrm>
          <a:prstGeom prst="rect">
            <a:avLst/>
          </a:prstGeom>
        </p:spPr>
        <p:txBody>
          <a:bodyPr wrap="square">
            <a:spAutoFit/>
          </a:bodyPr>
          <a:lstStyle/>
          <a:p>
            <a:r>
              <a:rPr lang="en-US" altLang="zh-CN" b="1" dirty="0">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ADDR(</a:t>
            </a:r>
            <a:r>
              <a:rPr lang="en-US" altLang="zh-CN" b="1" dirty="0" err="1">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r.symbol</a:t>
            </a:r>
            <a:r>
              <a:rPr lang="en-US" altLang="zh-CN" b="1" dirty="0">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zh-CN" altLang="en-US" b="1" dirty="0">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11" name="直接箭头连接符 10">
            <a:extLst>
              <a:ext uri="{FF2B5EF4-FFF2-40B4-BE49-F238E27FC236}">
                <a16:creationId xmlns:a16="http://schemas.microsoft.com/office/drawing/2014/main" id="{A5F5DC66-8105-4FA9-8BE5-4078464D94F6}"/>
              </a:ext>
            </a:extLst>
          </p:cNvPr>
          <p:cNvCxnSpPr>
            <a:cxnSpLocks/>
          </p:cNvCxnSpPr>
          <p:nvPr/>
        </p:nvCxnSpPr>
        <p:spPr>
          <a:xfrm flipH="1">
            <a:off x="2987824" y="3140968"/>
            <a:ext cx="773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D1156A52-3349-45F5-B893-8015A14DA59C}"/>
              </a:ext>
            </a:extLst>
          </p:cNvPr>
          <p:cNvCxnSpPr>
            <a:cxnSpLocks/>
          </p:cNvCxnSpPr>
          <p:nvPr/>
        </p:nvCxnSpPr>
        <p:spPr>
          <a:xfrm flipV="1">
            <a:off x="5004048" y="2416271"/>
            <a:ext cx="216024" cy="5806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44763611-951E-43CD-9246-7342D6753DC7}"/>
              </a:ext>
            </a:extLst>
          </p:cNvPr>
          <p:cNvSpPr/>
          <p:nvPr/>
        </p:nvSpPr>
        <p:spPr>
          <a:xfrm>
            <a:off x="1475428" y="5603780"/>
            <a:ext cx="4572000" cy="646331"/>
          </a:xfrm>
          <a:prstGeom prst="rect">
            <a:avLst/>
          </a:prstGeom>
        </p:spPr>
        <p:txBody>
          <a:bodyPr>
            <a:spAutoFit/>
          </a:bodyPr>
          <a:lstStyle/>
          <a:p>
            <a:pPr marL="457200" indent="-457200">
              <a:buFont typeface="+mj-lt"/>
              <a:buAutoNum type="arabicPeriod"/>
            </a:pPr>
            <a:r>
              <a:rPr lang="en-US" altLang="zh-CN" dirty="0">
                <a:latin typeface="Times New Roman" panose="02020603050405020304" pitchFamily="18" charset="0"/>
                <a:cs typeface="Times New Roman" panose="02020603050405020304" pitchFamily="18" charset="0"/>
              </a:rPr>
              <a:t>0000000000601018 &lt;array&gt;:</a:t>
            </a:r>
          </a:p>
          <a:p>
            <a:pPr marL="457200" indent="-457200">
              <a:buFont typeface="+mj-lt"/>
              <a:buAutoNum type="arabicPeriod"/>
            </a:pPr>
            <a:r>
              <a:rPr lang="en-US" altLang="zh-CN" dirty="0">
                <a:latin typeface="Times New Roman" panose="02020603050405020304" pitchFamily="18" charset="0"/>
                <a:cs typeface="Times New Roman" panose="02020603050405020304" pitchFamily="18" charset="0"/>
              </a:rPr>
              <a:t>   601018:	01 00 00 00 02 00 00 00 </a:t>
            </a:r>
          </a:p>
        </p:txBody>
      </p:sp>
      <p:sp>
        <p:nvSpPr>
          <p:cNvPr id="21" name="矩形 20">
            <a:extLst>
              <a:ext uri="{FF2B5EF4-FFF2-40B4-BE49-F238E27FC236}">
                <a16:creationId xmlns:a16="http://schemas.microsoft.com/office/drawing/2014/main" id="{CFC14C59-C163-4DC1-A7FC-37DF4ED99288}"/>
              </a:ext>
            </a:extLst>
          </p:cNvPr>
          <p:cNvSpPr/>
          <p:nvPr/>
        </p:nvSpPr>
        <p:spPr>
          <a:xfrm>
            <a:off x="2853487" y="2636065"/>
            <a:ext cx="1556836" cy="369332"/>
          </a:xfrm>
          <a:prstGeom prst="rect">
            <a:avLst/>
          </a:prstGeom>
        </p:spPr>
        <p:txBody>
          <a:bodyPr wrap="none">
            <a:spAutoFit/>
          </a:bodyPr>
          <a:lstStyle/>
          <a:p>
            <a:r>
              <a:rPr lang="en-US" altLang="zh-CN" b="1" dirty="0">
                <a:solidFill>
                  <a:srgbClr val="2F5EB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ADDR(array)</a:t>
            </a:r>
            <a:endParaRPr lang="zh-CN" altLang="en-US" dirty="0"/>
          </a:p>
        </p:txBody>
      </p:sp>
      <p:cxnSp>
        <p:nvCxnSpPr>
          <p:cNvPr id="22" name="直接箭头连接符 21">
            <a:extLst>
              <a:ext uri="{FF2B5EF4-FFF2-40B4-BE49-F238E27FC236}">
                <a16:creationId xmlns:a16="http://schemas.microsoft.com/office/drawing/2014/main" id="{B41D8633-B987-43BB-99F1-015204659340}"/>
              </a:ext>
            </a:extLst>
          </p:cNvPr>
          <p:cNvCxnSpPr>
            <a:cxnSpLocks/>
          </p:cNvCxnSpPr>
          <p:nvPr/>
        </p:nvCxnSpPr>
        <p:spPr>
          <a:xfrm flipH="1" flipV="1">
            <a:off x="3140118" y="2135388"/>
            <a:ext cx="621310" cy="647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50144F2C-046F-4658-9240-E39D5467C06A}"/>
              </a:ext>
            </a:extLst>
          </p:cNvPr>
          <p:cNvSpPr/>
          <p:nvPr/>
        </p:nvSpPr>
        <p:spPr>
          <a:xfrm>
            <a:off x="5724128" y="6271438"/>
            <a:ext cx="1994520" cy="369332"/>
          </a:xfrm>
          <a:prstGeom prst="rect">
            <a:avLst/>
          </a:prstGeom>
        </p:spPr>
        <p:txBody>
          <a:bodyPr wrap="none">
            <a:spAutoFit/>
          </a:bodyPr>
          <a:lstStyle/>
          <a:p>
            <a:r>
              <a:rPr lang="hu-HU" altLang="zh-CN" dirty="0">
                <a:solidFill>
                  <a:srgbClr val="2D961E"/>
                </a:solidFill>
                <a:latin typeface="Menlo-Regular"/>
              </a:rPr>
              <a:t>int</a:t>
            </a:r>
            <a:r>
              <a:rPr lang="hu-HU" altLang="zh-CN" dirty="0">
                <a:solidFill>
                  <a:srgbClr val="000000"/>
                </a:solidFill>
                <a:latin typeface="Menlo-Regular"/>
              </a:rPr>
              <a:t> </a:t>
            </a:r>
            <a:r>
              <a:rPr lang="hu-HU" altLang="zh-CN" dirty="0">
                <a:solidFill>
                  <a:srgbClr val="C1651C"/>
                </a:solidFill>
                <a:latin typeface="Menlo-Regular"/>
              </a:rPr>
              <a:t>array</a:t>
            </a:r>
            <a:r>
              <a:rPr lang="hu-HU" altLang="zh-CN" dirty="0">
                <a:solidFill>
                  <a:srgbClr val="000000"/>
                </a:solidFill>
                <a:latin typeface="Menlo-Regular"/>
              </a:rPr>
              <a:t>[2] = {1, 2};</a:t>
            </a:r>
          </a:p>
        </p:txBody>
      </p:sp>
      <p:cxnSp>
        <p:nvCxnSpPr>
          <p:cNvPr id="25" name="直接箭头连接符 24">
            <a:extLst>
              <a:ext uri="{FF2B5EF4-FFF2-40B4-BE49-F238E27FC236}">
                <a16:creationId xmlns:a16="http://schemas.microsoft.com/office/drawing/2014/main" id="{876E62E6-6E21-4486-AAEE-D05D6C903671}"/>
              </a:ext>
            </a:extLst>
          </p:cNvPr>
          <p:cNvCxnSpPr>
            <a:cxnSpLocks/>
          </p:cNvCxnSpPr>
          <p:nvPr/>
        </p:nvCxnSpPr>
        <p:spPr>
          <a:xfrm flipH="1" flipV="1">
            <a:off x="4572000" y="6250111"/>
            <a:ext cx="2737325" cy="1123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8869DD4E-9138-4E50-ADAD-3B1B9D8AE61E}"/>
              </a:ext>
            </a:extLst>
          </p:cNvPr>
          <p:cNvSpPr/>
          <p:nvPr/>
        </p:nvSpPr>
        <p:spPr>
          <a:xfrm>
            <a:off x="6679363" y="1124744"/>
            <a:ext cx="1776448" cy="369332"/>
          </a:xfrm>
          <a:prstGeom prst="rect">
            <a:avLst/>
          </a:prstGeom>
        </p:spPr>
        <p:txBody>
          <a:bodyPr wrap="none">
            <a:spAutoFit/>
          </a:bodyPr>
          <a:lstStyle/>
          <a:p>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重定位的</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.text</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节</a:t>
            </a:r>
          </a:p>
        </p:txBody>
      </p:sp>
      <p:sp>
        <p:nvSpPr>
          <p:cNvPr id="28" name="矩形 27">
            <a:extLst>
              <a:ext uri="{FF2B5EF4-FFF2-40B4-BE49-F238E27FC236}">
                <a16:creationId xmlns:a16="http://schemas.microsoft.com/office/drawing/2014/main" id="{51445494-38E6-405D-86E6-D9089AE69FBB}"/>
              </a:ext>
            </a:extLst>
          </p:cNvPr>
          <p:cNvSpPr/>
          <p:nvPr/>
        </p:nvSpPr>
        <p:spPr>
          <a:xfrm>
            <a:off x="6679770" y="5668243"/>
            <a:ext cx="1840568" cy="369332"/>
          </a:xfrm>
          <a:prstGeom prst="rect">
            <a:avLst/>
          </a:prstGeom>
        </p:spPr>
        <p:txBody>
          <a:bodyPr wrap="none">
            <a:spAutoFit/>
          </a:bodyPr>
          <a:lstStyle/>
          <a:p>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重定位的</a:t>
            </a:r>
            <a:r>
              <a:rPr lang="en-US" altLang="zh-CN"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.data</a:t>
            </a:r>
            <a:r>
              <a:rPr lang="zh-CN" altLang="en-US"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节</a:t>
            </a:r>
          </a:p>
        </p:txBody>
      </p:sp>
    </p:spTree>
    <p:extLst>
      <p:ext uri="{BB962C8B-B14F-4D97-AF65-F5344CB8AC3E}">
        <p14:creationId xmlns:p14="http://schemas.microsoft.com/office/powerpoint/2010/main" val="8729424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A52185-0FA4-419E-A84E-F3D18F59718F}"/>
              </a:ext>
            </a:extLst>
          </p:cNvPr>
          <p:cNvSpPr>
            <a:spLocks noGrp="1"/>
          </p:cNvSpPr>
          <p:nvPr>
            <p:ph type="title"/>
          </p:nvPr>
        </p:nvSpPr>
        <p:spPr/>
        <p:txBody>
          <a:bodyPr>
            <a:noAutofit/>
          </a:bodyPr>
          <a:lstStyle/>
          <a:p>
            <a:r>
              <a:rPr lang="zh-CN" altLang="en-US" sz="2400" dirty="0"/>
              <a:t>练习题</a:t>
            </a:r>
            <a:r>
              <a:rPr lang="en-US" altLang="zh-CN" sz="2400" dirty="0"/>
              <a:t>7.4</a:t>
            </a:r>
            <a:endParaRPr lang="zh-CN" altLang="en-US" sz="2400" dirty="0"/>
          </a:p>
        </p:txBody>
      </p:sp>
      <p:sp>
        <p:nvSpPr>
          <p:cNvPr id="4" name="灯片编号占位符 3">
            <a:extLst>
              <a:ext uri="{FF2B5EF4-FFF2-40B4-BE49-F238E27FC236}">
                <a16:creationId xmlns:a16="http://schemas.microsoft.com/office/drawing/2014/main" id="{575B82C1-4A20-4412-A857-B06FED102A57}"/>
              </a:ext>
            </a:extLst>
          </p:cNvPr>
          <p:cNvSpPr>
            <a:spLocks noGrp="1"/>
          </p:cNvSpPr>
          <p:nvPr>
            <p:ph type="sldNum" sz="quarter" idx="12"/>
          </p:nvPr>
        </p:nvSpPr>
        <p:spPr/>
        <p:txBody>
          <a:bodyPr/>
          <a:lstStyle/>
          <a:p>
            <a:fld id="{6D62327B-ED8D-4CFC-ADD0-A75FA5CBE281}" type="slidenum">
              <a:rPr lang="zh-CN" altLang="en-US" smtClean="0"/>
              <a:pPr/>
              <a:t>42</a:t>
            </a:fld>
            <a:endParaRPr lang="zh-CN" altLang="en-US" dirty="0"/>
          </a:p>
        </p:txBody>
      </p:sp>
      <p:sp>
        <p:nvSpPr>
          <p:cNvPr id="5" name="内容占位符 2">
            <a:extLst>
              <a:ext uri="{FF2B5EF4-FFF2-40B4-BE49-F238E27FC236}">
                <a16:creationId xmlns:a16="http://schemas.microsoft.com/office/drawing/2014/main" id="{5C4E9B25-0E85-4000-8B7A-37636B2DC5BD}"/>
              </a:ext>
            </a:extLst>
          </p:cNvPr>
          <p:cNvSpPr txBox="1">
            <a:spLocks/>
          </p:cNvSpPr>
          <p:nvPr/>
        </p:nvSpPr>
        <p:spPr>
          <a:xfrm>
            <a:off x="1007604" y="2564882"/>
            <a:ext cx="7128792" cy="2160240"/>
          </a:xfrm>
          <a:prstGeom prst="rect">
            <a:avLst/>
          </a:prstGeom>
        </p:spPr>
        <p:txBody>
          <a:bodyPr vert="horz" lIns="91440" tIns="45720" rIns="91440" bIns="45720" rtlCol="0">
            <a:normAutofit/>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457200" indent="-457200">
              <a:buFont typeface="+mj-lt"/>
              <a:buAutoNum type="arabicPeriod"/>
            </a:pPr>
            <a:r>
              <a:rPr lang="en-US" altLang="zh-CN" sz="1400" dirty="0"/>
              <a:t>00000000004004d0 &lt;main&gt;:</a:t>
            </a:r>
          </a:p>
          <a:p>
            <a:pPr marL="457200" indent="-457200">
              <a:buFont typeface="+mj-lt"/>
              <a:buAutoNum type="arabicPeriod"/>
            </a:pPr>
            <a:r>
              <a:rPr lang="en-US" altLang="zh-CN" sz="1400" dirty="0"/>
              <a:t>   4004d0:	48 83 </a:t>
            </a:r>
            <a:r>
              <a:rPr lang="en-US" altLang="zh-CN" sz="1400" dirty="0" err="1"/>
              <a:t>ec</a:t>
            </a:r>
            <a:r>
              <a:rPr lang="en-US" altLang="zh-CN" sz="1400" dirty="0"/>
              <a:t> 08                   	sub     $0x8,%rsp</a:t>
            </a:r>
          </a:p>
          <a:p>
            <a:pPr marL="457200" indent="-457200">
              <a:buFont typeface="+mj-lt"/>
              <a:buAutoNum type="arabicPeriod"/>
            </a:pPr>
            <a:r>
              <a:rPr lang="en-US" altLang="zh-CN" sz="1400" dirty="0"/>
              <a:t>   4004d4:	be 02 00 00 00       		mov    $0x2,%esi</a:t>
            </a:r>
          </a:p>
          <a:p>
            <a:pPr marL="457200" indent="-457200">
              <a:buFont typeface="+mj-lt"/>
              <a:buAutoNum type="arabicPeriod"/>
            </a:pPr>
            <a:r>
              <a:rPr lang="en-US" altLang="zh-CN" sz="1400" dirty="0"/>
              <a:t>   4004d9:	bf 18 10 60 00       		mov    $0x0,%edi        </a:t>
            </a:r>
            <a:r>
              <a:rPr lang="en-US" altLang="zh-CN" sz="1400" i="1" dirty="0">
                <a:solidFill>
                  <a:srgbClr val="2F5EB0"/>
                </a:solidFill>
              </a:rPr>
              <a:t>%</a:t>
            </a:r>
            <a:r>
              <a:rPr lang="en-US" altLang="zh-CN" sz="1400" i="1" dirty="0" err="1">
                <a:solidFill>
                  <a:srgbClr val="2F5EB0"/>
                </a:solidFill>
              </a:rPr>
              <a:t>edi</a:t>
            </a:r>
            <a:r>
              <a:rPr lang="en-US" altLang="zh-CN" sz="1400" i="1" dirty="0">
                <a:solidFill>
                  <a:srgbClr val="2F5EB0"/>
                </a:solidFill>
              </a:rPr>
              <a:t>=$array</a:t>
            </a:r>
          </a:p>
          <a:p>
            <a:pPr marL="457200" indent="-457200">
              <a:buFont typeface="+mj-lt"/>
              <a:buAutoNum type="arabicPeriod"/>
            </a:pPr>
            <a:r>
              <a:rPr lang="en-US" altLang="zh-CN" sz="1400" dirty="0"/>
              <a:t>   4004de:	e8 05 00 00 00       		</a:t>
            </a:r>
            <a:r>
              <a:rPr lang="en-US" altLang="zh-CN" sz="1400" dirty="0" err="1"/>
              <a:t>callq</a:t>
            </a:r>
            <a:r>
              <a:rPr lang="en-US" altLang="zh-CN" sz="1400" dirty="0"/>
              <a:t>    4004e8  &lt;sum&gt;</a:t>
            </a:r>
            <a:endParaRPr lang="en-US" altLang="zh-CN" sz="1400" i="1" dirty="0">
              <a:solidFill>
                <a:srgbClr val="2F5EB0"/>
              </a:solidFill>
            </a:endParaRPr>
          </a:p>
          <a:p>
            <a:pPr marL="457200" indent="-457200">
              <a:buFont typeface="+mj-lt"/>
              <a:buAutoNum type="arabicPeriod"/>
            </a:pPr>
            <a:r>
              <a:rPr lang="en-US" altLang="zh-CN" sz="1400" dirty="0"/>
              <a:t>   4004e3:	48 83 c4 08       	              	add     $0x8,%rsp</a:t>
            </a:r>
          </a:p>
          <a:p>
            <a:pPr marL="457200" indent="-457200">
              <a:buFont typeface="+mj-lt"/>
              <a:buAutoNum type="arabicPeriod"/>
            </a:pPr>
            <a:r>
              <a:rPr lang="en-US" altLang="zh-CN" sz="1400" dirty="0"/>
              <a:t>   4004e7:	c3			</a:t>
            </a:r>
            <a:r>
              <a:rPr lang="en-US" altLang="zh-CN" sz="1400" dirty="0" err="1"/>
              <a:t>retq</a:t>
            </a:r>
            <a:endParaRPr lang="en-US" altLang="zh-CN" sz="1400" dirty="0"/>
          </a:p>
          <a:p>
            <a:pPr marL="457200" indent="-457200">
              <a:buFont typeface="+mj-lt"/>
              <a:buAutoNum type="arabicPeriod"/>
            </a:pPr>
            <a:endParaRPr lang="zh-CN" altLang="en-US" sz="1400" dirty="0"/>
          </a:p>
        </p:txBody>
      </p:sp>
      <p:sp>
        <p:nvSpPr>
          <p:cNvPr id="17" name="内容占位符 2">
            <a:extLst>
              <a:ext uri="{FF2B5EF4-FFF2-40B4-BE49-F238E27FC236}">
                <a16:creationId xmlns:a16="http://schemas.microsoft.com/office/drawing/2014/main" id="{CD86E336-701F-4D68-92F7-13D82E237BB7}"/>
              </a:ext>
            </a:extLst>
          </p:cNvPr>
          <p:cNvSpPr>
            <a:spLocks noGrp="1"/>
          </p:cNvSpPr>
          <p:nvPr>
            <p:ph idx="1"/>
          </p:nvPr>
        </p:nvSpPr>
        <p:spPr>
          <a:xfrm>
            <a:off x="457200" y="837034"/>
            <a:ext cx="8229600" cy="1727848"/>
          </a:xfrm>
        </p:spPr>
        <p:txBody>
          <a:bodyPr/>
          <a:lstStyle/>
          <a:p>
            <a:r>
              <a:rPr lang="en-US" altLang="zh-CN" dirty="0"/>
              <a:t>A.</a:t>
            </a:r>
            <a:r>
              <a:rPr lang="zh-CN" altLang="en-US" dirty="0"/>
              <a:t>第</a:t>
            </a:r>
            <a:r>
              <a:rPr lang="en-US" altLang="zh-CN" dirty="0"/>
              <a:t>5</a:t>
            </a:r>
            <a:r>
              <a:rPr lang="zh-CN" altLang="en-US" dirty="0"/>
              <a:t>行中对</a:t>
            </a:r>
            <a:r>
              <a:rPr lang="en-US" altLang="zh-CN" dirty="0"/>
              <a:t>sum</a:t>
            </a:r>
            <a:r>
              <a:rPr lang="zh-CN" altLang="en-US" dirty="0"/>
              <a:t>的重定位引用的十六进制地址是多少？</a:t>
            </a:r>
            <a:endParaRPr lang="en-US" altLang="zh-CN" dirty="0"/>
          </a:p>
          <a:p>
            <a:pPr lvl="1"/>
            <a:r>
              <a:rPr lang="zh-CN" altLang="en-US" dirty="0"/>
              <a:t>地址是：</a:t>
            </a:r>
            <a:r>
              <a:rPr lang="en-US" altLang="zh-CN" dirty="0"/>
              <a:t>0x4004df(</a:t>
            </a:r>
            <a:r>
              <a:rPr lang="en-US" altLang="zh-CN" dirty="0">
                <a:solidFill>
                  <a:srgbClr val="FF0000"/>
                </a:solidFill>
              </a:rPr>
              <a:t>0x4004de+1</a:t>
            </a:r>
            <a:r>
              <a:rPr lang="en-US" altLang="zh-CN" dirty="0"/>
              <a:t>)</a:t>
            </a:r>
          </a:p>
          <a:p>
            <a:r>
              <a:rPr lang="en-US" altLang="zh-CN" dirty="0"/>
              <a:t>B.</a:t>
            </a:r>
            <a:r>
              <a:rPr lang="zh-CN" altLang="en-US" dirty="0"/>
              <a:t>第</a:t>
            </a:r>
            <a:r>
              <a:rPr lang="en-US" altLang="zh-CN" dirty="0"/>
              <a:t>5</a:t>
            </a:r>
            <a:r>
              <a:rPr lang="zh-CN" altLang="en-US" dirty="0"/>
              <a:t>行中对</a:t>
            </a:r>
            <a:r>
              <a:rPr lang="en-US" altLang="zh-CN" dirty="0"/>
              <a:t>sum</a:t>
            </a:r>
            <a:r>
              <a:rPr lang="zh-CN" altLang="en-US" dirty="0"/>
              <a:t>的重定位引用的十六进制值是多少？</a:t>
            </a:r>
            <a:endParaRPr lang="en-US" altLang="zh-CN" dirty="0"/>
          </a:p>
          <a:p>
            <a:pPr lvl="1"/>
            <a:r>
              <a:rPr lang="zh-CN" altLang="en-US" dirty="0"/>
              <a:t>值是</a:t>
            </a:r>
            <a:r>
              <a:rPr lang="en-US" altLang="zh-CN" dirty="0"/>
              <a:t>0x5</a:t>
            </a:r>
            <a:endParaRPr lang="zh-CN" altLang="en-US" dirty="0"/>
          </a:p>
        </p:txBody>
      </p:sp>
    </p:spTree>
    <p:extLst>
      <p:ext uri="{BB962C8B-B14F-4D97-AF65-F5344CB8AC3E}">
        <p14:creationId xmlns:p14="http://schemas.microsoft.com/office/powerpoint/2010/main" val="26208107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E427E4-C349-4B11-8EBC-8ECAB081DFEC}"/>
              </a:ext>
            </a:extLst>
          </p:cNvPr>
          <p:cNvSpPr>
            <a:spLocks noGrp="1"/>
          </p:cNvSpPr>
          <p:nvPr>
            <p:ph type="title"/>
          </p:nvPr>
        </p:nvSpPr>
        <p:spPr/>
        <p:txBody>
          <a:bodyPr>
            <a:normAutofit fontScale="90000"/>
          </a:bodyPr>
          <a:lstStyle/>
          <a:p>
            <a:r>
              <a:rPr lang="zh-CN" altLang="en-US" dirty="0"/>
              <a:t>练习题</a:t>
            </a:r>
            <a:r>
              <a:rPr lang="en-US" altLang="zh-CN" dirty="0"/>
              <a:t>7.5</a:t>
            </a:r>
            <a:endParaRPr lang="zh-CN" altLang="en-US" dirty="0"/>
          </a:p>
        </p:txBody>
      </p:sp>
      <p:sp>
        <p:nvSpPr>
          <p:cNvPr id="3" name="内容占位符 2">
            <a:extLst>
              <a:ext uri="{FF2B5EF4-FFF2-40B4-BE49-F238E27FC236}">
                <a16:creationId xmlns:a16="http://schemas.microsoft.com/office/drawing/2014/main" id="{7F93CE41-8597-407D-863D-3C3488C00ADE}"/>
              </a:ext>
            </a:extLst>
          </p:cNvPr>
          <p:cNvSpPr>
            <a:spLocks noGrp="1"/>
          </p:cNvSpPr>
          <p:nvPr>
            <p:ph idx="1"/>
          </p:nvPr>
        </p:nvSpPr>
        <p:spPr/>
        <p:txBody>
          <a:bodyPr>
            <a:normAutofit/>
          </a:bodyPr>
          <a:lstStyle/>
          <a:p>
            <a:r>
              <a:rPr lang="zh-CN" altLang="en-US" sz="1800" dirty="0"/>
              <a:t>考虑目标文件</a:t>
            </a:r>
            <a:r>
              <a:rPr lang="en-US" altLang="zh-CN" sz="1800" dirty="0" err="1"/>
              <a:t>m.o</a:t>
            </a:r>
            <a:r>
              <a:rPr lang="zh-CN" altLang="en-US" sz="1800" dirty="0"/>
              <a:t>中对</a:t>
            </a:r>
            <a:r>
              <a:rPr lang="en-US" altLang="zh-CN" sz="1800" dirty="0"/>
              <a:t>swap</a:t>
            </a:r>
            <a:r>
              <a:rPr lang="zh-CN" altLang="en-US" sz="1800" dirty="0"/>
              <a:t>函数的调用</a:t>
            </a:r>
            <a:endParaRPr lang="en-US" altLang="zh-CN" sz="1800" dirty="0"/>
          </a:p>
          <a:p>
            <a:r>
              <a:rPr lang="en-US" altLang="zh-CN" sz="1800" dirty="0"/>
              <a:t>9</a:t>
            </a:r>
            <a:r>
              <a:rPr lang="zh-CN" altLang="en-US" sz="1800" dirty="0"/>
              <a:t>：</a:t>
            </a:r>
            <a:r>
              <a:rPr lang="en-US" altLang="zh-CN" sz="1800" dirty="0"/>
              <a:t>e8 00 00 00 00      </a:t>
            </a:r>
            <a:r>
              <a:rPr lang="en-US" altLang="zh-CN" sz="1800" dirty="0" err="1"/>
              <a:t>callq</a:t>
            </a:r>
            <a:r>
              <a:rPr lang="en-US" altLang="zh-CN" sz="1800" dirty="0"/>
              <a:t>  e  &lt;main+0xe&gt;  swap</a:t>
            </a:r>
          </a:p>
          <a:p>
            <a:r>
              <a:rPr lang="zh-CN" altLang="en-US" sz="1800" dirty="0"/>
              <a:t>它的重定位条目如下：</a:t>
            </a:r>
            <a:endParaRPr lang="en-US" altLang="zh-CN" sz="1800" dirty="0"/>
          </a:p>
          <a:p>
            <a:pPr lvl="1"/>
            <a:r>
              <a:rPr lang="en-US" altLang="zh-CN" sz="1800" dirty="0" err="1"/>
              <a:t>r.offset</a:t>
            </a:r>
            <a:r>
              <a:rPr lang="en-US" altLang="zh-CN" sz="1800" dirty="0"/>
              <a:t>=0xa                      </a:t>
            </a:r>
            <a:r>
              <a:rPr lang="en-US" altLang="zh-CN" sz="1800" dirty="0" err="1"/>
              <a:t>r.symbol</a:t>
            </a:r>
            <a:r>
              <a:rPr lang="en-US" altLang="zh-CN" sz="1800" dirty="0"/>
              <a:t>=swap</a:t>
            </a:r>
          </a:p>
          <a:p>
            <a:pPr lvl="1"/>
            <a:r>
              <a:rPr lang="en-US" altLang="zh-CN" sz="1800" dirty="0" err="1"/>
              <a:t>r.type</a:t>
            </a:r>
            <a:r>
              <a:rPr lang="en-US" altLang="zh-CN" sz="1800" dirty="0"/>
              <a:t>=R_X86_64_PC32  </a:t>
            </a:r>
            <a:r>
              <a:rPr lang="en-US" altLang="zh-CN" sz="1800" dirty="0" err="1"/>
              <a:t>r.addend</a:t>
            </a:r>
            <a:r>
              <a:rPr lang="en-US" altLang="zh-CN" sz="1800" dirty="0"/>
              <a:t>=-4</a:t>
            </a:r>
          </a:p>
          <a:p>
            <a:r>
              <a:rPr lang="zh-CN" altLang="en-US" sz="1800" dirty="0"/>
              <a:t>假设链接器将</a:t>
            </a:r>
            <a:r>
              <a:rPr lang="en-US" altLang="zh-CN" sz="1800" dirty="0" err="1"/>
              <a:t>m.o</a:t>
            </a:r>
            <a:r>
              <a:rPr lang="zh-CN" altLang="en-US" sz="1800" dirty="0"/>
              <a:t>中的</a:t>
            </a:r>
            <a:r>
              <a:rPr lang="en-US" altLang="zh-CN" sz="1800" dirty="0"/>
              <a:t>.text</a:t>
            </a:r>
            <a:r>
              <a:rPr lang="zh-CN" altLang="en-US" sz="1800" dirty="0"/>
              <a:t>重定位到地址</a:t>
            </a:r>
            <a:r>
              <a:rPr lang="en-US" altLang="zh-CN" sz="1800" dirty="0"/>
              <a:t>0x4004d0</a:t>
            </a:r>
            <a:r>
              <a:rPr lang="zh-CN" altLang="en-US" sz="1800" dirty="0"/>
              <a:t>，将</a:t>
            </a:r>
            <a:br>
              <a:rPr lang="en-US" altLang="zh-CN" sz="1800" dirty="0"/>
            </a:br>
            <a:r>
              <a:rPr lang="en-US" altLang="zh-CN" sz="1800" dirty="0"/>
              <a:t>swap</a:t>
            </a:r>
            <a:r>
              <a:rPr lang="zh-CN" altLang="en-US" sz="1800" dirty="0"/>
              <a:t>重定位到地址</a:t>
            </a:r>
            <a:r>
              <a:rPr lang="en-US" altLang="zh-CN" sz="1800" dirty="0"/>
              <a:t>0x4004e8</a:t>
            </a:r>
            <a:r>
              <a:rPr lang="zh-CN" altLang="en-US" sz="1800" dirty="0"/>
              <a:t>，</a:t>
            </a:r>
            <a:r>
              <a:rPr lang="en-US" altLang="zh-CN" sz="1800" dirty="0" err="1"/>
              <a:t>callq</a:t>
            </a:r>
            <a:r>
              <a:rPr lang="zh-CN" altLang="en-US" sz="1800" dirty="0"/>
              <a:t>指令中对</a:t>
            </a:r>
            <a:r>
              <a:rPr lang="en-US" altLang="zh-CN" sz="1800" dirty="0"/>
              <a:t>swap</a:t>
            </a:r>
            <a:r>
              <a:rPr lang="zh-CN" altLang="en-US" sz="1800" dirty="0"/>
              <a:t>重定位</a:t>
            </a:r>
            <a:br>
              <a:rPr lang="en-US" altLang="zh-CN" sz="1800" dirty="0"/>
            </a:br>
            <a:r>
              <a:rPr lang="zh-CN" altLang="en-US" sz="1800" dirty="0"/>
              <a:t>引用的值是什么？</a:t>
            </a:r>
            <a:endParaRPr lang="en-US" altLang="zh-CN" sz="1800" dirty="0"/>
          </a:p>
          <a:p>
            <a:pPr lvl="1"/>
            <a:r>
              <a:rPr lang="en-US" altLang="zh-CN" sz="1400" dirty="0"/>
              <a:t>ADDR(s)=ADDR(.text)=04004d0</a:t>
            </a:r>
          </a:p>
          <a:p>
            <a:pPr lvl="1"/>
            <a:r>
              <a:rPr lang="en-US" altLang="zh-CN" sz="1400" dirty="0"/>
              <a:t>ADDR(</a:t>
            </a:r>
            <a:r>
              <a:rPr lang="en-US" altLang="zh-CN" sz="1400" dirty="0" err="1"/>
              <a:t>r.symbol</a:t>
            </a:r>
            <a:r>
              <a:rPr lang="en-US" altLang="zh-CN" sz="1400" dirty="0"/>
              <a:t>)=ADDR(swap)=0x4004e8</a:t>
            </a:r>
          </a:p>
          <a:p>
            <a:pPr lvl="1"/>
            <a:r>
              <a:rPr lang="zh-CN" altLang="en-US" sz="1400" dirty="0"/>
              <a:t>计算引用的运行时地址：</a:t>
            </a:r>
            <a:endParaRPr lang="en-US" altLang="zh-CN" sz="1400" dirty="0"/>
          </a:p>
          <a:p>
            <a:pPr lvl="2"/>
            <a:r>
              <a:rPr lang="en-US" altLang="zh-CN" sz="1050" dirty="0" err="1"/>
              <a:t>refaddr</a:t>
            </a:r>
            <a:r>
              <a:rPr lang="en-US" altLang="zh-CN" sz="1050" dirty="0"/>
              <a:t>=ADDR(s)+</a:t>
            </a:r>
            <a:r>
              <a:rPr lang="en-US" altLang="zh-CN" sz="1050" dirty="0" err="1"/>
              <a:t>r.offset</a:t>
            </a:r>
            <a:r>
              <a:rPr lang="en-US" altLang="zh-CN" sz="1050" dirty="0"/>
              <a:t>= 0x04004d0+0xa=0x04004da</a:t>
            </a:r>
          </a:p>
          <a:p>
            <a:pPr lvl="1"/>
            <a:r>
              <a:rPr lang="zh-CN" altLang="en-US" sz="1400" dirty="0"/>
              <a:t>修改此引用：</a:t>
            </a:r>
            <a:endParaRPr lang="en-US" altLang="zh-CN" sz="1400" dirty="0"/>
          </a:p>
          <a:p>
            <a:pPr lvl="2"/>
            <a:r>
              <a:rPr lang="en-US" altLang="zh-CN" sz="1050" dirty="0"/>
              <a:t>*</a:t>
            </a:r>
            <a:r>
              <a:rPr lang="en-US" altLang="zh-CN" sz="1050" dirty="0" err="1"/>
              <a:t>refptr</a:t>
            </a:r>
            <a:r>
              <a:rPr lang="en-US" altLang="zh-CN" sz="1050" dirty="0"/>
              <a:t>=(</a:t>
            </a:r>
            <a:r>
              <a:rPr lang="en-US" altLang="zh-CN" sz="1000" dirty="0"/>
              <a:t>unsigned) (ADDR(</a:t>
            </a:r>
            <a:r>
              <a:rPr lang="en-US" altLang="zh-CN" sz="1000" dirty="0" err="1"/>
              <a:t>r.symbol</a:t>
            </a:r>
            <a:r>
              <a:rPr lang="en-US" altLang="zh-CN" sz="1000" dirty="0"/>
              <a:t>)+</a:t>
            </a:r>
            <a:r>
              <a:rPr lang="en-US" altLang="zh-CN" sz="1000" dirty="0" err="1"/>
              <a:t>r.addend-refaddr</a:t>
            </a:r>
            <a:endParaRPr lang="en-US" altLang="zh-CN" sz="1000" dirty="0"/>
          </a:p>
          <a:p>
            <a:pPr lvl="2"/>
            <a:r>
              <a:rPr lang="en-US" altLang="zh-CN" sz="1000" dirty="0"/>
              <a:t>                =(unsigned) (0x4004e8+(-4)- 0x04004da)=(unsigned) (0xa)</a:t>
            </a:r>
          </a:p>
          <a:p>
            <a:pPr lvl="1"/>
            <a:r>
              <a:rPr lang="zh-CN" altLang="en-US" sz="1299" dirty="0"/>
              <a:t>得到可执行目标文件中，对</a:t>
            </a:r>
            <a:r>
              <a:rPr lang="en-US" altLang="zh-CN" sz="1299" dirty="0"/>
              <a:t>swap</a:t>
            </a:r>
            <a:r>
              <a:rPr lang="zh-CN" altLang="en-US" sz="1299" dirty="0"/>
              <a:t>的</a:t>
            </a:r>
            <a:r>
              <a:rPr lang="en-US" altLang="zh-CN" sz="1299" dirty="0"/>
              <a:t>PC</a:t>
            </a:r>
            <a:r>
              <a:rPr lang="zh-CN" altLang="en-US" sz="1299" dirty="0"/>
              <a:t>相对引用的值为</a:t>
            </a:r>
            <a:r>
              <a:rPr lang="en-US" altLang="zh-CN" sz="1299" dirty="0"/>
              <a:t>0xa</a:t>
            </a:r>
            <a:r>
              <a:rPr lang="zh-CN" altLang="en-US" sz="1299" dirty="0"/>
              <a:t>：</a:t>
            </a:r>
            <a:endParaRPr lang="en-US" altLang="zh-CN" sz="1299" dirty="0"/>
          </a:p>
          <a:p>
            <a:pPr lvl="1"/>
            <a:r>
              <a:rPr lang="en-US" altLang="zh-CN" sz="1299" dirty="0"/>
              <a:t>4004d9:  e8 0a 00 00 00      </a:t>
            </a:r>
            <a:r>
              <a:rPr lang="en-US" altLang="zh-CN" sz="1299" dirty="0" err="1"/>
              <a:t>callq</a:t>
            </a:r>
            <a:r>
              <a:rPr lang="en-US" altLang="zh-CN" sz="1299" dirty="0"/>
              <a:t>   4004e8  &lt;swap&gt;</a:t>
            </a:r>
          </a:p>
          <a:p>
            <a:endParaRPr lang="zh-CN" altLang="en-US" sz="1800" dirty="0"/>
          </a:p>
        </p:txBody>
      </p:sp>
      <p:sp>
        <p:nvSpPr>
          <p:cNvPr id="4" name="灯片编号占位符 3">
            <a:extLst>
              <a:ext uri="{FF2B5EF4-FFF2-40B4-BE49-F238E27FC236}">
                <a16:creationId xmlns:a16="http://schemas.microsoft.com/office/drawing/2014/main" id="{85452144-AB89-49A9-B203-EBF358BFFF3C}"/>
              </a:ext>
            </a:extLst>
          </p:cNvPr>
          <p:cNvSpPr>
            <a:spLocks noGrp="1"/>
          </p:cNvSpPr>
          <p:nvPr>
            <p:ph type="sldNum" sz="quarter" idx="12"/>
          </p:nvPr>
        </p:nvSpPr>
        <p:spPr/>
        <p:txBody>
          <a:bodyPr/>
          <a:lstStyle/>
          <a:p>
            <a:fld id="{6D62327B-ED8D-4CFC-ADD0-A75FA5CBE281}" type="slidenum">
              <a:rPr lang="zh-CN" altLang="en-US" smtClean="0"/>
              <a:pPr/>
              <a:t>43</a:t>
            </a:fld>
            <a:endParaRPr lang="zh-CN" altLang="en-US" dirty="0"/>
          </a:p>
        </p:txBody>
      </p:sp>
      <p:sp>
        <p:nvSpPr>
          <p:cNvPr id="5" name="Rectangle 3">
            <a:extLst>
              <a:ext uri="{FF2B5EF4-FFF2-40B4-BE49-F238E27FC236}">
                <a16:creationId xmlns:a16="http://schemas.microsoft.com/office/drawing/2014/main" id="{63FB98D6-F381-43FD-8F30-49D6DAB56304}"/>
              </a:ext>
            </a:extLst>
          </p:cNvPr>
          <p:cNvSpPr>
            <a:spLocks noChangeArrowheads="1"/>
          </p:cNvSpPr>
          <p:nvPr/>
        </p:nvSpPr>
        <p:spPr bwMode="auto">
          <a:xfrm>
            <a:off x="6323892" y="1889844"/>
            <a:ext cx="2568278" cy="181588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400" dirty="0">
                <a:solidFill>
                  <a:schemeClr val="tx1"/>
                </a:solidFill>
                <a:latin typeface="Menlo-Regular"/>
              </a:rPr>
              <a:t>Void swap</a:t>
            </a:r>
            <a:r>
              <a:rPr lang="en-US" sz="1400" dirty="0">
                <a:solidFill>
                  <a:schemeClr val="tx1"/>
                </a:solidFill>
                <a:latin typeface="Menlo-Regular"/>
              </a:rPr>
              <a:t>();</a:t>
            </a:r>
          </a:p>
          <a:p>
            <a:r>
              <a:rPr lang="en-US" sz="1400" dirty="0">
                <a:solidFill>
                  <a:schemeClr val="tx1"/>
                </a:solidFill>
                <a:latin typeface="Menlo-Regular"/>
              </a:rPr>
              <a:t>int </a:t>
            </a:r>
            <a:r>
              <a:rPr lang="en-US" sz="1400" dirty="0" err="1">
                <a:solidFill>
                  <a:schemeClr val="tx1"/>
                </a:solidFill>
                <a:latin typeface="Menlo-Regular"/>
              </a:rPr>
              <a:t>buf</a:t>
            </a:r>
            <a:r>
              <a:rPr lang="en-US" sz="1400" dirty="0">
                <a:solidFill>
                  <a:schemeClr val="tx1"/>
                </a:solidFill>
                <a:latin typeface="Menlo-Regular"/>
              </a:rPr>
              <a:t>[2]={1,2};</a:t>
            </a:r>
          </a:p>
          <a:p>
            <a:r>
              <a:rPr lang="en-US" sz="1400" dirty="0">
                <a:solidFill>
                  <a:schemeClr val="tx1"/>
                </a:solidFill>
                <a:latin typeface="Menlo-Regular"/>
              </a:rPr>
              <a:t>int main()</a:t>
            </a:r>
          </a:p>
          <a:p>
            <a:r>
              <a:rPr lang="en-US" sz="1400" dirty="0">
                <a:solidFill>
                  <a:schemeClr val="tx1"/>
                </a:solidFill>
                <a:latin typeface="Menlo-Regular"/>
              </a:rPr>
              <a:t>{</a:t>
            </a:r>
          </a:p>
          <a:p>
            <a:r>
              <a:rPr lang="en-US" sz="1400" dirty="0">
                <a:solidFill>
                  <a:schemeClr val="tx1"/>
                </a:solidFill>
                <a:latin typeface="Menlo-Regular"/>
              </a:rPr>
              <a:t>	swap();</a:t>
            </a:r>
          </a:p>
          <a:p>
            <a:r>
              <a:rPr lang="en-US" sz="1400" dirty="0">
                <a:solidFill>
                  <a:schemeClr val="tx1"/>
                </a:solidFill>
                <a:latin typeface="Menlo-Regular"/>
              </a:rPr>
              <a:t>	return 0;</a:t>
            </a:r>
          </a:p>
          <a:p>
            <a:r>
              <a:rPr lang="en-US" sz="1400" dirty="0">
                <a:solidFill>
                  <a:schemeClr val="tx1"/>
                </a:solidFill>
                <a:latin typeface="Menlo-Regular"/>
              </a:rPr>
              <a:t>}</a:t>
            </a:r>
          </a:p>
          <a:p>
            <a:r>
              <a:rPr lang="en-US" sz="1400" dirty="0">
                <a:solidFill>
                  <a:schemeClr val="tx1"/>
                </a:solidFill>
                <a:latin typeface="Menlo-Regular"/>
                <a:cs typeface="Courier New"/>
              </a:rPr>
              <a:t>//</a:t>
            </a:r>
            <a:r>
              <a:rPr lang="en-US" sz="1400" dirty="0" err="1">
                <a:solidFill>
                  <a:schemeClr val="tx1"/>
                </a:solidFill>
                <a:latin typeface="Menlo-Regular"/>
                <a:cs typeface="Courier New"/>
              </a:rPr>
              <a:t>m.c</a:t>
            </a:r>
            <a:endParaRPr lang="en-US" sz="1400" dirty="0">
              <a:solidFill>
                <a:schemeClr val="tx1"/>
              </a:solidFill>
              <a:latin typeface="Courier New"/>
              <a:cs typeface="Courier New"/>
            </a:endParaRPr>
          </a:p>
        </p:txBody>
      </p:sp>
      <p:sp>
        <p:nvSpPr>
          <p:cNvPr id="6" name="Rectangle 6">
            <a:extLst>
              <a:ext uri="{FF2B5EF4-FFF2-40B4-BE49-F238E27FC236}">
                <a16:creationId xmlns:a16="http://schemas.microsoft.com/office/drawing/2014/main" id="{9E26D31D-A4BB-4BFB-B850-AC4994B12D2C}"/>
              </a:ext>
            </a:extLst>
          </p:cNvPr>
          <p:cNvSpPr>
            <a:spLocks noChangeArrowheads="1"/>
          </p:cNvSpPr>
          <p:nvPr/>
        </p:nvSpPr>
        <p:spPr bwMode="auto">
          <a:xfrm>
            <a:off x="5796136" y="3789040"/>
            <a:ext cx="3096034" cy="2677656"/>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nchor="ctr">
            <a:prstTxWarp prst="textNoShape">
              <a:avLst/>
            </a:prstTxWarp>
            <a:spAutoFit/>
          </a:bodyPr>
          <a:lstStyle/>
          <a:p>
            <a:r>
              <a:rPr lang="en-US" sz="1400" dirty="0">
                <a:solidFill>
                  <a:srgbClr val="2D961E"/>
                </a:solidFill>
                <a:latin typeface="Menlo-Regular"/>
              </a:rPr>
              <a:t>Extern int </a:t>
            </a:r>
            <a:r>
              <a:rPr lang="en-US" sz="1400" dirty="0" err="1">
                <a:solidFill>
                  <a:srgbClr val="2D961E"/>
                </a:solidFill>
                <a:latin typeface="Menlo-Regular"/>
              </a:rPr>
              <a:t>buf</a:t>
            </a:r>
            <a:r>
              <a:rPr lang="en-US" sz="1400" dirty="0">
                <a:solidFill>
                  <a:srgbClr val="2D961E"/>
                </a:solidFill>
                <a:latin typeface="Menlo-Regular"/>
              </a:rPr>
              <a:t>[];</a:t>
            </a:r>
          </a:p>
          <a:p>
            <a:r>
              <a:rPr lang="en-US" sz="1400" dirty="0">
                <a:solidFill>
                  <a:srgbClr val="2D961E"/>
                </a:solidFill>
                <a:latin typeface="Menlo-Regular"/>
              </a:rPr>
              <a:t>Int *bufp0=&amp;</a:t>
            </a:r>
            <a:r>
              <a:rPr lang="en-US" sz="1400" dirty="0" err="1">
                <a:solidFill>
                  <a:srgbClr val="2D961E"/>
                </a:solidFill>
                <a:latin typeface="Menlo-Regular"/>
              </a:rPr>
              <a:t>buf</a:t>
            </a:r>
            <a:r>
              <a:rPr lang="en-US" sz="1400" dirty="0">
                <a:solidFill>
                  <a:srgbClr val="2D961E"/>
                </a:solidFill>
                <a:latin typeface="Menlo-Regular"/>
              </a:rPr>
              <a:t>[0];</a:t>
            </a:r>
          </a:p>
          <a:p>
            <a:r>
              <a:rPr lang="en-US" sz="1400" dirty="0">
                <a:solidFill>
                  <a:srgbClr val="2D961E"/>
                </a:solidFill>
                <a:latin typeface="Menlo-Regular"/>
              </a:rPr>
              <a:t>Int *bufp1;</a:t>
            </a:r>
          </a:p>
          <a:p>
            <a:r>
              <a:rPr lang="en-US" sz="1400" dirty="0">
                <a:solidFill>
                  <a:srgbClr val="2D961E"/>
                </a:solidFill>
                <a:latin typeface="Menlo-Regular"/>
              </a:rPr>
              <a:t>Void swap()</a:t>
            </a:r>
          </a:p>
          <a:p>
            <a:r>
              <a:rPr lang="en-US" sz="1400" dirty="0">
                <a:solidFill>
                  <a:srgbClr val="2D961E"/>
                </a:solidFill>
                <a:latin typeface="Menlo-Regular"/>
              </a:rPr>
              <a:t>{</a:t>
            </a:r>
          </a:p>
          <a:p>
            <a:r>
              <a:rPr lang="en-US" sz="1400" dirty="0">
                <a:solidFill>
                  <a:srgbClr val="2D961E"/>
                </a:solidFill>
                <a:latin typeface="Menlo-Regular"/>
              </a:rPr>
              <a:t>	int temp;</a:t>
            </a:r>
          </a:p>
          <a:p>
            <a:r>
              <a:rPr lang="en-US" sz="1400" dirty="0">
                <a:solidFill>
                  <a:srgbClr val="2D961E"/>
                </a:solidFill>
                <a:latin typeface="Menlo-Regular"/>
              </a:rPr>
              <a:t>	bufp1=&amp;</a:t>
            </a:r>
            <a:r>
              <a:rPr lang="en-US" sz="1400" dirty="0" err="1">
                <a:solidFill>
                  <a:srgbClr val="2D961E"/>
                </a:solidFill>
                <a:latin typeface="Menlo-Regular"/>
              </a:rPr>
              <a:t>buf</a:t>
            </a:r>
            <a:r>
              <a:rPr lang="en-US" sz="1400" dirty="0">
                <a:solidFill>
                  <a:srgbClr val="2D961E"/>
                </a:solidFill>
                <a:latin typeface="Menlo-Regular"/>
              </a:rPr>
              <a:t>[1];</a:t>
            </a:r>
          </a:p>
          <a:p>
            <a:r>
              <a:rPr lang="en-US" sz="1400" dirty="0">
                <a:solidFill>
                  <a:srgbClr val="2D961E"/>
                </a:solidFill>
                <a:latin typeface="Menlo-Regular"/>
              </a:rPr>
              <a:t>	temp=*bufp0;</a:t>
            </a:r>
          </a:p>
          <a:p>
            <a:r>
              <a:rPr lang="en-US" sz="1400" dirty="0">
                <a:solidFill>
                  <a:srgbClr val="2D961E"/>
                </a:solidFill>
                <a:latin typeface="Menlo-Regular"/>
              </a:rPr>
              <a:t>	*bufp0=*bufp1;</a:t>
            </a:r>
          </a:p>
          <a:p>
            <a:r>
              <a:rPr lang="en-US" sz="1400" dirty="0">
                <a:solidFill>
                  <a:srgbClr val="2D961E"/>
                </a:solidFill>
                <a:latin typeface="Menlo-Regular"/>
              </a:rPr>
              <a:t>	*bufp1=temp;</a:t>
            </a:r>
          </a:p>
          <a:p>
            <a:r>
              <a:rPr lang="en-US" sz="1400" dirty="0">
                <a:solidFill>
                  <a:srgbClr val="2D961E"/>
                </a:solidFill>
                <a:latin typeface="Menlo-Regular"/>
              </a:rPr>
              <a:t>}</a:t>
            </a:r>
          </a:p>
          <a:p>
            <a:r>
              <a:rPr lang="en-US" sz="1400" dirty="0">
                <a:solidFill>
                  <a:srgbClr val="2D961E"/>
                </a:solidFill>
                <a:latin typeface="Menlo-Regular"/>
              </a:rPr>
              <a:t>//</a:t>
            </a:r>
            <a:r>
              <a:rPr lang="en-US" sz="1400" dirty="0" err="1">
                <a:solidFill>
                  <a:srgbClr val="2D961E"/>
                </a:solidFill>
                <a:latin typeface="Menlo-Regular"/>
              </a:rPr>
              <a:t>swap.c</a:t>
            </a:r>
            <a:endParaRPr lang="is-IS" sz="1400" dirty="0">
              <a:solidFill>
                <a:srgbClr val="000000"/>
              </a:solidFill>
              <a:latin typeface="Menlo-Regular"/>
            </a:endParaRPr>
          </a:p>
        </p:txBody>
      </p:sp>
    </p:spTree>
    <p:extLst>
      <p:ext uri="{BB962C8B-B14F-4D97-AF65-F5344CB8AC3E}">
        <p14:creationId xmlns:p14="http://schemas.microsoft.com/office/powerpoint/2010/main" val="22757112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F027F8-6892-4837-AB25-329D7B461102}"/>
              </a:ext>
            </a:extLst>
          </p:cNvPr>
          <p:cNvSpPr>
            <a:spLocks noGrp="1"/>
          </p:cNvSpPr>
          <p:nvPr>
            <p:ph type="title"/>
          </p:nvPr>
        </p:nvSpPr>
        <p:spPr/>
        <p:txBody>
          <a:bodyPr>
            <a:normAutofit fontScale="90000"/>
          </a:bodyPr>
          <a:lstStyle/>
          <a:p>
            <a:r>
              <a:rPr lang="en-US" altLang="zh-CN" dirty="0"/>
              <a:t>7.8 </a:t>
            </a:r>
            <a:r>
              <a:rPr lang="zh-CN" altLang="en-US" dirty="0"/>
              <a:t>可执行目标文件</a:t>
            </a:r>
          </a:p>
        </p:txBody>
      </p:sp>
      <p:sp>
        <p:nvSpPr>
          <p:cNvPr id="3" name="内容占位符 2">
            <a:extLst>
              <a:ext uri="{FF2B5EF4-FFF2-40B4-BE49-F238E27FC236}">
                <a16:creationId xmlns:a16="http://schemas.microsoft.com/office/drawing/2014/main" id="{ECEE9D58-9240-4B11-8F19-F34B7E4350AE}"/>
              </a:ext>
            </a:extLst>
          </p:cNvPr>
          <p:cNvSpPr>
            <a:spLocks noGrp="1"/>
          </p:cNvSpPr>
          <p:nvPr>
            <p:ph idx="1"/>
          </p:nvPr>
        </p:nvSpPr>
        <p:spPr>
          <a:xfrm>
            <a:off x="457200" y="837034"/>
            <a:ext cx="5286104" cy="5289136"/>
          </a:xfrm>
        </p:spPr>
        <p:txBody>
          <a:bodyPr/>
          <a:lstStyle/>
          <a:p>
            <a:r>
              <a:rPr lang="zh-CN" altLang="en-US" dirty="0"/>
              <a:t>典型</a:t>
            </a:r>
            <a:r>
              <a:rPr lang="en-US" altLang="zh-CN" dirty="0"/>
              <a:t>ELF</a:t>
            </a:r>
            <a:r>
              <a:rPr lang="zh-CN" altLang="en-US" dirty="0"/>
              <a:t>可执行文件中的各类信息</a:t>
            </a:r>
            <a:endParaRPr lang="en-US" altLang="zh-CN" dirty="0"/>
          </a:p>
          <a:p>
            <a:pPr lvl="1"/>
            <a:r>
              <a:rPr lang="en-US" altLang="zh-CN" dirty="0"/>
              <a:t>ELF</a:t>
            </a:r>
            <a:r>
              <a:rPr lang="zh-CN" altLang="en-US" dirty="0"/>
              <a:t>头：描述文件的总体格式，包括程序入口点，即当程序运行时要执行的第一条指令的地址</a:t>
            </a:r>
            <a:endParaRPr lang="en-US" altLang="zh-CN" dirty="0"/>
          </a:p>
          <a:p>
            <a:pPr lvl="1"/>
            <a:r>
              <a:rPr lang="en-US" altLang="zh-CN" dirty="0"/>
              <a:t>.</a:t>
            </a:r>
            <a:r>
              <a:rPr lang="en-US" altLang="zh-CN" dirty="0" err="1"/>
              <a:t>init</a:t>
            </a:r>
            <a:r>
              <a:rPr lang="zh-CN" altLang="en-US" dirty="0"/>
              <a:t>节：定义了一个叫做</a:t>
            </a:r>
            <a:r>
              <a:rPr lang="en-US" altLang="zh-CN" dirty="0"/>
              <a:t>_</a:t>
            </a:r>
            <a:r>
              <a:rPr lang="en-US" altLang="zh-CN" dirty="0" err="1"/>
              <a:t>init</a:t>
            </a:r>
            <a:r>
              <a:rPr lang="zh-CN" altLang="en-US" dirty="0"/>
              <a:t>的小函数，程序的初始化代码会调用它</a:t>
            </a:r>
            <a:endParaRPr lang="en-US" altLang="zh-CN" dirty="0"/>
          </a:p>
          <a:p>
            <a:pPr lvl="1"/>
            <a:r>
              <a:rPr lang="en-US" altLang="zh-CN" dirty="0"/>
              <a:t>.text, .</a:t>
            </a:r>
            <a:r>
              <a:rPr lang="en-US" altLang="zh-CN" dirty="0" err="1"/>
              <a:t>rodata</a:t>
            </a:r>
            <a:r>
              <a:rPr lang="en-US" altLang="zh-CN" dirty="0"/>
              <a:t>, .data</a:t>
            </a:r>
            <a:r>
              <a:rPr lang="zh-CN" altLang="en-US" dirty="0"/>
              <a:t>节与可重定位目标文件中的节类似，这些节已被重定位到它们最终的运行时内存地址</a:t>
            </a:r>
            <a:endParaRPr lang="en-US" altLang="zh-CN" dirty="0"/>
          </a:p>
          <a:p>
            <a:pPr lvl="1"/>
            <a:r>
              <a:rPr lang="zh-CN" altLang="en-US" dirty="0"/>
              <a:t>可执行文件是完全链接的</a:t>
            </a:r>
            <a:r>
              <a:rPr lang="en-US" altLang="zh-CN" dirty="0"/>
              <a:t>(</a:t>
            </a:r>
            <a:r>
              <a:rPr lang="zh-CN" altLang="en-US" dirty="0"/>
              <a:t>已被重定位</a:t>
            </a:r>
            <a:r>
              <a:rPr lang="en-US" altLang="zh-CN" dirty="0"/>
              <a:t>)</a:t>
            </a:r>
            <a:r>
              <a:rPr lang="zh-CN" altLang="en-US" dirty="0"/>
              <a:t>，不再需要</a:t>
            </a:r>
            <a:r>
              <a:rPr lang="en-US" altLang="zh-CN" dirty="0"/>
              <a:t>.</a:t>
            </a:r>
            <a:r>
              <a:rPr lang="en-US" altLang="zh-CN" dirty="0" err="1"/>
              <a:t>rel</a:t>
            </a:r>
            <a:r>
              <a:rPr lang="zh-CN" altLang="en-US" dirty="0"/>
              <a:t>节</a:t>
            </a:r>
            <a:endParaRPr lang="en-US" altLang="zh-CN" dirty="0"/>
          </a:p>
          <a:p>
            <a:pPr lvl="1"/>
            <a:r>
              <a:rPr lang="zh-CN" altLang="en-US" dirty="0"/>
              <a:t>程序头部表：描述可执行文件连续的片与连续的内存段的映射关系</a:t>
            </a:r>
          </a:p>
        </p:txBody>
      </p:sp>
      <p:sp>
        <p:nvSpPr>
          <p:cNvPr id="4" name="灯片编号占位符 3">
            <a:extLst>
              <a:ext uri="{FF2B5EF4-FFF2-40B4-BE49-F238E27FC236}">
                <a16:creationId xmlns:a16="http://schemas.microsoft.com/office/drawing/2014/main" id="{B282F6AE-33D2-45F2-855C-26D2208FC6C6}"/>
              </a:ext>
            </a:extLst>
          </p:cNvPr>
          <p:cNvSpPr>
            <a:spLocks noGrp="1"/>
          </p:cNvSpPr>
          <p:nvPr>
            <p:ph type="sldNum" sz="quarter" idx="12"/>
          </p:nvPr>
        </p:nvSpPr>
        <p:spPr/>
        <p:txBody>
          <a:bodyPr/>
          <a:lstStyle/>
          <a:p>
            <a:fld id="{6D62327B-ED8D-4CFC-ADD0-A75FA5CBE281}" type="slidenum">
              <a:rPr lang="zh-CN" altLang="en-US" smtClean="0"/>
              <a:pPr/>
              <a:t>44</a:t>
            </a:fld>
            <a:endParaRPr lang="zh-CN" altLang="en-US" dirty="0"/>
          </a:p>
        </p:txBody>
      </p:sp>
      <p:sp>
        <p:nvSpPr>
          <p:cNvPr id="6" name="Rectangle 2">
            <a:extLst>
              <a:ext uri="{FF2B5EF4-FFF2-40B4-BE49-F238E27FC236}">
                <a16:creationId xmlns:a16="http://schemas.microsoft.com/office/drawing/2014/main" id="{84C0DF8B-FADD-4A9C-BC2F-3497F8B86AED}"/>
              </a:ext>
            </a:extLst>
          </p:cNvPr>
          <p:cNvSpPr>
            <a:spLocks noChangeArrowheads="1"/>
          </p:cNvSpPr>
          <p:nvPr/>
        </p:nvSpPr>
        <p:spPr bwMode="auto">
          <a:xfrm>
            <a:off x="5868144" y="135828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ELF</a:t>
            </a:r>
            <a:r>
              <a:rPr lang="zh-CN" altLang="en-US" sz="1600" b="1" dirty="0">
                <a:latin typeface="Calibri" pitchFamily="34" charset="0"/>
                <a:ea typeface="msgothic" charset="0"/>
                <a:cs typeface="msgothic" charset="0"/>
              </a:rPr>
              <a:t>头</a:t>
            </a:r>
            <a:endParaRPr lang="en-GB" sz="1600" b="1" dirty="0">
              <a:latin typeface="Calibri" pitchFamily="34" charset="0"/>
              <a:ea typeface="msgothic" charset="0"/>
              <a:cs typeface="msgothic" charset="0"/>
            </a:endParaRPr>
          </a:p>
        </p:txBody>
      </p:sp>
      <p:sp>
        <p:nvSpPr>
          <p:cNvPr id="7" name="Rectangle 3">
            <a:extLst>
              <a:ext uri="{FF2B5EF4-FFF2-40B4-BE49-F238E27FC236}">
                <a16:creationId xmlns:a16="http://schemas.microsoft.com/office/drawing/2014/main" id="{D3BC50E8-59C2-4147-AD7D-A108C123741E}"/>
              </a:ext>
            </a:extLst>
          </p:cNvPr>
          <p:cNvSpPr>
            <a:spLocks noChangeArrowheads="1"/>
          </p:cNvSpPr>
          <p:nvPr/>
        </p:nvSpPr>
        <p:spPr bwMode="auto">
          <a:xfrm>
            <a:off x="5868144" y="1739280"/>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程序头部表</a:t>
            </a:r>
            <a:endParaRPr lang="en-GB" sz="1600" b="1" dirty="0">
              <a:latin typeface="Calibri" pitchFamily="34" charset="0"/>
              <a:ea typeface="msgothic" charset="0"/>
              <a:cs typeface="msgothic" charset="0"/>
            </a:endParaRPr>
          </a:p>
        </p:txBody>
      </p:sp>
      <p:sp>
        <p:nvSpPr>
          <p:cNvPr id="8" name="Rectangle 4">
            <a:extLst>
              <a:ext uri="{FF2B5EF4-FFF2-40B4-BE49-F238E27FC236}">
                <a16:creationId xmlns:a16="http://schemas.microsoft.com/office/drawing/2014/main" id="{2349F1AC-EDDB-41BB-8430-6997D249CC49}"/>
              </a:ext>
            </a:extLst>
          </p:cNvPr>
          <p:cNvSpPr>
            <a:spLocks noChangeArrowheads="1"/>
          </p:cNvSpPr>
          <p:nvPr/>
        </p:nvSpPr>
        <p:spPr bwMode="auto">
          <a:xfrm>
            <a:off x="5868144" y="2729880"/>
            <a:ext cx="2971800" cy="3810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.text section</a:t>
            </a:r>
          </a:p>
        </p:txBody>
      </p:sp>
      <p:sp>
        <p:nvSpPr>
          <p:cNvPr id="9" name="Rectangle 5">
            <a:extLst>
              <a:ext uri="{FF2B5EF4-FFF2-40B4-BE49-F238E27FC236}">
                <a16:creationId xmlns:a16="http://schemas.microsoft.com/office/drawing/2014/main" id="{BDC65154-611E-450D-A914-00F319BAF273}"/>
              </a:ext>
            </a:extLst>
          </p:cNvPr>
          <p:cNvSpPr>
            <a:spLocks noChangeArrowheads="1"/>
          </p:cNvSpPr>
          <p:nvPr/>
        </p:nvSpPr>
        <p:spPr bwMode="auto">
          <a:xfrm>
            <a:off x="5868144" y="349188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.data section</a:t>
            </a:r>
          </a:p>
        </p:txBody>
      </p:sp>
      <p:sp>
        <p:nvSpPr>
          <p:cNvPr id="10" name="Rectangle 6">
            <a:extLst>
              <a:ext uri="{FF2B5EF4-FFF2-40B4-BE49-F238E27FC236}">
                <a16:creationId xmlns:a16="http://schemas.microsoft.com/office/drawing/2014/main" id="{9CCC3999-DC00-4375-B580-8F8029EC7A9C}"/>
              </a:ext>
            </a:extLst>
          </p:cNvPr>
          <p:cNvSpPr>
            <a:spLocks noChangeArrowheads="1"/>
          </p:cNvSpPr>
          <p:nvPr/>
        </p:nvSpPr>
        <p:spPr bwMode="auto">
          <a:xfrm>
            <a:off x="5868144" y="3872880"/>
            <a:ext cx="2971800" cy="381000"/>
          </a:xfrm>
          <a:prstGeom prst="rect">
            <a:avLst/>
          </a:prstGeom>
          <a:solidFill>
            <a:schemeClr val="accent2">
              <a:lumMod val="20000"/>
              <a:lumOff val="80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err="1">
                <a:latin typeface="Calibri" pitchFamily="34" charset="0"/>
                <a:ea typeface="msgothic" charset="0"/>
                <a:cs typeface="msgothic" charset="0"/>
              </a:rPr>
              <a:t>bss</a:t>
            </a:r>
            <a:r>
              <a:rPr lang="en-GB" sz="1600" b="1" dirty="0">
                <a:latin typeface="Calibri" pitchFamily="34" charset="0"/>
                <a:ea typeface="msgothic" charset="0"/>
                <a:cs typeface="msgothic" charset="0"/>
              </a:rPr>
              <a:t> section</a:t>
            </a:r>
          </a:p>
        </p:txBody>
      </p:sp>
      <p:sp>
        <p:nvSpPr>
          <p:cNvPr id="11" name="Rectangle 7">
            <a:extLst>
              <a:ext uri="{FF2B5EF4-FFF2-40B4-BE49-F238E27FC236}">
                <a16:creationId xmlns:a16="http://schemas.microsoft.com/office/drawing/2014/main" id="{28FCB6C2-28E7-472B-9282-2872452A7E43}"/>
              </a:ext>
            </a:extLst>
          </p:cNvPr>
          <p:cNvSpPr>
            <a:spLocks noChangeArrowheads="1"/>
          </p:cNvSpPr>
          <p:nvPr/>
        </p:nvSpPr>
        <p:spPr bwMode="auto">
          <a:xfrm>
            <a:off x="5868144" y="425388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err="1">
                <a:latin typeface="Calibri" pitchFamily="34" charset="0"/>
                <a:ea typeface="msgothic" charset="0"/>
                <a:cs typeface="msgothic" charset="0"/>
              </a:rPr>
              <a:t>symtab</a:t>
            </a:r>
            <a:endParaRPr lang="en-GB" sz="1600" b="1" dirty="0">
              <a:latin typeface="Calibri" pitchFamily="34" charset="0"/>
              <a:ea typeface="msgothic" charset="0"/>
              <a:cs typeface="msgothic" charset="0"/>
            </a:endParaRPr>
          </a:p>
        </p:txBody>
      </p:sp>
      <p:sp>
        <p:nvSpPr>
          <p:cNvPr id="12" name="Rectangle 10">
            <a:extLst>
              <a:ext uri="{FF2B5EF4-FFF2-40B4-BE49-F238E27FC236}">
                <a16:creationId xmlns:a16="http://schemas.microsoft.com/office/drawing/2014/main" id="{6D43BAEA-E9C2-4E51-8EA3-AC72AE3E3A6E}"/>
              </a:ext>
            </a:extLst>
          </p:cNvPr>
          <p:cNvSpPr>
            <a:spLocks noChangeArrowheads="1"/>
          </p:cNvSpPr>
          <p:nvPr/>
        </p:nvSpPr>
        <p:spPr bwMode="auto">
          <a:xfrm>
            <a:off x="5868144" y="463488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.debug</a:t>
            </a:r>
          </a:p>
        </p:txBody>
      </p:sp>
      <p:sp>
        <p:nvSpPr>
          <p:cNvPr id="13" name="Rectangle 11">
            <a:extLst>
              <a:ext uri="{FF2B5EF4-FFF2-40B4-BE49-F238E27FC236}">
                <a16:creationId xmlns:a16="http://schemas.microsoft.com/office/drawing/2014/main" id="{CBE5E523-DC00-4FD1-9D83-29F208D99C9F}"/>
              </a:ext>
            </a:extLst>
          </p:cNvPr>
          <p:cNvSpPr>
            <a:spLocks noChangeArrowheads="1"/>
          </p:cNvSpPr>
          <p:nvPr/>
        </p:nvSpPr>
        <p:spPr bwMode="auto">
          <a:xfrm>
            <a:off x="5868144" y="5777880"/>
            <a:ext cx="2971800" cy="6096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节头部表</a:t>
            </a:r>
            <a:endParaRPr lang="en-US" altLang="zh-CN" sz="16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zh-CN" altLang="en-US" sz="1600" b="1" dirty="0">
                <a:latin typeface="Calibri" pitchFamily="34" charset="0"/>
                <a:ea typeface="msgothic" charset="0"/>
                <a:cs typeface="msgothic" charset="0"/>
              </a:rPr>
              <a:t>重定位用</a:t>
            </a:r>
            <a:r>
              <a:rPr lang="en-GB" sz="1600" b="1" dirty="0">
                <a:latin typeface="Calibri" pitchFamily="34" charset="0"/>
                <a:ea typeface="msgothic" charset="0"/>
                <a:cs typeface="msgothic" charset="0"/>
              </a:rPr>
              <a:t>)</a:t>
            </a:r>
          </a:p>
        </p:txBody>
      </p:sp>
      <p:sp>
        <p:nvSpPr>
          <p:cNvPr id="14" name="Text Box 12">
            <a:extLst>
              <a:ext uri="{FF2B5EF4-FFF2-40B4-BE49-F238E27FC236}">
                <a16:creationId xmlns:a16="http://schemas.microsoft.com/office/drawing/2014/main" id="{21D5E3F4-3563-41FC-93EC-C60FA48B51C9}"/>
              </a:ext>
            </a:extLst>
          </p:cNvPr>
          <p:cNvSpPr txBox="1">
            <a:spLocks noChangeArrowheads="1"/>
          </p:cNvSpPr>
          <p:nvPr/>
        </p:nvSpPr>
        <p:spPr bwMode="auto">
          <a:xfrm>
            <a:off x="8814066" y="1203788"/>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0</a:t>
            </a:r>
          </a:p>
        </p:txBody>
      </p:sp>
      <p:sp>
        <p:nvSpPr>
          <p:cNvPr id="15" name="Text Box 13">
            <a:extLst>
              <a:ext uri="{FF2B5EF4-FFF2-40B4-BE49-F238E27FC236}">
                <a16:creationId xmlns:a16="http://schemas.microsoft.com/office/drawing/2014/main" id="{197E4E91-7F5D-4D57-A5D7-4AB121C2393E}"/>
              </a:ext>
            </a:extLst>
          </p:cNvPr>
          <p:cNvSpPr txBox="1">
            <a:spLocks noChangeArrowheads="1"/>
          </p:cNvSpPr>
          <p:nvPr/>
        </p:nvSpPr>
        <p:spPr bwMode="auto">
          <a:xfrm>
            <a:off x="5987089" y="1026944"/>
            <a:ext cx="1797585" cy="365999"/>
          </a:xfrm>
          <a:prstGeom prst="rect">
            <a:avLst/>
          </a:prstGeom>
          <a:noFill/>
          <a:ln w="9525">
            <a:noFill/>
            <a:round/>
            <a:headEnd/>
            <a:tailEnd/>
          </a:ln>
          <a:effectLst/>
        </p:spPr>
        <p:txBody>
          <a:bodyPr wrap="none" lIns="90000" tIns="46800" rIns="90000" bIns="4680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b="1" dirty="0">
                <a:latin typeface="Calibri" pitchFamily="34" charset="0"/>
                <a:ea typeface="msgothic" charset="0"/>
                <a:cs typeface="msgothic" charset="0"/>
              </a:rPr>
              <a:t>可执行目标文件</a:t>
            </a:r>
            <a:endParaRPr lang="en-GB" sz="1800" b="1" dirty="0">
              <a:latin typeface="Calibri" pitchFamily="34" charset="0"/>
              <a:ea typeface="msgothic" charset="0"/>
              <a:cs typeface="msgothic" charset="0"/>
            </a:endParaRPr>
          </a:p>
        </p:txBody>
      </p:sp>
      <p:sp>
        <p:nvSpPr>
          <p:cNvPr id="16" name="Rectangle 5">
            <a:extLst>
              <a:ext uri="{FF2B5EF4-FFF2-40B4-BE49-F238E27FC236}">
                <a16:creationId xmlns:a16="http://schemas.microsoft.com/office/drawing/2014/main" id="{401E9FE8-AD48-495B-822C-F118B3E26FFC}"/>
              </a:ext>
            </a:extLst>
          </p:cNvPr>
          <p:cNvSpPr>
            <a:spLocks noChangeArrowheads="1"/>
          </p:cNvSpPr>
          <p:nvPr/>
        </p:nvSpPr>
        <p:spPr bwMode="auto">
          <a:xfrm>
            <a:off x="5868144" y="3110880"/>
            <a:ext cx="2971800" cy="3810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err="1">
                <a:latin typeface="Calibri" pitchFamily="34" charset="0"/>
                <a:ea typeface="msgothic" charset="0"/>
                <a:cs typeface="msgothic" charset="0"/>
              </a:rPr>
              <a:t>rodata</a:t>
            </a:r>
            <a:r>
              <a:rPr lang="en-GB" sz="1600" b="1" dirty="0">
                <a:latin typeface="Calibri" pitchFamily="34" charset="0"/>
                <a:ea typeface="msgothic" charset="0"/>
                <a:cs typeface="msgothic" charset="0"/>
              </a:rPr>
              <a:t> section</a:t>
            </a:r>
          </a:p>
        </p:txBody>
      </p:sp>
      <p:sp>
        <p:nvSpPr>
          <p:cNvPr id="17" name="Rectangle 10">
            <a:extLst>
              <a:ext uri="{FF2B5EF4-FFF2-40B4-BE49-F238E27FC236}">
                <a16:creationId xmlns:a16="http://schemas.microsoft.com/office/drawing/2014/main" id="{9FF249CE-4775-455A-B965-72100627716B}"/>
              </a:ext>
            </a:extLst>
          </p:cNvPr>
          <p:cNvSpPr>
            <a:spLocks noChangeArrowheads="1"/>
          </p:cNvSpPr>
          <p:nvPr/>
        </p:nvSpPr>
        <p:spPr bwMode="auto">
          <a:xfrm>
            <a:off x="5868144" y="501588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.line</a:t>
            </a:r>
          </a:p>
        </p:txBody>
      </p:sp>
      <p:sp>
        <p:nvSpPr>
          <p:cNvPr id="18" name="Rectangle 4">
            <a:extLst>
              <a:ext uri="{FF2B5EF4-FFF2-40B4-BE49-F238E27FC236}">
                <a16:creationId xmlns:a16="http://schemas.microsoft.com/office/drawing/2014/main" id="{94D3A998-AA63-446B-9195-E5F94A91BFF2}"/>
              </a:ext>
            </a:extLst>
          </p:cNvPr>
          <p:cNvSpPr>
            <a:spLocks noChangeArrowheads="1"/>
          </p:cNvSpPr>
          <p:nvPr/>
        </p:nvSpPr>
        <p:spPr bwMode="auto">
          <a:xfrm>
            <a:off x="5868144" y="2348880"/>
            <a:ext cx="2971800" cy="381000"/>
          </a:xfrm>
          <a:prstGeom prst="rect">
            <a:avLst/>
          </a:prstGeom>
          <a:solidFill>
            <a:srgbClr val="F6F5BD"/>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err="1">
                <a:latin typeface="Calibri" pitchFamily="34" charset="0"/>
              </a:rPr>
              <a:t>init</a:t>
            </a:r>
            <a:r>
              <a:rPr lang="en-GB" sz="1600" b="1" dirty="0">
                <a:latin typeface="Calibri" pitchFamily="34" charset="0"/>
                <a:ea typeface="msgothic" charset="0"/>
                <a:cs typeface="msgothic" charset="0"/>
              </a:rPr>
              <a:t> section</a:t>
            </a:r>
          </a:p>
        </p:txBody>
      </p:sp>
      <p:sp>
        <p:nvSpPr>
          <p:cNvPr id="19" name="Rectangle 10">
            <a:extLst>
              <a:ext uri="{FF2B5EF4-FFF2-40B4-BE49-F238E27FC236}">
                <a16:creationId xmlns:a16="http://schemas.microsoft.com/office/drawing/2014/main" id="{21D03EAD-D809-472F-B1C3-8D83E37E4A22}"/>
              </a:ext>
            </a:extLst>
          </p:cNvPr>
          <p:cNvSpPr>
            <a:spLocks noChangeArrowheads="1"/>
          </p:cNvSpPr>
          <p:nvPr/>
        </p:nvSpPr>
        <p:spPr bwMode="auto">
          <a:xfrm>
            <a:off x="5868144" y="5396880"/>
            <a:ext cx="2971800" cy="381000"/>
          </a:xfrm>
          <a:prstGeom prst="rect">
            <a:avLst/>
          </a:prstGeom>
          <a:solidFill>
            <a:schemeClr val="bg1">
              <a:lumMod val="95000"/>
            </a:schemeClr>
          </a:solidFill>
          <a:ln w="2556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err="1">
                <a:latin typeface="Calibri" pitchFamily="34" charset="0"/>
                <a:ea typeface="msgothic" charset="0"/>
                <a:cs typeface="msgothic" charset="0"/>
              </a:rPr>
              <a:t>strtab</a:t>
            </a:r>
            <a:endParaRPr lang="en-GB" sz="1600" b="1" dirty="0">
              <a:latin typeface="Calibri" pitchFamily="34" charset="0"/>
              <a:ea typeface="msgothic" charset="0"/>
              <a:cs typeface="msgothic" charset="0"/>
            </a:endParaRPr>
          </a:p>
        </p:txBody>
      </p:sp>
    </p:spTree>
    <p:extLst>
      <p:ext uri="{BB962C8B-B14F-4D97-AF65-F5344CB8AC3E}">
        <p14:creationId xmlns:p14="http://schemas.microsoft.com/office/powerpoint/2010/main" val="3434292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FEEFC1-F2FB-43D4-80D7-512D72473338}"/>
              </a:ext>
            </a:extLst>
          </p:cNvPr>
          <p:cNvSpPr>
            <a:spLocks noGrp="1"/>
          </p:cNvSpPr>
          <p:nvPr>
            <p:ph type="title"/>
          </p:nvPr>
        </p:nvSpPr>
        <p:spPr/>
        <p:txBody>
          <a:bodyPr>
            <a:normAutofit fontScale="90000"/>
          </a:bodyPr>
          <a:lstStyle/>
          <a:p>
            <a:r>
              <a:rPr lang="zh-CN" altLang="en-US" dirty="0"/>
              <a:t>可执行文件程序头部表</a:t>
            </a:r>
          </a:p>
        </p:txBody>
      </p:sp>
      <p:sp>
        <p:nvSpPr>
          <p:cNvPr id="3" name="内容占位符 2">
            <a:extLst>
              <a:ext uri="{FF2B5EF4-FFF2-40B4-BE49-F238E27FC236}">
                <a16:creationId xmlns:a16="http://schemas.microsoft.com/office/drawing/2014/main" id="{6545CD31-702D-4586-A3A4-73BB4A3644D7}"/>
              </a:ext>
            </a:extLst>
          </p:cNvPr>
          <p:cNvSpPr>
            <a:spLocks noGrp="1"/>
          </p:cNvSpPr>
          <p:nvPr>
            <p:ph idx="1"/>
          </p:nvPr>
        </p:nvSpPr>
        <p:spPr>
          <a:xfrm>
            <a:off x="457200" y="837034"/>
            <a:ext cx="8229600" cy="2735982"/>
          </a:xfrm>
        </p:spPr>
        <p:txBody>
          <a:bodyPr>
            <a:normAutofit fontScale="77500" lnSpcReduction="20000"/>
          </a:bodyPr>
          <a:lstStyle/>
          <a:p>
            <a:r>
              <a:rPr lang="zh-CN" altLang="en-US" dirty="0"/>
              <a:t>从程序头部表中可以看到可执行目标文件的内容初始化为两个内存段：</a:t>
            </a:r>
            <a:endParaRPr lang="en-US" altLang="zh-CN" dirty="0"/>
          </a:p>
          <a:p>
            <a:pPr lvl="1"/>
            <a:r>
              <a:rPr lang="zh-CN" altLang="en-US" dirty="0"/>
              <a:t>第一个代码段有读</a:t>
            </a:r>
            <a:r>
              <a:rPr lang="en-US" altLang="zh-CN" dirty="0"/>
              <a:t>/</a:t>
            </a:r>
            <a:r>
              <a:rPr lang="zh-CN" altLang="en-US" dirty="0"/>
              <a:t>执行访问权限</a:t>
            </a:r>
            <a:r>
              <a:rPr lang="en-US" altLang="zh-CN" dirty="0"/>
              <a:t>(flags r-x)</a:t>
            </a:r>
            <a:r>
              <a:rPr lang="zh-CN" altLang="en-US" dirty="0"/>
              <a:t>，目标文件中的偏移为</a:t>
            </a:r>
            <a:r>
              <a:rPr lang="en-US" altLang="zh-CN" dirty="0"/>
              <a:t>0(off)</a:t>
            </a:r>
            <a:r>
              <a:rPr lang="zh-CN" altLang="en-US" dirty="0"/>
              <a:t>，开始于内存地址</a:t>
            </a:r>
            <a:r>
              <a:rPr lang="en-US" altLang="zh-CN" dirty="0"/>
              <a:t>0x400000(</a:t>
            </a:r>
            <a:r>
              <a:rPr lang="en-US" altLang="zh-CN" dirty="0" err="1"/>
              <a:t>vaddr</a:t>
            </a:r>
            <a:r>
              <a:rPr lang="en-US" altLang="zh-CN" dirty="0"/>
              <a:t>)</a:t>
            </a:r>
            <a:r>
              <a:rPr lang="zh-CN" altLang="en-US" dirty="0"/>
              <a:t>，内存中的段大小是</a:t>
            </a:r>
            <a:r>
              <a:rPr lang="en-US" altLang="zh-CN" dirty="0"/>
              <a:t>0x69c</a:t>
            </a:r>
            <a:r>
              <a:rPr lang="zh-CN" altLang="en-US" dirty="0"/>
              <a:t>字节</a:t>
            </a:r>
            <a:r>
              <a:rPr lang="en-US" altLang="zh-CN" dirty="0"/>
              <a:t>(</a:t>
            </a:r>
            <a:r>
              <a:rPr lang="en-US" altLang="zh-CN" dirty="0" err="1"/>
              <a:t>memsz</a:t>
            </a:r>
            <a:r>
              <a:rPr lang="en-US" altLang="zh-CN" dirty="0"/>
              <a:t>)</a:t>
            </a:r>
            <a:r>
              <a:rPr lang="zh-CN" altLang="en-US" dirty="0"/>
              <a:t>，被初始化为可执行目标文件的头</a:t>
            </a:r>
            <a:r>
              <a:rPr lang="en-US" altLang="zh-CN" dirty="0"/>
              <a:t>0x69c</a:t>
            </a:r>
            <a:r>
              <a:rPr lang="zh-CN" altLang="en-US" dirty="0"/>
              <a:t>个字节</a:t>
            </a:r>
            <a:r>
              <a:rPr lang="en-US" altLang="zh-CN" dirty="0"/>
              <a:t>(</a:t>
            </a:r>
            <a:r>
              <a:rPr lang="en-US" altLang="zh-CN" dirty="0" err="1"/>
              <a:t>filesz</a:t>
            </a:r>
            <a:r>
              <a:rPr lang="en-US" altLang="zh-CN" dirty="0"/>
              <a:t>)</a:t>
            </a:r>
            <a:r>
              <a:rPr lang="zh-CN" altLang="en-US" dirty="0"/>
              <a:t>，包括</a:t>
            </a:r>
            <a:r>
              <a:rPr lang="en-US" altLang="zh-CN" dirty="0"/>
              <a:t>ELF</a:t>
            </a:r>
            <a:r>
              <a:rPr lang="zh-CN" altLang="en-US" dirty="0"/>
              <a:t>头、程序头部表以及</a:t>
            </a:r>
            <a:r>
              <a:rPr lang="en-US" altLang="zh-CN" dirty="0"/>
              <a:t>.</a:t>
            </a:r>
            <a:r>
              <a:rPr lang="en-US" altLang="zh-CN" dirty="0" err="1"/>
              <a:t>init</a:t>
            </a:r>
            <a:r>
              <a:rPr lang="zh-CN" altLang="en-US" dirty="0"/>
              <a:t>、</a:t>
            </a:r>
            <a:r>
              <a:rPr lang="en-US" altLang="zh-CN" dirty="0"/>
              <a:t>.text</a:t>
            </a:r>
            <a:r>
              <a:rPr lang="zh-CN" altLang="en-US" dirty="0"/>
              <a:t>和</a:t>
            </a:r>
            <a:r>
              <a:rPr lang="en-US" altLang="zh-CN" dirty="0"/>
              <a:t>.</a:t>
            </a:r>
            <a:r>
              <a:rPr lang="en-US" altLang="zh-CN" dirty="0" err="1"/>
              <a:t>rodata</a:t>
            </a:r>
            <a:r>
              <a:rPr lang="zh-CN" altLang="en-US" dirty="0"/>
              <a:t>节</a:t>
            </a:r>
            <a:endParaRPr lang="en-US" altLang="zh-CN" dirty="0"/>
          </a:p>
          <a:p>
            <a:pPr lvl="1"/>
            <a:r>
              <a:rPr lang="zh-CN" altLang="en-US" dirty="0"/>
              <a:t>第二个数据段有读</a:t>
            </a:r>
            <a:r>
              <a:rPr lang="en-US" altLang="zh-CN" dirty="0"/>
              <a:t>/</a:t>
            </a:r>
            <a:r>
              <a:rPr lang="zh-CN" altLang="en-US" dirty="0"/>
              <a:t>写访问权限</a:t>
            </a:r>
            <a:r>
              <a:rPr lang="en-US" altLang="zh-CN" dirty="0"/>
              <a:t>(flags </a:t>
            </a:r>
            <a:r>
              <a:rPr lang="en-US" altLang="zh-CN" dirty="0" err="1"/>
              <a:t>rw</a:t>
            </a:r>
            <a:r>
              <a:rPr lang="en-US" altLang="zh-CN" dirty="0"/>
              <a:t>-)</a:t>
            </a:r>
            <a:r>
              <a:rPr lang="zh-CN" altLang="en-US" dirty="0"/>
              <a:t>，开始于内存地址</a:t>
            </a:r>
            <a:r>
              <a:rPr lang="en-US" altLang="zh-CN" dirty="0"/>
              <a:t>0x600df8</a:t>
            </a:r>
            <a:r>
              <a:rPr lang="zh-CN" altLang="en-US" dirty="0"/>
              <a:t>处，总的内存大小为</a:t>
            </a:r>
            <a:r>
              <a:rPr lang="en-US" altLang="zh-CN" dirty="0"/>
              <a:t>0x230</a:t>
            </a:r>
            <a:r>
              <a:rPr lang="zh-CN" altLang="en-US" dirty="0"/>
              <a:t>字节，并用从目标文件中偏移</a:t>
            </a:r>
            <a:r>
              <a:rPr lang="en-US" altLang="zh-CN" dirty="0"/>
              <a:t>0xdf8</a:t>
            </a:r>
            <a:r>
              <a:rPr lang="zh-CN" altLang="en-US" dirty="0"/>
              <a:t>处开始的</a:t>
            </a:r>
            <a:r>
              <a:rPr lang="en-US" altLang="zh-CN" dirty="0"/>
              <a:t>.data</a:t>
            </a:r>
            <a:r>
              <a:rPr lang="zh-CN" altLang="en-US" dirty="0"/>
              <a:t>节中的</a:t>
            </a:r>
            <a:r>
              <a:rPr lang="en-US" altLang="zh-CN" dirty="0"/>
              <a:t>0x228</a:t>
            </a:r>
            <a:r>
              <a:rPr lang="zh-CN" altLang="en-US" dirty="0"/>
              <a:t>个字节初始化</a:t>
            </a:r>
            <a:endParaRPr lang="en-US" altLang="zh-CN" dirty="0"/>
          </a:p>
          <a:p>
            <a:pPr lvl="1"/>
            <a:r>
              <a:rPr lang="zh-CN" altLang="en-US" dirty="0"/>
              <a:t>任何段</a:t>
            </a:r>
            <a:r>
              <a:rPr lang="en-US" altLang="zh-CN" dirty="0"/>
              <a:t>s</a:t>
            </a:r>
            <a:r>
              <a:rPr lang="zh-CN" altLang="en-US" dirty="0"/>
              <a:t>，链接器必须选择一个起始地址</a:t>
            </a:r>
            <a:r>
              <a:rPr lang="en-US" altLang="zh-CN" dirty="0" err="1"/>
              <a:t>vaddr</a:t>
            </a:r>
            <a:r>
              <a:rPr lang="zh-CN" altLang="en-US" dirty="0"/>
              <a:t>，使</a:t>
            </a:r>
            <a:r>
              <a:rPr lang="en-US" altLang="zh-CN" dirty="0" err="1"/>
              <a:t>vaddr</a:t>
            </a:r>
            <a:r>
              <a:rPr lang="en-US" altLang="zh-CN" dirty="0"/>
              <a:t> mod align=off mod align</a:t>
            </a:r>
          </a:p>
          <a:p>
            <a:pPr lvl="2"/>
            <a:r>
              <a:rPr lang="en-US" altLang="zh-CN" dirty="0" err="1"/>
              <a:t>vaddr</a:t>
            </a:r>
            <a:r>
              <a:rPr lang="en-US" altLang="zh-CN" dirty="0"/>
              <a:t> mod align=0x600df8  mod 0x200000=0xdf8</a:t>
            </a:r>
          </a:p>
          <a:p>
            <a:pPr lvl="2"/>
            <a:r>
              <a:rPr lang="en-US" altLang="zh-CN" dirty="0"/>
              <a:t>off mod align=0xdf8 mod 0x200000=0xdf8</a:t>
            </a:r>
          </a:p>
          <a:p>
            <a:pPr marL="685622" lvl="2" indent="0">
              <a:buNone/>
            </a:pPr>
            <a:endParaRPr lang="zh-CN" altLang="en-US" dirty="0"/>
          </a:p>
        </p:txBody>
      </p:sp>
      <p:sp>
        <p:nvSpPr>
          <p:cNvPr id="4" name="灯片编号占位符 3">
            <a:extLst>
              <a:ext uri="{FF2B5EF4-FFF2-40B4-BE49-F238E27FC236}">
                <a16:creationId xmlns:a16="http://schemas.microsoft.com/office/drawing/2014/main" id="{B6A554E2-D04D-4F47-9D18-AA00D53552A2}"/>
              </a:ext>
            </a:extLst>
          </p:cNvPr>
          <p:cNvSpPr>
            <a:spLocks noGrp="1"/>
          </p:cNvSpPr>
          <p:nvPr>
            <p:ph type="sldNum" sz="quarter" idx="12"/>
          </p:nvPr>
        </p:nvSpPr>
        <p:spPr/>
        <p:txBody>
          <a:bodyPr/>
          <a:lstStyle/>
          <a:p>
            <a:fld id="{6D62327B-ED8D-4CFC-ADD0-A75FA5CBE281}" type="slidenum">
              <a:rPr lang="zh-CN" altLang="en-US" smtClean="0"/>
              <a:pPr/>
              <a:t>45</a:t>
            </a:fld>
            <a:endParaRPr lang="zh-CN" altLang="en-US" dirty="0"/>
          </a:p>
        </p:txBody>
      </p:sp>
      <p:sp>
        <p:nvSpPr>
          <p:cNvPr id="6" name="文本框 5">
            <a:extLst>
              <a:ext uri="{FF2B5EF4-FFF2-40B4-BE49-F238E27FC236}">
                <a16:creationId xmlns:a16="http://schemas.microsoft.com/office/drawing/2014/main" id="{52085B2B-C03A-4FE4-B3B0-4AB82CF4C81F}"/>
              </a:ext>
            </a:extLst>
          </p:cNvPr>
          <p:cNvSpPr txBox="1"/>
          <p:nvPr/>
        </p:nvSpPr>
        <p:spPr>
          <a:xfrm>
            <a:off x="482791" y="3573016"/>
            <a:ext cx="8291264" cy="3016210"/>
          </a:xfrm>
          <a:prstGeom prst="rect">
            <a:avLst/>
          </a:prstGeom>
          <a:noFill/>
        </p:spPr>
        <p:txBody>
          <a:bodyPr wrap="square" rtlCol="0">
            <a:spAutoFit/>
          </a:bodyPr>
          <a:lstStyle/>
          <a:p>
            <a:r>
              <a:rPr lang="en-US" altLang="zh-CN" sz="1000" dirty="0">
                <a:latin typeface="Times New Roman" panose="02020603050405020304" pitchFamily="18" charset="0"/>
                <a:cs typeface="Times New Roman" panose="02020603050405020304" pitchFamily="18" charset="0"/>
              </a:rPr>
              <a:t>Program Header:</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PHDR off    0x0000000000000040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0x0000000000400040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0x0000000000400040 align 2**3</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0x00000000000001f8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0x00000000000001f8 flags r-x</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INTERP off    0x0000000000000238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0x0000000000400238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0x0000000000400238 align 2**0</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0x000000000000001c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0x000000000000001c flags r--</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a:solidFill>
                  <a:srgbClr val="FF0000"/>
                </a:solidFill>
                <a:latin typeface="Times New Roman" panose="02020603050405020304" pitchFamily="18" charset="0"/>
                <a:cs typeface="Times New Roman" panose="02020603050405020304" pitchFamily="18" charset="0"/>
              </a:rPr>
              <a:t>LOAD off    0x0000000000000000 </a:t>
            </a:r>
            <a:r>
              <a:rPr lang="en-US" altLang="zh-CN" sz="1000" dirty="0" err="1">
                <a:solidFill>
                  <a:srgbClr val="FF0000"/>
                </a:solidFill>
                <a:latin typeface="Times New Roman" panose="02020603050405020304" pitchFamily="18" charset="0"/>
                <a:cs typeface="Times New Roman" panose="02020603050405020304" pitchFamily="18" charset="0"/>
              </a:rPr>
              <a:t>vaddr</a:t>
            </a:r>
            <a:r>
              <a:rPr lang="en-US" altLang="zh-CN" sz="1000" dirty="0">
                <a:solidFill>
                  <a:srgbClr val="FF0000"/>
                </a:solidFill>
                <a:latin typeface="Times New Roman" panose="02020603050405020304" pitchFamily="18" charset="0"/>
                <a:cs typeface="Times New Roman" panose="02020603050405020304" pitchFamily="18" charset="0"/>
              </a:rPr>
              <a:t> 0x0000000000400000 </a:t>
            </a:r>
            <a:r>
              <a:rPr lang="en-US" altLang="zh-CN" sz="1000" dirty="0" err="1">
                <a:solidFill>
                  <a:srgbClr val="FF0000"/>
                </a:solidFill>
                <a:latin typeface="Times New Roman" panose="02020603050405020304" pitchFamily="18" charset="0"/>
                <a:cs typeface="Times New Roman" panose="02020603050405020304" pitchFamily="18" charset="0"/>
              </a:rPr>
              <a:t>paddr</a:t>
            </a:r>
            <a:r>
              <a:rPr lang="en-US" altLang="zh-CN" sz="1000" dirty="0">
                <a:solidFill>
                  <a:srgbClr val="FF0000"/>
                </a:solidFill>
                <a:latin typeface="Times New Roman" panose="02020603050405020304" pitchFamily="18" charset="0"/>
                <a:cs typeface="Times New Roman" panose="02020603050405020304" pitchFamily="18" charset="0"/>
              </a:rPr>
              <a:t> 0x0000000000400000 align 2**21</a:t>
            </a:r>
            <a:endParaRPr lang="zh-CN" altLang="zh-CN" sz="1000" dirty="0">
              <a:solidFill>
                <a:srgbClr val="FF0000"/>
              </a:solidFill>
              <a:latin typeface="Times New Roman" panose="02020603050405020304" pitchFamily="18" charset="0"/>
              <a:cs typeface="Times New Roman" panose="02020603050405020304" pitchFamily="18" charset="0"/>
            </a:endParaRPr>
          </a:p>
          <a:p>
            <a:r>
              <a:rPr lang="en-US" altLang="zh-CN" sz="1000" dirty="0">
                <a:solidFill>
                  <a:srgbClr val="FF0000"/>
                </a:solidFill>
                <a:latin typeface="Times New Roman" panose="02020603050405020304" pitchFamily="18" charset="0"/>
                <a:cs typeface="Times New Roman" panose="02020603050405020304" pitchFamily="18" charset="0"/>
              </a:rPr>
              <a:t>         </a:t>
            </a:r>
            <a:r>
              <a:rPr lang="en-US" altLang="zh-CN" sz="1000" dirty="0" err="1">
                <a:solidFill>
                  <a:srgbClr val="FF0000"/>
                </a:solidFill>
                <a:latin typeface="Times New Roman" panose="02020603050405020304" pitchFamily="18" charset="0"/>
                <a:cs typeface="Times New Roman" panose="02020603050405020304" pitchFamily="18" charset="0"/>
              </a:rPr>
              <a:t>filesz</a:t>
            </a:r>
            <a:r>
              <a:rPr lang="en-US" altLang="zh-CN" sz="1000" dirty="0">
                <a:solidFill>
                  <a:srgbClr val="FF0000"/>
                </a:solidFill>
                <a:latin typeface="Times New Roman" panose="02020603050405020304" pitchFamily="18" charset="0"/>
                <a:cs typeface="Times New Roman" panose="02020603050405020304" pitchFamily="18" charset="0"/>
              </a:rPr>
              <a:t> 0x000000000000069c </a:t>
            </a:r>
            <a:r>
              <a:rPr lang="en-US" altLang="zh-CN" sz="1000" dirty="0" err="1">
                <a:solidFill>
                  <a:srgbClr val="FF0000"/>
                </a:solidFill>
                <a:latin typeface="Times New Roman" panose="02020603050405020304" pitchFamily="18" charset="0"/>
                <a:cs typeface="Times New Roman" panose="02020603050405020304" pitchFamily="18" charset="0"/>
              </a:rPr>
              <a:t>memsz</a:t>
            </a:r>
            <a:r>
              <a:rPr lang="en-US" altLang="zh-CN" sz="1000" dirty="0">
                <a:solidFill>
                  <a:srgbClr val="FF0000"/>
                </a:solidFill>
                <a:latin typeface="Times New Roman" panose="02020603050405020304" pitchFamily="18" charset="0"/>
                <a:cs typeface="Times New Roman" panose="02020603050405020304" pitchFamily="18" charset="0"/>
              </a:rPr>
              <a:t> 0x000000000000069c flags r-x</a:t>
            </a:r>
            <a:endParaRPr lang="zh-CN" altLang="zh-CN" sz="1000" dirty="0">
              <a:solidFill>
                <a:srgbClr val="FF0000"/>
              </a:solidFill>
              <a:latin typeface="Times New Roman" panose="02020603050405020304" pitchFamily="18" charset="0"/>
              <a:cs typeface="Times New Roman" panose="02020603050405020304" pitchFamily="18" charset="0"/>
            </a:endParaRPr>
          </a:p>
          <a:p>
            <a:r>
              <a:rPr lang="en-US" altLang="zh-CN" sz="1000" dirty="0">
                <a:solidFill>
                  <a:srgbClr val="FF0000"/>
                </a:solidFill>
                <a:latin typeface="Times New Roman" panose="02020603050405020304" pitchFamily="18" charset="0"/>
                <a:cs typeface="Times New Roman" panose="02020603050405020304" pitchFamily="18" charset="0"/>
              </a:rPr>
              <a:t>    LOAD off    0x0000000000000df8 </a:t>
            </a:r>
            <a:r>
              <a:rPr lang="en-US" altLang="zh-CN" sz="1000" dirty="0" err="1">
                <a:solidFill>
                  <a:srgbClr val="FF0000"/>
                </a:solidFill>
                <a:latin typeface="Times New Roman" panose="02020603050405020304" pitchFamily="18" charset="0"/>
                <a:cs typeface="Times New Roman" panose="02020603050405020304" pitchFamily="18" charset="0"/>
              </a:rPr>
              <a:t>vaddr</a:t>
            </a:r>
            <a:r>
              <a:rPr lang="en-US" altLang="zh-CN" sz="1000" dirty="0">
                <a:solidFill>
                  <a:srgbClr val="FF0000"/>
                </a:solidFill>
                <a:latin typeface="Times New Roman" panose="02020603050405020304" pitchFamily="18" charset="0"/>
                <a:cs typeface="Times New Roman" panose="02020603050405020304" pitchFamily="18" charset="0"/>
              </a:rPr>
              <a:t> 0x0000000000600df8 </a:t>
            </a:r>
            <a:r>
              <a:rPr lang="en-US" altLang="zh-CN" sz="1000" dirty="0" err="1">
                <a:solidFill>
                  <a:srgbClr val="FF0000"/>
                </a:solidFill>
                <a:latin typeface="Times New Roman" panose="02020603050405020304" pitchFamily="18" charset="0"/>
                <a:cs typeface="Times New Roman" panose="02020603050405020304" pitchFamily="18" charset="0"/>
              </a:rPr>
              <a:t>paddr</a:t>
            </a:r>
            <a:r>
              <a:rPr lang="en-US" altLang="zh-CN" sz="1000" dirty="0">
                <a:solidFill>
                  <a:srgbClr val="FF0000"/>
                </a:solidFill>
                <a:latin typeface="Times New Roman" panose="02020603050405020304" pitchFamily="18" charset="0"/>
                <a:cs typeface="Times New Roman" panose="02020603050405020304" pitchFamily="18" charset="0"/>
              </a:rPr>
              <a:t> 0x0000000000600df8 align 2**21</a:t>
            </a:r>
            <a:endParaRPr lang="zh-CN" altLang="zh-CN" sz="1000" dirty="0">
              <a:solidFill>
                <a:srgbClr val="FF0000"/>
              </a:solidFill>
              <a:latin typeface="Times New Roman" panose="02020603050405020304" pitchFamily="18" charset="0"/>
              <a:cs typeface="Times New Roman" panose="02020603050405020304" pitchFamily="18" charset="0"/>
            </a:endParaRPr>
          </a:p>
          <a:p>
            <a:r>
              <a:rPr lang="en-US" altLang="zh-CN" sz="1000" dirty="0">
                <a:solidFill>
                  <a:srgbClr val="FF0000"/>
                </a:solidFill>
                <a:latin typeface="Times New Roman" panose="02020603050405020304" pitchFamily="18" charset="0"/>
                <a:cs typeface="Times New Roman" panose="02020603050405020304" pitchFamily="18" charset="0"/>
              </a:rPr>
              <a:t>         </a:t>
            </a:r>
            <a:r>
              <a:rPr lang="en-US" altLang="zh-CN" sz="1000" dirty="0" err="1">
                <a:solidFill>
                  <a:srgbClr val="FF0000"/>
                </a:solidFill>
                <a:latin typeface="Times New Roman" panose="02020603050405020304" pitchFamily="18" charset="0"/>
                <a:cs typeface="Times New Roman" panose="02020603050405020304" pitchFamily="18" charset="0"/>
              </a:rPr>
              <a:t>filesz</a:t>
            </a:r>
            <a:r>
              <a:rPr lang="en-US" altLang="zh-CN" sz="1000" dirty="0">
                <a:solidFill>
                  <a:srgbClr val="FF0000"/>
                </a:solidFill>
                <a:latin typeface="Times New Roman" panose="02020603050405020304" pitchFamily="18" charset="0"/>
                <a:cs typeface="Times New Roman" panose="02020603050405020304" pitchFamily="18" charset="0"/>
              </a:rPr>
              <a:t> 0x0000000000000228 </a:t>
            </a:r>
            <a:r>
              <a:rPr lang="en-US" altLang="zh-CN" sz="1000" dirty="0" err="1">
                <a:solidFill>
                  <a:srgbClr val="FF0000"/>
                </a:solidFill>
                <a:latin typeface="Times New Roman" panose="02020603050405020304" pitchFamily="18" charset="0"/>
                <a:cs typeface="Times New Roman" panose="02020603050405020304" pitchFamily="18" charset="0"/>
              </a:rPr>
              <a:t>memsz</a:t>
            </a:r>
            <a:r>
              <a:rPr lang="en-US" altLang="zh-CN" sz="1000" dirty="0">
                <a:solidFill>
                  <a:srgbClr val="FF0000"/>
                </a:solidFill>
                <a:latin typeface="Times New Roman" panose="02020603050405020304" pitchFamily="18" charset="0"/>
                <a:cs typeface="Times New Roman" panose="02020603050405020304" pitchFamily="18" charset="0"/>
              </a:rPr>
              <a:t> 0x0000000000000230 flags </a:t>
            </a:r>
            <a:r>
              <a:rPr lang="en-US" altLang="zh-CN" sz="1000" dirty="0" err="1">
                <a:solidFill>
                  <a:srgbClr val="FF0000"/>
                </a:solidFill>
                <a:latin typeface="Times New Roman" panose="02020603050405020304" pitchFamily="18" charset="0"/>
                <a:cs typeface="Times New Roman" panose="02020603050405020304" pitchFamily="18" charset="0"/>
              </a:rPr>
              <a:t>rw</a:t>
            </a:r>
            <a:r>
              <a:rPr lang="en-US" altLang="zh-CN" sz="1000" dirty="0">
                <a:solidFill>
                  <a:srgbClr val="FF0000"/>
                </a:solidFill>
                <a:latin typeface="Times New Roman" panose="02020603050405020304" pitchFamily="18" charset="0"/>
                <a:cs typeface="Times New Roman" panose="02020603050405020304" pitchFamily="18" charset="0"/>
              </a:rPr>
              <a:t>-</a:t>
            </a:r>
            <a:endParaRPr lang="zh-CN" altLang="zh-CN" sz="1000" dirty="0">
              <a:solidFill>
                <a:srgbClr val="FF0000"/>
              </a:solidFill>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DYNAMIC off    0x0000000000000e10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0x0000000000600e10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0x0000000000600e10 align 2**3</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0x00000000000001d0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0x00000000000001d0 flags </a:t>
            </a:r>
            <a:r>
              <a:rPr lang="en-US" altLang="zh-CN" sz="1000" dirty="0" err="1">
                <a:latin typeface="Times New Roman" panose="02020603050405020304" pitchFamily="18" charset="0"/>
                <a:cs typeface="Times New Roman" panose="02020603050405020304" pitchFamily="18" charset="0"/>
              </a:rPr>
              <a:t>rw</a:t>
            </a:r>
            <a:r>
              <a:rPr lang="en-US" altLang="zh-CN" sz="1000" dirty="0">
                <a:latin typeface="Times New Roman" panose="02020603050405020304" pitchFamily="18" charset="0"/>
                <a:cs typeface="Times New Roman" panose="02020603050405020304" pitchFamily="18" charset="0"/>
              </a:rPr>
              <a:t>-</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NOTE off    0x0000000000000254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0x0000000000400254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0x0000000000400254 align 2**2</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0x0000000000000044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0x0000000000000044 flags r--</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EH_FRAME off    0x00000000000005b4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0x00000000004005b4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0x00000000004005b4 align 2**2</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0x0000000000000034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0x0000000000000034 flags r--</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STACK off    0x0000000000000000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0x0000000000000000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0x0000000000000000 align 2**3</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0x0000000000000000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0x0000000000000000 flags </a:t>
            </a:r>
            <a:r>
              <a:rPr lang="en-US" altLang="zh-CN" sz="1000" dirty="0" err="1">
                <a:latin typeface="Times New Roman" panose="02020603050405020304" pitchFamily="18" charset="0"/>
                <a:cs typeface="Times New Roman" panose="02020603050405020304" pitchFamily="18" charset="0"/>
              </a:rPr>
              <a:t>rw</a:t>
            </a:r>
            <a:r>
              <a:rPr lang="en-US" altLang="zh-CN" sz="1000" dirty="0">
                <a:latin typeface="Times New Roman" panose="02020603050405020304" pitchFamily="18" charset="0"/>
                <a:cs typeface="Times New Roman" panose="02020603050405020304" pitchFamily="18" charset="0"/>
              </a:rPr>
              <a:t>-</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RELRO off    0x0000000000000df8 </a:t>
            </a:r>
            <a:r>
              <a:rPr lang="en-US" altLang="zh-CN" sz="1000" dirty="0" err="1">
                <a:latin typeface="Times New Roman" panose="02020603050405020304" pitchFamily="18" charset="0"/>
                <a:cs typeface="Times New Roman" panose="02020603050405020304" pitchFamily="18" charset="0"/>
              </a:rPr>
              <a:t>vaddr</a:t>
            </a:r>
            <a:r>
              <a:rPr lang="en-US" altLang="zh-CN" sz="1000" dirty="0">
                <a:latin typeface="Times New Roman" panose="02020603050405020304" pitchFamily="18" charset="0"/>
                <a:cs typeface="Times New Roman" panose="02020603050405020304" pitchFamily="18" charset="0"/>
              </a:rPr>
              <a:t> 0x0000000000600df8 </a:t>
            </a:r>
            <a:r>
              <a:rPr lang="en-US" altLang="zh-CN" sz="1000" dirty="0" err="1">
                <a:latin typeface="Times New Roman" panose="02020603050405020304" pitchFamily="18" charset="0"/>
                <a:cs typeface="Times New Roman" panose="02020603050405020304" pitchFamily="18" charset="0"/>
              </a:rPr>
              <a:t>paddr</a:t>
            </a:r>
            <a:r>
              <a:rPr lang="en-US" altLang="zh-CN" sz="1000" dirty="0">
                <a:latin typeface="Times New Roman" panose="02020603050405020304" pitchFamily="18" charset="0"/>
                <a:cs typeface="Times New Roman" panose="02020603050405020304" pitchFamily="18" charset="0"/>
              </a:rPr>
              <a:t> 0x0000000000600df8 align 2**0</a:t>
            </a:r>
            <a:endParaRPr lang="zh-CN" altLang="zh-CN" sz="1000" dirty="0">
              <a:latin typeface="Times New Roman" panose="02020603050405020304" pitchFamily="18" charset="0"/>
              <a:cs typeface="Times New Roman" panose="02020603050405020304" pitchFamily="18" charset="0"/>
            </a:endParaRPr>
          </a:p>
          <a:p>
            <a:r>
              <a:rPr lang="en-US" altLang="zh-CN" sz="1000" dirty="0">
                <a:latin typeface="Times New Roman" panose="02020603050405020304" pitchFamily="18" charset="0"/>
                <a:cs typeface="Times New Roman" panose="02020603050405020304" pitchFamily="18" charset="0"/>
              </a:rPr>
              <a:t>         </a:t>
            </a:r>
            <a:r>
              <a:rPr lang="en-US" altLang="zh-CN" sz="1000" dirty="0" err="1">
                <a:latin typeface="Times New Roman" panose="02020603050405020304" pitchFamily="18" charset="0"/>
                <a:cs typeface="Times New Roman" panose="02020603050405020304" pitchFamily="18" charset="0"/>
              </a:rPr>
              <a:t>filesz</a:t>
            </a:r>
            <a:r>
              <a:rPr lang="en-US" altLang="zh-CN" sz="1000" dirty="0">
                <a:latin typeface="Times New Roman" panose="02020603050405020304" pitchFamily="18" charset="0"/>
                <a:cs typeface="Times New Roman" panose="02020603050405020304" pitchFamily="18" charset="0"/>
              </a:rPr>
              <a:t> 0x0000000000000208 </a:t>
            </a:r>
            <a:r>
              <a:rPr lang="en-US" altLang="zh-CN" sz="1000" dirty="0" err="1">
                <a:latin typeface="Times New Roman" panose="02020603050405020304" pitchFamily="18" charset="0"/>
                <a:cs typeface="Times New Roman" panose="02020603050405020304" pitchFamily="18" charset="0"/>
              </a:rPr>
              <a:t>memsz</a:t>
            </a:r>
            <a:r>
              <a:rPr lang="en-US" altLang="zh-CN" sz="1000" dirty="0">
                <a:latin typeface="Times New Roman" panose="02020603050405020304" pitchFamily="18" charset="0"/>
                <a:cs typeface="Times New Roman" panose="02020603050405020304" pitchFamily="18" charset="0"/>
              </a:rPr>
              <a:t> 0x0000000000000208 flags r--</a:t>
            </a:r>
            <a:endParaRPr lang="zh-CN" altLang="zh-CN"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27873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D1F8E3-98FE-4499-9A34-4F7DF6578D66}"/>
              </a:ext>
            </a:extLst>
          </p:cNvPr>
          <p:cNvSpPr>
            <a:spLocks noGrp="1"/>
          </p:cNvSpPr>
          <p:nvPr>
            <p:ph type="title"/>
          </p:nvPr>
        </p:nvSpPr>
        <p:spPr/>
        <p:txBody>
          <a:bodyPr>
            <a:normAutofit fontScale="90000"/>
          </a:bodyPr>
          <a:lstStyle/>
          <a:p>
            <a:r>
              <a:rPr lang="en-US" altLang="zh-CN" dirty="0"/>
              <a:t>7.9 </a:t>
            </a:r>
            <a:r>
              <a:rPr lang="zh-CN" altLang="en-US" dirty="0"/>
              <a:t>加载可执行目标文件</a:t>
            </a:r>
          </a:p>
        </p:txBody>
      </p:sp>
      <p:sp>
        <p:nvSpPr>
          <p:cNvPr id="3" name="内容占位符 2">
            <a:extLst>
              <a:ext uri="{FF2B5EF4-FFF2-40B4-BE49-F238E27FC236}">
                <a16:creationId xmlns:a16="http://schemas.microsoft.com/office/drawing/2014/main" id="{3F8AF6D1-8DBF-4465-8364-BB32FCB3AD34}"/>
              </a:ext>
            </a:extLst>
          </p:cNvPr>
          <p:cNvSpPr>
            <a:spLocks noGrp="1"/>
          </p:cNvSpPr>
          <p:nvPr>
            <p:ph idx="1"/>
          </p:nvPr>
        </p:nvSpPr>
        <p:spPr>
          <a:xfrm>
            <a:off x="457200" y="837034"/>
            <a:ext cx="4497236" cy="5616302"/>
          </a:xfrm>
        </p:spPr>
        <p:txBody>
          <a:bodyPr>
            <a:normAutofit fontScale="92500" lnSpcReduction="20000"/>
          </a:bodyPr>
          <a:lstStyle/>
          <a:p>
            <a:r>
              <a:rPr lang="zh-CN" altLang="en-US" dirty="0"/>
              <a:t>在</a:t>
            </a:r>
            <a:r>
              <a:rPr lang="en-US" altLang="zh-CN" dirty="0" err="1"/>
              <a:t>linux</a:t>
            </a:r>
            <a:r>
              <a:rPr lang="en-US" altLang="zh-CN" dirty="0"/>
              <a:t> shell</a:t>
            </a:r>
            <a:r>
              <a:rPr lang="zh-CN" altLang="en-US" dirty="0"/>
              <a:t>命令行中输入可执行目标文件</a:t>
            </a:r>
            <a:r>
              <a:rPr lang="en-US" altLang="zh-CN" dirty="0"/>
              <a:t>prog</a:t>
            </a:r>
            <a:r>
              <a:rPr lang="zh-CN" altLang="en-US" dirty="0"/>
              <a:t>时：</a:t>
            </a:r>
            <a:endParaRPr lang="en-US" altLang="zh-CN" dirty="0"/>
          </a:p>
          <a:p>
            <a:pPr lvl="1"/>
            <a:r>
              <a:rPr lang="en-US" altLang="zh-CN" dirty="0"/>
              <a:t>Linux</a:t>
            </a:r>
            <a:r>
              <a:rPr lang="zh-CN" altLang="en-US" dirty="0"/>
              <a:t>程序通过调用</a:t>
            </a:r>
            <a:r>
              <a:rPr lang="en-US" altLang="zh-CN" dirty="0" err="1"/>
              <a:t>execve</a:t>
            </a:r>
            <a:r>
              <a:rPr lang="zh-CN" altLang="en-US" dirty="0"/>
              <a:t>函数调用加载器</a:t>
            </a:r>
            <a:r>
              <a:rPr lang="en-US" altLang="zh-CN" dirty="0"/>
              <a:t>loader</a:t>
            </a:r>
            <a:r>
              <a:rPr lang="zh-CN" altLang="en-US" dirty="0"/>
              <a:t>，将可执行目标文件中的代码和数据从磁盘复制到内存中</a:t>
            </a:r>
            <a:endParaRPr lang="en-US" altLang="zh-CN" dirty="0"/>
          </a:p>
          <a:p>
            <a:pPr lvl="1"/>
            <a:r>
              <a:rPr lang="zh-CN" altLang="en-US" dirty="0"/>
              <a:t>跳转到程序第一条指令或入口点运行该程序</a:t>
            </a:r>
            <a:endParaRPr lang="en-US" altLang="zh-CN" dirty="0"/>
          </a:p>
          <a:p>
            <a:pPr lvl="1"/>
            <a:r>
              <a:rPr lang="zh-CN" altLang="en-US" i="1" dirty="0">
                <a:solidFill>
                  <a:srgbClr val="2F5EB0"/>
                </a:solidFill>
              </a:rPr>
              <a:t>加载：将程序复制到内存并运行的过程</a:t>
            </a:r>
            <a:endParaRPr lang="en-US" altLang="zh-CN" i="1" dirty="0">
              <a:solidFill>
                <a:srgbClr val="2F5EB0"/>
              </a:solidFill>
            </a:endParaRPr>
          </a:p>
          <a:p>
            <a:r>
              <a:rPr lang="zh-CN" altLang="en-US" dirty="0"/>
              <a:t>程序运行时内存映像</a:t>
            </a:r>
            <a:endParaRPr lang="en-US" altLang="zh-CN" dirty="0"/>
          </a:p>
          <a:p>
            <a:pPr lvl="1"/>
            <a:r>
              <a:rPr lang="zh-CN" altLang="en-US" dirty="0"/>
              <a:t>代码段总是从</a:t>
            </a:r>
            <a:r>
              <a:rPr lang="en-US" altLang="zh-CN" dirty="0"/>
              <a:t>0x400000</a:t>
            </a:r>
            <a:r>
              <a:rPr lang="zh-CN" altLang="en-US" dirty="0"/>
              <a:t>处开始，后面是数据段</a:t>
            </a:r>
            <a:endParaRPr lang="en-US" altLang="zh-CN" dirty="0"/>
          </a:p>
          <a:p>
            <a:pPr lvl="1"/>
            <a:r>
              <a:rPr lang="zh-CN" altLang="en-US" dirty="0"/>
              <a:t>运行时堆在数据段之后，通过调用</a:t>
            </a:r>
            <a:r>
              <a:rPr lang="en-US" altLang="zh-CN" dirty="0"/>
              <a:t>malloc</a:t>
            </a:r>
            <a:r>
              <a:rPr lang="zh-CN" altLang="en-US" dirty="0"/>
              <a:t>库向上增长</a:t>
            </a:r>
            <a:endParaRPr lang="en-US" altLang="zh-CN" dirty="0"/>
          </a:p>
          <a:p>
            <a:pPr lvl="1"/>
            <a:r>
              <a:rPr lang="zh-CN" altLang="en-US" dirty="0"/>
              <a:t>堆后面的区域为共享模块保留</a:t>
            </a:r>
            <a:endParaRPr lang="en-US" altLang="zh-CN" dirty="0"/>
          </a:p>
          <a:p>
            <a:pPr lvl="1"/>
            <a:r>
              <a:rPr lang="zh-CN" altLang="en-US" dirty="0"/>
              <a:t>用户栈总是从最大的合法用户地址</a:t>
            </a:r>
            <a:r>
              <a:rPr lang="en-US" altLang="zh-CN" dirty="0"/>
              <a:t>(2</a:t>
            </a:r>
            <a:r>
              <a:rPr lang="en-US" altLang="zh-CN" baseline="30000" dirty="0"/>
              <a:t>48</a:t>
            </a:r>
            <a:r>
              <a:rPr lang="en-US" altLang="zh-CN" dirty="0"/>
              <a:t>-1)</a:t>
            </a:r>
            <a:r>
              <a:rPr lang="zh-CN" altLang="en-US" dirty="0"/>
              <a:t>开始，向较小内存地址增长</a:t>
            </a:r>
            <a:endParaRPr lang="en-US" altLang="zh-CN" dirty="0"/>
          </a:p>
          <a:p>
            <a:pPr lvl="1"/>
            <a:r>
              <a:rPr lang="zh-CN" altLang="en-US" dirty="0"/>
              <a:t>栈上的区域，从地址</a:t>
            </a:r>
            <a:r>
              <a:rPr lang="en-US" altLang="zh-CN" dirty="0"/>
              <a:t>2</a:t>
            </a:r>
            <a:r>
              <a:rPr lang="en-US" altLang="zh-CN" baseline="30000" dirty="0"/>
              <a:t>48</a:t>
            </a:r>
            <a:r>
              <a:rPr lang="zh-CN" altLang="en-US" dirty="0"/>
              <a:t>开始是为内核中的代码和数据保留的，是操作系统驻留在内存的部分</a:t>
            </a:r>
          </a:p>
        </p:txBody>
      </p:sp>
      <p:sp>
        <p:nvSpPr>
          <p:cNvPr id="4" name="灯片编号占位符 3">
            <a:extLst>
              <a:ext uri="{FF2B5EF4-FFF2-40B4-BE49-F238E27FC236}">
                <a16:creationId xmlns:a16="http://schemas.microsoft.com/office/drawing/2014/main" id="{03702543-B84C-4E83-9CB1-2BE8E2230FBF}"/>
              </a:ext>
            </a:extLst>
          </p:cNvPr>
          <p:cNvSpPr>
            <a:spLocks noGrp="1"/>
          </p:cNvSpPr>
          <p:nvPr>
            <p:ph type="sldNum" sz="quarter" idx="12"/>
          </p:nvPr>
        </p:nvSpPr>
        <p:spPr/>
        <p:txBody>
          <a:bodyPr/>
          <a:lstStyle/>
          <a:p>
            <a:fld id="{6D62327B-ED8D-4CFC-ADD0-A75FA5CBE281}" type="slidenum">
              <a:rPr lang="zh-CN" altLang="en-US" smtClean="0"/>
              <a:pPr/>
              <a:t>46</a:t>
            </a:fld>
            <a:endParaRPr lang="zh-CN" altLang="en-US" dirty="0"/>
          </a:p>
        </p:txBody>
      </p:sp>
      <p:sp>
        <p:nvSpPr>
          <p:cNvPr id="5" name="Rectangle 14">
            <a:extLst>
              <a:ext uri="{FF2B5EF4-FFF2-40B4-BE49-F238E27FC236}">
                <a16:creationId xmlns:a16="http://schemas.microsoft.com/office/drawing/2014/main" id="{9CBBF85F-793E-4B9A-8804-05F36CFFAE1D}"/>
              </a:ext>
            </a:extLst>
          </p:cNvPr>
          <p:cNvSpPr>
            <a:spLocks noChangeArrowheads="1"/>
          </p:cNvSpPr>
          <p:nvPr/>
        </p:nvSpPr>
        <p:spPr bwMode="auto">
          <a:xfrm>
            <a:off x="5220071" y="1165336"/>
            <a:ext cx="2789237" cy="487362"/>
          </a:xfrm>
          <a:prstGeom prst="rect">
            <a:avLst/>
          </a:prstGeom>
          <a:solidFill>
            <a:srgbClr val="F1C7C7"/>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内核内存</a:t>
            </a:r>
            <a:endParaRPr lang="en-GB" sz="1600" b="1" dirty="0">
              <a:latin typeface="Calibri" pitchFamily="34" charset="0"/>
              <a:ea typeface="msgothic" charset="0"/>
              <a:cs typeface="msgothic" charset="0"/>
            </a:endParaRPr>
          </a:p>
        </p:txBody>
      </p:sp>
      <p:sp>
        <p:nvSpPr>
          <p:cNvPr id="6" name="Rectangle 15">
            <a:extLst>
              <a:ext uri="{FF2B5EF4-FFF2-40B4-BE49-F238E27FC236}">
                <a16:creationId xmlns:a16="http://schemas.microsoft.com/office/drawing/2014/main" id="{8C0A310F-0332-4BFF-B7DA-0AFFF263514C}"/>
              </a:ext>
            </a:extLst>
          </p:cNvPr>
          <p:cNvSpPr>
            <a:spLocks noChangeArrowheads="1"/>
          </p:cNvSpPr>
          <p:nvPr/>
        </p:nvSpPr>
        <p:spPr bwMode="auto">
          <a:xfrm>
            <a:off x="5220071" y="2867136"/>
            <a:ext cx="2789237" cy="669925"/>
          </a:xfrm>
          <a:prstGeom prst="rect">
            <a:avLst/>
          </a:prstGeom>
          <a:solidFill>
            <a:srgbClr val="D5F1CF"/>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共享库的内存映射区域</a:t>
            </a:r>
            <a:endParaRPr lang="en-GB" sz="1600" b="1" dirty="0">
              <a:latin typeface="Calibri" pitchFamily="34" charset="0"/>
              <a:ea typeface="msgothic" charset="0"/>
              <a:cs typeface="msgothic" charset="0"/>
            </a:endParaRPr>
          </a:p>
        </p:txBody>
      </p:sp>
      <p:sp>
        <p:nvSpPr>
          <p:cNvPr id="7" name="Rectangle 16">
            <a:extLst>
              <a:ext uri="{FF2B5EF4-FFF2-40B4-BE49-F238E27FC236}">
                <a16:creationId xmlns:a16="http://schemas.microsoft.com/office/drawing/2014/main" id="{84DFE820-7692-443F-9C4D-371016C6E3E2}"/>
              </a:ext>
            </a:extLst>
          </p:cNvPr>
          <p:cNvSpPr>
            <a:spLocks noChangeArrowheads="1"/>
          </p:cNvSpPr>
          <p:nvPr/>
        </p:nvSpPr>
        <p:spPr bwMode="auto">
          <a:xfrm>
            <a:off x="5220071" y="3532298"/>
            <a:ext cx="2789237" cy="723900"/>
          </a:xfrm>
          <a:prstGeom prst="rect">
            <a:avLst/>
          </a:prstGeom>
          <a:solidFill>
            <a:schemeClr val="bg1">
              <a:lumMod val="75000"/>
            </a:schemeClr>
          </a:solidFill>
          <a:ln w="3240">
            <a:solidFill>
              <a:schemeClr val="tx1"/>
            </a:solidFill>
            <a:miter lim="800000"/>
            <a:headEnd/>
            <a:tailEnd/>
          </a:ln>
          <a:effectLst/>
        </p:spPr>
        <p:txBody>
          <a:bodyPr wrap="none" anchor="ctr"/>
          <a:lstStyle/>
          <a:p>
            <a:endParaRPr lang="en-US"/>
          </a:p>
        </p:txBody>
      </p:sp>
      <p:sp>
        <p:nvSpPr>
          <p:cNvPr id="8" name="Rectangle 17">
            <a:extLst>
              <a:ext uri="{FF2B5EF4-FFF2-40B4-BE49-F238E27FC236}">
                <a16:creationId xmlns:a16="http://schemas.microsoft.com/office/drawing/2014/main" id="{1B4D945F-17D2-40E2-A298-4DA383AB96F0}"/>
              </a:ext>
            </a:extLst>
          </p:cNvPr>
          <p:cNvSpPr>
            <a:spLocks noChangeArrowheads="1"/>
          </p:cNvSpPr>
          <p:nvPr/>
        </p:nvSpPr>
        <p:spPr bwMode="auto">
          <a:xfrm>
            <a:off x="5220072" y="4254081"/>
            <a:ext cx="2789237" cy="669925"/>
          </a:xfrm>
          <a:prstGeom prst="rect">
            <a:avLst/>
          </a:prstGeom>
          <a:solidFill>
            <a:srgbClr val="D5F1CF"/>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运行时堆</a:t>
            </a:r>
            <a:endParaRPr lang="en-GB" sz="16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zh-CN" altLang="en-US" sz="1600" b="1" dirty="0">
                <a:latin typeface="Calibri" pitchFamily="34" charset="0"/>
                <a:ea typeface="msgothic" charset="0"/>
                <a:cs typeface="msgothic" charset="0"/>
              </a:rPr>
              <a:t>由</a:t>
            </a:r>
            <a:r>
              <a:rPr lang="en-GB" sz="1600" b="1" dirty="0">
                <a:latin typeface="Courier New" pitchFamily="49" charset="0"/>
                <a:ea typeface="msgothic" charset="0"/>
                <a:cs typeface="msgothic" charset="0"/>
              </a:rPr>
              <a:t>malloc</a:t>
            </a:r>
            <a:r>
              <a:rPr lang="zh-CN" altLang="en-US" sz="1600" b="1" dirty="0">
                <a:latin typeface="Calibri" pitchFamily="34" charset="0"/>
                <a:ea typeface="msgothic" charset="0"/>
                <a:cs typeface="msgothic" charset="0"/>
              </a:rPr>
              <a:t>创建</a:t>
            </a:r>
            <a:r>
              <a:rPr lang="en-GB" sz="1600" b="1" dirty="0">
                <a:latin typeface="Calibri" pitchFamily="34" charset="0"/>
                <a:ea typeface="msgothic" charset="0"/>
                <a:cs typeface="msgothic" charset="0"/>
              </a:rPr>
              <a:t>)</a:t>
            </a:r>
          </a:p>
        </p:txBody>
      </p:sp>
      <p:sp>
        <p:nvSpPr>
          <p:cNvPr id="9" name="Rectangle 18">
            <a:extLst>
              <a:ext uri="{FF2B5EF4-FFF2-40B4-BE49-F238E27FC236}">
                <a16:creationId xmlns:a16="http://schemas.microsoft.com/office/drawing/2014/main" id="{80E00ED9-5123-430F-88B5-059BAAAD8B71}"/>
              </a:ext>
            </a:extLst>
          </p:cNvPr>
          <p:cNvSpPr>
            <a:spLocks noChangeArrowheads="1"/>
          </p:cNvSpPr>
          <p:nvPr/>
        </p:nvSpPr>
        <p:spPr bwMode="auto">
          <a:xfrm>
            <a:off x="5220071" y="1957498"/>
            <a:ext cx="2789237" cy="906463"/>
          </a:xfrm>
          <a:prstGeom prst="rect">
            <a:avLst/>
          </a:prstGeom>
          <a:solidFill>
            <a:schemeClr val="bg1">
              <a:lumMod val="75000"/>
            </a:schemeClr>
          </a:solidFill>
          <a:ln w="3240">
            <a:solidFill>
              <a:schemeClr val="tx1"/>
            </a:solidFill>
            <a:miter lim="800000"/>
            <a:headEnd/>
            <a:tailEnd/>
          </a:ln>
          <a:effectLst/>
        </p:spPr>
        <p:txBody>
          <a:bodyPr wrap="none" anchor="ctr"/>
          <a:lstStyle/>
          <a:p>
            <a:endParaRPr lang="en-US"/>
          </a:p>
        </p:txBody>
      </p:sp>
      <p:sp>
        <p:nvSpPr>
          <p:cNvPr id="10" name="Line 19">
            <a:extLst>
              <a:ext uri="{FF2B5EF4-FFF2-40B4-BE49-F238E27FC236}">
                <a16:creationId xmlns:a16="http://schemas.microsoft.com/office/drawing/2014/main" id="{4CC985B2-D6A6-467F-A2F8-162BA6FC6DC9}"/>
              </a:ext>
            </a:extLst>
          </p:cNvPr>
          <p:cNvSpPr>
            <a:spLocks noChangeShapeType="1"/>
          </p:cNvSpPr>
          <p:nvPr/>
        </p:nvSpPr>
        <p:spPr bwMode="auto">
          <a:xfrm flipV="1">
            <a:off x="6610192" y="3860911"/>
            <a:ext cx="1588" cy="384175"/>
          </a:xfrm>
          <a:prstGeom prst="line">
            <a:avLst/>
          </a:prstGeom>
          <a:noFill/>
          <a:ln w="3240">
            <a:solidFill>
              <a:schemeClr val="tx1"/>
            </a:solidFill>
            <a:miter lim="800000"/>
            <a:headEnd/>
            <a:tailEnd type="triangle" w="med" len="med"/>
          </a:ln>
          <a:effectLst/>
        </p:spPr>
        <p:txBody>
          <a:bodyPr/>
          <a:lstStyle/>
          <a:p>
            <a:endParaRPr lang="en-US"/>
          </a:p>
        </p:txBody>
      </p:sp>
      <p:sp>
        <p:nvSpPr>
          <p:cNvPr id="11" name="Rectangle 20">
            <a:extLst>
              <a:ext uri="{FF2B5EF4-FFF2-40B4-BE49-F238E27FC236}">
                <a16:creationId xmlns:a16="http://schemas.microsoft.com/office/drawing/2014/main" id="{09392BC7-0859-4391-B76A-8D6F882EDF77}"/>
              </a:ext>
            </a:extLst>
          </p:cNvPr>
          <p:cNvSpPr>
            <a:spLocks noChangeArrowheads="1"/>
          </p:cNvSpPr>
          <p:nvPr/>
        </p:nvSpPr>
        <p:spPr bwMode="auto">
          <a:xfrm>
            <a:off x="5220071" y="1622536"/>
            <a:ext cx="2789237" cy="563562"/>
          </a:xfrm>
          <a:prstGeom prst="rect">
            <a:avLst/>
          </a:prstGeom>
          <a:solidFill>
            <a:srgbClr val="D5F1CF"/>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用户栈</a:t>
            </a:r>
            <a:endParaRPr lang="en-US" altLang="zh-CN" sz="16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zh-CN" altLang="en-US" sz="1600" b="1" dirty="0">
                <a:latin typeface="Calibri" pitchFamily="34" charset="0"/>
                <a:ea typeface="msgothic" charset="0"/>
                <a:cs typeface="msgothic" charset="0"/>
              </a:rPr>
              <a:t>运行时创建</a:t>
            </a:r>
            <a:r>
              <a:rPr lang="en-GB" sz="1600" b="1" dirty="0">
                <a:latin typeface="Calibri" pitchFamily="34" charset="0"/>
                <a:ea typeface="msgothic" charset="0"/>
                <a:cs typeface="msgothic" charset="0"/>
              </a:rPr>
              <a:t>)</a:t>
            </a:r>
          </a:p>
        </p:txBody>
      </p:sp>
      <p:sp>
        <p:nvSpPr>
          <p:cNvPr id="12" name="Line 22">
            <a:extLst>
              <a:ext uri="{FF2B5EF4-FFF2-40B4-BE49-F238E27FC236}">
                <a16:creationId xmlns:a16="http://schemas.microsoft.com/office/drawing/2014/main" id="{195AD24E-13DD-429A-92D8-D0D97BB8DBAE}"/>
              </a:ext>
            </a:extLst>
          </p:cNvPr>
          <p:cNvSpPr>
            <a:spLocks noChangeShapeType="1"/>
          </p:cNvSpPr>
          <p:nvPr/>
        </p:nvSpPr>
        <p:spPr bwMode="auto">
          <a:xfrm>
            <a:off x="6610192" y="2186098"/>
            <a:ext cx="1588" cy="228600"/>
          </a:xfrm>
          <a:prstGeom prst="line">
            <a:avLst/>
          </a:prstGeom>
          <a:noFill/>
          <a:ln w="3240">
            <a:solidFill>
              <a:schemeClr val="tx1"/>
            </a:solidFill>
            <a:miter lim="800000"/>
            <a:headEnd/>
            <a:tailEnd type="triangle" w="med" len="med"/>
          </a:ln>
          <a:effectLst/>
        </p:spPr>
        <p:txBody>
          <a:bodyPr/>
          <a:lstStyle/>
          <a:p>
            <a:endParaRPr lang="en-US"/>
          </a:p>
        </p:txBody>
      </p:sp>
      <p:sp>
        <p:nvSpPr>
          <p:cNvPr id="13" name="Rectangle 23">
            <a:extLst>
              <a:ext uri="{FF2B5EF4-FFF2-40B4-BE49-F238E27FC236}">
                <a16:creationId xmlns:a16="http://schemas.microsoft.com/office/drawing/2014/main" id="{419C9266-BD42-489E-8C82-F5B8BF279A23}"/>
              </a:ext>
            </a:extLst>
          </p:cNvPr>
          <p:cNvSpPr>
            <a:spLocks noChangeArrowheads="1"/>
          </p:cNvSpPr>
          <p:nvPr/>
        </p:nvSpPr>
        <p:spPr bwMode="auto">
          <a:xfrm>
            <a:off x="5220071" y="6216231"/>
            <a:ext cx="2789238" cy="396875"/>
          </a:xfrm>
          <a:prstGeom prst="rect">
            <a:avLst/>
          </a:prstGeom>
          <a:solidFill>
            <a:schemeClr val="bg1">
              <a:lumMod val="75000"/>
            </a:schemeClr>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Unused</a:t>
            </a:r>
          </a:p>
        </p:txBody>
      </p:sp>
      <p:sp>
        <p:nvSpPr>
          <p:cNvPr id="14" name="Text Box 24">
            <a:extLst>
              <a:ext uri="{FF2B5EF4-FFF2-40B4-BE49-F238E27FC236}">
                <a16:creationId xmlns:a16="http://schemas.microsoft.com/office/drawing/2014/main" id="{79855116-A0AF-42C3-827A-FD49432F0F10}"/>
              </a:ext>
            </a:extLst>
          </p:cNvPr>
          <p:cNvSpPr txBox="1">
            <a:spLocks noChangeArrowheads="1"/>
          </p:cNvSpPr>
          <p:nvPr/>
        </p:nvSpPr>
        <p:spPr bwMode="auto">
          <a:xfrm>
            <a:off x="4954436" y="6434783"/>
            <a:ext cx="285954" cy="335799"/>
          </a:xfrm>
          <a:prstGeom prst="rect">
            <a:avLst/>
          </a:prstGeom>
          <a:noFill/>
          <a:ln w="9525">
            <a:noFill/>
            <a:round/>
            <a:headEnd/>
            <a:tailEnd/>
          </a:ln>
          <a:effectLst/>
        </p:spPr>
        <p:txBody>
          <a:bodyPr wrap="non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0</a:t>
            </a:r>
          </a:p>
        </p:txBody>
      </p:sp>
      <p:sp>
        <p:nvSpPr>
          <p:cNvPr id="15" name="Text Box 25">
            <a:extLst>
              <a:ext uri="{FF2B5EF4-FFF2-40B4-BE49-F238E27FC236}">
                <a16:creationId xmlns:a16="http://schemas.microsoft.com/office/drawing/2014/main" id="{B92A2E9E-0CB3-4C65-9E4A-E104F4622DB3}"/>
              </a:ext>
            </a:extLst>
          </p:cNvPr>
          <p:cNvSpPr txBox="1">
            <a:spLocks noChangeArrowheads="1"/>
          </p:cNvSpPr>
          <p:nvPr/>
        </p:nvSpPr>
        <p:spPr bwMode="auto">
          <a:xfrm>
            <a:off x="8285428" y="1962690"/>
            <a:ext cx="925551" cy="567272"/>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ourier New" pitchFamily="49" charset="0"/>
                <a:ea typeface="msgothic" charset="0"/>
                <a:cs typeface="msgothic" charset="0"/>
              </a:rPr>
              <a:t>%</a:t>
            </a:r>
            <a:r>
              <a:rPr lang="en-GB" sz="1600" dirty="0" err="1">
                <a:latin typeface="Courier New" pitchFamily="49" charset="0"/>
                <a:ea typeface="msgothic" charset="0"/>
                <a:cs typeface="msgothic" charset="0"/>
              </a:rPr>
              <a:t>r</a:t>
            </a:r>
            <a:r>
              <a:rPr lang="en-GB" sz="1600" b="1" dirty="0" err="1">
                <a:latin typeface="Courier New" pitchFamily="49" charset="0"/>
                <a:ea typeface="msgothic" charset="0"/>
                <a:cs typeface="msgothic" charset="0"/>
              </a:rPr>
              <a:t>sp</a:t>
            </a:r>
            <a:r>
              <a:rPr lang="en-GB" sz="1600" b="1" dirty="0">
                <a:latin typeface="Calibri" pitchFamily="34" charset="0"/>
                <a:ea typeface="msgothic" charset="0"/>
                <a:cs typeface="msgothic" charset="0"/>
              </a:rPr>
              <a:t>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zh-CN" altLang="en-US" sz="1600" b="1" dirty="0">
                <a:latin typeface="Calibri" pitchFamily="34" charset="0"/>
                <a:ea typeface="msgothic" charset="0"/>
                <a:cs typeface="msgothic" charset="0"/>
              </a:rPr>
              <a:t>栈指针</a:t>
            </a:r>
            <a:r>
              <a:rPr lang="en-GB" sz="1600" b="1" dirty="0">
                <a:latin typeface="Calibri" pitchFamily="34" charset="0"/>
                <a:ea typeface="msgothic" charset="0"/>
                <a:cs typeface="msgothic" charset="0"/>
              </a:rPr>
              <a:t>)</a:t>
            </a:r>
          </a:p>
        </p:txBody>
      </p:sp>
      <p:sp>
        <p:nvSpPr>
          <p:cNvPr id="16" name="Line 26">
            <a:extLst>
              <a:ext uri="{FF2B5EF4-FFF2-40B4-BE49-F238E27FC236}">
                <a16:creationId xmlns:a16="http://schemas.microsoft.com/office/drawing/2014/main" id="{39D7FCA4-3CCB-47CC-82B2-095D60BCA99C}"/>
              </a:ext>
            </a:extLst>
          </p:cNvPr>
          <p:cNvSpPr>
            <a:spLocks noChangeShapeType="1"/>
          </p:cNvSpPr>
          <p:nvPr/>
        </p:nvSpPr>
        <p:spPr bwMode="auto">
          <a:xfrm flipH="1">
            <a:off x="8061076" y="2182923"/>
            <a:ext cx="384175" cy="1588"/>
          </a:xfrm>
          <a:prstGeom prst="line">
            <a:avLst/>
          </a:prstGeom>
          <a:noFill/>
          <a:ln w="3240">
            <a:solidFill>
              <a:srgbClr val="000066"/>
            </a:solidFill>
            <a:miter lim="800000"/>
            <a:headEnd/>
            <a:tailEnd type="triangle" w="med" len="med"/>
          </a:ln>
          <a:effectLst/>
        </p:spPr>
        <p:txBody>
          <a:bodyPr/>
          <a:lstStyle/>
          <a:p>
            <a:endParaRPr lang="en-US"/>
          </a:p>
        </p:txBody>
      </p:sp>
      <p:sp>
        <p:nvSpPr>
          <p:cNvPr id="17" name="Text Box 27">
            <a:extLst>
              <a:ext uri="{FF2B5EF4-FFF2-40B4-BE49-F238E27FC236}">
                <a16:creationId xmlns:a16="http://schemas.microsoft.com/office/drawing/2014/main" id="{122DA6C4-66D2-494A-AB6D-E38B54C9EE9D}"/>
              </a:ext>
            </a:extLst>
          </p:cNvPr>
          <p:cNvSpPr txBox="1">
            <a:spLocks noChangeArrowheads="1"/>
          </p:cNvSpPr>
          <p:nvPr/>
        </p:nvSpPr>
        <p:spPr bwMode="auto">
          <a:xfrm>
            <a:off x="8146364" y="805784"/>
            <a:ext cx="848561" cy="1059650"/>
          </a:xfrm>
          <a:prstGeom prst="rect">
            <a:avLst/>
          </a:prstGeom>
          <a:noFill/>
          <a:ln w="9525">
            <a:noFill/>
            <a:round/>
            <a:headEnd/>
            <a:tailEnd/>
          </a:ln>
          <a:effectLst/>
        </p:spPr>
        <p:txBody>
          <a:bodyPr wrap="squar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对用户代码不可见的内存</a:t>
            </a:r>
            <a:endParaRPr lang="en-GB" sz="1600" b="1" dirty="0">
              <a:latin typeface="Calibri" pitchFamily="34" charset="0"/>
              <a:ea typeface="msgothic" charset="0"/>
              <a:cs typeface="msgothic" charset="0"/>
            </a:endParaRPr>
          </a:p>
        </p:txBody>
      </p:sp>
      <p:sp>
        <p:nvSpPr>
          <p:cNvPr id="18" name="Line 28">
            <a:extLst>
              <a:ext uri="{FF2B5EF4-FFF2-40B4-BE49-F238E27FC236}">
                <a16:creationId xmlns:a16="http://schemas.microsoft.com/office/drawing/2014/main" id="{981DB957-0D35-4834-83F4-504E109A1E29}"/>
              </a:ext>
            </a:extLst>
          </p:cNvPr>
          <p:cNvSpPr>
            <a:spLocks noChangeShapeType="1"/>
          </p:cNvSpPr>
          <p:nvPr/>
        </p:nvSpPr>
        <p:spPr bwMode="auto">
          <a:xfrm flipV="1">
            <a:off x="8077042" y="1160841"/>
            <a:ext cx="1588" cy="460375"/>
          </a:xfrm>
          <a:prstGeom prst="line">
            <a:avLst/>
          </a:prstGeom>
          <a:noFill/>
          <a:ln w="3240">
            <a:solidFill>
              <a:schemeClr val="tx1"/>
            </a:solidFill>
            <a:miter lim="800000"/>
            <a:headEnd/>
            <a:tailEnd type="triangle" w="med" len="med"/>
          </a:ln>
          <a:effectLst/>
        </p:spPr>
        <p:txBody>
          <a:bodyPr/>
          <a:lstStyle/>
          <a:p>
            <a:endParaRPr lang="en-US"/>
          </a:p>
        </p:txBody>
      </p:sp>
      <p:sp>
        <p:nvSpPr>
          <p:cNvPr id="19" name="Text Box 29">
            <a:extLst>
              <a:ext uri="{FF2B5EF4-FFF2-40B4-BE49-F238E27FC236}">
                <a16:creationId xmlns:a16="http://schemas.microsoft.com/office/drawing/2014/main" id="{D1E959B1-4F15-4A8F-AEFC-D8AD9255F3AF}"/>
              </a:ext>
            </a:extLst>
          </p:cNvPr>
          <p:cNvSpPr txBox="1">
            <a:spLocks noChangeArrowheads="1"/>
          </p:cNvSpPr>
          <p:nvPr/>
        </p:nvSpPr>
        <p:spPr bwMode="auto">
          <a:xfrm>
            <a:off x="8421530" y="4076811"/>
            <a:ext cx="552052" cy="325988"/>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a:latin typeface="Courier New" pitchFamily="49" charset="0"/>
                <a:ea typeface="msgothic" charset="0"/>
                <a:cs typeface="msgothic" charset="0"/>
              </a:rPr>
              <a:t>brk</a:t>
            </a:r>
          </a:p>
        </p:txBody>
      </p:sp>
      <p:sp>
        <p:nvSpPr>
          <p:cNvPr id="20" name="Line 30">
            <a:extLst>
              <a:ext uri="{FF2B5EF4-FFF2-40B4-BE49-F238E27FC236}">
                <a16:creationId xmlns:a16="http://schemas.microsoft.com/office/drawing/2014/main" id="{CDEA4FFB-041A-4112-8300-8E4F528DADFA}"/>
              </a:ext>
            </a:extLst>
          </p:cNvPr>
          <p:cNvSpPr>
            <a:spLocks noChangeShapeType="1"/>
          </p:cNvSpPr>
          <p:nvPr/>
        </p:nvSpPr>
        <p:spPr bwMode="auto">
          <a:xfrm flipH="1">
            <a:off x="8037355" y="4243498"/>
            <a:ext cx="384175" cy="1588"/>
          </a:xfrm>
          <a:prstGeom prst="line">
            <a:avLst/>
          </a:prstGeom>
          <a:noFill/>
          <a:ln w="3240">
            <a:solidFill>
              <a:srgbClr val="000066"/>
            </a:solidFill>
            <a:miter lim="800000"/>
            <a:headEnd/>
            <a:tailEnd type="triangle" w="med" len="med"/>
          </a:ln>
          <a:effectLst/>
        </p:spPr>
        <p:txBody>
          <a:bodyPr/>
          <a:lstStyle/>
          <a:p>
            <a:endParaRPr lang="en-US"/>
          </a:p>
        </p:txBody>
      </p:sp>
      <p:sp>
        <p:nvSpPr>
          <p:cNvPr id="21" name="Text Box 32">
            <a:extLst>
              <a:ext uri="{FF2B5EF4-FFF2-40B4-BE49-F238E27FC236}">
                <a16:creationId xmlns:a16="http://schemas.microsoft.com/office/drawing/2014/main" id="{6C1079C9-F18D-4881-BF2C-F6DB32C64D28}"/>
              </a:ext>
            </a:extLst>
          </p:cNvPr>
          <p:cNvSpPr txBox="1">
            <a:spLocks noChangeArrowheads="1"/>
          </p:cNvSpPr>
          <p:nvPr/>
        </p:nvSpPr>
        <p:spPr bwMode="auto">
          <a:xfrm>
            <a:off x="4343242" y="6075473"/>
            <a:ext cx="920542" cy="269947"/>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200" b="1" dirty="0">
                <a:latin typeface="Courier New" pitchFamily="49" charset="0"/>
                <a:ea typeface="msgothic" charset="0"/>
                <a:cs typeface="msgothic" charset="0"/>
              </a:rPr>
              <a:t>0x400000</a:t>
            </a:r>
          </a:p>
        </p:txBody>
      </p:sp>
      <p:sp>
        <p:nvSpPr>
          <p:cNvPr id="22" name="Rectangle 34">
            <a:extLst>
              <a:ext uri="{FF2B5EF4-FFF2-40B4-BE49-F238E27FC236}">
                <a16:creationId xmlns:a16="http://schemas.microsoft.com/office/drawing/2014/main" id="{0DAF0D34-E9A3-4D12-91E6-59FA1D3FCFF8}"/>
              </a:ext>
            </a:extLst>
          </p:cNvPr>
          <p:cNvSpPr>
            <a:spLocks noChangeArrowheads="1"/>
          </p:cNvSpPr>
          <p:nvPr/>
        </p:nvSpPr>
        <p:spPr bwMode="auto">
          <a:xfrm>
            <a:off x="5220071" y="4920831"/>
            <a:ext cx="2789238" cy="669925"/>
          </a:xfrm>
          <a:prstGeom prst="rect">
            <a:avLst/>
          </a:prstGeom>
          <a:solidFill>
            <a:schemeClr val="accent2">
              <a:lumMod val="20000"/>
              <a:lumOff val="80000"/>
            </a:schemeClr>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读</a:t>
            </a:r>
            <a:r>
              <a:rPr lang="en-GB" sz="1600" b="1" dirty="0">
                <a:latin typeface="Calibri" pitchFamily="34" charset="0"/>
                <a:ea typeface="msgothic" charset="0"/>
                <a:cs typeface="msgothic" charset="0"/>
              </a:rPr>
              <a:t>/</a:t>
            </a:r>
            <a:r>
              <a:rPr lang="zh-CN" altLang="en-US" sz="1600" b="1" dirty="0">
                <a:latin typeface="Calibri" pitchFamily="34" charset="0"/>
                <a:ea typeface="msgothic" charset="0"/>
                <a:cs typeface="msgothic" charset="0"/>
              </a:rPr>
              <a:t>写段</a:t>
            </a:r>
            <a:endParaRPr lang="en-GB" sz="16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a:latin typeface="Courier New" pitchFamily="49" charset="0"/>
                <a:ea typeface="msgothic" charset="0"/>
                <a:cs typeface="msgothic" charset="0"/>
              </a:rPr>
              <a:t>data</a:t>
            </a:r>
            <a:r>
              <a:rPr lang="en-GB" sz="1600" b="1" dirty="0">
                <a:latin typeface="Calibri" pitchFamily="34" charset="0"/>
                <a:ea typeface="msgothic" charset="0"/>
                <a:cs typeface="msgothic" charset="0"/>
              </a:rPr>
              <a:t>, .</a:t>
            </a:r>
            <a:r>
              <a:rPr lang="en-GB" sz="1600" b="1" dirty="0" err="1">
                <a:latin typeface="Courier New" pitchFamily="49" charset="0"/>
                <a:ea typeface="msgothic" charset="0"/>
                <a:cs typeface="msgothic" charset="0"/>
              </a:rPr>
              <a:t>bss</a:t>
            </a:r>
            <a:r>
              <a:rPr lang="en-GB" sz="1600" b="1" dirty="0">
                <a:latin typeface="Calibri" pitchFamily="34" charset="0"/>
                <a:ea typeface="msgothic" charset="0"/>
                <a:cs typeface="msgothic" charset="0"/>
              </a:rPr>
              <a:t>)</a:t>
            </a:r>
          </a:p>
        </p:txBody>
      </p:sp>
      <p:sp>
        <p:nvSpPr>
          <p:cNvPr id="23" name="Rectangle 35">
            <a:extLst>
              <a:ext uri="{FF2B5EF4-FFF2-40B4-BE49-F238E27FC236}">
                <a16:creationId xmlns:a16="http://schemas.microsoft.com/office/drawing/2014/main" id="{4DA4F2E9-7DF4-49B3-A27F-4A6FE73EEA89}"/>
              </a:ext>
            </a:extLst>
          </p:cNvPr>
          <p:cNvSpPr>
            <a:spLocks noChangeArrowheads="1"/>
          </p:cNvSpPr>
          <p:nvPr/>
        </p:nvSpPr>
        <p:spPr bwMode="auto">
          <a:xfrm>
            <a:off x="5220071" y="5546306"/>
            <a:ext cx="2789238" cy="669925"/>
          </a:xfrm>
          <a:prstGeom prst="rect">
            <a:avLst/>
          </a:prstGeom>
          <a:solidFill>
            <a:srgbClr val="F6F5BD"/>
          </a:solidFill>
          <a:ln w="3240">
            <a:solidFill>
              <a:schemeClr val="tx1"/>
            </a:solidFill>
            <a:miter lim="800000"/>
            <a:headEnd/>
            <a:tailEnd/>
          </a:ln>
          <a:effectLst/>
        </p:spPr>
        <p:txBody>
          <a:bodyPr wrap="none" lIns="90000" tIns="46800" rIns="90000" bIns="468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只读代码段</a:t>
            </a:r>
            <a:endParaRPr lang="en-GB" sz="16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b="1" dirty="0">
                <a:latin typeface="Calibri" pitchFamily="34" charset="0"/>
                <a:ea typeface="msgothic" charset="0"/>
                <a:cs typeface="msgothic" charset="0"/>
              </a:rPr>
              <a:t>(</a:t>
            </a:r>
            <a:r>
              <a:rPr lang="en-GB" sz="1600" b="1" dirty="0">
                <a:latin typeface="Courier New" pitchFamily="49" charset="0"/>
                <a:ea typeface="msgothic" charset="0"/>
                <a:cs typeface="msgothic" charset="0"/>
              </a:rPr>
              <a:t>.init</a:t>
            </a:r>
            <a:r>
              <a:rPr lang="en-GB" sz="1600" b="1" dirty="0">
                <a:latin typeface="Calibri" pitchFamily="34" charset="0"/>
                <a:ea typeface="msgothic" charset="0"/>
                <a:cs typeface="msgothic" charset="0"/>
              </a:rPr>
              <a:t>, .</a:t>
            </a:r>
            <a:r>
              <a:rPr lang="en-GB" sz="1600" b="1" dirty="0">
                <a:latin typeface="Courier New" pitchFamily="49" charset="0"/>
                <a:ea typeface="msgothic" charset="0"/>
                <a:cs typeface="msgothic" charset="0"/>
              </a:rPr>
              <a:t>text</a:t>
            </a:r>
            <a:r>
              <a:rPr lang="en-GB" sz="1600" b="1" dirty="0">
                <a:latin typeface="Calibri" pitchFamily="34" charset="0"/>
                <a:ea typeface="msgothic" charset="0"/>
                <a:cs typeface="msgothic" charset="0"/>
              </a:rPr>
              <a:t>, </a:t>
            </a:r>
            <a:r>
              <a:rPr lang="en-GB" sz="1600" b="1" dirty="0">
                <a:latin typeface="Courier New" pitchFamily="49" charset="0"/>
                <a:ea typeface="msgothic" charset="0"/>
                <a:cs typeface="msgothic" charset="0"/>
              </a:rPr>
              <a:t>.</a:t>
            </a:r>
            <a:r>
              <a:rPr lang="en-GB" sz="1600" b="1" dirty="0" err="1">
                <a:latin typeface="Courier New" pitchFamily="49" charset="0"/>
                <a:ea typeface="msgothic" charset="0"/>
                <a:cs typeface="msgothic" charset="0"/>
              </a:rPr>
              <a:t>rodata</a:t>
            </a:r>
            <a:r>
              <a:rPr lang="en-GB" sz="1600" b="1" dirty="0">
                <a:latin typeface="Calibri" pitchFamily="34" charset="0"/>
                <a:ea typeface="msgothic" charset="0"/>
                <a:cs typeface="msgothic" charset="0"/>
              </a:rPr>
              <a:t>)</a:t>
            </a:r>
          </a:p>
        </p:txBody>
      </p:sp>
      <p:sp>
        <p:nvSpPr>
          <p:cNvPr id="24" name="AutoShape 36">
            <a:extLst>
              <a:ext uri="{FF2B5EF4-FFF2-40B4-BE49-F238E27FC236}">
                <a16:creationId xmlns:a16="http://schemas.microsoft.com/office/drawing/2014/main" id="{463DF454-503A-483D-AE0F-0451514163A3}"/>
              </a:ext>
            </a:extLst>
          </p:cNvPr>
          <p:cNvSpPr>
            <a:spLocks/>
          </p:cNvSpPr>
          <p:nvPr/>
        </p:nvSpPr>
        <p:spPr bwMode="auto">
          <a:xfrm>
            <a:off x="8057992" y="4929298"/>
            <a:ext cx="76200" cy="1295400"/>
          </a:xfrm>
          <a:prstGeom prst="rightBrace">
            <a:avLst>
              <a:gd name="adj1" fmla="val 141667"/>
              <a:gd name="adj2" fmla="val 50000"/>
            </a:avLst>
          </a:prstGeom>
          <a:noFill/>
          <a:ln w="12600">
            <a:solidFill>
              <a:srgbClr val="000066"/>
            </a:solidFill>
            <a:miter lim="800000"/>
            <a:headEnd/>
            <a:tailEnd/>
          </a:ln>
          <a:effectLst/>
        </p:spPr>
        <p:txBody>
          <a:bodyPr wrap="none" anchor="ctr"/>
          <a:lstStyle/>
          <a:p>
            <a:endParaRPr lang="en-US"/>
          </a:p>
        </p:txBody>
      </p:sp>
      <p:sp>
        <p:nvSpPr>
          <p:cNvPr id="25" name="Text Box 37">
            <a:extLst>
              <a:ext uri="{FF2B5EF4-FFF2-40B4-BE49-F238E27FC236}">
                <a16:creationId xmlns:a16="http://schemas.microsoft.com/office/drawing/2014/main" id="{B49240B2-C28E-4425-85EB-C8C99D833060}"/>
              </a:ext>
            </a:extLst>
          </p:cNvPr>
          <p:cNvSpPr txBox="1">
            <a:spLocks noChangeArrowheads="1"/>
          </p:cNvSpPr>
          <p:nvPr/>
        </p:nvSpPr>
        <p:spPr bwMode="auto">
          <a:xfrm>
            <a:off x="8198649" y="5186347"/>
            <a:ext cx="869832" cy="818367"/>
          </a:xfrm>
          <a:prstGeom prst="rect">
            <a:avLst/>
          </a:prstGeom>
          <a:noFill/>
          <a:ln w="9525">
            <a:noFill/>
            <a:round/>
            <a:headEnd/>
            <a:tailEnd/>
          </a:ln>
          <a:effectLst/>
        </p:spPr>
        <p:txBody>
          <a:bodyPr wrap="squar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从可执行文件中加载</a:t>
            </a:r>
            <a:endParaRPr lang="en-GB" sz="1600" b="1" dirty="0">
              <a:latin typeface="Calibri" pitchFamily="34" charset="0"/>
              <a:ea typeface="msgothic" charset="0"/>
              <a:cs typeface="msgothic" charset="0"/>
            </a:endParaRPr>
          </a:p>
        </p:txBody>
      </p:sp>
    </p:spTree>
    <p:extLst>
      <p:ext uri="{BB962C8B-B14F-4D97-AF65-F5344CB8AC3E}">
        <p14:creationId xmlns:p14="http://schemas.microsoft.com/office/powerpoint/2010/main" val="1401465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923E3A-C4E5-4B4D-B752-7925AAA0240F}"/>
              </a:ext>
            </a:extLst>
          </p:cNvPr>
          <p:cNvSpPr>
            <a:spLocks noGrp="1"/>
          </p:cNvSpPr>
          <p:nvPr>
            <p:ph type="title"/>
          </p:nvPr>
        </p:nvSpPr>
        <p:spPr/>
        <p:txBody>
          <a:bodyPr>
            <a:normAutofit fontScale="90000"/>
          </a:bodyPr>
          <a:lstStyle/>
          <a:p>
            <a:r>
              <a:rPr lang="zh-CN" altLang="en-US" dirty="0"/>
              <a:t>加载器运行执行过程</a:t>
            </a:r>
          </a:p>
        </p:txBody>
      </p:sp>
      <p:sp>
        <p:nvSpPr>
          <p:cNvPr id="3" name="内容占位符 2">
            <a:extLst>
              <a:ext uri="{FF2B5EF4-FFF2-40B4-BE49-F238E27FC236}">
                <a16:creationId xmlns:a16="http://schemas.microsoft.com/office/drawing/2014/main" id="{8AE8236A-6E0A-4B2B-87AC-22F1A5100051}"/>
              </a:ext>
            </a:extLst>
          </p:cNvPr>
          <p:cNvSpPr>
            <a:spLocks noGrp="1"/>
          </p:cNvSpPr>
          <p:nvPr>
            <p:ph idx="1"/>
          </p:nvPr>
        </p:nvSpPr>
        <p:spPr/>
        <p:txBody>
          <a:bodyPr>
            <a:normAutofit/>
          </a:bodyPr>
          <a:lstStyle/>
          <a:p>
            <a:r>
              <a:rPr lang="zh-CN" altLang="en-US" sz="1600" dirty="0"/>
              <a:t>加载器运行时：</a:t>
            </a:r>
            <a:endParaRPr lang="en-US" altLang="zh-CN" sz="1600" dirty="0"/>
          </a:p>
          <a:p>
            <a:pPr lvl="1"/>
            <a:r>
              <a:rPr lang="zh-CN" altLang="en-US" sz="1600" dirty="0"/>
              <a:t>创建内存映像</a:t>
            </a:r>
            <a:endParaRPr lang="en-US" altLang="zh-CN" sz="1600" dirty="0"/>
          </a:p>
          <a:p>
            <a:pPr lvl="1"/>
            <a:r>
              <a:rPr lang="zh-CN" altLang="en-US" sz="1600" dirty="0"/>
              <a:t>在程序头部表的引导下，将可执行文件的片复制到代码段和数据段</a:t>
            </a:r>
            <a:endParaRPr lang="en-US" altLang="zh-CN" sz="1600" dirty="0"/>
          </a:p>
          <a:p>
            <a:pPr lvl="1"/>
            <a:r>
              <a:rPr lang="zh-CN" altLang="en-US" sz="1600" dirty="0"/>
              <a:t>加载器跳转到程序的入口点，即</a:t>
            </a:r>
            <a:r>
              <a:rPr lang="en-US" altLang="zh-CN" sz="1600" dirty="0"/>
              <a:t>_start</a:t>
            </a:r>
            <a:r>
              <a:rPr lang="zh-CN" altLang="en-US" sz="1600" dirty="0"/>
              <a:t>函数的地址，此函数在系统目标文件</a:t>
            </a:r>
            <a:r>
              <a:rPr lang="en-US" altLang="zh-CN" sz="1600" dirty="0" err="1"/>
              <a:t>ctrl.o</a:t>
            </a:r>
            <a:r>
              <a:rPr lang="zh-CN" altLang="en-US" sz="1600" dirty="0"/>
              <a:t>中定义</a:t>
            </a:r>
            <a:endParaRPr lang="en-US" altLang="zh-CN" sz="1600" dirty="0"/>
          </a:p>
          <a:p>
            <a:pPr lvl="1"/>
            <a:r>
              <a:rPr lang="en-US" altLang="zh-CN" sz="1600" dirty="0"/>
              <a:t>_start</a:t>
            </a:r>
            <a:r>
              <a:rPr lang="zh-CN" altLang="en-US" sz="1600" dirty="0"/>
              <a:t>函数调用系统启动函数</a:t>
            </a:r>
            <a:r>
              <a:rPr lang="en-US" altLang="zh-CN" sz="1600" dirty="0"/>
              <a:t>__</a:t>
            </a:r>
            <a:r>
              <a:rPr lang="en-US" altLang="zh-CN" sz="1600" dirty="0" err="1"/>
              <a:t>libc_start_main</a:t>
            </a:r>
            <a:r>
              <a:rPr lang="zh-CN" altLang="en-US" sz="1600" dirty="0"/>
              <a:t>，该函数定义在</a:t>
            </a:r>
            <a:r>
              <a:rPr lang="en-US" altLang="zh-CN" sz="1600" dirty="0"/>
              <a:t>libc.so</a:t>
            </a:r>
            <a:r>
              <a:rPr lang="zh-CN" altLang="en-US" sz="1600" dirty="0"/>
              <a:t>中</a:t>
            </a:r>
            <a:endParaRPr lang="en-US" altLang="zh-CN" sz="1600" dirty="0"/>
          </a:p>
          <a:p>
            <a:pPr lvl="2"/>
            <a:r>
              <a:rPr lang="zh-CN" altLang="en-US" sz="1200" dirty="0"/>
              <a:t>初始化执行环境，调用用户层的</a:t>
            </a:r>
            <a:r>
              <a:rPr lang="en-US" altLang="zh-CN" sz="1200" dirty="0"/>
              <a:t>main</a:t>
            </a:r>
            <a:r>
              <a:rPr lang="zh-CN" altLang="en-US" sz="1200" dirty="0"/>
              <a:t>函数，处理</a:t>
            </a:r>
            <a:r>
              <a:rPr lang="en-US" altLang="zh-CN" sz="1200" dirty="0"/>
              <a:t>main</a:t>
            </a:r>
            <a:r>
              <a:rPr lang="zh-CN" altLang="en-US" sz="1200" dirty="0"/>
              <a:t>函数的返回值，并在需要时把控制返回给内核</a:t>
            </a:r>
          </a:p>
        </p:txBody>
      </p:sp>
      <p:sp>
        <p:nvSpPr>
          <p:cNvPr id="4" name="灯片编号占位符 3">
            <a:extLst>
              <a:ext uri="{FF2B5EF4-FFF2-40B4-BE49-F238E27FC236}">
                <a16:creationId xmlns:a16="http://schemas.microsoft.com/office/drawing/2014/main" id="{CF5D2C14-3BD2-4890-AE85-352DAB039E08}"/>
              </a:ext>
            </a:extLst>
          </p:cNvPr>
          <p:cNvSpPr>
            <a:spLocks noGrp="1"/>
          </p:cNvSpPr>
          <p:nvPr>
            <p:ph type="sldNum" sz="quarter" idx="12"/>
          </p:nvPr>
        </p:nvSpPr>
        <p:spPr/>
        <p:txBody>
          <a:bodyPr/>
          <a:lstStyle/>
          <a:p>
            <a:fld id="{6D62327B-ED8D-4CFC-ADD0-A75FA5CBE281}" type="slidenum">
              <a:rPr lang="zh-CN" altLang="en-US" smtClean="0"/>
              <a:pPr/>
              <a:t>47</a:t>
            </a:fld>
            <a:endParaRPr lang="zh-CN" altLang="en-US" dirty="0"/>
          </a:p>
        </p:txBody>
      </p:sp>
      <p:pic>
        <p:nvPicPr>
          <p:cNvPr id="5" name="图片 4">
            <a:extLst>
              <a:ext uri="{FF2B5EF4-FFF2-40B4-BE49-F238E27FC236}">
                <a16:creationId xmlns:a16="http://schemas.microsoft.com/office/drawing/2014/main" id="{0895A711-F614-416D-BCEF-9F529B7B961A}"/>
              </a:ext>
            </a:extLst>
          </p:cNvPr>
          <p:cNvPicPr>
            <a:picLocks noChangeAspect="1"/>
          </p:cNvPicPr>
          <p:nvPr/>
        </p:nvPicPr>
        <p:blipFill>
          <a:blip r:embed="rId2"/>
          <a:stretch>
            <a:fillRect/>
          </a:stretch>
        </p:blipFill>
        <p:spPr>
          <a:xfrm>
            <a:off x="1079172" y="3333390"/>
            <a:ext cx="5140863" cy="405858"/>
          </a:xfrm>
          <a:prstGeom prst="rect">
            <a:avLst/>
          </a:prstGeom>
        </p:spPr>
      </p:pic>
      <p:pic>
        <p:nvPicPr>
          <p:cNvPr id="6" name="图片 5">
            <a:extLst>
              <a:ext uri="{FF2B5EF4-FFF2-40B4-BE49-F238E27FC236}">
                <a16:creationId xmlns:a16="http://schemas.microsoft.com/office/drawing/2014/main" id="{904FFEFC-7F57-4703-A701-7DB2DC193F3A}"/>
              </a:ext>
            </a:extLst>
          </p:cNvPr>
          <p:cNvPicPr>
            <a:picLocks noChangeAspect="1"/>
          </p:cNvPicPr>
          <p:nvPr/>
        </p:nvPicPr>
        <p:blipFill>
          <a:blip r:embed="rId3"/>
          <a:stretch>
            <a:fillRect/>
          </a:stretch>
        </p:blipFill>
        <p:spPr>
          <a:xfrm>
            <a:off x="1078158" y="3828436"/>
            <a:ext cx="6718364" cy="2766384"/>
          </a:xfrm>
          <a:prstGeom prst="rect">
            <a:avLst/>
          </a:prstGeom>
        </p:spPr>
      </p:pic>
      <p:pic>
        <p:nvPicPr>
          <p:cNvPr id="7" name="图片 6">
            <a:extLst>
              <a:ext uri="{FF2B5EF4-FFF2-40B4-BE49-F238E27FC236}">
                <a16:creationId xmlns:a16="http://schemas.microsoft.com/office/drawing/2014/main" id="{54DFD5DB-59EA-4623-B62A-14E67F81725B}"/>
              </a:ext>
            </a:extLst>
          </p:cNvPr>
          <p:cNvPicPr>
            <a:picLocks noChangeAspect="1"/>
          </p:cNvPicPr>
          <p:nvPr/>
        </p:nvPicPr>
        <p:blipFill>
          <a:blip r:embed="rId4"/>
          <a:stretch>
            <a:fillRect/>
          </a:stretch>
        </p:blipFill>
        <p:spPr>
          <a:xfrm>
            <a:off x="1078664" y="2804558"/>
            <a:ext cx="5141877" cy="528832"/>
          </a:xfrm>
          <a:prstGeom prst="rect">
            <a:avLst/>
          </a:prstGeom>
        </p:spPr>
      </p:pic>
    </p:spTree>
    <p:extLst>
      <p:ext uri="{BB962C8B-B14F-4D97-AF65-F5344CB8AC3E}">
        <p14:creationId xmlns:p14="http://schemas.microsoft.com/office/powerpoint/2010/main" val="35259986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D4CDF2-E482-4EEA-8E21-CB4F605C6776}"/>
              </a:ext>
            </a:extLst>
          </p:cNvPr>
          <p:cNvSpPr>
            <a:spLocks noGrp="1"/>
          </p:cNvSpPr>
          <p:nvPr>
            <p:ph type="title"/>
          </p:nvPr>
        </p:nvSpPr>
        <p:spPr/>
        <p:txBody>
          <a:bodyPr>
            <a:normAutofit fontScale="90000"/>
          </a:bodyPr>
          <a:lstStyle/>
          <a:p>
            <a:r>
              <a:rPr lang="en-US" altLang="zh-CN" dirty="0"/>
              <a:t>7.10 </a:t>
            </a:r>
            <a:r>
              <a:rPr lang="zh-CN" altLang="en-US" dirty="0"/>
              <a:t>动态链接共享库</a:t>
            </a:r>
          </a:p>
        </p:txBody>
      </p:sp>
      <p:sp>
        <p:nvSpPr>
          <p:cNvPr id="3" name="内容占位符 2">
            <a:extLst>
              <a:ext uri="{FF2B5EF4-FFF2-40B4-BE49-F238E27FC236}">
                <a16:creationId xmlns:a16="http://schemas.microsoft.com/office/drawing/2014/main" id="{F42D7EDA-8B00-4DCD-9399-3183A684E4C8}"/>
              </a:ext>
            </a:extLst>
          </p:cNvPr>
          <p:cNvSpPr>
            <a:spLocks noGrp="1"/>
          </p:cNvSpPr>
          <p:nvPr>
            <p:ph idx="1"/>
          </p:nvPr>
        </p:nvSpPr>
        <p:spPr/>
        <p:txBody>
          <a:bodyPr>
            <a:normAutofit fontScale="92500" lnSpcReduction="10000"/>
          </a:bodyPr>
          <a:lstStyle/>
          <a:p>
            <a:r>
              <a:rPr lang="zh-CN" altLang="en-US" dirty="0"/>
              <a:t>静态库缺点：</a:t>
            </a:r>
            <a:endParaRPr lang="en-US" altLang="zh-CN" dirty="0"/>
          </a:p>
          <a:p>
            <a:pPr lvl="1"/>
            <a:r>
              <a:rPr lang="zh-CN" altLang="en-US" dirty="0"/>
              <a:t>定期维护和更新：需要应用程序员以显式的方式将程序与更新的库重新链接</a:t>
            </a:r>
            <a:endParaRPr lang="en-US" altLang="zh-CN" dirty="0"/>
          </a:p>
          <a:p>
            <a:pPr lvl="1"/>
            <a:r>
              <a:rPr lang="zh-CN" altLang="en-US" dirty="0"/>
              <a:t>标准</a:t>
            </a:r>
            <a:r>
              <a:rPr lang="en-US" altLang="zh-CN" dirty="0"/>
              <a:t>I/O</a:t>
            </a:r>
            <a:r>
              <a:rPr lang="zh-CN" altLang="en-US" dirty="0"/>
              <a:t>函数代码重复复制到每个运行进程的文本段中，浪费内存空间</a:t>
            </a:r>
            <a:endParaRPr lang="en-US" altLang="zh-CN" dirty="0"/>
          </a:p>
          <a:p>
            <a:r>
              <a:rPr lang="zh-CN" altLang="en-US" dirty="0"/>
              <a:t>共享库</a:t>
            </a:r>
            <a:r>
              <a:rPr lang="en-US" altLang="zh-CN" dirty="0"/>
              <a:t>(shared library)</a:t>
            </a:r>
            <a:r>
              <a:rPr lang="zh-CN" altLang="en-US" dirty="0"/>
              <a:t>：是一个目标模块，在运行或加载时可以加载到任意的内存地址，并和一个在内存中的程序链接起来。</a:t>
            </a:r>
            <a:endParaRPr lang="en-US" altLang="zh-CN" dirty="0"/>
          </a:p>
          <a:p>
            <a:pPr lvl="1"/>
            <a:r>
              <a:rPr lang="zh-CN" altLang="en-US" dirty="0"/>
              <a:t>加载共享库的过程称为动态链接</a:t>
            </a:r>
            <a:r>
              <a:rPr lang="en-US" altLang="zh-CN" dirty="0"/>
              <a:t>(dynamic linking)</a:t>
            </a:r>
          </a:p>
          <a:p>
            <a:pPr lvl="1"/>
            <a:r>
              <a:rPr lang="zh-CN" altLang="en-US" dirty="0"/>
              <a:t>动态链接由动态链接器</a:t>
            </a:r>
            <a:r>
              <a:rPr lang="en-US" altLang="zh-CN" dirty="0"/>
              <a:t>(dynamic linker)</a:t>
            </a:r>
            <a:r>
              <a:rPr lang="zh-CN" altLang="en-US" dirty="0"/>
              <a:t>的程序执行</a:t>
            </a:r>
            <a:endParaRPr lang="en-US" altLang="zh-CN" dirty="0"/>
          </a:p>
          <a:p>
            <a:pPr lvl="1"/>
            <a:r>
              <a:rPr lang="zh-CN" altLang="en-US" dirty="0"/>
              <a:t>共享库也称为共享目标</a:t>
            </a:r>
            <a:r>
              <a:rPr lang="en-US" altLang="zh-CN" dirty="0"/>
              <a:t>(shared object)</a:t>
            </a:r>
          </a:p>
          <a:p>
            <a:pPr lvl="2"/>
            <a:r>
              <a:rPr lang="zh-CN" altLang="en-US" dirty="0"/>
              <a:t>在</a:t>
            </a:r>
            <a:r>
              <a:rPr lang="en-US" altLang="zh-CN" dirty="0"/>
              <a:t>Linux</a:t>
            </a:r>
            <a:r>
              <a:rPr lang="zh-CN" altLang="en-US" dirty="0"/>
              <a:t>系统中通常用</a:t>
            </a:r>
            <a:r>
              <a:rPr lang="en-US" altLang="zh-CN" dirty="0"/>
              <a:t>.so</a:t>
            </a:r>
            <a:r>
              <a:rPr lang="zh-CN" altLang="en-US" dirty="0"/>
              <a:t>后缀表示</a:t>
            </a:r>
            <a:endParaRPr lang="en-US" altLang="zh-CN" dirty="0"/>
          </a:p>
          <a:p>
            <a:pPr lvl="2"/>
            <a:r>
              <a:rPr lang="zh-CN" altLang="en-US" dirty="0"/>
              <a:t>在</a:t>
            </a:r>
            <a:r>
              <a:rPr lang="en-US" altLang="zh-CN" dirty="0"/>
              <a:t>Windows</a:t>
            </a:r>
            <a:r>
              <a:rPr lang="zh-CN" altLang="en-US" dirty="0"/>
              <a:t>系统中称为</a:t>
            </a:r>
            <a:r>
              <a:rPr lang="en-US" altLang="zh-CN" dirty="0"/>
              <a:t>DLL(</a:t>
            </a:r>
            <a:r>
              <a:rPr lang="zh-CN" altLang="en-US" dirty="0"/>
              <a:t>动态链接库</a:t>
            </a:r>
            <a:r>
              <a:rPr lang="en-US" altLang="zh-CN" dirty="0"/>
              <a:t>)</a:t>
            </a:r>
          </a:p>
          <a:p>
            <a:r>
              <a:rPr lang="zh-CN" altLang="en-US" dirty="0"/>
              <a:t>共享库的两种共享方式：</a:t>
            </a:r>
            <a:endParaRPr lang="en-US" altLang="zh-CN" dirty="0"/>
          </a:p>
          <a:p>
            <a:pPr lvl="1"/>
            <a:r>
              <a:rPr lang="zh-CN" altLang="en-US" dirty="0"/>
              <a:t>任何给定的系统中，一个库只有一个</a:t>
            </a:r>
            <a:r>
              <a:rPr lang="en-US" altLang="zh-CN" dirty="0"/>
              <a:t>.so</a:t>
            </a:r>
            <a:r>
              <a:rPr lang="zh-CN" altLang="en-US" dirty="0"/>
              <a:t>文件，所有引用该库的可执行目标文件共享这个</a:t>
            </a:r>
            <a:r>
              <a:rPr lang="en-US" altLang="zh-CN" dirty="0"/>
              <a:t>.so</a:t>
            </a:r>
            <a:r>
              <a:rPr lang="zh-CN" altLang="en-US" dirty="0"/>
              <a:t>文件中的代码和数据，不用复制和嵌入引用它们的可执行文件中</a:t>
            </a:r>
            <a:endParaRPr lang="en-US" altLang="zh-CN" dirty="0"/>
          </a:p>
          <a:p>
            <a:pPr lvl="1"/>
            <a:r>
              <a:rPr lang="zh-CN" altLang="en-US" dirty="0"/>
              <a:t>内存中，一个共享库的</a:t>
            </a:r>
            <a:r>
              <a:rPr lang="en-US" altLang="zh-CN" dirty="0"/>
              <a:t>.text</a:t>
            </a:r>
            <a:r>
              <a:rPr lang="zh-CN" altLang="en-US" dirty="0"/>
              <a:t>节的一个副本可以被不同的正在运行的进程共享</a:t>
            </a:r>
          </a:p>
        </p:txBody>
      </p:sp>
      <p:sp>
        <p:nvSpPr>
          <p:cNvPr id="4" name="灯片编号占位符 3">
            <a:extLst>
              <a:ext uri="{FF2B5EF4-FFF2-40B4-BE49-F238E27FC236}">
                <a16:creationId xmlns:a16="http://schemas.microsoft.com/office/drawing/2014/main" id="{C258B635-CD38-4BF5-9370-5574BE3986DE}"/>
              </a:ext>
            </a:extLst>
          </p:cNvPr>
          <p:cNvSpPr>
            <a:spLocks noGrp="1"/>
          </p:cNvSpPr>
          <p:nvPr>
            <p:ph type="sldNum" sz="quarter" idx="12"/>
          </p:nvPr>
        </p:nvSpPr>
        <p:spPr/>
        <p:txBody>
          <a:bodyPr/>
          <a:lstStyle/>
          <a:p>
            <a:fld id="{6D62327B-ED8D-4CFC-ADD0-A75FA5CBE281}" type="slidenum">
              <a:rPr lang="zh-CN" altLang="en-US" smtClean="0"/>
              <a:pPr/>
              <a:t>48</a:t>
            </a:fld>
            <a:endParaRPr lang="zh-CN" altLang="en-US" dirty="0"/>
          </a:p>
        </p:txBody>
      </p:sp>
    </p:spTree>
    <p:extLst>
      <p:ext uri="{BB962C8B-B14F-4D97-AF65-F5344CB8AC3E}">
        <p14:creationId xmlns:p14="http://schemas.microsoft.com/office/powerpoint/2010/main" val="33852103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645F24-6EC3-4890-B714-271A7EE8EE67}"/>
              </a:ext>
            </a:extLst>
          </p:cNvPr>
          <p:cNvSpPr>
            <a:spLocks noGrp="1"/>
          </p:cNvSpPr>
          <p:nvPr>
            <p:ph type="title"/>
          </p:nvPr>
        </p:nvSpPr>
        <p:spPr/>
        <p:txBody>
          <a:bodyPr>
            <a:normAutofit fontScale="90000"/>
          </a:bodyPr>
          <a:lstStyle/>
          <a:p>
            <a:r>
              <a:rPr lang="zh-CN" altLang="en-US" dirty="0"/>
              <a:t>动态链接过程示例</a:t>
            </a:r>
          </a:p>
        </p:txBody>
      </p:sp>
      <p:sp>
        <p:nvSpPr>
          <p:cNvPr id="3" name="内容占位符 2">
            <a:extLst>
              <a:ext uri="{FF2B5EF4-FFF2-40B4-BE49-F238E27FC236}">
                <a16:creationId xmlns:a16="http://schemas.microsoft.com/office/drawing/2014/main" id="{23A4B468-1259-42FA-8E44-2134F46FBC24}"/>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11986743-20AF-4D1D-A49B-9B575C8BDE8A}"/>
              </a:ext>
            </a:extLst>
          </p:cNvPr>
          <p:cNvSpPr>
            <a:spLocks noGrp="1"/>
          </p:cNvSpPr>
          <p:nvPr>
            <p:ph type="sldNum" sz="quarter" idx="12"/>
          </p:nvPr>
        </p:nvSpPr>
        <p:spPr/>
        <p:txBody>
          <a:bodyPr/>
          <a:lstStyle/>
          <a:p>
            <a:fld id="{6D62327B-ED8D-4CFC-ADD0-A75FA5CBE281}" type="slidenum">
              <a:rPr lang="zh-CN" altLang="en-US" smtClean="0"/>
              <a:pPr/>
              <a:t>49</a:t>
            </a:fld>
            <a:endParaRPr lang="zh-CN" altLang="en-US" dirty="0"/>
          </a:p>
        </p:txBody>
      </p:sp>
      <p:sp>
        <p:nvSpPr>
          <p:cNvPr id="9" name="Rectangle 6">
            <a:extLst>
              <a:ext uri="{FF2B5EF4-FFF2-40B4-BE49-F238E27FC236}">
                <a16:creationId xmlns:a16="http://schemas.microsoft.com/office/drawing/2014/main" id="{B0EC022A-E403-4CE5-93F8-4383682AF5E9}"/>
              </a:ext>
            </a:extLst>
          </p:cNvPr>
          <p:cNvSpPr>
            <a:spLocks noChangeArrowheads="1"/>
          </p:cNvSpPr>
          <p:nvPr/>
        </p:nvSpPr>
        <p:spPr bwMode="auto">
          <a:xfrm>
            <a:off x="5577629" y="4628322"/>
            <a:ext cx="1371600" cy="632394"/>
          </a:xfrm>
          <a:prstGeom prst="rect">
            <a:avLst/>
          </a:prstGeom>
          <a:solidFill>
            <a:schemeClr val="accent2">
              <a:lumMod val="20000"/>
              <a:lumOff val="80000"/>
            </a:schemeClr>
          </a:solidFill>
          <a:ln w="28440">
            <a:solidFill>
              <a:schemeClr val="tx1"/>
            </a:solidFill>
            <a:miter lim="800000"/>
            <a:headEnd/>
            <a:tailEnd/>
          </a:ln>
          <a:effectLst/>
        </p:spPr>
        <p:txBody>
          <a:bodyPr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dirty="0">
                <a:latin typeface="Calibri" pitchFamily="34" charset="0"/>
                <a:ea typeface="msgothic" charset="0"/>
                <a:cs typeface="msgothic" charset="0"/>
              </a:rPr>
              <a:t>加载器</a:t>
            </a:r>
            <a:endParaRPr lang="en-US" altLang="zh-CN" sz="18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dirty="0">
                <a:latin typeface="Calibri" pitchFamily="34" charset="0"/>
                <a:ea typeface="msgothic" charset="0"/>
                <a:cs typeface="msgothic" charset="0"/>
              </a:rPr>
              <a:t>(</a:t>
            </a:r>
            <a:r>
              <a:rPr lang="en-US" b="1" dirty="0" err="1">
                <a:latin typeface="Calibri" pitchFamily="34" charset="0"/>
                <a:ea typeface="msgothic" charset="0"/>
                <a:cs typeface="msgothic" charset="0"/>
              </a:rPr>
              <a:t>execve</a:t>
            </a:r>
            <a:r>
              <a:rPr lang="en-US" b="1" dirty="0">
                <a:latin typeface="Calibri" pitchFamily="34" charset="0"/>
                <a:ea typeface="msgothic" charset="0"/>
                <a:cs typeface="msgothic" charset="0"/>
              </a:rPr>
              <a:t>)</a:t>
            </a:r>
            <a:endParaRPr lang="en-GB" sz="1800" b="1" dirty="0">
              <a:latin typeface="Calibri" pitchFamily="34" charset="0"/>
              <a:ea typeface="msgothic" charset="0"/>
              <a:cs typeface="msgothic" charset="0"/>
            </a:endParaRPr>
          </a:p>
        </p:txBody>
      </p:sp>
      <p:sp>
        <p:nvSpPr>
          <p:cNvPr id="10" name="Text Box 7">
            <a:extLst>
              <a:ext uri="{FF2B5EF4-FFF2-40B4-BE49-F238E27FC236}">
                <a16:creationId xmlns:a16="http://schemas.microsoft.com/office/drawing/2014/main" id="{27C58810-92A7-4371-9560-0C8ED6CD7C65}"/>
              </a:ext>
            </a:extLst>
          </p:cNvPr>
          <p:cNvSpPr txBox="1">
            <a:spLocks noChangeArrowheads="1"/>
          </p:cNvSpPr>
          <p:nvPr/>
        </p:nvSpPr>
        <p:spPr bwMode="auto">
          <a:xfrm>
            <a:off x="6899477" y="1850845"/>
            <a:ext cx="1836057" cy="619401"/>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ourier New" pitchFamily="49" charset="0"/>
                <a:ea typeface="msgothic" charset="0"/>
                <a:cs typeface="msgothic" charset="0"/>
              </a:rPr>
              <a:t>libc.so</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dirty="0">
                <a:latin typeface="Courier New" pitchFamily="49" charset="0"/>
                <a:ea typeface="msgothic" charset="0"/>
                <a:cs typeface="msgothic" charset="0"/>
              </a:rPr>
              <a:t>libvector.so</a:t>
            </a:r>
            <a:endParaRPr lang="en-GB" sz="1800" b="1" dirty="0">
              <a:latin typeface="Courier New" pitchFamily="49" charset="0"/>
              <a:ea typeface="msgothic" charset="0"/>
              <a:cs typeface="msgothic" charset="0"/>
            </a:endParaRPr>
          </a:p>
        </p:txBody>
      </p:sp>
      <p:sp>
        <p:nvSpPr>
          <p:cNvPr id="11" name="Text Box 8">
            <a:extLst>
              <a:ext uri="{FF2B5EF4-FFF2-40B4-BE49-F238E27FC236}">
                <a16:creationId xmlns:a16="http://schemas.microsoft.com/office/drawing/2014/main" id="{5D2B96CC-0DF5-4435-BD0A-BC5D828CD2A2}"/>
              </a:ext>
            </a:extLst>
          </p:cNvPr>
          <p:cNvSpPr txBox="1">
            <a:spLocks noChangeArrowheads="1"/>
          </p:cNvSpPr>
          <p:nvPr/>
        </p:nvSpPr>
        <p:spPr bwMode="auto">
          <a:xfrm>
            <a:off x="3963154" y="5679758"/>
            <a:ext cx="1621113" cy="560796"/>
          </a:xfrm>
          <a:prstGeom prst="rect">
            <a:avLst/>
          </a:prstGeom>
          <a:noFill/>
          <a:ln w="9525">
            <a:noFill/>
            <a:round/>
            <a:headEnd/>
            <a:tailEnd/>
          </a:ln>
          <a:effectLst/>
        </p:spPr>
        <p:txBody>
          <a:bodyPr wrap="squar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ourier New" pitchFamily="49" charset="0"/>
                <a:ea typeface="msgothic" charset="0"/>
                <a:cs typeface="msgothic" charset="0"/>
              </a:rPr>
              <a:t>内存中完全连接的可执行文件</a:t>
            </a:r>
            <a:endParaRPr lang="en-GB" sz="1600" b="1" dirty="0">
              <a:latin typeface="Courier New" pitchFamily="49" charset="0"/>
              <a:ea typeface="msgothic" charset="0"/>
              <a:cs typeface="msgothic" charset="0"/>
            </a:endParaRPr>
          </a:p>
        </p:txBody>
      </p:sp>
      <p:sp>
        <p:nvSpPr>
          <p:cNvPr id="14" name="Line 11">
            <a:extLst>
              <a:ext uri="{FF2B5EF4-FFF2-40B4-BE49-F238E27FC236}">
                <a16:creationId xmlns:a16="http://schemas.microsoft.com/office/drawing/2014/main" id="{E0266D17-49AC-40FD-A6FE-8153184904A3}"/>
              </a:ext>
            </a:extLst>
          </p:cNvPr>
          <p:cNvSpPr>
            <a:spLocks noChangeShapeType="1"/>
          </p:cNvSpPr>
          <p:nvPr/>
        </p:nvSpPr>
        <p:spPr bwMode="auto">
          <a:xfrm>
            <a:off x="6263429" y="4182383"/>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15" name="Line 12">
            <a:extLst>
              <a:ext uri="{FF2B5EF4-FFF2-40B4-BE49-F238E27FC236}">
                <a16:creationId xmlns:a16="http://schemas.microsoft.com/office/drawing/2014/main" id="{2B9E3641-CA48-4295-BE19-983B6001FAEC}"/>
              </a:ext>
            </a:extLst>
          </p:cNvPr>
          <p:cNvSpPr>
            <a:spLocks noChangeShapeType="1"/>
          </p:cNvSpPr>
          <p:nvPr/>
        </p:nvSpPr>
        <p:spPr bwMode="auto">
          <a:xfrm>
            <a:off x="7759354" y="2522043"/>
            <a:ext cx="1588" cy="471488"/>
          </a:xfrm>
          <a:prstGeom prst="line">
            <a:avLst/>
          </a:prstGeom>
          <a:noFill/>
          <a:ln w="28440">
            <a:solidFill>
              <a:srgbClr val="000066"/>
            </a:solidFill>
            <a:miter lim="800000"/>
            <a:headEnd/>
            <a:tailEnd type="triangle" w="med" len="med"/>
          </a:ln>
          <a:effectLst/>
        </p:spPr>
        <p:txBody>
          <a:bodyPr/>
          <a:lstStyle/>
          <a:p>
            <a:endParaRPr lang="en-US"/>
          </a:p>
        </p:txBody>
      </p:sp>
      <p:sp>
        <p:nvSpPr>
          <p:cNvPr id="18" name="Rectangle 15">
            <a:extLst>
              <a:ext uri="{FF2B5EF4-FFF2-40B4-BE49-F238E27FC236}">
                <a16:creationId xmlns:a16="http://schemas.microsoft.com/office/drawing/2014/main" id="{3B871A4C-9710-42FF-934A-7295E969DDE0}"/>
              </a:ext>
            </a:extLst>
          </p:cNvPr>
          <p:cNvSpPr>
            <a:spLocks noChangeArrowheads="1"/>
          </p:cNvSpPr>
          <p:nvPr/>
        </p:nvSpPr>
        <p:spPr bwMode="auto">
          <a:xfrm>
            <a:off x="5580112" y="5744697"/>
            <a:ext cx="3276772" cy="360909"/>
          </a:xfrm>
          <a:prstGeom prst="rect">
            <a:avLst/>
          </a:prstGeom>
          <a:solidFill>
            <a:schemeClr val="accent2">
              <a:lumMod val="20000"/>
              <a:lumOff val="80000"/>
            </a:schemeClr>
          </a:solidFill>
          <a:ln w="28440">
            <a:solidFill>
              <a:schemeClr val="tx1"/>
            </a:solidFill>
            <a:miter lim="800000"/>
            <a:headEnd/>
            <a:tailEnd/>
          </a:ln>
          <a:effectLst/>
        </p:spPr>
        <p:txBody>
          <a:bodyPr wrap="square"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dirty="0">
                <a:latin typeface="Calibri" pitchFamily="34" charset="0"/>
                <a:ea typeface="msgothic" charset="0"/>
                <a:cs typeface="msgothic" charset="0"/>
              </a:rPr>
              <a:t>动态链接器</a:t>
            </a:r>
            <a:r>
              <a:rPr lang="en-US" altLang="zh-CN" sz="1800" b="1" dirty="0">
                <a:latin typeface="Calibri" pitchFamily="34" charset="0"/>
                <a:ea typeface="msgothic" charset="0"/>
                <a:cs typeface="msgothic" charset="0"/>
              </a:rPr>
              <a:t>(ld-linux.so)</a:t>
            </a:r>
            <a:endParaRPr lang="en-GB" sz="1800" b="1" dirty="0">
              <a:latin typeface="Calibri" pitchFamily="34" charset="0"/>
              <a:ea typeface="msgothic" charset="0"/>
              <a:cs typeface="msgothic" charset="0"/>
            </a:endParaRPr>
          </a:p>
        </p:txBody>
      </p:sp>
      <p:sp>
        <p:nvSpPr>
          <p:cNvPr id="20" name="Rectangle 17">
            <a:extLst>
              <a:ext uri="{FF2B5EF4-FFF2-40B4-BE49-F238E27FC236}">
                <a16:creationId xmlns:a16="http://schemas.microsoft.com/office/drawing/2014/main" id="{735B9A26-0125-4B48-8329-C855E3E7F852}"/>
              </a:ext>
            </a:extLst>
          </p:cNvPr>
          <p:cNvSpPr>
            <a:spLocks noChangeArrowheads="1"/>
          </p:cNvSpPr>
          <p:nvPr/>
        </p:nvSpPr>
        <p:spPr bwMode="auto">
          <a:xfrm>
            <a:off x="5596472" y="3026000"/>
            <a:ext cx="2359903" cy="360909"/>
          </a:xfrm>
          <a:prstGeom prst="rect">
            <a:avLst/>
          </a:prstGeom>
          <a:solidFill>
            <a:schemeClr val="accent2">
              <a:lumMod val="20000"/>
              <a:lumOff val="80000"/>
            </a:schemeClr>
          </a:solidFill>
          <a:ln w="28440">
            <a:solidFill>
              <a:schemeClr val="tx1"/>
            </a:solidFill>
            <a:miter lim="800000"/>
            <a:headEnd/>
            <a:tailEnd/>
          </a:ln>
          <a:effectLst/>
        </p:spPr>
        <p:txBody>
          <a:bodyPr wrap="square"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dirty="0">
                <a:latin typeface="Calibri" pitchFamily="34" charset="0"/>
                <a:ea typeface="msgothic" charset="0"/>
                <a:cs typeface="msgothic" charset="0"/>
              </a:rPr>
              <a:t>链接器</a:t>
            </a:r>
            <a:r>
              <a:rPr lang="en-US" altLang="zh-CN" sz="1800" b="1" dirty="0">
                <a:latin typeface="Calibri" pitchFamily="34" charset="0"/>
                <a:ea typeface="msgothic" charset="0"/>
                <a:cs typeface="msgothic" charset="0"/>
              </a:rPr>
              <a:t>(</a:t>
            </a:r>
            <a:r>
              <a:rPr lang="en-US" altLang="zh-CN" sz="1800" b="1" dirty="0" err="1">
                <a:latin typeface="Calibri" pitchFamily="34" charset="0"/>
                <a:ea typeface="msgothic" charset="0"/>
                <a:cs typeface="msgothic" charset="0"/>
              </a:rPr>
              <a:t>ld</a:t>
            </a:r>
            <a:r>
              <a:rPr lang="en-US" altLang="zh-CN" sz="1800" b="1" dirty="0">
                <a:latin typeface="Calibri" pitchFamily="34" charset="0"/>
                <a:ea typeface="msgothic" charset="0"/>
                <a:cs typeface="msgothic" charset="0"/>
              </a:rPr>
              <a:t>)</a:t>
            </a:r>
            <a:endParaRPr lang="en-GB" sz="1800" b="1" dirty="0">
              <a:latin typeface="Calibri" pitchFamily="34" charset="0"/>
              <a:ea typeface="msgothic" charset="0"/>
              <a:cs typeface="msgothic" charset="0"/>
            </a:endParaRPr>
          </a:p>
        </p:txBody>
      </p:sp>
      <p:sp>
        <p:nvSpPr>
          <p:cNvPr id="21" name="Text Box 18">
            <a:extLst>
              <a:ext uri="{FF2B5EF4-FFF2-40B4-BE49-F238E27FC236}">
                <a16:creationId xmlns:a16="http://schemas.microsoft.com/office/drawing/2014/main" id="{D57A19B1-4A09-45B2-AC7C-BFD70CFA4ABE}"/>
              </a:ext>
            </a:extLst>
          </p:cNvPr>
          <p:cNvSpPr txBox="1">
            <a:spLocks noChangeArrowheads="1"/>
          </p:cNvSpPr>
          <p:nvPr/>
        </p:nvSpPr>
        <p:spPr bwMode="auto">
          <a:xfrm>
            <a:off x="5363690" y="469670"/>
            <a:ext cx="1008907" cy="359010"/>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itchFamily="49" charset="0"/>
                <a:ea typeface="msgothic" charset="0"/>
                <a:cs typeface="msgothic" charset="0"/>
              </a:rPr>
              <a:t>main.c</a:t>
            </a:r>
            <a:endParaRPr lang="en-GB" sz="1800" b="1" dirty="0">
              <a:latin typeface="Courier New" pitchFamily="49" charset="0"/>
              <a:ea typeface="msgothic" charset="0"/>
              <a:cs typeface="msgothic" charset="0"/>
            </a:endParaRPr>
          </a:p>
        </p:txBody>
      </p:sp>
      <p:sp>
        <p:nvSpPr>
          <p:cNvPr id="22" name="Text Box 19">
            <a:extLst>
              <a:ext uri="{FF2B5EF4-FFF2-40B4-BE49-F238E27FC236}">
                <a16:creationId xmlns:a16="http://schemas.microsoft.com/office/drawing/2014/main" id="{CE9F88B8-267F-424D-8178-945233B26C46}"/>
              </a:ext>
            </a:extLst>
          </p:cNvPr>
          <p:cNvSpPr txBox="1">
            <a:spLocks noChangeArrowheads="1"/>
          </p:cNvSpPr>
          <p:nvPr/>
        </p:nvSpPr>
        <p:spPr bwMode="auto">
          <a:xfrm>
            <a:off x="5796136" y="3825642"/>
            <a:ext cx="1008907" cy="359010"/>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ourier New" pitchFamily="49" charset="0"/>
                <a:ea typeface="msgothic" charset="0"/>
                <a:cs typeface="msgothic" charset="0"/>
              </a:rPr>
              <a:t>prog21</a:t>
            </a:r>
          </a:p>
        </p:txBody>
      </p:sp>
      <p:sp>
        <p:nvSpPr>
          <p:cNvPr id="23" name="Line 20">
            <a:extLst>
              <a:ext uri="{FF2B5EF4-FFF2-40B4-BE49-F238E27FC236}">
                <a16:creationId xmlns:a16="http://schemas.microsoft.com/office/drawing/2014/main" id="{67480B31-57AF-431E-B9CB-F766CFE2EE93}"/>
              </a:ext>
            </a:extLst>
          </p:cNvPr>
          <p:cNvSpPr>
            <a:spLocks noChangeShapeType="1"/>
          </p:cNvSpPr>
          <p:nvPr/>
        </p:nvSpPr>
        <p:spPr bwMode="auto">
          <a:xfrm>
            <a:off x="6263835" y="3462016"/>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4" name="Line 21">
            <a:extLst>
              <a:ext uri="{FF2B5EF4-FFF2-40B4-BE49-F238E27FC236}">
                <a16:creationId xmlns:a16="http://schemas.microsoft.com/office/drawing/2014/main" id="{E4E85472-BBEC-47BF-976A-6B97EA79F824}"/>
              </a:ext>
            </a:extLst>
          </p:cNvPr>
          <p:cNvSpPr>
            <a:spLocks noChangeShapeType="1"/>
          </p:cNvSpPr>
          <p:nvPr/>
        </p:nvSpPr>
        <p:spPr bwMode="auto">
          <a:xfrm>
            <a:off x="6263429" y="5298758"/>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29" name="Line 11">
            <a:extLst>
              <a:ext uri="{FF2B5EF4-FFF2-40B4-BE49-F238E27FC236}">
                <a16:creationId xmlns:a16="http://schemas.microsoft.com/office/drawing/2014/main" id="{BF517A9C-6D72-4F1C-BD5C-B53875F4CC86}"/>
              </a:ext>
            </a:extLst>
          </p:cNvPr>
          <p:cNvSpPr>
            <a:spLocks noChangeShapeType="1"/>
          </p:cNvSpPr>
          <p:nvPr/>
        </p:nvSpPr>
        <p:spPr bwMode="auto">
          <a:xfrm>
            <a:off x="6268737" y="2601897"/>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0" name="Text Box 19">
            <a:extLst>
              <a:ext uri="{FF2B5EF4-FFF2-40B4-BE49-F238E27FC236}">
                <a16:creationId xmlns:a16="http://schemas.microsoft.com/office/drawing/2014/main" id="{23A4876A-D1C9-49B2-B925-4F6A3E1E3CE0}"/>
              </a:ext>
            </a:extLst>
          </p:cNvPr>
          <p:cNvSpPr txBox="1">
            <a:spLocks noChangeArrowheads="1"/>
          </p:cNvSpPr>
          <p:nvPr/>
        </p:nvSpPr>
        <p:spPr bwMode="auto">
          <a:xfrm>
            <a:off x="5801444" y="2245156"/>
            <a:ext cx="1146766" cy="359010"/>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zh-CN" sz="1800" b="1" dirty="0">
                <a:latin typeface="Courier New" pitchFamily="49" charset="0"/>
                <a:ea typeface="msgothic" charset="0"/>
                <a:cs typeface="msgothic" charset="0"/>
              </a:rPr>
              <a:t>main2.o</a:t>
            </a:r>
            <a:endParaRPr lang="en-GB" sz="1800" b="1" dirty="0">
              <a:latin typeface="Courier New" pitchFamily="49" charset="0"/>
              <a:ea typeface="msgothic" charset="0"/>
              <a:cs typeface="msgothic" charset="0"/>
            </a:endParaRPr>
          </a:p>
        </p:txBody>
      </p:sp>
      <p:sp>
        <p:nvSpPr>
          <p:cNvPr id="31" name="Line 20">
            <a:extLst>
              <a:ext uri="{FF2B5EF4-FFF2-40B4-BE49-F238E27FC236}">
                <a16:creationId xmlns:a16="http://schemas.microsoft.com/office/drawing/2014/main" id="{CADFADDF-91CB-4A73-873F-ED8200691E7F}"/>
              </a:ext>
            </a:extLst>
          </p:cNvPr>
          <p:cNvSpPr>
            <a:spLocks noChangeShapeType="1"/>
          </p:cNvSpPr>
          <p:nvPr/>
        </p:nvSpPr>
        <p:spPr bwMode="auto">
          <a:xfrm>
            <a:off x="6269531" y="1942747"/>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2" name="Rectangle 6">
            <a:extLst>
              <a:ext uri="{FF2B5EF4-FFF2-40B4-BE49-F238E27FC236}">
                <a16:creationId xmlns:a16="http://schemas.microsoft.com/office/drawing/2014/main" id="{57AD2A5A-12D9-40E7-B1DF-54BFBAF7CD84}"/>
              </a:ext>
            </a:extLst>
          </p:cNvPr>
          <p:cNvSpPr>
            <a:spLocks noChangeArrowheads="1"/>
          </p:cNvSpPr>
          <p:nvPr/>
        </p:nvSpPr>
        <p:spPr bwMode="auto">
          <a:xfrm>
            <a:off x="5577629" y="1234031"/>
            <a:ext cx="1423800" cy="632394"/>
          </a:xfrm>
          <a:prstGeom prst="rect">
            <a:avLst/>
          </a:prstGeom>
          <a:solidFill>
            <a:schemeClr val="accent2">
              <a:lumMod val="20000"/>
              <a:lumOff val="80000"/>
            </a:schemeClr>
          </a:solidFill>
          <a:ln w="28440">
            <a:solidFill>
              <a:schemeClr val="tx1"/>
            </a:solidFill>
            <a:miter lim="800000"/>
            <a:headEnd/>
            <a:tailEnd/>
          </a:ln>
          <a:effectLst/>
        </p:spPr>
        <p:txBody>
          <a:bodyPr wrap="square" lIns="90360" tIns="44280" rIns="90360" bIns="44280">
            <a:spAutoFit/>
          </a:bodyP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800" b="1" dirty="0">
                <a:latin typeface="Calibri" pitchFamily="34" charset="0"/>
                <a:ea typeface="msgothic" charset="0"/>
                <a:cs typeface="msgothic" charset="0"/>
              </a:rPr>
              <a:t>翻译器</a:t>
            </a:r>
            <a:endParaRPr lang="en-US" altLang="zh-CN" sz="1800" b="1" dirty="0">
              <a:latin typeface="Calibri" pitchFamily="34" charset="0"/>
              <a:ea typeface="msgothic" charset="0"/>
              <a:cs typeface="msgothic" charset="0"/>
            </a:endParaRP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b="1" dirty="0">
                <a:latin typeface="Calibri" pitchFamily="34" charset="0"/>
                <a:ea typeface="msgothic" charset="0"/>
                <a:cs typeface="msgothic" charset="0"/>
              </a:rPr>
              <a:t>(</a:t>
            </a:r>
            <a:r>
              <a:rPr lang="en-US" altLang="zh-CN" b="1" dirty="0" err="1">
                <a:latin typeface="Calibri" pitchFamily="34" charset="0"/>
                <a:ea typeface="msgothic" charset="0"/>
                <a:cs typeface="msgothic" charset="0"/>
              </a:rPr>
              <a:t>cpp</a:t>
            </a:r>
            <a:r>
              <a:rPr lang="en-US" altLang="zh-CN" b="1" dirty="0">
                <a:latin typeface="Calibri" pitchFamily="34" charset="0"/>
                <a:ea typeface="msgothic" charset="0"/>
                <a:cs typeface="msgothic" charset="0"/>
              </a:rPr>
              <a:t>, cc1, as</a:t>
            </a:r>
            <a:r>
              <a:rPr lang="en-US" b="1" dirty="0">
                <a:latin typeface="Calibri" pitchFamily="34" charset="0"/>
                <a:ea typeface="msgothic" charset="0"/>
                <a:cs typeface="msgothic" charset="0"/>
              </a:rPr>
              <a:t>)</a:t>
            </a:r>
            <a:endParaRPr lang="en-GB" sz="1800" b="1" dirty="0">
              <a:latin typeface="Calibri" pitchFamily="34" charset="0"/>
              <a:ea typeface="msgothic" charset="0"/>
              <a:cs typeface="msgothic" charset="0"/>
            </a:endParaRPr>
          </a:p>
        </p:txBody>
      </p:sp>
      <p:sp>
        <p:nvSpPr>
          <p:cNvPr id="33" name="Line 20">
            <a:extLst>
              <a:ext uri="{FF2B5EF4-FFF2-40B4-BE49-F238E27FC236}">
                <a16:creationId xmlns:a16="http://schemas.microsoft.com/office/drawing/2014/main" id="{C73647B0-ADE5-4857-AD77-D270B7C0ADC8}"/>
              </a:ext>
            </a:extLst>
          </p:cNvPr>
          <p:cNvSpPr>
            <a:spLocks noChangeShapeType="1"/>
          </p:cNvSpPr>
          <p:nvPr/>
        </p:nvSpPr>
        <p:spPr bwMode="auto">
          <a:xfrm>
            <a:off x="5868144" y="835470"/>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4" name="Line 20">
            <a:extLst>
              <a:ext uri="{FF2B5EF4-FFF2-40B4-BE49-F238E27FC236}">
                <a16:creationId xmlns:a16="http://schemas.microsoft.com/office/drawing/2014/main" id="{068EA594-973C-4383-ACBE-E19B1565C13A}"/>
              </a:ext>
            </a:extLst>
          </p:cNvPr>
          <p:cNvSpPr>
            <a:spLocks noChangeShapeType="1"/>
          </p:cNvSpPr>
          <p:nvPr/>
        </p:nvSpPr>
        <p:spPr bwMode="auto">
          <a:xfrm>
            <a:off x="6770136" y="831480"/>
            <a:ext cx="1588" cy="381000"/>
          </a:xfrm>
          <a:prstGeom prst="line">
            <a:avLst/>
          </a:prstGeom>
          <a:noFill/>
          <a:ln w="28440">
            <a:solidFill>
              <a:srgbClr val="000066"/>
            </a:solidFill>
            <a:miter lim="800000"/>
            <a:headEnd/>
            <a:tailEnd type="triangle" w="med" len="med"/>
          </a:ln>
          <a:effectLst/>
        </p:spPr>
        <p:txBody>
          <a:bodyPr/>
          <a:lstStyle/>
          <a:p>
            <a:endParaRPr lang="en-US"/>
          </a:p>
        </p:txBody>
      </p:sp>
      <p:sp>
        <p:nvSpPr>
          <p:cNvPr id="35" name="Text Box 18">
            <a:extLst>
              <a:ext uri="{FF2B5EF4-FFF2-40B4-BE49-F238E27FC236}">
                <a16:creationId xmlns:a16="http://schemas.microsoft.com/office/drawing/2014/main" id="{68F1B67B-A1AB-42DE-A3E2-6243D8A77199}"/>
              </a:ext>
            </a:extLst>
          </p:cNvPr>
          <p:cNvSpPr txBox="1">
            <a:spLocks noChangeArrowheads="1"/>
          </p:cNvSpPr>
          <p:nvPr/>
        </p:nvSpPr>
        <p:spPr bwMode="auto">
          <a:xfrm>
            <a:off x="6403955" y="481559"/>
            <a:ext cx="1284624" cy="359010"/>
          </a:xfrm>
          <a:prstGeom prst="rect">
            <a:avLst/>
          </a:prstGeom>
          <a:noFill/>
          <a:ln w="9525">
            <a:noFill/>
            <a:round/>
            <a:headEnd/>
            <a:tailEnd/>
          </a:ln>
          <a:effectLst/>
        </p:spPr>
        <p:txBody>
          <a:bodyPr wrap="non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err="1">
                <a:latin typeface="Courier New" pitchFamily="49" charset="0"/>
                <a:ea typeface="msgothic" charset="0"/>
                <a:cs typeface="msgothic" charset="0"/>
              </a:rPr>
              <a:t>vector.h</a:t>
            </a:r>
            <a:endParaRPr lang="en-GB" sz="1800" b="1" dirty="0">
              <a:latin typeface="Courier New" pitchFamily="49" charset="0"/>
              <a:ea typeface="msgothic" charset="0"/>
              <a:cs typeface="msgothic" charset="0"/>
            </a:endParaRPr>
          </a:p>
        </p:txBody>
      </p:sp>
      <p:sp>
        <p:nvSpPr>
          <p:cNvPr id="36" name="Line 12">
            <a:extLst>
              <a:ext uri="{FF2B5EF4-FFF2-40B4-BE49-F238E27FC236}">
                <a16:creationId xmlns:a16="http://schemas.microsoft.com/office/drawing/2014/main" id="{B8398267-108F-40FE-951D-3495315F5471}"/>
              </a:ext>
            </a:extLst>
          </p:cNvPr>
          <p:cNvSpPr>
            <a:spLocks noChangeShapeType="1"/>
          </p:cNvSpPr>
          <p:nvPr/>
        </p:nvSpPr>
        <p:spPr bwMode="auto">
          <a:xfrm>
            <a:off x="8028384" y="5238364"/>
            <a:ext cx="1588" cy="471488"/>
          </a:xfrm>
          <a:prstGeom prst="line">
            <a:avLst/>
          </a:prstGeom>
          <a:noFill/>
          <a:ln w="28440">
            <a:solidFill>
              <a:srgbClr val="000066"/>
            </a:solidFill>
            <a:miter lim="800000"/>
            <a:headEnd/>
            <a:tailEnd type="triangle" w="med" len="med"/>
          </a:ln>
          <a:effectLst/>
        </p:spPr>
        <p:txBody>
          <a:bodyPr/>
          <a:lstStyle/>
          <a:p>
            <a:endParaRPr lang="en-US"/>
          </a:p>
        </p:txBody>
      </p:sp>
      <p:sp>
        <p:nvSpPr>
          <p:cNvPr id="37" name="Text Box 7">
            <a:extLst>
              <a:ext uri="{FF2B5EF4-FFF2-40B4-BE49-F238E27FC236}">
                <a16:creationId xmlns:a16="http://schemas.microsoft.com/office/drawing/2014/main" id="{12A320D4-E29E-4381-9F7B-54716B7F9AB7}"/>
              </a:ext>
            </a:extLst>
          </p:cNvPr>
          <p:cNvSpPr txBox="1">
            <a:spLocks noChangeArrowheads="1"/>
          </p:cNvSpPr>
          <p:nvPr/>
        </p:nvSpPr>
        <p:spPr bwMode="auto">
          <a:xfrm>
            <a:off x="7110355" y="4562572"/>
            <a:ext cx="1836057" cy="619401"/>
          </a:xfrm>
          <a:prstGeom prst="rect">
            <a:avLst/>
          </a:prstGeom>
          <a:noFill/>
          <a:ln w="9525">
            <a:noFill/>
            <a:round/>
            <a:headEnd/>
            <a:tailEnd/>
          </a:ln>
          <a:effectLst/>
        </p:spPr>
        <p:txBody>
          <a:bodyPr wrap="none" lIns="90000" tIns="46800" rIns="90000" bIns="46800">
            <a:spAutoFit/>
          </a:bodyPr>
          <a:lstStyle/>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800" b="1" dirty="0">
                <a:latin typeface="Courier New" pitchFamily="49" charset="0"/>
                <a:ea typeface="msgothic" charset="0"/>
                <a:cs typeface="msgothic" charset="0"/>
              </a:rPr>
              <a:t>libc.so</a:t>
            </a:r>
          </a:p>
          <a:p>
            <a:pPr algn="ct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b="1" dirty="0">
                <a:latin typeface="Courier New" pitchFamily="49" charset="0"/>
                <a:ea typeface="msgothic" charset="0"/>
                <a:cs typeface="msgothic" charset="0"/>
              </a:rPr>
              <a:t>libvector.so</a:t>
            </a:r>
            <a:endParaRPr lang="en-GB" sz="1800" b="1" dirty="0">
              <a:latin typeface="Courier New" pitchFamily="49" charset="0"/>
              <a:ea typeface="msgothic" charset="0"/>
              <a:cs typeface="msgothic" charset="0"/>
            </a:endParaRPr>
          </a:p>
        </p:txBody>
      </p:sp>
      <p:sp>
        <p:nvSpPr>
          <p:cNvPr id="38" name="Text Box 8">
            <a:extLst>
              <a:ext uri="{FF2B5EF4-FFF2-40B4-BE49-F238E27FC236}">
                <a16:creationId xmlns:a16="http://schemas.microsoft.com/office/drawing/2014/main" id="{7EA77899-201D-42AD-9A06-EABA05521211}"/>
              </a:ext>
            </a:extLst>
          </p:cNvPr>
          <p:cNvSpPr txBox="1">
            <a:spLocks noChangeArrowheads="1"/>
          </p:cNvSpPr>
          <p:nvPr/>
        </p:nvSpPr>
        <p:spPr bwMode="auto">
          <a:xfrm>
            <a:off x="4384120" y="3774016"/>
            <a:ext cx="1546793" cy="560796"/>
          </a:xfrm>
          <a:prstGeom prst="rect">
            <a:avLst/>
          </a:prstGeom>
          <a:noFill/>
          <a:ln w="9525">
            <a:noFill/>
            <a:round/>
            <a:headEnd/>
            <a:tailEnd/>
          </a:ln>
          <a:effectLst/>
        </p:spPr>
        <p:txBody>
          <a:bodyPr wrap="squar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ourier New" pitchFamily="49" charset="0"/>
                <a:ea typeface="msgothic" charset="0"/>
                <a:cs typeface="msgothic" charset="0"/>
              </a:rPr>
              <a:t>部分链接的可执行目标文件</a:t>
            </a:r>
            <a:endParaRPr lang="en-GB" sz="1600" b="1" dirty="0">
              <a:latin typeface="Courier New" pitchFamily="49" charset="0"/>
              <a:ea typeface="msgothic" charset="0"/>
              <a:cs typeface="msgothic" charset="0"/>
            </a:endParaRPr>
          </a:p>
        </p:txBody>
      </p:sp>
      <p:sp>
        <p:nvSpPr>
          <p:cNvPr id="39" name="Text Box 8">
            <a:extLst>
              <a:ext uri="{FF2B5EF4-FFF2-40B4-BE49-F238E27FC236}">
                <a16:creationId xmlns:a16="http://schemas.microsoft.com/office/drawing/2014/main" id="{64267CA5-C7D5-47F3-9C23-B160335D1950}"/>
              </a:ext>
            </a:extLst>
          </p:cNvPr>
          <p:cNvSpPr txBox="1">
            <a:spLocks noChangeArrowheads="1"/>
          </p:cNvSpPr>
          <p:nvPr/>
        </p:nvSpPr>
        <p:spPr bwMode="auto">
          <a:xfrm>
            <a:off x="4001128" y="2282575"/>
            <a:ext cx="1867015" cy="329322"/>
          </a:xfrm>
          <a:prstGeom prst="rect">
            <a:avLst/>
          </a:prstGeom>
          <a:noFill/>
          <a:ln w="9525">
            <a:noFill/>
            <a:round/>
            <a:headEnd/>
            <a:tailEnd/>
          </a:ln>
          <a:effectLst/>
        </p:spPr>
        <p:txBody>
          <a:bodyPr wrap="squar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ourier New" pitchFamily="49" charset="0"/>
                <a:ea typeface="msgothic" charset="0"/>
                <a:cs typeface="msgothic" charset="0"/>
              </a:rPr>
              <a:t>可重定位目标文件</a:t>
            </a:r>
            <a:endParaRPr lang="en-GB" sz="1600" b="1" dirty="0">
              <a:latin typeface="Courier New" pitchFamily="49" charset="0"/>
              <a:ea typeface="msgothic" charset="0"/>
              <a:cs typeface="msgothic" charset="0"/>
            </a:endParaRPr>
          </a:p>
        </p:txBody>
      </p:sp>
      <p:sp>
        <p:nvSpPr>
          <p:cNvPr id="40" name="Text Box 8">
            <a:extLst>
              <a:ext uri="{FF2B5EF4-FFF2-40B4-BE49-F238E27FC236}">
                <a16:creationId xmlns:a16="http://schemas.microsoft.com/office/drawing/2014/main" id="{7D649597-5021-405D-9156-B32C52AF4B0B}"/>
              </a:ext>
            </a:extLst>
          </p:cNvPr>
          <p:cNvSpPr txBox="1">
            <a:spLocks noChangeArrowheads="1"/>
          </p:cNvSpPr>
          <p:nvPr/>
        </p:nvSpPr>
        <p:spPr bwMode="auto">
          <a:xfrm>
            <a:off x="7866084" y="2422101"/>
            <a:ext cx="1221310" cy="560796"/>
          </a:xfrm>
          <a:prstGeom prst="rect">
            <a:avLst/>
          </a:prstGeom>
          <a:noFill/>
          <a:ln w="9525">
            <a:noFill/>
            <a:round/>
            <a:headEnd/>
            <a:tailEnd/>
          </a:ln>
          <a:effectLst/>
        </p:spPr>
        <p:txBody>
          <a:bodyPr wrap="squar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ourier New" pitchFamily="49" charset="0"/>
                <a:ea typeface="msgothic" charset="0"/>
                <a:cs typeface="msgothic" charset="0"/>
              </a:rPr>
              <a:t>重定位和</a:t>
            </a:r>
            <a:endParaRPr lang="en-US" altLang="zh-CN" sz="1600" b="1" dirty="0">
              <a:latin typeface="Courier New" pitchFamily="49" charset="0"/>
              <a:ea typeface="msgothic" charset="0"/>
              <a:cs typeface="msgothic" charset="0"/>
            </a:endParaRPr>
          </a:p>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ourier New" pitchFamily="49" charset="0"/>
                <a:ea typeface="msgothic" charset="0"/>
                <a:cs typeface="msgothic" charset="0"/>
              </a:rPr>
              <a:t>符号表信息</a:t>
            </a:r>
            <a:endParaRPr lang="en-GB" sz="1600" b="1" dirty="0">
              <a:latin typeface="Courier New" pitchFamily="49" charset="0"/>
              <a:ea typeface="msgothic" charset="0"/>
              <a:cs typeface="msgothic" charset="0"/>
            </a:endParaRPr>
          </a:p>
        </p:txBody>
      </p:sp>
      <p:sp>
        <p:nvSpPr>
          <p:cNvPr id="41" name="Text Box 8">
            <a:extLst>
              <a:ext uri="{FF2B5EF4-FFF2-40B4-BE49-F238E27FC236}">
                <a16:creationId xmlns:a16="http://schemas.microsoft.com/office/drawing/2014/main" id="{CDCF2AF2-ACDD-43E0-8EF4-6126918EAEA7}"/>
              </a:ext>
            </a:extLst>
          </p:cNvPr>
          <p:cNvSpPr txBox="1">
            <a:spLocks noChangeArrowheads="1"/>
          </p:cNvSpPr>
          <p:nvPr/>
        </p:nvSpPr>
        <p:spPr bwMode="auto">
          <a:xfrm>
            <a:off x="7981190" y="5276047"/>
            <a:ext cx="1221310" cy="329322"/>
          </a:xfrm>
          <a:prstGeom prst="rect">
            <a:avLst/>
          </a:prstGeom>
          <a:noFill/>
          <a:ln w="9525">
            <a:noFill/>
            <a:round/>
            <a:headEnd/>
            <a:tailEnd/>
          </a:ln>
          <a:effectLst/>
        </p:spPr>
        <p:txBody>
          <a:bodyPr wrap="square" lIns="90000" tIns="46800" rIns="90000" bIns="468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ourier New" pitchFamily="49" charset="0"/>
                <a:ea typeface="msgothic" charset="0"/>
                <a:cs typeface="msgothic" charset="0"/>
              </a:rPr>
              <a:t>代码和数据</a:t>
            </a:r>
            <a:endParaRPr lang="en-GB" sz="1600" b="1" dirty="0">
              <a:latin typeface="Courier New" pitchFamily="49" charset="0"/>
              <a:ea typeface="msgothic" charset="0"/>
              <a:cs typeface="msgothic" charset="0"/>
            </a:endParaRPr>
          </a:p>
        </p:txBody>
      </p:sp>
    </p:spTree>
    <p:extLst>
      <p:ext uri="{BB962C8B-B14F-4D97-AF65-F5344CB8AC3E}">
        <p14:creationId xmlns:p14="http://schemas.microsoft.com/office/powerpoint/2010/main" val="31955433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DBA27D-4012-4598-A1B5-1528060C06E9}"/>
              </a:ext>
            </a:extLst>
          </p:cNvPr>
          <p:cNvSpPr>
            <a:spLocks noGrp="1"/>
          </p:cNvSpPr>
          <p:nvPr>
            <p:ph type="title"/>
          </p:nvPr>
        </p:nvSpPr>
        <p:spPr/>
        <p:txBody>
          <a:bodyPr>
            <a:normAutofit fontScale="90000"/>
          </a:bodyPr>
          <a:lstStyle/>
          <a:p>
            <a:r>
              <a:rPr lang="zh-CN" altLang="en-US" dirty="0"/>
              <a:t>构造向量例程共享库</a:t>
            </a:r>
          </a:p>
        </p:txBody>
      </p:sp>
      <p:sp>
        <p:nvSpPr>
          <p:cNvPr id="3" name="内容占位符 2">
            <a:extLst>
              <a:ext uri="{FF2B5EF4-FFF2-40B4-BE49-F238E27FC236}">
                <a16:creationId xmlns:a16="http://schemas.microsoft.com/office/drawing/2014/main" id="{2A31F217-791F-459C-977C-40D6B3B80EF4}"/>
              </a:ext>
            </a:extLst>
          </p:cNvPr>
          <p:cNvSpPr>
            <a:spLocks noGrp="1"/>
          </p:cNvSpPr>
          <p:nvPr>
            <p:ph idx="1"/>
          </p:nvPr>
        </p:nvSpPr>
        <p:spPr/>
        <p:txBody>
          <a:bodyPr/>
          <a:lstStyle/>
          <a:p>
            <a:r>
              <a:rPr lang="zh-CN" altLang="en-US" dirty="0"/>
              <a:t>为向量例程创建共享库：</a:t>
            </a:r>
            <a:endParaRPr lang="en-US" altLang="zh-CN" dirty="0"/>
          </a:p>
          <a:p>
            <a:pPr lvl="1"/>
            <a:r>
              <a:rPr lang="zh-CN" altLang="en-US" dirty="0"/>
              <a:t>创建共享库</a:t>
            </a:r>
            <a:r>
              <a:rPr lang="en-US" altLang="zh-CN" dirty="0"/>
              <a:t>libvector.so</a:t>
            </a:r>
            <a:r>
              <a:rPr lang="zh-CN" altLang="en-US" dirty="0"/>
              <a:t>：</a:t>
            </a:r>
            <a:endParaRPr lang="en-US" altLang="zh-CN" dirty="0"/>
          </a:p>
          <a:p>
            <a:pPr lvl="2"/>
            <a:r>
              <a:rPr lang="en-US" altLang="zh-CN" dirty="0" err="1"/>
              <a:t>gcc</a:t>
            </a:r>
            <a:r>
              <a:rPr lang="en-US" altLang="zh-CN" dirty="0"/>
              <a:t> -shared -</a:t>
            </a:r>
            <a:r>
              <a:rPr lang="en-US" altLang="zh-CN" dirty="0" err="1"/>
              <a:t>fpic</a:t>
            </a:r>
            <a:r>
              <a:rPr lang="en-US" altLang="zh-CN" dirty="0"/>
              <a:t> -o libvector.so </a:t>
            </a:r>
            <a:r>
              <a:rPr lang="en-US" altLang="zh-CN" dirty="0" err="1"/>
              <a:t>addvec.c</a:t>
            </a:r>
            <a:r>
              <a:rPr lang="en-US" altLang="zh-CN" dirty="0"/>
              <a:t> </a:t>
            </a:r>
            <a:r>
              <a:rPr lang="en-US" altLang="zh-CN" dirty="0" err="1"/>
              <a:t>multvec.c</a:t>
            </a:r>
            <a:endParaRPr lang="en-US" altLang="zh-CN" dirty="0"/>
          </a:p>
          <a:p>
            <a:pPr lvl="3"/>
            <a:r>
              <a:rPr lang="en-US" altLang="zh-CN" dirty="0"/>
              <a:t>-</a:t>
            </a:r>
            <a:r>
              <a:rPr lang="en-US" altLang="zh-CN" dirty="0" err="1"/>
              <a:t>fpic</a:t>
            </a:r>
            <a:r>
              <a:rPr lang="zh-CN" altLang="en-US" dirty="0"/>
              <a:t>选项指示编译器生成与位置无关的代码</a:t>
            </a:r>
            <a:endParaRPr lang="en-US" altLang="zh-CN" dirty="0"/>
          </a:p>
          <a:p>
            <a:pPr lvl="3"/>
            <a:r>
              <a:rPr lang="en-US" altLang="zh-CN" dirty="0"/>
              <a:t>-shared</a:t>
            </a:r>
            <a:r>
              <a:rPr lang="zh-CN" altLang="en-US" dirty="0"/>
              <a:t>选项指示链接器创建一个共享的目标文件</a:t>
            </a:r>
            <a:endParaRPr lang="en-US" altLang="zh-CN" dirty="0"/>
          </a:p>
          <a:p>
            <a:pPr lvl="1"/>
            <a:r>
              <a:rPr lang="zh-CN" altLang="en-US" dirty="0"/>
              <a:t>将共享库链接到示例程序：</a:t>
            </a:r>
            <a:endParaRPr lang="en-US" altLang="zh-CN" dirty="0"/>
          </a:p>
          <a:p>
            <a:pPr lvl="2"/>
            <a:r>
              <a:rPr lang="en-US" altLang="zh-CN" dirty="0" err="1"/>
              <a:t>gcc</a:t>
            </a:r>
            <a:r>
              <a:rPr lang="en-US" altLang="zh-CN" dirty="0"/>
              <a:t> -o prog21 main2.c ./libvector.so</a:t>
            </a:r>
          </a:p>
          <a:p>
            <a:pPr lvl="3"/>
            <a:r>
              <a:rPr lang="zh-CN" altLang="en-US" dirty="0"/>
              <a:t>创建了可执行目标文件</a:t>
            </a:r>
            <a:r>
              <a:rPr lang="en-US" altLang="zh-CN" dirty="0"/>
              <a:t>prog21</a:t>
            </a:r>
            <a:r>
              <a:rPr lang="zh-CN" altLang="en-US" dirty="0"/>
              <a:t>，在运行时可以和</a:t>
            </a:r>
            <a:r>
              <a:rPr lang="en-US" altLang="zh-CN" dirty="0"/>
              <a:t>libvector.so</a:t>
            </a:r>
            <a:r>
              <a:rPr lang="zh-CN" altLang="en-US" dirty="0"/>
              <a:t>链接</a:t>
            </a:r>
            <a:endParaRPr lang="en-US" altLang="zh-CN" dirty="0"/>
          </a:p>
          <a:p>
            <a:endParaRPr lang="zh-CN" altLang="en-US" dirty="0"/>
          </a:p>
        </p:txBody>
      </p:sp>
      <p:sp>
        <p:nvSpPr>
          <p:cNvPr id="4" name="灯片编号占位符 3">
            <a:extLst>
              <a:ext uri="{FF2B5EF4-FFF2-40B4-BE49-F238E27FC236}">
                <a16:creationId xmlns:a16="http://schemas.microsoft.com/office/drawing/2014/main" id="{E7EC788B-9C3F-4276-8695-579ED42D77BC}"/>
              </a:ext>
            </a:extLst>
          </p:cNvPr>
          <p:cNvSpPr>
            <a:spLocks noGrp="1"/>
          </p:cNvSpPr>
          <p:nvPr>
            <p:ph type="sldNum" sz="quarter" idx="12"/>
          </p:nvPr>
        </p:nvSpPr>
        <p:spPr/>
        <p:txBody>
          <a:bodyPr/>
          <a:lstStyle/>
          <a:p>
            <a:fld id="{6D62327B-ED8D-4CFC-ADD0-A75FA5CBE281}" type="slidenum">
              <a:rPr lang="zh-CN" altLang="en-US" smtClean="0"/>
              <a:pPr/>
              <a:t>50</a:t>
            </a:fld>
            <a:endParaRPr lang="zh-CN" altLang="en-US" dirty="0"/>
          </a:p>
        </p:txBody>
      </p:sp>
      <p:pic>
        <p:nvPicPr>
          <p:cNvPr id="5" name="图片 4">
            <a:extLst>
              <a:ext uri="{FF2B5EF4-FFF2-40B4-BE49-F238E27FC236}">
                <a16:creationId xmlns:a16="http://schemas.microsoft.com/office/drawing/2014/main" id="{AE4D4CD4-E343-40C7-BB01-0B597A4C4800}"/>
              </a:ext>
            </a:extLst>
          </p:cNvPr>
          <p:cNvPicPr>
            <a:picLocks noChangeAspect="1"/>
          </p:cNvPicPr>
          <p:nvPr/>
        </p:nvPicPr>
        <p:blipFill>
          <a:blip r:embed="rId2"/>
          <a:stretch>
            <a:fillRect/>
          </a:stretch>
        </p:blipFill>
        <p:spPr>
          <a:xfrm>
            <a:off x="1403648" y="3717032"/>
            <a:ext cx="5400600" cy="2471876"/>
          </a:xfrm>
          <a:prstGeom prst="rect">
            <a:avLst/>
          </a:prstGeom>
        </p:spPr>
      </p:pic>
    </p:spTree>
    <p:extLst>
      <p:ext uri="{BB962C8B-B14F-4D97-AF65-F5344CB8AC3E}">
        <p14:creationId xmlns:p14="http://schemas.microsoft.com/office/powerpoint/2010/main" val="948484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5CFEC-D9F3-4A3D-A708-0DFB8B106C2B}"/>
              </a:ext>
            </a:extLst>
          </p:cNvPr>
          <p:cNvSpPr>
            <a:spLocks noGrp="1"/>
          </p:cNvSpPr>
          <p:nvPr>
            <p:ph type="title"/>
          </p:nvPr>
        </p:nvSpPr>
        <p:spPr/>
        <p:txBody>
          <a:bodyPr>
            <a:normAutofit fontScale="90000"/>
          </a:bodyPr>
          <a:lstStyle/>
          <a:p>
            <a:r>
              <a:rPr lang="zh-CN" altLang="en-US" dirty="0"/>
              <a:t>文件执行过程解析</a:t>
            </a:r>
          </a:p>
        </p:txBody>
      </p:sp>
      <p:sp>
        <p:nvSpPr>
          <p:cNvPr id="3" name="内容占位符 2">
            <a:extLst>
              <a:ext uri="{FF2B5EF4-FFF2-40B4-BE49-F238E27FC236}">
                <a16:creationId xmlns:a16="http://schemas.microsoft.com/office/drawing/2014/main" id="{9E7F2C71-4A23-437D-BF31-64F9B729F3FC}"/>
              </a:ext>
            </a:extLst>
          </p:cNvPr>
          <p:cNvSpPr>
            <a:spLocks noGrp="1"/>
          </p:cNvSpPr>
          <p:nvPr>
            <p:ph idx="1"/>
          </p:nvPr>
        </p:nvSpPr>
        <p:spPr/>
        <p:txBody>
          <a:bodyPr>
            <a:normAutofit fontScale="92500" lnSpcReduction="10000"/>
          </a:bodyPr>
          <a:lstStyle/>
          <a:p>
            <a:r>
              <a:rPr lang="zh-CN" altLang="en-US" dirty="0"/>
              <a:t>创建可执行文件时，静态执行一些链接，然后在程序加载时动态完成链接过程</a:t>
            </a:r>
            <a:endParaRPr lang="en-US" altLang="zh-CN" dirty="0"/>
          </a:p>
          <a:p>
            <a:pPr lvl="1"/>
            <a:r>
              <a:rPr lang="zh-CN" altLang="en-US" dirty="0"/>
              <a:t>没有任何</a:t>
            </a:r>
            <a:r>
              <a:rPr lang="en-US" altLang="zh-CN" dirty="0"/>
              <a:t>libvector.so</a:t>
            </a:r>
            <a:r>
              <a:rPr lang="zh-CN" altLang="en-US" dirty="0"/>
              <a:t>的代码和数据节被复制到可执行文件</a:t>
            </a:r>
            <a:r>
              <a:rPr lang="en-US" altLang="zh-CN" dirty="0"/>
              <a:t>prog21</a:t>
            </a:r>
            <a:r>
              <a:rPr lang="zh-CN" altLang="en-US" dirty="0"/>
              <a:t>中</a:t>
            </a:r>
            <a:endParaRPr lang="en-US" altLang="zh-CN" dirty="0"/>
          </a:p>
          <a:p>
            <a:pPr lvl="1"/>
            <a:r>
              <a:rPr lang="zh-CN" altLang="en-US" dirty="0"/>
              <a:t>链接器复制了一些重定位和符号表信息，运行时可以解析对</a:t>
            </a:r>
            <a:r>
              <a:rPr lang="en-US" altLang="zh-CN" dirty="0"/>
              <a:t>libvector.so</a:t>
            </a:r>
            <a:r>
              <a:rPr lang="zh-CN" altLang="en-US" dirty="0"/>
              <a:t>中代码和数据的引用</a:t>
            </a:r>
            <a:endParaRPr lang="en-US" altLang="zh-CN" dirty="0"/>
          </a:p>
          <a:p>
            <a:r>
              <a:rPr lang="zh-CN" altLang="en-US" dirty="0"/>
              <a:t>加载器加载和运行可执行文件</a:t>
            </a:r>
            <a:r>
              <a:rPr lang="en-US" altLang="zh-CN" dirty="0"/>
              <a:t>prog21</a:t>
            </a:r>
          </a:p>
          <a:p>
            <a:pPr lvl="1"/>
            <a:r>
              <a:rPr lang="zh-CN" altLang="en-US" dirty="0"/>
              <a:t>加载部分链接的可执行文件</a:t>
            </a:r>
            <a:r>
              <a:rPr lang="en-US" altLang="zh-CN" dirty="0"/>
              <a:t>prog21</a:t>
            </a:r>
          </a:p>
          <a:p>
            <a:pPr lvl="1"/>
            <a:r>
              <a:rPr lang="en-US" altLang="zh-CN" dirty="0"/>
              <a:t>Prog21</a:t>
            </a:r>
            <a:r>
              <a:rPr lang="zh-CN" altLang="en-US" dirty="0"/>
              <a:t>包含的</a:t>
            </a:r>
            <a:r>
              <a:rPr lang="en-US" altLang="zh-CN" dirty="0"/>
              <a:t>.</a:t>
            </a:r>
            <a:r>
              <a:rPr lang="en-US" altLang="zh-CN" dirty="0" err="1"/>
              <a:t>interp</a:t>
            </a:r>
            <a:r>
              <a:rPr lang="zh-CN" altLang="en-US" dirty="0"/>
              <a:t>节中包含动态链接器的路径名</a:t>
            </a:r>
            <a:r>
              <a:rPr lang="en-US" altLang="zh-CN" dirty="0"/>
              <a:t>(</a:t>
            </a:r>
            <a:r>
              <a:rPr lang="zh-CN" altLang="en-US" dirty="0"/>
              <a:t>动态链接器</a:t>
            </a:r>
            <a:r>
              <a:rPr lang="en-US" altLang="zh-CN" dirty="0"/>
              <a:t>ld-linux.so)</a:t>
            </a:r>
          </a:p>
          <a:p>
            <a:pPr lvl="1"/>
            <a:r>
              <a:rPr lang="zh-CN" altLang="en-US" dirty="0"/>
              <a:t>加载器加载和运行动态链接器</a:t>
            </a:r>
            <a:endParaRPr lang="en-US" altLang="zh-CN" dirty="0"/>
          </a:p>
          <a:p>
            <a:pPr lvl="1"/>
            <a:r>
              <a:rPr lang="zh-CN" altLang="en-US" dirty="0"/>
              <a:t>动态链接器通过执行下面的重定位完成链接任务：</a:t>
            </a:r>
            <a:endParaRPr lang="en-US" altLang="zh-CN" dirty="0"/>
          </a:p>
          <a:p>
            <a:pPr lvl="2"/>
            <a:r>
              <a:rPr lang="zh-CN" altLang="en-US" dirty="0"/>
              <a:t>重定位</a:t>
            </a:r>
            <a:r>
              <a:rPr lang="en-US" altLang="zh-CN" dirty="0"/>
              <a:t>libc.so</a:t>
            </a:r>
            <a:r>
              <a:rPr lang="zh-CN" altLang="en-US" dirty="0"/>
              <a:t>的文本和数据到某个内存段</a:t>
            </a:r>
            <a:endParaRPr lang="en-US" altLang="zh-CN" dirty="0"/>
          </a:p>
          <a:p>
            <a:pPr lvl="2"/>
            <a:r>
              <a:rPr lang="zh-CN" altLang="en-US" dirty="0"/>
              <a:t>重定位</a:t>
            </a:r>
            <a:r>
              <a:rPr lang="en-US" altLang="zh-CN" dirty="0"/>
              <a:t>libvector.so</a:t>
            </a:r>
            <a:r>
              <a:rPr lang="zh-CN" altLang="en-US" dirty="0"/>
              <a:t>的文本和数据到另一个内存段</a:t>
            </a:r>
            <a:endParaRPr lang="en-US" altLang="zh-CN" dirty="0"/>
          </a:p>
          <a:p>
            <a:pPr lvl="2"/>
            <a:r>
              <a:rPr lang="zh-CN" altLang="en-US" dirty="0"/>
              <a:t>重定位</a:t>
            </a:r>
            <a:r>
              <a:rPr lang="en-US" altLang="zh-CN" dirty="0"/>
              <a:t>prog21</a:t>
            </a:r>
            <a:r>
              <a:rPr lang="zh-CN" altLang="en-US" dirty="0"/>
              <a:t>中所有对由</a:t>
            </a:r>
            <a:r>
              <a:rPr lang="en-US" altLang="zh-CN" dirty="0"/>
              <a:t>libc.so</a:t>
            </a:r>
            <a:r>
              <a:rPr lang="zh-CN" altLang="en-US" dirty="0"/>
              <a:t>和</a:t>
            </a:r>
            <a:r>
              <a:rPr lang="en-US" altLang="zh-CN" dirty="0"/>
              <a:t>libvector.so</a:t>
            </a:r>
            <a:r>
              <a:rPr lang="zh-CN" altLang="en-US" dirty="0"/>
              <a:t>定义的符号的引用</a:t>
            </a:r>
            <a:endParaRPr lang="en-US" altLang="zh-CN" dirty="0"/>
          </a:p>
          <a:p>
            <a:pPr lvl="1"/>
            <a:r>
              <a:rPr lang="zh-CN" altLang="en-US" dirty="0"/>
              <a:t>动态链接器将控制传递给应用程序，共享库的位置固定下来，在程序执行过程中不会改变</a:t>
            </a:r>
          </a:p>
        </p:txBody>
      </p:sp>
      <p:sp>
        <p:nvSpPr>
          <p:cNvPr id="4" name="灯片编号占位符 3">
            <a:extLst>
              <a:ext uri="{FF2B5EF4-FFF2-40B4-BE49-F238E27FC236}">
                <a16:creationId xmlns:a16="http://schemas.microsoft.com/office/drawing/2014/main" id="{44693894-9AF2-456C-98E7-6DD095458654}"/>
              </a:ext>
            </a:extLst>
          </p:cNvPr>
          <p:cNvSpPr>
            <a:spLocks noGrp="1"/>
          </p:cNvSpPr>
          <p:nvPr>
            <p:ph type="sldNum" sz="quarter" idx="12"/>
          </p:nvPr>
        </p:nvSpPr>
        <p:spPr/>
        <p:txBody>
          <a:bodyPr/>
          <a:lstStyle/>
          <a:p>
            <a:fld id="{6D62327B-ED8D-4CFC-ADD0-A75FA5CBE281}" type="slidenum">
              <a:rPr lang="zh-CN" altLang="en-US" smtClean="0"/>
              <a:pPr/>
              <a:t>51</a:t>
            </a:fld>
            <a:endParaRPr lang="zh-CN" altLang="en-US" dirty="0"/>
          </a:p>
        </p:txBody>
      </p:sp>
    </p:spTree>
    <p:extLst>
      <p:ext uri="{BB962C8B-B14F-4D97-AF65-F5344CB8AC3E}">
        <p14:creationId xmlns:p14="http://schemas.microsoft.com/office/powerpoint/2010/main" val="1770936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AB9031-8C64-4C33-BA26-3EDBE143F9D6}"/>
              </a:ext>
            </a:extLst>
          </p:cNvPr>
          <p:cNvSpPr>
            <a:spLocks noGrp="1"/>
          </p:cNvSpPr>
          <p:nvPr>
            <p:ph type="title"/>
          </p:nvPr>
        </p:nvSpPr>
        <p:spPr/>
        <p:txBody>
          <a:bodyPr>
            <a:normAutofit fontScale="90000"/>
          </a:bodyPr>
          <a:lstStyle/>
          <a:p>
            <a:r>
              <a:rPr lang="en-US" altLang="zh-CN" dirty="0"/>
              <a:t>7.11 </a:t>
            </a:r>
            <a:r>
              <a:rPr lang="zh-CN" altLang="en-US" dirty="0"/>
              <a:t>从应用程序中加载和链接共享库</a:t>
            </a:r>
          </a:p>
        </p:txBody>
      </p:sp>
      <p:sp>
        <p:nvSpPr>
          <p:cNvPr id="3" name="内容占位符 2">
            <a:extLst>
              <a:ext uri="{FF2B5EF4-FFF2-40B4-BE49-F238E27FC236}">
                <a16:creationId xmlns:a16="http://schemas.microsoft.com/office/drawing/2014/main" id="{BFF263B7-1456-49AD-9DCA-DC82D4425B89}"/>
              </a:ext>
            </a:extLst>
          </p:cNvPr>
          <p:cNvSpPr>
            <a:spLocks noGrp="1"/>
          </p:cNvSpPr>
          <p:nvPr>
            <p:ph idx="1"/>
          </p:nvPr>
        </p:nvSpPr>
        <p:spPr/>
        <p:txBody>
          <a:bodyPr/>
          <a:lstStyle/>
          <a:p>
            <a:r>
              <a:rPr lang="zh-CN" altLang="en-US" dirty="0"/>
              <a:t>运行时加载和链接共享库</a:t>
            </a:r>
            <a:endParaRPr lang="en-US" altLang="zh-CN" dirty="0"/>
          </a:p>
          <a:p>
            <a:pPr lvl="1"/>
            <a:r>
              <a:rPr lang="zh-CN" altLang="en-US" dirty="0"/>
              <a:t>应用场景：应用程序在运行时要求动态链接器加载和链接某个共享库，无需在编译时将那些库链接到应中</a:t>
            </a:r>
            <a:endParaRPr lang="en-US" altLang="zh-CN" dirty="0"/>
          </a:p>
          <a:p>
            <a:pPr lvl="1"/>
            <a:r>
              <a:rPr lang="zh-CN" altLang="en-US" dirty="0"/>
              <a:t>应用示例：</a:t>
            </a:r>
            <a:endParaRPr lang="en-US" altLang="zh-CN" dirty="0"/>
          </a:p>
          <a:p>
            <a:pPr lvl="2"/>
            <a:r>
              <a:rPr lang="zh-CN" altLang="en-US" dirty="0"/>
              <a:t>分发软件：微软</a:t>
            </a:r>
            <a:r>
              <a:rPr lang="en-US" altLang="zh-CN" dirty="0"/>
              <a:t>Windows</a:t>
            </a:r>
            <a:r>
              <a:rPr lang="zh-CN" altLang="en-US" dirty="0"/>
              <a:t>应用利用共享库分发软件更新，当用户下载共享库新版本后，在运行应用程序时自动链接和加载新的共享库</a:t>
            </a:r>
            <a:endParaRPr lang="en-US" altLang="zh-CN" dirty="0"/>
          </a:p>
          <a:p>
            <a:pPr lvl="2"/>
            <a:r>
              <a:rPr lang="zh-CN" altLang="en-US" dirty="0"/>
              <a:t>构建高性能</a:t>
            </a:r>
            <a:r>
              <a:rPr lang="en-US" altLang="zh-CN" dirty="0"/>
              <a:t>web</a:t>
            </a:r>
            <a:r>
              <a:rPr lang="zh-CN" altLang="en-US" dirty="0"/>
              <a:t>服务器：现代高性能</a:t>
            </a:r>
            <a:r>
              <a:rPr lang="en-US" altLang="zh-CN" dirty="0"/>
              <a:t>web</a:t>
            </a:r>
            <a:r>
              <a:rPr lang="zh-CN" altLang="en-US" dirty="0"/>
              <a:t>服务器使用基于动态链接的方法生成动态内容</a:t>
            </a:r>
            <a:endParaRPr lang="en-US" altLang="zh-CN" dirty="0"/>
          </a:p>
          <a:p>
            <a:pPr lvl="3"/>
            <a:r>
              <a:rPr lang="zh-CN" altLang="en-US" dirty="0"/>
              <a:t>将每个生成动态内容的函数打包在共享库中，</a:t>
            </a:r>
            <a:r>
              <a:rPr lang="en-US" altLang="zh-CN" dirty="0"/>
              <a:t>web</a:t>
            </a:r>
            <a:r>
              <a:rPr lang="zh-CN" altLang="en-US" dirty="0"/>
              <a:t>请求到达时服务器动态地加载和链接适当的函数，直接调用它</a:t>
            </a:r>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3E0A4031-B5A0-4B28-9B6E-B7B40A42B49E}"/>
              </a:ext>
            </a:extLst>
          </p:cNvPr>
          <p:cNvSpPr>
            <a:spLocks noGrp="1"/>
          </p:cNvSpPr>
          <p:nvPr>
            <p:ph type="sldNum" sz="quarter" idx="12"/>
          </p:nvPr>
        </p:nvSpPr>
        <p:spPr/>
        <p:txBody>
          <a:bodyPr/>
          <a:lstStyle/>
          <a:p>
            <a:fld id="{6D62327B-ED8D-4CFC-ADD0-A75FA5CBE281}" type="slidenum">
              <a:rPr lang="zh-CN" altLang="en-US" smtClean="0"/>
              <a:pPr/>
              <a:t>52</a:t>
            </a:fld>
            <a:endParaRPr lang="zh-CN" altLang="en-US" dirty="0"/>
          </a:p>
        </p:txBody>
      </p:sp>
    </p:spTree>
    <p:extLst>
      <p:ext uri="{BB962C8B-B14F-4D97-AF65-F5344CB8AC3E}">
        <p14:creationId xmlns:p14="http://schemas.microsoft.com/office/powerpoint/2010/main" val="37749909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F23DEC-3072-4BBB-8739-DCA926796088}"/>
              </a:ext>
            </a:extLst>
          </p:cNvPr>
          <p:cNvSpPr>
            <a:spLocks noGrp="1"/>
          </p:cNvSpPr>
          <p:nvPr>
            <p:ph type="title"/>
          </p:nvPr>
        </p:nvSpPr>
        <p:spPr/>
        <p:txBody>
          <a:bodyPr>
            <a:normAutofit fontScale="90000"/>
          </a:bodyPr>
          <a:lstStyle/>
          <a:p>
            <a:r>
              <a:rPr lang="en-US" altLang="zh-CN" dirty="0"/>
              <a:t>Linux</a:t>
            </a:r>
            <a:r>
              <a:rPr lang="zh-CN" altLang="en-US" dirty="0"/>
              <a:t>为动态链接器提供的接口</a:t>
            </a:r>
          </a:p>
        </p:txBody>
      </p:sp>
      <p:sp>
        <p:nvSpPr>
          <p:cNvPr id="3" name="内容占位符 2">
            <a:extLst>
              <a:ext uri="{FF2B5EF4-FFF2-40B4-BE49-F238E27FC236}">
                <a16:creationId xmlns:a16="http://schemas.microsoft.com/office/drawing/2014/main" id="{5B53E768-CEC6-4787-9F8D-BB5F0D109487}"/>
              </a:ext>
            </a:extLst>
          </p:cNvPr>
          <p:cNvSpPr>
            <a:spLocks noGrp="1"/>
          </p:cNvSpPr>
          <p:nvPr>
            <p:ph idx="1"/>
          </p:nvPr>
        </p:nvSpPr>
        <p:spPr/>
        <p:txBody>
          <a:bodyPr>
            <a:normAutofit fontScale="85000" lnSpcReduction="20000"/>
          </a:bodyPr>
          <a:lstStyle/>
          <a:p>
            <a:r>
              <a:rPr lang="en-US" altLang="zh-CN" dirty="0"/>
              <a:t>Linux</a:t>
            </a:r>
            <a:r>
              <a:rPr lang="zh-CN" altLang="en-US" dirty="0"/>
              <a:t>系统提供动态链接器接口，允许应用程序在运行时加载和链接共享库</a:t>
            </a:r>
            <a:endParaRPr lang="en-US" altLang="zh-CN" dirty="0"/>
          </a:p>
          <a:p>
            <a:pPr lvl="1"/>
            <a:r>
              <a:rPr lang="en-US" altLang="zh-CN" dirty="0" err="1"/>
              <a:t>dlopen</a:t>
            </a:r>
            <a:r>
              <a:rPr lang="zh-CN" altLang="en-US" dirty="0"/>
              <a:t>函数：</a:t>
            </a:r>
            <a:endParaRPr lang="en-US" altLang="zh-CN" dirty="0"/>
          </a:p>
          <a:p>
            <a:pPr lvl="2"/>
            <a:r>
              <a:rPr lang="zh-CN" altLang="en-US" dirty="0"/>
              <a:t>返回：若成功则为指向句柄的指针，若出错则为</a:t>
            </a:r>
            <a:r>
              <a:rPr lang="en-US" altLang="zh-CN" dirty="0"/>
              <a:t>NULL</a:t>
            </a:r>
          </a:p>
          <a:p>
            <a:pPr lvl="2"/>
            <a:r>
              <a:rPr lang="zh-CN" altLang="en-US" dirty="0"/>
              <a:t>功能：加载和链接共享库</a:t>
            </a:r>
            <a:r>
              <a:rPr lang="en-US" altLang="zh-CN" dirty="0"/>
              <a:t>filename</a:t>
            </a:r>
          </a:p>
          <a:p>
            <a:pPr lvl="2"/>
            <a:r>
              <a:rPr lang="zh-CN" altLang="en-US" dirty="0"/>
              <a:t>选项：</a:t>
            </a:r>
            <a:endParaRPr lang="en-US" altLang="zh-CN" dirty="0"/>
          </a:p>
          <a:p>
            <a:pPr lvl="3"/>
            <a:r>
              <a:rPr lang="en-US" altLang="zh-CN" dirty="0"/>
              <a:t>RTLD_GLOBAL</a:t>
            </a:r>
            <a:r>
              <a:rPr lang="zh-CN" altLang="en-US" dirty="0"/>
              <a:t>：用已用</a:t>
            </a:r>
            <a:r>
              <a:rPr lang="en-US" altLang="zh-CN" dirty="0"/>
              <a:t>RTLD_GLOBAL</a:t>
            </a:r>
            <a:r>
              <a:rPr lang="zh-CN" altLang="en-US" dirty="0"/>
              <a:t>选项打开了的库解析</a:t>
            </a:r>
            <a:r>
              <a:rPr lang="en-US" altLang="zh-CN" dirty="0"/>
              <a:t>filename</a:t>
            </a:r>
            <a:r>
              <a:rPr lang="zh-CN" altLang="en-US" dirty="0"/>
              <a:t>中的外部符号</a:t>
            </a:r>
            <a:endParaRPr lang="en-US" altLang="zh-CN" dirty="0"/>
          </a:p>
          <a:p>
            <a:pPr lvl="3"/>
            <a:r>
              <a:rPr lang="en-US" altLang="zh-CN" dirty="0"/>
              <a:t>-</a:t>
            </a:r>
            <a:r>
              <a:rPr lang="en-US" altLang="zh-CN" dirty="0" err="1"/>
              <a:t>rdynamic</a:t>
            </a:r>
            <a:r>
              <a:rPr lang="zh-CN" altLang="en-US" dirty="0"/>
              <a:t>：使用该选项编译的可执行文件，对符号解析而言，它的全局符号也是可用的</a:t>
            </a:r>
            <a:endParaRPr lang="en-US" altLang="zh-CN" dirty="0"/>
          </a:p>
          <a:p>
            <a:pPr lvl="3"/>
            <a:r>
              <a:rPr lang="en-US" altLang="zh-CN" dirty="0"/>
              <a:t>Flag</a:t>
            </a:r>
            <a:r>
              <a:rPr lang="zh-CN" altLang="en-US" dirty="0"/>
              <a:t>：</a:t>
            </a:r>
            <a:r>
              <a:rPr lang="en-US" altLang="zh-CN" dirty="0"/>
              <a:t>RTLD_NOW|RTLD_LAZY</a:t>
            </a:r>
          </a:p>
          <a:p>
            <a:pPr lvl="4"/>
            <a:r>
              <a:rPr lang="en-US" altLang="zh-CN" dirty="0"/>
              <a:t>RTLD_NOW</a:t>
            </a:r>
            <a:r>
              <a:rPr lang="zh-CN" altLang="en-US" dirty="0"/>
              <a:t>：告诉链接器立即解析对外部符号的引用</a:t>
            </a:r>
            <a:endParaRPr lang="en-US" altLang="zh-CN" dirty="0"/>
          </a:p>
          <a:p>
            <a:pPr lvl="4"/>
            <a:r>
              <a:rPr lang="en-US" altLang="zh-CN" dirty="0"/>
              <a:t>RTLD_LAZY</a:t>
            </a:r>
            <a:r>
              <a:rPr lang="zh-CN" altLang="en-US" dirty="0"/>
              <a:t>：指标链接器推迟符号解析直到执行来自库中的代码</a:t>
            </a:r>
            <a:endParaRPr lang="en-US" altLang="zh-CN" dirty="0"/>
          </a:p>
          <a:p>
            <a:pPr lvl="1"/>
            <a:r>
              <a:rPr lang="en-US" altLang="zh-CN" dirty="0" err="1"/>
              <a:t>dlsym</a:t>
            </a:r>
            <a:r>
              <a:rPr lang="zh-CN" altLang="en-US" dirty="0"/>
              <a:t>函数：</a:t>
            </a:r>
            <a:endParaRPr lang="en-US" altLang="zh-CN" dirty="0"/>
          </a:p>
          <a:p>
            <a:pPr lvl="2"/>
            <a:r>
              <a:rPr lang="zh-CN" altLang="en-US" dirty="0"/>
              <a:t>返回：若成功则为指向符号的指针，若出错则为</a:t>
            </a:r>
            <a:r>
              <a:rPr lang="en-US" altLang="zh-CN" dirty="0"/>
              <a:t>NULL</a:t>
            </a:r>
          </a:p>
          <a:p>
            <a:pPr lvl="2"/>
            <a:r>
              <a:rPr lang="zh-CN" altLang="en-US" dirty="0"/>
              <a:t>功能：输入一个指向前面已打开了的共享库的句柄和一个</a:t>
            </a:r>
            <a:r>
              <a:rPr lang="en-US" altLang="zh-CN" dirty="0"/>
              <a:t>symbol</a:t>
            </a:r>
            <a:r>
              <a:rPr lang="zh-CN" altLang="en-US" dirty="0"/>
              <a:t>名字，如果该符号存在，就返回符号地址，否则返回</a:t>
            </a:r>
            <a:r>
              <a:rPr lang="en-US" altLang="zh-CN" dirty="0"/>
              <a:t>NULL</a:t>
            </a:r>
          </a:p>
          <a:p>
            <a:pPr lvl="1"/>
            <a:r>
              <a:rPr lang="en-US" altLang="zh-CN" dirty="0" err="1"/>
              <a:t>dlclose</a:t>
            </a:r>
            <a:r>
              <a:rPr lang="zh-CN" altLang="en-US" dirty="0"/>
              <a:t>函数：</a:t>
            </a:r>
            <a:endParaRPr lang="en-US" altLang="zh-CN" dirty="0"/>
          </a:p>
          <a:p>
            <a:pPr lvl="2"/>
            <a:r>
              <a:rPr lang="zh-CN" altLang="en-US" dirty="0"/>
              <a:t>返回：若成功则为</a:t>
            </a:r>
            <a:r>
              <a:rPr lang="en-US" altLang="zh-CN" dirty="0"/>
              <a:t>0</a:t>
            </a:r>
            <a:r>
              <a:rPr lang="zh-CN" altLang="en-US" dirty="0"/>
              <a:t>，若出错则为</a:t>
            </a:r>
            <a:r>
              <a:rPr lang="en-US" altLang="zh-CN" dirty="0"/>
              <a:t>-1</a:t>
            </a:r>
          </a:p>
          <a:p>
            <a:pPr lvl="2"/>
            <a:r>
              <a:rPr lang="zh-CN" altLang="en-US" dirty="0"/>
              <a:t>功能：如果没有其他共享库使用这个共享库，则卸载该共享库</a:t>
            </a:r>
            <a:endParaRPr lang="en-US" altLang="zh-CN" dirty="0"/>
          </a:p>
          <a:p>
            <a:pPr lvl="1"/>
            <a:r>
              <a:rPr lang="en-US" altLang="zh-CN" dirty="0" err="1"/>
              <a:t>dlerror</a:t>
            </a:r>
            <a:r>
              <a:rPr lang="zh-CN" altLang="en-US" dirty="0"/>
              <a:t>函数：</a:t>
            </a:r>
            <a:endParaRPr lang="en-US" altLang="zh-CN" dirty="0"/>
          </a:p>
          <a:p>
            <a:pPr lvl="2"/>
            <a:r>
              <a:rPr lang="zh-CN" altLang="en-US" dirty="0"/>
              <a:t>返回：如果前面对</a:t>
            </a:r>
            <a:r>
              <a:rPr lang="en-US" altLang="zh-CN" dirty="0" err="1"/>
              <a:t>dlopen</a:t>
            </a:r>
            <a:r>
              <a:rPr lang="zh-CN" altLang="en-US" dirty="0"/>
              <a:t>、</a:t>
            </a:r>
            <a:r>
              <a:rPr lang="en-US" altLang="zh-CN" dirty="0" err="1"/>
              <a:t>dlsym</a:t>
            </a:r>
            <a:r>
              <a:rPr lang="zh-CN" altLang="en-US" dirty="0"/>
              <a:t>或</a:t>
            </a:r>
            <a:r>
              <a:rPr lang="en-US" altLang="zh-CN" dirty="0" err="1"/>
              <a:t>dlclose</a:t>
            </a:r>
            <a:r>
              <a:rPr lang="zh-CN" altLang="en-US" dirty="0"/>
              <a:t>的调用失败，则为错误消息，如果前面的调用成功，则为</a:t>
            </a:r>
            <a:r>
              <a:rPr lang="en-US" altLang="zh-CN" dirty="0"/>
              <a:t>NULL</a:t>
            </a:r>
          </a:p>
          <a:p>
            <a:pPr lvl="2"/>
            <a:r>
              <a:rPr lang="zh-CN" altLang="en-US" dirty="0"/>
              <a:t>功能：返回描述调用</a:t>
            </a:r>
            <a:r>
              <a:rPr lang="en-US" altLang="zh-CN" dirty="0" err="1"/>
              <a:t>dlopen</a:t>
            </a:r>
            <a:r>
              <a:rPr lang="zh-CN" altLang="en-US" dirty="0"/>
              <a:t>、</a:t>
            </a:r>
            <a:r>
              <a:rPr lang="en-US" altLang="zh-CN" dirty="0" err="1"/>
              <a:t>dlsym</a:t>
            </a:r>
            <a:r>
              <a:rPr lang="zh-CN" altLang="en-US" dirty="0"/>
              <a:t>或</a:t>
            </a:r>
            <a:r>
              <a:rPr lang="en-US" altLang="zh-CN" dirty="0" err="1"/>
              <a:t>dlclose</a:t>
            </a:r>
            <a:r>
              <a:rPr lang="zh-CN" altLang="en-US" dirty="0"/>
              <a:t>函数时发生的最近的错误</a:t>
            </a:r>
          </a:p>
        </p:txBody>
      </p:sp>
      <p:sp>
        <p:nvSpPr>
          <p:cNvPr id="4" name="灯片编号占位符 3">
            <a:extLst>
              <a:ext uri="{FF2B5EF4-FFF2-40B4-BE49-F238E27FC236}">
                <a16:creationId xmlns:a16="http://schemas.microsoft.com/office/drawing/2014/main" id="{DF821FDA-59E6-4251-A127-5918C86675B4}"/>
              </a:ext>
            </a:extLst>
          </p:cNvPr>
          <p:cNvSpPr>
            <a:spLocks noGrp="1"/>
          </p:cNvSpPr>
          <p:nvPr>
            <p:ph type="sldNum" sz="quarter" idx="12"/>
          </p:nvPr>
        </p:nvSpPr>
        <p:spPr/>
        <p:txBody>
          <a:bodyPr/>
          <a:lstStyle/>
          <a:p>
            <a:fld id="{6D62327B-ED8D-4CFC-ADD0-A75FA5CBE281}" type="slidenum">
              <a:rPr lang="zh-CN" altLang="en-US" smtClean="0"/>
              <a:pPr/>
              <a:t>53</a:t>
            </a:fld>
            <a:endParaRPr lang="zh-CN" altLang="en-US" dirty="0"/>
          </a:p>
        </p:txBody>
      </p:sp>
      <p:sp>
        <p:nvSpPr>
          <p:cNvPr id="5" name="Rectangle 3">
            <a:extLst>
              <a:ext uri="{FF2B5EF4-FFF2-40B4-BE49-F238E27FC236}">
                <a16:creationId xmlns:a16="http://schemas.microsoft.com/office/drawing/2014/main" id="{15B030A2-8D2C-4DF2-88BB-45F5C240CF3A}"/>
              </a:ext>
            </a:extLst>
          </p:cNvPr>
          <p:cNvSpPr>
            <a:spLocks noChangeArrowheads="1"/>
          </p:cNvSpPr>
          <p:nvPr/>
        </p:nvSpPr>
        <p:spPr bwMode="auto">
          <a:xfrm>
            <a:off x="2339752" y="1181535"/>
            <a:ext cx="3528392" cy="430887"/>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100" dirty="0">
                <a:solidFill>
                  <a:schemeClr val="tx1"/>
                </a:solidFill>
                <a:latin typeface="Menlo-Regular"/>
              </a:rPr>
              <a:t>#include &lt;</a:t>
            </a:r>
            <a:r>
              <a:rPr lang="en-US" altLang="zh-CN" sz="1100" dirty="0" err="1">
                <a:solidFill>
                  <a:schemeClr val="tx1"/>
                </a:solidFill>
                <a:latin typeface="Menlo-Regular"/>
              </a:rPr>
              <a:t>dlfcn.h</a:t>
            </a:r>
            <a:r>
              <a:rPr lang="en-US" altLang="zh-CN" sz="1100" dirty="0">
                <a:solidFill>
                  <a:schemeClr val="tx1"/>
                </a:solidFill>
                <a:latin typeface="Menlo-Regular"/>
              </a:rPr>
              <a:t>&gt;</a:t>
            </a:r>
          </a:p>
          <a:p>
            <a:r>
              <a:rPr lang="en-US" sz="1100" dirty="0">
                <a:solidFill>
                  <a:schemeClr val="tx1"/>
                </a:solidFill>
                <a:latin typeface="Menlo-Regular"/>
                <a:cs typeface="Courier New"/>
              </a:rPr>
              <a:t>Void *</a:t>
            </a:r>
            <a:r>
              <a:rPr lang="en-US" sz="1100" dirty="0" err="1">
                <a:solidFill>
                  <a:schemeClr val="tx1"/>
                </a:solidFill>
                <a:latin typeface="Menlo-Regular"/>
                <a:cs typeface="Courier New"/>
              </a:rPr>
              <a:t>dlopen</a:t>
            </a:r>
            <a:r>
              <a:rPr lang="en-US" sz="1100" dirty="0">
                <a:solidFill>
                  <a:schemeClr val="tx1"/>
                </a:solidFill>
                <a:latin typeface="Menlo-Regular"/>
                <a:cs typeface="Courier New"/>
              </a:rPr>
              <a:t> (const char *filename, int flag);</a:t>
            </a:r>
            <a:endParaRPr lang="en-US" sz="1100" dirty="0">
              <a:solidFill>
                <a:schemeClr val="tx1"/>
              </a:solidFill>
              <a:latin typeface="Courier New"/>
              <a:cs typeface="Courier New"/>
            </a:endParaRPr>
          </a:p>
        </p:txBody>
      </p:sp>
      <p:sp>
        <p:nvSpPr>
          <p:cNvPr id="6" name="Rectangle 3">
            <a:extLst>
              <a:ext uri="{FF2B5EF4-FFF2-40B4-BE49-F238E27FC236}">
                <a16:creationId xmlns:a16="http://schemas.microsoft.com/office/drawing/2014/main" id="{CEB86CDA-C7E9-4041-83EA-705D7DCCA180}"/>
              </a:ext>
            </a:extLst>
          </p:cNvPr>
          <p:cNvSpPr>
            <a:spLocks noChangeArrowheads="1"/>
          </p:cNvSpPr>
          <p:nvPr/>
        </p:nvSpPr>
        <p:spPr bwMode="auto">
          <a:xfrm>
            <a:off x="6012160" y="3386599"/>
            <a:ext cx="2952328" cy="415498"/>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050" dirty="0">
                <a:solidFill>
                  <a:schemeClr val="tx1"/>
                </a:solidFill>
                <a:latin typeface="Menlo-Regular"/>
              </a:rPr>
              <a:t>#include &lt;</a:t>
            </a:r>
            <a:r>
              <a:rPr lang="en-US" altLang="zh-CN" sz="1050" dirty="0" err="1">
                <a:solidFill>
                  <a:schemeClr val="tx1"/>
                </a:solidFill>
                <a:latin typeface="Menlo-Regular"/>
              </a:rPr>
              <a:t>dlfcn.h</a:t>
            </a:r>
            <a:r>
              <a:rPr lang="en-US" altLang="zh-CN" sz="1050" dirty="0">
                <a:solidFill>
                  <a:schemeClr val="tx1"/>
                </a:solidFill>
                <a:latin typeface="Menlo-Regular"/>
              </a:rPr>
              <a:t>&gt;</a:t>
            </a:r>
          </a:p>
          <a:p>
            <a:r>
              <a:rPr lang="en-US" sz="1050" dirty="0">
                <a:solidFill>
                  <a:schemeClr val="tx1"/>
                </a:solidFill>
                <a:latin typeface="Menlo-Regular"/>
                <a:cs typeface="Courier New"/>
              </a:rPr>
              <a:t>Void *</a:t>
            </a:r>
            <a:r>
              <a:rPr lang="en-US" sz="1050" dirty="0" err="1">
                <a:solidFill>
                  <a:schemeClr val="tx1"/>
                </a:solidFill>
                <a:latin typeface="Menlo-Regular"/>
                <a:cs typeface="Courier New"/>
              </a:rPr>
              <a:t>dls</a:t>
            </a:r>
            <a:r>
              <a:rPr lang="en-US" altLang="zh-CN" sz="1050" dirty="0" err="1">
                <a:solidFill>
                  <a:schemeClr val="tx1"/>
                </a:solidFill>
                <a:latin typeface="Menlo-Regular"/>
                <a:cs typeface="Courier New"/>
              </a:rPr>
              <a:t>ym</a:t>
            </a:r>
            <a:r>
              <a:rPr lang="en-US" sz="1050" dirty="0">
                <a:solidFill>
                  <a:schemeClr val="tx1"/>
                </a:solidFill>
                <a:latin typeface="Menlo-Regular"/>
                <a:cs typeface="Courier New"/>
              </a:rPr>
              <a:t> (void *handle, char *symbol);</a:t>
            </a:r>
            <a:endParaRPr lang="en-US" sz="1050" dirty="0">
              <a:solidFill>
                <a:schemeClr val="tx1"/>
              </a:solidFill>
              <a:latin typeface="Courier New"/>
              <a:cs typeface="Courier New"/>
            </a:endParaRPr>
          </a:p>
        </p:txBody>
      </p:sp>
      <p:sp>
        <p:nvSpPr>
          <p:cNvPr id="7" name="Rectangle 3">
            <a:extLst>
              <a:ext uri="{FF2B5EF4-FFF2-40B4-BE49-F238E27FC236}">
                <a16:creationId xmlns:a16="http://schemas.microsoft.com/office/drawing/2014/main" id="{2832AF85-CDD9-45BE-9BB9-66D22977FEC8}"/>
              </a:ext>
            </a:extLst>
          </p:cNvPr>
          <p:cNvSpPr>
            <a:spLocks noChangeArrowheads="1"/>
          </p:cNvSpPr>
          <p:nvPr/>
        </p:nvSpPr>
        <p:spPr bwMode="auto">
          <a:xfrm>
            <a:off x="4427984" y="4244171"/>
            <a:ext cx="2520280" cy="415498"/>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050" dirty="0">
                <a:solidFill>
                  <a:schemeClr val="tx1"/>
                </a:solidFill>
                <a:latin typeface="Menlo-Regular"/>
              </a:rPr>
              <a:t>#include &lt;</a:t>
            </a:r>
            <a:r>
              <a:rPr lang="en-US" altLang="zh-CN" sz="1050" dirty="0" err="1">
                <a:solidFill>
                  <a:schemeClr val="tx1"/>
                </a:solidFill>
                <a:latin typeface="Menlo-Regular"/>
              </a:rPr>
              <a:t>dlfcn.h</a:t>
            </a:r>
            <a:r>
              <a:rPr lang="en-US" altLang="zh-CN" sz="1050" dirty="0">
                <a:solidFill>
                  <a:schemeClr val="tx1"/>
                </a:solidFill>
                <a:latin typeface="Menlo-Regular"/>
              </a:rPr>
              <a:t>&gt;</a:t>
            </a:r>
          </a:p>
          <a:p>
            <a:r>
              <a:rPr lang="en-US" sz="1050" dirty="0">
                <a:solidFill>
                  <a:schemeClr val="tx1"/>
                </a:solidFill>
                <a:latin typeface="Menlo-Regular"/>
                <a:cs typeface="Courier New"/>
              </a:rPr>
              <a:t>Void *</a:t>
            </a:r>
            <a:r>
              <a:rPr lang="en-US" sz="1050" dirty="0" err="1">
                <a:solidFill>
                  <a:schemeClr val="tx1"/>
                </a:solidFill>
                <a:latin typeface="Menlo-Regular"/>
                <a:cs typeface="Courier New"/>
              </a:rPr>
              <a:t>dlclose</a:t>
            </a:r>
            <a:r>
              <a:rPr lang="en-US" sz="1050" dirty="0">
                <a:solidFill>
                  <a:schemeClr val="tx1"/>
                </a:solidFill>
                <a:latin typeface="Menlo-Regular"/>
                <a:cs typeface="Courier New"/>
              </a:rPr>
              <a:t> (void *handle);</a:t>
            </a:r>
            <a:endParaRPr lang="en-US" sz="1050" dirty="0">
              <a:solidFill>
                <a:schemeClr val="tx1"/>
              </a:solidFill>
              <a:latin typeface="Courier New"/>
              <a:cs typeface="Courier New"/>
            </a:endParaRPr>
          </a:p>
        </p:txBody>
      </p:sp>
      <p:sp>
        <p:nvSpPr>
          <p:cNvPr id="8" name="Rectangle 3">
            <a:extLst>
              <a:ext uri="{FF2B5EF4-FFF2-40B4-BE49-F238E27FC236}">
                <a16:creationId xmlns:a16="http://schemas.microsoft.com/office/drawing/2014/main" id="{A201D5B6-A730-4113-9713-891D96CEB244}"/>
              </a:ext>
            </a:extLst>
          </p:cNvPr>
          <p:cNvSpPr>
            <a:spLocks noChangeArrowheads="1"/>
          </p:cNvSpPr>
          <p:nvPr/>
        </p:nvSpPr>
        <p:spPr bwMode="auto">
          <a:xfrm>
            <a:off x="6855142" y="4737808"/>
            <a:ext cx="1815299" cy="430887"/>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100" dirty="0">
                <a:solidFill>
                  <a:schemeClr val="tx1"/>
                </a:solidFill>
                <a:latin typeface="Menlo-Regular"/>
              </a:rPr>
              <a:t>#include &lt;</a:t>
            </a:r>
            <a:r>
              <a:rPr lang="en-US" altLang="zh-CN" sz="1100" dirty="0" err="1">
                <a:solidFill>
                  <a:schemeClr val="tx1"/>
                </a:solidFill>
                <a:latin typeface="Menlo-Regular"/>
              </a:rPr>
              <a:t>dlfcn.h</a:t>
            </a:r>
            <a:r>
              <a:rPr lang="en-US" altLang="zh-CN" sz="1100" dirty="0">
                <a:solidFill>
                  <a:schemeClr val="tx1"/>
                </a:solidFill>
                <a:latin typeface="Menlo-Regular"/>
              </a:rPr>
              <a:t>&gt;</a:t>
            </a:r>
          </a:p>
          <a:p>
            <a:r>
              <a:rPr lang="en-US" sz="1100" dirty="0">
                <a:solidFill>
                  <a:schemeClr val="tx1"/>
                </a:solidFill>
                <a:latin typeface="Menlo-Regular"/>
                <a:cs typeface="Courier New"/>
              </a:rPr>
              <a:t>Void *</a:t>
            </a:r>
            <a:r>
              <a:rPr lang="en-US" sz="1100" dirty="0" err="1">
                <a:solidFill>
                  <a:schemeClr val="tx1"/>
                </a:solidFill>
                <a:latin typeface="Menlo-Regular"/>
                <a:cs typeface="Courier New"/>
              </a:rPr>
              <a:t>dl</a:t>
            </a:r>
            <a:r>
              <a:rPr lang="en-US" altLang="zh-CN" sz="1100" dirty="0" err="1">
                <a:solidFill>
                  <a:schemeClr val="tx1"/>
                </a:solidFill>
                <a:latin typeface="Menlo-Regular"/>
                <a:cs typeface="Courier New"/>
              </a:rPr>
              <a:t>error</a:t>
            </a:r>
            <a:r>
              <a:rPr lang="en-US" sz="1100" dirty="0">
                <a:solidFill>
                  <a:schemeClr val="tx1"/>
                </a:solidFill>
                <a:latin typeface="Menlo-Regular"/>
                <a:cs typeface="Courier New"/>
              </a:rPr>
              <a:t> (void);</a:t>
            </a:r>
            <a:endParaRPr lang="en-US" sz="1100" dirty="0">
              <a:solidFill>
                <a:schemeClr val="tx1"/>
              </a:solidFill>
              <a:latin typeface="Courier New"/>
              <a:cs typeface="Courier New"/>
            </a:endParaRPr>
          </a:p>
        </p:txBody>
      </p:sp>
    </p:spTree>
    <p:extLst>
      <p:ext uri="{BB962C8B-B14F-4D97-AF65-F5344CB8AC3E}">
        <p14:creationId xmlns:p14="http://schemas.microsoft.com/office/powerpoint/2010/main" val="32169427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9F1CAE-8CBF-42BA-BF50-5D71C2F6A152}"/>
              </a:ext>
            </a:extLst>
          </p:cNvPr>
          <p:cNvSpPr>
            <a:spLocks noGrp="1"/>
          </p:cNvSpPr>
          <p:nvPr>
            <p:ph type="title"/>
          </p:nvPr>
        </p:nvSpPr>
        <p:spPr/>
        <p:txBody>
          <a:bodyPr>
            <a:normAutofit fontScale="90000"/>
          </a:bodyPr>
          <a:lstStyle/>
          <a:p>
            <a:r>
              <a:rPr lang="zh-CN" altLang="en-US" dirty="0"/>
              <a:t>动态链接共享库示例</a:t>
            </a:r>
          </a:p>
        </p:txBody>
      </p:sp>
      <p:sp>
        <p:nvSpPr>
          <p:cNvPr id="3" name="内容占位符 2">
            <a:extLst>
              <a:ext uri="{FF2B5EF4-FFF2-40B4-BE49-F238E27FC236}">
                <a16:creationId xmlns:a16="http://schemas.microsoft.com/office/drawing/2014/main" id="{1F09F682-459D-41AC-821E-4FA590AB14E5}"/>
              </a:ext>
            </a:extLst>
          </p:cNvPr>
          <p:cNvSpPr>
            <a:spLocks noGrp="1"/>
          </p:cNvSpPr>
          <p:nvPr>
            <p:ph idx="1"/>
          </p:nvPr>
        </p:nvSpPr>
        <p:spPr>
          <a:xfrm>
            <a:off x="457200" y="837034"/>
            <a:ext cx="3826768" cy="5289136"/>
          </a:xfrm>
        </p:spPr>
        <p:txBody>
          <a:bodyPr/>
          <a:lstStyle/>
          <a:p>
            <a:r>
              <a:rPr lang="zh-CN" altLang="en-US" dirty="0"/>
              <a:t>编译程序</a:t>
            </a:r>
            <a:r>
              <a:rPr lang="en-US" altLang="zh-CN" dirty="0"/>
              <a:t>(</a:t>
            </a:r>
            <a:r>
              <a:rPr lang="zh-CN" altLang="en-US" dirty="0"/>
              <a:t>示例</a:t>
            </a:r>
            <a:r>
              <a:rPr lang="en-US" altLang="zh-CN" dirty="0"/>
              <a:t>)</a:t>
            </a:r>
            <a:r>
              <a:rPr lang="zh-CN" altLang="en-US" dirty="0"/>
              <a:t>：</a:t>
            </a:r>
            <a:endParaRPr lang="en-US" altLang="zh-CN" dirty="0"/>
          </a:p>
          <a:p>
            <a:pPr lvl="1"/>
            <a:r>
              <a:rPr lang="en-US" altLang="zh-CN" dirty="0" err="1"/>
              <a:t>gcc</a:t>
            </a:r>
            <a:r>
              <a:rPr lang="en-US" altLang="zh-CN" dirty="0"/>
              <a:t> -</a:t>
            </a:r>
            <a:r>
              <a:rPr lang="en-US" altLang="zh-CN" dirty="0" err="1"/>
              <a:t>rdynamic</a:t>
            </a:r>
            <a:r>
              <a:rPr lang="en-US" altLang="zh-CN" dirty="0"/>
              <a:t> -</a:t>
            </a:r>
            <a:r>
              <a:rPr lang="en-US" altLang="zh-CN" dirty="0" err="1"/>
              <a:t>ldl</a:t>
            </a:r>
            <a:r>
              <a:rPr lang="en-US" altLang="zh-CN" dirty="0"/>
              <a:t> -o prog2r </a:t>
            </a:r>
            <a:r>
              <a:rPr lang="en-US" altLang="zh-CN" dirty="0" err="1"/>
              <a:t>dll.c</a:t>
            </a:r>
            <a:endParaRPr lang="en-US" altLang="zh-CN" dirty="0"/>
          </a:p>
          <a:p>
            <a:r>
              <a:rPr lang="zh-CN" altLang="en-US" dirty="0"/>
              <a:t>主要函数使用解析：</a:t>
            </a:r>
            <a:endParaRPr lang="en-US" altLang="zh-CN" dirty="0"/>
          </a:p>
          <a:p>
            <a:pPr lvl="1"/>
            <a:r>
              <a:rPr lang="en-US" altLang="zh-CN" dirty="0"/>
              <a:t>handle=</a:t>
            </a:r>
            <a:r>
              <a:rPr lang="en-US" altLang="zh-CN" dirty="0" err="1"/>
              <a:t>dlopen</a:t>
            </a:r>
            <a:r>
              <a:rPr lang="en-US" altLang="zh-CN" dirty="0"/>
              <a:t>("./</a:t>
            </a:r>
            <a:r>
              <a:rPr lang="en-US" altLang="zh-CN" dirty="0" err="1"/>
              <a:t>libvector.so",RTLD_LAZY</a:t>
            </a:r>
            <a:r>
              <a:rPr lang="en-US" altLang="zh-CN" dirty="0"/>
              <a:t>);</a:t>
            </a:r>
          </a:p>
          <a:p>
            <a:pPr lvl="2"/>
            <a:r>
              <a:rPr lang="zh-CN" altLang="en-US" dirty="0"/>
              <a:t>获得</a:t>
            </a:r>
            <a:r>
              <a:rPr lang="en-US" altLang="zh-CN" dirty="0"/>
              <a:t>libvector.so</a:t>
            </a:r>
            <a:r>
              <a:rPr lang="zh-CN" altLang="en-US" dirty="0"/>
              <a:t>共享库句柄，推迟符号解析直到执行来自库中的代码</a:t>
            </a:r>
            <a:endParaRPr lang="en-US" altLang="zh-CN" dirty="0"/>
          </a:p>
          <a:p>
            <a:pPr lvl="1"/>
            <a:r>
              <a:rPr lang="en-US" altLang="zh-CN" dirty="0" err="1"/>
              <a:t>addvec</a:t>
            </a:r>
            <a:r>
              <a:rPr lang="en-US" altLang="zh-CN" dirty="0"/>
              <a:t>=</a:t>
            </a:r>
            <a:r>
              <a:rPr lang="en-US" altLang="zh-CN" dirty="0" err="1"/>
              <a:t>dlsym</a:t>
            </a:r>
            <a:r>
              <a:rPr lang="en-US" altLang="zh-CN" dirty="0"/>
              <a:t>(handle,"</a:t>
            </a:r>
            <a:r>
              <a:rPr lang="en-US" altLang="zh-CN" dirty="0" err="1"/>
              <a:t>addvec</a:t>
            </a:r>
            <a:r>
              <a:rPr lang="en-US" altLang="zh-CN" dirty="0"/>
              <a:t>");</a:t>
            </a:r>
          </a:p>
          <a:p>
            <a:pPr lvl="2"/>
            <a:r>
              <a:rPr lang="zh-CN" altLang="en-US" dirty="0"/>
              <a:t>返回符号</a:t>
            </a:r>
            <a:r>
              <a:rPr lang="en-US" altLang="zh-CN" dirty="0" err="1"/>
              <a:t>addvec</a:t>
            </a:r>
            <a:r>
              <a:rPr lang="zh-CN" altLang="en-US" dirty="0"/>
              <a:t>的地址</a:t>
            </a:r>
            <a:endParaRPr lang="en-US" altLang="zh-CN" dirty="0"/>
          </a:p>
          <a:p>
            <a:pPr lvl="1"/>
            <a:r>
              <a:rPr lang="en-US" altLang="zh-CN" dirty="0" err="1"/>
              <a:t>dlclose</a:t>
            </a:r>
            <a:r>
              <a:rPr lang="en-US" altLang="zh-CN" dirty="0"/>
              <a:t>(handle)</a:t>
            </a:r>
          </a:p>
          <a:p>
            <a:pPr lvl="2"/>
            <a:r>
              <a:rPr lang="zh-CN" altLang="en-US" dirty="0"/>
              <a:t>卸载该共享库</a:t>
            </a:r>
          </a:p>
        </p:txBody>
      </p:sp>
      <p:sp>
        <p:nvSpPr>
          <p:cNvPr id="4" name="灯片编号占位符 3">
            <a:extLst>
              <a:ext uri="{FF2B5EF4-FFF2-40B4-BE49-F238E27FC236}">
                <a16:creationId xmlns:a16="http://schemas.microsoft.com/office/drawing/2014/main" id="{57F6D470-B3F5-4A9F-9B05-9CEF9F582E9E}"/>
              </a:ext>
            </a:extLst>
          </p:cNvPr>
          <p:cNvSpPr>
            <a:spLocks noGrp="1"/>
          </p:cNvSpPr>
          <p:nvPr>
            <p:ph type="sldNum" sz="quarter" idx="12"/>
          </p:nvPr>
        </p:nvSpPr>
        <p:spPr/>
        <p:txBody>
          <a:bodyPr/>
          <a:lstStyle/>
          <a:p>
            <a:fld id="{6D62327B-ED8D-4CFC-ADD0-A75FA5CBE281}" type="slidenum">
              <a:rPr lang="zh-CN" altLang="en-US" smtClean="0"/>
              <a:pPr/>
              <a:t>54</a:t>
            </a:fld>
            <a:endParaRPr lang="zh-CN" altLang="en-US" dirty="0"/>
          </a:p>
        </p:txBody>
      </p:sp>
      <p:sp>
        <p:nvSpPr>
          <p:cNvPr id="5" name="Rectangle 3">
            <a:extLst>
              <a:ext uri="{FF2B5EF4-FFF2-40B4-BE49-F238E27FC236}">
                <a16:creationId xmlns:a16="http://schemas.microsoft.com/office/drawing/2014/main" id="{6657FCE9-229E-42AB-960D-68AAA248F5E1}"/>
              </a:ext>
            </a:extLst>
          </p:cNvPr>
          <p:cNvSpPr>
            <a:spLocks noChangeArrowheads="1"/>
          </p:cNvSpPr>
          <p:nvPr/>
        </p:nvSpPr>
        <p:spPr bwMode="auto">
          <a:xfrm>
            <a:off x="4319464" y="1043789"/>
            <a:ext cx="4824536" cy="5324535"/>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nchor="ctr">
            <a:prstTxWarp prst="textNoShape">
              <a:avLst/>
            </a:prstTxWarp>
            <a:spAutoFit/>
          </a:bodyPr>
          <a:lstStyle/>
          <a:p>
            <a:r>
              <a:rPr lang="en-US" altLang="zh-CN" sz="1000" dirty="0">
                <a:solidFill>
                  <a:schemeClr val="tx1"/>
                </a:solidFill>
                <a:latin typeface="Menlo-Regular"/>
              </a:rPr>
              <a:t>#include &lt;</a:t>
            </a:r>
            <a:r>
              <a:rPr lang="en-US" altLang="zh-CN" sz="1000" dirty="0" err="1">
                <a:solidFill>
                  <a:schemeClr val="tx1"/>
                </a:solidFill>
                <a:latin typeface="Menlo-Regular"/>
              </a:rPr>
              <a:t>stdio.h</a:t>
            </a:r>
            <a:r>
              <a:rPr lang="en-US" altLang="zh-CN" sz="1000" dirty="0">
                <a:solidFill>
                  <a:schemeClr val="tx1"/>
                </a:solidFill>
                <a:latin typeface="Menlo-Regular"/>
              </a:rPr>
              <a:t>&gt;</a:t>
            </a:r>
          </a:p>
          <a:p>
            <a:r>
              <a:rPr lang="en-US" altLang="zh-CN" sz="1000" dirty="0">
                <a:solidFill>
                  <a:schemeClr val="tx1"/>
                </a:solidFill>
                <a:latin typeface="Menlo-Regular"/>
              </a:rPr>
              <a:t>#include &lt;</a:t>
            </a:r>
            <a:r>
              <a:rPr lang="en-US" altLang="zh-CN" sz="1000" dirty="0" err="1">
                <a:solidFill>
                  <a:schemeClr val="tx1"/>
                </a:solidFill>
                <a:latin typeface="Menlo-Regular"/>
              </a:rPr>
              <a:t>stdlib.h</a:t>
            </a:r>
            <a:r>
              <a:rPr lang="en-US" altLang="zh-CN" sz="1000" dirty="0">
                <a:solidFill>
                  <a:schemeClr val="tx1"/>
                </a:solidFill>
                <a:latin typeface="Menlo-Regular"/>
              </a:rPr>
              <a:t>&gt;</a:t>
            </a:r>
          </a:p>
          <a:p>
            <a:r>
              <a:rPr lang="en-US" altLang="zh-CN" sz="1000" dirty="0">
                <a:solidFill>
                  <a:schemeClr val="tx1"/>
                </a:solidFill>
                <a:latin typeface="Menlo-Regular"/>
              </a:rPr>
              <a:t>#include &lt;</a:t>
            </a:r>
            <a:r>
              <a:rPr lang="en-US" altLang="zh-CN" sz="1000" dirty="0" err="1">
                <a:solidFill>
                  <a:schemeClr val="tx1"/>
                </a:solidFill>
                <a:latin typeface="Menlo-Regular"/>
              </a:rPr>
              <a:t>dlfcn.h</a:t>
            </a:r>
            <a:r>
              <a:rPr lang="en-US" altLang="zh-CN" sz="1000" dirty="0">
                <a:solidFill>
                  <a:schemeClr val="tx1"/>
                </a:solidFill>
                <a:latin typeface="Menlo-Regular"/>
              </a:rPr>
              <a:t>&gt;</a:t>
            </a:r>
          </a:p>
          <a:p>
            <a:r>
              <a:rPr lang="en-US" altLang="zh-CN" sz="1000" dirty="0">
                <a:solidFill>
                  <a:schemeClr val="tx1"/>
                </a:solidFill>
                <a:latin typeface="Menlo-Regular"/>
              </a:rPr>
              <a:t>int x[2]={1,2};</a:t>
            </a:r>
          </a:p>
          <a:p>
            <a:r>
              <a:rPr lang="en-US" altLang="zh-CN" sz="1000" dirty="0">
                <a:solidFill>
                  <a:schemeClr val="tx1"/>
                </a:solidFill>
                <a:latin typeface="Menlo-Regular"/>
              </a:rPr>
              <a:t>int y[2]={3,4};</a:t>
            </a:r>
          </a:p>
          <a:p>
            <a:r>
              <a:rPr lang="en-US" altLang="zh-CN" sz="1000" dirty="0">
                <a:solidFill>
                  <a:schemeClr val="tx1"/>
                </a:solidFill>
                <a:latin typeface="Menlo-Regular"/>
              </a:rPr>
              <a:t>int z[2];</a:t>
            </a:r>
          </a:p>
          <a:p>
            <a:r>
              <a:rPr lang="en-US" altLang="zh-CN" sz="1000" dirty="0">
                <a:solidFill>
                  <a:schemeClr val="tx1"/>
                </a:solidFill>
                <a:latin typeface="Menlo-Regular"/>
              </a:rPr>
              <a:t>int main()</a:t>
            </a:r>
          </a:p>
          <a:p>
            <a:r>
              <a:rPr lang="en-US" altLang="zh-CN" sz="1000" dirty="0">
                <a:solidFill>
                  <a:schemeClr val="tx1"/>
                </a:solidFill>
                <a:latin typeface="Menlo-Regular"/>
              </a:rPr>
              <a:t>{</a:t>
            </a:r>
          </a:p>
          <a:p>
            <a:r>
              <a:rPr lang="en-US" altLang="zh-CN" sz="1000" dirty="0">
                <a:solidFill>
                  <a:schemeClr val="tx1"/>
                </a:solidFill>
                <a:latin typeface="Menlo-Regular"/>
              </a:rPr>
              <a:t>	void *handle;</a:t>
            </a:r>
          </a:p>
          <a:p>
            <a:r>
              <a:rPr lang="en-US" altLang="zh-CN" sz="1000" dirty="0">
                <a:solidFill>
                  <a:schemeClr val="tx1"/>
                </a:solidFill>
                <a:latin typeface="Menlo-Regular"/>
              </a:rPr>
              <a:t>	void (*</a:t>
            </a:r>
            <a:r>
              <a:rPr lang="en-US" altLang="zh-CN" sz="1000" dirty="0" err="1">
                <a:solidFill>
                  <a:schemeClr val="tx1"/>
                </a:solidFill>
                <a:latin typeface="Menlo-Regular"/>
              </a:rPr>
              <a:t>addvec</a:t>
            </a:r>
            <a:r>
              <a:rPr lang="en-US" altLang="zh-CN" sz="1000" dirty="0">
                <a:solidFill>
                  <a:schemeClr val="tx1"/>
                </a:solidFill>
                <a:latin typeface="Menlo-Regular"/>
              </a:rPr>
              <a:t>)(int *, int *, int *, int);</a:t>
            </a:r>
          </a:p>
          <a:p>
            <a:r>
              <a:rPr lang="en-US" altLang="zh-CN" sz="1000" dirty="0">
                <a:solidFill>
                  <a:schemeClr val="tx1"/>
                </a:solidFill>
                <a:latin typeface="Menlo-Regular"/>
              </a:rPr>
              <a:t>	char *error;</a:t>
            </a:r>
          </a:p>
          <a:p>
            <a:r>
              <a:rPr lang="en-US" altLang="zh-CN" sz="1000" dirty="0">
                <a:solidFill>
                  <a:schemeClr val="tx1"/>
                </a:solidFill>
                <a:latin typeface="Menlo-Regular"/>
              </a:rPr>
              <a:t>	/*dynamically load the shared library containing </a:t>
            </a:r>
            <a:r>
              <a:rPr lang="en-US" altLang="zh-CN" sz="1000" dirty="0" err="1">
                <a:solidFill>
                  <a:schemeClr val="tx1"/>
                </a:solidFill>
                <a:latin typeface="Menlo-Regular"/>
              </a:rPr>
              <a:t>addvec</a:t>
            </a:r>
            <a:r>
              <a:rPr lang="en-US" altLang="zh-CN" sz="1000" dirty="0">
                <a:solidFill>
                  <a:schemeClr val="tx1"/>
                </a:solidFill>
                <a:latin typeface="Menlo-Regular"/>
              </a:rPr>
              <a:t>()*/</a:t>
            </a:r>
          </a:p>
          <a:p>
            <a:r>
              <a:rPr lang="en-US" altLang="zh-CN" sz="1000" dirty="0">
                <a:solidFill>
                  <a:schemeClr val="tx1"/>
                </a:solidFill>
                <a:latin typeface="Menlo-Regular"/>
              </a:rPr>
              <a:t>	handle=</a:t>
            </a:r>
            <a:r>
              <a:rPr lang="en-US" altLang="zh-CN" sz="1000" dirty="0" err="1">
                <a:solidFill>
                  <a:schemeClr val="tx1"/>
                </a:solidFill>
                <a:latin typeface="Menlo-Regular"/>
              </a:rPr>
              <a:t>dlopen</a:t>
            </a:r>
            <a:r>
              <a:rPr lang="en-US" altLang="zh-CN" sz="1000" dirty="0">
                <a:solidFill>
                  <a:schemeClr val="tx1"/>
                </a:solidFill>
                <a:latin typeface="Menlo-Regular"/>
              </a:rPr>
              <a:t>("./</a:t>
            </a:r>
            <a:r>
              <a:rPr lang="en-US" altLang="zh-CN" sz="1000" dirty="0" err="1">
                <a:solidFill>
                  <a:schemeClr val="tx1"/>
                </a:solidFill>
                <a:latin typeface="Menlo-Regular"/>
              </a:rPr>
              <a:t>libvector.so",RTLD_LAZY</a:t>
            </a:r>
            <a:r>
              <a:rPr lang="en-US" altLang="zh-CN" sz="1000" dirty="0">
                <a:solidFill>
                  <a:schemeClr val="tx1"/>
                </a:solidFill>
                <a:latin typeface="Menlo-Regular"/>
              </a:rPr>
              <a:t>);</a:t>
            </a:r>
          </a:p>
          <a:p>
            <a:r>
              <a:rPr lang="en-US" altLang="zh-CN" sz="1000" dirty="0">
                <a:solidFill>
                  <a:schemeClr val="tx1"/>
                </a:solidFill>
                <a:latin typeface="Menlo-Regular"/>
              </a:rPr>
              <a:t>	if(!handle){</a:t>
            </a:r>
          </a:p>
          <a:p>
            <a:r>
              <a:rPr lang="en-US" altLang="zh-CN" sz="1000" dirty="0">
                <a:solidFill>
                  <a:schemeClr val="tx1"/>
                </a:solidFill>
                <a:latin typeface="Menlo-Regular"/>
              </a:rPr>
              <a:t>		</a:t>
            </a:r>
            <a:r>
              <a:rPr lang="en-US" altLang="zh-CN" sz="1000" dirty="0" err="1">
                <a:solidFill>
                  <a:schemeClr val="tx1"/>
                </a:solidFill>
                <a:latin typeface="Menlo-Regular"/>
              </a:rPr>
              <a:t>fprintf</a:t>
            </a:r>
            <a:r>
              <a:rPr lang="en-US" altLang="zh-CN" sz="1000" dirty="0">
                <a:solidFill>
                  <a:schemeClr val="tx1"/>
                </a:solidFill>
                <a:latin typeface="Menlo-Regular"/>
              </a:rPr>
              <a:t>(</a:t>
            </a:r>
            <a:r>
              <a:rPr lang="en-US" altLang="zh-CN" sz="1000" dirty="0" err="1">
                <a:solidFill>
                  <a:schemeClr val="tx1"/>
                </a:solidFill>
                <a:latin typeface="Menlo-Regular"/>
              </a:rPr>
              <a:t>stderr,"%s</a:t>
            </a:r>
            <a:r>
              <a:rPr lang="en-US" altLang="zh-CN" sz="1000" dirty="0">
                <a:solidFill>
                  <a:schemeClr val="tx1"/>
                </a:solidFill>
                <a:latin typeface="Menlo-Regular"/>
              </a:rPr>
              <a:t>\n",</a:t>
            </a:r>
            <a:r>
              <a:rPr lang="en-US" altLang="zh-CN" sz="1000" dirty="0" err="1">
                <a:solidFill>
                  <a:schemeClr val="tx1"/>
                </a:solidFill>
                <a:latin typeface="Menlo-Regular"/>
              </a:rPr>
              <a:t>dlerror</a:t>
            </a:r>
            <a:r>
              <a:rPr lang="en-US" altLang="zh-CN" sz="1000" dirty="0">
                <a:solidFill>
                  <a:schemeClr val="tx1"/>
                </a:solidFill>
                <a:latin typeface="Menlo-Regular"/>
              </a:rPr>
              <a:t>());</a:t>
            </a:r>
          </a:p>
          <a:p>
            <a:r>
              <a:rPr lang="en-US" altLang="zh-CN" sz="1000" dirty="0">
                <a:solidFill>
                  <a:schemeClr val="tx1"/>
                </a:solidFill>
                <a:latin typeface="Menlo-Regular"/>
              </a:rPr>
              <a:t>		exit(1);</a:t>
            </a:r>
          </a:p>
          <a:p>
            <a:r>
              <a:rPr lang="en-US" altLang="zh-CN" sz="1000" dirty="0">
                <a:solidFill>
                  <a:schemeClr val="tx1"/>
                </a:solidFill>
                <a:latin typeface="Menlo-Regular"/>
              </a:rPr>
              <a:t>	}</a:t>
            </a:r>
          </a:p>
          <a:p>
            <a:r>
              <a:rPr lang="en-US" altLang="zh-CN" sz="1000" dirty="0">
                <a:solidFill>
                  <a:schemeClr val="tx1"/>
                </a:solidFill>
                <a:latin typeface="Menlo-Regular"/>
              </a:rPr>
              <a:t>	/*get a pointer to the </a:t>
            </a:r>
            <a:r>
              <a:rPr lang="en-US" altLang="zh-CN" sz="1000" dirty="0" err="1">
                <a:solidFill>
                  <a:schemeClr val="tx1"/>
                </a:solidFill>
                <a:latin typeface="Menlo-Regular"/>
              </a:rPr>
              <a:t>addvec</a:t>
            </a:r>
            <a:r>
              <a:rPr lang="en-US" altLang="zh-CN" sz="1000" dirty="0">
                <a:solidFill>
                  <a:schemeClr val="tx1"/>
                </a:solidFill>
                <a:latin typeface="Menlo-Regular"/>
              </a:rPr>
              <a:t>() function we just loaded*/</a:t>
            </a:r>
          </a:p>
          <a:p>
            <a:r>
              <a:rPr lang="en-US" altLang="zh-CN" sz="1000" dirty="0">
                <a:solidFill>
                  <a:schemeClr val="tx1"/>
                </a:solidFill>
                <a:latin typeface="Menlo-Regular"/>
              </a:rPr>
              <a:t>	</a:t>
            </a:r>
            <a:r>
              <a:rPr lang="en-US" altLang="zh-CN" sz="1000" dirty="0" err="1">
                <a:solidFill>
                  <a:schemeClr val="tx1"/>
                </a:solidFill>
                <a:latin typeface="Menlo-Regular"/>
              </a:rPr>
              <a:t>addvec</a:t>
            </a:r>
            <a:r>
              <a:rPr lang="en-US" altLang="zh-CN" sz="1000" dirty="0">
                <a:solidFill>
                  <a:schemeClr val="tx1"/>
                </a:solidFill>
                <a:latin typeface="Menlo-Regular"/>
              </a:rPr>
              <a:t>=</a:t>
            </a:r>
            <a:r>
              <a:rPr lang="en-US" altLang="zh-CN" sz="1000" dirty="0" err="1">
                <a:solidFill>
                  <a:schemeClr val="tx1"/>
                </a:solidFill>
                <a:latin typeface="Menlo-Regular"/>
              </a:rPr>
              <a:t>dlsym</a:t>
            </a:r>
            <a:r>
              <a:rPr lang="en-US" altLang="zh-CN" sz="1000" dirty="0">
                <a:solidFill>
                  <a:schemeClr val="tx1"/>
                </a:solidFill>
                <a:latin typeface="Menlo-Regular"/>
              </a:rPr>
              <a:t>(handle,"</a:t>
            </a:r>
            <a:r>
              <a:rPr lang="en-US" altLang="zh-CN" sz="1000" dirty="0" err="1">
                <a:solidFill>
                  <a:schemeClr val="tx1"/>
                </a:solidFill>
                <a:latin typeface="Menlo-Regular"/>
              </a:rPr>
              <a:t>addvec</a:t>
            </a:r>
            <a:r>
              <a:rPr lang="en-US" altLang="zh-CN" sz="1000" dirty="0">
                <a:solidFill>
                  <a:schemeClr val="tx1"/>
                </a:solidFill>
                <a:latin typeface="Menlo-Regular"/>
              </a:rPr>
              <a:t>");</a:t>
            </a:r>
          </a:p>
          <a:p>
            <a:r>
              <a:rPr lang="en-US" altLang="zh-CN" sz="1000" dirty="0">
                <a:solidFill>
                  <a:schemeClr val="tx1"/>
                </a:solidFill>
                <a:latin typeface="Menlo-Regular"/>
              </a:rPr>
              <a:t>	if((error=</a:t>
            </a:r>
            <a:r>
              <a:rPr lang="en-US" altLang="zh-CN" sz="1000" dirty="0" err="1">
                <a:solidFill>
                  <a:schemeClr val="tx1"/>
                </a:solidFill>
                <a:latin typeface="Menlo-Regular"/>
              </a:rPr>
              <a:t>dlerror</a:t>
            </a:r>
            <a:r>
              <a:rPr lang="en-US" altLang="zh-CN" sz="1000" dirty="0">
                <a:solidFill>
                  <a:schemeClr val="tx1"/>
                </a:solidFill>
                <a:latin typeface="Menlo-Regular"/>
              </a:rPr>
              <a:t>())!=NULL){</a:t>
            </a:r>
          </a:p>
          <a:p>
            <a:r>
              <a:rPr lang="en-US" altLang="zh-CN" sz="1000" dirty="0">
                <a:solidFill>
                  <a:schemeClr val="tx1"/>
                </a:solidFill>
                <a:latin typeface="Menlo-Regular"/>
              </a:rPr>
              <a:t>		</a:t>
            </a:r>
            <a:r>
              <a:rPr lang="en-US" altLang="zh-CN" sz="1000" dirty="0" err="1">
                <a:solidFill>
                  <a:schemeClr val="tx1"/>
                </a:solidFill>
                <a:latin typeface="Menlo-Regular"/>
              </a:rPr>
              <a:t>fprintf</a:t>
            </a:r>
            <a:r>
              <a:rPr lang="en-US" altLang="zh-CN" sz="1000" dirty="0">
                <a:solidFill>
                  <a:schemeClr val="tx1"/>
                </a:solidFill>
                <a:latin typeface="Menlo-Regular"/>
              </a:rPr>
              <a:t>(</a:t>
            </a:r>
            <a:r>
              <a:rPr lang="en-US" altLang="zh-CN" sz="1000" dirty="0" err="1">
                <a:solidFill>
                  <a:schemeClr val="tx1"/>
                </a:solidFill>
                <a:latin typeface="Menlo-Regular"/>
              </a:rPr>
              <a:t>stderr,"%s</a:t>
            </a:r>
            <a:r>
              <a:rPr lang="en-US" altLang="zh-CN" sz="1000" dirty="0">
                <a:solidFill>
                  <a:schemeClr val="tx1"/>
                </a:solidFill>
                <a:latin typeface="Menlo-Regular"/>
              </a:rPr>
              <a:t>\</a:t>
            </a:r>
            <a:r>
              <a:rPr lang="en-US" altLang="zh-CN" sz="1000" dirty="0" err="1">
                <a:solidFill>
                  <a:schemeClr val="tx1"/>
                </a:solidFill>
                <a:latin typeface="Menlo-Regular"/>
              </a:rPr>
              <a:t>n",error</a:t>
            </a:r>
            <a:r>
              <a:rPr lang="en-US" altLang="zh-CN" sz="1000" dirty="0">
                <a:solidFill>
                  <a:schemeClr val="tx1"/>
                </a:solidFill>
                <a:latin typeface="Menlo-Regular"/>
              </a:rPr>
              <a:t>);</a:t>
            </a:r>
          </a:p>
          <a:p>
            <a:r>
              <a:rPr lang="en-US" altLang="zh-CN" sz="1000" dirty="0">
                <a:solidFill>
                  <a:schemeClr val="tx1"/>
                </a:solidFill>
                <a:latin typeface="Menlo-Regular"/>
              </a:rPr>
              <a:t>		exit(1);</a:t>
            </a:r>
          </a:p>
          <a:p>
            <a:r>
              <a:rPr lang="en-US" altLang="zh-CN" sz="1000" dirty="0">
                <a:solidFill>
                  <a:schemeClr val="tx1"/>
                </a:solidFill>
                <a:latin typeface="Menlo-Regular"/>
              </a:rPr>
              <a:t>	}</a:t>
            </a:r>
          </a:p>
          <a:p>
            <a:r>
              <a:rPr lang="en-US" altLang="zh-CN" sz="1000" dirty="0">
                <a:solidFill>
                  <a:schemeClr val="tx1"/>
                </a:solidFill>
                <a:latin typeface="Menlo-Regular"/>
              </a:rPr>
              <a:t>	/*now we call </a:t>
            </a:r>
            <a:r>
              <a:rPr lang="en-US" altLang="zh-CN" sz="1000" dirty="0" err="1">
                <a:solidFill>
                  <a:schemeClr val="tx1"/>
                </a:solidFill>
                <a:latin typeface="Menlo-Regular"/>
              </a:rPr>
              <a:t>addvec</a:t>
            </a:r>
            <a:r>
              <a:rPr lang="en-US" altLang="zh-CN" sz="1000" dirty="0">
                <a:solidFill>
                  <a:schemeClr val="tx1"/>
                </a:solidFill>
                <a:latin typeface="Menlo-Regular"/>
              </a:rPr>
              <a:t>() just like any other function*/</a:t>
            </a:r>
          </a:p>
          <a:p>
            <a:r>
              <a:rPr lang="en-US" altLang="zh-CN" sz="1000" dirty="0">
                <a:solidFill>
                  <a:schemeClr val="tx1"/>
                </a:solidFill>
                <a:latin typeface="Menlo-Regular"/>
              </a:rPr>
              <a:t>	</a:t>
            </a:r>
            <a:r>
              <a:rPr lang="en-US" altLang="zh-CN" sz="1000" dirty="0" err="1">
                <a:solidFill>
                  <a:schemeClr val="tx1"/>
                </a:solidFill>
                <a:latin typeface="Menlo-Regular"/>
              </a:rPr>
              <a:t>addvec</a:t>
            </a:r>
            <a:r>
              <a:rPr lang="en-US" altLang="zh-CN" sz="1000" dirty="0">
                <a:solidFill>
                  <a:schemeClr val="tx1"/>
                </a:solidFill>
                <a:latin typeface="Menlo-Regular"/>
              </a:rPr>
              <a:t>(x,y,z,2);</a:t>
            </a:r>
          </a:p>
          <a:p>
            <a:r>
              <a:rPr lang="en-US" altLang="zh-CN" sz="1000" dirty="0">
                <a:solidFill>
                  <a:schemeClr val="tx1"/>
                </a:solidFill>
                <a:latin typeface="Menlo-Regular"/>
              </a:rPr>
              <a:t>	</a:t>
            </a:r>
            <a:r>
              <a:rPr lang="en-US" altLang="zh-CN" sz="1000" dirty="0" err="1">
                <a:solidFill>
                  <a:schemeClr val="tx1"/>
                </a:solidFill>
                <a:latin typeface="Menlo-Regular"/>
              </a:rPr>
              <a:t>printf</a:t>
            </a:r>
            <a:r>
              <a:rPr lang="en-US" altLang="zh-CN" sz="1000" dirty="0">
                <a:solidFill>
                  <a:schemeClr val="tx1"/>
                </a:solidFill>
                <a:latin typeface="Menlo-Regular"/>
              </a:rPr>
              <a:t>("z=[%d %d]\</a:t>
            </a:r>
            <a:r>
              <a:rPr lang="en-US" altLang="zh-CN" sz="1000" dirty="0" err="1">
                <a:solidFill>
                  <a:schemeClr val="tx1"/>
                </a:solidFill>
                <a:latin typeface="Menlo-Regular"/>
              </a:rPr>
              <a:t>n",z</a:t>
            </a:r>
            <a:r>
              <a:rPr lang="en-US" altLang="zh-CN" sz="1000" dirty="0">
                <a:solidFill>
                  <a:schemeClr val="tx1"/>
                </a:solidFill>
                <a:latin typeface="Menlo-Regular"/>
              </a:rPr>
              <a:t>[0],z[1]);</a:t>
            </a:r>
          </a:p>
          <a:p>
            <a:r>
              <a:rPr lang="en-US" altLang="zh-CN" sz="1000" dirty="0">
                <a:solidFill>
                  <a:schemeClr val="tx1"/>
                </a:solidFill>
                <a:latin typeface="Menlo-Regular"/>
              </a:rPr>
              <a:t>	/*unload the shared library*/</a:t>
            </a:r>
          </a:p>
          <a:p>
            <a:r>
              <a:rPr lang="en-US" altLang="zh-CN" sz="1000" dirty="0">
                <a:solidFill>
                  <a:schemeClr val="tx1"/>
                </a:solidFill>
                <a:latin typeface="Menlo-Regular"/>
              </a:rPr>
              <a:t>	if(</a:t>
            </a:r>
            <a:r>
              <a:rPr lang="en-US" altLang="zh-CN" sz="1000" dirty="0" err="1">
                <a:solidFill>
                  <a:schemeClr val="tx1"/>
                </a:solidFill>
                <a:latin typeface="Menlo-Regular"/>
              </a:rPr>
              <a:t>dlclose</a:t>
            </a:r>
            <a:r>
              <a:rPr lang="en-US" altLang="zh-CN" sz="1000" dirty="0">
                <a:solidFill>
                  <a:schemeClr val="tx1"/>
                </a:solidFill>
                <a:latin typeface="Menlo-Regular"/>
              </a:rPr>
              <a:t>(handle)&lt;0){</a:t>
            </a:r>
          </a:p>
          <a:p>
            <a:r>
              <a:rPr lang="en-US" altLang="zh-CN" sz="1000" dirty="0">
                <a:solidFill>
                  <a:schemeClr val="tx1"/>
                </a:solidFill>
                <a:latin typeface="Menlo-Regular"/>
              </a:rPr>
              <a:t>		</a:t>
            </a:r>
            <a:r>
              <a:rPr lang="en-US" altLang="zh-CN" sz="1000" dirty="0" err="1">
                <a:solidFill>
                  <a:schemeClr val="tx1"/>
                </a:solidFill>
                <a:latin typeface="Menlo-Regular"/>
              </a:rPr>
              <a:t>fprintf</a:t>
            </a:r>
            <a:r>
              <a:rPr lang="en-US" altLang="zh-CN" sz="1000" dirty="0">
                <a:solidFill>
                  <a:schemeClr val="tx1"/>
                </a:solidFill>
                <a:latin typeface="Menlo-Regular"/>
              </a:rPr>
              <a:t>(</a:t>
            </a:r>
            <a:r>
              <a:rPr lang="en-US" altLang="zh-CN" sz="1000" dirty="0" err="1">
                <a:solidFill>
                  <a:schemeClr val="tx1"/>
                </a:solidFill>
                <a:latin typeface="Menlo-Regular"/>
              </a:rPr>
              <a:t>stderr,"%s</a:t>
            </a:r>
            <a:r>
              <a:rPr lang="en-US" altLang="zh-CN" sz="1000" dirty="0">
                <a:solidFill>
                  <a:schemeClr val="tx1"/>
                </a:solidFill>
                <a:latin typeface="Menlo-Regular"/>
              </a:rPr>
              <a:t>\n",</a:t>
            </a:r>
            <a:r>
              <a:rPr lang="en-US" altLang="zh-CN" sz="1000" dirty="0" err="1">
                <a:solidFill>
                  <a:schemeClr val="tx1"/>
                </a:solidFill>
                <a:latin typeface="Menlo-Regular"/>
              </a:rPr>
              <a:t>dlerror</a:t>
            </a:r>
            <a:r>
              <a:rPr lang="en-US" altLang="zh-CN" sz="1000" dirty="0">
                <a:solidFill>
                  <a:schemeClr val="tx1"/>
                </a:solidFill>
                <a:latin typeface="Menlo-Regular"/>
              </a:rPr>
              <a:t>());</a:t>
            </a:r>
          </a:p>
          <a:p>
            <a:r>
              <a:rPr lang="en-US" altLang="zh-CN" sz="1000" dirty="0">
                <a:solidFill>
                  <a:schemeClr val="tx1"/>
                </a:solidFill>
                <a:latin typeface="Menlo-Regular"/>
              </a:rPr>
              <a:t>		exit(1);</a:t>
            </a:r>
          </a:p>
          <a:p>
            <a:r>
              <a:rPr lang="en-US" altLang="zh-CN" sz="1000" dirty="0">
                <a:solidFill>
                  <a:schemeClr val="tx1"/>
                </a:solidFill>
                <a:latin typeface="Menlo-Regular"/>
              </a:rPr>
              <a:t>	}</a:t>
            </a:r>
          </a:p>
          <a:p>
            <a:r>
              <a:rPr lang="en-US" altLang="zh-CN" sz="1000" dirty="0">
                <a:solidFill>
                  <a:schemeClr val="tx1"/>
                </a:solidFill>
                <a:latin typeface="Menlo-Regular"/>
              </a:rPr>
              <a:t>	return 0;</a:t>
            </a:r>
          </a:p>
          <a:p>
            <a:r>
              <a:rPr lang="en-US" altLang="zh-CN" sz="1000" dirty="0">
                <a:solidFill>
                  <a:schemeClr val="tx1"/>
                </a:solidFill>
                <a:latin typeface="Menlo-Regular"/>
              </a:rPr>
              <a:t>}</a:t>
            </a:r>
          </a:p>
        </p:txBody>
      </p:sp>
    </p:spTree>
    <p:extLst>
      <p:ext uri="{BB962C8B-B14F-4D97-AF65-F5344CB8AC3E}">
        <p14:creationId xmlns:p14="http://schemas.microsoft.com/office/powerpoint/2010/main" val="42647871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A32B0F-5A29-4261-B844-0B19BE1ED5EF}"/>
              </a:ext>
            </a:extLst>
          </p:cNvPr>
          <p:cNvSpPr>
            <a:spLocks noGrp="1"/>
          </p:cNvSpPr>
          <p:nvPr>
            <p:ph type="title"/>
          </p:nvPr>
        </p:nvSpPr>
        <p:spPr>
          <a:xfrm>
            <a:off x="883233" y="112875"/>
            <a:ext cx="7787208" cy="562395"/>
          </a:xfrm>
        </p:spPr>
        <p:txBody>
          <a:bodyPr>
            <a:normAutofit fontScale="90000"/>
          </a:bodyPr>
          <a:lstStyle/>
          <a:p>
            <a:r>
              <a:rPr lang="en-US" altLang="zh-CN" dirty="0"/>
              <a:t>7.12 </a:t>
            </a:r>
            <a:r>
              <a:rPr lang="zh-CN" altLang="en-US" dirty="0"/>
              <a:t>位置无关代码</a:t>
            </a:r>
          </a:p>
        </p:txBody>
      </p:sp>
      <p:sp>
        <p:nvSpPr>
          <p:cNvPr id="3" name="内容占位符 2">
            <a:extLst>
              <a:ext uri="{FF2B5EF4-FFF2-40B4-BE49-F238E27FC236}">
                <a16:creationId xmlns:a16="http://schemas.microsoft.com/office/drawing/2014/main" id="{2CEFCCED-1FAE-49CB-958B-E27AA8962136}"/>
              </a:ext>
            </a:extLst>
          </p:cNvPr>
          <p:cNvSpPr>
            <a:spLocks noGrp="1"/>
          </p:cNvSpPr>
          <p:nvPr>
            <p:ph idx="1"/>
          </p:nvPr>
        </p:nvSpPr>
        <p:spPr/>
        <p:txBody>
          <a:bodyPr>
            <a:normAutofit fontScale="92500" lnSpcReduction="20000"/>
          </a:bodyPr>
          <a:lstStyle/>
          <a:p>
            <a:r>
              <a:rPr lang="zh-CN" altLang="en-US" dirty="0"/>
              <a:t>动机：为共享库预分配专用</a:t>
            </a:r>
            <a:r>
              <a:rPr lang="zh-CN" altLang="en-US"/>
              <a:t>地址空间片，管理</a:t>
            </a:r>
            <a:r>
              <a:rPr lang="zh-CN" altLang="en-US" dirty="0"/>
              <a:t>复杂，成本高</a:t>
            </a:r>
            <a:endParaRPr lang="en-US" altLang="zh-CN" dirty="0"/>
          </a:p>
          <a:p>
            <a:r>
              <a:rPr lang="zh-CN" altLang="en-US" dirty="0"/>
              <a:t>目标：编译共享模块代码段，使得可以把它们加载到内存的任何位置而无需链接器修改，使多个进程可以共享一个共享代码段的单一副本</a:t>
            </a:r>
            <a:endParaRPr lang="en-US" altLang="zh-CN" dirty="0"/>
          </a:p>
          <a:p>
            <a:r>
              <a:rPr lang="zh-CN" altLang="en-US" dirty="0"/>
              <a:t>位置无关代码</a:t>
            </a:r>
            <a:r>
              <a:rPr lang="en-US" altLang="zh-CN" dirty="0"/>
              <a:t>(Position-Independent Code, PIC)</a:t>
            </a:r>
            <a:r>
              <a:rPr lang="zh-CN" altLang="en-US" dirty="0"/>
              <a:t>：</a:t>
            </a:r>
            <a:endParaRPr lang="en-US" altLang="zh-CN" dirty="0"/>
          </a:p>
          <a:p>
            <a:pPr lvl="1"/>
            <a:r>
              <a:rPr lang="zh-CN" altLang="en-US" dirty="0"/>
              <a:t>可以加载而无需重定位的代码称为位置无关代码</a:t>
            </a:r>
            <a:endParaRPr lang="en-US" altLang="zh-CN" dirty="0"/>
          </a:p>
          <a:p>
            <a:pPr lvl="1"/>
            <a:r>
              <a:rPr lang="en-US" altLang="zh-CN" dirty="0"/>
              <a:t>GCC</a:t>
            </a:r>
            <a:r>
              <a:rPr lang="zh-CN" altLang="en-US" dirty="0"/>
              <a:t>使用</a:t>
            </a:r>
            <a:r>
              <a:rPr lang="en-US" altLang="zh-CN" dirty="0"/>
              <a:t>-</a:t>
            </a:r>
            <a:r>
              <a:rPr lang="en-US" altLang="zh-CN" dirty="0" err="1"/>
              <a:t>fpic</a:t>
            </a:r>
            <a:r>
              <a:rPr lang="zh-CN" altLang="en-US" dirty="0"/>
              <a:t>选项指示</a:t>
            </a:r>
            <a:r>
              <a:rPr lang="en-US" altLang="zh-CN" dirty="0"/>
              <a:t>GNU</a:t>
            </a:r>
            <a:r>
              <a:rPr lang="zh-CN" altLang="en-US" dirty="0"/>
              <a:t>编译系统生成</a:t>
            </a:r>
            <a:r>
              <a:rPr lang="en-US" altLang="zh-CN" dirty="0"/>
              <a:t>PIC</a:t>
            </a:r>
            <a:r>
              <a:rPr lang="zh-CN" altLang="en-US" dirty="0"/>
              <a:t>代码，共享库编译必须总是使用该选项</a:t>
            </a:r>
            <a:endParaRPr lang="en-US" altLang="zh-CN" dirty="0"/>
          </a:p>
          <a:p>
            <a:r>
              <a:rPr lang="en-US" altLang="zh-CN" dirty="0"/>
              <a:t>1. PIC</a:t>
            </a:r>
            <a:r>
              <a:rPr lang="zh-CN" altLang="en-US" dirty="0"/>
              <a:t>数据引用</a:t>
            </a:r>
            <a:endParaRPr lang="en-US" altLang="zh-CN" dirty="0"/>
          </a:p>
          <a:p>
            <a:pPr lvl="1"/>
            <a:r>
              <a:rPr lang="zh-CN" altLang="en-US" dirty="0"/>
              <a:t>技术基础：数据段与代码段的距离保持不变，代码段中的任何指令和数据段中任何变量之间的距离都是一个运行时常量，与代码段和数据段的绝对内存位置无关</a:t>
            </a:r>
            <a:endParaRPr lang="en-US" altLang="zh-CN" dirty="0"/>
          </a:p>
          <a:p>
            <a:pPr lvl="1"/>
            <a:r>
              <a:rPr lang="zh-CN" altLang="en-US" dirty="0"/>
              <a:t>方法：在数据段开始的地方创建一个全局偏移量表</a:t>
            </a:r>
            <a:r>
              <a:rPr lang="en-US" altLang="zh-CN" dirty="0"/>
              <a:t>(Global Offset Table, GOT)</a:t>
            </a:r>
          </a:p>
          <a:p>
            <a:pPr lvl="2"/>
            <a:r>
              <a:rPr lang="zh-CN" altLang="en-US" dirty="0"/>
              <a:t>每个被这个目标模块引用的全局数据目标</a:t>
            </a:r>
            <a:r>
              <a:rPr lang="en-US" altLang="zh-CN" dirty="0"/>
              <a:t>(</a:t>
            </a:r>
            <a:r>
              <a:rPr lang="zh-CN" altLang="en-US" dirty="0"/>
              <a:t>过程或全局变量</a:t>
            </a:r>
            <a:r>
              <a:rPr lang="en-US" altLang="zh-CN" dirty="0"/>
              <a:t>)</a:t>
            </a:r>
            <a:r>
              <a:rPr lang="zh-CN" altLang="en-US" dirty="0"/>
              <a:t>都有一个</a:t>
            </a:r>
            <a:r>
              <a:rPr lang="en-US" altLang="zh-CN" dirty="0"/>
              <a:t>8</a:t>
            </a:r>
            <a:r>
              <a:rPr lang="zh-CN" altLang="en-US" dirty="0"/>
              <a:t>字节条目，编译器为</a:t>
            </a:r>
            <a:r>
              <a:rPr lang="en-US" altLang="zh-CN" dirty="0"/>
              <a:t>GOT</a:t>
            </a:r>
            <a:r>
              <a:rPr lang="zh-CN" altLang="en-US" dirty="0"/>
              <a:t>中每个条目生成一个重定位记录</a:t>
            </a:r>
            <a:endParaRPr lang="en-US" altLang="zh-CN" dirty="0"/>
          </a:p>
          <a:p>
            <a:pPr lvl="2"/>
            <a:r>
              <a:rPr lang="zh-CN" altLang="en-US" dirty="0"/>
              <a:t>加载时，动态链接器重定位</a:t>
            </a:r>
            <a:r>
              <a:rPr lang="en-US" altLang="zh-CN" dirty="0"/>
              <a:t>GOT</a:t>
            </a:r>
            <a:r>
              <a:rPr lang="zh-CN" altLang="en-US" dirty="0"/>
              <a:t>中的每个条目，使得它包含目标的正确的绝对地址</a:t>
            </a:r>
            <a:endParaRPr lang="en-US" altLang="zh-CN" dirty="0"/>
          </a:p>
          <a:p>
            <a:pPr lvl="2"/>
            <a:r>
              <a:rPr lang="zh-CN" altLang="en-US" dirty="0"/>
              <a:t>每个引用全局目标的目标模块都有自己的</a:t>
            </a:r>
            <a:r>
              <a:rPr lang="en-US" altLang="zh-CN" dirty="0"/>
              <a:t>GOT</a:t>
            </a:r>
            <a:endParaRPr lang="zh-CN" altLang="en-US" dirty="0"/>
          </a:p>
        </p:txBody>
      </p:sp>
      <p:sp>
        <p:nvSpPr>
          <p:cNvPr id="4" name="灯片编号占位符 3">
            <a:extLst>
              <a:ext uri="{FF2B5EF4-FFF2-40B4-BE49-F238E27FC236}">
                <a16:creationId xmlns:a16="http://schemas.microsoft.com/office/drawing/2014/main" id="{84274575-C4AD-4E8D-996A-A710DE36DB4D}"/>
              </a:ext>
            </a:extLst>
          </p:cNvPr>
          <p:cNvSpPr>
            <a:spLocks noGrp="1"/>
          </p:cNvSpPr>
          <p:nvPr>
            <p:ph type="sldNum" sz="quarter" idx="12"/>
          </p:nvPr>
        </p:nvSpPr>
        <p:spPr/>
        <p:txBody>
          <a:bodyPr/>
          <a:lstStyle/>
          <a:p>
            <a:fld id="{6D62327B-ED8D-4CFC-ADD0-A75FA5CBE281}" type="slidenum">
              <a:rPr lang="zh-CN" altLang="en-US" smtClean="0"/>
              <a:pPr/>
              <a:t>55</a:t>
            </a:fld>
            <a:endParaRPr lang="zh-CN" altLang="en-US" dirty="0"/>
          </a:p>
        </p:txBody>
      </p:sp>
    </p:spTree>
    <p:extLst>
      <p:ext uri="{BB962C8B-B14F-4D97-AF65-F5344CB8AC3E}">
        <p14:creationId xmlns:p14="http://schemas.microsoft.com/office/powerpoint/2010/main" val="26316566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3D431E-7155-44E6-B9B0-D3662B9AE06A}"/>
              </a:ext>
            </a:extLst>
          </p:cNvPr>
          <p:cNvSpPr>
            <a:spLocks noGrp="1"/>
          </p:cNvSpPr>
          <p:nvPr>
            <p:ph type="title"/>
          </p:nvPr>
        </p:nvSpPr>
        <p:spPr/>
        <p:txBody>
          <a:bodyPr>
            <a:normAutofit fontScale="90000"/>
          </a:bodyPr>
          <a:lstStyle/>
          <a:p>
            <a:r>
              <a:rPr lang="en-US" altLang="zh-CN" dirty="0"/>
              <a:t>GOT</a:t>
            </a:r>
            <a:r>
              <a:rPr lang="zh-CN" altLang="en-US" dirty="0"/>
              <a:t>示例</a:t>
            </a:r>
          </a:p>
        </p:txBody>
      </p:sp>
      <p:sp>
        <p:nvSpPr>
          <p:cNvPr id="3" name="内容占位符 2">
            <a:extLst>
              <a:ext uri="{FF2B5EF4-FFF2-40B4-BE49-F238E27FC236}">
                <a16:creationId xmlns:a16="http://schemas.microsoft.com/office/drawing/2014/main" id="{F0805623-F6E7-4F48-85FE-3C39C40FD369}"/>
              </a:ext>
            </a:extLst>
          </p:cNvPr>
          <p:cNvSpPr>
            <a:spLocks noGrp="1"/>
          </p:cNvSpPr>
          <p:nvPr>
            <p:ph idx="1"/>
          </p:nvPr>
        </p:nvSpPr>
        <p:spPr>
          <a:xfrm>
            <a:off x="457200" y="837034"/>
            <a:ext cx="8229600" cy="5289136"/>
          </a:xfrm>
        </p:spPr>
        <p:txBody>
          <a:bodyPr>
            <a:normAutofit/>
          </a:bodyPr>
          <a:lstStyle/>
          <a:p>
            <a:r>
              <a:rPr lang="zh-CN" altLang="en-US" sz="2000" dirty="0"/>
              <a:t>示例</a:t>
            </a:r>
            <a:r>
              <a:rPr lang="en-US" altLang="zh-CN" sz="2000" dirty="0"/>
              <a:t>libvector.so</a:t>
            </a:r>
            <a:r>
              <a:rPr lang="zh-CN" altLang="en-US" sz="2000" dirty="0"/>
              <a:t>共享模拟</a:t>
            </a:r>
            <a:r>
              <a:rPr lang="en-US" altLang="zh-CN" sz="2000" dirty="0"/>
              <a:t>GOT</a:t>
            </a:r>
            <a:r>
              <a:rPr lang="zh-CN" altLang="en-US" sz="2000" dirty="0"/>
              <a:t>：</a:t>
            </a:r>
            <a:endParaRPr lang="en-US" altLang="zh-CN" sz="2000" dirty="0"/>
          </a:p>
          <a:p>
            <a:pPr lvl="1"/>
            <a:r>
              <a:rPr lang="en-US" altLang="zh-CN" sz="2000" dirty="0" err="1"/>
              <a:t>addvec</a:t>
            </a:r>
            <a:r>
              <a:rPr lang="zh-CN" altLang="en-US" sz="2000" dirty="0"/>
              <a:t>例程通过</a:t>
            </a:r>
            <a:r>
              <a:rPr lang="en-US" altLang="zh-CN" sz="2000" dirty="0"/>
              <a:t>GOT[3]</a:t>
            </a:r>
            <a:r>
              <a:rPr lang="zh-CN" altLang="en-US" sz="2000" dirty="0"/>
              <a:t>间接地加载全局变量</a:t>
            </a:r>
            <a:r>
              <a:rPr lang="en-US" altLang="zh-CN" sz="2000" dirty="0" err="1"/>
              <a:t>addcnt</a:t>
            </a:r>
            <a:r>
              <a:rPr lang="zh-CN" altLang="en-US" sz="2000" dirty="0"/>
              <a:t>地址，然后把</a:t>
            </a:r>
            <a:r>
              <a:rPr lang="en-US" altLang="zh-CN" sz="2000" dirty="0" err="1"/>
              <a:t>addcnt</a:t>
            </a:r>
            <a:r>
              <a:rPr lang="zh-CN" altLang="en-US" sz="2000" dirty="0"/>
              <a:t>在内存中加</a:t>
            </a:r>
            <a:r>
              <a:rPr lang="en-US" altLang="zh-CN" sz="2000" dirty="0"/>
              <a:t>1</a:t>
            </a:r>
          </a:p>
          <a:p>
            <a:pPr lvl="1"/>
            <a:r>
              <a:rPr lang="zh-CN" altLang="en-US" sz="2000" dirty="0"/>
              <a:t>增加一个重定位，让链接器在构造这个共享模块时解析它</a:t>
            </a:r>
          </a:p>
        </p:txBody>
      </p:sp>
      <p:sp>
        <p:nvSpPr>
          <p:cNvPr id="4" name="灯片编号占位符 3">
            <a:extLst>
              <a:ext uri="{FF2B5EF4-FFF2-40B4-BE49-F238E27FC236}">
                <a16:creationId xmlns:a16="http://schemas.microsoft.com/office/drawing/2014/main" id="{591771F0-90FB-4A40-A9E7-B98496E65E71}"/>
              </a:ext>
            </a:extLst>
          </p:cNvPr>
          <p:cNvSpPr>
            <a:spLocks noGrp="1"/>
          </p:cNvSpPr>
          <p:nvPr>
            <p:ph type="sldNum" sz="quarter" idx="12"/>
          </p:nvPr>
        </p:nvSpPr>
        <p:spPr/>
        <p:txBody>
          <a:bodyPr/>
          <a:lstStyle/>
          <a:p>
            <a:fld id="{6D62327B-ED8D-4CFC-ADD0-A75FA5CBE281}" type="slidenum">
              <a:rPr lang="zh-CN" altLang="en-US" smtClean="0"/>
              <a:pPr/>
              <a:t>56</a:t>
            </a:fld>
            <a:endParaRPr lang="zh-CN" altLang="en-US" dirty="0"/>
          </a:p>
        </p:txBody>
      </p:sp>
      <p:sp>
        <p:nvSpPr>
          <p:cNvPr id="5" name="Rectangle 3">
            <a:extLst>
              <a:ext uri="{FF2B5EF4-FFF2-40B4-BE49-F238E27FC236}">
                <a16:creationId xmlns:a16="http://schemas.microsoft.com/office/drawing/2014/main" id="{C7841C72-5EA6-4B71-B1C0-709AEAD9F1A2}"/>
              </a:ext>
            </a:extLst>
          </p:cNvPr>
          <p:cNvSpPr>
            <a:spLocks noChangeArrowheads="1"/>
          </p:cNvSpPr>
          <p:nvPr/>
        </p:nvSpPr>
        <p:spPr bwMode="auto">
          <a:xfrm>
            <a:off x="3203848" y="3011986"/>
            <a:ext cx="5305072" cy="1815882"/>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zh-CN" altLang="en-US" sz="1600" dirty="0">
                <a:solidFill>
                  <a:schemeClr val="tx1"/>
                </a:solidFill>
                <a:latin typeface="Times New Roman" panose="02020603050405020304" pitchFamily="18" charset="0"/>
                <a:cs typeface="Times New Roman" panose="02020603050405020304" pitchFamily="18" charset="0"/>
              </a:rPr>
              <a:t>数据段</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zh-CN" altLang="en-US" sz="1600" dirty="0">
                <a:solidFill>
                  <a:schemeClr val="tx1"/>
                </a:solidFill>
                <a:latin typeface="Times New Roman" panose="02020603050405020304" pitchFamily="18" charset="0"/>
                <a:cs typeface="Times New Roman" panose="02020603050405020304" pitchFamily="18" charset="0"/>
              </a:rPr>
              <a:t>全局偏移量表</a:t>
            </a:r>
            <a:r>
              <a:rPr lang="en-US" altLang="zh-CN" sz="1600" dirty="0">
                <a:solidFill>
                  <a:schemeClr val="tx1"/>
                </a:solidFill>
                <a:latin typeface="Times New Roman" panose="02020603050405020304" pitchFamily="18" charset="0"/>
                <a:cs typeface="Times New Roman" panose="02020603050405020304" pitchFamily="18" charset="0"/>
              </a:rPr>
              <a:t>(GOT)</a:t>
            </a: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Rectangle 6">
            <a:extLst>
              <a:ext uri="{FF2B5EF4-FFF2-40B4-BE49-F238E27FC236}">
                <a16:creationId xmlns:a16="http://schemas.microsoft.com/office/drawing/2014/main" id="{BEE865AF-1700-4041-8003-878B01C2887B}"/>
              </a:ext>
            </a:extLst>
          </p:cNvPr>
          <p:cNvSpPr>
            <a:spLocks noChangeArrowheads="1"/>
          </p:cNvSpPr>
          <p:nvPr/>
        </p:nvSpPr>
        <p:spPr bwMode="auto">
          <a:xfrm>
            <a:off x="3347865" y="3588050"/>
            <a:ext cx="4251950" cy="1077218"/>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prstTxWarp prst="textNoShape">
              <a:avLst/>
            </a:prstTxWarp>
            <a:spAutoFit/>
          </a:bodyPr>
          <a:lstStyle/>
          <a:p>
            <a:r>
              <a:rPr lang="en-US" sz="1600" dirty="0">
                <a:solidFill>
                  <a:schemeClr val="tx1"/>
                </a:solidFill>
                <a:latin typeface="Times New Roman" panose="02020603050405020304" pitchFamily="18" charset="0"/>
                <a:cs typeface="Times New Roman" panose="02020603050405020304" pitchFamily="18" charset="0"/>
              </a:rPr>
              <a:t>GOT[0]: …</a:t>
            </a:r>
          </a:p>
          <a:p>
            <a:r>
              <a:rPr lang="en-US" altLang="zh-CN" sz="1600" dirty="0">
                <a:solidFill>
                  <a:schemeClr val="tx1"/>
                </a:solidFill>
                <a:latin typeface="Times New Roman" panose="02020603050405020304" pitchFamily="18" charset="0"/>
                <a:cs typeface="Times New Roman" panose="02020603050405020304" pitchFamily="18" charset="0"/>
              </a:rPr>
              <a:t>GOT[1]: …</a:t>
            </a:r>
          </a:p>
          <a:p>
            <a:r>
              <a:rPr lang="en-US" altLang="zh-CN" sz="1600" dirty="0">
                <a:solidFill>
                  <a:schemeClr val="tx1"/>
                </a:solidFill>
                <a:latin typeface="Times New Roman" panose="02020603050405020304" pitchFamily="18" charset="0"/>
                <a:cs typeface="Times New Roman" panose="02020603050405020304" pitchFamily="18" charset="0"/>
              </a:rPr>
              <a:t>GOT[2]: …</a:t>
            </a:r>
          </a:p>
          <a:p>
            <a:r>
              <a:rPr lang="en-US" altLang="zh-CN" sz="1600" dirty="0">
                <a:solidFill>
                  <a:schemeClr val="tx1"/>
                </a:solidFill>
                <a:latin typeface="Times New Roman" panose="02020603050405020304" pitchFamily="18" charset="0"/>
                <a:cs typeface="Times New Roman" panose="02020603050405020304" pitchFamily="18" charset="0"/>
              </a:rPr>
              <a:t>GOT[3]: &amp;</a:t>
            </a:r>
            <a:r>
              <a:rPr lang="en-US" altLang="zh-CN" sz="1600" dirty="0" err="1">
                <a:solidFill>
                  <a:schemeClr val="tx1"/>
                </a:solidFill>
                <a:latin typeface="Times New Roman" panose="02020603050405020304" pitchFamily="18" charset="0"/>
                <a:cs typeface="Times New Roman" panose="02020603050405020304" pitchFamily="18" charset="0"/>
              </a:rPr>
              <a:t>addcnt</a:t>
            </a:r>
            <a:endParaRPr lang="is-IS" sz="1600" dirty="0">
              <a:solidFill>
                <a:schemeClr val="tx1"/>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7BFEAF2D-9535-4A2D-81F8-36E72A4A7C55}"/>
              </a:ext>
            </a:extLst>
          </p:cNvPr>
          <p:cNvSpPr>
            <a:spLocks noChangeArrowheads="1"/>
          </p:cNvSpPr>
          <p:nvPr/>
        </p:nvSpPr>
        <p:spPr bwMode="auto">
          <a:xfrm>
            <a:off x="3203848" y="5157192"/>
            <a:ext cx="5305072" cy="1323439"/>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zh-CN" altLang="en-US" sz="1600" dirty="0">
                <a:solidFill>
                  <a:schemeClr val="tx1"/>
                </a:solidFill>
                <a:latin typeface="Times New Roman" panose="02020603050405020304" pitchFamily="18" charset="0"/>
                <a:cs typeface="Times New Roman" panose="02020603050405020304" pitchFamily="18" charset="0"/>
              </a:rPr>
              <a:t>代码段</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en-US" altLang="zh-CN" sz="1600" dirty="0" err="1">
                <a:solidFill>
                  <a:schemeClr val="tx1"/>
                </a:solidFill>
                <a:latin typeface="Times New Roman" panose="02020603050405020304" pitchFamily="18" charset="0"/>
                <a:cs typeface="Times New Roman" panose="02020603050405020304" pitchFamily="18" charset="0"/>
              </a:rPr>
              <a:t>addvec</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mov 0x2008b9(%rip), % </a:t>
            </a:r>
            <a:r>
              <a:rPr lang="en-US" altLang="zh-CN" sz="1600" dirty="0" err="1">
                <a:solidFill>
                  <a:schemeClr val="tx1"/>
                </a:solidFill>
                <a:latin typeface="Times New Roman" panose="02020603050405020304" pitchFamily="18" charset="0"/>
                <a:cs typeface="Times New Roman" panose="02020603050405020304" pitchFamily="18" charset="0"/>
              </a:rPr>
              <a:t>rax</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rax</a:t>
            </a:r>
            <a:r>
              <a:rPr lang="en-US" altLang="zh-CN" sz="1600" dirty="0">
                <a:solidFill>
                  <a:schemeClr val="tx1"/>
                </a:solidFill>
                <a:latin typeface="Times New Roman" panose="02020603050405020304" pitchFamily="18" charset="0"/>
                <a:cs typeface="Times New Roman" panose="02020603050405020304" pitchFamily="18" charset="0"/>
              </a:rPr>
              <a:t>=*GOT[3]=&amp;</a:t>
            </a:r>
            <a:r>
              <a:rPr lang="en-US" altLang="zh-CN" sz="1600" dirty="0" err="1">
                <a:solidFill>
                  <a:schemeClr val="tx1"/>
                </a:solidFill>
                <a:latin typeface="Times New Roman" panose="02020603050405020304" pitchFamily="18" charset="0"/>
                <a:cs typeface="Times New Roman" panose="02020603050405020304" pitchFamily="18" charset="0"/>
              </a:rPr>
              <a:t>addcnt</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en-US" altLang="zh-CN" sz="1600" dirty="0">
                <a:solidFill>
                  <a:schemeClr val="tx1"/>
                </a:solidFill>
                <a:latin typeface="Times New Roman" panose="02020603050405020304" pitchFamily="18" charset="0"/>
                <a:cs typeface="Times New Roman" panose="02020603050405020304" pitchFamily="18" charset="0"/>
              </a:rPr>
              <a:t>     add1 $0x1, (%</a:t>
            </a:r>
            <a:r>
              <a:rPr lang="en-US" altLang="zh-CN" sz="1600" dirty="0" err="1">
                <a:solidFill>
                  <a:schemeClr val="tx1"/>
                </a:solidFill>
                <a:latin typeface="Times New Roman" panose="02020603050405020304" pitchFamily="18" charset="0"/>
                <a:cs typeface="Times New Roman" panose="02020603050405020304" pitchFamily="18" charset="0"/>
              </a:rPr>
              <a:t>rax</a:t>
            </a:r>
            <a:r>
              <a:rPr lang="en-US" altLang="zh-CN" sz="1600" dirty="0">
                <a:solidFill>
                  <a:schemeClr val="tx1"/>
                </a:solidFill>
                <a:latin typeface="Times New Roman" panose="02020603050405020304" pitchFamily="18" charset="0"/>
                <a:cs typeface="Times New Roman" panose="02020603050405020304" pitchFamily="18" charset="0"/>
              </a:rPr>
              <a:t>)                   # </a:t>
            </a:r>
            <a:r>
              <a:rPr lang="en-US" altLang="zh-CN" sz="1600" dirty="0" err="1">
                <a:solidFill>
                  <a:schemeClr val="tx1"/>
                </a:solidFill>
                <a:latin typeface="Times New Roman" panose="02020603050405020304" pitchFamily="18" charset="0"/>
                <a:cs typeface="Times New Roman" panose="02020603050405020304" pitchFamily="18" charset="0"/>
              </a:rPr>
              <a:t>addcnt</a:t>
            </a:r>
            <a:r>
              <a:rPr lang="en-US" altLang="zh-CN" sz="1600" dirty="0">
                <a:solidFill>
                  <a:schemeClr val="tx1"/>
                </a:solidFill>
                <a:latin typeface="Times New Roman" panose="02020603050405020304" pitchFamily="18" charset="0"/>
                <a:cs typeface="Times New Roman" panose="02020603050405020304" pitchFamily="18" charset="0"/>
              </a:rPr>
              <a:t>++</a:t>
            </a:r>
          </a:p>
          <a:p>
            <a:endParaRPr lang="en-US" sz="1600" dirty="0">
              <a:solidFill>
                <a:schemeClr val="tx1"/>
              </a:solidFill>
              <a:latin typeface="Times New Roman" panose="02020603050405020304" pitchFamily="18" charset="0"/>
              <a:cs typeface="Times New Roman" panose="02020603050405020304" pitchFamily="18" charset="0"/>
            </a:endParaRPr>
          </a:p>
        </p:txBody>
      </p:sp>
      <p:cxnSp>
        <p:nvCxnSpPr>
          <p:cNvPr id="9" name="直接箭头连接符 8">
            <a:extLst>
              <a:ext uri="{FF2B5EF4-FFF2-40B4-BE49-F238E27FC236}">
                <a16:creationId xmlns:a16="http://schemas.microsoft.com/office/drawing/2014/main" id="{43B5F080-D124-4E27-9663-B1C2ED762F40}"/>
              </a:ext>
            </a:extLst>
          </p:cNvPr>
          <p:cNvCxnSpPr/>
          <p:nvPr/>
        </p:nvCxnSpPr>
        <p:spPr>
          <a:xfrm>
            <a:off x="4716016" y="4552076"/>
            <a:ext cx="1008112" cy="1152128"/>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CD5EA4B0-592B-437A-9AD2-8292E58D3191}"/>
              </a:ext>
            </a:extLst>
          </p:cNvPr>
          <p:cNvCxnSpPr/>
          <p:nvPr/>
        </p:nvCxnSpPr>
        <p:spPr>
          <a:xfrm flipH="1">
            <a:off x="2843808" y="4552076"/>
            <a:ext cx="360040"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62EE8D2-3DF4-4CE9-9CE3-4DAC367C4361}"/>
              </a:ext>
            </a:extLst>
          </p:cNvPr>
          <p:cNvCxnSpPr>
            <a:cxnSpLocks/>
          </p:cNvCxnSpPr>
          <p:nvPr/>
        </p:nvCxnSpPr>
        <p:spPr>
          <a:xfrm flipV="1">
            <a:off x="2843808" y="4552076"/>
            <a:ext cx="0" cy="15121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524AD3D8-1236-4687-9CE8-93B56A3170F3}"/>
              </a:ext>
            </a:extLst>
          </p:cNvPr>
          <p:cNvCxnSpPr/>
          <p:nvPr/>
        </p:nvCxnSpPr>
        <p:spPr>
          <a:xfrm flipH="1">
            <a:off x="2843808" y="6064244"/>
            <a:ext cx="360040"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 Box 27">
            <a:extLst>
              <a:ext uri="{FF2B5EF4-FFF2-40B4-BE49-F238E27FC236}">
                <a16:creationId xmlns:a16="http://schemas.microsoft.com/office/drawing/2014/main" id="{98361014-210B-4154-8949-10595E7337D0}"/>
              </a:ext>
            </a:extLst>
          </p:cNvPr>
          <p:cNvSpPr txBox="1">
            <a:spLocks noChangeArrowheads="1"/>
          </p:cNvSpPr>
          <p:nvPr/>
        </p:nvSpPr>
        <p:spPr bwMode="auto">
          <a:xfrm>
            <a:off x="753311" y="5071019"/>
            <a:ext cx="2185753" cy="818367"/>
          </a:xfrm>
          <a:prstGeom prst="rect">
            <a:avLst/>
          </a:prstGeom>
          <a:noFill/>
          <a:ln w="9525">
            <a:noFill/>
            <a:round/>
            <a:headEnd/>
            <a:tailEnd/>
          </a:ln>
          <a:effectLst/>
        </p:spPr>
        <p:txBody>
          <a:bodyPr wrap="square" lIns="90000" tIns="46800" rIns="90000" bIns="468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US" sz="1600" b="1" dirty="0">
                <a:latin typeface="Calibri" pitchFamily="34" charset="0"/>
                <a:ea typeface="msgothic" charset="0"/>
                <a:cs typeface="msgothic" charset="0"/>
              </a:rPr>
              <a:t>运行时</a:t>
            </a:r>
            <a:r>
              <a:rPr lang="en-US" altLang="zh-CN" sz="1600" b="1" dirty="0">
                <a:latin typeface="Calibri" pitchFamily="34" charset="0"/>
                <a:ea typeface="msgothic" charset="0"/>
                <a:cs typeface="msgothic" charset="0"/>
              </a:rPr>
              <a:t>GOT[3]</a:t>
            </a:r>
            <a:r>
              <a:rPr lang="zh-CN" altLang="en-US" sz="1600" b="1" dirty="0">
                <a:latin typeface="Calibri" pitchFamily="34" charset="0"/>
                <a:ea typeface="msgothic" charset="0"/>
                <a:cs typeface="msgothic" charset="0"/>
              </a:rPr>
              <a:t>和</a:t>
            </a:r>
            <a:r>
              <a:rPr lang="en-US" altLang="zh-CN" sz="1600" b="1" dirty="0">
                <a:latin typeface="Calibri" pitchFamily="34" charset="0"/>
                <a:ea typeface="msgothic" charset="0"/>
                <a:cs typeface="msgothic" charset="0"/>
              </a:rPr>
              <a:t>add1</a:t>
            </a:r>
            <a:r>
              <a:rPr lang="zh-CN" altLang="en-US" sz="1600" b="1" dirty="0">
                <a:latin typeface="Calibri" pitchFamily="34" charset="0"/>
                <a:ea typeface="msgothic" charset="0"/>
                <a:cs typeface="msgothic" charset="0"/>
              </a:rPr>
              <a:t>指令之间的固定距离是</a:t>
            </a:r>
            <a:r>
              <a:rPr lang="en-US" altLang="zh-CN" sz="1600" b="1" dirty="0">
                <a:latin typeface="Calibri" pitchFamily="34" charset="0"/>
                <a:ea typeface="msgothic" charset="0"/>
                <a:cs typeface="msgothic" charset="0"/>
              </a:rPr>
              <a:t>0x2008b9</a:t>
            </a:r>
            <a:endParaRPr lang="en-GB" sz="1600" b="1" dirty="0">
              <a:latin typeface="Calibri" pitchFamily="34" charset="0"/>
              <a:ea typeface="msgothic" charset="0"/>
              <a:cs typeface="msgothic" charset="0"/>
            </a:endParaRPr>
          </a:p>
        </p:txBody>
      </p:sp>
    </p:spTree>
    <p:extLst>
      <p:ext uri="{BB962C8B-B14F-4D97-AF65-F5344CB8AC3E}">
        <p14:creationId xmlns:p14="http://schemas.microsoft.com/office/powerpoint/2010/main" val="19556738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D94EE-B15A-499C-AE63-3A3AE571D5B7}"/>
              </a:ext>
            </a:extLst>
          </p:cNvPr>
          <p:cNvSpPr>
            <a:spLocks noGrp="1"/>
          </p:cNvSpPr>
          <p:nvPr>
            <p:ph type="title"/>
          </p:nvPr>
        </p:nvSpPr>
        <p:spPr/>
        <p:txBody>
          <a:bodyPr>
            <a:normAutofit fontScale="90000"/>
          </a:bodyPr>
          <a:lstStyle/>
          <a:p>
            <a:r>
              <a:rPr lang="en-US" altLang="zh-CN" dirty="0"/>
              <a:t>7.12 </a:t>
            </a:r>
            <a:r>
              <a:rPr lang="zh-CN" altLang="en-US" dirty="0"/>
              <a:t>位置无关代码</a:t>
            </a:r>
          </a:p>
        </p:txBody>
      </p:sp>
      <p:sp>
        <p:nvSpPr>
          <p:cNvPr id="3" name="内容占位符 2">
            <a:extLst>
              <a:ext uri="{FF2B5EF4-FFF2-40B4-BE49-F238E27FC236}">
                <a16:creationId xmlns:a16="http://schemas.microsoft.com/office/drawing/2014/main" id="{64756622-DB82-4386-9A65-599F32578774}"/>
              </a:ext>
            </a:extLst>
          </p:cNvPr>
          <p:cNvSpPr>
            <a:spLocks noGrp="1"/>
          </p:cNvSpPr>
          <p:nvPr>
            <p:ph idx="1"/>
          </p:nvPr>
        </p:nvSpPr>
        <p:spPr>
          <a:xfrm>
            <a:off x="457200" y="837034"/>
            <a:ext cx="8003232" cy="5400278"/>
          </a:xfrm>
        </p:spPr>
        <p:txBody>
          <a:bodyPr>
            <a:normAutofit fontScale="92500" lnSpcReduction="10000"/>
          </a:bodyPr>
          <a:lstStyle/>
          <a:p>
            <a:r>
              <a:rPr lang="en-US" altLang="zh-CN" dirty="0"/>
              <a:t>2. PIC</a:t>
            </a:r>
            <a:r>
              <a:rPr lang="zh-CN" altLang="en-US" dirty="0"/>
              <a:t>函数调用</a:t>
            </a:r>
            <a:endParaRPr lang="en-US" altLang="zh-CN" dirty="0"/>
          </a:p>
          <a:p>
            <a:pPr lvl="1"/>
            <a:r>
              <a:rPr lang="zh-CN" altLang="en-US" dirty="0"/>
              <a:t>延迟绑定</a:t>
            </a:r>
            <a:r>
              <a:rPr lang="en-US" altLang="zh-CN" dirty="0"/>
              <a:t>(lazy binding)</a:t>
            </a:r>
            <a:r>
              <a:rPr lang="zh-CN" altLang="en-US" dirty="0"/>
              <a:t>：将过程地址的绑定推迟到第一次调用该过程时</a:t>
            </a:r>
            <a:endParaRPr lang="en-US" altLang="zh-CN" dirty="0"/>
          </a:p>
          <a:p>
            <a:pPr lvl="2"/>
            <a:r>
              <a:rPr lang="zh-CN" altLang="en-US" dirty="0"/>
              <a:t>典型应用只使用共享库函数中很少的一部分通过将函数地址的解析推迟到它实际被调用的地方，避免动态链接器在加载时进行成百上千个并不需要的重定位</a:t>
            </a:r>
            <a:endParaRPr lang="en-US" altLang="zh-CN" dirty="0"/>
          </a:p>
          <a:p>
            <a:pPr lvl="1"/>
            <a:r>
              <a:rPr lang="zh-CN" altLang="en-US" dirty="0"/>
              <a:t>实现方法：两个数据结构之间的交互</a:t>
            </a:r>
            <a:endParaRPr lang="en-US" altLang="zh-CN" dirty="0"/>
          </a:p>
          <a:p>
            <a:pPr lvl="2"/>
            <a:r>
              <a:rPr lang="en-US" altLang="zh-CN" dirty="0"/>
              <a:t>GOT</a:t>
            </a:r>
            <a:r>
              <a:rPr lang="zh-CN" altLang="en-US" dirty="0"/>
              <a:t>和过程链接表</a:t>
            </a:r>
            <a:r>
              <a:rPr lang="en-US" altLang="zh-CN" dirty="0"/>
              <a:t>(Procedure Linkage Table, PLT)</a:t>
            </a:r>
            <a:r>
              <a:rPr lang="zh-CN" altLang="en-US" dirty="0"/>
              <a:t>：如果一个目标模块调用定义在共享库中的任何函数，那么它就有自己的</a:t>
            </a:r>
            <a:r>
              <a:rPr lang="en-US" altLang="zh-CN" dirty="0"/>
              <a:t>GOT</a:t>
            </a:r>
            <a:r>
              <a:rPr lang="zh-CN" altLang="en-US" dirty="0"/>
              <a:t>和</a:t>
            </a:r>
            <a:r>
              <a:rPr lang="en-US" altLang="zh-CN" dirty="0"/>
              <a:t>PLT</a:t>
            </a:r>
            <a:r>
              <a:rPr lang="zh-CN" altLang="en-US" dirty="0"/>
              <a:t>，</a:t>
            </a:r>
            <a:r>
              <a:rPr lang="en-US" altLang="zh-CN" dirty="0"/>
              <a:t>GOT</a:t>
            </a:r>
            <a:r>
              <a:rPr lang="zh-CN" altLang="en-US" dirty="0"/>
              <a:t>是数据段的一部分，</a:t>
            </a:r>
            <a:r>
              <a:rPr lang="en-US" altLang="zh-CN" dirty="0"/>
              <a:t>PLT</a:t>
            </a:r>
            <a:r>
              <a:rPr lang="zh-CN" altLang="en-US" dirty="0"/>
              <a:t>是代码段的一部分</a:t>
            </a:r>
            <a:endParaRPr lang="en-US" altLang="zh-CN" dirty="0"/>
          </a:p>
          <a:p>
            <a:pPr lvl="2"/>
            <a:r>
              <a:rPr lang="zh-CN" altLang="en-US" dirty="0"/>
              <a:t>过程链接表</a:t>
            </a:r>
            <a:r>
              <a:rPr lang="en-US" altLang="zh-CN" dirty="0"/>
              <a:t>(PLT)</a:t>
            </a:r>
            <a:r>
              <a:rPr lang="zh-CN" altLang="en-US" dirty="0"/>
              <a:t>：是一个每个条目</a:t>
            </a:r>
            <a:r>
              <a:rPr lang="en-US" altLang="zh-CN" dirty="0"/>
              <a:t>16</a:t>
            </a:r>
            <a:r>
              <a:rPr lang="zh-CN" altLang="en-US" dirty="0"/>
              <a:t>字节代码构成的数组</a:t>
            </a:r>
            <a:endParaRPr lang="en-US" altLang="zh-CN" dirty="0"/>
          </a:p>
          <a:p>
            <a:pPr lvl="3"/>
            <a:r>
              <a:rPr lang="en-US" altLang="zh-CN" dirty="0"/>
              <a:t>PLT[0]</a:t>
            </a:r>
            <a:r>
              <a:rPr lang="zh-CN" altLang="en-US" dirty="0"/>
              <a:t>：特殊条目，跳转到动态链接器中，每个被可执行程序调用的库函数都有它自己的</a:t>
            </a:r>
            <a:r>
              <a:rPr lang="en-US" altLang="zh-CN" dirty="0"/>
              <a:t>PLT</a:t>
            </a:r>
            <a:r>
              <a:rPr lang="zh-CN" altLang="en-US" dirty="0"/>
              <a:t>条目</a:t>
            </a:r>
            <a:endParaRPr lang="en-US" altLang="zh-CN" dirty="0"/>
          </a:p>
          <a:p>
            <a:pPr lvl="3"/>
            <a:r>
              <a:rPr lang="en-US" altLang="zh-CN" dirty="0"/>
              <a:t>PLT[1]</a:t>
            </a:r>
            <a:r>
              <a:rPr lang="zh-CN" altLang="en-US" dirty="0"/>
              <a:t>：调用系统函数</a:t>
            </a:r>
            <a:r>
              <a:rPr lang="en-US" altLang="zh-CN" dirty="0"/>
              <a:t>__</a:t>
            </a:r>
            <a:r>
              <a:rPr lang="en-US" altLang="zh-CN" dirty="0" err="1"/>
              <a:t>libc_start_main</a:t>
            </a:r>
            <a:r>
              <a:rPr lang="zh-CN" altLang="en-US" dirty="0"/>
              <a:t>，初始化执行环境，调用</a:t>
            </a:r>
            <a:r>
              <a:rPr lang="en-US" altLang="zh-CN" dirty="0"/>
              <a:t>main</a:t>
            </a:r>
            <a:r>
              <a:rPr lang="zh-CN" altLang="en-US" dirty="0"/>
              <a:t>函数并处理其返回值</a:t>
            </a:r>
            <a:endParaRPr lang="en-US" altLang="zh-CN" dirty="0"/>
          </a:p>
          <a:p>
            <a:pPr lvl="3"/>
            <a:r>
              <a:rPr lang="en-US" altLang="zh-CN" dirty="0"/>
              <a:t>PLT[2]</a:t>
            </a:r>
            <a:r>
              <a:rPr lang="zh-CN" altLang="en-US" dirty="0"/>
              <a:t>：从此开始的条目调用用户代码调用的函数</a:t>
            </a:r>
            <a:endParaRPr lang="en-US" altLang="zh-CN" dirty="0"/>
          </a:p>
          <a:p>
            <a:pPr lvl="2"/>
            <a:r>
              <a:rPr lang="zh-CN" altLang="en-US" dirty="0"/>
              <a:t>全局偏移量表</a:t>
            </a:r>
            <a:r>
              <a:rPr lang="en-US" altLang="zh-CN" dirty="0"/>
              <a:t>(GOT)</a:t>
            </a:r>
            <a:r>
              <a:rPr lang="zh-CN" altLang="en-US" dirty="0"/>
              <a:t>：一个每条目是</a:t>
            </a:r>
            <a:r>
              <a:rPr lang="en-US" altLang="zh-CN" dirty="0"/>
              <a:t>8</a:t>
            </a:r>
            <a:r>
              <a:rPr lang="zh-CN" altLang="en-US" dirty="0"/>
              <a:t>字节地址的数组</a:t>
            </a:r>
            <a:endParaRPr lang="en-US" altLang="zh-CN" dirty="0"/>
          </a:p>
          <a:p>
            <a:pPr lvl="3"/>
            <a:r>
              <a:rPr lang="zh-CN" altLang="en-US" dirty="0"/>
              <a:t>和</a:t>
            </a:r>
            <a:r>
              <a:rPr lang="en-US" altLang="zh-CN" dirty="0"/>
              <a:t>PLT</a:t>
            </a:r>
            <a:r>
              <a:rPr lang="zh-CN" altLang="en-US" dirty="0"/>
              <a:t>联合作用时，</a:t>
            </a:r>
            <a:r>
              <a:rPr lang="en-US" altLang="zh-CN" dirty="0"/>
              <a:t>GOT[0]</a:t>
            </a:r>
            <a:r>
              <a:rPr lang="zh-CN" altLang="en-US" dirty="0"/>
              <a:t>和</a:t>
            </a:r>
            <a:r>
              <a:rPr lang="en-US" altLang="zh-CN" dirty="0"/>
              <a:t>GOT[1]</a:t>
            </a:r>
            <a:r>
              <a:rPr lang="zh-CN" altLang="en-US" dirty="0"/>
              <a:t>包含动态链接器在解析函数地址时会使用的信息</a:t>
            </a:r>
            <a:endParaRPr lang="en-US" altLang="zh-CN" dirty="0"/>
          </a:p>
          <a:p>
            <a:pPr lvl="3"/>
            <a:r>
              <a:rPr lang="en-US" altLang="zh-CN" dirty="0"/>
              <a:t>GOT[2]</a:t>
            </a:r>
            <a:r>
              <a:rPr lang="zh-CN" altLang="en-US" dirty="0"/>
              <a:t>：动态链接器在</a:t>
            </a:r>
            <a:r>
              <a:rPr lang="en-US" altLang="zh-CN" dirty="0"/>
              <a:t>ld-linux.so</a:t>
            </a:r>
            <a:r>
              <a:rPr lang="zh-CN" altLang="en-US" dirty="0"/>
              <a:t>模块中的入口点</a:t>
            </a:r>
            <a:endParaRPr lang="en-US" altLang="zh-CN" dirty="0"/>
          </a:p>
          <a:p>
            <a:pPr lvl="3"/>
            <a:r>
              <a:rPr lang="zh-CN" altLang="en-US" dirty="0"/>
              <a:t>其余每个条目都有一个相匹配的</a:t>
            </a:r>
            <a:r>
              <a:rPr lang="en-US" altLang="zh-CN" dirty="0"/>
              <a:t>PLT</a:t>
            </a:r>
            <a:r>
              <a:rPr lang="zh-CN" altLang="en-US" dirty="0"/>
              <a:t>条目，初始时，每个</a:t>
            </a:r>
            <a:r>
              <a:rPr lang="en-US" altLang="zh-CN" dirty="0"/>
              <a:t>GOT</a:t>
            </a:r>
            <a:r>
              <a:rPr lang="zh-CN" altLang="en-US" dirty="0"/>
              <a:t>条目都指向对应</a:t>
            </a:r>
            <a:r>
              <a:rPr lang="en-US" altLang="zh-CN" dirty="0"/>
              <a:t>PLT</a:t>
            </a:r>
            <a:r>
              <a:rPr lang="zh-CN" altLang="en-US" dirty="0"/>
              <a:t>条目的第二条指令</a:t>
            </a:r>
          </a:p>
        </p:txBody>
      </p:sp>
      <p:sp>
        <p:nvSpPr>
          <p:cNvPr id="4" name="灯片编号占位符 3">
            <a:extLst>
              <a:ext uri="{FF2B5EF4-FFF2-40B4-BE49-F238E27FC236}">
                <a16:creationId xmlns:a16="http://schemas.microsoft.com/office/drawing/2014/main" id="{64D442AF-D9BD-4017-AF44-60CEA13F4F5C}"/>
              </a:ext>
            </a:extLst>
          </p:cNvPr>
          <p:cNvSpPr>
            <a:spLocks noGrp="1"/>
          </p:cNvSpPr>
          <p:nvPr>
            <p:ph type="sldNum" sz="quarter" idx="12"/>
          </p:nvPr>
        </p:nvSpPr>
        <p:spPr/>
        <p:txBody>
          <a:bodyPr/>
          <a:lstStyle/>
          <a:p>
            <a:fld id="{6D62327B-ED8D-4CFC-ADD0-A75FA5CBE281}" type="slidenum">
              <a:rPr lang="zh-CN" altLang="en-US" smtClean="0"/>
              <a:pPr/>
              <a:t>57</a:t>
            </a:fld>
            <a:endParaRPr lang="zh-CN" altLang="en-US" dirty="0"/>
          </a:p>
        </p:txBody>
      </p:sp>
    </p:spTree>
    <p:extLst>
      <p:ext uri="{BB962C8B-B14F-4D97-AF65-F5344CB8AC3E}">
        <p14:creationId xmlns:p14="http://schemas.microsoft.com/office/powerpoint/2010/main" val="724949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D94EE-B15A-499C-AE63-3A3AE571D5B7}"/>
              </a:ext>
            </a:extLst>
          </p:cNvPr>
          <p:cNvSpPr>
            <a:spLocks noGrp="1"/>
          </p:cNvSpPr>
          <p:nvPr>
            <p:ph type="title"/>
          </p:nvPr>
        </p:nvSpPr>
        <p:spPr/>
        <p:txBody>
          <a:bodyPr>
            <a:normAutofit fontScale="90000"/>
          </a:bodyPr>
          <a:lstStyle/>
          <a:p>
            <a:r>
              <a:rPr lang="en-US" altLang="zh-CN" dirty="0"/>
              <a:t>GOT</a:t>
            </a:r>
            <a:r>
              <a:rPr lang="zh-CN" altLang="en-US" dirty="0"/>
              <a:t>和</a:t>
            </a:r>
            <a:r>
              <a:rPr lang="en-US" altLang="zh-CN" dirty="0"/>
              <a:t>PLT</a:t>
            </a:r>
            <a:r>
              <a:rPr lang="zh-CN" altLang="en-US" dirty="0"/>
              <a:t>协同工作</a:t>
            </a:r>
          </a:p>
        </p:txBody>
      </p:sp>
      <p:sp>
        <p:nvSpPr>
          <p:cNvPr id="3" name="内容占位符 2">
            <a:extLst>
              <a:ext uri="{FF2B5EF4-FFF2-40B4-BE49-F238E27FC236}">
                <a16:creationId xmlns:a16="http://schemas.microsoft.com/office/drawing/2014/main" id="{64756622-DB82-4386-9A65-599F32578774}"/>
              </a:ext>
            </a:extLst>
          </p:cNvPr>
          <p:cNvSpPr>
            <a:spLocks noGrp="1"/>
          </p:cNvSpPr>
          <p:nvPr>
            <p:ph idx="1"/>
          </p:nvPr>
        </p:nvSpPr>
        <p:spPr>
          <a:xfrm>
            <a:off x="320155" y="837034"/>
            <a:ext cx="4518334" cy="5289136"/>
          </a:xfrm>
        </p:spPr>
        <p:txBody>
          <a:bodyPr>
            <a:normAutofit fontScale="92500" lnSpcReduction="10000"/>
          </a:bodyPr>
          <a:lstStyle/>
          <a:p>
            <a:r>
              <a:rPr lang="zh-CN" altLang="en-US" dirty="0"/>
              <a:t>第一次调用</a:t>
            </a:r>
            <a:r>
              <a:rPr lang="en-US" altLang="zh-CN" dirty="0" err="1"/>
              <a:t>addvec</a:t>
            </a:r>
            <a:r>
              <a:rPr lang="zh-CN" altLang="en-US" dirty="0"/>
              <a:t>时，延迟解析运行时地址：</a:t>
            </a:r>
            <a:endParaRPr lang="en-US" altLang="zh-CN" dirty="0"/>
          </a:p>
          <a:p>
            <a:pPr lvl="1"/>
            <a:r>
              <a:rPr lang="zh-CN" altLang="en-US" dirty="0"/>
              <a:t>第</a:t>
            </a:r>
            <a:r>
              <a:rPr lang="en-US" altLang="zh-CN" dirty="0"/>
              <a:t>1</a:t>
            </a:r>
            <a:r>
              <a:rPr lang="zh-CN" altLang="en-US" dirty="0"/>
              <a:t>步：不直接调用</a:t>
            </a:r>
            <a:r>
              <a:rPr lang="en-US" altLang="zh-CN" dirty="0" err="1"/>
              <a:t>addvec</a:t>
            </a:r>
            <a:r>
              <a:rPr lang="zh-CN" altLang="en-US" dirty="0"/>
              <a:t>，程序调用进入</a:t>
            </a:r>
            <a:r>
              <a:rPr lang="en-US" altLang="zh-CN" dirty="0"/>
              <a:t>PLT[2]</a:t>
            </a:r>
            <a:r>
              <a:rPr lang="zh-CN" altLang="en-US" dirty="0"/>
              <a:t>，即</a:t>
            </a:r>
            <a:r>
              <a:rPr lang="en-US" altLang="zh-CN" dirty="0" err="1"/>
              <a:t>addvec</a:t>
            </a:r>
            <a:r>
              <a:rPr lang="zh-CN" altLang="en-US" dirty="0"/>
              <a:t>的</a:t>
            </a:r>
            <a:r>
              <a:rPr lang="en-US" altLang="zh-CN" dirty="0"/>
              <a:t>PLT</a:t>
            </a:r>
            <a:r>
              <a:rPr lang="zh-CN" altLang="en-US" dirty="0"/>
              <a:t>条目</a:t>
            </a:r>
            <a:endParaRPr lang="en-US" altLang="zh-CN" dirty="0"/>
          </a:p>
          <a:p>
            <a:pPr lvl="1"/>
            <a:r>
              <a:rPr lang="zh-CN" altLang="en-US" dirty="0"/>
              <a:t>第</a:t>
            </a:r>
            <a:r>
              <a:rPr lang="en-US" altLang="zh-CN" dirty="0"/>
              <a:t>2</a:t>
            </a:r>
            <a:r>
              <a:rPr lang="zh-CN" altLang="en-US" dirty="0"/>
              <a:t>步：第一条</a:t>
            </a:r>
            <a:r>
              <a:rPr lang="en-US" altLang="zh-CN" dirty="0"/>
              <a:t>PLT</a:t>
            </a:r>
            <a:r>
              <a:rPr lang="zh-CN" altLang="en-US" dirty="0"/>
              <a:t>指令通过</a:t>
            </a:r>
            <a:r>
              <a:rPr lang="en-US" altLang="zh-CN" dirty="0"/>
              <a:t>GOT[4]</a:t>
            </a:r>
            <a:r>
              <a:rPr lang="zh-CN" altLang="en-US" dirty="0"/>
              <a:t>进行间接跳转，每个</a:t>
            </a:r>
            <a:r>
              <a:rPr lang="en-US" altLang="zh-CN" dirty="0"/>
              <a:t>GOT</a:t>
            </a:r>
            <a:r>
              <a:rPr lang="zh-CN" altLang="en-US" dirty="0"/>
              <a:t>条目初始时指向它对应的</a:t>
            </a:r>
            <a:r>
              <a:rPr lang="en-US" altLang="zh-CN" dirty="0"/>
              <a:t>PLT</a:t>
            </a:r>
            <a:r>
              <a:rPr lang="zh-CN" altLang="en-US" dirty="0"/>
              <a:t>条目的第二条指令，间接跳转把控制传送回</a:t>
            </a:r>
            <a:r>
              <a:rPr lang="en-US" altLang="zh-CN" dirty="0"/>
              <a:t>PLT[2]</a:t>
            </a:r>
            <a:r>
              <a:rPr lang="zh-CN" altLang="en-US" dirty="0"/>
              <a:t>中的下一条指令</a:t>
            </a:r>
            <a:endParaRPr lang="en-US" altLang="zh-CN" dirty="0"/>
          </a:p>
          <a:p>
            <a:pPr lvl="1"/>
            <a:r>
              <a:rPr lang="zh-CN" altLang="en-US" dirty="0"/>
              <a:t>第</a:t>
            </a:r>
            <a:r>
              <a:rPr lang="en-US" altLang="zh-CN" dirty="0"/>
              <a:t>3</a:t>
            </a:r>
            <a:r>
              <a:rPr lang="zh-CN" altLang="en-US" dirty="0"/>
              <a:t>步：把</a:t>
            </a:r>
            <a:r>
              <a:rPr lang="en-US" altLang="zh-CN" dirty="0" err="1"/>
              <a:t>addvec</a:t>
            </a:r>
            <a:r>
              <a:rPr lang="zh-CN" altLang="en-US" dirty="0"/>
              <a:t>的</a:t>
            </a:r>
            <a:r>
              <a:rPr lang="en-US" altLang="zh-CN" dirty="0"/>
              <a:t>ID(0x1)</a:t>
            </a:r>
            <a:r>
              <a:rPr lang="zh-CN" altLang="en-US" dirty="0"/>
              <a:t>压入栈中之后，</a:t>
            </a:r>
            <a:r>
              <a:rPr lang="en-US" altLang="zh-CN" dirty="0"/>
              <a:t>PLT[2]</a:t>
            </a:r>
            <a:r>
              <a:rPr lang="zh-CN" altLang="en-US" dirty="0"/>
              <a:t>跳转到</a:t>
            </a:r>
            <a:r>
              <a:rPr lang="en-US" altLang="zh-CN" dirty="0"/>
              <a:t>PLT[0]</a:t>
            </a:r>
          </a:p>
          <a:p>
            <a:pPr lvl="1"/>
            <a:r>
              <a:rPr lang="zh-CN" altLang="en-US" dirty="0"/>
              <a:t>第</a:t>
            </a:r>
            <a:r>
              <a:rPr lang="en-US" altLang="zh-CN" dirty="0"/>
              <a:t>4</a:t>
            </a:r>
            <a:r>
              <a:rPr lang="zh-CN" altLang="en-US" dirty="0"/>
              <a:t>步：</a:t>
            </a:r>
            <a:r>
              <a:rPr lang="en-US" altLang="zh-CN" dirty="0"/>
              <a:t>PLT[0]</a:t>
            </a:r>
            <a:r>
              <a:rPr lang="zh-CN" altLang="en-US" dirty="0"/>
              <a:t>通过</a:t>
            </a:r>
            <a:r>
              <a:rPr lang="en-US" altLang="zh-CN" dirty="0"/>
              <a:t>GOT[1]</a:t>
            </a:r>
            <a:r>
              <a:rPr lang="zh-CN" altLang="en-US" dirty="0"/>
              <a:t>间接地把动态链接器的一个参数压入栈中，然后通过</a:t>
            </a:r>
            <a:r>
              <a:rPr lang="en-US" altLang="zh-CN" dirty="0"/>
              <a:t>GOT[2]</a:t>
            </a:r>
            <a:r>
              <a:rPr lang="zh-CN" altLang="en-US" dirty="0"/>
              <a:t>间接跳转进动态链接器中，动态链接器使用两个栈条目来确定</a:t>
            </a:r>
            <a:r>
              <a:rPr lang="en-US" altLang="zh-CN" dirty="0" err="1"/>
              <a:t>addvec</a:t>
            </a:r>
            <a:r>
              <a:rPr lang="zh-CN" altLang="en-US" dirty="0"/>
              <a:t>的运行时位置，用这个地址重写</a:t>
            </a:r>
            <a:r>
              <a:rPr lang="en-US" altLang="zh-CN" dirty="0"/>
              <a:t>GOT[4]</a:t>
            </a:r>
            <a:r>
              <a:rPr lang="zh-CN" altLang="en-US" dirty="0"/>
              <a:t>，再把控制传递给</a:t>
            </a:r>
            <a:r>
              <a:rPr lang="en-US" altLang="zh-CN" dirty="0" err="1"/>
              <a:t>addvec</a:t>
            </a:r>
            <a:endParaRPr lang="en-US" altLang="zh-CN" dirty="0"/>
          </a:p>
        </p:txBody>
      </p:sp>
      <p:sp>
        <p:nvSpPr>
          <p:cNvPr id="4" name="灯片编号占位符 3">
            <a:extLst>
              <a:ext uri="{FF2B5EF4-FFF2-40B4-BE49-F238E27FC236}">
                <a16:creationId xmlns:a16="http://schemas.microsoft.com/office/drawing/2014/main" id="{64D442AF-D9BD-4017-AF44-60CEA13F4F5C}"/>
              </a:ext>
            </a:extLst>
          </p:cNvPr>
          <p:cNvSpPr>
            <a:spLocks noGrp="1"/>
          </p:cNvSpPr>
          <p:nvPr>
            <p:ph type="sldNum" sz="quarter" idx="12"/>
          </p:nvPr>
        </p:nvSpPr>
        <p:spPr/>
        <p:txBody>
          <a:bodyPr/>
          <a:lstStyle/>
          <a:p>
            <a:fld id="{6D62327B-ED8D-4CFC-ADD0-A75FA5CBE281}" type="slidenum">
              <a:rPr lang="zh-CN" altLang="en-US" smtClean="0"/>
              <a:pPr/>
              <a:t>58</a:t>
            </a:fld>
            <a:endParaRPr lang="zh-CN" altLang="en-US" dirty="0"/>
          </a:p>
        </p:txBody>
      </p:sp>
      <p:sp>
        <p:nvSpPr>
          <p:cNvPr id="5" name="Rectangle 3">
            <a:extLst>
              <a:ext uri="{FF2B5EF4-FFF2-40B4-BE49-F238E27FC236}">
                <a16:creationId xmlns:a16="http://schemas.microsoft.com/office/drawing/2014/main" id="{6BA98C69-A123-457B-B14F-27D3A4885AE2}"/>
              </a:ext>
            </a:extLst>
          </p:cNvPr>
          <p:cNvSpPr>
            <a:spLocks noChangeArrowheads="1"/>
          </p:cNvSpPr>
          <p:nvPr/>
        </p:nvSpPr>
        <p:spPr bwMode="auto">
          <a:xfrm>
            <a:off x="5292080" y="675270"/>
            <a:ext cx="3528392" cy="2308324"/>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zh-CN" altLang="en-US" sz="1600" dirty="0">
                <a:solidFill>
                  <a:schemeClr val="tx1"/>
                </a:solidFill>
                <a:latin typeface="Times New Roman" panose="02020603050405020304" pitchFamily="18" charset="0"/>
                <a:cs typeface="Times New Roman" panose="02020603050405020304" pitchFamily="18" charset="0"/>
              </a:rPr>
              <a:t>数据段</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zh-CN" altLang="en-US" sz="1600" dirty="0">
                <a:solidFill>
                  <a:schemeClr val="tx1"/>
                </a:solidFill>
                <a:latin typeface="Times New Roman" panose="02020603050405020304" pitchFamily="18" charset="0"/>
                <a:cs typeface="Times New Roman" panose="02020603050405020304" pitchFamily="18" charset="0"/>
              </a:rPr>
              <a:t>全局偏移量表</a:t>
            </a:r>
            <a:r>
              <a:rPr lang="en-US" altLang="zh-CN" sz="1600" dirty="0">
                <a:solidFill>
                  <a:schemeClr val="tx1"/>
                </a:solidFill>
                <a:latin typeface="Times New Roman" panose="02020603050405020304" pitchFamily="18" charset="0"/>
                <a:cs typeface="Times New Roman" panose="02020603050405020304" pitchFamily="18" charset="0"/>
              </a:rPr>
              <a:t>(GOT)</a:t>
            </a: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Rectangle 6">
            <a:extLst>
              <a:ext uri="{FF2B5EF4-FFF2-40B4-BE49-F238E27FC236}">
                <a16:creationId xmlns:a16="http://schemas.microsoft.com/office/drawing/2014/main" id="{328D30FC-73A2-43D8-9283-58C6187DAB30}"/>
              </a:ext>
            </a:extLst>
          </p:cNvPr>
          <p:cNvSpPr>
            <a:spLocks noChangeArrowheads="1"/>
          </p:cNvSpPr>
          <p:nvPr/>
        </p:nvSpPr>
        <p:spPr bwMode="auto">
          <a:xfrm>
            <a:off x="5436097" y="1251334"/>
            <a:ext cx="2952327" cy="1569660"/>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prstTxWarp prst="textNoShape">
              <a:avLst/>
            </a:prstTxWarp>
            <a:spAutoFit/>
          </a:bodyPr>
          <a:lstStyle/>
          <a:p>
            <a:r>
              <a:rPr lang="en-US" sz="1600" dirty="0">
                <a:solidFill>
                  <a:schemeClr val="tx1"/>
                </a:solidFill>
                <a:latin typeface="Times New Roman" panose="02020603050405020304" pitchFamily="18" charset="0"/>
                <a:cs typeface="Times New Roman" panose="02020603050405020304" pitchFamily="18" charset="0"/>
              </a:rPr>
              <a:t>GOT[0]: </a:t>
            </a:r>
            <a:r>
              <a:rPr lang="en-US" sz="1600" dirty="0" err="1">
                <a:solidFill>
                  <a:schemeClr val="tx1"/>
                </a:solidFill>
                <a:latin typeface="Times New Roman" panose="02020603050405020304" pitchFamily="18" charset="0"/>
                <a:cs typeface="Times New Roman" panose="02020603050405020304" pitchFamily="18" charset="0"/>
              </a:rPr>
              <a:t>addr</a:t>
            </a:r>
            <a:r>
              <a:rPr lang="en-US" sz="1600" dirty="0">
                <a:solidFill>
                  <a:schemeClr val="tx1"/>
                </a:solidFill>
                <a:latin typeface="Times New Roman" panose="02020603050405020304" pitchFamily="18" charset="0"/>
                <a:cs typeface="Times New Roman" panose="02020603050405020304" pitchFamily="18" charset="0"/>
              </a:rPr>
              <a:t> of .dynamic</a:t>
            </a:r>
          </a:p>
          <a:p>
            <a:r>
              <a:rPr lang="en-US" altLang="zh-CN" sz="1600" dirty="0">
                <a:solidFill>
                  <a:schemeClr val="tx1"/>
                </a:solidFill>
                <a:latin typeface="Times New Roman" panose="02020603050405020304" pitchFamily="18" charset="0"/>
                <a:cs typeface="Times New Roman" panose="02020603050405020304" pitchFamily="18" charset="0"/>
              </a:rPr>
              <a:t>GOT[1]: </a:t>
            </a:r>
            <a:r>
              <a:rPr lang="en-US" altLang="zh-CN" sz="1600" dirty="0" err="1">
                <a:solidFill>
                  <a:schemeClr val="tx1"/>
                </a:solidFill>
                <a:latin typeface="Times New Roman" panose="02020603050405020304" pitchFamily="18" charset="0"/>
                <a:cs typeface="Times New Roman" panose="02020603050405020304" pitchFamily="18" charset="0"/>
              </a:rPr>
              <a:t>addr</a:t>
            </a:r>
            <a:r>
              <a:rPr lang="en-US" altLang="zh-CN" sz="1600" dirty="0">
                <a:solidFill>
                  <a:schemeClr val="tx1"/>
                </a:solidFill>
                <a:latin typeface="Times New Roman" panose="02020603050405020304" pitchFamily="18" charset="0"/>
                <a:cs typeface="Times New Roman" panose="02020603050405020304" pitchFamily="18" charset="0"/>
              </a:rPr>
              <a:t> of </a:t>
            </a:r>
            <a:r>
              <a:rPr lang="en-US" altLang="zh-CN" sz="1600" dirty="0" err="1">
                <a:solidFill>
                  <a:schemeClr val="tx1"/>
                </a:solidFill>
                <a:latin typeface="Times New Roman" panose="02020603050405020304" pitchFamily="18" charset="0"/>
                <a:cs typeface="Times New Roman" panose="02020603050405020304" pitchFamily="18" charset="0"/>
              </a:rPr>
              <a:t>reloc</a:t>
            </a:r>
            <a:r>
              <a:rPr lang="en-US" altLang="zh-CN" sz="1600" dirty="0">
                <a:solidFill>
                  <a:schemeClr val="tx1"/>
                </a:solidFill>
                <a:latin typeface="Times New Roman" panose="02020603050405020304" pitchFamily="18" charset="0"/>
                <a:cs typeface="Times New Roman" panose="02020603050405020304" pitchFamily="18" charset="0"/>
              </a:rPr>
              <a:t> entries</a:t>
            </a:r>
          </a:p>
          <a:p>
            <a:r>
              <a:rPr lang="en-US" altLang="zh-CN" sz="1600" dirty="0">
                <a:solidFill>
                  <a:schemeClr val="tx1"/>
                </a:solidFill>
                <a:latin typeface="Times New Roman" panose="02020603050405020304" pitchFamily="18" charset="0"/>
                <a:cs typeface="Times New Roman" panose="02020603050405020304" pitchFamily="18" charset="0"/>
              </a:rPr>
              <a:t>GOT[2]: </a:t>
            </a:r>
            <a:r>
              <a:rPr lang="en-US" altLang="zh-CN" sz="1600" dirty="0" err="1">
                <a:solidFill>
                  <a:schemeClr val="tx1"/>
                </a:solidFill>
                <a:latin typeface="Times New Roman" panose="02020603050405020304" pitchFamily="18" charset="0"/>
                <a:cs typeface="Times New Roman" panose="02020603050405020304" pitchFamily="18" charset="0"/>
              </a:rPr>
              <a:t>addr</a:t>
            </a:r>
            <a:r>
              <a:rPr lang="en-US" altLang="zh-CN" sz="1600" dirty="0">
                <a:solidFill>
                  <a:schemeClr val="tx1"/>
                </a:solidFill>
                <a:latin typeface="Times New Roman" panose="02020603050405020304" pitchFamily="18" charset="0"/>
                <a:cs typeface="Times New Roman" panose="02020603050405020304" pitchFamily="18" charset="0"/>
              </a:rPr>
              <a:t> of linker</a:t>
            </a:r>
          </a:p>
          <a:p>
            <a:r>
              <a:rPr lang="en-US" altLang="zh-CN" sz="1600" dirty="0">
                <a:solidFill>
                  <a:schemeClr val="tx1"/>
                </a:solidFill>
                <a:latin typeface="Times New Roman" panose="02020603050405020304" pitchFamily="18" charset="0"/>
                <a:cs typeface="Times New Roman" panose="02020603050405020304" pitchFamily="18" charset="0"/>
              </a:rPr>
              <a:t>GOT[3]: 0x4005b6  #sys startup</a:t>
            </a:r>
          </a:p>
          <a:p>
            <a:r>
              <a:rPr lang="en-US" sz="1600" dirty="0">
                <a:solidFill>
                  <a:schemeClr val="tx1"/>
                </a:solidFill>
                <a:latin typeface="Times New Roman" panose="02020603050405020304" pitchFamily="18" charset="0"/>
                <a:cs typeface="Times New Roman" panose="02020603050405020304" pitchFamily="18" charset="0"/>
              </a:rPr>
              <a:t>GOT[4]: 0x4005c6  # </a:t>
            </a:r>
            <a:r>
              <a:rPr lang="en-US" sz="1600" dirty="0" err="1">
                <a:solidFill>
                  <a:schemeClr val="tx1"/>
                </a:solidFill>
                <a:latin typeface="Times New Roman" panose="02020603050405020304" pitchFamily="18" charset="0"/>
                <a:cs typeface="Times New Roman" panose="02020603050405020304" pitchFamily="18" charset="0"/>
              </a:rPr>
              <a:t>addvec</a:t>
            </a:r>
            <a:r>
              <a:rPr lang="en-US" sz="1600" dirty="0">
                <a:solidFill>
                  <a:schemeClr val="tx1"/>
                </a:solidFill>
                <a:latin typeface="Times New Roman" panose="02020603050405020304" pitchFamily="18" charset="0"/>
                <a:cs typeface="Times New Roman" panose="02020603050405020304" pitchFamily="18" charset="0"/>
              </a:rPr>
              <a:t>()</a:t>
            </a:r>
          </a:p>
          <a:p>
            <a:r>
              <a:rPr lang="en-US" sz="1600" dirty="0">
                <a:solidFill>
                  <a:schemeClr val="tx1"/>
                </a:solidFill>
                <a:latin typeface="Times New Roman" panose="02020603050405020304" pitchFamily="18" charset="0"/>
                <a:cs typeface="Times New Roman" panose="02020603050405020304" pitchFamily="18" charset="0"/>
              </a:rPr>
              <a:t>GOT[5]: 0x4005d6  # </a:t>
            </a:r>
            <a:r>
              <a:rPr lang="en-US" sz="1600" dirty="0" err="1">
                <a:solidFill>
                  <a:schemeClr val="tx1"/>
                </a:solidFill>
                <a:latin typeface="Times New Roman" panose="02020603050405020304" pitchFamily="18" charset="0"/>
                <a:cs typeface="Times New Roman" panose="02020603050405020304" pitchFamily="18" charset="0"/>
              </a:rPr>
              <a:t>printf</a:t>
            </a:r>
            <a:r>
              <a:rPr lang="en-US" sz="1600" dirty="0">
                <a:solidFill>
                  <a:schemeClr val="tx1"/>
                </a:solidFill>
                <a:latin typeface="Times New Roman" panose="02020603050405020304" pitchFamily="18" charset="0"/>
                <a:cs typeface="Times New Roman" panose="02020603050405020304" pitchFamily="18" charset="0"/>
              </a:rPr>
              <a:t>()</a:t>
            </a:r>
            <a:endParaRPr lang="is-IS" sz="1600" dirty="0">
              <a:solidFill>
                <a:schemeClr val="tx1"/>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DAC1AAD8-C93C-4FD9-9CB7-563B2B578E4A}"/>
              </a:ext>
            </a:extLst>
          </p:cNvPr>
          <p:cNvSpPr>
            <a:spLocks noChangeArrowheads="1"/>
          </p:cNvSpPr>
          <p:nvPr/>
        </p:nvSpPr>
        <p:spPr bwMode="auto">
          <a:xfrm>
            <a:off x="5295454" y="3215189"/>
            <a:ext cx="3528392" cy="3046988"/>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zh-CN" altLang="en-US" sz="1600" dirty="0">
                <a:solidFill>
                  <a:schemeClr val="tx1"/>
                </a:solidFill>
                <a:latin typeface="Times New Roman" panose="02020603050405020304" pitchFamily="18" charset="0"/>
                <a:cs typeface="Times New Roman" panose="02020603050405020304" pitchFamily="18" charset="0"/>
              </a:rPr>
              <a:t>代码段</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callq</a:t>
            </a:r>
            <a:r>
              <a:rPr lang="en-US" altLang="zh-CN" sz="1600" dirty="0">
                <a:solidFill>
                  <a:schemeClr val="tx1"/>
                </a:solidFill>
                <a:latin typeface="Times New Roman" panose="02020603050405020304" pitchFamily="18" charset="0"/>
                <a:cs typeface="Times New Roman" panose="02020603050405020304" pitchFamily="18" charset="0"/>
              </a:rPr>
              <a:t> 0x4005c0  #call </a:t>
            </a:r>
            <a:r>
              <a:rPr lang="en-US" altLang="zh-CN" sz="1600" dirty="0" err="1">
                <a:solidFill>
                  <a:schemeClr val="tx1"/>
                </a:solidFill>
                <a:latin typeface="Times New Roman" panose="02020603050405020304" pitchFamily="18" charset="0"/>
                <a:cs typeface="Times New Roman" panose="02020603050405020304" pitchFamily="18" charset="0"/>
              </a:rPr>
              <a:t>addvec</a:t>
            </a:r>
            <a:r>
              <a:rPr lang="en-US" altLang="zh-CN" sz="1600" dirty="0">
                <a:solidFill>
                  <a:schemeClr val="tx1"/>
                </a:solidFill>
                <a:latin typeface="Times New Roman" panose="02020603050405020304" pitchFamily="18" charset="0"/>
                <a:cs typeface="Times New Roman" panose="02020603050405020304" pitchFamily="18" charset="0"/>
              </a:rPr>
              <a:t>()</a:t>
            </a:r>
          </a:p>
          <a:p>
            <a:r>
              <a:rPr lang="zh-CN" altLang="en-US" sz="1600" dirty="0">
                <a:solidFill>
                  <a:schemeClr val="tx1"/>
                </a:solidFill>
                <a:latin typeface="Times New Roman" panose="02020603050405020304" pitchFamily="18" charset="0"/>
                <a:cs typeface="Times New Roman" panose="02020603050405020304" pitchFamily="18" charset="0"/>
              </a:rPr>
              <a:t>过程链接表</a:t>
            </a:r>
            <a:r>
              <a:rPr lang="en-US" altLang="zh-CN" sz="1600" dirty="0">
                <a:solidFill>
                  <a:schemeClr val="tx1"/>
                </a:solidFill>
                <a:latin typeface="Times New Roman" panose="02020603050405020304" pitchFamily="18" charset="0"/>
                <a:cs typeface="Times New Roman" panose="02020603050405020304" pitchFamily="18" charset="0"/>
              </a:rPr>
              <a:t>(PLT)</a:t>
            </a:r>
          </a:p>
          <a:p>
            <a:endParaRPr lang="en-US" altLang="zh-CN" sz="1600" dirty="0">
              <a:solidFill>
                <a:schemeClr val="tx1"/>
              </a:solidFill>
              <a:latin typeface="Times New Roman" panose="02020603050405020304" pitchFamily="18" charset="0"/>
              <a:cs typeface="Times New Roman" panose="02020603050405020304" pitchFamily="18" charset="0"/>
            </a:endParaRPr>
          </a:p>
          <a:p>
            <a:endParaRPr lang="en-US" altLang="zh-CN"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8" name="Rectangle 6">
            <a:extLst>
              <a:ext uri="{FF2B5EF4-FFF2-40B4-BE49-F238E27FC236}">
                <a16:creationId xmlns:a16="http://schemas.microsoft.com/office/drawing/2014/main" id="{8EBB94C8-344E-429F-8A35-3D4D42AA82E2}"/>
              </a:ext>
            </a:extLst>
          </p:cNvPr>
          <p:cNvSpPr>
            <a:spLocks noChangeArrowheads="1"/>
          </p:cNvSpPr>
          <p:nvPr/>
        </p:nvSpPr>
        <p:spPr bwMode="auto">
          <a:xfrm>
            <a:off x="5436096" y="4064067"/>
            <a:ext cx="2952327" cy="2062103"/>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prstTxWarp prst="textNoShape">
              <a:avLst/>
            </a:prstTxWarp>
            <a:spAutoFit/>
          </a:bodyPr>
          <a:lstStyle/>
          <a:p>
            <a:r>
              <a:rPr lang="en-US" sz="1600" dirty="0">
                <a:solidFill>
                  <a:schemeClr val="tx1"/>
                </a:solidFill>
                <a:latin typeface="Times New Roman" panose="02020603050405020304" pitchFamily="18" charset="0"/>
                <a:cs typeface="Times New Roman" panose="02020603050405020304" pitchFamily="18" charset="0"/>
              </a:rPr>
              <a:t># PLT[0]: call dynamic linker</a:t>
            </a:r>
          </a:p>
          <a:p>
            <a:r>
              <a:rPr lang="en-US" sz="1600" dirty="0">
                <a:solidFill>
                  <a:schemeClr val="tx1"/>
                </a:solidFill>
                <a:latin typeface="Times New Roman" panose="02020603050405020304" pitchFamily="18" charset="0"/>
                <a:cs typeface="Times New Roman" panose="02020603050405020304" pitchFamily="18" charset="0"/>
              </a:rPr>
              <a:t>4005a0: </a:t>
            </a:r>
            <a:r>
              <a:rPr lang="en-US" sz="1600" dirty="0" err="1">
                <a:solidFill>
                  <a:schemeClr val="tx1"/>
                </a:solidFill>
                <a:latin typeface="Times New Roman" panose="02020603050405020304" pitchFamily="18" charset="0"/>
                <a:cs typeface="Times New Roman" panose="02020603050405020304" pitchFamily="18" charset="0"/>
              </a:rPr>
              <a:t>pushq</a:t>
            </a:r>
            <a:r>
              <a:rPr lang="en-US" sz="1600" dirty="0">
                <a:solidFill>
                  <a:schemeClr val="tx1"/>
                </a:solidFill>
                <a:latin typeface="Times New Roman" panose="02020603050405020304" pitchFamily="18" charset="0"/>
                <a:cs typeface="Times New Roman" panose="02020603050405020304" pitchFamily="18" charset="0"/>
              </a:rPr>
              <a:t> *GOT[1]</a:t>
            </a:r>
          </a:p>
          <a:p>
            <a:r>
              <a:rPr lang="en-US" sz="1600" dirty="0">
                <a:solidFill>
                  <a:schemeClr val="tx1"/>
                </a:solidFill>
                <a:latin typeface="Times New Roman" panose="02020603050405020304" pitchFamily="18" charset="0"/>
                <a:cs typeface="Times New Roman" panose="02020603050405020304" pitchFamily="18" charset="0"/>
              </a:rPr>
              <a:t>4005a6: </a:t>
            </a:r>
            <a:r>
              <a:rPr lang="en-US" sz="1600" dirty="0" err="1">
                <a:solidFill>
                  <a:schemeClr val="tx1"/>
                </a:solidFill>
                <a:latin typeface="Times New Roman" panose="02020603050405020304" pitchFamily="18" charset="0"/>
                <a:cs typeface="Times New Roman" panose="02020603050405020304" pitchFamily="18" charset="0"/>
              </a:rPr>
              <a:t>jmpq</a:t>
            </a:r>
            <a:r>
              <a:rPr lang="en-US" sz="1600" dirty="0">
                <a:solidFill>
                  <a:schemeClr val="tx1"/>
                </a:solidFill>
                <a:latin typeface="Times New Roman" panose="02020603050405020304" pitchFamily="18" charset="0"/>
                <a:cs typeface="Times New Roman" panose="02020603050405020304" pitchFamily="18" charset="0"/>
              </a:rPr>
              <a:t> *GOT[2]</a:t>
            </a:r>
          </a:p>
          <a:p>
            <a:r>
              <a:rPr lang="en-US" sz="1600" dirty="0">
                <a:solidFill>
                  <a:schemeClr val="tx1"/>
                </a:solidFill>
                <a:latin typeface="Times New Roman" panose="02020603050405020304" pitchFamily="18" charset="0"/>
                <a:cs typeface="Times New Roman" panose="02020603050405020304" pitchFamily="18" charset="0"/>
              </a:rPr>
              <a:t>…</a:t>
            </a:r>
          </a:p>
          <a:p>
            <a:r>
              <a:rPr lang="en-US" sz="1600" dirty="0">
                <a:solidFill>
                  <a:schemeClr val="tx1"/>
                </a:solidFill>
                <a:latin typeface="Times New Roman" panose="02020603050405020304" pitchFamily="18" charset="0"/>
                <a:cs typeface="Times New Roman" panose="02020603050405020304" pitchFamily="18" charset="0"/>
              </a:rPr>
              <a:t># PLT[2]: call </a:t>
            </a:r>
            <a:r>
              <a:rPr lang="en-US" sz="1600" dirty="0" err="1">
                <a:solidFill>
                  <a:schemeClr val="tx1"/>
                </a:solidFill>
                <a:latin typeface="Times New Roman" panose="02020603050405020304" pitchFamily="18" charset="0"/>
                <a:cs typeface="Times New Roman" panose="02020603050405020304" pitchFamily="18" charset="0"/>
              </a:rPr>
              <a:t>addvec</a:t>
            </a:r>
            <a:r>
              <a:rPr lang="en-US" sz="1600" dirty="0">
                <a:solidFill>
                  <a:schemeClr val="tx1"/>
                </a:solidFill>
                <a:latin typeface="Times New Roman" panose="02020603050405020304" pitchFamily="18" charset="0"/>
                <a:cs typeface="Times New Roman" panose="02020603050405020304" pitchFamily="18" charset="0"/>
              </a:rPr>
              <a:t>()</a:t>
            </a:r>
          </a:p>
          <a:p>
            <a:r>
              <a:rPr lang="en-US" sz="1600" dirty="0">
                <a:solidFill>
                  <a:schemeClr val="tx1"/>
                </a:solidFill>
                <a:latin typeface="Times New Roman" panose="02020603050405020304" pitchFamily="18" charset="0"/>
                <a:cs typeface="Times New Roman" panose="02020603050405020304" pitchFamily="18" charset="0"/>
              </a:rPr>
              <a:t>4005c0: </a:t>
            </a:r>
            <a:r>
              <a:rPr lang="en-US" sz="1600" dirty="0" err="1">
                <a:solidFill>
                  <a:schemeClr val="tx1"/>
                </a:solidFill>
                <a:latin typeface="Times New Roman" panose="02020603050405020304" pitchFamily="18" charset="0"/>
                <a:cs typeface="Times New Roman" panose="02020603050405020304" pitchFamily="18" charset="0"/>
              </a:rPr>
              <a:t>jmpq</a:t>
            </a:r>
            <a:r>
              <a:rPr lang="en-US" sz="1600" dirty="0">
                <a:solidFill>
                  <a:schemeClr val="tx1"/>
                </a:solidFill>
                <a:latin typeface="Times New Roman" panose="02020603050405020304" pitchFamily="18" charset="0"/>
                <a:cs typeface="Times New Roman" panose="02020603050405020304" pitchFamily="18" charset="0"/>
              </a:rPr>
              <a:t> *GOT[4]</a:t>
            </a:r>
          </a:p>
          <a:p>
            <a:r>
              <a:rPr lang="en-US" sz="1600" dirty="0">
                <a:solidFill>
                  <a:schemeClr val="tx1"/>
                </a:solidFill>
                <a:latin typeface="Times New Roman" panose="02020603050405020304" pitchFamily="18" charset="0"/>
                <a:cs typeface="Times New Roman" panose="02020603050405020304" pitchFamily="18" charset="0"/>
              </a:rPr>
              <a:t>4005c6: </a:t>
            </a:r>
            <a:r>
              <a:rPr lang="en-US" sz="1600" dirty="0" err="1">
                <a:solidFill>
                  <a:schemeClr val="tx1"/>
                </a:solidFill>
                <a:latin typeface="Times New Roman" panose="02020603050405020304" pitchFamily="18" charset="0"/>
                <a:cs typeface="Times New Roman" panose="02020603050405020304" pitchFamily="18" charset="0"/>
              </a:rPr>
              <a:t>pushq</a:t>
            </a:r>
            <a:r>
              <a:rPr lang="en-US" sz="1600" dirty="0">
                <a:solidFill>
                  <a:schemeClr val="tx1"/>
                </a:solidFill>
                <a:latin typeface="Times New Roman" panose="02020603050405020304" pitchFamily="18" charset="0"/>
                <a:cs typeface="Times New Roman" panose="02020603050405020304" pitchFamily="18" charset="0"/>
              </a:rPr>
              <a:t> $0x1</a:t>
            </a:r>
          </a:p>
          <a:p>
            <a:r>
              <a:rPr lang="en-US" sz="1600" dirty="0">
                <a:solidFill>
                  <a:schemeClr val="tx1"/>
                </a:solidFill>
                <a:latin typeface="Times New Roman" panose="02020603050405020304" pitchFamily="18" charset="0"/>
                <a:cs typeface="Times New Roman" panose="02020603050405020304" pitchFamily="18" charset="0"/>
              </a:rPr>
              <a:t>4005cb: </a:t>
            </a:r>
            <a:r>
              <a:rPr lang="en-US" sz="1600" dirty="0" err="1">
                <a:solidFill>
                  <a:schemeClr val="tx1"/>
                </a:solidFill>
                <a:latin typeface="Times New Roman" panose="02020603050405020304" pitchFamily="18" charset="0"/>
                <a:cs typeface="Times New Roman" panose="02020603050405020304" pitchFamily="18" charset="0"/>
              </a:rPr>
              <a:t>jmpq</a:t>
            </a:r>
            <a:r>
              <a:rPr lang="en-US" sz="1600" dirty="0">
                <a:solidFill>
                  <a:schemeClr val="tx1"/>
                </a:solidFill>
                <a:latin typeface="Times New Roman" panose="02020603050405020304" pitchFamily="18" charset="0"/>
                <a:cs typeface="Times New Roman" panose="02020603050405020304" pitchFamily="18" charset="0"/>
              </a:rPr>
              <a:t> 4005a0</a:t>
            </a:r>
            <a:endParaRPr lang="is-IS" sz="1600" dirty="0">
              <a:solidFill>
                <a:schemeClr val="tx1"/>
              </a:solidFill>
              <a:latin typeface="Times New Roman" panose="02020603050405020304" pitchFamily="18" charset="0"/>
              <a:cs typeface="Times New Roman" panose="02020603050405020304" pitchFamily="18" charset="0"/>
            </a:endParaRPr>
          </a:p>
        </p:txBody>
      </p:sp>
      <p:cxnSp>
        <p:nvCxnSpPr>
          <p:cNvPr id="17" name="直接连接符 16">
            <a:extLst>
              <a:ext uri="{FF2B5EF4-FFF2-40B4-BE49-F238E27FC236}">
                <a16:creationId xmlns:a16="http://schemas.microsoft.com/office/drawing/2014/main" id="{F2409331-7837-4589-ADA4-208AD4C675BC}"/>
              </a:ext>
            </a:extLst>
          </p:cNvPr>
          <p:cNvCxnSpPr/>
          <p:nvPr/>
        </p:nvCxnSpPr>
        <p:spPr>
          <a:xfrm flipH="1">
            <a:off x="5076056" y="3645024"/>
            <a:ext cx="360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EAD634D-1518-4CAC-AFD0-A9E706493330}"/>
              </a:ext>
            </a:extLst>
          </p:cNvPr>
          <p:cNvCxnSpPr/>
          <p:nvPr/>
        </p:nvCxnSpPr>
        <p:spPr>
          <a:xfrm>
            <a:off x="5076056" y="3645024"/>
            <a:ext cx="0" cy="1800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638E594-91C8-4E79-9B72-4B03B67663E2}"/>
              </a:ext>
            </a:extLst>
          </p:cNvPr>
          <p:cNvCxnSpPr/>
          <p:nvPr/>
        </p:nvCxnSpPr>
        <p:spPr>
          <a:xfrm>
            <a:off x="5076056" y="5445224"/>
            <a:ext cx="360040"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8C1F76D1-3770-4DDC-8758-A63A48D1A26F}"/>
              </a:ext>
            </a:extLst>
          </p:cNvPr>
          <p:cNvCxnSpPr/>
          <p:nvPr/>
        </p:nvCxnSpPr>
        <p:spPr>
          <a:xfrm flipH="1">
            <a:off x="5076056" y="5517232"/>
            <a:ext cx="360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8229B91-E2D2-4044-8F0D-353256F91661}"/>
              </a:ext>
            </a:extLst>
          </p:cNvPr>
          <p:cNvCxnSpPr/>
          <p:nvPr/>
        </p:nvCxnSpPr>
        <p:spPr>
          <a:xfrm flipH="1">
            <a:off x="5076056" y="5733256"/>
            <a:ext cx="360040"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CB4310A8-5E0B-4C68-BC3F-4998E1B8B67A}"/>
              </a:ext>
            </a:extLst>
          </p:cNvPr>
          <p:cNvCxnSpPr>
            <a:cxnSpLocks/>
          </p:cNvCxnSpPr>
          <p:nvPr/>
        </p:nvCxnSpPr>
        <p:spPr>
          <a:xfrm>
            <a:off x="5076056" y="5517232"/>
            <a:ext cx="0" cy="216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409C687-34FF-4C05-BB77-BB6B87C1C899}"/>
              </a:ext>
            </a:extLst>
          </p:cNvPr>
          <p:cNvCxnSpPr>
            <a:cxnSpLocks/>
          </p:cNvCxnSpPr>
          <p:nvPr/>
        </p:nvCxnSpPr>
        <p:spPr>
          <a:xfrm flipH="1">
            <a:off x="4932040" y="5961312"/>
            <a:ext cx="50405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CF0E31A4-A0EB-427C-8324-9E497A178936}"/>
              </a:ext>
            </a:extLst>
          </p:cNvPr>
          <p:cNvCxnSpPr>
            <a:cxnSpLocks/>
          </p:cNvCxnSpPr>
          <p:nvPr/>
        </p:nvCxnSpPr>
        <p:spPr>
          <a:xfrm>
            <a:off x="4932040" y="4521336"/>
            <a:ext cx="0" cy="1435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733DAFC7-C93B-4163-AF16-9F75D562D4EE}"/>
              </a:ext>
            </a:extLst>
          </p:cNvPr>
          <p:cNvCxnSpPr>
            <a:cxnSpLocks/>
          </p:cNvCxnSpPr>
          <p:nvPr/>
        </p:nvCxnSpPr>
        <p:spPr>
          <a:xfrm flipH="1">
            <a:off x="4932040" y="4521336"/>
            <a:ext cx="504056"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4CA5734-BF1F-4497-9E4B-F5C672C9CAC2}"/>
              </a:ext>
            </a:extLst>
          </p:cNvPr>
          <p:cNvCxnSpPr>
            <a:cxnSpLocks/>
          </p:cNvCxnSpPr>
          <p:nvPr/>
        </p:nvCxnSpPr>
        <p:spPr>
          <a:xfrm flipH="1">
            <a:off x="7632030" y="4738683"/>
            <a:ext cx="900410"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57DFFAA8-76C2-454A-9E21-8DAC7FF011D0}"/>
              </a:ext>
            </a:extLst>
          </p:cNvPr>
          <p:cNvSpPr/>
          <p:nvPr/>
        </p:nvSpPr>
        <p:spPr>
          <a:xfrm>
            <a:off x="4758842" y="3853310"/>
            <a:ext cx="389850"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dirty="0"/>
          </a:p>
        </p:txBody>
      </p:sp>
      <p:sp>
        <p:nvSpPr>
          <p:cNvPr id="36" name="矩形 35">
            <a:extLst>
              <a:ext uri="{FF2B5EF4-FFF2-40B4-BE49-F238E27FC236}">
                <a16:creationId xmlns:a16="http://schemas.microsoft.com/office/drawing/2014/main" id="{9B975620-BD87-4293-A4EC-001E1600B5FE}"/>
              </a:ext>
            </a:extLst>
          </p:cNvPr>
          <p:cNvSpPr/>
          <p:nvPr/>
        </p:nvSpPr>
        <p:spPr>
          <a:xfrm>
            <a:off x="5001527" y="5453308"/>
            <a:ext cx="389850"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dirty="0"/>
          </a:p>
        </p:txBody>
      </p:sp>
      <p:sp>
        <p:nvSpPr>
          <p:cNvPr id="37" name="矩形 36">
            <a:extLst>
              <a:ext uri="{FF2B5EF4-FFF2-40B4-BE49-F238E27FC236}">
                <a16:creationId xmlns:a16="http://schemas.microsoft.com/office/drawing/2014/main" id="{7A8FBCEF-18BF-4C23-B599-E8E8E96EAD2E}"/>
              </a:ext>
            </a:extLst>
          </p:cNvPr>
          <p:cNvSpPr/>
          <p:nvPr/>
        </p:nvSpPr>
        <p:spPr>
          <a:xfrm>
            <a:off x="4635740" y="5103785"/>
            <a:ext cx="389850"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dirty="0"/>
          </a:p>
        </p:txBody>
      </p:sp>
      <p:sp>
        <p:nvSpPr>
          <p:cNvPr id="38" name="矩形 37">
            <a:extLst>
              <a:ext uri="{FF2B5EF4-FFF2-40B4-BE49-F238E27FC236}">
                <a16:creationId xmlns:a16="http://schemas.microsoft.com/office/drawing/2014/main" id="{49BBF759-4022-46B2-8032-229D1B1C9549}"/>
              </a:ext>
            </a:extLst>
          </p:cNvPr>
          <p:cNvSpPr/>
          <p:nvPr/>
        </p:nvSpPr>
        <p:spPr>
          <a:xfrm>
            <a:off x="8463288" y="4554017"/>
            <a:ext cx="389850"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dirty="0"/>
          </a:p>
        </p:txBody>
      </p:sp>
    </p:spTree>
    <p:extLst>
      <p:ext uri="{BB962C8B-B14F-4D97-AF65-F5344CB8AC3E}">
        <p14:creationId xmlns:p14="http://schemas.microsoft.com/office/powerpoint/2010/main" val="4689280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AD94EE-B15A-499C-AE63-3A3AE571D5B7}"/>
              </a:ext>
            </a:extLst>
          </p:cNvPr>
          <p:cNvSpPr>
            <a:spLocks noGrp="1"/>
          </p:cNvSpPr>
          <p:nvPr>
            <p:ph type="title"/>
          </p:nvPr>
        </p:nvSpPr>
        <p:spPr/>
        <p:txBody>
          <a:bodyPr>
            <a:normAutofit fontScale="90000"/>
          </a:bodyPr>
          <a:lstStyle/>
          <a:p>
            <a:r>
              <a:rPr lang="en-US" altLang="zh-CN" dirty="0"/>
              <a:t>GOT</a:t>
            </a:r>
            <a:r>
              <a:rPr lang="zh-CN" altLang="en-US" dirty="0"/>
              <a:t>和</a:t>
            </a:r>
            <a:r>
              <a:rPr lang="en-US" altLang="zh-CN" dirty="0"/>
              <a:t>PLT</a:t>
            </a:r>
            <a:r>
              <a:rPr lang="zh-CN" altLang="en-US" dirty="0"/>
              <a:t>协同工作</a:t>
            </a:r>
          </a:p>
        </p:txBody>
      </p:sp>
      <p:sp>
        <p:nvSpPr>
          <p:cNvPr id="3" name="内容占位符 2">
            <a:extLst>
              <a:ext uri="{FF2B5EF4-FFF2-40B4-BE49-F238E27FC236}">
                <a16:creationId xmlns:a16="http://schemas.microsoft.com/office/drawing/2014/main" id="{64756622-DB82-4386-9A65-599F32578774}"/>
              </a:ext>
            </a:extLst>
          </p:cNvPr>
          <p:cNvSpPr>
            <a:spLocks noGrp="1"/>
          </p:cNvSpPr>
          <p:nvPr>
            <p:ph idx="1"/>
          </p:nvPr>
        </p:nvSpPr>
        <p:spPr>
          <a:xfrm>
            <a:off x="320155" y="837034"/>
            <a:ext cx="4518334" cy="5289136"/>
          </a:xfrm>
        </p:spPr>
        <p:txBody>
          <a:bodyPr>
            <a:normAutofit/>
          </a:bodyPr>
          <a:lstStyle/>
          <a:p>
            <a:r>
              <a:rPr lang="zh-CN" altLang="en-US" dirty="0"/>
              <a:t>后续调用</a:t>
            </a:r>
            <a:r>
              <a:rPr lang="en-US" altLang="zh-CN" dirty="0" err="1"/>
              <a:t>addvec</a:t>
            </a:r>
            <a:r>
              <a:rPr lang="zh-CN" altLang="en-US" dirty="0"/>
              <a:t>时的控制流：</a:t>
            </a:r>
            <a:endParaRPr lang="en-US" altLang="zh-CN" dirty="0"/>
          </a:p>
          <a:p>
            <a:pPr lvl="1"/>
            <a:r>
              <a:rPr lang="zh-CN" altLang="en-US" dirty="0"/>
              <a:t>第</a:t>
            </a:r>
            <a:r>
              <a:rPr lang="en-US" altLang="zh-CN" dirty="0"/>
              <a:t>1</a:t>
            </a:r>
            <a:r>
              <a:rPr lang="zh-CN" altLang="en-US" dirty="0"/>
              <a:t>步：控制传递到</a:t>
            </a:r>
            <a:r>
              <a:rPr lang="en-US" altLang="zh-CN" dirty="0"/>
              <a:t>PLT[2]</a:t>
            </a:r>
          </a:p>
          <a:p>
            <a:pPr lvl="1"/>
            <a:r>
              <a:rPr lang="zh-CN" altLang="en-US" dirty="0"/>
              <a:t>第</a:t>
            </a:r>
            <a:r>
              <a:rPr lang="en-US" altLang="zh-CN" dirty="0"/>
              <a:t>2</a:t>
            </a:r>
            <a:r>
              <a:rPr lang="zh-CN" altLang="en-US" dirty="0"/>
              <a:t>步：通过</a:t>
            </a:r>
            <a:r>
              <a:rPr lang="en-US" altLang="zh-CN" dirty="0"/>
              <a:t>GOT[4]</a:t>
            </a:r>
            <a:r>
              <a:rPr lang="zh-CN" altLang="en-US" dirty="0"/>
              <a:t>的间接跳转将控制直接转移到</a:t>
            </a:r>
            <a:r>
              <a:rPr lang="en-US" altLang="zh-CN" dirty="0" err="1"/>
              <a:t>addvec</a:t>
            </a:r>
            <a:endParaRPr lang="en-US" altLang="zh-CN" dirty="0"/>
          </a:p>
        </p:txBody>
      </p:sp>
      <p:sp>
        <p:nvSpPr>
          <p:cNvPr id="4" name="灯片编号占位符 3">
            <a:extLst>
              <a:ext uri="{FF2B5EF4-FFF2-40B4-BE49-F238E27FC236}">
                <a16:creationId xmlns:a16="http://schemas.microsoft.com/office/drawing/2014/main" id="{64D442AF-D9BD-4017-AF44-60CEA13F4F5C}"/>
              </a:ext>
            </a:extLst>
          </p:cNvPr>
          <p:cNvSpPr>
            <a:spLocks noGrp="1"/>
          </p:cNvSpPr>
          <p:nvPr>
            <p:ph type="sldNum" sz="quarter" idx="12"/>
          </p:nvPr>
        </p:nvSpPr>
        <p:spPr/>
        <p:txBody>
          <a:bodyPr/>
          <a:lstStyle/>
          <a:p>
            <a:fld id="{6D62327B-ED8D-4CFC-ADD0-A75FA5CBE281}" type="slidenum">
              <a:rPr lang="zh-CN" altLang="en-US" smtClean="0"/>
              <a:pPr/>
              <a:t>59</a:t>
            </a:fld>
            <a:endParaRPr lang="zh-CN" altLang="en-US" dirty="0"/>
          </a:p>
        </p:txBody>
      </p:sp>
      <p:sp>
        <p:nvSpPr>
          <p:cNvPr id="5" name="Rectangle 3">
            <a:extLst>
              <a:ext uri="{FF2B5EF4-FFF2-40B4-BE49-F238E27FC236}">
                <a16:creationId xmlns:a16="http://schemas.microsoft.com/office/drawing/2014/main" id="{6BA98C69-A123-457B-B14F-27D3A4885AE2}"/>
              </a:ext>
            </a:extLst>
          </p:cNvPr>
          <p:cNvSpPr>
            <a:spLocks noChangeArrowheads="1"/>
          </p:cNvSpPr>
          <p:nvPr/>
        </p:nvSpPr>
        <p:spPr bwMode="auto">
          <a:xfrm>
            <a:off x="5292080" y="675270"/>
            <a:ext cx="3528392" cy="2308324"/>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zh-CN" altLang="en-US" sz="1600" dirty="0">
                <a:solidFill>
                  <a:schemeClr val="tx1"/>
                </a:solidFill>
                <a:latin typeface="Times New Roman" panose="02020603050405020304" pitchFamily="18" charset="0"/>
                <a:cs typeface="Times New Roman" panose="02020603050405020304" pitchFamily="18" charset="0"/>
              </a:rPr>
              <a:t>数据段</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zh-CN" altLang="en-US" sz="1600" dirty="0">
                <a:solidFill>
                  <a:schemeClr val="tx1"/>
                </a:solidFill>
                <a:latin typeface="Times New Roman" panose="02020603050405020304" pitchFamily="18" charset="0"/>
                <a:cs typeface="Times New Roman" panose="02020603050405020304" pitchFamily="18" charset="0"/>
              </a:rPr>
              <a:t>全局偏移量表</a:t>
            </a:r>
            <a:r>
              <a:rPr lang="en-US" altLang="zh-CN" sz="1600" dirty="0">
                <a:solidFill>
                  <a:schemeClr val="tx1"/>
                </a:solidFill>
                <a:latin typeface="Times New Roman" panose="02020603050405020304" pitchFamily="18" charset="0"/>
                <a:cs typeface="Times New Roman" panose="02020603050405020304" pitchFamily="18" charset="0"/>
              </a:rPr>
              <a:t>(GOT)</a:t>
            </a: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Rectangle 6">
            <a:extLst>
              <a:ext uri="{FF2B5EF4-FFF2-40B4-BE49-F238E27FC236}">
                <a16:creationId xmlns:a16="http://schemas.microsoft.com/office/drawing/2014/main" id="{328D30FC-73A2-43D8-9283-58C6187DAB30}"/>
              </a:ext>
            </a:extLst>
          </p:cNvPr>
          <p:cNvSpPr>
            <a:spLocks noChangeArrowheads="1"/>
          </p:cNvSpPr>
          <p:nvPr/>
        </p:nvSpPr>
        <p:spPr bwMode="auto">
          <a:xfrm>
            <a:off x="5436097" y="1251334"/>
            <a:ext cx="2952327" cy="1569660"/>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prstTxWarp prst="textNoShape">
              <a:avLst/>
            </a:prstTxWarp>
            <a:spAutoFit/>
          </a:bodyPr>
          <a:lstStyle/>
          <a:p>
            <a:r>
              <a:rPr lang="en-US" sz="1600" dirty="0">
                <a:solidFill>
                  <a:schemeClr val="tx1"/>
                </a:solidFill>
                <a:latin typeface="Times New Roman" panose="02020603050405020304" pitchFamily="18" charset="0"/>
                <a:cs typeface="Times New Roman" panose="02020603050405020304" pitchFamily="18" charset="0"/>
              </a:rPr>
              <a:t>GOT[0]: </a:t>
            </a:r>
            <a:r>
              <a:rPr lang="en-US" sz="1600" dirty="0" err="1">
                <a:solidFill>
                  <a:schemeClr val="tx1"/>
                </a:solidFill>
                <a:latin typeface="Times New Roman" panose="02020603050405020304" pitchFamily="18" charset="0"/>
                <a:cs typeface="Times New Roman" panose="02020603050405020304" pitchFamily="18" charset="0"/>
              </a:rPr>
              <a:t>addr</a:t>
            </a:r>
            <a:r>
              <a:rPr lang="en-US" sz="1600" dirty="0">
                <a:solidFill>
                  <a:schemeClr val="tx1"/>
                </a:solidFill>
                <a:latin typeface="Times New Roman" panose="02020603050405020304" pitchFamily="18" charset="0"/>
                <a:cs typeface="Times New Roman" panose="02020603050405020304" pitchFamily="18" charset="0"/>
              </a:rPr>
              <a:t> of .dynamic</a:t>
            </a:r>
          </a:p>
          <a:p>
            <a:r>
              <a:rPr lang="en-US" altLang="zh-CN" sz="1600" dirty="0">
                <a:solidFill>
                  <a:schemeClr val="tx1"/>
                </a:solidFill>
                <a:latin typeface="Times New Roman" panose="02020603050405020304" pitchFamily="18" charset="0"/>
                <a:cs typeface="Times New Roman" panose="02020603050405020304" pitchFamily="18" charset="0"/>
              </a:rPr>
              <a:t>GOT[1]: </a:t>
            </a:r>
            <a:r>
              <a:rPr lang="en-US" altLang="zh-CN" sz="1600" dirty="0" err="1">
                <a:solidFill>
                  <a:schemeClr val="tx1"/>
                </a:solidFill>
                <a:latin typeface="Times New Roman" panose="02020603050405020304" pitchFamily="18" charset="0"/>
                <a:cs typeface="Times New Roman" panose="02020603050405020304" pitchFamily="18" charset="0"/>
              </a:rPr>
              <a:t>addr</a:t>
            </a:r>
            <a:r>
              <a:rPr lang="en-US" altLang="zh-CN" sz="1600" dirty="0">
                <a:solidFill>
                  <a:schemeClr val="tx1"/>
                </a:solidFill>
                <a:latin typeface="Times New Roman" panose="02020603050405020304" pitchFamily="18" charset="0"/>
                <a:cs typeface="Times New Roman" panose="02020603050405020304" pitchFamily="18" charset="0"/>
              </a:rPr>
              <a:t> of </a:t>
            </a:r>
            <a:r>
              <a:rPr lang="en-US" altLang="zh-CN" sz="1600" dirty="0" err="1">
                <a:solidFill>
                  <a:schemeClr val="tx1"/>
                </a:solidFill>
                <a:latin typeface="Times New Roman" panose="02020603050405020304" pitchFamily="18" charset="0"/>
                <a:cs typeface="Times New Roman" panose="02020603050405020304" pitchFamily="18" charset="0"/>
              </a:rPr>
              <a:t>reloc</a:t>
            </a:r>
            <a:r>
              <a:rPr lang="en-US" altLang="zh-CN" sz="1600" dirty="0">
                <a:solidFill>
                  <a:schemeClr val="tx1"/>
                </a:solidFill>
                <a:latin typeface="Times New Roman" panose="02020603050405020304" pitchFamily="18" charset="0"/>
                <a:cs typeface="Times New Roman" panose="02020603050405020304" pitchFamily="18" charset="0"/>
              </a:rPr>
              <a:t> entries</a:t>
            </a:r>
          </a:p>
          <a:p>
            <a:r>
              <a:rPr lang="en-US" altLang="zh-CN" sz="1600" dirty="0">
                <a:solidFill>
                  <a:schemeClr val="tx1"/>
                </a:solidFill>
                <a:latin typeface="Times New Roman" panose="02020603050405020304" pitchFamily="18" charset="0"/>
                <a:cs typeface="Times New Roman" panose="02020603050405020304" pitchFamily="18" charset="0"/>
              </a:rPr>
              <a:t>GOT[2]: </a:t>
            </a:r>
            <a:r>
              <a:rPr lang="en-US" altLang="zh-CN" sz="1600" dirty="0" err="1">
                <a:solidFill>
                  <a:schemeClr val="tx1"/>
                </a:solidFill>
                <a:latin typeface="Times New Roman" panose="02020603050405020304" pitchFamily="18" charset="0"/>
                <a:cs typeface="Times New Roman" panose="02020603050405020304" pitchFamily="18" charset="0"/>
              </a:rPr>
              <a:t>addr</a:t>
            </a:r>
            <a:r>
              <a:rPr lang="en-US" altLang="zh-CN" sz="1600" dirty="0">
                <a:solidFill>
                  <a:schemeClr val="tx1"/>
                </a:solidFill>
                <a:latin typeface="Times New Roman" panose="02020603050405020304" pitchFamily="18" charset="0"/>
                <a:cs typeface="Times New Roman" panose="02020603050405020304" pitchFamily="18" charset="0"/>
              </a:rPr>
              <a:t> of linker</a:t>
            </a:r>
          </a:p>
          <a:p>
            <a:r>
              <a:rPr lang="en-US" altLang="zh-CN" sz="1600" dirty="0">
                <a:solidFill>
                  <a:schemeClr val="tx1"/>
                </a:solidFill>
                <a:latin typeface="Times New Roman" panose="02020603050405020304" pitchFamily="18" charset="0"/>
                <a:cs typeface="Times New Roman" panose="02020603050405020304" pitchFamily="18" charset="0"/>
              </a:rPr>
              <a:t>GOT[3]: 0x4005b6  #sys startup</a:t>
            </a:r>
          </a:p>
          <a:p>
            <a:r>
              <a:rPr lang="en-US" sz="1600" b="1" i="1" dirty="0">
                <a:solidFill>
                  <a:schemeClr val="tx1"/>
                </a:solidFill>
                <a:latin typeface="Times New Roman" panose="02020603050405020304" pitchFamily="18" charset="0"/>
                <a:cs typeface="Times New Roman" panose="02020603050405020304" pitchFamily="18" charset="0"/>
              </a:rPr>
              <a:t>GOT[4]: &amp;</a:t>
            </a:r>
            <a:r>
              <a:rPr lang="en-US" sz="1600" b="1" i="1" dirty="0" err="1">
                <a:solidFill>
                  <a:schemeClr val="tx1"/>
                </a:solidFill>
                <a:latin typeface="Times New Roman" panose="02020603050405020304" pitchFamily="18" charset="0"/>
                <a:cs typeface="Times New Roman" panose="02020603050405020304" pitchFamily="18" charset="0"/>
              </a:rPr>
              <a:t>addvec</a:t>
            </a:r>
            <a:r>
              <a:rPr lang="en-US" sz="1600" b="1" i="1" dirty="0">
                <a:solidFill>
                  <a:schemeClr val="tx1"/>
                </a:solidFill>
                <a:latin typeface="Times New Roman" panose="02020603050405020304" pitchFamily="18" charset="0"/>
                <a:cs typeface="Times New Roman" panose="02020603050405020304" pitchFamily="18" charset="0"/>
              </a:rPr>
              <a:t>()</a:t>
            </a:r>
          </a:p>
          <a:p>
            <a:r>
              <a:rPr lang="en-US" sz="1600" dirty="0">
                <a:solidFill>
                  <a:schemeClr val="tx1"/>
                </a:solidFill>
                <a:latin typeface="Times New Roman" panose="02020603050405020304" pitchFamily="18" charset="0"/>
                <a:cs typeface="Times New Roman" panose="02020603050405020304" pitchFamily="18" charset="0"/>
              </a:rPr>
              <a:t>GOT[5]: 0x4005d6  # </a:t>
            </a:r>
            <a:r>
              <a:rPr lang="en-US" sz="1600" dirty="0" err="1">
                <a:solidFill>
                  <a:schemeClr val="tx1"/>
                </a:solidFill>
                <a:latin typeface="Times New Roman" panose="02020603050405020304" pitchFamily="18" charset="0"/>
                <a:cs typeface="Times New Roman" panose="02020603050405020304" pitchFamily="18" charset="0"/>
              </a:rPr>
              <a:t>printf</a:t>
            </a:r>
            <a:r>
              <a:rPr lang="en-US" sz="1600" dirty="0">
                <a:solidFill>
                  <a:schemeClr val="tx1"/>
                </a:solidFill>
                <a:latin typeface="Times New Roman" panose="02020603050405020304" pitchFamily="18" charset="0"/>
                <a:cs typeface="Times New Roman" panose="02020603050405020304" pitchFamily="18" charset="0"/>
              </a:rPr>
              <a:t>()</a:t>
            </a:r>
            <a:endParaRPr lang="is-IS" sz="1600" dirty="0">
              <a:solidFill>
                <a:schemeClr val="tx1"/>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DAC1AAD8-C93C-4FD9-9CB7-563B2B578E4A}"/>
              </a:ext>
            </a:extLst>
          </p:cNvPr>
          <p:cNvSpPr>
            <a:spLocks noChangeArrowheads="1"/>
          </p:cNvSpPr>
          <p:nvPr/>
        </p:nvSpPr>
        <p:spPr bwMode="auto">
          <a:xfrm>
            <a:off x="5295454" y="3215189"/>
            <a:ext cx="3528392" cy="3046988"/>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zh-CN" altLang="en-US" sz="1600" dirty="0">
                <a:solidFill>
                  <a:schemeClr val="tx1"/>
                </a:solidFill>
                <a:latin typeface="Times New Roman" panose="02020603050405020304" pitchFamily="18" charset="0"/>
                <a:cs typeface="Times New Roman" panose="02020603050405020304" pitchFamily="18" charset="0"/>
              </a:rPr>
              <a:t>代码段</a:t>
            </a:r>
            <a:endParaRPr lang="en-US" altLang="zh-CN" sz="1600" dirty="0">
              <a:solidFill>
                <a:schemeClr val="tx1"/>
              </a:solidFill>
              <a:latin typeface="Times New Roman" panose="02020603050405020304" pitchFamily="18" charset="0"/>
              <a:cs typeface="Times New Roman" panose="02020603050405020304" pitchFamily="18" charset="0"/>
            </a:endParaRP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callq</a:t>
            </a:r>
            <a:r>
              <a:rPr lang="en-US" altLang="zh-CN" sz="1600" dirty="0">
                <a:solidFill>
                  <a:schemeClr val="tx1"/>
                </a:solidFill>
                <a:latin typeface="Times New Roman" panose="02020603050405020304" pitchFamily="18" charset="0"/>
                <a:cs typeface="Times New Roman" panose="02020603050405020304" pitchFamily="18" charset="0"/>
              </a:rPr>
              <a:t> 0x4005c0  #call </a:t>
            </a:r>
            <a:r>
              <a:rPr lang="en-US" altLang="zh-CN" sz="1600" dirty="0" err="1">
                <a:solidFill>
                  <a:schemeClr val="tx1"/>
                </a:solidFill>
                <a:latin typeface="Times New Roman" panose="02020603050405020304" pitchFamily="18" charset="0"/>
                <a:cs typeface="Times New Roman" panose="02020603050405020304" pitchFamily="18" charset="0"/>
              </a:rPr>
              <a:t>addvec</a:t>
            </a:r>
            <a:r>
              <a:rPr lang="en-US" altLang="zh-CN" sz="1600" dirty="0">
                <a:solidFill>
                  <a:schemeClr val="tx1"/>
                </a:solidFill>
                <a:latin typeface="Times New Roman" panose="02020603050405020304" pitchFamily="18" charset="0"/>
                <a:cs typeface="Times New Roman" panose="02020603050405020304" pitchFamily="18" charset="0"/>
              </a:rPr>
              <a:t>()</a:t>
            </a:r>
          </a:p>
          <a:p>
            <a:r>
              <a:rPr lang="zh-CN" altLang="en-US" sz="1600" dirty="0">
                <a:solidFill>
                  <a:schemeClr val="tx1"/>
                </a:solidFill>
                <a:latin typeface="Times New Roman" panose="02020603050405020304" pitchFamily="18" charset="0"/>
                <a:cs typeface="Times New Roman" panose="02020603050405020304" pitchFamily="18" charset="0"/>
              </a:rPr>
              <a:t>过程链接表</a:t>
            </a:r>
            <a:r>
              <a:rPr lang="en-US" altLang="zh-CN" sz="1600" dirty="0">
                <a:solidFill>
                  <a:schemeClr val="tx1"/>
                </a:solidFill>
                <a:latin typeface="Times New Roman" panose="02020603050405020304" pitchFamily="18" charset="0"/>
                <a:cs typeface="Times New Roman" panose="02020603050405020304" pitchFamily="18" charset="0"/>
              </a:rPr>
              <a:t>(PLT)</a:t>
            </a:r>
          </a:p>
          <a:p>
            <a:endParaRPr lang="en-US" altLang="zh-CN" sz="1600" dirty="0">
              <a:solidFill>
                <a:schemeClr val="tx1"/>
              </a:solidFill>
              <a:latin typeface="Times New Roman" panose="02020603050405020304" pitchFamily="18" charset="0"/>
              <a:cs typeface="Times New Roman" panose="02020603050405020304" pitchFamily="18" charset="0"/>
            </a:endParaRPr>
          </a:p>
          <a:p>
            <a:endParaRPr lang="en-US" altLang="zh-CN"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a:p>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8" name="Rectangle 6">
            <a:extLst>
              <a:ext uri="{FF2B5EF4-FFF2-40B4-BE49-F238E27FC236}">
                <a16:creationId xmlns:a16="http://schemas.microsoft.com/office/drawing/2014/main" id="{8EBB94C8-344E-429F-8A35-3D4D42AA82E2}"/>
              </a:ext>
            </a:extLst>
          </p:cNvPr>
          <p:cNvSpPr>
            <a:spLocks noChangeArrowheads="1"/>
          </p:cNvSpPr>
          <p:nvPr/>
        </p:nvSpPr>
        <p:spPr bwMode="auto">
          <a:xfrm>
            <a:off x="5436096" y="4064067"/>
            <a:ext cx="2952327" cy="2062103"/>
          </a:xfrm>
          <a:prstGeom prst="rect">
            <a:avLst/>
          </a:prstGeom>
          <a:solidFill>
            <a:schemeClr val="accent3">
              <a:lumMod val="40000"/>
              <a:lumOff val="60000"/>
            </a:schemeClr>
          </a:solidFill>
          <a:ln>
            <a:headEnd/>
            <a:tailEnd/>
          </a:ln>
        </p:spPr>
        <p:style>
          <a:lnRef idx="3">
            <a:schemeClr val="lt1"/>
          </a:lnRef>
          <a:fillRef idx="1">
            <a:schemeClr val="accent3"/>
          </a:fillRef>
          <a:effectRef idx="1">
            <a:schemeClr val="accent3"/>
          </a:effectRef>
          <a:fontRef idx="minor">
            <a:schemeClr val="lt1"/>
          </a:fontRef>
        </p:style>
        <p:txBody>
          <a:bodyPr wrap="square">
            <a:prstTxWarp prst="textNoShape">
              <a:avLst/>
            </a:prstTxWarp>
            <a:spAutoFit/>
          </a:bodyPr>
          <a:lstStyle/>
          <a:p>
            <a:r>
              <a:rPr lang="en-US" sz="1600" dirty="0">
                <a:solidFill>
                  <a:schemeClr val="tx1"/>
                </a:solidFill>
                <a:latin typeface="Times New Roman" panose="02020603050405020304" pitchFamily="18" charset="0"/>
                <a:cs typeface="Times New Roman" panose="02020603050405020304" pitchFamily="18" charset="0"/>
              </a:rPr>
              <a:t># PLT[0]: call dynamic linker</a:t>
            </a:r>
          </a:p>
          <a:p>
            <a:r>
              <a:rPr lang="en-US" sz="1600" dirty="0">
                <a:solidFill>
                  <a:schemeClr val="tx1"/>
                </a:solidFill>
                <a:latin typeface="Times New Roman" panose="02020603050405020304" pitchFamily="18" charset="0"/>
                <a:cs typeface="Times New Roman" panose="02020603050405020304" pitchFamily="18" charset="0"/>
              </a:rPr>
              <a:t>4005a0: </a:t>
            </a:r>
            <a:r>
              <a:rPr lang="en-US" sz="1600" dirty="0" err="1">
                <a:solidFill>
                  <a:schemeClr val="tx1"/>
                </a:solidFill>
                <a:latin typeface="Times New Roman" panose="02020603050405020304" pitchFamily="18" charset="0"/>
                <a:cs typeface="Times New Roman" panose="02020603050405020304" pitchFamily="18" charset="0"/>
              </a:rPr>
              <a:t>pushq</a:t>
            </a:r>
            <a:r>
              <a:rPr lang="en-US" sz="1600" dirty="0">
                <a:solidFill>
                  <a:schemeClr val="tx1"/>
                </a:solidFill>
                <a:latin typeface="Times New Roman" panose="02020603050405020304" pitchFamily="18" charset="0"/>
                <a:cs typeface="Times New Roman" panose="02020603050405020304" pitchFamily="18" charset="0"/>
              </a:rPr>
              <a:t> *GOT[1]</a:t>
            </a:r>
          </a:p>
          <a:p>
            <a:r>
              <a:rPr lang="en-US" sz="1600" dirty="0">
                <a:solidFill>
                  <a:schemeClr val="tx1"/>
                </a:solidFill>
                <a:latin typeface="Times New Roman" panose="02020603050405020304" pitchFamily="18" charset="0"/>
                <a:cs typeface="Times New Roman" panose="02020603050405020304" pitchFamily="18" charset="0"/>
              </a:rPr>
              <a:t>4005a6: </a:t>
            </a:r>
            <a:r>
              <a:rPr lang="en-US" sz="1600" dirty="0" err="1">
                <a:solidFill>
                  <a:schemeClr val="tx1"/>
                </a:solidFill>
                <a:latin typeface="Times New Roman" panose="02020603050405020304" pitchFamily="18" charset="0"/>
                <a:cs typeface="Times New Roman" panose="02020603050405020304" pitchFamily="18" charset="0"/>
              </a:rPr>
              <a:t>jmpq</a:t>
            </a:r>
            <a:r>
              <a:rPr lang="en-US" sz="1600" dirty="0">
                <a:solidFill>
                  <a:schemeClr val="tx1"/>
                </a:solidFill>
                <a:latin typeface="Times New Roman" panose="02020603050405020304" pitchFamily="18" charset="0"/>
                <a:cs typeface="Times New Roman" panose="02020603050405020304" pitchFamily="18" charset="0"/>
              </a:rPr>
              <a:t> *GOT[2]</a:t>
            </a:r>
          </a:p>
          <a:p>
            <a:r>
              <a:rPr lang="en-US" sz="1600" dirty="0">
                <a:solidFill>
                  <a:schemeClr val="tx1"/>
                </a:solidFill>
                <a:latin typeface="Times New Roman" panose="02020603050405020304" pitchFamily="18" charset="0"/>
                <a:cs typeface="Times New Roman" panose="02020603050405020304" pitchFamily="18" charset="0"/>
              </a:rPr>
              <a:t>…</a:t>
            </a:r>
          </a:p>
          <a:p>
            <a:r>
              <a:rPr lang="en-US" sz="1600" dirty="0">
                <a:solidFill>
                  <a:schemeClr val="tx1"/>
                </a:solidFill>
                <a:latin typeface="Times New Roman" panose="02020603050405020304" pitchFamily="18" charset="0"/>
                <a:cs typeface="Times New Roman" panose="02020603050405020304" pitchFamily="18" charset="0"/>
              </a:rPr>
              <a:t># PLT[2]: call </a:t>
            </a:r>
            <a:r>
              <a:rPr lang="en-US" sz="1600" dirty="0" err="1">
                <a:solidFill>
                  <a:schemeClr val="tx1"/>
                </a:solidFill>
                <a:latin typeface="Times New Roman" panose="02020603050405020304" pitchFamily="18" charset="0"/>
                <a:cs typeface="Times New Roman" panose="02020603050405020304" pitchFamily="18" charset="0"/>
              </a:rPr>
              <a:t>addvec</a:t>
            </a:r>
            <a:r>
              <a:rPr lang="en-US" sz="1600" dirty="0">
                <a:solidFill>
                  <a:schemeClr val="tx1"/>
                </a:solidFill>
                <a:latin typeface="Times New Roman" panose="02020603050405020304" pitchFamily="18" charset="0"/>
                <a:cs typeface="Times New Roman" panose="02020603050405020304" pitchFamily="18" charset="0"/>
              </a:rPr>
              <a:t>()</a:t>
            </a:r>
          </a:p>
          <a:p>
            <a:r>
              <a:rPr lang="en-US" sz="1600" dirty="0">
                <a:solidFill>
                  <a:schemeClr val="tx1"/>
                </a:solidFill>
                <a:latin typeface="Times New Roman" panose="02020603050405020304" pitchFamily="18" charset="0"/>
                <a:cs typeface="Times New Roman" panose="02020603050405020304" pitchFamily="18" charset="0"/>
              </a:rPr>
              <a:t>4005c0: </a:t>
            </a:r>
            <a:r>
              <a:rPr lang="en-US" sz="1600" dirty="0" err="1">
                <a:solidFill>
                  <a:schemeClr val="tx1"/>
                </a:solidFill>
                <a:latin typeface="Times New Roman" panose="02020603050405020304" pitchFamily="18" charset="0"/>
                <a:cs typeface="Times New Roman" panose="02020603050405020304" pitchFamily="18" charset="0"/>
              </a:rPr>
              <a:t>jmpq</a:t>
            </a:r>
            <a:r>
              <a:rPr lang="en-US" sz="1600" dirty="0">
                <a:solidFill>
                  <a:schemeClr val="tx1"/>
                </a:solidFill>
                <a:latin typeface="Times New Roman" panose="02020603050405020304" pitchFamily="18" charset="0"/>
                <a:cs typeface="Times New Roman" panose="02020603050405020304" pitchFamily="18" charset="0"/>
              </a:rPr>
              <a:t> *GOT[4]</a:t>
            </a:r>
          </a:p>
          <a:p>
            <a:r>
              <a:rPr lang="en-US" sz="1600" dirty="0">
                <a:solidFill>
                  <a:schemeClr val="tx1"/>
                </a:solidFill>
                <a:latin typeface="Times New Roman" panose="02020603050405020304" pitchFamily="18" charset="0"/>
                <a:cs typeface="Times New Roman" panose="02020603050405020304" pitchFamily="18" charset="0"/>
              </a:rPr>
              <a:t>4005c6: </a:t>
            </a:r>
            <a:r>
              <a:rPr lang="en-US" sz="1600" dirty="0" err="1">
                <a:solidFill>
                  <a:schemeClr val="tx1"/>
                </a:solidFill>
                <a:latin typeface="Times New Roman" panose="02020603050405020304" pitchFamily="18" charset="0"/>
                <a:cs typeface="Times New Roman" panose="02020603050405020304" pitchFamily="18" charset="0"/>
              </a:rPr>
              <a:t>pushq</a:t>
            </a:r>
            <a:r>
              <a:rPr lang="en-US" sz="1600" dirty="0">
                <a:solidFill>
                  <a:schemeClr val="tx1"/>
                </a:solidFill>
                <a:latin typeface="Times New Roman" panose="02020603050405020304" pitchFamily="18" charset="0"/>
                <a:cs typeface="Times New Roman" panose="02020603050405020304" pitchFamily="18" charset="0"/>
              </a:rPr>
              <a:t> $0x1</a:t>
            </a:r>
          </a:p>
          <a:p>
            <a:r>
              <a:rPr lang="en-US" sz="1600" dirty="0">
                <a:solidFill>
                  <a:schemeClr val="tx1"/>
                </a:solidFill>
                <a:latin typeface="Times New Roman" panose="02020603050405020304" pitchFamily="18" charset="0"/>
                <a:cs typeface="Times New Roman" panose="02020603050405020304" pitchFamily="18" charset="0"/>
              </a:rPr>
              <a:t>4005cb: </a:t>
            </a:r>
            <a:r>
              <a:rPr lang="en-US" sz="1600" dirty="0" err="1">
                <a:solidFill>
                  <a:schemeClr val="tx1"/>
                </a:solidFill>
                <a:latin typeface="Times New Roman" panose="02020603050405020304" pitchFamily="18" charset="0"/>
                <a:cs typeface="Times New Roman" panose="02020603050405020304" pitchFamily="18" charset="0"/>
              </a:rPr>
              <a:t>jmpq</a:t>
            </a:r>
            <a:r>
              <a:rPr lang="en-US" sz="1600" dirty="0">
                <a:solidFill>
                  <a:schemeClr val="tx1"/>
                </a:solidFill>
                <a:latin typeface="Times New Roman" panose="02020603050405020304" pitchFamily="18" charset="0"/>
                <a:cs typeface="Times New Roman" panose="02020603050405020304" pitchFamily="18" charset="0"/>
              </a:rPr>
              <a:t> 4005a0</a:t>
            </a:r>
            <a:endParaRPr lang="is-IS" sz="1600" dirty="0">
              <a:solidFill>
                <a:schemeClr val="tx1"/>
              </a:solidFill>
              <a:latin typeface="Times New Roman" panose="02020603050405020304" pitchFamily="18" charset="0"/>
              <a:cs typeface="Times New Roman" panose="02020603050405020304" pitchFamily="18" charset="0"/>
            </a:endParaRPr>
          </a:p>
        </p:txBody>
      </p:sp>
      <p:cxnSp>
        <p:nvCxnSpPr>
          <p:cNvPr id="17" name="直接连接符 16">
            <a:extLst>
              <a:ext uri="{FF2B5EF4-FFF2-40B4-BE49-F238E27FC236}">
                <a16:creationId xmlns:a16="http://schemas.microsoft.com/office/drawing/2014/main" id="{F2409331-7837-4589-ADA4-208AD4C675BC}"/>
              </a:ext>
            </a:extLst>
          </p:cNvPr>
          <p:cNvCxnSpPr/>
          <p:nvPr/>
        </p:nvCxnSpPr>
        <p:spPr>
          <a:xfrm flipH="1">
            <a:off x="5076056" y="3645024"/>
            <a:ext cx="3600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EAD634D-1518-4CAC-AFD0-A9E706493330}"/>
              </a:ext>
            </a:extLst>
          </p:cNvPr>
          <p:cNvCxnSpPr/>
          <p:nvPr/>
        </p:nvCxnSpPr>
        <p:spPr>
          <a:xfrm>
            <a:off x="5076056" y="3645024"/>
            <a:ext cx="0" cy="1800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638E594-91C8-4E79-9B72-4B03B67663E2}"/>
              </a:ext>
            </a:extLst>
          </p:cNvPr>
          <p:cNvCxnSpPr/>
          <p:nvPr/>
        </p:nvCxnSpPr>
        <p:spPr>
          <a:xfrm>
            <a:off x="5076056" y="5445224"/>
            <a:ext cx="360040" cy="0"/>
          </a:xfrm>
          <a:prstGeom prst="line">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F4CA5734-BF1F-4497-9E4B-F5C672C9CAC2}"/>
              </a:ext>
            </a:extLst>
          </p:cNvPr>
          <p:cNvCxnSpPr>
            <a:cxnSpLocks/>
          </p:cNvCxnSpPr>
          <p:nvPr/>
        </p:nvCxnSpPr>
        <p:spPr>
          <a:xfrm flipH="1">
            <a:off x="7488013" y="5473117"/>
            <a:ext cx="900410" cy="0"/>
          </a:xfrm>
          <a:prstGeom prst="line">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57DFFAA8-76C2-454A-9E21-8DAC7FF011D0}"/>
              </a:ext>
            </a:extLst>
          </p:cNvPr>
          <p:cNvSpPr/>
          <p:nvPr/>
        </p:nvSpPr>
        <p:spPr>
          <a:xfrm>
            <a:off x="4758842" y="3853310"/>
            <a:ext cx="389850"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dirty="0"/>
          </a:p>
        </p:txBody>
      </p:sp>
      <p:sp>
        <p:nvSpPr>
          <p:cNvPr id="36" name="矩形 35">
            <a:extLst>
              <a:ext uri="{FF2B5EF4-FFF2-40B4-BE49-F238E27FC236}">
                <a16:creationId xmlns:a16="http://schemas.microsoft.com/office/drawing/2014/main" id="{9B975620-BD87-4293-A4EC-001E1600B5FE}"/>
              </a:ext>
            </a:extLst>
          </p:cNvPr>
          <p:cNvSpPr/>
          <p:nvPr/>
        </p:nvSpPr>
        <p:spPr>
          <a:xfrm>
            <a:off x="8334140" y="5306344"/>
            <a:ext cx="389850" cy="369332"/>
          </a:xfrm>
          <a:prstGeom prst="rect">
            <a:avLst/>
          </a:prstGeom>
        </p:spPr>
        <p:txBody>
          <a:bodyPr wrap="none">
            <a:spAutoFit/>
          </a:bodyPr>
          <a:lstStyle/>
          <a:p>
            <a:r>
              <a:rPr lang="zh-CN" altLang="en-US" dirty="0">
                <a:latin typeface="Times New Roman" panose="02020603050405020304" pitchFamily="18" charset="0"/>
                <a:cs typeface="Times New Roman" panose="02020603050405020304" pitchFamily="18" charset="0"/>
                <a:sym typeface="Wingdings" panose="05000000000000000000" pitchFamily="2" charset="2"/>
              </a:rPr>
              <a:t></a:t>
            </a:r>
            <a:endParaRPr lang="zh-CN" altLang="en-US" dirty="0"/>
          </a:p>
        </p:txBody>
      </p:sp>
    </p:spTree>
    <p:extLst>
      <p:ext uri="{BB962C8B-B14F-4D97-AF65-F5344CB8AC3E}">
        <p14:creationId xmlns:p14="http://schemas.microsoft.com/office/powerpoint/2010/main" val="25318091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FEEF36-9ABD-46AA-A9A5-49C352809A02}"/>
              </a:ext>
            </a:extLst>
          </p:cNvPr>
          <p:cNvSpPr>
            <a:spLocks noGrp="1"/>
          </p:cNvSpPr>
          <p:nvPr>
            <p:ph type="title"/>
          </p:nvPr>
        </p:nvSpPr>
        <p:spPr/>
        <p:txBody>
          <a:bodyPr>
            <a:normAutofit fontScale="90000"/>
          </a:bodyPr>
          <a:lstStyle/>
          <a:p>
            <a:r>
              <a:rPr lang="en-US" altLang="zh-CN" dirty="0"/>
              <a:t>7.13 </a:t>
            </a:r>
            <a:r>
              <a:rPr lang="zh-CN" altLang="en-US" dirty="0"/>
              <a:t>库打桩机制</a:t>
            </a:r>
          </a:p>
        </p:txBody>
      </p:sp>
      <p:sp>
        <p:nvSpPr>
          <p:cNvPr id="3" name="内容占位符 2">
            <a:extLst>
              <a:ext uri="{FF2B5EF4-FFF2-40B4-BE49-F238E27FC236}">
                <a16:creationId xmlns:a16="http://schemas.microsoft.com/office/drawing/2014/main" id="{618F980D-8D0C-4DED-955A-19973A39E2E0}"/>
              </a:ext>
            </a:extLst>
          </p:cNvPr>
          <p:cNvSpPr>
            <a:spLocks noGrp="1"/>
          </p:cNvSpPr>
          <p:nvPr>
            <p:ph idx="1"/>
          </p:nvPr>
        </p:nvSpPr>
        <p:spPr/>
        <p:txBody>
          <a:bodyPr/>
          <a:lstStyle/>
          <a:p>
            <a:r>
              <a:rPr lang="zh-CN" altLang="en-US" dirty="0"/>
              <a:t>库打桩</a:t>
            </a:r>
            <a:r>
              <a:rPr lang="en-US" altLang="zh-CN" dirty="0"/>
              <a:t>(library </a:t>
            </a:r>
            <a:r>
              <a:rPr lang="en-US" altLang="zh-CN" dirty="0" err="1"/>
              <a:t>interpositioning</a:t>
            </a:r>
            <a:r>
              <a:rPr lang="en-US" altLang="zh-CN" dirty="0"/>
              <a:t>)</a:t>
            </a:r>
            <a:r>
              <a:rPr lang="zh-CN" altLang="en-US" dirty="0"/>
              <a:t>：</a:t>
            </a:r>
            <a:r>
              <a:rPr lang="en-US" altLang="zh-CN" dirty="0"/>
              <a:t>Linux</a:t>
            </a:r>
            <a:r>
              <a:rPr lang="zh-CN" altLang="en-US" dirty="0"/>
              <a:t>链接器允许用户截获对共享库函数的调用，取而代之执行自己的代码</a:t>
            </a:r>
            <a:endParaRPr lang="en-US" altLang="zh-CN" dirty="0"/>
          </a:p>
          <a:p>
            <a:pPr lvl="1"/>
            <a:r>
              <a:rPr lang="zh-CN" altLang="en-US" dirty="0"/>
              <a:t>作用：可以追踪对某个特殊库函数的调用次数，验证和追踪它的输入和输出值，将它替换成一个完全不同的实现</a:t>
            </a:r>
            <a:endParaRPr lang="en-US" altLang="zh-CN" dirty="0"/>
          </a:p>
          <a:p>
            <a:r>
              <a:rPr lang="zh-CN" altLang="en-US" dirty="0"/>
              <a:t>基本思想：</a:t>
            </a:r>
            <a:endParaRPr lang="en-US" altLang="zh-CN" dirty="0"/>
          </a:p>
          <a:p>
            <a:pPr lvl="1"/>
            <a:r>
              <a:rPr lang="zh-CN" altLang="en-US" dirty="0"/>
              <a:t>给定一个需要打桩的目标函数，创建一个包装函数，它的原型与目标函数完全一样</a:t>
            </a:r>
            <a:endParaRPr lang="en-US" altLang="zh-CN" dirty="0"/>
          </a:p>
          <a:p>
            <a:pPr lvl="1"/>
            <a:r>
              <a:rPr lang="zh-CN" altLang="en-US" dirty="0"/>
              <a:t>通过某种特殊的打桩机制，可以欺骗系统调用包装函数替代目标函数</a:t>
            </a:r>
            <a:endParaRPr lang="en-US" altLang="zh-CN" dirty="0"/>
          </a:p>
          <a:p>
            <a:pPr lvl="1"/>
            <a:r>
              <a:rPr lang="zh-CN" altLang="en-US" dirty="0"/>
              <a:t>包装函数通常会执行它自己的逻辑，然后调用目标函数，再将目标函数的返回值传递给调用者</a:t>
            </a:r>
            <a:endParaRPr lang="en-US" altLang="zh-CN" dirty="0"/>
          </a:p>
          <a:p>
            <a:r>
              <a:rPr lang="zh-CN" altLang="en-US" dirty="0"/>
              <a:t>打桩发生的时机：编译、链接或当程序被加载和执行的运行时</a:t>
            </a:r>
          </a:p>
        </p:txBody>
      </p:sp>
      <p:sp>
        <p:nvSpPr>
          <p:cNvPr id="4" name="灯片编号占位符 3">
            <a:extLst>
              <a:ext uri="{FF2B5EF4-FFF2-40B4-BE49-F238E27FC236}">
                <a16:creationId xmlns:a16="http://schemas.microsoft.com/office/drawing/2014/main" id="{CFB3C037-6DC7-499F-AA08-F2873DDD8F74}"/>
              </a:ext>
            </a:extLst>
          </p:cNvPr>
          <p:cNvSpPr>
            <a:spLocks noGrp="1"/>
          </p:cNvSpPr>
          <p:nvPr>
            <p:ph type="sldNum" sz="quarter" idx="12"/>
          </p:nvPr>
        </p:nvSpPr>
        <p:spPr/>
        <p:txBody>
          <a:bodyPr/>
          <a:lstStyle/>
          <a:p>
            <a:fld id="{6D62327B-ED8D-4CFC-ADD0-A75FA5CBE281}" type="slidenum">
              <a:rPr lang="zh-CN" altLang="en-US" smtClean="0"/>
              <a:pPr/>
              <a:t>60</a:t>
            </a:fld>
            <a:endParaRPr lang="zh-CN" altLang="en-US" dirty="0"/>
          </a:p>
        </p:txBody>
      </p:sp>
    </p:spTree>
    <p:extLst>
      <p:ext uri="{BB962C8B-B14F-4D97-AF65-F5344CB8AC3E}">
        <p14:creationId xmlns:p14="http://schemas.microsoft.com/office/powerpoint/2010/main" val="413303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463FA59-3A29-4543-89E1-BBF3CD017E56}"/>
              </a:ext>
            </a:extLst>
          </p:cNvPr>
          <p:cNvSpPr>
            <a:spLocks noGrp="1"/>
          </p:cNvSpPr>
          <p:nvPr>
            <p:ph type="title"/>
          </p:nvPr>
        </p:nvSpPr>
        <p:spPr/>
        <p:txBody>
          <a:bodyPr>
            <a:normAutofit fontScale="90000"/>
          </a:bodyPr>
          <a:lstStyle/>
          <a:p>
            <a:r>
              <a:rPr lang="en-US" altLang="zh-CN" dirty="0"/>
              <a:t>7.13.1</a:t>
            </a:r>
            <a:r>
              <a:rPr lang="zh-CN" altLang="en-US" dirty="0"/>
              <a:t> 编译时打桩</a:t>
            </a:r>
          </a:p>
        </p:txBody>
      </p:sp>
      <p:sp>
        <p:nvSpPr>
          <p:cNvPr id="3" name="内容占位符 2">
            <a:extLst>
              <a:ext uri="{FF2B5EF4-FFF2-40B4-BE49-F238E27FC236}">
                <a16:creationId xmlns:a16="http://schemas.microsoft.com/office/drawing/2014/main" id="{E5B94968-4E0B-4F07-8E5A-7EC1AA55A817}"/>
              </a:ext>
            </a:extLst>
          </p:cNvPr>
          <p:cNvSpPr>
            <a:spLocks noGrp="1"/>
          </p:cNvSpPr>
          <p:nvPr>
            <p:ph idx="1"/>
          </p:nvPr>
        </p:nvSpPr>
        <p:spPr/>
        <p:txBody>
          <a:bodyPr>
            <a:normAutofit/>
          </a:bodyPr>
          <a:lstStyle/>
          <a:p>
            <a:r>
              <a:rPr lang="en-US" altLang="zh-CN" sz="1800" dirty="0" err="1"/>
              <a:t>mymalloc.c</a:t>
            </a:r>
            <a:r>
              <a:rPr lang="zh-CN" altLang="en-US" sz="1800" dirty="0"/>
              <a:t>中的包装函数调用目标函数，打印追踪记录；本地</a:t>
            </a:r>
            <a:r>
              <a:rPr lang="en-US" altLang="zh-CN" sz="1800" dirty="0" err="1"/>
              <a:t>malloc.h</a:t>
            </a:r>
            <a:r>
              <a:rPr lang="zh-CN" altLang="en-US" sz="1800" dirty="0"/>
              <a:t>头文件指示预处理器用对应包装函数的调用替换对目标函数的调用</a:t>
            </a:r>
            <a:endParaRPr lang="en-US" altLang="zh-CN" sz="1800" dirty="0"/>
          </a:p>
          <a:p>
            <a:r>
              <a:rPr lang="zh-CN" altLang="en-US" sz="1800" dirty="0"/>
              <a:t>参数</a:t>
            </a:r>
            <a:r>
              <a:rPr lang="en-US" altLang="zh-CN" sz="1800" dirty="0"/>
              <a:t>-I.</a:t>
            </a:r>
            <a:r>
              <a:rPr lang="zh-CN" altLang="en-US" sz="1800" dirty="0"/>
              <a:t>进行打桩，告诉</a:t>
            </a:r>
            <a:r>
              <a:rPr lang="en-US" altLang="zh-CN" sz="1800" dirty="0"/>
              <a:t>C</a:t>
            </a:r>
            <a:r>
              <a:rPr lang="zh-CN" altLang="en-US" sz="1800" dirty="0"/>
              <a:t>预处理器先在当前目录查找</a:t>
            </a:r>
            <a:r>
              <a:rPr lang="en-US" altLang="zh-CN" sz="1800" dirty="0" err="1"/>
              <a:t>malloc.h</a:t>
            </a:r>
            <a:endParaRPr lang="en-US" altLang="zh-CN" sz="1800" dirty="0"/>
          </a:p>
          <a:p>
            <a:pPr lvl="1"/>
            <a:r>
              <a:rPr lang="en-US" altLang="zh-CN" sz="1500" dirty="0" err="1"/>
              <a:t>gcc</a:t>
            </a:r>
            <a:r>
              <a:rPr lang="en-US" altLang="zh-CN" sz="1500" dirty="0"/>
              <a:t> -DCOMPILETIME -c </a:t>
            </a:r>
            <a:r>
              <a:rPr lang="en-US" altLang="zh-CN" sz="1500" dirty="0" err="1"/>
              <a:t>mymalloc.c</a:t>
            </a:r>
            <a:endParaRPr lang="en-US" altLang="zh-CN" sz="1500" dirty="0"/>
          </a:p>
          <a:p>
            <a:pPr lvl="1"/>
            <a:r>
              <a:rPr lang="en-US" altLang="zh-CN" sz="1500" dirty="0" err="1"/>
              <a:t>gcc</a:t>
            </a:r>
            <a:r>
              <a:rPr lang="en-US" altLang="zh-CN" sz="1500" dirty="0"/>
              <a:t> -I. -o </a:t>
            </a:r>
            <a:r>
              <a:rPr lang="en-US" altLang="zh-CN" sz="1500" dirty="0" err="1"/>
              <a:t>intc</a:t>
            </a:r>
            <a:r>
              <a:rPr lang="en-US" altLang="zh-CN" sz="1500" dirty="0"/>
              <a:t> </a:t>
            </a:r>
            <a:r>
              <a:rPr lang="en-US" altLang="zh-CN" sz="1500" dirty="0" err="1"/>
              <a:t>int.c</a:t>
            </a:r>
            <a:r>
              <a:rPr lang="en-US" altLang="zh-CN" sz="1500" dirty="0"/>
              <a:t> </a:t>
            </a:r>
            <a:r>
              <a:rPr lang="en-US" altLang="zh-CN" sz="1500" dirty="0" err="1"/>
              <a:t>mymalloc.o</a:t>
            </a:r>
            <a:endParaRPr lang="en-US" altLang="zh-CN" sz="1500" dirty="0"/>
          </a:p>
          <a:p>
            <a:pPr lvl="1"/>
            <a:r>
              <a:rPr lang="en-US" altLang="zh-CN" sz="1500" dirty="0"/>
              <a:t>./</a:t>
            </a:r>
            <a:r>
              <a:rPr lang="en-US" altLang="zh-CN" sz="1500" dirty="0" err="1"/>
              <a:t>intc</a:t>
            </a:r>
            <a:endParaRPr lang="zh-CN" altLang="en-US" sz="1500" dirty="0"/>
          </a:p>
        </p:txBody>
      </p:sp>
      <p:sp>
        <p:nvSpPr>
          <p:cNvPr id="4" name="灯片编号占位符 3">
            <a:extLst>
              <a:ext uri="{FF2B5EF4-FFF2-40B4-BE49-F238E27FC236}">
                <a16:creationId xmlns:a16="http://schemas.microsoft.com/office/drawing/2014/main" id="{C8A3FB18-E448-4917-893B-EE71C83787D3}"/>
              </a:ext>
            </a:extLst>
          </p:cNvPr>
          <p:cNvSpPr>
            <a:spLocks noGrp="1"/>
          </p:cNvSpPr>
          <p:nvPr>
            <p:ph type="sldNum" sz="quarter" idx="12"/>
          </p:nvPr>
        </p:nvSpPr>
        <p:spPr/>
        <p:txBody>
          <a:bodyPr/>
          <a:lstStyle/>
          <a:p>
            <a:fld id="{6D62327B-ED8D-4CFC-ADD0-A75FA5CBE281}" type="slidenum">
              <a:rPr lang="zh-CN" altLang="en-US" smtClean="0"/>
              <a:pPr/>
              <a:t>61</a:t>
            </a:fld>
            <a:endParaRPr lang="zh-CN" altLang="en-US" dirty="0"/>
          </a:p>
        </p:txBody>
      </p:sp>
      <p:sp>
        <p:nvSpPr>
          <p:cNvPr id="5" name="Rectangle 3">
            <a:extLst>
              <a:ext uri="{FF2B5EF4-FFF2-40B4-BE49-F238E27FC236}">
                <a16:creationId xmlns:a16="http://schemas.microsoft.com/office/drawing/2014/main" id="{67145DD5-7BF8-49FF-96AE-8291AEF86EAE}"/>
              </a:ext>
            </a:extLst>
          </p:cNvPr>
          <p:cNvSpPr>
            <a:spLocks noChangeArrowheads="1"/>
          </p:cNvSpPr>
          <p:nvPr/>
        </p:nvSpPr>
        <p:spPr bwMode="auto">
          <a:xfrm>
            <a:off x="453809" y="2566440"/>
            <a:ext cx="3528392" cy="2554545"/>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en-US" altLang="zh-CN" sz="1600" dirty="0">
                <a:solidFill>
                  <a:schemeClr val="tx1"/>
                </a:solidFill>
                <a:latin typeface="Times New Roman" panose="02020603050405020304" pitchFamily="18" charset="0"/>
                <a:cs typeface="Times New Roman" panose="02020603050405020304" pitchFamily="18" charset="0"/>
              </a:rPr>
              <a:t>#include &lt;</a:t>
            </a:r>
            <a:r>
              <a:rPr lang="en-US" altLang="zh-CN" sz="1600" dirty="0" err="1">
                <a:solidFill>
                  <a:schemeClr val="tx1"/>
                </a:solidFill>
                <a:latin typeface="Times New Roman" panose="02020603050405020304" pitchFamily="18" charset="0"/>
                <a:cs typeface="Times New Roman" panose="02020603050405020304" pitchFamily="18" charset="0"/>
              </a:rPr>
              <a:t>stdio.h</a:t>
            </a:r>
            <a:r>
              <a:rPr lang="en-US" altLang="zh-CN" sz="1600" dirty="0">
                <a:solidFill>
                  <a:schemeClr val="tx1"/>
                </a:solidFill>
                <a:latin typeface="Times New Roman" panose="02020603050405020304" pitchFamily="18" charset="0"/>
                <a:cs typeface="Times New Roman" panose="02020603050405020304" pitchFamily="18" charset="0"/>
              </a:rPr>
              <a:t>&gt;</a:t>
            </a:r>
          </a:p>
          <a:p>
            <a:r>
              <a:rPr lang="en-US" altLang="zh-CN" sz="1600" dirty="0">
                <a:solidFill>
                  <a:schemeClr val="tx1"/>
                </a:solidFill>
                <a:latin typeface="Times New Roman" panose="02020603050405020304" pitchFamily="18" charset="0"/>
                <a:cs typeface="Times New Roman" panose="02020603050405020304" pitchFamily="18" charset="0"/>
              </a:rPr>
              <a:t>#include &lt;</a:t>
            </a:r>
            <a:r>
              <a:rPr lang="en-US" altLang="zh-CN" sz="1600" dirty="0" err="1">
                <a:solidFill>
                  <a:schemeClr val="tx1"/>
                </a:solidFill>
                <a:latin typeface="Times New Roman" panose="02020603050405020304" pitchFamily="18" charset="0"/>
                <a:cs typeface="Times New Roman" panose="02020603050405020304" pitchFamily="18" charset="0"/>
              </a:rPr>
              <a:t>malloc.h</a:t>
            </a:r>
            <a:r>
              <a:rPr lang="en-US" altLang="zh-CN" sz="1600" dirty="0">
                <a:solidFill>
                  <a:schemeClr val="tx1"/>
                </a:solidFill>
                <a:latin typeface="Times New Roman" panose="02020603050405020304" pitchFamily="18" charset="0"/>
                <a:cs typeface="Times New Roman" panose="02020603050405020304" pitchFamily="18" charset="0"/>
              </a:rPr>
              <a:t>&gt;</a:t>
            </a:r>
          </a:p>
          <a:p>
            <a:endParaRPr lang="en-US" altLang="zh-CN" sz="1600" dirty="0">
              <a:solidFill>
                <a:schemeClr val="tx1"/>
              </a:solidFill>
              <a:latin typeface="Times New Roman" panose="02020603050405020304" pitchFamily="18" charset="0"/>
              <a:cs typeface="Times New Roman" panose="02020603050405020304" pitchFamily="18" charset="0"/>
            </a:endParaRPr>
          </a:p>
          <a:p>
            <a:r>
              <a:rPr lang="en-US" altLang="zh-CN" sz="1600" dirty="0">
                <a:solidFill>
                  <a:schemeClr val="tx1"/>
                </a:solidFill>
                <a:latin typeface="Times New Roman" panose="02020603050405020304" pitchFamily="18" charset="0"/>
                <a:cs typeface="Times New Roman" panose="02020603050405020304" pitchFamily="18" charset="0"/>
              </a:rPr>
              <a:t>int main()</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int *p = malloc(32);</a:t>
            </a:r>
          </a:p>
          <a:p>
            <a:r>
              <a:rPr lang="en-US" altLang="zh-CN" sz="1600" dirty="0">
                <a:solidFill>
                  <a:schemeClr val="tx1"/>
                </a:solidFill>
                <a:latin typeface="Times New Roman" panose="02020603050405020304" pitchFamily="18" charset="0"/>
                <a:cs typeface="Times New Roman" panose="02020603050405020304" pitchFamily="18" charset="0"/>
              </a:rPr>
              <a:t>    free(p);</a:t>
            </a:r>
          </a:p>
          <a:p>
            <a:r>
              <a:rPr lang="en-US" altLang="zh-CN" sz="1600" dirty="0">
                <a:solidFill>
                  <a:schemeClr val="tx1"/>
                </a:solidFill>
                <a:latin typeface="Times New Roman" panose="02020603050405020304" pitchFamily="18" charset="0"/>
                <a:cs typeface="Times New Roman" panose="02020603050405020304" pitchFamily="18" charset="0"/>
              </a:rPr>
              <a:t>    return(0); </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int.c</a:t>
            </a:r>
            <a:r>
              <a:rPr lang="en-US" altLang="zh-CN"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21936DBB-61B0-4177-A535-084CEB179636}"/>
              </a:ext>
            </a:extLst>
          </p:cNvPr>
          <p:cNvSpPr>
            <a:spLocks noChangeArrowheads="1"/>
          </p:cNvSpPr>
          <p:nvPr/>
        </p:nvSpPr>
        <p:spPr bwMode="auto">
          <a:xfrm>
            <a:off x="453809" y="5261749"/>
            <a:ext cx="3528392" cy="1323439"/>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en-US" altLang="zh-CN" sz="1600" dirty="0">
                <a:solidFill>
                  <a:schemeClr val="tx1"/>
                </a:solidFill>
                <a:latin typeface="Times New Roman" panose="02020603050405020304" pitchFamily="18" charset="0"/>
                <a:cs typeface="Times New Roman" panose="02020603050405020304" pitchFamily="18" charset="0"/>
              </a:rPr>
              <a:t>#define malloc(size) </a:t>
            </a:r>
            <a:r>
              <a:rPr lang="en-US" altLang="zh-CN" sz="1600" dirty="0" err="1">
                <a:solidFill>
                  <a:schemeClr val="tx1"/>
                </a:solidFill>
                <a:latin typeface="Times New Roman" panose="02020603050405020304" pitchFamily="18" charset="0"/>
                <a:cs typeface="Times New Roman" panose="02020603050405020304" pitchFamily="18" charset="0"/>
              </a:rPr>
              <a:t>mymalloc</a:t>
            </a:r>
            <a:r>
              <a:rPr lang="en-US" altLang="zh-CN" sz="1600" dirty="0">
                <a:solidFill>
                  <a:schemeClr val="tx1"/>
                </a:solidFill>
                <a:latin typeface="Times New Roman" panose="02020603050405020304" pitchFamily="18" charset="0"/>
                <a:cs typeface="Times New Roman" panose="02020603050405020304" pitchFamily="18" charset="0"/>
              </a:rPr>
              <a:t>(size)</a:t>
            </a:r>
          </a:p>
          <a:p>
            <a:r>
              <a:rPr lang="en-US" altLang="zh-CN" sz="1600" dirty="0">
                <a:solidFill>
                  <a:schemeClr val="tx1"/>
                </a:solidFill>
                <a:latin typeface="Times New Roman" panose="02020603050405020304" pitchFamily="18" charset="0"/>
                <a:cs typeface="Times New Roman" panose="02020603050405020304" pitchFamily="18" charset="0"/>
              </a:rPr>
              <a:t>#define free(</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myfree</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mymalloc</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size_t</a:t>
            </a:r>
            <a:r>
              <a:rPr lang="en-US" altLang="zh-CN" sz="1600" dirty="0">
                <a:solidFill>
                  <a:schemeClr val="tx1"/>
                </a:solidFill>
                <a:latin typeface="Times New Roman" panose="02020603050405020304" pitchFamily="18" charset="0"/>
                <a:cs typeface="Times New Roman" panose="02020603050405020304" pitchFamily="18" charset="0"/>
              </a:rPr>
              <a:t> size);</a:t>
            </a:r>
          </a:p>
          <a:p>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myfree</a:t>
            </a:r>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malloc.h</a:t>
            </a:r>
            <a:r>
              <a:rPr lang="en-US" altLang="zh-CN"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7" name="Rectangle 3">
            <a:extLst>
              <a:ext uri="{FF2B5EF4-FFF2-40B4-BE49-F238E27FC236}">
                <a16:creationId xmlns:a16="http://schemas.microsoft.com/office/drawing/2014/main" id="{46A7C478-DFD1-4F13-B010-FA363020B258}"/>
              </a:ext>
            </a:extLst>
          </p:cNvPr>
          <p:cNvSpPr>
            <a:spLocks noChangeArrowheads="1"/>
          </p:cNvSpPr>
          <p:nvPr/>
        </p:nvSpPr>
        <p:spPr bwMode="auto">
          <a:xfrm>
            <a:off x="4114247" y="2307094"/>
            <a:ext cx="4613177" cy="4278094"/>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en-US" altLang="zh-CN" sz="1600" dirty="0">
                <a:solidFill>
                  <a:schemeClr val="tx1"/>
                </a:solidFill>
                <a:latin typeface="Times New Roman" panose="02020603050405020304" pitchFamily="18" charset="0"/>
                <a:cs typeface="Times New Roman" panose="02020603050405020304" pitchFamily="18" charset="0"/>
              </a:rPr>
              <a:t>#ifdef COMPILETIME</a:t>
            </a:r>
          </a:p>
          <a:p>
            <a:r>
              <a:rPr lang="en-US" altLang="zh-CN" sz="1600" dirty="0">
                <a:solidFill>
                  <a:schemeClr val="tx1"/>
                </a:solidFill>
                <a:latin typeface="Times New Roman" panose="02020603050405020304" pitchFamily="18" charset="0"/>
                <a:cs typeface="Times New Roman" panose="02020603050405020304" pitchFamily="18" charset="0"/>
              </a:rPr>
              <a:t>#include &lt;</a:t>
            </a:r>
            <a:r>
              <a:rPr lang="en-US" altLang="zh-CN" sz="1600" dirty="0" err="1">
                <a:solidFill>
                  <a:schemeClr val="tx1"/>
                </a:solidFill>
                <a:latin typeface="Times New Roman" panose="02020603050405020304" pitchFamily="18" charset="0"/>
                <a:cs typeface="Times New Roman" panose="02020603050405020304" pitchFamily="18" charset="0"/>
              </a:rPr>
              <a:t>stdio.h</a:t>
            </a:r>
            <a:r>
              <a:rPr lang="en-US" altLang="zh-CN" sz="1600" dirty="0">
                <a:solidFill>
                  <a:schemeClr val="tx1"/>
                </a:solidFill>
                <a:latin typeface="Times New Roman" panose="02020603050405020304" pitchFamily="18" charset="0"/>
                <a:cs typeface="Times New Roman" panose="02020603050405020304" pitchFamily="18" charset="0"/>
              </a:rPr>
              <a:t>&gt;</a:t>
            </a:r>
          </a:p>
          <a:p>
            <a:r>
              <a:rPr lang="en-US" altLang="zh-CN" sz="1600" dirty="0">
                <a:solidFill>
                  <a:schemeClr val="tx1"/>
                </a:solidFill>
                <a:latin typeface="Times New Roman" panose="02020603050405020304" pitchFamily="18" charset="0"/>
                <a:cs typeface="Times New Roman" panose="02020603050405020304" pitchFamily="18" charset="0"/>
              </a:rPr>
              <a:t>#include &lt;</a:t>
            </a:r>
            <a:r>
              <a:rPr lang="en-US" altLang="zh-CN" sz="1600" dirty="0" err="1">
                <a:solidFill>
                  <a:schemeClr val="tx1"/>
                </a:solidFill>
                <a:latin typeface="Times New Roman" panose="02020603050405020304" pitchFamily="18" charset="0"/>
                <a:cs typeface="Times New Roman" panose="02020603050405020304" pitchFamily="18" charset="0"/>
              </a:rPr>
              <a:t>malloc.h</a:t>
            </a:r>
            <a:r>
              <a:rPr lang="en-US" altLang="zh-CN" sz="1600" dirty="0">
                <a:solidFill>
                  <a:schemeClr val="tx1"/>
                </a:solidFill>
                <a:latin typeface="Times New Roman" panose="02020603050405020304" pitchFamily="18" charset="0"/>
                <a:cs typeface="Times New Roman" panose="02020603050405020304" pitchFamily="18" charset="0"/>
              </a:rPr>
              <a:t>&gt;</a:t>
            </a:r>
          </a:p>
          <a:p>
            <a:r>
              <a:rPr lang="en-US" altLang="zh-CN" sz="1600" dirty="0">
                <a:solidFill>
                  <a:schemeClr val="tx1"/>
                </a:solidFill>
                <a:latin typeface="Times New Roman" panose="02020603050405020304" pitchFamily="18" charset="0"/>
                <a:cs typeface="Times New Roman" panose="02020603050405020304" pitchFamily="18" charset="0"/>
              </a:rPr>
              <a:t>/*malloc wrapper function*/</a:t>
            </a:r>
          </a:p>
          <a:p>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mymalloc</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size_t</a:t>
            </a:r>
            <a:r>
              <a:rPr lang="en-US" altLang="zh-CN" sz="1600" dirty="0">
                <a:solidFill>
                  <a:schemeClr val="tx1"/>
                </a:solidFill>
                <a:latin typeface="Times New Roman" panose="02020603050405020304" pitchFamily="18" charset="0"/>
                <a:cs typeface="Times New Roman" panose="02020603050405020304" pitchFamily="18" charset="0"/>
              </a:rPr>
              <a:t> size)</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void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=malloc(size);</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printf</a:t>
            </a:r>
            <a:r>
              <a:rPr lang="en-US" altLang="zh-CN" sz="1600" dirty="0">
                <a:solidFill>
                  <a:schemeClr val="tx1"/>
                </a:solidFill>
                <a:latin typeface="Times New Roman" panose="02020603050405020304" pitchFamily="18" charset="0"/>
                <a:cs typeface="Times New Roman" panose="02020603050405020304" pitchFamily="18" charset="0"/>
              </a:rPr>
              <a:t>("malloc(%d)=%p\n",(int)size,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return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/*free wrapper function*/</a:t>
            </a:r>
          </a:p>
          <a:p>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myfree</a:t>
            </a:r>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free(</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printf</a:t>
            </a:r>
            <a:r>
              <a:rPr lang="en-US" altLang="zh-CN" sz="1600" dirty="0">
                <a:solidFill>
                  <a:schemeClr val="tx1"/>
                </a:solidFill>
                <a:latin typeface="Times New Roman" panose="02020603050405020304" pitchFamily="18" charset="0"/>
                <a:cs typeface="Times New Roman" panose="02020603050405020304" pitchFamily="18" charset="0"/>
              </a:rPr>
              <a:t>("free (%p)\n",</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#endif /* </a:t>
            </a:r>
            <a:r>
              <a:rPr lang="en-US" altLang="zh-CN" sz="1600" dirty="0" err="1">
                <a:solidFill>
                  <a:schemeClr val="tx1"/>
                </a:solidFill>
                <a:latin typeface="Times New Roman" panose="02020603050405020304" pitchFamily="18" charset="0"/>
                <a:cs typeface="Times New Roman" panose="02020603050405020304" pitchFamily="18" charset="0"/>
              </a:rPr>
              <a:t>mymalloc.c</a:t>
            </a:r>
            <a:r>
              <a:rPr lang="en-US" altLang="zh-CN"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B43CEDDC-4550-4271-B3D6-41D9B16C41BD}"/>
              </a:ext>
            </a:extLst>
          </p:cNvPr>
          <p:cNvPicPr>
            <a:picLocks noChangeAspect="1"/>
          </p:cNvPicPr>
          <p:nvPr/>
        </p:nvPicPr>
        <p:blipFill>
          <a:blip r:embed="rId3"/>
          <a:stretch>
            <a:fillRect/>
          </a:stretch>
        </p:blipFill>
        <p:spPr>
          <a:xfrm>
            <a:off x="4427984" y="1818484"/>
            <a:ext cx="1819275" cy="466725"/>
          </a:xfrm>
          <a:prstGeom prst="rect">
            <a:avLst/>
          </a:prstGeom>
        </p:spPr>
      </p:pic>
    </p:spTree>
    <p:extLst>
      <p:ext uri="{BB962C8B-B14F-4D97-AF65-F5344CB8AC3E}">
        <p14:creationId xmlns:p14="http://schemas.microsoft.com/office/powerpoint/2010/main" val="278896023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EA6E38-D8E0-4A11-AD8B-6967D831FA5A}"/>
              </a:ext>
            </a:extLst>
          </p:cNvPr>
          <p:cNvSpPr>
            <a:spLocks noGrp="1"/>
          </p:cNvSpPr>
          <p:nvPr>
            <p:ph type="title"/>
          </p:nvPr>
        </p:nvSpPr>
        <p:spPr/>
        <p:txBody>
          <a:bodyPr>
            <a:normAutofit fontScale="90000"/>
          </a:bodyPr>
          <a:lstStyle/>
          <a:p>
            <a:r>
              <a:rPr lang="en-US" altLang="zh-CN" dirty="0"/>
              <a:t>7.13.2 </a:t>
            </a:r>
            <a:r>
              <a:rPr lang="zh-CN" altLang="en-US" dirty="0"/>
              <a:t>链接时打桩</a:t>
            </a:r>
          </a:p>
        </p:txBody>
      </p:sp>
      <p:sp>
        <p:nvSpPr>
          <p:cNvPr id="3" name="内容占位符 2">
            <a:extLst>
              <a:ext uri="{FF2B5EF4-FFF2-40B4-BE49-F238E27FC236}">
                <a16:creationId xmlns:a16="http://schemas.microsoft.com/office/drawing/2014/main" id="{7DA2592A-8272-4D6D-A368-701647A59F57}"/>
              </a:ext>
            </a:extLst>
          </p:cNvPr>
          <p:cNvSpPr>
            <a:spLocks noGrp="1"/>
          </p:cNvSpPr>
          <p:nvPr>
            <p:ph idx="1"/>
          </p:nvPr>
        </p:nvSpPr>
        <p:spPr>
          <a:xfrm>
            <a:off x="457200" y="837034"/>
            <a:ext cx="3968451" cy="5289136"/>
          </a:xfrm>
        </p:spPr>
        <p:txBody>
          <a:bodyPr>
            <a:normAutofit/>
          </a:bodyPr>
          <a:lstStyle/>
          <a:p>
            <a:r>
              <a:rPr lang="en-US" altLang="zh-CN" sz="2000" dirty="0"/>
              <a:t>Linux</a:t>
            </a:r>
            <a:r>
              <a:rPr lang="zh-CN" altLang="en-US" sz="2000" dirty="0"/>
              <a:t>静态链接器支持用</a:t>
            </a:r>
            <a:r>
              <a:rPr lang="en-US" altLang="zh-CN" sz="2000" dirty="0"/>
              <a:t>—wrap f</a:t>
            </a:r>
            <a:r>
              <a:rPr lang="zh-CN" altLang="en-US" sz="2000" dirty="0"/>
              <a:t>标志进行链接时打桩，该标志告诉链接器将对符号</a:t>
            </a:r>
            <a:r>
              <a:rPr lang="en-US" altLang="zh-CN" sz="2000" dirty="0"/>
              <a:t>f</a:t>
            </a:r>
            <a:r>
              <a:rPr lang="zh-CN" altLang="en-US" sz="2000" dirty="0"/>
              <a:t>的引用解析为</a:t>
            </a:r>
            <a:r>
              <a:rPr lang="en-US" altLang="zh-CN" sz="2000" dirty="0"/>
              <a:t>__</a:t>
            </a:r>
            <a:r>
              <a:rPr lang="en-US" altLang="zh-CN" sz="2000" dirty="0" err="1"/>
              <a:t>wrap_f</a:t>
            </a:r>
            <a:r>
              <a:rPr lang="zh-CN" altLang="en-US" sz="2000" dirty="0"/>
              <a:t>，把对符号</a:t>
            </a:r>
            <a:r>
              <a:rPr lang="en-US" altLang="zh-CN" sz="2000" dirty="0"/>
              <a:t>__</a:t>
            </a:r>
            <a:r>
              <a:rPr lang="en-US" altLang="zh-CN" sz="2000" dirty="0" err="1"/>
              <a:t>real_f</a:t>
            </a:r>
            <a:r>
              <a:rPr lang="zh-CN" altLang="en-US" sz="2000" dirty="0"/>
              <a:t>的引用解析为</a:t>
            </a:r>
            <a:r>
              <a:rPr lang="en-US" altLang="zh-CN" sz="2000" dirty="0"/>
              <a:t>f</a:t>
            </a:r>
          </a:p>
          <a:p>
            <a:pPr lvl="1"/>
            <a:r>
              <a:rPr lang="en-US" altLang="zh-CN" sz="2000" dirty="0" err="1"/>
              <a:t>gcc</a:t>
            </a:r>
            <a:r>
              <a:rPr lang="en-US" altLang="zh-CN" sz="2000" dirty="0"/>
              <a:t> -DLINKTIME -c </a:t>
            </a:r>
            <a:r>
              <a:rPr lang="en-US" altLang="zh-CN" sz="2000" dirty="0" err="1"/>
              <a:t>mymalloc_wrap.c</a:t>
            </a:r>
            <a:endParaRPr lang="en-US" altLang="zh-CN" sz="2000" dirty="0"/>
          </a:p>
          <a:p>
            <a:pPr lvl="1"/>
            <a:r>
              <a:rPr lang="en-US" altLang="zh-CN" sz="2000" dirty="0" err="1">
                <a:solidFill>
                  <a:srgbClr val="00B050"/>
                </a:solidFill>
              </a:rPr>
              <a:t>gcc</a:t>
            </a:r>
            <a:r>
              <a:rPr lang="en-US" altLang="zh-CN" sz="2000" dirty="0">
                <a:solidFill>
                  <a:srgbClr val="00B050"/>
                </a:solidFill>
              </a:rPr>
              <a:t> -c </a:t>
            </a:r>
            <a:r>
              <a:rPr lang="en-US" altLang="zh-CN" sz="2000" dirty="0" err="1">
                <a:solidFill>
                  <a:srgbClr val="00B050"/>
                </a:solidFill>
              </a:rPr>
              <a:t>int.c</a:t>
            </a:r>
            <a:endParaRPr lang="en-US" altLang="zh-CN" sz="2000" dirty="0">
              <a:solidFill>
                <a:srgbClr val="00B050"/>
              </a:solidFill>
            </a:endParaRPr>
          </a:p>
          <a:p>
            <a:pPr lvl="1"/>
            <a:r>
              <a:rPr lang="en-US" altLang="zh-CN" sz="2000" dirty="0" err="1"/>
              <a:t>gcc</a:t>
            </a:r>
            <a:r>
              <a:rPr lang="en-US" altLang="zh-CN" sz="2000" dirty="0"/>
              <a:t> -</a:t>
            </a:r>
            <a:r>
              <a:rPr lang="en-US" altLang="zh-CN" sz="2000" dirty="0" err="1"/>
              <a:t>Wl</a:t>
            </a:r>
            <a:r>
              <a:rPr lang="en-US" altLang="zh-CN" sz="2000" dirty="0"/>
              <a:t>,--</a:t>
            </a:r>
            <a:r>
              <a:rPr lang="en-US" altLang="zh-CN" sz="2000" dirty="0" err="1"/>
              <a:t>wrap,malloc</a:t>
            </a:r>
            <a:r>
              <a:rPr lang="en-US" altLang="zh-CN" sz="2000" dirty="0"/>
              <a:t> -</a:t>
            </a:r>
            <a:r>
              <a:rPr lang="en-US" altLang="zh-CN" sz="2000" dirty="0" err="1"/>
              <a:t>Wl</a:t>
            </a:r>
            <a:r>
              <a:rPr lang="en-US" altLang="zh-CN" sz="2000" dirty="0"/>
              <a:t>,--</a:t>
            </a:r>
            <a:r>
              <a:rPr lang="en-US" altLang="zh-CN" sz="2000" dirty="0" err="1"/>
              <a:t>wrap,free</a:t>
            </a:r>
            <a:r>
              <a:rPr lang="en-US" altLang="zh-CN" sz="2000" dirty="0"/>
              <a:t> -o int1 </a:t>
            </a:r>
            <a:r>
              <a:rPr lang="en-US" altLang="zh-CN" sz="2000" dirty="0" err="1"/>
              <a:t>int.o</a:t>
            </a:r>
            <a:r>
              <a:rPr lang="en-US" altLang="zh-CN" sz="2000" dirty="0"/>
              <a:t> </a:t>
            </a:r>
            <a:r>
              <a:rPr lang="en-US" altLang="zh-CN" sz="2000" dirty="0" err="1"/>
              <a:t>mymalloc_wrap.o</a:t>
            </a:r>
            <a:endParaRPr lang="en-US" altLang="zh-CN" sz="2000" dirty="0"/>
          </a:p>
          <a:p>
            <a:pPr lvl="1"/>
            <a:r>
              <a:rPr lang="en-US" altLang="zh-CN" sz="2000" dirty="0"/>
              <a:t>./int1</a:t>
            </a:r>
            <a:endParaRPr lang="zh-CN" altLang="en-US" sz="2000" dirty="0"/>
          </a:p>
        </p:txBody>
      </p:sp>
      <p:sp>
        <p:nvSpPr>
          <p:cNvPr id="4" name="灯片编号占位符 3">
            <a:extLst>
              <a:ext uri="{FF2B5EF4-FFF2-40B4-BE49-F238E27FC236}">
                <a16:creationId xmlns:a16="http://schemas.microsoft.com/office/drawing/2014/main" id="{DA3ED561-10D1-4A94-B526-4B8440190BCC}"/>
              </a:ext>
            </a:extLst>
          </p:cNvPr>
          <p:cNvSpPr>
            <a:spLocks noGrp="1"/>
          </p:cNvSpPr>
          <p:nvPr>
            <p:ph type="sldNum" sz="quarter" idx="12"/>
          </p:nvPr>
        </p:nvSpPr>
        <p:spPr/>
        <p:txBody>
          <a:bodyPr/>
          <a:lstStyle/>
          <a:p>
            <a:fld id="{6D62327B-ED8D-4CFC-ADD0-A75FA5CBE281}" type="slidenum">
              <a:rPr lang="zh-CN" altLang="en-US" smtClean="0"/>
              <a:pPr/>
              <a:t>62</a:t>
            </a:fld>
            <a:endParaRPr lang="zh-CN" altLang="en-US" dirty="0"/>
          </a:p>
        </p:txBody>
      </p:sp>
      <p:pic>
        <p:nvPicPr>
          <p:cNvPr id="5" name="图片 4">
            <a:extLst>
              <a:ext uri="{FF2B5EF4-FFF2-40B4-BE49-F238E27FC236}">
                <a16:creationId xmlns:a16="http://schemas.microsoft.com/office/drawing/2014/main" id="{36F56D62-8DC2-4A66-99F7-EA539C147318}"/>
              </a:ext>
            </a:extLst>
          </p:cNvPr>
          <p:cNvPicPr>
            <a:picLocks noChangeAspect="1"/>
          </p:cNvPicPr>
          <p:nvPr/>
        </p:nvPicPr>
        <p:blipFill>
          <a:blip r:embed="rId2"/>
          <a:stretch>
            <a:fillRect/>
          </a:stretch>
        </p:blipFill>
        <p:spPr>
          <a:xfrm>
            <a:off x="755576" y="4941168"/>
            <a:ext cx="2849678" cy="720080"/>
          </a:xfrm>
          <a:prstGeom prst="rect">
            <a:avLst/>
          </a:prstGeom>
        </p:spPr>
      </p:pic>
      <p:sp>
        <p:nvSpPr>
          <p:cNvPr id="6" name="Rectangle 3">
            <a:extLst>
              <a:ext uri="{FF2B5EF4-FFF2-40B4-BE49-F238E27FC236}">
                <a16:creationId xmlns:a16="http://schemas.microsoft.com/office/drawing/2014/main" id="{C63EC276-6382-41D7-99EC-8385C653D9CF}"/>
              </a:ext>
            </a:extLst>
          </p:cNvPr>
          <p:cNvSpPr>
            <a:spLocks noChangeArrowheads="1"/>
          </p:cNvSpPr>
          <p:nvPr/>
        </p:nvSpPr>
        <p:spPr bwMode="auto">
          <a:xfrm>
            <a:off x="4425651" y="1043731"/>
            <a:ext cx="4613177" cy="4770537"/>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en-US" altLang="zh-CN" sz="1600" dirty="0">
                <a:solidFill>
                  <a:schemeClr val="tx1"/>
                </a:solidFill>
                <a:latin typeface="Times New Roman" panose="02020603050405020304" pitchFamily="18" charset="0"/>
                <a:cs typeface="Times New Roman" panose="02020603050405020304" pitchFamily="18" charset="0"/>
              </a:rPr>
              <a:t>#ifdef LINKTIME</a:t>
            </a:r>
          </a:p>
          <a:p>
            <a:r>
              <a:rPr lang="en-US" altLang="zh-CN" sz="1600" dirty="0">
                <a:solidFill>
                  <a:schemeClr val="tx1"/>
                </a:solidFill>
                <a:latin typeface="Times New Roman" panose="02020603050405020304" pitchFamily="18" charset="0"/>
                <a:cs typeface="Times New Roman" panose="02020603050405020304" pitchFamily="18" charset="0"/>
              </a:rPr>
              <a:t>#include &lt;</a:t>
            </a:r>
            <a:r>
              <a:rPr lang="en-US" altLang="zh-CN" sz="1600" dirty="0" err="1">
                <a:solidFill>
                  <a:schemeClr val="tx1"/>
                </a:solidFill>
                <a:latin typeface="Times New Roman" panose="02020603050405020304" pitchFamily="18" charset="0"/>
                <a:cs typeface="Times New Roman" panose="02020603050405020304" pitchFamily="18" charset="0"/>
              </a:rPr>
              <a:t>stdio.h</a:t>
            </a:r>
            <a:r>
              <a:rPr lang="en-US" altLang="zh-CN" sz="1600" dirty="0">
                <a:solidFill>
                  <a:schemeClr val="tx1"/>
                </a:solidFill>
                <a:latin typeface="Times New Roman" panose="02020603050405020304" pitchFamily="18" charset="0"/>
                <a:cs typeface="Times New Roman" panose="02020603050405020304" pitchFamily="18" charset="0"/>
              </a:rPr>
              <a:t>&gt;</a:t>
            </a:r>
          </a:p>
          <a:p>
            <a:r>
              <a:rPr lang="en-US" altLang="zh-CN" sz="1600" dirty="0">
                <a:solidFill>
                  <a:schemeClr val="tx1"/>
                </a:solidFill>
                <a:latin typeface="Times New Roman" panose="02020603050405020304" pitchFamily="18" charset="0"/>
                <a:cs typeface="Times New Roman" panose="02020603050405020304" pitchFamily="18" charset="0"/>
              </a:rPr>
              <a:t>void *__</a:t>
            </a:r>
            <a:r>
              <a:rPr lang="en-US" altLang="zh-CN" sz="1600" dirty="0" err="1">
                <a:solidFill>
                  <a:schemeClr val="tx1"/>
                </a:solidFill>
                <a:latin typeface="Times New Roman" panose="02020603050405020304" pitchFamily="18" charset="0"/>
                <a:cs typeface="Times New Roman" panose="02020603050405020304" pitchFamily="18" charset="0"/>
              </a:rPr>
              <a:t>real_malloc</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size_t</a:t>
            </a:r>
            <a:r>
              <a:rPr lang="en-US" altLang="zh-CN" sz="1600" dirty="0">
                <a:solidFill>
                  <a:schemeClr val="tx1"/>
                </a:solidFill>
                <a:latin typeface="Times New Roman" panose="02020603050405020304" pitchFamily="18" charset="0"/>
                <a:cs typeface="Times New Roman" panose="02020603050405020304" pitchFamily="18" charset="0"/>
              </a:rPr>
              <a:t> size);</a:t>
            </a:r>
          </a:p>
          <a:p>
            <a:r>
              <a:rPr lang="en-US" altLang="zh-CN" sz="1600" dirty="0">
                <a:solidFill>
                  <a:schemeClr val="tx1"/>
                </a:solidFill>
                <a:latin typeface="Times New Roman" panose="02020603050405020304" pitchFamily="18" charset="0"/>
                <a:cs typeface="Times New Roman" panose="02020603050405020304" pitchFamily="18" charset="0"/>
              </a:rPr>
              <a:t>void __</a:t>
            </a:r>
            <a:r>
              <a:rPr lang="en-US" altLang="zh-CN" sz="1600" dirty="0" err="1">
                <a:solidFill>
                  <a:schemeClr val="tx1"/>
                </a:solidFill>
                <a:latin typeface="Times New Roman" panose="02020603050405020304" pitchFamily="18" charset="0"/>
                <a:cs typeface="Times New Roman" panose="02020603050405020304" pitchFamily="18" charset="0"/>
              </a:rPr>
              <a:t>real_free</a:t>
            </a:r>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/*malloc wrapper function*/</a:t>
            </a:r>
          </a:p>
          <a:p>
            <a:r>
              <a:rPr lang="en-US" altLang="zh-CN" sz="1600" dirty="0">
                <a:solidFill>
                  <a:schemeClr val="tx1"/>
                </a:solidFill>
                <a:latin typeface="Times New Roman" panose="02020603050405020304" pitchFamily="18" charset="0"/>
                <a:cs typeface="Times New Roman" panose="02020603050405020304" pitchFamily="18" charset="0"/>
              </a:rPr>
              <a:t>void *__</a:t>
            </a:r>
            <a:r>
              <a:rPr lang="en-US" altLang="zh-CN" sz="1600" dirty="0" err="1">
                <a:solidFill>
                  <a:schemeClr val="tx1"/>
                </a:solidFill>
                <a:latin typeface="Times New Roman" panose="02020603050405020304" pitchFamily="18" charset="0"/>
                <a:cs typeface="Times New Roman" panose="02020603050405020304" pitchFamily="18" charset="0"/>
              </a:rPr>
              <a:t>wrap_malloc</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size_t</a:t>
            </a:r>
            <a:r>
              <a:rPr lang="en-US" altLang="zh-CN" sz="1600" dirty="0">
                <a:solidFill>
                  <a:schemeClr val="tx1"/>
                </a:solidFill>
                <a:latin typeface="Times New Roman" panose="02020603050405020304" pitchFamily="18" charset="0"/>
                <a:cs typeface="Times New Roman" panose="02020603050405020304" pitchFamily="18" charset="0"/>
              </a:rPr>
              <a:t> size)</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void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=__</a:t>
            </a:r>
            <a:r>
              <a:rPr lang="en-US" altLang="zh-CN" sz="1600" dirty="0" err="1">
                <a:solidFill>
                  <a:schemeClr val="tx1"/>
                </a:solidFill>
                <a:latin typeface="Times New Roman" panose="02020603050405020304" pitchFamily="18" charset="0"/>
                <a:cs typeface="Times New Roman" panose="02020603050405020304" pitchFamily="18" charset="0"/>
              </a:rPr>
              <a:t>real_malloc</a:t>
            </a:r>
            <a:r>
              <a:rPr lang="en-US" altLang="zh-CN" sz="1600" dirty="0">
                <a:solidFill>
                  <a:schemeClr val="tx1"/>
                </a:solidFill>
                <a:latin typeface="Times New Roman" panose="02020603050405020304" pitchFamily="18" charset="0"/>
                <a:cs typeface="Times New Roman" panose="02020603050405020304" pitchFamily="18" charset="0"/>
              </a:rPr>
              <a:t>(size);// call </a:t>
            </a:r>
            <a:r>
              <a:rPr lang="en-US" altLang="zh-CN" sz="1600" dirty="0" err="1">
                <a:solidFill>
                  <a:schemeClr val="tx1"/>
                </a:solidFill>
                <a:latin typeface="Times New Roman" panose="02020603050405020304" pitchFamily="18" charset="0"/>
                <a:cs typeface="Times New Roman" panose="02020603050405020304" pitchFamily="18" charset="0"/>
              </a:rPr>
              <a:t>libc</a:t>
            </a:r>
            <a:r>
              <a:rPr lang="en-US" altLang="zh-CN" sz="1600" dirty="0">
                <a:solidFill>
                  <a:schemeClr val="tx1"/>
                </a:solidFill>
                <a:latin typeface="Times New Roman" panose="02020603050405020304" pitchFamily="18" charset="0"/>
                <a:cs typeface="Times New Roman" panose="02020603050405020304" pitchFamily="18" charset="0"/>
              </a:rPr>
              <a:t> malloc</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printf</a:t>
            </a:r>
            <a:r>
              <a:rPr lang="en-US" altLang="zh-CN" sz="1600" dirty="0">
                <a:solidFill>
                  <a:schemeClr val="tx1"/>
                </a:solidFill>
                <a:latin typeface="Times New Roman" panose="02020603050405020304" pitchFamily="18" charset="0"/>
                <a:cs typeface="Times New Roman" panose="02020603050405020304" pitchFamily="18" charset="0"/>
              </a:rPr>
              <a:t>("malloc(%d)=%p\n",(int)size,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return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/*free wrapper function*/</a:t>
            </a:r>
          </a:p>
          <a:p>
            <a:r>
              <a:rPr lang="en-US" altLang="zh-CN" sz="1600" dirty="0">
                <a:solidFill>
                  <a:schemeClr val="tx1"/>
                </a:solidFill>
                <a:latin typeface="Times New Roman" panose="02020603050405020304" pitchFamily="18" charset="0"/>
                <a:cs typeface="Times New Roman" panose="02020603050405020304" pitchFamily="18" charset="0"/>
              </a:rPr>
              <a:t>void __</a:t>
            </a:r>
            <a:r>
              <a:rPr lang="en-US" altLang="zh-CN" sz="1600" dirty="0" err="1">
                <a:solidFill>
                  <a:schemeClr val="tx1"/>
                </a:solidFill>
                <a:latin typeface="Times New Roman" panose="02020603050405020304" pitchFamily="18" charset="0"/>
                <a:cs typeface="Times New Roman" panose="02020603050405020304" pitchFamily="18" charset="0"/>
              </a:rPr>
              <a:t>wrap_free</a:t>
            </a:r>
            <a:r>
              <a:rPr lang="en-US" altLang="zh-CN" sz="1600" dirty="0">
                <a:solidFill>
                  <a:schemeClr val="tx1"/>
                </a:solidFill>
                <a:latin typeface="Times New Roman" panose="02020603050405020304" pitchFamily="18" charset="0"/>
                <a:cs typeface="Times New Roman" panose="02020603050405020304" pitchFamily="18" charset="0"/>
              </a:rPr>
              <a:t>(void *</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        __</a:t>
            </a:r>
            <a:r>
              <a:rPr lang="en-US" altLang="zh-CN" sz="1600" dirty="0" err="1">
                <a:solidFill>
                  <a:schemeClr val="tx1"/>
                </a:solidFill>
                <a:latin typeface="Times New Roman" panose="02020603050405020304" pitchFamily="18" charset="0"/>
                <a:cs typeface="Times New Roman" panose="02020603050405020304" pitchFamily="18" charset="0"/>
              </a:rPr>
              <a:t>real_free</a:t>
            </a:r>
            <a:r>
              <a:rPr lang="en-US" altLang="zh-CN" sz="1600" dirty="0">
                <a:solidFill>
                  <a:schemeClr val="tx1"/>
                </a:solidFill>
                <a:latin typeface="Times New Roman" panose="02020603050405020304" pitchFamily="18" charset="0"/>
                <a:cs typeface="Times New Roman" panose="02020603050405020304" pitchFamily="18" charset="0"/>
              </a:rPr>
              <a:t>(</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);//call </a:t>
            </a:r>
            <a:r>
              <a:rPr lang="en-US" altLang="zh-CN" sz="1600" dirty="0" err="1">
                <a:solidFill>
                  <a:schemeClr val="tx1"/>
                </a:solidFill>
                <a:latin typeface="Times New Roman" panose="02020603050405020304" pitchFamily="18" charset="0"/>
                <a:cs typeface="Times New Roman" panose="02020603050405020304" pitchFamily="18" charset="0"/>
              </a:rPr>
              <a:t>libc</a:t>
            </a:r>
            <a:r>
              <a:rPr lang="en-US" altLang="zh-CN" sz="1600" dirty="0">
                <a:solidFill>
                  <a:schemeClr val="tx1"/>
                </a:solidFill>
                <a:latin typeface="Times New Roman" panose="02020603050405020304" pitchFamily="18" charset="0"/>
                <a:cs typeface="Times New Roman" panose="02020603050405020304" pitchFamily="18" charset="0"/>
              </a:rPr>
              <a:t> free</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printf</a:t>
            </a:r>
            <a:r>
              <a:rPr lang="en-US" altLang="zh-CN" sz="1600" dirty="0">
                <a:solidFill>
                  <a:schemeClr val="tx1"/>
                </a:solidFill>
                <a:latin typeface="Times New Roman" panose="02020603050405020304" pitchFamily="18" charset="0"/>
                <a:cs typeface="Times New Roman" panose="02020603050405020304" pitchFamily="18" charset="0"/>
              </a:rPr>
              <a:t>("free (%p)\n",</a:t>
            </a:r>
            <a:r>
              <a:rPr lang="en-US" altLang="zh-CN" sz="1600" dirty="0" err="1">
                <a:solidFill>
                  <a:schemeClr val="tx1"/>
                </a:solidFill>
                <a:latin typeface="Times New Roman" panose="02020603050405020304" pitchFamily="18" charset="0"/>
                <a:cs typeface="Times New Roman" panose="02020603050405020304" pitchFamily="18" charset="0"/>
              </a:rPr>
              <a:t>ptr</a:t>
            </a:r>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a:t>
            </a:r>
          </a:p>
          <a:p>
            <a:r>
              <a:rPr lang="en-US" altLang="zh-CN" sz="1600" dirty="0">
                <a:solidFill>
                  <a:schemeClr val="tx1"/>
                </a:solidFill>
                <a:latin typeface="Times New Roman" panose="02020603050405020304" pitchFamily="18" charset="0"/>
                <a:cs typeface="Times New Roman" panose="02020603050405020304" pitchFamily="18" charset="0"/>
              </a:rPr>
              <a:t>#endif</a:t>
            </a:r>
          </a:p>
          <a:p>
            <a:r>
              <a:rPr lang="en-US" altLang="zh-CN" sz="1600" dirty="0">
                <a:solidFill>
                  <a:schemeClr val="tx1"/>
                </a:solidFill>
                <a:latin typeface="Times New Roman" panose="02020603050405020304" pitchFamily="18" charset="0"/>
                <a:cs typeface="Times New Roman" panose="02020603050405020304" pitchFamily="18" charset="0"/>
              </a:rPr>
              <a:t>/* </a:t>
            </a:r>
            <a:r>
              <a:rPr lang="en-US" altLang="zh-CN" sz="1600" dirty="0" err="1">
                <a:solidFill>
                  <a:schemeClr val="tx1"/>
                </a:solidFill>
                <a:latin typeface="Times New Roman" panose="02020603050405020304" pitchFamily="18" charset="0"/>
                <a:cs typeface="Times New Roman" panose="02020603050405020304" pitchFamily="18" charset="0"/>
              </a:rPr>
              <a:t>mymalloc.c</a:t>
            </a:r>
            <a:r>
              <a:rPr lang="en-US" altLang="zh-CN"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85754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ECD77C-13A0-4F9D-9453-130545F49CF6}"/>
              </a:ext>
            </a:extLst>
          </p:cNvPr>
          <p:cNvSpPr>
            <a:spLocks noGrp="1"/>
          </p:cNvSpPr>
          <p:nvPr>
            <p:ph type="title"/>
          </p:nvPr>
        </p:nvSpPr>
        <p:spPr/>
        <p:txBody>
          <a:bodyPr>
            <a:normAutofit fontScale="90000"/>
          </a:bodyPr>
          <a:lstStyle/>
          <a:p>
            <a:r>
              <a:rPr lang="en-US" altLang="zh-CN" dirty="0"/>
              <a:t>7.13.3 </a:t>
            </a:r>
            <a:r>
              <a:rPr lang="zh-CN" altLang="en-US" dirty="0"/>
              <a:t>运行时打桩</a:t>
            </a:r>
          </a:p>
        </p:txBody>
      </p:sp>
      <p:sp>
        <p:nvSpPr>
          <p:cNvPr id="3" name="内容占位符 2">
            <a:extLst>
              <a:ext uri="{FF2B5EF4-FFF2-40B4-BE49-F238E27FC236}">
                <a16:creationId xmlns:a16="http://schemas.microsoft.com/office/drawing/2014/main" id="{CD0711CF-0B30-4595-BF05-A9C38E3CDC82}"/>
              </a:ext>
            </a:extLst>
          </p:cNvPr>
          <p:cNvSpPr>
            <a:spLocks noGrp="1"/>
          </p:cNvSpPr>
          <p:nvPr>
            <p:ph idx="1"/>
          </p:nvPr>
        </p:nvSpPr>
        <p:spPr/>
        <p:txBody>
          <a:bodyPr/>
          <a:lstStyle/>
          <a:p>
            <a:r>
              <a:rPr lang="zh-CN" altLang="en-US" dirty="0"/>
              <a:t>三种打桩方式的条件：</a:t>
            </a:r>
            <a:endParaRPr lang="en-US" altLang="zh-CN" dirty="0"/>
          </a:p>
          <a:p>
            <a:pPr lvl="1"/>
            <a:r>
              <a:rPr lang="zh-CN" altLang="en-US" dirty="0"/>
              <a:t>编译时打桩：需要能够访问程序的源代码</a:t>
            </a:r>
            <a:endParaRPr lang="en-US" altLang="zh-CN" dirty="0"/>
          </a:p>
          <a:p>
            <a:pPr lvl="1"/>
            <a:r>
              <a:rPr lang="zh-CN" altLang="en-US" dirty="0"/>
              <a:t>链接时打桩：需要能够访问程序的可重定位对象文件</a:t>
            </a:r>
            <a:endParaRPr lang="en-US" altLang="zh-CN" dirty="0"/>
          </a:p>
          <a:p>
            <a:pPr lvl="1"/>
            <a:r>
              <a:rPr lang="zh-CN" altLang="en-US" dirty="0"/>
              <a:t>运行时打桩：只需要能够访问可执行目标文件</a:t>
            </a:r>
            <a:endParaRPr lang="en-US" altLang="zh-CN" dirty="0"/>
          </a:p>
          <a:p>
            <a:pPr lvl="2"/>
            <a:r>
              <a:rPr lang="zh-CN" altLang="en-US" dirty="0"/>
              <a:t>原理：</a:t>
            </a:r>
            <a:r>
              <a:rPr lang="en-US" altLang="zh-CN" dirty="0"/>
              <a:t>LD_PRELOAD</a:t>
            </a:r>
            <a:r>
              <a:rPr lang="zh-CN" altLang="en-US" dirty="0"/>
              <a:t>环境变量指标共享库搜索路径，动态链接器</a:t>
            </a:r>
            <a:r>
              <a:rPr lang="en-US" altLang="zh-CN" dirty="0"/>
              <a:t>LD-LINUX.SO</a:t>
            </a:r>
            <a:r>
              <a:rPr lang="zh-CN" altLang="en-US" dirty="0"/>
              <a:t>先搜索</a:t>
            </a:r>
            <a:r>
              <a:rPr lang="en-US" altLang="zh-CN" dirty="0"/>
              <a:t>LD_PRELOAD</a:t>
            </a:r>
            <a:r>
              <a:rPr lang="zh-CN" altLang="en-US" dirty="0"/>
              <a:t>库</a:t>
            </a:r>
            <a:endParaRPr lang="en-US" altLang="zh-CN" dirty="0"/>
          </a:p>
          <a:p>
            <a:pPr lvl="1"/>
            <a:endParaRPr lang="zh-CN" altLang="en-US" dirty="0"/>
          </a:p>
        </p:txBody>
      </p:sp>
      <p:sp>
        <p:nvSpPr>
          <p:cNvPr id="4" name="灯片编号占位符 3">
            <a:extLst>
              <a:ext uri="{FF2B5EF4-FFF2-40B4-BE49-F238E27FC236}">
                <a16:creationId xmlns:a16="http://schemas.microsoft.com/office/drawing/2014/main" id="{02401A0E-0E33-40CB-8497-1E59BB3795B9}"/>
              </a:ext>
            </a:extLst>
          </p:cNvPr>
          <p:cNvSpPr>
            <a:spLocks noGrp="1"/>
          </p:cNvSpPr>
          <p:nvPr>
            <p:ph type="sldNum" sz="quarter" idx="12"/>
          </p:nvPr>
        </p:nvSpPr>
        <p:spPr/>
        <p:txBody>
          <a:bodyPr/>
          <a:lstStyle/>
          <a:p>
            <a:fld id="{6D62327B-ED8D-4CFC-ADD0-A75FA5CBE281}" type="slidenum">
              <a:rPr lang="zh-CN" altLang="en-US" smtClean="0"/>
              <a:pPr/>
              <a:t>63</a:t>
            </a:fld>
            <a:endParaRPr lang="zh-CN" altLang="en-US" dirty="0"/>
          </a:p>
        </p:txBody>
      </p:sp>
    </p:spTree>
    <p:extLst>
      <p:ext uri="{BB962C8B-B14F-4D97-AF65-F5344CB8AC3E}">
        <p14:creationId xmlns:p14="http://schemas.microsoft.com/office/powerpoint/2010/main" val="177140682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5124A8-7CC4-4C6B-BEB4-F21880A5FC12}"/>
              </a:ext>
            </a:extLst>
          </p:cNvPr>
          <p:cNvSpPr>
            <a:spLocks noGrp="1"/>
          </p:cNvSpPr>
          <p:nvPr>
            <p:ph type="title"/>
          </p:nvPr>
        </p:nvSpPr>
        <p:spPr/>
        <p:txBody>
          <a:bodyPr>
            <a:normAutofit fontScale="90000"/>
          </a:bodyPr>
          <a:lstStyle/>
          <a:p>
            <a:r>
              <a:rPr lang="zh-CN" altLang="en-US" dirty="0"/>
              <a:t>运行时打桩示例</a:t>
            </a:r>
          </a:p>
        </p:txBody>
      </p:sp>
      <p:sp>
        <p:nvSpPr>
          <p:cNvPr id="4" name="灯片编号占位符 3">
            <a:extLst>
              <a:ext uri="{FF2B5EF4-FFF2-40B4-BE49-F238E27FC236}">
                <a16:creationId xmlns:a16="http://schemas.microsoft.com/office/drawing/2014/main" id="{9DCC1E34-C36A-400D-8C99-33B895A61031}"/>
              </a:ext>
            </a:extLst>
          </p:cNvPr>
          <p:cNvSpPr>
            <a:spLocks noGrp="1"/>
          </p:cNvSpPr>
          <p:nvPr>
            <p:ph type="sldNum" sz="quarter" idx="12"/>
          </p:nvPr>
        </p:nvSpPr>
        <p:spPr/>
        <p:txBody>
          <a:bodyPr/>
          <a:lstStyle/>
          <a:p>
            <a:fld id="{6D62327B-ED8D-4CFC-ADD0-A75FA5CBE281}" type="slidenum">
              <a:rPr lang="zh-CN" altLang="en-US" smtClean="0"/>
              <a:pPr/>
              <a:t>64</a:t>
            </a:fld>
            <a:endParaRPr lang="zh-CN" altLang="en-US" dirty="0"/>
          </a:p>
        </p:txBody>
      </p:sp>
      <p:sp>
        <p:nvSpPr>
          <p:cNvPr id="5" name="内容占位符 2">
            <a:extLst>
              <a:ext uri="{FF2B5EF4-FFF2-40B4-BE49-F238E27FC236}">
                <a16:creationId xmlns:a16="http://schemas.microsoft.com/office/drawing/2014/main" id="{09F8CDFF-17ED-4639-959B-F2C7F764F6B5}"/>
              </a:ext>
            </a:extLst>
          </p:cNvPr>
          <p:cNvSpPr>
            <a:spLocks noGrp="1"/>
          </p:cNvSpPr>
          <p:nvPr>
            <p:ph idx="1"/>
          </p:nvPr>
        </p:nvSpPr>
        <p:spPr>
          <a:xfrm>
            <a:off x="149324" y="837034"/>
            <a:ext cx="4276328" cy="5289136"/>
          </a:xfrm>
        </p:spPr>
        <p:txBody>
          <a:bodyPr>
            <a:normAutofit/>
          </a:bodyPr>
          <a:lstStyle/>
          <a:p>
            <a:r>
              <a:rPr lang="zh-CN" altLang="en-US" sz="1800" dirty="0"/>
              <a:t>在</a:t>
            </a:r>
            <a:r>
              <a:rPr lang="en-US" altLang="zh-CN" sz="1800" dirty="0"/>
              <a:t>malloc</a:t>
            </a:r>
            <a:r>
              <a:rPr lang="zh-CN" altLang="en-US" sz="1800" dirty="0"/>
              <a:t>和</a:t>
            </a:r>
            <a:r>
              <a:rPr lang="en-US" altLang="zh-CN" sz="1800" dirty="0"/>
              <a:t>free</a:t>
            </a:r>
            <a:r>
              <a:rPr lang="zh-CN" altLang="en-US" sz="1800" dirty="0"/>
              <a:t>包装函数中，对</a:t>
            </a:r>
            <a:r>
              <a:rPr lang="en-US" altLang="zh-CN" sz="1800" dirty="0" err="1"/>
              <a:t>dlsym</a:t>
            </a:r>
            <a:r>
              <a:rPr lang="zh-CN" altLang="en-US" sz="1800" dirty="0"/>
              <a:t>的调用返回指向目标</a:t>
            </a:r>
            <a:r>
              <a:rPr lang="en-US" altLang="zh-CN" sz="1800" dirty="0" err="1"/>
              <a:t>libc</a:t>
            </a:r>
            <a:r>
              <a:rPr lang="zh-CN" altLang="en-US" sz="1800" dirty="0"/>
              <a:t>函数的指针，包装函数调用目标函数，打印追踪记录，再返回</a:t>
            </a:r>
            <a:endParaRPr lang="en-US" altLang="zh-CN" sz="1800" dirty="0"/>
          </a:p>
          <a:p>
            <a:r>
              <a:rPr lang="zh-CN" altLang="en-US" sz="1800" dirty="0"/>
              <a:t>构建包含包装函数共享库的方法：</a:t>
            </a:r>
            <a:endParaRPr lang="en-US" altLang="zh-CN" sz="1800" dirty="0"/>
          </a:p>
          <a:p>
            <a:pPr lvl="1"/>
            <a:r>
              <a:rPr lang="en-US" altLang="zh-CN" sz="1600" dirty="0" err="1"/>
              <a:t>gcc</a:t>
            </a:r>
            <a:r>
              <a:rPr lang="en-US" altLang="zh-CN" sz="1600" dirty="0"/>
              <a:t> -DRUNTIME -shared -</a:t>
            </a:r>
            <a:r>
              <a:rPr lang="en-US" altLang="zh-CN" sz="1600" dirty="0" err="1"/>
              <a:t>fpic</a:t>
            </a:r>
            <a:r>
              <a:rPr lang="en-US" altLang="zh-CN" sz="1600" dirty="0"/>
              <a:t> -o mymalloc_ld.so </a:t>
            </a:r>
            <a:r>
              <a:rPr lang="en-US" altLang="zh-CN" sz="1600" dirty="0" err="1"/>
              <a:t>mymalloc_ld.c</a:t>
            </a:r>
            <a:r>
              <a:rPr lang="en-US" altLang="zh-CN" sz="1600" dirty="0"/>
              <a:t> –</a:t>
            </a:r>
            <a:r>
              <a:rPr lang="en-US" altLang="zh-CN" sz="1600" dirty="0" err="1"/>
              <a:t>ldl</a:t>
            </a:r>
            <a:endParaRPr lang="en-US" altLang="zh-CN" sz="1600" dirty="0"/>
          </a:p>
          <a:p>
            <a:r>
              <a:rPr lang="zh-CN" altLang="en-US" sz="1800" dirty="0"/>
              <a:t>编译主程序：</a:t>
            </a:r>
            <a:endParaRPr lang="en-US" altLang="zh-CN" sz="1800" dirty="0"/>
          </a:p>
          <a:p>
            <a:pPr lvl="1"/>
            <a:r>
              <a:rPr lang="en-US" altLang="zh-CN" sz="1600" dirty="0" err="1">
                <a:solidFill>
                  <a:srgbClr val="00B050"/>
                </a:solidFill>
              </a:rPr>
              <a:t>gcc</a:t>
            </a:r>
            <a:r>
              <a:rPr lang="en-US" altLang="zh-CN" sz="1600" dirty="0">
                <a:solidFill>
                  <a:srgbClr val="00B050"/>
                </a:solidFill>
              </a:rPr>
              <a:t> -o </a:t>
            </a:r>
            <a:r>
              <a:rPr lang="en-US" altLang="zh-CN" sz="1600" dirty="0" err="1">
                <a:solidFill>
                  <a:srgbClr val="00B050"/>
                </a:solidFill>
              </a:rPr>
              <a:t>intr</a:t>
            </a:r>
            <a:r>
              <a:rPr lang="en-US" altLang="zh-CN" sz="1600" dirty="0">
                <a:solidFill>
                  <a:srgbClr val="00B050"/>
                </a:solidFill>
              </a:rPr>
              <a:t> </a:t>
            </a:r>
            <a:r>
              <a:rPr lang="en-US" altLang="zh-CN" sz="1600" dirty="0" err="1">
                <a:solidFill>
                  <a:srgbClr val="00B050"/>
                </a:solidFill>
              </a:rPr>
              <a:t>int.c</a:t>
            </a:r>
            <a:endParaRPr lang="en-US" altLang="zh-CN" sz="1600" dirty="0">
              <a:solidFill>
                <a:srgbClr val="00B050"/>
              </a:solidFill>
            </a:endParaRPr>
          </a:p>
          <a:p>
            <a:r>
              <a:rPr lang="zh-CN" altLang="en-US" sz="1800" dirty="0"/>
              <a:t>运行程序：</a:t>
            </a:r>
            <a:endParaRPr lang="en-US" altLang="zh-CN" sz="1800" dirty="0"/>
          </a:p>
          <a:p>
            <a:pPr lvl="1"/>
            <a:r>
              <a:rPr lang="en-US" altLang="zh-CN" sz="1600" dirty="0"/>
              <a:t>LD_PRELOAD="./mymalloc_ld.so" ./</a:t>
            </a:r>
            <a:r>
              <a:rPr lang="en-US" altLang="zh-CN" sz="1600" dirty="0" err="1"/>
              <a:t>intr</a:t>
            </a:r>
            <a:endParaRPr lang="en-US" altLang="zh-CN" sz="1600" dirty="0"/>
          </a:p>
          <a:p>
            <a:pPr lvl="1"/>
            <a:endParaRPr lang="en-US" altLang="zh-CN" sz="1600" dirty="0"/>
          </a:p>
          <a:p>
            <a:pPr lvl="1"/>
            <a:endParaRPr lang="en-US" altLang="zh-CN" sz="1600" dirty="0"/>
          </a:p>
          <a:p>
            <a:r>
              <a:rPr lang="en-US" altLang="zh-CN" sz="1800" dirty="0"/>
              <a:t>LD_PRELOAD</a:t>
            </a:r>
            <a:r>
              <a:rPr lang="zh-CN" altLang="en-US" sz="1800" dirty="0"/>
              <a:t>对任何可执行程序的库函数调用打桩</a:t>
            </a:r>
            <a:endParaRPr lang="en-US" altLang="zh-CN" sz="1800" dirty="0"/>
          </a:p>
          <a:p>
            <a:pPr lvl="1"/>
            <a:r>
              <a:rPr lang="en-US" altLang="zh-CN" sz="1600" dirty="0"/>
              <a:t>LD_PRELOAD="./mymalloc_ld.so" /</a:t>
            </a:r>
            <a:r>
              <a:rPr lang="en-US" altLang="zh-CN" sz="1600" dirty="0" err="1"/>
              <a:t>usr</a:t>
            </a:r>
            <a:r>
              <a:rPr lang="en-US" altLang="zh-CN" sz="1600" dirty="0"/>
              <a:t>/bin/uptime</a:t>
            </a:r>
            <a:endParaRPr lang="zh-CN" altLang="en-US" sz="1600" dirty="0"/>
          </a:p>
        </p:txBody>
      </p:sp>
      <p:sp>
        <p:nvSpPr>
          <p:cNvPr id="6" name="Rectangle 3">
            <a:extLst>
              <a:ext uri="{FF2B5EF4-FFF2-40B4-BE49-F238E27FC236}">
                <a16:creationId xmlns:a16="http://schemas.microsoft.com/office/drawing/2014/main" id="{A795ACDD-A711-418D-8941-42DD9E8F0BD8}"/>
              </a:ext>
            </a:extLst>
          </p:cNvPr>
          <p:cNvSpPr>
            <a:spLocks noChangeArrowheads="1"/>
          </p:cNvSpPr>
          <p:nvPr/>
        </p:nvSpPr>
        <p:spPr bwMode="auto">
          <a:xfrm>
            <a:off x="4530823" y="58846"/>
            <a:ext cx="4613177" cy="6740307"/>
          </a:xfrm>
          <a:prstGeom prst="rect">
            <a:avLst/>
          </a:prstGeom>
          <a:solidFill>
            <a:schemeClr val="accent1">
              <a:lumMod val="20000"/>
              <a:lumOff val="80000"/>
            </a:schemeClr>
          </a:solidFill>
          <a:ln>
            <a:headEnd/>
            <a:tailEnd/>
          </a:ln>
        </p:spPr>
        <p:style>
          <a:lnRef idx="3">
            <a:schemeClr val="lt1"/>
          </a:lnRef>
          <a:fillRef idx="1">
            <a:schemeClr val="accent1"/>
          </a:fillRef>
          <a:effectRef idx="1">
            <a:schemeClr val="accent1"/>
          </a:effectRef>
          <a:fontRef idx="minor">
            <a:schemeClr val="lt1"/>
          </a:fontRef>
        </p:style>
        <p:txBody>
          <a:bodyPr wrap="square">
            <a:prstTxWarp prst="textNoShape">
              <a:avLst/>
            </a:prstTxWarp>
            <a:spAutoFit/>
          </a:bodyPr>
          <a:lstStyle/>
          <a:p>
            <a:r>
              <a:rPr lang="en-US" altLang="zh-CN" sz="1200" dirty="0">
                <a:solidFill>
                  <a:schemeClr val="tx1"/>
                </a:solidFill>
                <a:latin typeface="Times New Roman" panose="02020603050405020304" pitchFamily="18" charset="0"/>
                <a:cs typeface="Times New Roman" panose="02020603050405020304" pitchFamily="18" charset="0"/>
              </a:rPr>
              <a:t>#ifdef RUNTIME</a:t>
            </a:r>
          </a:p>
          <a:p>
            <a:r>
              <a:rPr lang="en-US" altLang="zh-CN" sz="1200" dirty="0">
                <a:solidFill>
                  <a:schemeClr val="tx1"/>
                </a:solidFill>
                <a:latin typeface="Times New Roman" panose="02020603050405020304" pitchFamily="18" charset="0"/>
                <a:cs typeface="Times New Roman" panose="02020603050405020304" pitchFamily="18" charset="0"/>
              </a:rPr>
              <a:t>#define _GNU_SOURCE</a:t>
            </a:r>
          </a:p>
          <a:p>
            <a:r>
              <a:rPr lang="en-US" altLang="zh-CN" sz="1200" dirty="0">
                <a:solidFill>
                  <a:schemeClr val="tx1"/>
                </a:solidFill>
                <a:latin typeface="Times New Roman" panose="02020603050405020304" pitchFamily="18" charset="0"/>
                <a:cs typeface="Times New Roman" panose="02020603050405020304" pitchFamily="18" charset="0"/>
              </a:rPr>
              <a:t>#include &lt;</a:t>
            </a:r>
            <a:r>
              <a:rPr lang="en-US" altLang="zh-CN" sz="1200" dirty="0" err="1">
                <a:solidFill>
                  <a:schemeClr val="tx1"/>
                </a:solidFill>
                <a:latin typeface="Times New Roman" panose="02020603050405020304" pitchFamily="18" charset="0"/>
                <a:cs typeface="Times New Roman" panose="02020603050405020304" pitchFamily="18" charset="0"/>
              </a:rPr>
              <a:t>stdio.h</a:t>
            </a:r>
            <a:r>
              <a:rPr lang="en-US" altLang="zh-CN" sz="1200" dirty="0">
                <a:solidFill>
                  <a:schemeClr val="tx1"/>
                </a:solidFill>
                <a:latin typeface="Times New Roman" panose="02020603050405020304" pitchFamily="18" charset="0"/>
                <a:cs typeface="Times New Roman" panose="02020603050405020304" pitchFamily="18" charset="0"/>
              </a:rPr>
              <a:t>&gt;</a:t>
            </a:r>
          </a:p>
          <a:p>
            <a:r>
              <a:rPr lang="en-US" altLang="zh-CN" sz="1200" dirty="0">
                <a:solidFill>
                  <a:schemeClr val="tx1"/>
                </a:solidFill>
                <a:latin typeface="Times New Roman" panose="02020603050405020304" pitchFamily="18" charset="0"/>
                <a:cs typeface="Times New Roman" panose="02020603050405020304" pitchFamily="18" charset="0"/>
              </a:rPr>
              <a:t>#include &lt;</a:t>
            </a:r>
            <a:r>
              <a:rPr lang="en-US" altLang="zh-CN" sz="1200" dirty="0" err="1">
                <a:solidFill>
                  <a:schemeClr val="tx1"/>
                </a:solidFill>
                <a:latin typeface="Times New Roman" panose="02020603050405020304" pitchFamily="18" charset="0"/>
                <a:cs typeface="Times New Roman" panose="02020603050405020304" pitchFamily="18" charset="0"/>
              </a:rPr>
              <a:t>stdlib.h</a:t>
            </a:r>
            <a:r>
              <a:rPr lang="en-US" altLang="zh-CN" sz="1200" dirty="0">
                <a:solidFill>
                  <a:schemeClr val="tx1"/>
                </a:solidFill>
                <a:latin typeface="Times New Roman" panose="02020603050405020304" pitchFamily="18" charset="0"/>
                <a:cs typeface="Times New Roman" panose="02020603050405020304" pitchFamily="18" charset="0"/>
              </a:rPr>
              <a:t>&gt;</a:t>
            </a:r>
          </a:p>
          <a:p>
            <a:r>
              <a:rPr lang="en-US" altLang="zh-CN" sz="1200" dirty="0">
                <a:solidFill>
                  <a:schemeClr val="tx1"/>
                </a:solidFill>
                <a:latin typeface="Times New Roman" panose="02020603050405020304" pitchFamily="18" charset="0"/>
                <a:cs typeface="Times New Roman" panose="02020603050405020304" pitchFamily="18" charset="0"/>
              </a:rPr>
              <a:t>#include &lt;</a:t>
            </a:r>
            <a:r>
              <a:rPr lang="en-US" altLang="zh-CN" sz="1200" dirty="0" err="1">
                <a:solidFill>
                  <a:schemeClr val="tx1"/>
                </a:solidFill>
                <a:latin typeface="Times New Roman" panose="02020603050405020304" pitchFamily="18" charset="0"/>
                <a:cs typeface="Times New Roman" panose="02020603050405020304" pitchFamily="18" charset="0"/>
              </a:rPr>
              <a:t>dlfcn.h</a:t>
            </a:r>
            <a:r>
              <a:rPr lang="en-US" altLang="zh-CN" sz="1200" dirty="0">
                <a:solidFill>
                  <a:schemeClr val="tx1"/>
                </a:solidFill>
                <a:latin typeface="Times New Roman" panose="02020603050405020304" pitchFamily="18" charset="0"/>
                <a:cs typeface="Times New Roman" panose="02020603050405020304" pitchFamily="18" charset="0"/>
              </a:rPr>
              <a:t>&gt;</a:t>
            </a:r>
          </a:p>
          <a:p>
            <a:r>
              <a:rPr lang="en-US" altLang="zh-CN" sz="1200" dirty="0">
                <a:solidFill>
                  <a:schemeClr val="tx1"/>
                </a:solidFill>
                <a:latin typeface="Times New Roman" panose="02020603050405020304" pitchFamily="18" charset="0"/>
                <a:cs typeface="Times New Roman" panose="02020603050405020304" pitchFamily="18" charset="0"/>
              </a:rPr>
              <a:t>/*malloc wrapper function*/</a:t>
            </a:r>
          </a:p>
          <a:p>
            <a:r>
              <a:rPr lang="en-US" altLang="zh-CN" sz="1200" dirty="0">
                <a:solidFill>
                  <a:schemeClr val="tx1"/>
                </a:solidFill>
                <a:latin typeface="Times New Roman" panose="02020603050405020304" pitchFamily="18" charset="0"/>
                <a:cs typeface="Times New Roman" panose="02020603050405020304" pitchFamily="18" charset="0"/>
              </a:rPr>
              <a:t>void *malloc(</a:t>
            </a:r>
            <a:r>
              <a:rPr lang="en-US" altLang="zh-CN" sz="1200" dirty="0" err="1">
                <a:solidFill>
                  <a:schemeClr val="tx1"/>
                </a:solidFill>
                <a:latin typeface="Times New Roman" panose="02020603050405020304" pitchFamily="18" charset="0"/>
                <a:cs typeface="Times New Roman" panose="02020603050405020304" pitchFamily="18" charset="0"/>
              </a:rPr>
              <a:t>size_t</a:t>
            </a:r>
            <a:r>
              <a:rPr lang="en-US" altLang="zh-CN" sz="1200" dirty="0">
                <a:solidFill>
                  <a:schemeClr val="tx1"/>
                </a:solidFill>
                <a:latin typeface="Times New Roman" panose="02020603050405020304" pitchFamily="18" charset="0"/>
                <a:cs typeface="Times New Roman" panose="02020603050405020304" pitchFamily="18" charset="0"/>
              </a:rPr>
              <a:t> size)</a:t>
            </a:r>
          </a:p>
          <a:p>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        void *(*</a:t>
            </a:r>
            <a:r>
              <a:rPr lang="en-US" altLang="zh-CN" sz="1200" dirty="0" err="1">
                <a:solidFill>
                  <a:schemeClr val="tx1"/>
                </a:solidFill>
                <a:latin typeface="Times New Roman" panose="02020603050405020304" pitchFamily="18" charset="0"/>
                <a:cs typeface="Times New Roman" panose="02020603050405020304" pitchFamily="18" charset="0"/>
              </a:rPr>
              <a:t>mallocp</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size_t</a:t>
            </a:r>
            <a:r>
              <a:rPr lang="en-US" altLang="zh-CN" sz="1200" dirty="0">
                <a:solidFill>
                  <a:schemeClr val="tx1"/>
                </a:solidFill>
                <a:latin typeface="Times New Roman" panose="02020603050405020304" pitchFamily="18" charset="0"/>
                <a:cs typeface="Times New Roman" panose="02020603050405020304" pitchFamily="18" charset="0"/>
              </a:rPr>
              <a:t> size);</a:t>
            </a:r>
          </a:p>
          <a:p>
            <a:r>
              <a:rPr lang="en-US" altLang="zh-CN" sz="1200" dirty="0">
                <a:solidFill>
                  <a:schemeClr val="tx1"/>
                </a:solidFill>
                <a:latin typeface="Times New Roman" panose="02020603050405020304" pitchFamily="18" charset="0"/>
                <a:cs typeface="Times New Roman" panose="02020603050405020304" pitchFamily="18" charset="0"/>
              </a:rPr>
              <a:t>        char *error;</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mallocp</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dlsym</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RTLD_NEXT,"malloc</a:t>
            </a:r>
            <a:r>
              <a:rPr lang="en-US" altLang="zh-CN" sz="1200" dirty="0">
                <a:solidFill>
                  <a:schemeClr val="tx1"/>
                </a:solidFill>
                <a:latin typeface="Times New Roman" panose="02020603050405020304" pitchFamily="18" charset="0"/>
                <a:cs typeface="Times New Roman" panose="02020603050405020304" pitchFamily="18" charset="0"/>
              </a:rPr>
              <a:t>");//get address of </a:t>
            </a:r>
            <a:r>
              <a:rPr lang="en-US" altLang="zh-CN" sz="1200" dirty="0" err="1">
                <a:solidFill>
                  <a:schemeClr val="tx1"/>
                </a:solidFill>
                <a:latin typeface="Times New Roman" panose="02020603050405020304" pitchFamily="18" charset="0"/>
                <a:cs typeface="Times New Roman" panose="02020603050405020304" pitchFamily="18" charset="0"/>
              </a:rPr>
              <a:t>libc</a:t>
            </a:r>
            <a:r>
              <a:rPr lang="en-US" altLang="zh-CN" sz="1200" dirty="0">
                <a:solidFill>
                  <a:schemeClr val="tx1"/>
                </a:solidFill>
                <a:latin typeface="Times New Roman" panose="02020603050405020304" pitchFamily="18" charset="0"/>
                <a:cs typeface="Times New Roman" panose="02020603050405020304" pitchFamily="18" charset="0"/>
              </a:rPr>
              <a:t> malloc</a:t>
            </a:r>
          </a:p>
          <a:p>
            <a:r>
              <a:rPr lang="en-US" altLang="zh-CN" sz="1200" dirty="0">
                <a:solidFill>
                  <a:schemeClr val="tx1"/>
                </a:solidFill>
                <a:latin typeface="Times New Roman" panose="02020603050405020304" pitchFamily="18" charset="0"/>
                <a:cs typeface="Times New Roman" panose="02020603050405020304" pitchFamily="18" charset="0"/>
              </a:rPr>
              <a:t>        if((error=</a:t>
            </a:r>
            <a:r>
              <a:rPr lang="en-US" altLang="zh-CN" sz="1200" dirty="0" err="1">
                <a:solidFill>
                  <a:schemeClr val="tx1"/>
                </a:solidFill>
                <a:latin typeface="Times New Roman" panose="02020603050405020304" pitchFamily="18" charset="0"/>
                <a:cs typeface="Times New Roman" panose="02020603050405020304" pitchFamily="18" charset="0"/>
              </a:rPr>
              <a:t>dlerror</a:t>
            </a:r>
            <a:r>
              <a:rPr lang="en-US" altLang="zh-CN" sz="1200" dirty="0">
                <a:solidFill>
                  <a:schemeClr val="tx1"/>
                </a:solidFill>
                <a:latin typeface="Times New Roman" panose="02020603050405020304" pitchFamily="18" charset="0"/>
                <a:cs typeface="Times New Roman" panose="02020603050405020304" pitchFamily="18" charset="0"/>
              </a:rPr>
              <a:t>())!=NULL){</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fputs</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error,stderr</a:t>
            </a:r>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                exit(1);</a:t>
            </a:r>
          </a:p>
          <a:p>
            <a:r>
              <a:rPr lang="en-US" altLang="zh-CN" sz="1200" dirty="0">
                <a:solidFill>
                  <a:schemeClr val="tx1"/>
                </a:solidFill>
                <a:latin typeface="Times New Roman" panose="02020603050405020304" pitchFamily="18" charset="0"/>
                <a:cs typeface="Times New Roman" panose="02020603050405020304" pitchFamily="18" charset="0"/>
              </a:rPr>
              <a:t>        }</a:t>
            </a:r>
          </a:p>
          <a:p>
            <a:r>
              <a:rPr lang="en-US" altLang="zh-CN" sz="1200" dirty="0">
                <a:solidFill>
                  <a:schemeClr val="tx1"/>
                </a:solidFill>
                <a:latin typeface="Times New Roman" panose="02020603050405020304" pitchFamily="18" charset="0"/>
                <a:cs typeface="Times New Roman" panose="02020603050405020304" pitchFamily="18" charset="0"/>
              </a:rPr>
              <a:t>        char *</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mallocp</a:t>
            </a:r>
            <a:r>
              <a:rPr lang="en-US" altLang="zh-CN" sz="1200" dirty="0">
                <a:solidFill>
                  <a:schemeClr val="tx1"/>
                </a:solidFill>
                <a:latin typeface="Times New Roman" panose="02020603050405020304" pitchFamily="18" charset="0"/>
                <a:cs typeface="Times New Roman" panose="02020603050405020304" pitchFamily="18" charset="0"/>
              </a:rPr>
              <a:t>(size);//call </a:t>
            </a:r>
            <a:r>
              <a:rPr lang="en-US" altLang="zh-CN" sz="1200" dirty="0" err="1">
                <a:solidFill>
                  <a:schemeClr val="tx1"/>
                </a:solidFill>
                <a:latin typeface="Times New Roman" panose="02020603050405020304" pitchFamily="18" charset="0"/>
                <a:cs typeface="Times New Roman" panose="02020603050405020304" pitchFamily="18" charset="0"/>
              </a:rPr>
              <a:t>libc</a:t>
            </a:r>
            <a:r>
              <a:rPr lang="en-US" altLang="zh-CN" sz="1200" dirty="0">
                <a:solidFill>
                  <a:schemeClr val="tx1"/>
                </a:solidFill>
                <a:latin typeface="Times New Roman" panose="02020603050405020304" pitchFamily="18" charset="0"/>
                <a:cs typeface="Times New Roman" panose="02020603050405020304" pitchFamily="18" charset="0"/>
              </a:rPr>
              <a:t> malloc</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printf</a:t>
            </a:r>
            <a:r>
              <a:rPr lang="en-US" altLang="zh-CN" sz="1200" dirty="0">
                <a:solidFill>
                  <a:schemeClr val="tx1"/>
                </a:solidFill>
                <a:latin typeface="Times New Roman" panose="02020603050405020304" pitchFamily="18" charset="0"/>
                <a:cs typeface="Times New Roman" panose="02020603050405020304" pitchFamily="18" charset="0"/>
              </a:rPr>
              <a:t>("malloc(%d)=%p\n",(int)size, </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        return </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/*free wrapper function*/</a:t>
            </a:r>
          </a:p>
          <a:p>
            <a:r>
              <a:rPr lang="en-US" altLang="zh-CN" sz="1200" dirty="0">
                <a:solidFill>
                  <a:schemeClr val="tx1"/>
                </a:solidFill>
                <a:latin typeface="Times New Roman" panose="02020603050405020304" pitchFamily="18" charset="0"/>
                <a:cs typeface="Times New Roman" panose="02020603050405020304" pitchFamily="18" charset="0"/>
              </a:rPr>
              <a:t>void free(void *</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        void (*</a:t>
            </a:r>
            <a:r>
              <a:rPr lang="en-US" altLang="zh-CN" sz="1200" dirty="0" err="1">
                <a:solidFill>
                  <a:schemeClr val="tx1"/>
                </a:solidFill>
                <a:latin typeface="Times New Roman" panose="02020603050405020304" pitchFamily="18" charset="0"/>
                <a:cs typeface="Times New Roman" panose="02020603050405020304" pitchFamily="18" charset="0"/>
              </a:rPr>
              <a:t>freep</a:t>
            </a:r>
            <a:r>
              <a:rPr lang="en-US" altLang="zh-CN" sz="1200" dirty="0">
                <a:solidFill>
                  <a:schemeClr val="tx1"/>
                </a:solidFill>
                <a:latin typeface="Times New Roman" panose="02020603050405020304" pitchFamily="18" charset="0"/>
                <a:cs typeface="Times New Roman" panose="02020603050405020304" pitchFamily="18" charset="0"/>
              </a:rPr>
              <a:t>)(void *)=NULL;</a:t>
            </a:r>
          </a:p>
          <a:p>
            <a:r>
              <a:rPr lang="en-US" altLang="zh-CN" sz="1200" dirty="0">
                <a:solidFill>
                  <a:schemeClr val="tx1"/>
                </a:solidFill>
                <a:latin typeface="Times New Roman" panose="02020603050405020304" pitchFamily="18" charset="0"/>
                <a:cs typeface="Times New Roman" panose="02020603050405020304" pitchFamily="18" charset="0"/>
              </a:rPr>
              <a:t>        char *error;</a:t>
            </a:r>
          </a:p>
          <a:p>
            <a:r>
              <a:rPr lang="en-US" altLang="zh-CN" sz="1200" dirty="0">
                <a:solidFill>
                  <a:schemeClr val="tx1"/>
                </a:solidFill>
                <a:latin typeface="Times New Roman" panose="02020603050405020304" pitchFamily="18" charset="0"/>
                <a:cs typeface="Times New Roman" panose="02020603050405020304" pitchFamily="18" charset="0"/>
              </a:rPr>
              <a:t>        if(!</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 return;</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freep</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dlsym</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RTLD_NEXT,"free</a:t>
            </a:r>
            <a:r>
              <a:rPr lang="en-US" altLang="zh-CN" sz="1200" dirty="0">
                <a:solidFill>
                  <a:schemeClr val="tx1"/>
                </a:solidFill>
                <a:latin typeface="Times New Roman" panose="02020603050405020304" pitchFamily="18" charset="0"/>
                <a:cs typeface="Times New Roman" panose="02020603050405020304" pitchFamily="18" charset="0"/>
              </a:rPr>
              <a:t>");//get address of </a:t>
            </a:r>
            <a:r>
              <a:rPr lang="en-US" altLang="zh-CN" sz="1200" dirty="0" err="1">
                <a:solidFill>
                  <a:schemeClr val="tx1"/>
                </a:solidFill>
                <a:latin typeface="Times New Roman" panose="02020603050405020304" pitchFamily="18" charset="0"/>
                <a:cs typeface="Times New Roman" panose="02020603050405020304" pitchFamily="18" charset="0"/>
              </a:rPr>
              <a:t>libc</a:t>
            </a:r>
            <a:r>
              <a:rPr lang="en-US" altLang="zh-CN" sz="1200" dirty="0">
                <a:solidFill>
                  <a:schemeClr val="tx1"/>
                </a:solidFill>
                <a:latin typeface="Times New Roman" panose="02020603050405020304" pitchFamily="18" charset="0"/>
                <a:cs typeface="Times New Roman" panose="02020603050405020304" pitchFamily="18" charset="0"/>
              </a:rPr>
              <a:t> free</a:t>
            </a:r>
          </a:p>
          <a:p>
            <a:r>
              <a:rPr lang="en-US" altLang="zh-CN" sz="1200" dirty="0">
                <a:solidFill>
                  <a:schemeClr val="tx1"/>
                </a:solidFill>
                <a:latin typeface="Times New Roman" panose="02020603050405020304" pitchFamily="18" charset="0"/>
                <a:cs typeface="Times New Roman" panose="02020603050405020304" pitchFamily="18" charset="0"/>
              </a:rPr>
              <a:t>        if((error=</a:t>
            </a:r>
            <a:r>
              <a:rPr lang="en-US" altLang="zh-CN" sz="1200" dirty="0" err="1">
                <a:solidFill>
                  <a:schemeClr val="tx1"/>
                </a:solidFill>
                <a:latin typeface="Times New Roman" panose="02020603050405020304" pitchFamily="18" charset="0"/>
                <a:cs typeface="Times New Roman" panose="02020603050405020304" pitchFamily="18" charset="0"/>
              </a:rPr>
              <a:t>dlerror</a:t>
            </a:r>
            <a:r>
              <a:rPr lang="en-US" altLang="zh-CN" sz="1200" dirty="0">
                <a:solidFill>
                  <a:schemeClr val="tx1"/>
                </a:solidFill>
                <a:latin typeface="Times New Roman" panose="02020603050405020304" pitchFamily="18" charset="0"/>
                <a:cs typeface="Times New Roman" panose="02020603050405020304" pitchFamily="18" charset="0"/>
              </a:rPr>
              <a:t>())!=NULL){</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fputs</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error,stderr</a:t>
            </a:r>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                exit(1);</a:t>
            </a:r>
          </a:p>
          <a:p>
            <a:r>
              <a:rPr lang="en-US" altLang="zh-CN" sz="1200" dirty="0">
                <a:solidFill>
                  <a:schemeClr val="tx1"/>
                </a:solidFill>
                <a:latin typeface="Times New Roman" panose="02020603050405020304" pitchFamily="18" charset="0"/>
                <a:cs typeface="Times New Roman" panose="02020603050405020304" pitchFamily="18" charset="0"/>
              </a:rPr>
              <a:t>        }</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freep</a:t>
            </a:r>
            <a:r>
              <a:rPr lang="en-US" altLang="zh-CN" sz="1200" dirty="0">
                <a:solidFill>
                  <a:schemeClr val="tx1"/>
                </a:solidFill>
                <a:latin typeface="Times New Roman" panose="02020603050405020304" pitchFamily="18" charset="0"/>
                <a:cs typeface="Times New Roman" panose="02020603050405020304" pitchFamily="18" charset="0"/>
              </a:rPr>
              <a:t>(</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);//call </a:t>
            </a:r>
            <a:r>
              <a:rPr lang="en-US" altLang="zh-CN" sz="1200" dirty="0" err="1">
                <a:solidFill>
                  <a:schemeClr val="tx1"/>
                </a:solidFill>
                <a:latin typeface="Times New Roman" panose="02020603050405020304" pitchFamily="18" charset="0"/>
                <a:cs typeface="Times New Roman" panose="02020603050405020304" pitchFamily="18" charset="0"/>
              </a:rPr>
              <a:t>libc</a:t>
            </a:r>
            <a:r>
              <a:rPr lang="en-US" altLang="zh-CN" sz="1200" dirty="0">
                <a:solidFill>
                  <a:schemeClr val="tx1"/>
                </a:solidFill>
                <a:latin typeface="Times New Roman" panose="02020603050405020304" pitchFamily="18" charset="0"/>
                <a:cs typeface="Times New Roman" panose="02020603050405020304" pitchFamily="18" charset="0"/>
              </a:rPr>
              <a:t> free</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printf</a:t>
            </a:r>
            <a:r>
              <a:rPr lang="en-US" altLang="zh-CN" sz="1200" dirty="0">
                <a:solidFill>
                  <a:schemeClr val="tx1"/>
                </a:solidFill>
                <a:latin typeface="Times New Roman" panose="02020603050405020304" pitchFamily="18" charset="0"/>
                <a:cs typeface="Times New Roman" panose="02020603050405020304" pitchFamily="18" charset="0"/>
              </a:rPr>
              <a:t>("free (%p)\n",</a:t>
            </a:r>
            <a:r>
              <a:rPr lang="en-US" altLang="zh-CN" sz="1200" dirty="0" err="1">
                <a:solidFill>
                  <a:schemeClr val="tx1"/>
                </a:solidFill>
                <a:latin typeface="Times New Roman" panose="02020603050405020304" pitchFamily="18" charset="0"/>
                <a:cs typeface="Times New Roman" panose="02020603050405020304" pitchFamily="18" charset="0"/>
              </a:rPr>
              <a:t>ptr</a:t>
            </a:r>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a:t>
            </a:r>
          </a:p>
          <a:p>
            <a:r>
              <a:rPr lang="en-US" altLang="zh-CN" sz="1200" dirty="0">
                <a:solidFill>
                  <a:schemeClr val="tx1"/>
                </a:solidFill>
                <a:latin typeface="Times New Roman" panose="02020603050405020304" pitchFamily="18" charset="0"/>
                <a:cs typeface="Times New Roman" panose="02020603050405020304" pitchFamily="18" charset="0"/>
              </a:rPr>
              <a:t>#endif</a:t>
            </a:r>
          </a:p>
          <a:p>
            <a:r>
              <a:rPr lang="en-US" altLang="zh-CN" sz="1200" dirty="0">
                <a:solidFill>
                  <a:schemeClr val="tx1"/>
                </a:solidFill>
                <a:latin typeface="Times New Roman" panose="02020603050405020304" pitchFamily="18" charset="0"/>
                <a:cs typeface="Times New Roman" panose="02020603050405020304" pitchFamily="18" charset="0"/>
              </a:rPr>
              <a:t>/* </a:t>
            </a:r>
            <a:r>
              <a:rPr lang="en-US" altLang="zh-CN" sz="1200" dirty="0" err="1">
                <a:solidFill>
                  <a:schemeClr val="tx1"/>
                </a:solidFill>
                <a:latin typeface="Times New Roman" panose="02020603050405020304" pitchFamily="18" charset="0"/>
                <a:cs typeface="Times New Roman" panose="02020603050405020304" pitchFamily="18" charset="0"/>
              </a:rPr>
              <a:t>mymalloc.c</a:t>
            </a:r>
            <a:r>
              <a:rPr lang="en-US" altLang="zh-CN" sz="1200" dirty="0">
                <a:solidFill>
                  <a:schemeClr val="tx1"/>
                </a:solidFill>
                <a:latin typeface="Times New Roman" panose="02020603050405020304" pitchFamily="18" charset="0"/>
                <a:cs typeface="Times New Roman" panose="02020603050405020304" pitchFamily="18" charset="0"/>
              </a:rPr>
              <a:t>*/</a:t>
            </a:r>
            <a:endParaRPr lang="en-US" sz="1200" dirty="0">
              <a:solidFill>
                <a:schemeClr val="tx1"/>
              </a:solidFill>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82011611-F81F-4860-A667-EF40CF34E730}"/>
              </a:ext>
            </a:extLst>
          </p:cNvPr>
          <p:cNvPicPr>
            <a:picLocks noChangeAspect="1"/>
          </p:cNvPicPr>
          <p:nvPr/>
        </p:nvPicPr>
        <p:blipFill>
          <a:blip r:embed="rId2"/>
          <a:stretch>
            <a:fillRect/>
          </a:stretch>
        </p:blipFill>
        <p:spPr>
          <a:xfrm>
            <a:off x="539552" y="4149080"/>
            <a:ext cx="3800475" cy="628650"/>
          </a:xfrm>
          <a:prstGeom prst="rect">
            <a:avLst/>
          </a:prstGeom>
        </p:spPr>
      </p:pic>
      <p:pic>
        <p:nvPicPr>
          <p:cNvPr id="8" name="图片 7">
            <a:extLst>
              <a:ext uri="{FF2B5EF4-FFF2-40B4-BE49-F238E27FC236}">
                <a16:creationId xmlns:a16="http://schemas.microsoft.com/office/drawing/2014/main" id="{A50BD3E3-751B-4C76-B533-D3C323D22EBB}"/>
              </a:ext>
            </a:extLst>
          </p:cNvPr>
          <p:cNvPicPr>
            <a:picLocks noChangeAspect="1"/>
          </p:cNvPicPr>
          <p:nvPr/>
        </p:nvPicPr>
        <p:blipFill>
          <a:blip r:embed="rId3"/>
          <a:stretch>
            <a:fillRect/>
          </a:stretch>
        </p:blipFill>
        <p:spPr>
          <a:xfrm>
            <a:off x="96738" y="5804808"/>
            <a:ext cx="4381500" cy="1076325"/>
          </a:xfrm>
          <a:prstGeom prst="rect">
            <a:avLst/>
          </a:prstGeom>
        </p:spPr>
      </p:pic>
    </p:spTree>
    <p:extLst>
      <p:ext uri="{BB962C8B-B14F-4D97-AF65-F5344CB8AC3E}">
        <p14:creationId xmlns:p14="http://schemas.microsoft.com/office/powerpoint/2010/main" val="28499423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51EF05-1529-47F6-AD7F-DB1503043DE2}"/>
              </a:ext>
            </a:extLst>
          </p:cNvPr>
          <p:cNvSpPr>
            <a:spLocks noGrp="1"/>
          </p:cNvSpPr>
          <p:nvPr>
            <p:ph type="title"/>
          </p:nvPr>
        </p:nvSpPr>
        <p:spPr/>
        <p:txBody>
          <a:bodyPr>
            <a:normAutofit fontScale="90000"/>
          </a:bodyPr>
          <a:lstStyle/>
          <a:p>
            <a:r>
              <a:rPr lang="en-US" altLang="zh-CN" dirty="0"/>
              <a:t>7.14 </a:t>
            </a:r>
            <a:r>
              <a:rPr lang="zh-CN" altLang="en-US" dirty="0"/>
              <a:t>处理目标文件的工具</a:t>
            </a:r>
          </a:p>
        </p:txBody>
      </p:sp>
      <p:sp>
        <p:nvSpPr>
          <p:cNvPr id="3" name="内容占位符 2">
            <a:extLst>
              <a:ext uri="{FF2B5EF4-FFF2-40B4-BE49-F238E27FC236}">
                <a16:creationId xmlns:a16="http://schemas.microsoft.com/office/drawing/2014/main" id="{182E99A8-0502-4D61-AEE6-88C478330856}"/>
              </a:ext>
            </a:extLst>
          </p:cNvPr>
          <p:cNvSpPr>
            <a:spLocks noGrp="1"/>
          </p:cNvSpPr>
          <p:nvPr>
            <p:ph idx="1"/>
          </p:nvPr>
        </p:nvSpPr>
        <p:spPr>
          <a:xfrm>
            <a:off x="457200" y="837034"/>
            <a:ext cx="6197688" cy="5289136"/>
          </a:xfrm>
        </p:spPr>
        <p:txBody>
          <a:bodyPr>
            <a:normAutofit fontScale="92500" lnSpcReduction="10000"/>
          </a:bodyPr>
          <a:lstStyle/>
          <a:p>
            <a:r>
              <a:rPr lang="en-US" altLang="zh-CN" dirty="0"/>
              <a:t>AR</a:t>
            </a:r>
            <a:r>
              <a:rPr lang="zh-CN" altLang="en-US" dirty="0"/>
              <a:t>：创建静态库，插入、删除、列出和提取成员</a:t>
            </a:r>
            <a:endParaRPr lang="en-US" altLang="zh-CN" dirty="0"/>
          </a:p>
          <a:p>
            <a:r>
              <a:rPr lang="en-US" altLang="zh-CN" dirty="0"/>
              <a:t>STRINGS</a:t>
            </a:r>
            <a:r>
              <a:rPr lang="zh-CN" altLang="en-US" dirty="0"/>
              <a:t>：列出一个目标文件中所有可打印的字符串</a:t>
            </a:r>
            <a:endParaRPr lang="en-US" altLang="zh-CN" dirty="0"/>
          </a:p>
          <a:p>
            <a:pPr lvl="1"/>
            <a:r>
              <a:rPr lang="en-US" altLang="zh-CN" dirty="0"/>
              <a:t>strings </a:t>
            </a:r>
            <a:r>
              <a:rPr lang="en-US" altLang="zh-CN" dirty="0" err="1"/>
              <a:t>intr</a:t>
            </a:r>
            <a:endParaRPr lang="en-US" altLang="zh-CN" dirty="0"/>
          </a:p>
          <a:p>
            <a:r>
              <a:rPr lang="en-US" altLang="zh-CN" dirty="0"/>
              <a:t>STRIP</a:t>
            </a:r>
            <a:r>
              <a:rPr lang="zh-CN" altLang="en-US" dirty="0"/>
              <a:t>：从目标文件中删除符号表信息</a:t>
            </a:r>
            <a:endParaRPr lang="en-US" altLang="zh-CN" dirty="0"/>
          </a:p>
          <a:p>
            <a:r>
              <a:rPr lang="en-US" altLang="zh-CN" dirty="0"/>
              <a:t>NM</a:t>
            </a:r>
            <a:r>
              <a:rPr lang="zh-CN" altLang="en-US" dirty="0"/>
              <a:t>：列出一个目标文件的符号表中定义的符号</a:t>
            </a:r>
            <a:endParaRPr lang="en-US" altLang="zh-CN" dirty="0"/>
          </a:p>
          <a:p>
            <a:r>
              <a:rPr lang="en-US" altLang="zh-CN" dirty="0"/>
              <a:t>SIZE</a:t>
            </a:r>
            <a:r>
              <a:rPr lang="zh-CN" altLang="en-US" dirty="0"/>
              <a:t>：列出目标文件中节 名字和大小</a:t>
            </a:r>
            <a:endParaRPr lang="en-US" altLang="zh-CN" dirty="0"/>
          </a:p>
          <a:p>
            <a:r>
              <a:rPr lang="en-US" altLang="zh-CN" dirty="0"/>
              <a:t>READELF</a:t>
            </a:r>
            <a:r>
              <a:rPr lang="zh-CN" altLang="en-US" dirty="0"/>
              <a:t>：显示一个目标文件的完整结构，包括</a:t>
            </a:r>
            <a:r>
              <a:rPr lang="en-US" altLang="zh-CN" dirty="0"/>
              <a:t>ELF</a:t>
            </a:r>
            <a:r>
              <a:rPr lang="zh-CN" altLang="en-US" dirty="0"/>
              <a:t>头中编码的所有信息</a:t>
            </a:r>
            <a:endParaRPr lang="en-US" altLang="zh-CN" dirty="0"/>
          </a:p>
          <a:p>
            <a:r>
              <a:rPr lang="en-US" altLang="zh-CN" dirty="0"/>
              <a:t>OBJDUMP</a:t>
            </a:r>
            <a:r>
              <a:rPr lang="zh-CN" altLang="en-US" dirty="0"/>
              <a:t>：显示一个目标文件中所有的信息，最大的作用是反汇编</a:t>
            </a:r>
            <a:r>
              <a:rPr lang="en-US" altLang="zh-CN" dirty="0"/>
              <a:t>.text</a:t>
            </a:r>
            <a:r>
              <a:rPr lang="zh-CN" altLang="en-US" dirty="0"/>
              <a:t>节中的二进制指令</a:t>
            </a:r>
            <a:endParaRPr lang="en-US" altLang="zh-CN" dirty="0"/>
          </a:p>
          <a:p>
            <a:r>
              <a:rPr lang="en-US" altLang="zh-CN" dirty="0"/>
              <a:t>LDD</a:t>
            </a:r>
            <a:r>
              <a:rPr lang="zh-CN" altLang="en-US" dirty="0"/>
              <a:t>：列出一个可执行文件在运行时所需要的共享库</a:t>
            </a:r>
          </a:p>
        </p:txBody>
      </p:sp>
      <p:sp>
        <p:nvSpPr>
          <p:cNvPr id="4" name="灯片编号占位符 3">
            <a:extLst>
              <a:ext uri="{FF2B5EF4-FFF2-40B4-BE49-F238E27FC236}">
                <a16:creationId xmlns:a16="http://schemas.microsoft.com/office/drawing/2014/main" id="{CD7CE4C6-A7B6-4871-9D02-80FC153B21E5}"/>
              </a:ext>
            </a:extLst>
          </p:cNvPr>
          <p:cNvSpPr>
            <a:spLocks noGrp="1"/>
          </p:cNvSpPr>
          <p:nvPr>
            <p:ph type="sldNum" sz="quarter" idx="12"/>
          </p:nvPr>
        </p:nvSpPr>
        <p:spPr/>
        <p:txBody>
          <a:bodyPr/>
          <a:lstStyle/>
          <a:p>
            <a:fld id="{6D62327B-ED8D-4CFC-ADD0-A75FA5CBE281}" type="slidenum">
              <a:rPr lang="zh-CN" altLang="en-US" smtClean="0"/>
              <a:pPr/>
              <a:t>65</a:t>
            </a:fld>
            <a:endParaRPr lang="zh-CN" altLang="en-US" dirty="0"/>
          </a:p>
        </p:txBody>
      </p:sp>
      <p:sp>
        <p:nvSpPr>
          <p:cNvPr id="5" name="内容占位符 2">
            <a:extLst>
              <a:ext uri="{FF2B5EF4-FFF2-40B4-BE49-F238E27FC236}">
                <a16:creationId xmlns:a16="http://schemas.microsoft.com/office/drawing/2014/main" id="{A31E8A0D-F58B-4C66-8DE4-396A352B54AD}"/>
              </a:ext>
            </a:extLst>
          </p:cNvPr>
          <p:cNvSpPr txBox="1">
            <a:spLocks/>
          </p:cNvSpPr>
          <p:nvPr/>
        </p:nvSpPr>
        <p:spPr>
          <a:xfrm>
            <a:off x="5127141" y="837034"/>
            <a:ext cx="3538736" cy="5289136"/>
          </a:xfrm>
          <a:prstGeom prst="rect">
            <a:avLst/>
          </a:prstGeom>
        </p:spPr>
        <p:txBody>
          <a:bodyPr vert="horz" lIns="91440" tIns="45720" rIns="91440" bIns="45720" rtlCol="0">
            <a:normAutofit/>
          </a:bodyPr>
          <a:lstStyle>
            <a:lvl1pPr marL="257108" indent="-257108" algn="l" defTabSz="685622" rtl="0" eaLnBrk="1" latinLnBrk="0" hangingPunct="1">
              <a:spcBef>
                <a:spcPct val="20000"/>
              </a:spcBef>
              <a:buFont typeface="Arial" panose="020B0604020202020204" pitchFamily="34" charset="0"/>
              <a:buChar char="•"/>
              <a:defRPr sz="2399" kern="1200">
                <a:solidFill>
                  <a:schemeClr val="tx1"/>
                </a:solidFill>
                <a:latin typeface="Times New Roman" panose="02020603050405020304" pitchFamily="18" charset="0"/>
                <a:ea typeface="+mn-ea"/>
                <a:cs typeface="Times New Roman" panose="02020603050405020304" pitchFamily="18" charset="0"/>
              </a:defRPr>
            </a:lvl1pPr>
            <a:lvl2pPr marL="557068" indent="-214257" algn="l" defTabSz="685622" rtl="0" eaLnBrk="1" latinLnBrk="0" hangingPunct="1">
              <a:spcBef>
                <a:spcPct val="20000"/>
              </a:spcBef>
              <a:buFont typeface="Arial" panose="020B0604020202020204" pitchFamily="34" charset="0"/>
              <a:buChar char="–"/>
              <a:defRPr sz="2099" kern="1200">
                <a:solidFill>
                  <a:schemeClr val="tx1"/>
                </a:solidFill>
                <a:latin typeface="Times New Roman" panose="02020603050405020304" pitchFamily="18" charset="0"/>
                <a:ea typeface="+mn-ea"/>
                <a:cs typeface="Times New Roman" panose="02020603050405020304" pitchFamily="18" charset="0"/>
              </a:defRPr>
            </a:lvl2pPr>
            <a:lvl3pPr marL="857028" indent="-171406" algn="l" defTabSz="685622" rtl="0" eaLnBrk="1" latinLnBrk="0" hangingPunct="1">
              <a:spcBef>
                <a:spcPct val="200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199840"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4pPr>
            <a:lvl5pPr marL="1542652" indent="-171406" algn="l" defTabSz="685622" rtl="0" eaLnBrk="1" latinLnBrk="0" hangingPunct="1">
              <a:spcBef>
                <a:spcPct val="20000"/>
              </a:spcBef>
              <a:buFont typeface="Arial" panose="020B0604020202020204" pitchFamily="34" charset="0"/>
              <a:buChar char="»"/>
              <a:defRPr sz="1500" kern="1200">
                <a:solidFill>
                  <a:schemeClr val="tx1"/>
                </a:solidFill>
                <a:latin typeface="Times New Roman" panose="02020603050405020304" pitchFamily="18" charset="0"/>
                <a:ea typeface="+mn-ea"/>
                <a:cs typeface="Times New Roman" panose="02020603050405020304" pitchFamily="18" charset="0"/>
              </a:defRPr>
            </a:lvl5pPr>
            <a:lvl6pPr marL="1885463"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274"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085"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3897" indent="-171406" algn="l" defTabSz="685622"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endParaRPr lang="zh-CN" altLang="en-US" dirty="0"/>
          </a:p>
        </p:txBody>
      </p:sp>
      <p:pic>
        <p:nvPicPr>
          <p:cNvPr id="6" name="图片 5">
            <a:extLst>
              <a:ext uri="{FF2B5EF4-FFF2-40B4-BE49-F238E27FC236}">
                <a16:creationId xmlns:a16="http://schemas.microsoft.com/office/drawing/2014/main" id="{C15B2FAF-A21C-4B32-B882-13CB20EEEABD}"/>
              </a:ext>
            </a:extLst>
          </p:cNvPr>
          <p:cNvPicPr>
            <a:picLocks noChangeAspect="1"/>
          </p:cNvPicPr>
          <p:nvPr/>
        </p:nvPicPr>
        <p:blipFill>
          <a:blip r:embed="rId2"/>
          <a:stretch>
            <a:fillRect/>
          </a:stretch>
        </p:blipFill>
        <p:spPr>
          <a:xfrm>
            <a:off x="6626936" y="63895"/>
            <a:ext cx="2479373" cy="1335869"/>
          </a:xfrm>
          <a:prstGeom prst="rect">
            <a:avLst/>
          </a:prstGeom>
        </p:spPr>
      </p:pic>
      <p:pic>
        <p:nvPicPr>
          <p:cNvPr id="7" name="图片 6">
            <a:extLst>
              <a:ext uri="{FF2B5EF4-FFF2-40B4-BE49-F238E27FC236}">
                <a16:creationId xmlns:a16="http://schemas.microsoft.com/office/drawing/2014/main" id="{868B6F13-B38A-41C0-B3F1-E98FDED19157}"/>
              </a:ext>
            </a:extLst>
          </p:cNvPr>
          <p:cNvPicPr>
            <a:picLocks noChangeAspect="1"/>
          </p:cNvPicPr>
          <p:nvPr/>
        </p:nvPicPr>
        <p:blipFill>
          <a:blip r:embed="rId3"/>
          <a:stretch>
            <a:fillRect/>
          </a:stretch>
        </p:blipFill>
        <p:spPr>
          <a:xfrm>
            <a:off x="6647967" y="1416842"/>
            <a:ext cx="2458342" cy="3525860"/>
          </a:xfrm>
          <a:prstGeom prst="rect">
            <a:avLst/>
          </a:prstGeom>
        </p:spPr>
      </p:pic>
      <p:pic>
        <p:nvPicPr>
          <p:cNvPr id="8" name="图片 7">
            <a:extLst>
              <a:ext uri="{FF2B5EF4-FFF2-40B4-BE49-F238E27FC236}">
                <a16:creationId xmlns:a16="http://schemas.microsoft.com/office/drawing/2014/main" id="{9EEAEE13-27AB-4C1F-8365-18AD4D1C05D1}"/>
              </a:ext>
            </a:extLst>
          </p:cNvPr>
          <p:cNvPicPr>
            <a:picLocks noChangeAspect="1"/>
          </p:cNvPicPr>
          <p:nvPr/>
        </p:nvPicPr>
        <p:blipFill>
          <a:blip r:embed="rId4"/>
          <a:stretch>
            <a:fillRect/>
          </a:stretch>
        </p:blipFill>
        <p:spPr>
          <a:xfrm>
            <a:off x="6642570" y="4959780"/>
            <a:ext cx="2438934" cy="343310"/>
          </a:xfrm>
          <a:prstGeom prst="rect">
            <a:avLst/>
          </a:prstGeom>
        </p:spPr>
      </p:pic>
      <p:pic>
        <p:nvPicPr>
          <p:cNvPr id="9" name="图片 8">
            <a:extLst>
              <a:ext uri="{FF2B5EF4-FFF2-40B4-BE49-F238E27FC236}">
                <a16:creationId xmlns:a16="http://schemas.microsoft.com/office/drawing/2014/main" id="{763AF4EB-D55A-47AA-AA5A-DD65ECA18640}"/>
              </a:ext>
            </a:extLst>
          </p:cNvPr>
          <p:cNvPicPr>
            <a:picLocks noChangeAspect="1"/>
          </p:cNvPicPr>
          <p:nvPr/>
        </p:nvPicPr>
        <p:blipFill>
          <a:blip r:embed="rId5"/>
          <a:stretch>
            <a:fillRect/>
          </a:stretch>
        </p:blipFill>
        <p:spPr>
          <a:xfrm>
            <a:off x="6647967" y="5320168"/>
            <a:ext cx="2458342" cy="1295201"/>
          </a:xfrm>
          <a:prstGeom prst="rect">
            <a:avLst/>
          </a:prstGeom>
        </p:spPr>
      </p:pic>
      <p:pic>
        <p:nvPicPr>
          <p:cNvPr id="10" name="图片 9">
            <a:extLst>
              <a:ext uri="{FF2B5EF4-FFF2-40B4-BE49-F238E27FC236}">
                <a16:creationId xmlns:a16="http://schemas.microsoft.com/office/drawing/2014/main" id="{1534DE83-FD08-4BC5-9005-3A9EEE4D74D7}"/>
              </a:ext>
            </a:extLst>
          </p:cNvPr>
          <p:cNvPicPr>
            <a:picLocks noChangeAspect="1"/>
          </p:cNvPicPr>
          <p:nvPr/>
        </p:nvPicPr>
        <p:blipFill>
          <a:blip r:embed="rId6"/>
          <a:stretch>
            <a:fillRect/>
          </a:stretch>
        </p:blipFill>
        <p:spPr>
          <a:xfrm>
            <a:off x="704850" y="5978371"/>
            <a:ext cx="3867150" cy="619125"/>
          </a:xfrm>
          <a:prstGeom prst="rect">
            <a:avLst/>
          </a:prstGeom>
        </p:spPr>
      </p:pic>
    </p:spTree>
    <p:extLst>
      <p:ext uri="{BB962C8B-B14F-4D97-AF65-F5344CB8AC3E}">
        <p14:creationId xmlns:p14="http://schemas.microsoft.com/office/powerpoint/2010/main" val="269698282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83CE72-7B61-4E13-90EA-77D9A7866FC2}"/>
              </a:ext>
            </a:extLst>
          </p:cNvPr>
          <p:cNvSpPr>
            <a:spLocks noGrp="1"/>
          </p:cNvSpPr>
          <p:nvPr>
            <p:ph type="title"/>
          </p:nvPr>
        </p:nvSpPr>
        <p:spPr/>
        <p:txBody>
          <a:bodyPr>
            <a:normAutofit fontScale="90000"/>
          </a:bodyPr>
          <a:lstStyle/>
          <a:p>
            <a:r>
              <a:rPr lang="en-US" altLang="zh-CN" dirty="0"/>
              <a:t>7.15 </a:t>
            </a:r>
            <a:r>
              <a:rPr lang="zh-CN" altLang="en-US" dirty="0"/>
              <a:t>小结</a:t>
            </a:r>
          </a:p>
        </p:txBody>
      </p:sp>
      <p:sp>
        <p:nvSpPr>
          <p:cNvPr id="3" name="内容占位符 2">
            <a:extLst>
              <a:ext uri="{FF2B5EF4-FFF2-40B4-BE49-F238E27FC236}">
                <a16:creationId xmlns:a16="http://schemas.microsoft.com/office/drawing/2014/main" id="{ECBF20C9-D02A-47B0-89EC-854E3A69A242}"/>
              </a:ext>
            </a:extLst>
          </p:cNvPr>
          <p:cNvSpPr>
            <a:spLocks noGrp="1"/>
          </p:cNvSpPr>
          <p:nvPr>
            <p:ph idx="1"/>
          </p:nvPr>
        </p:nvSpPr>
        <p:spPr>
          <a:xfrm>
            <a:off x="457200" y="837034"/>
            <a:ext cx="8229600" cy="5688310"/>
          </a:xfrm>
        </p:spPr>
        <p:txBody>
          <a:bodyPr>
            <a:normAutofit fontScale="70000" lnSpcReduction="20000"/>
          </a:bodyPr>
          <a:lstStyle/>
          <a:p>
            <a:pPr>
              <a:lnSpc>
                <a:spcPct val="120000"/>
              </a:lnSpc>
            </a:pPr>
            <a:r>
              <a:rPr lang="zh-CN" altLang="en-US" dirty="0"/>
              <a:t>链接的两种方式：</a:t>
            </a:r>
            <a:endParaRPr lang="en-US" altLang="zh-CN" dirty="0"/>
          </a:p>
          <a:p>
            <a:pPr lvl="1">
              <a:lnSpc>
                <a:spcPct val="120000"/>
              </a:lnSpc>
            </a:pPr>
            <a:r>
              <a:rPr lang="zh-CN" altLang="en-US" dirty="0"/>
              <a:t>编译时由静态编译器完成</a:t>
            </a:r>
            <a:endParaRPr lang="en-US" altLang="zh-CN" dirty="0"/>
          </a:p>
          <a:p>
            <a:pPr lvl="1">
              <a:lnSpc>
                <a:spcPct val="120000"/>
              </a:lnSpc>
            </a:pPr>
            <a:r>
              <a:rPr lang="zh-CN" altLang="en-US" dirty="0"/>
              <a:t>加载时和运行时由动态链接器完成</a:t>
            </a:r>
            <a:endParaRPr lang="en-US" altLang="zh-CN" dirty="0"/>
          </a:p>
          <a:p>
            <a:pPr>
              <a:lnSpc>
                <a:spcPct val="120000"/>
              </a:lnSpc>
            </a:pPr>
            <a:r>
              <a:rPr lang="zh-CN" altLang="en-US" dirty="0"/>
              <a:t>链接器处理称为目标文件的二进制文件有</a:t>
            </a:r>
            <a:r>
              <a:rPr lang="en-US" altLang="zh-CN" dirty="0"/>
              <a:t>3</a:t>
            </a:r>
            <a:r>
              <a:rPr lang="zh-CN" altLang="en-US" dirty="0"/>
              <a:t>种方式：</a:t>
            </a:r>
            <a:endParaRPr lang="en-US" altLang="zh-CN" dirty="0"/>
          </a:p>
          <a:p>
            <a:pPr lvl="1">
              <a:lnSpc>
                <a:spcPct val="120000"/>
              </a:lnSpc>
            </a:pPr>
            <a:r>
              <a:rPr lang="zh-CN" altLang="en-US" dirty="0"/>
              <a:t>可重定位的、可执行的和共享的</a:t>
            </a:r>
            <a:endParaRPr lang="en-US" altLang="zh-CN" dirty="0"/>
          </a:p>
          <a:p>
            <a:pPr>
              <a:lnSpc>
                <a:spcPct val="120000"/>
              </a:lnSpc>
            </a:pPr>
            <a:r>
              <a:rPr lang="zh-CN" altLang="en-US" dirty="0"/>
              <a:t>链接器的两个主要任务：</a:t>
            </a:r>
            <a:endParaRPr lang="en-US" altLang="zh-CN" dirty="0"/>
          </a:p>
          <a:p>
            <a:pPr lvl="1">
              <a:lnSpc>
                <a:spcPct val="120000"/>
              </a:lnSpc>
            </a:pPr>
            <a:r>
              <a:rPr lang="zh-CN" altLang="en-US" dirty="0"/>
              <a:t>符号解析：将目标的每个全局符号都绑定到一个唯一的定义</a:t>
            </a:r>
            <a:endParaRPr lang="en-US" altLang="zh-CN" dirty="0"/>
          </a:p>
          <a:p>
            <a:pPr lvl="1">
              <a:lnSpc>
                <a:spcPct val="120000"/>
              </a:lnSpc>
            </a:pPr>
            <a:r>
              <a:rPr lang="zh-CN" altLang="en-US" dirty="0"/>
              <a:t>重定位：确定每个符号的最终内存地址，并修改对那些目标的引用</a:t>
            </a:r>
            <a:endParaRPr lang="en-US" altLang="zh-CN" dirty="0"/>
          </a:p>
          <a:p>
            <a:pPr>
              <a:lnSpc>
                <a:spcPct val="120000"/>
              </a:lnSpc>
            </a:pPr>
            <a:r>
              <a:rPr lang="zh-CN" altLang="en-US" dirty="0"/>
              <a:t>静态链接器由</a:t>
            </a:r>
            <a:r>
              <a:rPr lang="en-US" altLang="zh-CN" dirty="0"/>
              <a:t>GCC</a:t>
            </a:r>
            <a:r>
              <a:rPr lang="zh-CN" altLang="en-US" dirty="0"/>
              <a:t>这样的编译驱动程序调用，将多个可重定位目标文件合并成一个单独的可执行目标文件</a:t>
            </a:r>
            <a:endParaRPr lang="en-US" altLang="zh-CN" dirty="0"/>
          </a:p>
          <a:p>
            <a:pPr>
              <a:lnSpc>
                <a:spcPct val="120000"/>
              </a:lnSpc>
            </a:pPr>
            <a:r>
              <a:rPr lang="zh-CN" altLang="en-US" dirty="0"/>
              <a:t>多个目标文件可以被连接到一个单独的静态库中，链接器用库来解析其他目标模块中的符号引用</a:t>
            </a:r>
            <a:endParaRPr lang="en-US" altLang="zh-CN" dirty="0"/>
          </a:p>
          <a:p>
            <a:pPr>
              <a:lnSpc>
                <a:spcPct val="120000"/>
              </a:lnSpc>
            </a:pPr>
            <a:r>
              <a:rPr lang="zh-CN" altLang="en-US" dirty="0"/>
              <a:t>加载器将可执行文件的内容映射到内存，并运行这个程序；链接器还可能生成部分链接的可执行目标文件，文件中有对定义在共享库中的例程和数据的未解析的引用</a:t>
            </a:r>
            <a:endParaRPr lang="en-US" altLang="zh-CN" dirty="0"/>
          </a:p>
          <a:p>
            <a:pPr>
              <a:lnSpc>
                <a:spcPct val="120000"/>
              </a:lnSpc>
            </a:pPr>
            <a:r>
              <a:rPr lang="zh-CN" altLang="en-US" dirty="0"/>
              <a:t>加载时，加载器将部分链接的可执行文件映射到内存，然后调用动态链接器，通过加载共享库和重定位程序中的引用来完成链接任务</a:t>
            </a:r>
            <a:endParaRPr lang="en-US" altLang="zh-CN" dirty="0"/>
          </a:p>
          <a:p>
            <a:pPr>
              <a:lnSpc>
                <a:spcPct val="120000"/>
              </a:lnSpc>
            </a:pPr>
            <a:r>
              <a:rPr lang="zh-CN" altLang="en-US" dirty="0"/>
              <a:t>被编译为位置无关代码的共享库可以加载到任何地方，也可以在运行时被多个进程共享；为了加载、链接和访问共享库的函数和数据，应用程序也可以在运行时使用动态链接器</a:t>
            </a:r>
          </a:p>
        </p:txBody>
      </p:sp>
      <p:sp>
        <p:nvSpPr>
          <p:cNvPr id="4" name="灯片编号占位符 3">
            <a:extLst>
              <a:ext uri="{FF2B5EF4-FFF2-40B4-BE49-F238E27FC236}">
                <a16:creationId xmlns:a16="http://schemas.microsoft.com/office/drawing/2014/main" id="{9AFDE8EC-51C2-4435-9A18-3B850536BFBE}"/>
              </a:ext>
            </a:extLst>
          </p:cNvPr>
          <p:cNvSpPr>
            <a:spLocks noGrp="1"/>
          </p:cNvSpPr>
          <p:nvPr>
            <p:ph type="sldNum" sz="quarter" idx="12"/>
          </p:nvPr>
        </p:nvSpPr>
        <p:spPr/>
        <p:txBody>
          <a:bodyPr/>
          <a:lstStyle/>
          <a:p>
            <a:fld id="{6D62327B-ED8D-4CFC-ADD0-A75FA5CBE281}" type="slidenum">
              <a:rPr lang="zh-CN" altLang="en-US" smtClean="0"/>
              <a:pPr/>
              <a:t>66</a:t>
            </a:fld>
            <a:endParaRPr lang="zh-CN" altLang="en-US" dirty="0"/>
          </a:p>
        </p:txBody>
      </p:sp>
    </p:spTree>
    <p:extLst>
      <p:ext uri="{BB962C8B-B14F-4D97-AF65-F5344CB8AC3E}">
        <p14:creationId xmlns:p14="http://schemas.microsoft.com/office/powerpoint/2010/main" val="15259257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flipH="1">
            <a:off x="1" y="4248677"/>
            <a:ext cx="3023549" cy="1648425"/>
            <a:chOff x="5917425" y="3435846"/>
            <a:chExt cx="3226575" cy="1707654"/>
          </a:xfrm>
        </p:grpSpPr>
        <p:pic>
          <p:nvPicPr>
            <p:cNvPr id="13" name="Picture 2"/>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2"/>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5" name="组合 14"/>
          <p:cNvGrpSpPr/>
          <p:nvPr/>
        </p:nvGrpSpPr>
        <p:grpSpPr>
          <a:xfrm>
            <a:off x="5936075" y="4219416"/>
            <a:ext cx="3225240" cy="1706947"/>
            <a:chOff x="5917425" y="3435846"/>
            <a:chExt cx="3226575" cy="1707654"/>
          </a:xfrm>
        </p:grpSpPr>
        <p:pic>
          <p:nvPicPr>
            <p:cNvPr id="16" name="Picture 2"/>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p:cNvPicPr>
              <a:picLocks noChangeAspect="1" noChangeArrowheads="1"/>
            </p:cNvPicPr>
            <p:nvPr/>
          </p:nvPicPr>
          <p:blipFill rotWithShape="1">
            <a:blip r:embed="rId3" cstate="screen">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a:ext>
              </a:extLst>
            </a:blip>
            <a:srcRect/>
            <a:stretch/>
          </p:blipFill>
          <p:spPr bwMode="auto">
            <a:xfrm>
              <a:off x="5917425" y="3435846"/>
              <a:ext cx="3226575" cy="170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8" name="矩形 17"/>
          <p:cNvSpPr/>
          <p:nvPr/>
        </p:nvSpPr>
        <p:spPr>
          <a:xfrm>
            <a:off x="1710485" y="2403155"/>
            <a:ext cx="7450831" cy="1816263"/>
          </a:xfrm>
          <a:prstGeom prst="rect">
            <a:avLst/>
          </a:prstGeom>
          <a:solidFill>
            <a:schemeClr val="bg1">
              <a:lumMod val="50000"/>
              <a:alpha val="1098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矩形 20"/>
          <p:cNvSpPr/>
          <p:nvPr/>
        </p:nvSpPr>
        <p:spPr>
          <a:xfrm flipH="1">
            <a:off x="-3" y="2403153"/>
            <a:ext cx="9142812" cy="1943710"/>
          </a:xfrm>
          <a:prstGeom prst="rect">
            <a:avLst/>
          </a:prstGeom>
          <a:gradFill>
            <a:gsLst>
              <a:gs pos="0">
                <a:srgbClr val="0E1A40"/>
              </a:gs>
              <a:gs pos="100000">
                <a:srgbClr val="2F5EB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矩形 21"/>
          <p:cNvSpPr/>
          <p:nvPr/>
        </p:nvSpPr>
        <p:spPr>
          <a:xfrm flipH="1">
            <a:off x="-2" y="5803939"/>
            <a:ext cx="9144001" cy="21667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TextBox 7"/>
          <p:cNvSpPr>
            <a:spLocks noChangeArrowheads="1"/>
          </p:cNvSpPr>
          <p:nvPr/>
        </p:nvSpPr>
        <p:spPr bwMode="auto">
          <a:xfrm>
            <a:off x="2466316" y="3096343"/>
            <a:ext cx="4102914" cy="761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defRPr/>
            </a:pPr>
            <a:r>
              <a:rPr lang="zh-CN" altLang="en-US" sz="4949" b="1" dirty="0">
                <a:solidFill>
                  <a:schemeClr val="bg1"/>
                </a:solidFill>
                <a:latin typeface="微软雅黑" pitchFamily="34" charset="-122"/>
                <a:ea typeface="微软雅黑" pitchFamily="34" charset="-122"/>
                <a:sym typeface="微软雅黑" pitchFamily="34" charset="-122"/>
              </a:rPr>
              <a:t>谢谢</a:t>
            </a:r>
          </a:p>
        </p:txBody>
      </p:sp>
      <p:sp>
        <p:nvSpPr>
          <p:cNvPr id="20" name="TextBox 7"/>
          <p:cNvSpPr>
            <a:spLocks noChangeArrowheads="1"/>
          </p:cNvSpPr>
          <p:nvPr/>
        </p:nvSpPr>
        <p:spPr bwMode="auto">
          <a:xfrm>
            <a:off x="2412323" y="2889081"/>
            <a:ext cx="4157379" cy="242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defRPr/>
            </a:pPr>
            <a:r>
              <a:rPr lang="en-US" altLang="zh-CN" sz="1575" dirty="0">
                <a:solidFill>
                  <a:schemeClr val="bg1"/>
                </a:solidFill>
                <a:latin typeface="方正兰亭黑简体" panose="02000000000000000000" pitchFamily="2" charset="-122"/>
                <a:ea typeface="方正兰亭黑简体" panose="02000000000000000000" pitchFamily="2" charset="-122"/>
                <a:cs typeface="LilyUPC" pitchFamily="34" charset="-34"/>
                <a:sym typeface="微软雅黑" pitchFamily="34" charset="-122"/>
              </a:rPr>
              <a:t>THANK YOU</a:t>
            </a:r>
            <a:endParaRPr lang="zh-CN" altLang="en-US" sz="1575" dirty="0">
              <a:solidFill>
                <a:schemeClr val="bg1"/>
              </a:solidFill>
              <a:latin typeface="方正兰亭黑简体" panose="02000000000000000000" pitchFamily="2" charset="-122"/>
              <a:ea typeface="方正兰亭黑简体" panose="02000000000000000000" pitchFamily="2" charset="-122"/>
              <a:cs typeface="LilyUPC" pitchFamily="34" charset="-34"/>
              <a:sym typeface="微软雅黑" pitchFamily="34" charset="-122"/>
            </a:endParaRPr>
          </a:p>
        </p:txBody>
      </p:sp>
      <p:sp>
        <p:nvSpPr>
          <p:cNvPr id="3" name="灯片编号占位符 2">
            <a:extLst>
              <a:ext uri="{FF2B5EF4-FFF2-40B4-BE49-F238E27FC236}">
                <a16:creationId xmlns:a16="http://schemas.microsoft.com/office/drawing/2014/main" id="{35572FF6-99EA-4905-911A-8171DB6F070C}"/>
              </a:ext>
            </a:extLst>
          </p:cNvPr>
          <p:cNvSpPr>
            <a:spLocks noGrp="1"/>
          </p:cNvSpPr>
          <p:nvPr>
            <p:ph type="sldNum" sz="quarter" idx="12"/>
          </p:nvPr>
        </p:nvSpPr>
        <p:spPr/>
        <p:txBody>
          <a:bodyPr/>
          <a:lstStyle/>
          <a:p>
            <a:fld id="{DE9075AC-DC2A-4E45-86D6-88AB8D4F5B0A}" type="slidenum">
              <a:rPr lang="zh-CN" altLang="en-US" smtClean="0"/>
              <a:t>67</a:t>
            </a:fld>
            <a:endParaRPr lang="zh-CN" altLang="en-US"/>
          </a:p>
        </p:txBody>
      </p:sp>
      <p:pic>
        <p:nvPicPr>
          <p:cNvPr id="5" name="图片 4">
            <a:extLst>
              <a:ext uri="{FF2B5EF4-FFF2-40B4-BE49-F238E27FC236}">
                <a16:creationId xmlns:a16="http://schemas.microsoft.com/office/drawing/2014/main" id="{FE9C365E-8F4A-414B-835B-98F33E986F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1840" y="27168"/>
            <a:ext cx="2346726" cy="2346726"/>
          </a:xfrm>
          <a:prstGeom prst="rect">
            <a:avLst/>
          </a:prstGeom>
        </p:spPr>
      </p:pic>
    </p:spTree>
    <p:extLst>
      <p:ext uri="{BB962C8B-B14F-4D97-AF65-F5344CB8AC3E}">
        <p14:creationId xmlns:p14="http://schemas.microsoft.com/office/powerpoint/2010/main" val="3647229435"/>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p:stCondLst>
                                    <p:cond delay="100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1+#ppt_w/2"/>
                                          </p:val>
                                        </p:tav>
                                        <p:tav tm="100000">
                                          <p:val>
                                            <p:strVal val="#ppt_x"/>
                                          </p:val>
                                        </p:tav>
                                      </p:tavLst>
                                    </p:anim>
                                    <p:anim calcmode="lin" valueType="num">
                                      <p:cBhvr additive="base">
                                        <p:cTn id="8" dur="500" fill="hold"/>
                                        <p:tgtEl>
                                          <p:spTgt spid="18"/>
                                        </p:tgtEl>
                                        <p:attrNameLst>
                                          <p:attrName>ppt_y</p:attrName>
                                        </p:attrNameLst>
                                      </p:cBhvr>
                                      <p:tavLst>
                                        <p:tav tm="0">
                                          <p:val>
                                            <p:strVal val="#ppt_y"/>
                                          </p:val>
                                        </p:tav>
                                        <p:tav tm="100000">
                                          <p:val>
                                            <p:strVal val="#ppt_y"/>
                                          </p:val>
                                        </p:tav>
                                      </p:tavLst>
                                    </p:anim>
                                  </p:childTnLst>
                                </p:cTn>
                              </p:par>
                            </p:childTnLst>
                          </p:cTn>
                        </p:par>
                        <p:par>
                          <p:cTn id="9" fill="hold">
                            <p:stCondLst>
                              <p:cond delay="1500"/>
                            </p:stCondLst>
                            <p:childTnLst>
                              <p:par>
                                <p:cTn id="10" presetID="38" presetClass="entr" presetSubtype="0" accel="50000" fill="hold" grpId="0" nodeType="afterEffect">
                                  <p:stCondLst>
                                    <p:cond delay="0"/>
                                  </p:stCondLst>
                                  <p:iterate type="lt">
                                    <p:tmPct val="50000"/>
                                  </p:iterate>
                                  <p:childTnLst>
                                    <p:set>
                                      <p:cBhvr>
                                        <p:cTn id="11" dur="1" fill="hold">
                                          <p:stCondLst>
                                            <p:cond delay="0"/>
                                          </p:stCondLst>
                                        </p:cTn>
                                        <p:tgtEl>
                                          <p:spTgt spid="20"/>
                                        </p:tgtEl>
                                        <p:attrNameLst>
                                          <p:attrName>style.visibility</p:attrName>
                                        </p:attrNameLst>
                                      </p:cBhvr>
                                      <p:to>
                                        <p:strVal val="visible"/>
                                      </p:to>
                                    </p:set>
                                    <p:set>
                                      <p:cBhvr>
                                        <p:cTn id="12" dur="114" fill="hold">
                                          <p:stCondLst>
                                            <p:cond delay="0"/>
                                          </p:stCondLst>
                                        </p:cTn>
                                        <p:tgtEl>
                                          <p:spTgt spid="20"/>
                                        </p:tgtEl>
                                        <p:attrNameLst>
                                          <p:attrName>style.rotation</p:attrName>
                                        </p:attrNameLst>
                                      </p:cBhvr>
                                      <p:to>
                                        <p:strVal val="-45.0"/>
                                      </p:to>
                                    </p:set>
                                    <p:anim calcmode="lin" valueType="num">
                                      <p:cBhvr>
                                        <p:cTn id="13" dur="114" fill="hold">
                                          <p:stCondLst>
                                            <p:cond delay="114"/>
                                          </p:stCondLst>
                                        </p:cTn>
                                        <p:tgtEl>
                                          <p:spTgt spid="20"/>
                                        </p:tgtEl>
                                        <p:attrNameLst>
                                          <p:attrName>style.rotation</p:attrName>
                                        </p:attrNameLst>
                                      </p:cBhvr>
                                      <p:tavLst>
                                        <p:tav tm="0">
                                          <p:val>
                                            <p:fltVal val="-45"/>
                                          </p:val>
                                        </p:tav>
                                        <p:tav tm="69900">
                                          <p:val>
                                            <p:fltVal val="45"/>
                                          </p:val>
                                        </p:tav>
                                        <p:tav tm="100000">
                                          <p:val>
                                            <p:fltVal val="0"/>
                                          </p:val>
                                        </p:tav>
                                      </p:tavLst>
                                    </p:anim>
                                    <p:anim calcmode="lin" valueType="num">
                                      <p:cBhvr>
                                        <p:cTn id="14" dur="114" fill="hold">
                                          <p:stCondLst>
                                            <p:cond delay="0"/>
                                          </p:stCondLst>
                                        </p:cTn>
                                        <p:tgtEl>
                                          <p:spTgt spid="20"/>
                                        </p:tgtEl>
                                        <p:attrNameLst>
                                          <p:attrName>ppt_y</p:attrName>
                                        </p:attrNameLst>
                                      </p:cBhvr>
                                      <p:tavLst>
                                        <p:tav tm="0">
                                          <p:val>
                                            <p:strVal val="#ppt_y-1"/>
                                          </p:val>
                                        </p:tav>
                                        <p:tav tm="100000">
                                          <p:val>
                                            <p:strVal val="#ppt_y-(0.354*#ppt_w-0.172*#ppt_h)"/>
                                          </p:val>
                                        </p:tav>
                                      </p:tavLst>
                                    </p:anim>
                                    <p:anim calcmode="lin" valueType="num">
                                      <p:cBhvr>
                                        <p:cTn id="15" dur="39" decel="50000" autoRev="1" fill="hold">
                                          <p:stCondLst>
                                            <p:cond delay="114"/>
                                          </p:stCondLst>
                                        </p:cTn>
                                        <p:tgtEl>
                                          <p:spTgt spid="20"/>
                                        </p:tgtEl>
                                        <p:attrNameLst>
                                          <p:attrName>ppt_y</p:attrName>
                                        </p:attrNameLst>
                                      </p:cBhvr>
                                      <p:tavLst>
                                        <p:tav tm="0">
                                          <p:val>
                                            <p:strVal val="#ppt_y-(0.354*#ppt_w-0.172*#ppt_h)"/>
                                          </p:val>
                                        </p:tav>
                                        <p:tav tm="100000">
                                          <p:val>
                                            <p:strVal val="#ppt_y-(0.354*#ppt_w-0.172*#ppt_h)-#ppt_h/2"/>
                                          </p:val>
                                        </p:tav>
                                      </p:tavLst>
                                    </p:anim>
                                    <p:anim calcmode="lin" valueType="num">
                                      <p:cBhvr>
                                        <p:cTn id="16" dur="34" fill="hold">
                                          <p:stCondLst>
                                            <p:cond delay="216"/>
                                          </p:stCondLst>
                                        </p:cTn>
                                        <p:tgtEl>
                                          <p:spTgt spid="20"/>
                                        </p:tgtEl>
                                        <p:attrNameLst>
                                          <p:attrName>ppt_y</p:attrName>
                                        </p:attrNameLst>
                                      </p:cBhvr>
                                      <p:tavLst>
                                        <p:tav tm="0">
                                          <p:val>
                                            <p:strVal val="#ppt_y-(0.354*#ppt_w-0.172*#ppt_h)"/>
                                          </p:val>
                                        </p:tav>
                                        <p:tav tm="100000">
                                          <p:val>
                                            <p:strVal val="#ppt_y"/>
                                          </p:val>
                                        </p:tav>
                                      </p:tavLst>
                                    </p:anim>
                                  </p:childTnLst>
                                </p:cTn>
                              </p:par>
                            </p:childTnLst>
                          </p:cTn>
                        </p:par>
                        <p:par>
                          <p:cTn id="17" fill="hold">
                            <p:stCondLst>
                              <p:cond delay="2625"/>
                            </p:stCondLst>
                            <p:childTnLst>
                              <p:par>
                                <p:cTn id="18" presetID="52" presetClass="entr" presetSubtype="0" fill="hold" grpId="0" nodeType="afterEffect">
                                  <p:stCondLst>
                                    <p:cond delay="0"/>
                                  </p:stCondLst>
                                  <p:iterate type="lt">
                                    <p:tmPct val="10000"/>
                                  </p:iterate>
                                  <p:childTnLst>
                                    <p:set>
                                      <p:cBhvr>
                                        <p:cTn id="19" dur="1" fill="hold">
                                          <p:stCondLst>
                                            <p:cond delay="0"/>
                                          </p:stCondLst>
                                        </p:cTn>
                                        <p:tgtEl>
                                          <p:spTgt spid="19"/>
                                        </p:tgtEl>
                                        <p:attrNameLst>
                                          <p:attrName>style.visibility</p:attrName>
                                        </p:attrNameLst>
                                      </p:cBhvr>
                                      <p:to>
                                        <p:strVal val="visible"/>
                                      </p:to>
                                    </p:set>
                                    <p:animScale>
                                      <p:cBhvr>
                                        <p:cTn id="20"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1" dur="1000" decel="50000" fill="hold">
                                          <p:stCondLst>
                                            <p:cond delay="0"/>
                                          </p:stCondLst>
                                        </p:cTn>
                                        <p:tgtEl>
                                          <p:spTgt spid="19"/>
                                        </p:tgtEl>
                                        <p:attrNameLst>
                                          <p:attrName>ppt_x</p:attrName>
                                          <p:attrName>ppt_y</p:attrName>
                                        </p:attrNameLst>
                                      </p:cBhvr>
                                    </p:animMotion>
                                    <p:animEffect transition="in" filter="fade">
                                      <p:cBhvr>
                                        <p:cTn id="22"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P spid="20" grpId="0"/>
    </p:bld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16541</TotalTime>
  <Words>17124</Words>
  <Application>Microsoft Office PowerPoint</Application>
  <PresentationFormat>全屏显示(4:3)</PresentationFormat>
  <Paragraphs>1891</Paragraphs>
  <Slides>67</Slides>
  <Notes>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67</vt:i4>
      </vt:variant>
    </vt:vector>
  </HeadingPairs>
  <TitlesOfParts>
    <vt:vector size="82" baseType="lpstr">
      <vt:lpstr>Impact MT Std</vt:lpstr>
      <vt:lpstr>Menlo-Regular</vt:lpstr>
      <vt:lpstr>方正兰亭超细黑简体</vt:lpstr>
      <vt:lpstr>方正兰亭黑简体</vt:lpstr>
      <vt:lpstr>华文中宋</vt:lpstr>
      <vt:lpstr>微软雅黑</vt:lpstr>
      <vt:lpstr>Arial</vt:lpstr>
      <vt:lpstr>Arial Rounded MT Bold</vt:lpstr>
      <vt:lpstr>Baskerville Old Face</vt:lpstr>
      <vt:lpstr>Calibri</vt:lpstr>
      <vt:lpstr>Comic Sans MS</vt:lpstr>
      <vt:lpstr>Courier New</vt:lpstr>
      <vt:lpstr>Times New Roman</vt:lpstr>
      <vt:lpstr>Wingdings</vt:lpstr>
      <vt:lpstr>第一PPT，www.1ppt.com</vt:lpstr>
      <vt:lpstr>PowerPoint 演示文稿</vt:lpstr>
      <vt:lpstr>PowerPoint 演示文稿</vt:lpstr>
      <vt:lpstr>PowerPoint 演示文稿</vt:lpstr>
      <vt:lpstr>7.1 编译器驱动程序</vt:lpstr>
      <vt:lpstr>静态链接示例</vt:lpstr>
      <vt:lpstr>实验验证</vt:lpstr>
      <vt:lpstr>.c.i</vt:lpstr>
      <vt:lpstr>.i.s</vt:lpstr>
      <vt:lpstr>.s.o</vt:lpstr>
      <vt:lpstr>查看gcc编译</vt:lpstr>
      <vt:lpstr>7.2 静态链接</vt:lpstr>
      <vt:lpstr>7.3 目标文件</vt:lpstr>
      <vt:lpstr>7.4 可重定位目标文件</vt:lpstr>
      <vt:lpstr>7.4 可重定位目标文件</vt:lpstr>
      <vt:lpstr>7.5 符号和符号表</vt:lpstr>
      <vt:lpstr>Static属性本地过程变量</vt:lpstr>
      <vt:lpstr>符号表</vt:lpstr>
      <vt:lpstr>伪节(pseudosection)</vt:lpstr>
      <vt:lpstr>示例：Readelf命令查看目标文件内容</vt:lpstr>
      <vt:lpstr>readelf -a prog（示例）</vt:lpstr>
      <vt:lpstr>练习题 7.1</vt:lpstr>
      <vt:lpstr>作业1：</vt:lpstr>
      <vt:lpstr>作业2：</vt:lpstr>
      <vt:lpstr>7.6 符号解析</vt:lpstr>
      <vt:lpstr>7.6.1 链接器如何解析多重定义的全局符号</vt:lpstr>
      <vt:lpstr>链接器规则示例</vt:lpstr>
      <vt:lpstr>链接器规则示例</vt:lpstr>
      <vt:lpstr>链接器规则示例</vt:lpstr>
      <vt:lpstr>练习题7.2</vt:lpstr>
      <vt:lpstr>7.6.2 与静态库链接</vt:lpstr>
      <vt:lpstr>静态库示例</vt:lpstr>
      <vt:lpstr>与静态库链接器行为图</vt:lpstr>
      <vt:lpstr>7.6.3 链接器如何使用静态库来解析引用</vt:lpstr>
      <vt:lpstr>算法可能导致的链接错误</vt:lpstr>
      <vt:lpstr>练习题7.3</vt:lpstr>
      <vt:lpstr>7.7 重定位</vt:lpstr>
      <vt:lpstr>7.7.1 重定位条目</vt:lpstr>
      <vt:lpstr>重定位算法</vt:lpstr>
      <vt:lpstr>7.7.2 重定位符号引用</vt:lpstr>
      <vt:lpstr>7.7.2 重定位符号引用</vt:lpstr>
      <vt:lpstr>最终可执行目标文件中已重定位的.text节和.data节</vt:lpstr>
      <vt:lpstr>练习题7.4</vt:lpstr>
      <vt:lpstr>练习题7.5</vt:lpstr>
      <vt:lpstr>7.8 可执行目标文件</vt:lpstr>
      <vt:lpstr>可执行文件程序头部表</vt:lpstr>
      <vt:lpstr>7.9 加载可执行目标文件</vt:lpstr>
      <vt:lpstr>加载器运行执行过程</vt:lpstr>
      <vt:lpstr>7.10 动态链接共享库</vt:lpstr>
      <vt:lpstr>动态链接过程示例</vt:lpstr>
      <vt:lpstr>构造向量例程共享库</vt:lpstr>
      <vt:lpstr>文件执行过程解析</vt:lpstr>
      <vt:lpstr>7.11 从应用程序中加载和链接共享库</vt:lpstr>
      <vt:lpstr>Linux为动态链接器提供的接口</vt:lpstr>
      <vt:lpstr>动态链接共享库示例</vt:lpstr>
      <vt:lpstr>7.12 位置无关代码</vt:lpstr>
      <vt:lpstr>GOT示例</vt:lpstr>
      <vt:lpstr>7.12 位置无关代码</vt:lpstr>
      <vt:lpstr>GOT和PLT协同工作</vt:lpstr>
      <vt:lpstr>GOT和PLT协同工作</vt:lpstr>
      <vt:lpstr>7.13 库打桩机制</vt:lpstr>
      <vt:lpstr>7.13.1 编译时打桩</vt:lpstr>
      <vt:lpstr>7.13.2 链接时打桩</vt:lpstr>
      <vt:lpstr>7.13.3 运行时打桩</vt:lpstr>
      <vt:lpstr>运行时打桩示例</vt:lpstr>
      <vt:lpstr>7.14 处理目标文件的工具</vt:lpstr>
      <vt:lpstr>7.15 小结</vt:lpstr>
      <vt:lpstr>PowerPoint 演示文稿</vt:lpstr>
    </vt:vector>
  </TitlesOfParts>
  <Company>http://www.deepbbs.org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蓝色商务</dc:title>
  <dc:creator>第一PPT</dc:creator>
  <cp:keywords>www.1ppt.com</cp:keywords>
  <cp:lastModifiedBy>张延松</cp:lastModifiedBy>
  <cp:revision>1021</cp:revision>
  <dcterms:created xsi:type="dcterms:W3CDTF">2015-12-30T00:59:47Z</dcterms:created>
  <dcterms:modified xsi:type="dcterms:W3CDTF">2024-12-06T09:51:49Z</dcterms:modified>
</cp:coreProperties>
</file>