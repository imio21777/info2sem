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5"/>
  </p:notesMasterIdLst>
  <p:handoutMasterIdLst>
    <p:handoutMasterId r:id="rId56"/>
  </p:handoutMasterIdLst>
  <p:sldIdLst>
    <p:sldId id="1081" r:id="rId2"/>
    <p:sldId id="1115" r:id="rId3"/>
    <p:sldId id="1089" r:id="rId4"/>
    <p:sldId id="1090" r:id="rId5"/>
    <p:sldId id="1091" r:id="rId6"/>
    <p:sldId id="1092" r:id="rId7"/>
    <p:sldId id="1093" r:id="rId8"/>
    <p:sldId id="1094" r:id="rId9"/>
    <p:sldId id="1095" r:id="rId10"/>
    <p:sldId id="1096" r:id="rId11"/>
    <p:sldId id="1097" r:id="rId12"/>
    <p:sldId id="1098" r:id="rId13"/>
    <p:sldId id="1099" r:id="rId14"/>
    <p:sldId id="1100" r:id="rId15"/>
    <p:sldId id="1101" r:id="rId16"/>
    <p:sldId id="1102" r:id="rId17"/>
    <p:sldId id="1103" r:id="rId18"/>
    <p:sldId id="1104" r:id="rId19"/>
    <p:sldId id="1105" r:id="rId20"/>
    <p:sldId id="1106" r:id="rId21"/>
    <p:sldId id="1107" r:id="rId22"/>
    <p:sldId id="1108" r:id="rId23"/>
    <p:sldId id="1109" r:id="rId24"/>
    <p:sldId id="1110" r:id="rId25"/>
    <p:sldId id="1111" r:id="rId26"/>
    <p:sldId id="1112" r:id="rId27"/>
    <p:sldId id="1113" r:id="rId28"/>
    <p:sldId id="1114" r:id="rId29"/>
    <p:sldId id="1040" r:id="rId30"/>
    <p:sldId id="1041" r:id="rId31"/>
    <p:sldId id="990" r:id="rId32"/>
    <p:sldId id="991" r:id="rId33"/>
    <p:sldId id="992" r:id="rId34"/>
    <p:sldId id="993" r:id="rId35"/>
    <p:sldId id="994" r:id="rId36"/>
    <p:sldId id="995" r:id="rId37"/>
    <p:sldId id="1079" r:id="rId38"/>
    <p:sldId id="1080" r:id="rId39"/>
    <p:sldId id="998" r:id="rId40"/>
    <p:sldId id="999" r:id="rId41"/>
    <p:sldId id="1044" r:id="rId42"/>
    <p:sldId id="1000" r:id="rId43"/>
    <p:sldId id="1001" r:id="rId44"/>
    <p:sldId id="1002" r:id="rId45"/>
    <p:sldId id="1003" r:id="rId46"/>
    <p:sldId id="1082" r:id="rId47"/>
    <p:sldId id="1083" r:id="rId48"/>
    <p:sldId id="1086" r:id="rId49"/>
    <p:sldId id="1087" r:id="rId50"/>
    <p:sldId id="1088" r:id="rId51"/>
    <p:sldId id="1085" r:id="rId52"/>
    <p:sldId id="1084" r:id="rId53"/>
    <p:sldId id="1117" r:id="rId5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panose="030F0902030302020204" pitchFamily="66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panose="030F0902030302020204" pitchFamily="66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panose="030F0902030302020204" pitchFamily="66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panose="030F0902030302020204" pitchFamily="66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panose="030F0902030302020204" pitchFamily="66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mic Sans MS" panose="030F0902030302020204" pitchFamily="66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mic Sans MS" panose="030F0902030302020204" pitchFamily="66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mic Sans MS" panose="030F0902030302020204" pitchFamily="66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mic Sans MS" panose="030F09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46" autoAdjust="0"/>
    <p:restoredTop sz="95986" autoAdjust="0"/>
  </p:normalViewPr>
  <p:slideViewPr>
    <p:cSldViewPr>
      <p:cViewPr varScale="1">
        <p:scale>
          <a:sx n="123" d="100"/>
          <a:sy n="123" d="100"/>
        </p:scale>
        <p:origin x="113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B5D1ED9-9208-513D-7EBD-0DE69EB1CB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>
                <a:latin typeface="Comic Sans MS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13F6EBD-A67D-33B6-352F-B74D121B1E8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1" sz="1200">
                <a:latin typeface="Comic Sans MS" charset="0"/>
                <a:ea typeface="宋体" charset="-122"/>
              </a:defRPr>
            </a:lvl1pPr>
          </a:lstStyle>
          <a:p>
            <a:pPr>
              <a:defRPr/>
            </a:pPr>
            <a:fld id="{D9B545F8-A471-ED47-BDE4-8C2E1FB1E032}" type="datetimeFigureOut">
              <a:rPr lang="zh-CN" altLang="en-US"/>
              <a:pPr>
                <a:defRPr/>
              </a:pPr>
              <a:t>2024/10/14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05AA68-A754-EBF2-6BF9-3888953511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>
                <a:latin typeface="Comic Sans MS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幻灯片编号占位符 4">
            <a:extLst>
              <a:ext uri="{FF2B5EF4-FFF2-40B4-BE49-F238E27FC236}">
                <a16:creationId xmlns:a16="http://schemas.microsoft.com/office/drawing/2014/main" id="{18C5BA7B-2DEA-1595-05C7-DB9067837F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/>
            </a:lvl1pPr>
          </a:lstStyle>
          <a:p>
            <a:pPr>
              <a:defRPr/>
            </a:pPr>
            <a:fld id="{6F17FDC1-9F18-3348-805A-2EC9285E512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AFBF2AD-E06B-37E4-22CB-EF11CD0ACB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584764-C960-0CE2-40F6-0B863BEB18C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BF149768-E3EF-400A-B873-2B6E51752863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14E9E6C-85B9-9307-25F8-CD41791702A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AFDB7D79-C8AD-9871-18B6-FC170D95223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26DCE599-67B3-D388-84DA-422712AD24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D6F1666-BFA1-4240-8A71-1A10E4E9CC7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58ADB4E5-9EDD-444F-C556-85E597688E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764B94FB-DABA-3B44-9865-651F2B4A5B1A}" type="slidenum">
              <a:rPr lang="zh-CN" altLang="en-US" sz="1200" b="0" smtClean="0">
                <a:latin typeface="Times New Roman" panose="02020603050405020304" pitchFamily="18" charset="0"/>
              </a:rPr>
              <a:pPr/>
              <a:t>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9E4079AB-7CAC-DEB1-AB9E-EBF787EDB0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BB2CF30-C0A8-7796-C08A-333E471CA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559CE65E-CE35-D394-D9B3-9587E66AC8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4F6C47AC-44CE-1948-918E-8035186E0762}" type="slidenum">
              <a:rPr lang="zh-CN" altLang="en-US" sz="1200" b="0" smtClean="0">
                <a:latin typeface="Times New Roman" panose="02020603050405020304" pitchFamily="18" charset="0"/>
              </a:rPr>
              <a:pPr/>
              <a:t>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AC9FED31-3101-AE60-89C6-92FD5EAF7E2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8388FF0-9127-328B-C03D-060C95908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ECC2EFD1-9722-BC17-7A12-090772F182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A399065F-694F-6D44-B7DB-27394C1D2942}" type="slidenum">
              <a:rPr lang="zh-CN" altLang="en-US" sz="1200" b="0" smtClean="0">
                <a:latin typeface="Times New Roman" panose="02020603050405020304" pitchFamily="18" charset="0"/>
              </a:rPr>
              <a:pPr/>
              <a:t>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8A21C68B-7E46-D95F-C854-5C75965753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1A5CFC6-89A9-D459-027D-5E241071BB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CCCEE8AD-4CF0-9DF6-EF2F-7FBFC218CF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C4421975-E400-E34C-8FA9-F3B375115254}" type="slidenum">
              <a:rPr lang="zh-CN" altLang="en-US" sz="1200" b="0" smtClean="0">
                <a:latin typeface="Times New Roman" panose="02020603050405020304" pitchFamily="18" charset="0"/>
              </a:rPr>
              <a:pPr/>
              <a:t>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EF94C9D4-1C05-D5A9-CA8A-2874FCFA9E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7E708A7-0280-43F4-BE1B-714D3FF904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34FC7A4C-904D-4AD8-CE4C-AF0FAFEF26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E4C0CC24-FD87-184E-807E-2EE9849F31DA}" type="slidenum">
              <a:rPr lang="zh-CN" altLang="en-US" sz="1200" b="0" smtClean="0">
                <a:latin typeface="Times New Roman" panose="02020603050405020304" pitchFamily="18" charset="0"/>
              </a:rPr>
              <a:pPr/>
              <a:t>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C181C30F-286A-6053-9D0B-577DBD3DA9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EDF5BA5-35C8-5946-9796-1F9EB073B1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E1BAD3EF-AB4C-FC4A-F980-5EC7F07F22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99E0DCD2-7BD8-1D4A-9668-913B16B604E2}" type="slidenum">
              <a:rPr lang="zh-CN" altLang="en-US" sz="1200" b="0" smtClean="0">
                <a:latin typeface="Times New Roman" panose="02020603050405020304" pitchFamily="18" charset="0"/>
              </a:rPr>
              <a:pPr/>
              <a:t>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5D84CE2E-181B-1914-6D69-07DFC7F645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11AC81B0-C5DA-695F-D4ED-D1F4DC9D57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D274B83B-B69C-F5CB-C01C-3B1452D423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7BD9B06B-FC52-2ABC-A0E7-775CEF9A04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6CA43BC3-7C70-9507-F72F-20CE4B712C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Rectangle 3">
            <a:extLst>
              <a:ext uri="{FF2B5EF4-FFF2-40B4-BE49-F238E27FC236}">
                <a16:creationId xmlns:a16="http://schemas.microsoft.com/office/drawing/2014/main" id="{7D677B87-E811-949D-899B-AA6BC0217E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zh-CN"/>
              <a:t>1.-O，-O1： </a:t>
            </a:r>
            <a:br>
              <a:rPr lang="zh-CN" altLang="zh-CN"/>
            </a:br>
            <a:r>
              <a:rPr lang="zh-CN" altLang="en-US"/>
              <a:t>这两个命令的效果是一样的，目的都是在不影响编译速度的前提下，尽量采用一些优化算法降低代码大小和可执行代码的运行速度。</a:t>
            </a:r>
            <a:endParaRPr lang="en-US" altLang="zh-CN"/>
          </a:p>
          <a:p>
            <a:endParaRPr lang="en-US" altLang="zh-CN"/>
          </a:p>
          <a:p>
            <a:r>
              <a:rPr lang="zh-CN" altLang="zh-CN"/>
              <a:t>2. -O2 </a:t>
            </a:r>
            <a:br>
              <a:rPr lang="zh-CN" altLang="zh-CN"/>
            </a:br>
            <a:r>
              <a:rPr lang="zh-CN" altLang="en-US"/>
              <a:t>该优化选项会牺牲部分编译速度，除了执行</a:t>
            </a:r>
            <a:r>
              <a:rPr lang="en-US" altLang="zh-CN"/>
              <a:t>-</a:t>
            </a:r>
            <a:r>
              <a:rPr lang="zh-CN" altLang="zh-CN"/>
              <a:t>O1</a:t>
            </a:r>
            <a:r>
              <a:rPr lang="zh-CN" altLang="en-US"/>
              <a:t>所执行的所有优化之外，还会采用几乎所有的目标配置支持的优化算法，用以提高目标代码的运行速度。 </a:t>
            </a:r>
            <a:endParaRPr lang="en-US" altLang="zh-CN"/>
          </a:p>
          <a:p>
            <a:endParaRPr lang="en-US" altLang="zh-CN"/>
          </a:p>
          <a:p>
            <a:r>
              <a:rPr lang="zh-CN" altLang="zh-CN"/>
              <a:t>3. -O3 </a:t>
            </a:r>
            <a:br>
              <a:rPr lang="zh-CN" altLang="zh-CN"/>
            </a:br>
            <a:r>
              <a:rPr lang="zh-CN" altLang="en-US"/>
              <a:t>该选项除了执行</a:t>
            </a:r>
            <a:r>
              <a:rPr lang="en-US" altLang="zh-CN"/>
              <a:t>-</a:t>
            </a:r>
            <a:r>
              <a:rPr lang="zh-CN" altLang="zh-CN"/>
              <a:t>O2</a:t>
            </a:r>
            <a:r>
              <a:rPr lang="zh-CN" altLang="en-US"/>
              <a:t>所有的优化选项之外，一般都是采取很多向量化算法，提高代码的并行执行程度，利用现代</a:t>
            </a:r>
            <a:r>
              <a:rPr lang="zh-CN" altLang="zh-CN"/>
              <a:t>CPU</a:t>
            </a:r>
            <a:r>
              <a:rPr lang="zh-CN" altLang="en-US"/>
              <a:t>中的流水线，</a:t>
            </a:r>
            <a:r>
              <a:rPr lang="zh-CN" altLang="zh-CN"/>
              <a:t>Cache</a:t>
            </a:r>
            <a:r>
              <a:rPr lang="zh-CN" altLang="en-US"/>
              <a:t>等。 </a:t>
            </a:r>
            <a:endParaRPr lang="en-US" altLang="zh-CN"/>
          </a:p>
          <a:p>
            <a:br>
              <a:rPr lang="en-US" altLang="zh-CN"/>
            </a:br>
            <a:r>
              <a:rPr lang="zh-CN" altLang="zh-CN"/>
              <a:t>４. -Os </a:t>
            </a:r>
            <a:br>
              <a:rPr lang="zh-CN" altLang="zh-CN"/>
            </a:br>
            <a:r>
              <a:rPr lang="zh-CN" altLang="en-US"/>
              <a:t>这个优化标识和</a:t>
            </a:r>
            <a:r>
              <a:rPr lang="en-US" altLang="zh-CN"/>
              <a:t>-</a:t>
            </a:r>
            <a:r>
              <a:rPr lang="zh-CN" altLang="zh-CN"/>
              <a:t>O3</a:t>
            </a:r>
            <a:r>
              <a:rPr lang="zh-CN" altLang="en-US"/>
              <a:t>相近，但两者的目标不一样，</a:t>
            </a:r>
            <a:r>
              <a:rPr lang="en-US" altLang="zh-CN"/>
              <a:t>-</a:t>
            </a:r>
            <a:r>
              <a:rPr lang="zh-CN" altLang="zh-CN"/>
              <a:t>O3</a:t>
            </a:r>
            <a:r>
              <a:rPr lang="zh-CN" altLang="en-US"/>
              <a:t>的目标是宁愿增加目标代码的大小，也要拼命的提高运行速度，但是这个选项是在</a:t>
            </a:r>
            <a:r>
              <a:rPr lang="en-US" altLang="zh-CN"/>
              <a:t>-</a:t>
            </a:r>
            <a:r>
              <a:rPr lang="zh-CN" altLang="zh-CN"/>
              <a:t>O2</a:t>
            </a:r>
            <a:r>
              <a:rPr lang="zh-CN" altLang="en-US"/>
              <a:t>的基础之上，尽量的降低目标代码的大小，这对于存储容量很小的设备来说非常重要。 </a:t>
            </a:r>
            <a:endParaRPr lang="en-US" altLang="zh-CN"/>
          </a:p>
          <a:p>
            <a:endParaRPr lang="en-US" altLang="zh-CN"/>
          </a:p>
          <a:p>
            <a:r>
              <a:rPr lang="zh-CN" altLang="zh-CN"/>
              <a:t>5. -Ofast: </a:t>
            </a:r>
            <a:br>
              <a:rPr lang="zh-CN" altLang="zh-CN"/>
            </a:br>
            <a:r>
              <a:rPr lang="zh-CN" altLang="en-US"/>
              <a:t>该选项将不会严格遵循语言标准，除了启用所有的</a:t>
            </a:r>
            <a:r>
              <a:rPr lang="en-US" altLang="zh-CN"/>
              <a:t>-</a:t>
            </a:r>
            <a:r>
              <a:rPr lang="zh-CN" altLang="zh-CN"/>
              <a:t>O3</a:t>
            </a:r>
            <a:r>
              <a:rPr lang="zh-CN" altLang="en-US"/>
              <a:t>优化选项之外，也会针对某些语言启用部分优化。</a:t>
            </a:r>
            <a:endParaRPr lang="en-US" altLang="zh-CN"/>
          </a:p>
          <a:p>
            <a:endParaRPr lang="en-US" altLang="zh-CN"/>
          </a:p>
          <a:p>
            <a:r>
              <a:rPr lang="zh-CN" altLang="zh-CN"/>
              <a:t>6.-Og: </a:t>
            </a:r>
            <a:br>
              <a:rPr lang="zh-CN" altLang="zh-CN"/>
            </a:br>
            <a:r>
              <a:rPr lang="zh-CN" altLang="en-US">
                <a:solidFill>
                  <a:srgbClr val="4D4D4D"/>
                </a:solidFill>
                <a:latin typeface="-apple-system"/>
              </a:rPr>
              <a:t>如果想用调试器执行一个</a:t>
            </a:r>
            <a:r>
              <a:rPr lang="zh-CN" altLang="en-US">
                <a:solidFill>
                  <a:srgbClr val="FC5531"/>
                </a:solidFill>
                <a:latin typeface="-apple-system"/>
              </a:rPr>
              <a:t>可执行文件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， 在用</a:t>
            </a:r>
            <a:r>
              <a:rPr lang="zh-CN" altLang="zh-CN">
                <a:solidFill>
                  <a:srgbClr val="4D4D4D"/>
                </a:solidFill>
                <a:latin typeface="-apple-system"/>
              </a:rPr>
              <a:t>gcc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编译时必须加上</a:t>
            </a:r>
            <a:r>
              <a:rPr lang="en-US" altLang="zh-CN">
                <a:solidFill>
                  <a:srgbClr val="4D4D4D"/>
                </a:solidFill>
                <a:latin typeface="-apple-system"/>
              </a:rPr>
              <a:t>-</a:t>
            </a:r>
            <a:r>
              <a:rPr lang="zh-CN" altLang="zh-CN">
                <a:solidFill>
                  <a:srgbClr val="4D4D4D"/>
                </a:solidFill>
                <a:latin typeface="-apple-system"/>
              </a:rPr>
              <a:t>g</a:t>
            </a:r>
            <a:r>
              <a:rPr lang="zh-CN" altLang="en-US">
                <a:solidFill>
                  <a:srgbClr val="4D4D4D"/>
                </a:solidFill>
                <a:latin typeface="-apple-system"/>
              </a:rPr>
              <a:t>选项</a:t>
            </a:r>
            <a:endParaRPr lang="zh-CN" altLang="zh-CN"/>
          </a:p>
          <a:p>
            <a:r>
              <a:rPr lang="zh-CN" altLang="en-US"/>
              <a:t>该标识会精心挑选部分与</a:t>
            </a:r>
            <a:r>
              <a:rPr lang="en-US" altLang="zh-CN"/>
              <a:t>-</a:t>
            </a:r>
            <a:r>
              <a:rPr lang="zh-CN" altLang="zh-CN"/>
              <a:t>g</a:t>
            </a:r>
            <a:r>
              <a:rPr lang="zh-CN" altLang="en-US"/>
              <a:t>选项不冲突的优化选项，当然就能提供合理的优化水平，同时产生较好的可调试信息和对语言标准的遵循程度。</a:t>
            </a: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>
            <a:extLst>
              <a:ext uri="{FF2B5EF4-FFF2-40B4-BE49-F238E27FC236}">
                <a16:creationId xmlns:a16="http://schemas.microsoft.com/office/drawing/2014/main" id="{8A54AF02-2C50-5B3C-2938-DD49639A9F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BBC3203D-FB92-93D3-AE34-6B38C19AFB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>
            <a:extLst>
              <a:ext uri="{FF2B5EF4-FFF2-40B4-BE49-F238E27FC236}">
                <a16:creationId xmlns:a16="http://schemas.microsoft.com/office/drawing/2014/main" id="{D6CD5C85-9232-0E60-9C9F-3562281D69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Rectangle 3">
            <a:extLst>
              <a:ext uri="{FF2B5EF4-FFF2-40B4-BE49-F238E27FC236}">
                <a16:creationId xmlns:a16="http://schemas.microsoft.com/office/drawing/2014/main" id="{BB0ADC59-8875-56F3-DBAC-A552B52F53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1F8E5A12-C73A-2164-8587-E49AAFDE71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431CC892-30F8-6780-B8D9-757BFF422D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6D766E84-AC6C-3FEA-8D2D-BCD88045FF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0B3B0E85-28FF-DC4E-87AC-AF5AFE1745AE}" type="slidenum">
              <a:rPr lang="zh-CN" altLang="en-US" sz="1200" b="0" smtClean="0">
                <a:latin typeface="Times New Roman" panose="02020603050405020304" pitchFamily="18" charset="0"/>
              </a:rPr>
              <a:pPr/>
              <a:t>12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BBC2AC60-8FB6-39D5-4906-35F31175A0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E1AE06D-C8F7-1DC8-E30E-99C3EA4E6D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9A4B61AB-0860-83CF-AE1F-106E98847F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53911479-41FD-2E45-BA7D-D68B4FE49264}" type="slidenum">
              <a:rPr lang="zh-CN" altLang="en-US" sz="1200" b="0" smtClean="0">
                <a:latin typeface="Times New Roman" panose="02020603050405020304" pitchFamily="18" charset="0"/>
              </a:rPr>
              <a:pPr/>
              <a:t>13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47662872-FD67-955F-68D1-8A05B3443A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ABAA8D3-1767-B7EA-3914-C9A14F859E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4051ADEE-E918-1794-A284-05E207578A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FD4854E4-C486-4540-B710-6BEE175797AE}" type="slidenum">
              <a:rPr lang="zh-CN" altLang="en-US" sz="1200" b="0" smtClean="0">
                <a:latin typeface="Times New Roman" panose="02020603050405020304" pitchFamily="18" charset="0"/>
              </a:rPr>
              <a:pPr/>
              <a:t>14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05550E96-2941-205D-D0FB-0D29098A13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9BBFEAB-1332-42A0-08C7-A01999B6EE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C2920D05-2F3A-080A-8767-A5FA565A1D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085D367F-90C6-BE40-8E5E-96B621B018A6}" type="slidenum">
              <a:rPr lang="zh-CN" altLang="en-US" sz="1200" b="0" smtClean="0">
                <a:latin typeface="Times New Roman" panose="02020603050405020304" pitchFamily="18" charset="0"/>
              </a:rPr>
              <a:pPr/>
              <a:t>15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056328F4-F32F-4029-926A-5E2AF0EBAD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71C78148-2144-CABA-086E-1CFFFE2FEA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46F09CCB-88E4-5308-D7E8-D5ABE5AFD9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34FC8F27-4136-7B47-8729-60BC123C0C48}" type="slidenum">
              <a:rPr lang="zh-CN" altLang="en-US" sz="1200" b="0" smtClean="0">
                <a:latin typeface="Times New Roman" panose="02020603050405020304" pitchFamily="18" charset="0"/>
              </a:rPr>
              <a:pPr/>
              <a:t>16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F5ED1CEB-0977-7506-B4B0-B2D765D3D3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CEA0C503-6CE4-BE0A-577B-D62637F978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ADB136F8-6070-3201-E5D4-264ECC6943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BF878026-92E4-4745-879D-AE494F35F7D5}" type="slidenum">
              <a:rPr lang="zh-CN" altLang="en-US" sz="1200" b="0" smtClean="0">
                <a:latin typeface="Times New Roman" panose="02020603050405020304" pitchFamily="18" charset="0"/>
              </a:rPr>
              <a:pPr/>
              <a:t>17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A2249EA5-A8B2-5F70-A514-D92F76F937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4A40D0E1-7D34-9CD4-E64D-126A357F61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990AE360-3C6A-C97A-0805-B10526B73C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789F33A4-0F64-E04B-81D7-49BEAB33942C}" type="slidenum">
              <a:rPr lang="zh-CN" altLang="en-US" sz="1200" b="0" smtClean="0">
                <a:latin typeface="Times New Roman" panose="02020603050405020304" pitchFamily="18" charset="0"/>
              </a:rPr>
              <a:pPr/>
              <a:t>18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BAD02AB3-D0E2-9F39-D4F5-ED058C2BD4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B53520A-CA23-6030-0BE0-074CB0684A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8B728C72-5DC6-A76A-E807-4DE92DCB40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0F02EB16-4F07-D44B-8FC0-8DAB66370021}" type="slidenum">
              <a:rPr lang="zh-CN" altLang="en-US" sz="1200" b="0" smtClean="0">
                <a:latin typeface="Times New Roman" panose="02020603050405020304" pitchFamily="18" charset="0"/>
              </a:rPr>
              <a:pPr/>
              <a:t>19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F5F5ABA8-2023-9980-8912-007807CA51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D676C50-1FD4-BD00-AE03-1E6FA5AFA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C721620E-0716-BACC-4206-DA5A99B0C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43EB730F-2DC1-AB46-96D5-D8AF5F4FD3FE}" type="slidenum">
              <a:rPr lang="zh-CN" altLang="en-US" sz="1200" b="0" smtClean="0">
                <a:latin typeface="Times New Roman" panose="02020603050405020304" pitchFamily="18" charset="0"/>
              </a:rPr>
              <a:pPr/>
              <a:t>20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2F3B487F-8B5C-FC34-E3EA-AE88C34307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BE342B08-F151-56D5-3280-B742203BE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498A21A0-1464-C6A1-420D-E70B0A9EEB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93B0DC24-A0FB-E545-959A-2A30695E09C1}" type="slidenum">
              <a:rPr lang="zh-CN" altLang="en-US" sz="1200" b="0" smtClean="0">
                <a:latin typeface="Times New Roman" panose="02020603050405020304" pitchFamily="18" charset="0"/>
              </a:rPr>
              <a:pPr/>
              <a:t>21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E966BDBE-49C9-A1BB-F355-2D0E14F065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8A83A6A7-A0CF-9C15-9E62-C2A5770E3B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DECEB25D-231B-FD2E-9E15-D5417F46E1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B59B23FD-1583-4641-A00A-72EEADF4F1F5}" type="slidenum">
              <a:rPr lang="zh-CN" altLang="en-US" sz="1200" b="0" smtClean="0">
                <a:latin typeface="Times New Roman" panose="02020603050405020304" pitchFamily="18" charset="0"/>
              </a:rPr>
              <a:pPr/>
              <a:t>22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599759F1-DF12-CE33-5CB1-B97EBBC2E9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8A8DAC23-5739-F61D-F089-569BF8D303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58A55B0F-7B62-8B57-2E64-FC2A58300B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6414A183-F2FE-3641-BFAA-6DF91C2F3B93}" type="slidenum">
              <a:rPr lang="zh-CN" altLang="en-US" sz="1200" b="0" smtClean="0">
                <a:latin typeface="Times New Roman" panose="02020603050405020304" pitchFamily="18" charset="0"/>
              </a:rPr>
              <a:pPr/>
              <a:t>23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21F761C6-15DA-B238-62CD-C8B160FD91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DEE1456B-611E-E947-631F-789DF9B007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EB329FEB-E009-1848-945C-7F9499334F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5303FB69-D704-1740-8B65-279B9D3546B8}" type="slidenum">
              <a:rPr lang="zh-CN" altLang="en-US" sz="1200" b="0" smtClean="0">
                <a:latin typeface="Times New Roman" panose="02020603050405020304" pitchFamily="18" charset="0"/>
              </a:rPr>
              <a:pPr/>
              <a:t>24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A29E48E9-8D70-3AF3-2A7A-272A7060FD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8DCFA7A7-4136-C900-4277-3BF0B61AA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FA109835-FAB9-89B6-4FE8-398F4B7A66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1E64C3F7-05F7-D740-BCF4-8406E045DA9E}" type="slidenum">
              <a:rPr lang="zh-CN" altLang="en-US" sz="1200" b="0" smtClean="0">
                <a:latin typeface="Times New Roman" panose="02020603050405020304" pitchFamily="18" charset="0"/>
              </a:rPr>
              <a:pPr/>
              <a:t>25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DAA2A375-3721-ECAF-C607-A1A94A99FB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C6B5E469-BE81-EFFC-2A0F-08E37EB127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58BBE2E6-B0FE-1838-40E9-D5D1D9E547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A7533D38-D116-2341-BE88-C58158FD33A6}" type="slidenum">
              <a:rPr lang="zh-CN" altLang="en-US" sz="1200" b="0" smtClean="0">
                <a:latin typeface="Times New Roman" panose="02020603050405020304" pitchFamily="18" charset="0"/>
              </a:rPr>
              <a:pPr/>
              <a:t>26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B29B04AE-783C-9689-A6AA-4A983BB749C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A942D362-1D7F-F792-13A7-B57290DA64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>
            <a:extLst>
              <a:ext uri="{FF2B5EF4-FFF2-40B4-BE49-F238E27FC236}">
                <a16:creationId xmlns:a16="http://schemas.microsoft.com/office/drawing/2014/main" id="{CC1D0527-4702-F4A8-6098-CB1503DE83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D456FE9B-D65F-CD42-8BCC-4076AC5BD3D4}" type="slidenum">
              <a:rPr lang="zh-CN" altLang="en-US" sz="1200" b="0" smtClean="0">
                <a:latin typeface="Times New Roman" panose="02020603050405020304" pitchFamily="18" charset="0"/>
              </a:rPr>
              <a:pPr/>
              <a:t>27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D4730C19-8EC5-9012-379E-34E81947252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A470A5D6-DE09-2922-7E1A-CEF0C4B8A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>
            <a:extLst>
              <a:ext uri="{FF2B5EF4-FFF2-40B4-BE49-F238E27FC236}">
                <a16:creationId xmlns:a16="http://schemas.microsoft.com/office/drawing/2014/main" id="{414236ED-6497-1ACD-A0A8-3CAFD8FCDF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29D0EA19-94B5-1442-BD93-8365701FD7E8}" type="slidenum">
              <a:rPr lang="zh-CN" altLang="en-US" sz="1200" b="0" smtClean="0">
                <a:latin typeface="Times New Roman" panose="02020603050405020304" pitchFamily="18" charset="0"/>
              </a:rPr>
              <a:pPr/>
              <a:t>28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A598B7C7-60C6-C522-D153-7B5937DF1C7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8558A4A2-35FC-8532-2E23-0CEBE004FB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>
            <a:extLst>
              <a:ext uri="{FF2B5EF4-FFF2-40B4-BE49-F238E27FC236}">
                <a16:creationId xmlns:a16="http://schemas.microsoft.com/office/drawing/2014/main" id="{9F4DB93E-C452-5EAA-D55E-DC0DDF6143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35A6C797-5D4A-4C4E-8746-1D3D4B943569}" type="slidenum">
              <a:rPr lang="zh-CN" altLang="en-US" sz="1200" b="0" smtClean="0">
                <a:latin typeface="Times New Roman" panose="02020603050405020304" pitchFamily="18" charset="0"/>
              </a:rPr>
              <a:pPr/>
              <a:t>29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1E92366F-9690-5B3A-2336-91B7CDAFEB4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3E7A5A4A-D33D-8FC8-EF13-03A94022C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F27610DE-6AE1-8812-763E-F7302AE97B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1C4DFACC-8ECA-0F45-A793-E883892C9350}" type="slidenum">
              <a:rPr lang="zh-CN" altLang="en-US" sz="1200" b="0" smtClean="0">
                <a:latin typeface="Times New Roman" panose="02020603050405020304" pitchFamily="18" charset="0"/>
              </a:rPr>
              <a:pPr/>
              <a:t>30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4E535CBE-A89E-2684-BF17-6FB632C0671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B34D26D0-66EB-B03B-4328-BF71A7D855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>
            <a:extLst>
              <a:ext uri="{FF2B5EF4-FFF2-40B4-BE49-F238E27FC236}">
                <a16:creationId xmlns:a16="http://schemas.microsoft.com/office/drawing/2014/main" id="{3BDBB086-CE19-21B2-2250-2BE7F36CE5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387E3689-BFB7-D64F-B0FD-C542013D29F8}" type="slidenum">
              <a:rPr lang="zh-CN" altLang="en-US" sz="1200" b="0" smtClean="0">
                <a:latin typeface="Times New Roman" panose="02020603050405020304" pitchFamily="18" charset="0"/>
              </a:rPr>
              <a:pPr/>
              <a:t>31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77D2AAB0-B49E-5C27-814A-AD22AF99FDB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49929903-39E4-29EE-7D99-6696B87917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35185F78-A21F-84FF-5F23-7F990913D3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12FE2753-664F-7447-AE29-2EF7405FD1FA}" type="slidenum">
              <a:rPr lang="zh-CN" altLang="en-US" sz="1200" b="0" smtClean="0">
                <a:latin typeface="Times New Roman" panose="02020603050405020304" pitchFamily="18" charset="0"/>
              </a:rPr>
              <a:pPr/>
              <a:t>32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00A32E2D-BAB0-8A0C-2B1A-807179467A0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A7EC393-BD25-3C14-8B99-2537763AFD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86E0145C-2F22-7567-6B06-43FE719A65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676B9CC4-6E16-FD4E-A813-23AD51E1237B}" type="slidenum">
              <a:rPr lang="zh-CN" altLang="en-US" sz="1200" b="0" smtClean="0">
                <a:latin typeface="Times New Roman" panose="02020603050405020304" pitchFamily="18" charset="0"/>
              </a:rPr>
              <a:pPr/>
              <a:t>33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0D748D0A-F8B6-1E67-0AD0-4C524C55707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8D69B186-DEB7-93AC-CAE9-D705DC94CB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02828CD7-E82F-BFB6-5BFB-CFF48B5E0C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97B6CE47-4158-3649-951F-B91F717D4E04}" type="slidenum">
              <a:rPr lang="zh-CN" altLang="en-US" sz="1200" b="0" smtClean="0">
                <a:latin typeface="Times New Roman" panose="02020603050405020304" pitchFamily="18" charset="0"/>
              </a:rPr>
              <a:pPr/>
              <a:t>34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4DE67F5C-E6EA-9D20-E3B5-D6506AA0E29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1D39D973-1390-5884-26D1-EEEA090935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7">
            <a:extLst>
              <a:ext uri="{FF2B5EF4-FFF2-40B4-BE49-F238E27FC236}">
                <a16:creationId xmlns:a16="http://schemas.microsoft.com/office/drawing/2014/main" id="{90E055FB-FC64-4C2E-DF44-E16D685B95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9D14F028-D31E-DF44-AF35-605F5DBB3689}" type="slidenum">
              <a:rPr lang="zh-CN" altLang="en-US" sz="1200" b="0" smtClean="0">
                <a:latin typeface="Times New Roman" panose="02020603050405020304" pitchFamily="18" charset="0"/>
              </a:rPr>
              <a:pPr/>
              <a:t>35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A3810A11-E8A9-9F5B-C798-684EA014114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0C4580EC-8537-7A45-0DD0-0D2C476506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8987412C-CF34-E1FB-EF79-44B40914C9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F1557F2A-7A9C-9142-BF01-45DCF9CF4FC4}" type="slidenum">
              <a:rPr lang="zh-CN" altLang="en-US" sz="1200" b="0" smtClean="0">
                <a:latin typeface="Times New Roman" panose="02020603050405020304" pitchFamily="18" charset="0"/>
              </a:rPr>
              <a:pPr/>
              <a:t>36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47E08FA7-2F28-DC42-9D81-B14E15E51B7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FB360A67-EF2C-F535-D7A4-FE276092C0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>
            <a:extLst>
              <a:ext uri="{FF2B5EF4-FFF2-40B4-BE49-F238E27FC236}">
                <a16:creationId xmlns:a16="http://schemas.microsoft.com/office/drawing/2014/main" id="{1787E3A7-655B-E146-B34E-8D8DBE67963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B46CF459-136D-FA4E-9778-B1CC60EF5531}" type="slidenum">
              <a:rPr lang="zh-CN" altLang="en-US" sz="1200" b="0" smtClean="0">
                <a:latin typeface="Times New Roman" panose="02020603050405020304" pitchFamily="18" charset="0"/>
              </a:rPr>
              <a:pPr/>
              <a:t>37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63D51E2C-7E63-F4B4-23B3-2AE82EA5568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504AE412-5805-4502-48A4-21E532F186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/>
              <a:t>LEAVE</a:t>
            </a:r>
            <a:r>
              <a:rPr lang="zh-CN" altLang="en-US"/>
              <a:t>指令是将栈指针指向帧指针，然后</a:t>
            </a:r>
            <a:r>
              <a:rPr lang="en-US" altLang="zh-CN"/>
              <a:t>POP</a:t>
            </a:r>
            <a:r>
              <a:rPr lang="zh-CN" altLang="en-US"/>
              <a:t>备份的原帧指针到</a:t>
            </a:r>
            <a:r>
              <a:rPr lang="en-US" altLang="zh-CN"/>
              <a:t>%EBP</a:t>
            </a:r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>
            <a:extLst>
              <a:ext uri="{FF2B5EF4-FFF2-40B4-BE49-F238E27FC236}">
                <a16:creationId xmlns:a16="http://schemas.microsoft.com/office/drawing/2014/main" id="{EC25C969-0B70-4CB8-AAAF-9A92361CF4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C4891811-14B8-3C44-81EE-3145BBB581F9}" type="slidenum">
              <a:rPr lang="zh-CN" altLang="en-US" sz="1200" b="0" smtClean="0">
                <a:latin typeface="Times New Roman" panose="02020603050405020304" pitchFamily="18" charset="0"/>
              </a:rPr>
              <a:pPr/>
              <a:t>38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B338CCCA-2AE0-C4A4-BC78-281CE27151A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06B71755-2CAB-666A-F487-6CB66A7B3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7">
            <a:extLst>
              <a:ext uri="{FF2B5EF4-FFF2-40B4-BE49-F238E27FC236}">
                <a16:creationId xmlns:a16="http://schemas.microsoft.com/office/drawing/2014/main" id="{657CDE5B-6420-333B-7B2F-14071D7198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8FCBB596-AF1F-EF45-8E24-18A64244E2FB}" type="slidenum">
              <a:rPr lang="zh-CN" altLang="en-US" sz="1200" b="0" smtClean="0">
                <a:latin typeface="Times New Roman" panose="02020603050405020304" pitchFamily="18" charset="0"/>
              </a:rPr>
              <a:pPr/>
              <a:t>39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25F0C43F-6D2A-F6B8-DF70-B4F951239EB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6F7A38C9-6D83-FFF9-E375-E00DB1BC15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7">
            <a:extLst>
              <a:ext uri="{FF2B5EF4-FFF2-40B4-BE49-F238E27FC236}">
                <a16:creationId xmlns:a16="http://schemas.microsoft.com/office/drawing/2014/main" id="{788F5896-4471-867B-3749-E1AC805F1F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99A0A7DA-F370-8040-87F9-B51ACCE56CA1}" type="slidenum">
              <a:rPr lang="zh-CN" altLang="en-US" sz="1200" b="0" smtClean="0">
                <a:latin typeface="Times New Roman" panose="02020603050405020304" pitchFamily="18" charset="0"/>
              </a:rPr>
              <a:pPr/>
              <a:t>40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1D220EA5-6C36-7EC1-083E-E221A945EA4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6A00AE1C-DDE4-FA1C-017B-F580935CC0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>
            <a:extLst>
              <a:ext uri="{FF2B5EF4-FFF2-40B4-BE49-F238E27FC236}">
                <a16:creationId xmlns:a16="http://schemas.microsoft.com/office/drawing/2014/main" id="{28CDA50C-E937-3269-1905-5B6FFF31BC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ADE7E596-8465-9849-9EBA-17C478CFFC12}" type="slidenum">
              <a:rPr lang="zh-CN" altLang="en-US" sz="1200" b="0" smtClean="0">
                <a:latin typeface="Times New Roman" panose="02020603050405020304" pitchFamily="18" charset="0"/>
              </a:rPr>
              <a:pPr/>
              <a:t>41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0F2C4FE4-39AD-F64A-7C94-177D1B235D2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2BC0530B-C197-E846-CACE-E47CB75CBB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>
            <a:extLst>
              <a:ext uri="{FF2B5EF4-FFF2-40B4-BE49-F238E27FC236}">
                <a16:creationId xmlns:a16="http://schemas.microsoft.com/office/drawing/2014/main" id="{08139C00-40CC-6DCB-42D2-223C1D5822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4759B09D-DF31-9C4F-B86D-A78083DD86EB}" type="slidenum">
              <a:rPr lang="zh-CN" altLang="en-US" sz="1200" b="0" smtClean="0">
                <a:latin typeface="Times New Roman" panose="02020603050405020304" pitchFamily="18" charset="0"/>
              </a:rPr>
              <a:pPr/>
              <a:t>42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BD2C925C-B8B9-EA2F-4AD1-D8BAC773E43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812413A1-439A-0EA6-A3B5-3BA5FF8A2F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>
            <a:extLst>
              <a:ext uri="{FF2B5EF4-FFF2-40B4-BE49-F238E27FC236}">
                <a16:creationId xmlns:a16="http://schemas.microsoft.com/office/drawing/2014/main" id="{4A2DEAB6-6D79-B3BF-A5AD-D00CC2EC49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156C35B5-7CA7-FF4A-8654-41202E62FA45}" type="slidenum">
              <a:rPr lang="zh-CN" altLang="en-US" sz="1200" b="0" smtClean="0">
                <a:latin typeface="Times New Roman" panose="02020603050405020304" pitchFamily="18" charset="0"/>
              </a:rPr>
              <a:pPr/>
              <a:t>43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41632989-1051-2272-CA78-FB33D62202B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3763BFA9-B7EF-CEDA-6D59-CD732C009A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>
            <a:extLst>
              <a:ext uri="{FF2B5EF4-FFF2-40B4-BE49-F238E27FC236}">
                <a16:creationId xmlns:a16="http://schemas.microsoft.com/office/drawing/2014/main" id="{7D4FC841-9CDB-C6EA-D6E1-A76001E546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1DA69B13-6F94-1D46-B28C-3E0608298344}" type="slidenum">
              <a:rPr lang="zh-CN" altLang="en-US" sz="1200" b="0" smtClean="0">
                <a:latin typeface="Times New Roman" panose="02020603050405020304" pitchFamily="18" charset="0"/>
              </a:rPr>
              <a:pPr/>
              <a:t>44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18DDC781-3C56-3421-3576-5D374AA3FC5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2E3A9A53-7FCF-305D-D550-1A47648C0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9BCBF70A-83B0-65C0-33FC-541BC4AAB9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0ABEDFFD-6EDC-874B-9402-9B7EBA341AFA}" type="slidenum">
              <a:rPr lang="zh-CN" altLang="en-US" sz="1200" b="0" smtClean="0">
                <a:latin typeface="Times New Roman" panose="02020603050405020304" pitchFamily="18" charset="0"/>
              </a:rPr>
              <a:pPr/>
              <a:t>45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BF85DC0D-7572-C4BC-8B6D-0F9377E48DA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EF80107F-29A2-CA3F-C851-49BAAC7811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>
            <a:extLst>
              <a:ext uri="{FF2B5EF4-FFF2-40B4-BE49-F238E27FC236}">
                <a16:creationId xmlns:a16="http://schemas.microsoft.com/office/drawing/2014/main" id="{FA7B950D-08F6-CFA4-4E94-72CD0F3EB7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8AF98E06-51F6-464E-B15F-F4A3630A3AAE}" type="slidenum">
              <a:rPr lang="zh-CN" altLang="en-US" sz="1200" b="0" smtClean="0">
                <a:latin typeface="Times New Roman" panose="02020603050405020304" pitchFamily="18" charset="0"/>
              </a:rPr>
              <a:pPr/>
              <a:t>46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B97B7C84-3C2C-7DCA-3B14-B9C83AF0975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04C2593F-63A1-AD89-0683-86D1D2E9E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>
            <a:extLst>
              <a:ext uri="{FF2B5EF4-FFF2-40B4-BE49-F238E27FC236}">
                <a16:creationId xmlns:a16="http://schemas.microsoft.com/office/drawing/2014/main" id="{ABB6E7EC-B3A7-7F35-3615-2039609EA9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7AFFB062-CD1D-F441-A2BC-68F2A32615FA}" type="slidenum">
              <a:rPr lang="zh-CN" altLang="en-US" sz="1200" b="0" smtClean="0">
                <a:latin typeface="Times New Roman" panose="02020603050405020304" pitchFamily="18" charset="0"/>
              </a:rPr>
              <a:pPr/>
              <a:t>47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742FCBD1-1524-5E0A-060A-9D5CEFAFC58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13BCB19-5148-DDA4-CF1E-E7AE8176E4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幻灯片图像占位符 1">
            <a:extLst>
              <a:ext uri="{FF2B5EF4-FFF2-40B4-BE49-F238E27FC236}">
                <a16:creationId xmlns:a16="http://schemas.microsoft.com/office/drawing/2014/main" id="{28F1A7C4-069D-82E1-C91D-16494DB8ED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6" name="备注占位符 2">
            <a:extLst>
              <a:ext uri="{FF2B5EF4-FFF2-40B4-BE49-F238E27FC236}">
                <a16:creationId xmlns:a16="http://schemas.microsoft.com/office/drawing/2014/main" id="{7127352E-E4A6-8778-1B95-52D27E903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kumimoji="1" lang="zh-CN" altLang="en-US"/>
          </a:p>
        </p:txBody>
      </p:sp>
      <p:sp>
        <p:nvSpPr>
          <p:cNvPr id="118787" name="幻灯片编号占位符 3">
            <a:extLst>
              <a:ext uri="{FF2B5EF4-FFF2-40B4-BE49-F238E27FC236}">
                <a16:creationId xmlns:a16="http://schemas.microsoft.com/office/drawing/2014/main" id="{25FFB6B0-C461-20F9-5B95-6600DDDC14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fld id="{87E4CF51-F794-8F43-9307-96973C8B4F84}" type="slidenum">
              <a:rPr lang="zh-CN" altLang="en-US" sz="1200" b="0" smtClean="0">
                <a:latin typeface="Times New Roman" panose="02020603050405020304" pitchFamily="18" charset="0"/>
              </a:rPr>
              <a:pPr/>
              <a:t>53</a:t>
            </a:fld>
            <a:endParaRPr lang="en-US" altLang="zh-CN" sz="12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2" name="Rectangle 1028">
            <a:extLst>
              <a:ext uri="{FF2B5EF4-FFF2-40B4-BE49-F238E27FC236}">
                <a16:creationId xmlns:a16="http://schemas.microsoft.com/office/drawing/2014/main" id="{A1995C96-41AC-3403-A07F-E334123BB7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23505-1CD8-CC4B-A12B-4C651E114072}" type="datetime1">
              <a:rPr lang="zh-CN" altLang="en-US"/>
              <a:pPr>
                <a:defRPr/>
              </a:pPr>
              <a:t>2024/10/14</a:t>
            </a:fld>
            <a:endParaRPr lang="en-US" altLang="zh-CN"/>
          </a:p>
        </p:txBody>
      </p:sp>
      <p:sp>
        <p:nvSpPr>
          <p:cNvPr id="3" name="Rectangle 1029">
            <a:extLst>
              <a:ext uri="{FF2B5EF4-FFF2-40B4-BE49-F238E27FC236}">
                <a16:creationId xmlns:a16="http://schemas.microsoft.com/office/drawing/2014/main" id="{E5E0E023-03D0-3F5F-A954-4207A2731E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14600" y="62484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" name="Rectangle 1030">
            <a:extLst>
              <a:ext uri="{FF2B5EF4-FFF2-40B4-BE49-F238E27FC236}">
                <a16:creationId xmlns:a16="http://schemas.microsoft.com/office/drawing/2014/main" id="{ECE3D736-9FE3-BEAD-28FF-CE323510C6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CF4C56-CBD0-9D4D-BAB6-2E36184520C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9820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9FFA28C-C3E4-9C26-7BA9-941C6A2F3A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B05ED7-62B6-FE43-AA03-7E2F8C630D8E}" type="datetime1">
              <a:rPr lang="zh-CN" altLang="en-US"/>
              <a:pPr>
                <a:defRPr/>
              </a:pPr>
              <a:t>2024/10/14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43BB74-B2A4-035D-9610-675C4B65C0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0C5842-F42E-7A95-E88E-0DA285EE80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9EE0D4-13E2-6544-BA21-DCB3D81DBC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2683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5EC8A0A-A82D-3492-AFA2-849CFD1281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11F40-54A5-3749-A5E2-1D2E54C05564}" type="datetime1">
              <a:rPr lang="zh-CN" altLang="en-US"/>
              <a:pPr>
                <a:defRPr/>
              </a:pPr>
              <a:t>2024/10/14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E36DD9-5B97-96B8-1BC3-D333188FCA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979C060-D4C1-9DB7-1030-38C3553C62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01B8AC-C350-7044-B5EF-D72690A4CDD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2260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1035D7-9800-299C-40BB-A9B2A79BCC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B9F529-A10F-3A40-992C-64D5FF650079}" type="datetime1">
              <a:rPr lang="zh-CN" altLang="en-US"/>
              <a:pPr>
                <a:defRPr/>
              </a:pPr>
              <a:t>2024/10/14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C322A4-5505-0D52-7818-FF2F8BB035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306A00-DB0D-B7A1-F999-AD3C65B5B2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665C2-6A83-A647-BFD8-D0C39BC6BD6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1391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4C3C8F9-CFE2-2B97-0F11-FBC2F302D4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7AFEEF-F35F-E247-95DE-9200D57982DE}" type="datetime1">
              <a:rPr lang="zh-CN" altLang="en-US"/>
              <a:pPr>
                <a:defRPr/>
              </a:pPr>
              <a:t>2024/10/14</a:t>
            </a:fld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A3BED2D-8FDB-CB00-DEB0-781F0ADFA3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830CB0D4-8909-8751-021D-B681CF7719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9F044C-C283-6648-BB30-65C219C6C83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59080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6EB2E78-DA7C-139A-4361-14DADB2CC7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5C15C5-F90C-D949-B997-58078A434F28}" type="datetime1">
              <a:rPr lang="zh-CN" altLang="en-US"/>
              <a:pPr>
                <a:defRPr/>
              </a:pPr>
              <a:t>2024/10/14</a:t>
            </a:fld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A36A7F2-8E03-8423-D05C-2795092CC9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C17BFD5-18B3-8358-5986-E72ADEDB41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905E97-1418-DB4E-ABC6-56D2FC5AB59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4903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51CACFB1-11A0-F7E3-DEF1-F82B943B8A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437E5D-2224-9B45-BE3A-74EF8AB5657B}" type="datetime1">
              <a:rPr lang="zh-CN" altLang="en-US"/>
              <a:pPr>
                <a:defRPr/>
              </a:pPr>
              <a:t>2024/10/14</a:t>
            </a:fld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843135-F574-1A80-9A30-B941BC26EB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AF248B5-0593-554A-BDFD-4DCBFB7AD70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B249BF-0EDC-3C40-9C9F-8B82D453858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6887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F597E0-FDF8-7D6B-DA59-BB83141F98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BE232-A20B-5345-AFF3-E36CEAFC1A89}" type="datetime1">
              <a:rPr lang="zh-CN" altLang="en-US"/>
              <a:pPr>
                <a:defRPr/>
              </a:pPr>
              <a:t>2024/10/14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1006B0-6F0E-1635-075D-86859D5BA0A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BC3271-118E-2F65-77F5-DBF6ED5B8C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698B31-C15D-6343-9259-28EAF2520AE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9190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69903-54E2-9AD6-A029-A83419CB8B3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501DE1-EDF5-644C-88AA-D11F1E159EDC}" type="datetime1">
              <a:rPr lang="zh-CN" altLang="en-US"/>
              <a:pPr>
                <a:defRPr/>
              </a:pPr>
              <a:t>2024/10/14</a:t>
            </a:fld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1EC81BD-61D2-7B75-2873-0C1FD6DB3A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B47588-0B19-1696-26EE-BA7B421EC5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05FB6D-5AA8-0149-9524-F0AC9445D7E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90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64B858-28B8-96F4-86EB-6E10152341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D35409-40E7-894F-9FC2-AF2D35533B9A}" type="datetime1">
              <a:rPr lang="zh-CN" altLang="en-US"/>
              <a:pPr>
                <a:defRPr/>
              </a:pPr>
              <a:t>2024/10/14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A9DE0C9-0B11-19B0-5407-F935EF3E15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5086EC-D173-9C94-F5A5-E0F5C8DFB3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D0F610-960F-B64A-B2B2-A00A2BF30A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85050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457200"/>
            <a:ext cx="207645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D38B1F5-0E73-FB60-A9A2-9A27CCB3D6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DF4F9B-755A-894E-87B6-F80A83CA2581}" type="datetime1">
              <a:rPr lang="zh-CN" altLang="en-US"/>
              <a:pPr>
                <a:defRPr/>
              </a:pPr>
              <a:t>2024/10/14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0B6424A-ABCC-3CAC-FDD4-1C88B081C8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B27C630-ABB8-4BC7-4A94-F8D6E79319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707F6-CB6B-F349-8856-2D0F9F15C5A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6564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305800" cy="44196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9F6C5A-EA16-BA5E-6765-294D84F3BC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953C2A-827A-024B-8A6A-A421F4AA4336}" type="datetime1">
              <a:rPr lang="zh-CN" altLang="en-US"/>
              <a:pPr>
                <a:defRPr/>
              </a:pPr>
              <a:t>2024/10/14</a:t>
            </a:fld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B99F6D-E770-00B7-84D6-F8E29B62DA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98A9D4-310F-51B5-04FF-2EE34F40E9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801215-D931-3D4F-B423-988EF047FBA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0710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7F0811F-6B40-2C1E-A905-D54E8EB4F5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77762EB-8983-75EF-67D0-26F7EE2880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377E741-279A-4F29-B135-7CA20017DC5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172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>
                <a:latin typeface="Times New Roman" pitchFamily="18" charset="0"/>
                <a:ea typeface="宋体" pitchFamily="2" charset="-122"/>
              </a:defRPr>
            </a:lvl1pPr>
          </a:lstStyle>
          <a:p>
            <a:pPr>
              <a:defRPr/>
            </a:pPr>
            <a:fld id="{ED9BFFC8-248E-F540-899C-75940662AC48}" type="datetime1">
              <a:rPr lang="zh-CN" altLang="en-US"/>
              <a:pPr>
                <a:defRPr/>
              </a:pPr>
              <a:t>2024/10/14</a:t>
            </a:fld>
            <a:endParaRPr lang="en-US" altLang="zh-CN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9D8D2E9-C692-AF30-FC9C-85A63B4FB5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172200"/>
            <a:ext cx="411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FCDD9001-E0F3-284F-354B-002BA2C75E7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1722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8491492-2341-D54B-A858-D3189496E10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Line 7">
            <a:extLst>
              <a:ext uri="{FF2B5EF4-FFF2-40B4-BE49-F238E27FC236}">
                <a16:creationId xmlns:a16="http://schemas.microsoft.com/office/drawing/2014/main" id="{47CCB749-C31A-91BF-0213-9DCFA9BCDD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2" r:id="rId1"/>
    <p:sldLayoutId id="2147484251" r:id="rId2"/>
    <p:sldLayoutId id="2147484252" r:id="rId3"/>
    <p:sldLayoutId id="2147484253" r:id="rId4"/>
    <p:sldLayoutId id="2147484254" r:id="rId5"/>
    <p:sldLayoutId id="2147484255" r:id="rId6"/>
    <p:sldLayoutId id="2147484256" r:id="rId7"/>
    <p:sldLayoutId id="2147484257" r:id="rId8"/>
    <p:sldLayoutId id="2147484258" r:id="rId9"/>
    <p:sldLayoutId id="2147484259" r:id="rId10"/>
    <p:sldLayoutId id="2147484260" r:id="rId11"/>
    <p:sldLayoutId id="214748426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030">
            <a:extLst>
              <a:ext uri="{FF2B5EF4-FFF2-40B4-BE49-F238E27FC236}">
                <a16:creationId xmlns:a16="http://schemas.microsoft.com/office/drawing/2014/main" id="{A5A55432-D4ED-DFF1-D98D-B30253DE73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9F3C3C-2E8C-F84D-A4CD-19D0E593B1EA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6386" name="Rectangle 2">
            <a:extLst>
              <a:ext uri="{FF2B5EF4-FFF2-40B4-BE49-F238E27FC236}">
                <a16:creationId xmlns:a16="http://schemas.microsoft.com/office/drawing/2014/main" id="{6388148C-B01D-41DC-A616-ADE574C0CC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zh-CN" altLang="en-US" sz="3600">
                <a:ea typeface="宋体" panose="02010600030101010101" pitchFamily="2" charset="-122"/>
              </a:rPr>
              <a:t>程序的机器级表示（</a:t>
            </a:r>
            <a:r>
              <a:rPr lang="en-US" altLang="zh-CN" sz="3600">
                <a:ea typeface="宋体" panose="02010600030101010101" pitchFamily="2" charset="-122"/>
              </a:rPr>
              <a:t>2</a:t>
            </a:r>
            <a:r>
              <a:rPr lang="zh-CN" altLang="en-US" sz="3600">
                <a:ea typeface="宋体" panose="02010600030101010101" pitchFamily="2" charset="-122"/>
              </a:rPr>
              <a:t>）</a:t>
            </a:r>
            <a:endParaRPr lang="en-US" altLang="zh-CN" sz="3600">
              <a:ea typeface="宋体" panose="02010600030101010101" pitchFamily="2" charset="-122"/>
            </a:endParaRPr>
          </a:p>
        </p:txBody>
      </p:sp>
      <p:sp>
        <p:nvSpPr>
          <p:cNvPr id="16387" name="矩形 3">
            <a:extLst>
              <a:ext uri="{FF2B5EF4-FFF2-40B4-BE49-F238E27FC236}">
                <a16:creationId xmlns:a16="http://schemas.microsoft.com/office/drawing/2014/main" id="{436414E8-DF19-7965-E100-5EE6121B2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1438" y="4789488"/>
            <a:ext cx="13811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/>
              <a:t>柴云鹏</a:t>
            </a:r>
            <a:endParaRPr lang="en-US" altLang="zh-CN" sz="2400"/>
          </a:p>
          <a:p>
            <a:pPr algn="ctr">
              <a:spcBef>
                <a:spcPct val="0"/>
              </a:spcBef>
              <a:buFontTx/>
              <a:buNone/>
            </a:pPr>
            <a:endParaRPr lang="en-US" altLang="zh-CN" sz="2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/>
              <a:t>2024.10</a:t>
            </a:r>
            <a:endParaRPr lang="zh-CN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030">
            <a:extLst>
              <a:ext uri="{FF2B5EF4-FFF2-40B4-BE49-F238E27FC236}">
                <a16:creationId xmlns:a16="http://schemas.microsoft.com/office/drawing/2014/main" id="{AF814359-3BF5-8EDA-9A65-7AC83E7A41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7F6F1E-7B94-B14E-83B0-6427AA96DB32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662E0AA0-9A49-8D53-1C3B-FB346A4DFA5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C and Assembly Language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灯片编号占位符 5">
            <a:extLst>
              <a:ext uri="{FF2B5EF4-FFF2-40B4-BE49-F238E27FC236}">
                <a16:creationId xmlns:a16="http://schemas.microsoft.com/office/drawing/2014/main" id="{0AD51E3B-9DA1-C42B-E38C-3B1BEF1D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1FF047-17E5-0C4B-BDE3-263BEC9CB4A0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2549CBA5-6CDA-317B-DE52-A29B630F3A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534400" cy="914400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Characteristics of the 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high level </a:t>
            </a:r>
            <a:r>
              <a:rPr lang="en-US" altLang="zh-CN" sz="2400">
                <a:ea typeface="宋体" panose="02010600030101010101" pitchFamily="2" charset="-122"/>
              </a:rPr>
              <a:t>programming languages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481B3952-03A5-B4B2-7C1E-DEEA5730C7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抽象</a:t>
            </a:r>
            <a:r>
              <a:rPr lang="en-US" altLang="zh-CN">
                <a:ea typeface="宋体" panose="02010600030101010101" pitchFamily="2" charset="-122"/>
              </a:rPr>
              <a:t> </a:t>
            </a:r>
          </a:p>
          <a:p>
            <a:pPr lvl="1"/>
            <a:r>
              <a:rPr lang="zh-CN" altLang="en-US">
                <a:ea typeface="宋体" panose="02010600030101010101" pitchFamily="2" charset="-122"/>
              </a:rPr>
              <a:t>语句表达能力强（指令型</a:t>
            </a:r>
            <a:r>
              <a:rPr lang="en-US" altLang="zh-CN">
                <a:ea typeface="宋体" panose="02010600030101010101" pitchFamily="2" charset="-122"/>
              </a:rPr>
              <a:t>/</a:t>
            </a:r>
            <a:r>
              <a:rPr lang="zh-CN" altLang="en-US">
                <a:ea typeface="宋体" panose="02010600030101010101" pitchFamily="2" charset="-122"/>
              </a:rPr>
              <a:t>描述性）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可靠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类型检查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像手写底层代码一样高效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能够编译，并在不同的机器上执行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灯片编号占位符 5">
            <a:extLst>
              <a:ext uri="{FF2B5EF4-FFF2-40B4-BE49-F238E27FC236}">
                <a16:creationId xmlns:a16="http://schemas.microsoft.com/office/drawing/2014/main" id="{7E756653-1657-AF3C-00D2-1E42FEDA4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6DE648-DD5C-2C46-B138-4F3E456FD9F5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B10064D2-9D35-F0C5-9134-E51FF6BD69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458200" cy="914400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Characteristics of the 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assembly</a:t>
            </a:r>
            <a:r>
              <a:rPr lang="en-US" altLang="zh-CN" sz="2400">
                <a:ea typeface="宋体" panose="02010600030101010101" pitchFamily="2" charset="-122"/>
              </a:rPr>
              <a:t> programming languages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DE7C258-9F6D-5468-DC72-8CFCB45B9C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直接管理内存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低层次指令来进行计算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高度机器相关：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特定</a:t>
            </a:r>
            <a:r>
              <a:rPr lang="en-US" altLang="zh-CN">
                <a:ea typeface="宋体" panose="02010600030101010101" pitchFamily="2" charset="-122"/>
              </a:rPr>
              <a:t>CPU</a:t>
            </a:r>
            <a:r>
              <a:rPr lang="zh-CN" altLang="en-US">
                <a:ea typeface="宋体" panose="02010600030101010101" pitchFamily="2" charset="-122"/>
              </a:rPr>
              <a:t>硬件</a:t>
            </a:r>
            <a:r>
              <a:rPr lang="en-US" altLang="zh-CN">
                <a:ea typeface="宋体" panose="02010600030101010101" pitchFamily="2" charset="-122"/>
              </a:rPr>
              <a:t>-&gt;</a:t>
            </a:r>
            <a:r>
              <a:rPr lang="zh-CN" altLang="en-US">
                <a:ea typeface="宋体" panose="02010600030101010101" pitchFamily="2" charset="-122"/>
              </a:rPr>
              <a:t>特定指令集（机器语言）</a:t>
            </a:r>
            <a:r>
              <a:rPr lang="en-US" altLang="zh-CN">
                <a:ea typeface="宋体" panose="02010600030101010101" pitchFamily="2" charset="-122"/>
              </a:rPr>
              <a:t>-&gt;</a:t>
            </a:r>
            <a:r>
              <a:rPr lang="zh-CN" altLang="en-US">
                <a:ea typeface="宋体" panose="02010600030101010101" pitchFamily="2" charset="-122"/>
              </a:rPr>
              <a:t>特定汇编语言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例如</a:t>
            </a:r>
            <a:r>
              <a:rPr lang="en-US" altLang="zh-CN">
                <a:ea typeface="宋体" panose="02010600030101010101" pitchFamily="2" charset="-122"/>
              </a:rPr>
              <a:t>x86</a:t>
            </a:r>
            <a:r>
              <a:rPr lang="zh-CN" altLang="en-US">
                <a:ea typeface="宋体" panose="02010600030101010101" pitchFamily="2" charset="-122"/>
              </a:rPr>
              <a:t>汇编，</a:t>
            </a:r>
            <a:r>
              <a:rPr lang="en-US" altLang="zh-CN">
                <a:ea typeface="宋体" panose="02010600030101010101" pitchFamily="2" charset="-122"/>
              </a:rPr>
              <a:t>MIPS</a:t>
            </a:r>
            <a:r>
              <a:rPr lang="zh-CN" altLang="en-US">
                <a:ea typeface="宋体" panose="02010600030101010101" pitchFamily="2" charset="-122"/>
              </a:rPr>
              <a:t>汇编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en-US" altLang="zh-CN">
                <a:ea typeface="宋体" panose="02010600030101010101" pitchFamily="2" charset="-122"/>
              </a:rPr>
              <a:t>Intel</a:t>
            </a:r>
            <a:r>
              <a:rPr lang="zh-CN" altLang="en-US">
                <a:ea typeface="宋体" panose="02010600030101010101" pitchFamily="2" charset="-122"/>
              </a:rPr>
              <a:t>在</a:t>
            </a:r>
            <a:r>
              <a:rPr lang="en-US" altLang="zh-CN">
                <a:ea typeface="宋体" panose="02010600030101010101" pitchFamily="2" charset="-122"/>
              </a:rPr>
              <a:t>PC</a:t>
            </a:r>
            <a:r>
              <a:rPr lang="zh-CN" altLang="en-US">
                <a:ea typeface="宋体" panose="02010600030101010101" pitchFamily="2" charset="-122"/>
              </a:rPr>
              <a:t>和服务器领域占绝对统治地位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>
                <a:ea typeface="宋体" panose="02010600030101010101" pitchFamily="2" charset="-122"/>
              </a:rPr>
              <a:t>AMD</a:t>
            </a:r>
            <a:r>
              <a:rPr lang="zh-CN" altLang="en-US">
                <a:ea typeface="宋体" panose="02010600030101010101" pitchFamily="2" charset="-122"/>
              </a:rPr>
              <a:t>也是</a:t>
            </a:r>
            <a:r>
              <a:rPr lang="en-US" altLang="zh-CN">
                <a:ea typeface="宋体" panose="02010600030101010101" pitchFamily="2" charset="-122"/>
              </a:rPr>
              <a:t>x86</a:t>
            </a:r>
            <a:r>
              <a:rPr lang="zh-CN" altLang="en-US">
                <a:ea typeface="宋体" panose="02010600030101010101" pitchFamily="2" charset="-122"/>
              </a:rPr>
              <a:t>架构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>
                <a:ea typeface="宋体" panose="02010600030101010101" pitchFamily="2" charset="-122"/>
              </a:rPr>
              <a:t>IBM</a:t>
            </a:r>
            <a:r>
              <a:rPr lang="zh-CN" altLang="en-US">
                <a:ea typeface="宋体" panose="02010600030101010101" pitchFamily="2" charset="-122"/>
              </a:rPr>
              <a:t>等大型机已经式微（只在金融等领域应用）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en-US" altLang="zh-CN">
                <a:ea typeface="宋体" panose="02010600030101010101" pitchFamily="2" charset="-122"/>
              </a:rPr>
              <a:t>ARM</a:t>
            </a:r>
            <a:r>
              <a:rPr lang="zh-CN" altLang="en-US">
                <a:ea typeface="宋体" panose="02010600030101010101" pitchFamily="2" charset="-122"/>
              </a:rPr>
              <a:t>在嵌入式领域应用还是很广泛，不过汇编大同小异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灯片编号占位符 5">
            <a:extLst>
              <a:ext uri="{FF2B5EF4-FFF2-40B4-BE49-F238E27FC236}">
                <a16:creationId xmlns:a16="http://schemas.microsoft.com/office/drawing/2014/main" id="{88161C6B-8F69-F7C6-A519-5F6786736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46B732-4D89-7F47-8C74-E1FA631DD155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C20E6324-3C9F-3C5C-E25C-5AF43A6E0D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Why should we understand the assembly code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C473905-11A5-B9EB-5F1D-4CA262233B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理解编译器的优化能力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不能过于贬低：比绝大多数人工强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也不能过于夸大：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zh-CN" altLang="en-US">
                <a:ea typeface="宋体" panose="02010600030101010101" pitchFamily="2" charset="-122"/>
              </a:rPr>
              <a:t>有些看似简单的地方，为了避免</a:t>
            </a:r>
            <a:r>
              <a:rPr lang="en-US" altLang="zh-CN">
                <a:ea typeface="宋体" panose="02010600030101010101" pitchFamily="2" charset="-122"/>
              </a:rPr>
              <a:t>bug</a:t>
            </a:r>
            <a:r>
              <a:rPr lang="zh-CN" altLang="en-US">
                <a:ea typeface="宋体" panose="02010600030101010101" pitchFamily="2" charset="-122"/>
              </a:rPr>
              <a:t>，不敢优化</a:t>
            </a:r>
            <a:endParaRPr lang="en-US" altLang="zh-CN">
              <a:ea typeface="宋体" panose="02010600030101010101" pitchFamily="2" charset="-122"/>
            </a:endParaRPr>
          </a:p>
          <a:p>
            <a:pPr lvl="2"/>
            <a:r>
              <a:rPr lang="zh-CN" altLang="en-US">
                <a:ea typeface="宋体" panose="02010600030101010101" pitchFamily="2" charset="-122"/>
              </a:rPr>
              <a:t>有些复杂问题还是很难优化（例如并行编译）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分析代码中低效的部分，以便提升程序性能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汇编与性能直接对应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灯片编号占位符 5">
            <a:extLst>
              <a:ext uri="{FF2B5EF4-FFF2-40B4-BE49-F238E27FC236}">
                <a16:creationId xmlns:a16="http://schemas.microsoft.com/office/drawing/2014/main" id="{B923BEC6-9FA4-B623-D460-7AC278328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8457EA-4C88-E04F-A5CF-720835BEE262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4403825D-1FC9-DF33-7C61-3367750CB3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From writing assembly code to understand assembly code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B14454AE-DB25-9B7A-C5D8-DF9697459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直接写汇编程序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熟悉汇编语言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习惯汇编的思维方式（可以直接操控硬件）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建立高级语言（</a:t>
            </a:r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zh-CN" altLang="en-US">
                <a:ea typeface="宋体" panose="02010600030101010101" pitchFamily="2" charset="-122"/>
              </a:rPr>
              <a:t>）和汇编之间的联系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zh-CN" altLang="en-US">
                <a:ea typeface="宋体" panose="02010600030101010101" pitchFamily="2" charset="-122"/>
              </a:rPr>
              <a:t>逆向工程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从</a:t>
            </a:r>
            <a:r>
              <a:rPr lang="en-US" altLang="zh-CN">
                <a:ea typeface="宋体" panose="02010600030101010101" pitchFamily="2" charset="-122"/>
              </a:rPr>
              <a:t>C</a:t>
            </a:r>
            <a:r>
              <a:rPr lang="zh-CN" altLang="en-US">
                <a:ea typeface="宋体" panose="02010600030101010101" pitchFamily="2" charset="-122"/>
              </a:rPr>
              <a:t>翻译到汇编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理解在系统中程序到底做了什么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帮助找出</a:t>
            </a:r>
            <a:r>
              <a:rPr lang="en-US" altLang="zh-CN">
                <a:ea typeface="宋体" panose="02010600030101010101" pitchFamily="2" charset="-122"/>
              </a:rPr>
              <a:t>bug</a:t>
            </a:r>
          </a:p>
          <a:p>
            <a:pPr lvl="1"/>
            <a:r>
              <a:rPr lang="zh-CN" altLang="en-US">
                <a:ea typeface="宋体" panose="02010600030101010101" pitchFamily="2" charset="-122"/>
              </a:rPr>
              <a:t>帮助找出程序的安全隐患</a:t>
            </a:r>
            <a:endParaRPr lang="en-US" altLang="zh-CN">
              <a:ea typeface="宋体" panose="02010600030101010101" pitchFamily="2" charset="-122"/>
            </a:endParaRPr>
          </a:p>
          <a:p>
            <a:pPr lvl="1"/>
            <a:r>
              <a:rPr lang="zh-CN" altLang="en-US">
                <a:ea typeface="宋体" panose="02010600030101010101" pitchFamily="2" charset="-122"/>
              </a:rPr>
              <a:t>帮助找出性能差的环节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34F03F55-AA55-962D-19AB-7CC323717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25" y="3048000"/>
            <a:ext cx="72707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 i="1">
                <a:latin typeface="Calibri" panose="020F0502020204030204" pitchFamily="34" charset="0"/>
              </a:rPr>
              <a:t>text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53A18FAF-02A7-ECAB-A957-F659C5BC8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725" y="4038600"/>
            <a:ext cx="72707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 i="1">
                <a:latin typeface="Calibri" panose="020F0502020204030204" pitchFamily="34" charset="0"/>
              </a:rPr>
              <a:t>text</a:t>
            </a:r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7986A969-BA5B-DFE2-5EC7-F5138575E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4953000"/>
            <a:ext cx="100012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 i="1">
                <a:latin typeface="Calibri" panose="020F0502020204030204" pitchFamily="34" charset="0"/>
              </a:rPr>
              <a:t>binary</a:t>
            </a:r>
          </a:p>
        </p:txBody>
      </p:sp>
      <p:sp>
        <p:nvSpPr>
          <p:cNvPr id="28676" name="Rectangle 5">
            <a:extLst>
              <a:ext uri="{FF2B5EF4-FFF2-40B4-BE49-F238E27FC236}">
                <a16:creationId xmlns:a16="http://schemas.microsoft.com/office/drawing/2014/main" id="{A67FD5E5-DAC3-A2E8-1027-0FFA0E44C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" y="5867400"/>
            <a:ext cx="100012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 i="1">
                <a:latin typeface="Calibri" panose="020F0502020204030204" pitchFamily="34" charset="0"/>
              </a:rPr>
              <a:t>binary</a:t>
            </a:r>
          </a:p>
        </p:txBody>
      </p:sp>
      <p:sp>
        <p:nvSpPr>
          <p:cNvPr id="28677" name="Line 6">
            <a:extLst>
              <a:ext uri="{FF2B5EF4-FFF2-40B4-BE49-F238E27FC236}">
                <a16:creationId xmlns:a16="http://schemas.microsoft.com/office/drawing/2014/main" id="{38BE6902-291A-CB77-A90E-F0E8D5F1D5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9388" y="3357563"/>
            <a:ext cx="0" cy="6810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7" tIns="44450" rIns="90487" bIns="44450">
            <a:spAutoFit/>
          </a:bodyPr>
          <a:lstStyle/>
          <a:p>
            <a:endParaRPr lang="zh-CN" altLang="en-US"/>
          </a:p>
        </p:txBody>
      </p:sp>
      <p:sp>
        <p:nvSpPr>
          <p:cNvPr id="28678" name="Rectangle 7">
            <a:extLst>
              <a:ext uri="{FF2B5EF4-FFF2-40B4-BE49-F238E27FC236}">
                <a16:creationId xmlns:a16="http://schemas.microsoft.com/office/drawing/2014/main" id="{954E47C2-85CD-0408-7789-FDE1CD5C8C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3560763"/>
            <a:ext cx="30321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Calibri" panose="020F0502020204030204" pitchFamily="34" charset="0"/>
              </a:rPr>
              <a:t>Compiler (</a:t>
            </a:r>
            <a:r>
              <a:rPr lang="en-US" altLang="zh-CN" sz="2000">
                <a:latin typeface="Courier New" panose="02070309020205020404" pitchFamily="49" charset="0"/>
              </a:rPr>
              <a:t>gcc –Og -S</a:t>
            </a:r>
            <a:r>
              <a:rPr lang="en-US" altLang="zh-CN" sz="2000"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8679" name="Rectangle 8">
            <a:extLst>
              <a:ext uri="{FF2B5EF4-FFF2-40B4-BE49-F238E27FC236}">
                <a16:creationId xmlns:a16="http://schemas.microsoft.com/office/drawing/2014/main" id="{7144AC75-DAB2-F80D-6220-3CA78BDBC1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0538" y="4511675"/>
            <a:ext cx="3048000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Calibri" panose="020F0502020204030204" pitchFamily="34" charset="0"/>
              </a:rPr>
              <a:t>Assembler (</a:t>
            </a:r>
            <a:r>
              <a:rPr lang="en-US" altLang="zh-CN" sz="2000">
                <a:latin typeface="Courier New" panose="02070309020205020404" pitchFamily="49" charset="0"/>
              </a:rPr>
              <a:t>gcc</a:t>
            </a:r>
            <a:r>
              <a:rPr lang="en-US" altLang="zh-CN" sz="2000">
                <a:latin typeface="Calibri" panose="020F0502020204030204" pitchFamily="34" charset="0"/>
              </a:rPr>
              <a:t> or </a:t>
            </a:r>
            <a:r>
              <a:rPr lang="en-US" altLang="zh-CN" sz="2000">
                <a:latin typeface="Courier New" panose="02070309020205020404" pitchFamily="49" charset="0"/>
              </a:rPr>
              <a:t>as</a:t>
            </a:r>
            <a:r>
              <a:rPr lang="en-US" altLang="zh-CN" sz="2000"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8680" name="Rectangle 9">
            <a:extLst>
              <a:ext uri="{FF2B5EF4-FFF2-40B4-BE49-F238E27FC236}">
                <a16:creationId xmlns:a16="http://schemas.microsoft.com/office/drawing/2014/main" id="{5F163A58-53FA-99BD-CCA0-11E55E33E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5775" y="5459413"/>
            <a:ext cx="2638425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Calibri" panose="020F0502020204030204" pitchFamily="34" charset="0"/>
              </a:rPr>
              <a:t>Linker (</a:t>
            </a:r>
            <a:r>
              <a:rPr lang="en-US" altLang="zh-CN" sz="2000">
                <a:latin typeface="Courier New" panose="02070309020205020404" pitchFamily="49" charset="0"/>
              </a:rPr>
              <a:t>gcc</a:t>
            </a:r>
            <a:r>
              <a:rPr lang="en-US" altLang="zh-CN" sz="2000">
                <a:latin typeface="Calibri" panose="020F0502020204030204" pitchFamily="34" charset="0"/>
              </a:rPr>
              <a:t> or</a:t>
            </a:r>
            <a:r>
              <a:rPr lang="en-US" altLang="zh-CN" sz="2000">
                <a:latin typeface="Courier" panose="02070309020205020404" pitchFamily="49" charset="0"/>
              </a:rPr>
              <a:t> </a:t>
            </a:r>
            <a:r>
              <a:rPr lang="en-US" altLang="zh-CN" sz="2000">
                <a:latin typeface="Courier New" panose="02070309020205020404" pitchFamily="49" charset="0"/>
              </a:rPr>
              <a:t>ld</a:t>
            </a:r>
            <a:r>
              <a:rPr lang="en-US" altLang="zh-CN" sz="2000"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8681" name="Rectangle 10">
            <a:extLst>
              <a:ext uri="{FF2B5EF4-FFF2-40B4-BE49-F238E27FC236}">
                <a16:creationId xmlns:a16="http://schemas.microsoft.com/office/drawing/2014/main" id="{3318DB47-1AFD-B2CA-6B90-D9AE5ECE90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3313" y="3113088"/>
            <a:ext cx="3263900" cy="396875"/>
          </a:xfrm>
          <a:prstGeom prst="rect">
            <a:avLst/>
          </a:prstGeom>
          <a:solidFill>
            <a:srgbClr val="F6F5BD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Calibri" panose="020F0502020204030204" pitchFamily="34" charset="0"/>
              </a:rPr>
              <a:t>C program (</a:t>
            </a:r>
            <a:r>
              <a:rPr lang="en-US" altLang="zh-CN" sz="2000">
                <a:latin typeface="Courier New" panose="02070309020205020404" pitchFamily="49" charset="0"/>
              </a:rPr>
              <a:t>p1.c p2.c</a:t>
            </a:r>
            <a:r>
              <a:rPr lang="en-US" altLang="zh-CN" sz="2000"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8682" name="Rectangle 13">
            <a:extLst>
              <a:ext uri="{FF2B5EF4-FFF2-40B4-BE49-F238E27FC236}">
                <a16:creationId xmlns:a16="http://schemas.microsoft.com/office/drawing/2014/main" id="{ED363754-6B2A-E1AE-AB27-9561BA0C1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2013" y="5943600"/>
            <a:ext cx="3748087" cy="396875"/>
          </a:xfrm>
          <a:prstGeom prst="rect">
            <a:avLst/>
          </a:prstGeom>
          <a:solidFill>
            <a:srgbClr val="FF9999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Calibri" panose="020F0502020204030204" pitchFamily="34" charset="0"/>
              </a:rPr>
              <a:t>Executable program (</a:t>
            </a:r>
            <a:r>
              <a:rPr lang="en-US" altLang="zh-CN" sz="2000">
                <a:latin typeface="Courier New" panose="02070309020205020404" pitchFamily="49" charset="0"/>
              </a:rPr>
              <a:t>p</a:t>
            </a:r>
            <a:r>
              <a:rPr lang="en-US" altLang="zh-CN" sz="2000"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28683" name="Line 14">
            <a:extLst>
              <a:ext uri="{FF2B5EF4-FFF2-40B4-BE49-F238E27FC236}">
                <a16:creationId xmlns:a16="http://schemas.microsoft.com/office/drawing/2014/main" id="{1D0DA0E0-5D0B-4552-E6E3-859C31AFAC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9388" y="4302125"/>
            <a:ext cx="0" cy="7270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7" tIns="44450" rIns="90487" bIns="44450">
            <a:spAutoFit/>
          </a:bodyPr>
          <a:lstStyle/>
          <a:p>
            <a:endParaRPr lang="zh-CN" altLang="en-US"/>
          </a:p>
        </p:txBody>
      </p:sp>
      <p:sp>
        <p:nvSpPr>
          <p:cNvPr id="28684" name="Line 15">
            <a:extLst>
              <a:ext uri="{FF2B5EF4-FFF2-40B4-BE49-F238E27FC236}">
                <a16:creationId xmlns:a16="http://schemas.microsoft.com/office/drawing/2014/main" id="{E75D73B2-41C4-04D9-1D63-C98EC5A61D3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9388" y="5197475"/>
            <a:ext cx="0" cy="7270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7" tIns="44450" rIns="90487" bIns="44450">
            <a:spAutoFit/>
          </a:bodyPr>
          <a:lstStyle/>
          <a:p>
            <a:endParaRPr lang="zh-CN" altLang="en-US"/>
          </a:p>
        </p:txBody>
      </p:sp>
      <p:sp>
        <p:nvSpPr>
          <p:cNvPr id="148496" name="Rectangle 16">
            <a:extLst>
              <a:ext uri="{FF2B5EF4-FFF2-40B4-BE49-F238E27FC236}">
                <a16:creationId xmlns:a16="http://schemas.microsoft.com/office/drawing/2014/main" id="{84D51CA1-5729-D837-0036-A51CBB57C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4800600"/>
            <a:ext cx="2044700" cy="7048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defRPr/>
            </a:pPr>
            <a:r>
              <a:rPr lang="en-US" dirty="0">
                <a:latin typeface="Calibri" pitchFamily="34" charset="0"/>
                <a:ea typeface="宋体" charset="-122"/>
              </a:rPr>
              <a:t>Static libraries (</a:t>
            </a:r>
            <a:r>
              <a:rPr lang="en-US" dirty="0">
                <a:latin typeface="Courier New" pitchFamily="49" charset="0"/>
                <a:ea typeface="宋体" charset="-122"/>
              </a:rPr>
              <a:t>.a</a:t>
            </a:r>
            <a:r>
              <a:rPr lang="en-US" dirty="0">
                <a:latin typeface="Calibri" pitchFamily="34" charset="0"/>
                <a:ea typeface="宋体" charset="-122"/>
              </a:rPr>
              <a:t>)</a:t>
            </a:r>
          </a:p>
        </p:txBody>
      </p:sp>
      <p:sp>
        <p:nvSpPr>
          <p:cNvPr id="28686" name="Line 17">
            <a:extLst>
              <a:ext uri="{FF2B5EF4-FFF2-40B4-BE49-F238E27FC236}">
                <a16:creationId xmlns:a16="http://schemas.microsoft.com/office/drawing/2014/main" id="{F84FBC18-3C1A-B0E3-8DCA-9EB3B01900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65813" y="5334000"/>
            <a:ext cx="9906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487" tIns="44450" rIns="90487" bIns="44450">
            <a:spAutoFit/>
          </a:bodyPr>
          <a:lstStyle/>
          <a:p>
            <a:endParaRPr lang="zh-CN" altLang="en-US"/>
          </a:p>
        </p:txBody>
      </p:sp>
      <p:sp>
        <p:nvSpPr>
          <p:cNvPr id="28687" name="Rectangle 18">
            <a:extLst>
              <a:ext uri="{FF2B5EF4-FFF2-40B4-BE49-F238E27FC236}">
                <a16:creationId xmlns:a16="http://schemas.microsoft.com/office/drawing/2014/main" id="{B700E58B-A6BC-6E28-C892-F8AE9EB4AB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41313"/>
            <a:ext cx="6997700" cy="573087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Turning C into Object Code</a:t>
            </a:r>
          </a:p>
        </p:txBody>
      </p:sp>
      <p:sp>
        <p:nvSpPr>
          <p:cNvPr id="28688" name="Rectangle 19">
            <a:extLst>
              <a:ext uri="{FF2B5EF4-FFF2-40B4-BE49-F238E27FC236}">
                <a16:creationId xmlns:a16="http://schemas.microsoft.com/office/drawing/2014/main" id="{E9EABDAC-8ACE-05A7-8387-6972662BB4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1288" y="1384300"/>
            <a:ext cx="9002712" cy="1463675"/>
          </a:xfrm>
        </p:spPr>
        <p:txBody>
          <a:bodyPr/>
          <a:lstStyle/>
          <a:p>
            <a:pPr marL="560388" lvl="1" indent="-222250" defTabSz="895350">
              <a:tabLst>
                <a:tab pos="2286000" algn="l"/>
                <a:tab pos="3543300" algn="l"/>
              </a:tabLst>
            </a:pPr>
            <a:r>
              <a:rPr lang="en-US" altLang="zh-CN">
                <a:ea typeface="宋体" panose="02010600030101010101" pitchFamily="2" charset="-122"/>
              </a:rPr>
              <a:t>Code in files  </a:t>
            </a:r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p1.c p2.c</a:t>
            </a:r>
            <a:endParaRPr lang="en-US" altLang="zh-CN" b="1">
              <a:latin typeface="Courier" panose="02070309020205020404" pitchFamily="49" charset="0"/>
              <a:ea typeface="宋体" panose="02010600030101010101" pitchFamily="2" charset="-122"/>
            </a:endParaRPr>
          </a:p>
          <a:p>
            <a:pPr marL="560388" lvl="1" indent="-222250" defTabSz="895350">
              <a:tabLst>
                <a:tab pos="2286000" algn="l"/>
                <a:tab pos="3543300" algn="l"/>
              </a:tabLst>
            </a:pPr>
            <a:r>
              <a:rPr lang="en-US" altLang="zh-CN">
                <a:ea typeface="宋体" panose="02010600030101010101" pitchFamily="2" charset="-122"/>
              </a:rPr>
              <a:t>Compile with command:  </a:t>
            </a:r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gcc –Og p1.c p2.c -o p</a:t>
            </a:r>
            <a:endParaRPr lang="en-US" altLang="zh-CN" b="1">
              <a:latin typeface="Courier" panose="02070309020205020404" pitchFamily="49" charset="0"/>
              <a:ea typeface="宋体" panose="02010600030101010101" pitchFamily="2" charset="-122"/>
            </a:endParaRPr>
          </a:p>
          <a:p>
            <a:pPr marL="839788" lvl="2" indent="-165100" defTabSz="895350">
              <a:tabLst>
                <a:tab pos="2286000" algn="l"/>
                <a:tab pos="3543300" algn="l"/>
              </a:tabLst>
            </a:pPr>
            <a:r>
              <a:rPr lang="en-US" altLang="zh-CN">
                <a:ea typeface="宋体" panose="02010600030101010101" pitchFamily="2" charset="-122"/>
              </a:rPr>
              <a:t>Use basic optimizations (</a:t>
            </a:r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-Og</a:t>
            </a:r>
            <a:r>
              <a:rPr lang="en-US" altLang="zh-CN">
                <a:ea typeface="宋体" panose="02010600030101010101" pitchFamily="2" charset="-122"/>
              </a:rPr>
              <a:t>) [New to recent versions of GCC]</a:t>
            </a:r>
          </a:p>
          <a:p>
            <a:pPr marL="839788" lvl="2" indent="-165100" defTabSz="895350">
              <a:tabLst>
                <a:tab pos="2286000" algn="l"/>
                <a:tab pos="3543300" algn="l"/>
              </a:tabLst>
            </a:pPr>
            <a:r>
              <a:rPr lang="en-US" altLang="zh-CN">
                <a:ea typeface="宋体" panose="02010600030101010101" pitchFamily="2" charset="-122"/>
              </a:rPr>
              <a:t>Put resulting binary in file </a:t>
            </a:r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p</a:t>
            </a:r>
            <a:endParaRPr lang="en-US" altLang="zh-CN" b="1">
              <a:ea typeface="宋体" panose="02010600030101010101" pitchFamily="2" charset="-122"/>
            </a:endParaRPr>
          </a:p>
        </p:txBody>
      </p:sp>
      <p:sp>
        <p:nvSpPr>
          <p:cNvPr id="28689" name="Rectangle 11">
            <a:extLst>
              <a:ext uri="{FF2B5EF4-FFF2-40B4-BE49-F238E27FC236}">
                <a16:creationId xmlns:a16="http://schemas.microsoft.com/office/drawing/2014/main" id="{5586C622-CD1A-7948-77A6-6CD8E9468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9013" y="4040188"/>
            <a:ext cx="3492500" cy="398462"/>
          </a:xfrm>
          <a:prstGeom prst="rect">
            <a:avLst/>
          </a:prstGeom>
          <a:solidFill>
            <a:srgbClr val="F6F5BD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Calibri" panose="020F0502020204030204" pitchFamily="34" charset="0"/>
              </a:rPr>
              <a:t>Asm program (</a:t>
            </a:r>
            <a:r>
              <a:rPr lang="en-US" altLang="zh-CN" sz="2000">
                <a:latin typeface="Courier New" panose="02070309020205020404" pitchFamily="49" charset="0"/>
              </a:rPr>
              <a:t>p1.s p2.s</a:t>
            </a:r>
            <a:r>
              <a:rPr lang="en-US" altLang="zh-CN" sz="2000">
                <a:latin typeface="Calibri" panose="020F0502020204030204" pitchFamily="34" charset="0"/>
              </a:rPr>
              <a:t>)</a:t>
            </a:r>
          </a:p>
        </p:txBody>
      </p:sp>
      <p:sp>
        <p:nvSpPr>
          <p:cNvPr id="148492" name="Rectangle 12">
            <a:extLst>
              <a:ext uri="{FF2B5EF4-FFF2-40B4-BE49-F238E27FC236}">
                <a16:creationId xmlns:a16="http://schemas.microsoft.com/office/drawing/2014/main" id="{653AD798-A9DD-9DBE-85ED-DF6FD2A55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4713" y="5029200"/>
            <a:ext cx="3721100" cy="3968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 algn="ctr">
              <a:defRPr/>
            </a:pPr>
            <a:r>
              <a:rPr lang="en-US" dirty="0">
                <a:latin typeface="Calibri" pitchFamily="34" charset="0"/>
                <a:ea typeface="宋体" charset="-122"/>
              </a:rPr>
              <a:t>Object program (</a:t>
            </a:r>
            <a:r>
              <a:rPr lang="en-US" dirty="0">
                <a:latin typeface="Courier New" pitchFamily="49" charset="0"/>
                <a:ea typeface="宋体" charset="-122"/>
              </a:rPr>
              <a:t>p1.o p2.o</a:t>
            </a:r>
            <a:r>
              <a:rPr lang="en-US" dirty="0">
                <a:latin typeface="Calibri" pitchFamily="34" charset="0"/>
                <a:ea typeface="宋体" charset="-122"/>
              </a:rPr>
              <a:t>)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A5412A83-9D0A-4EA4-91D9-C5301C4F9D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8763" y="176213"/>
            <a:ext cx="6845300" cy="555625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Compiling Into Assembly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71335E1D-538C-2BBD-DDA5-2ACC5C4756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4338" y="1403350"/>
            <a:ext cx="2438400" cy="363538"/>
          </a:xfrm>
        </p:spPr>
        <p:txBody>
          <a:bodyPr lIns="90487" tIns="44450" rIns="90487" bIns="44450"/>
          <a:lstStyle/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C Code (sum.c)</a:t>
            </a:r>
          </a:p>
          <a:p>
            <a:pPr>
              <a:buFontTx/>
              <a:buNone/>
            </a:pP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0723" name="Rectangle 4">
            <a:extLst>
              <a:ext uri="{FF2B5EF4-FFF2-40B4-BE49-F238E27FC236}">
                <a16:creationId xmlns:a16="http://schemas.microsoft.com/office/drawing/2014/main" id="{16408926-6ECA-8CD0-8A76-158612CFE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938" y="1860550"/>
            <a:ext cx="4343400" cy="2305050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long plus(long x, long y);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void sumstore(long x, long y,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             long *dest)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   long t = plus(x, y);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   *dest = 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30724" name="Rectangle 5">
            <a:extLst>
              <a:ext uri="{FF2B5EF4-FFF2-40B4-BE49-F238E27FC236}">
                <a16:creationId xmlns:a16="http://schemas.microsoft.com/office/drawing/2014/main" id="{5370A470-5AF3-9DB2-773B-41F766FD9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5338" y="1371600"/>
            <a:ext cx="41148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23838" indent="-223838" defTabSz="8953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8953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8953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8953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8953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3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Calibri" panose="020F0502020204030204" pitchFamily="34" charset="0"/>
              </a:rPr>
              <a:t>Generated x86-64 Assembly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30725" name="Rectangle 6">
            <a:extLst>
              <a:ext uri="{FF2B5EF4-FFF2-40B4-BE49-F238E27FC236}">
                <a16:creationId xmlns:a16="http://schemas.microsoft.com/office/drawing/2014/main" id="{762F0D84-D164-37FF-DD36-2D222934E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1538" y="1852613"/>
            <a:ext cx="4195762" cy="20288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sumstore: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  pushq   %rbx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  movq    %rdx, %rbx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  call    plus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  movq    %rax, (%rbx)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  popq    %rbx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  ret</a:t>
            </a:r>
          </a:p>
        </p:txBody>
      </p:sp>
      <p:sp>
        <p:nvSpPr>
          <p:cNvPr id="30726" name="Rectangle 7">
            <a:extLst>
              <a:ext uri="{FF2B5EF4-FFF2-40B4-BE49-F238E27FC236}">
                <a16:creationId xmlns:a16="http://schemas.microsoft.com/office/drawing/2014/main" id="{3A3E20E0-2CB5-FB46-94CC-532D9E252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241800"/>
            <a:ext cx="7467600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Calibri" panose="020F0502020204030204" pitchFamily="34" charset="0"/>
              </a:rPr>
              <a:t>Obtain (on shark machine) with command</a:t>
            </a:r>
          </a:p>
          <a:p>
            <a:pPr lvl="1"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gcc –Og –S sum.c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>
                <a:latin typeface="Calibri" panose="020F0502020204030204" pitchFamily="34" charset="0"/>
              </a:rPr>
              <a:t>Produces file </a:t>
            </a:r>
            <a:r>
              <a:rPr lang="en-US" altLang="zh-CN" sz="2000">
                <a:latin typeface="Courier New" panose="02070309020205020404" pitchFamily="49" charset="0"/>
              </a:rPr>
              <a:t>sum.s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zh-CN" sz="2000" i="1">
                <a:solidFill>
                  <a:srgbClr val="FF0000"/>
                </a:solidFill>
                <a:latin typeface="Calibri" panose="020F0502020204030204" pitchFamily="34" charset="0"/>
              </a:rPr>
              <a:t>Warning</a:t>
            </a:r>
            <a:r>
              <a:rPr lang="en-US" altLang="zh-CN" sz="2000">
                <a:solidFill>
                  <a:srgbClr val="FF0000"/>
                </a:solidFill>
                <a:latin typeface="Calibri" panose="020F0502020204030204" pitchFamily="34" charset="0"/>
              </a:rPr>
              <a:t>: Will get very different results on other machines (Andrew Linux, Mac OS-X, …) due to different versions of gcc and different compiler settings.</a:t>
            </a:r>
            <a:endParaRPr lang="en-US" altLang="zh-CN" sz="200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spcBef>
                <a:spcPct val="50000"/>
              </a:spcBef>
              <a:buFontTx/>
              <a:buNone/>
            </a:pPr>
            <a:endParaRPr lang="en-US" altLang="zh-CN" sz="2000">
              <a:solidFill>
                <a:srgbClr val="FF0000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4283CEE2-B75A-00E7-5ECD-D68C991B6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460500"/>
            <a:ext cx="26035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23838" indent="-223838" defTabSz="8953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8953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8953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8953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8953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3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Calibri" panose="020F0502020204030204" pitchFamily="34" charset="0"/>
              </a:rPr>
              <a:t>Disassembled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32770" name="Rectangle 4">
            <a:extLst>
              <a:ext uri="{FF2B5EF4-FFF2-40B4-BE49-F238E27FC236}">
                <a16:creationId xmlns:a16="http://schemas.microsoft.com/office/drawing/2014/main" id="{0DEEA8B3-73C7-1CF2-DDBF-93E29C0A9B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6819900" cy="57308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Disassembling Object Code</a:t>
            </a:r>
          </a:p>
        </p:txBody>
      </p:sp>
      <p:sp>
        <p:nvSpPr>
          <p:cNvPr id="32771" name="Rectangle 5">
            <a:extLst>
              <a:ext uri="{FF2B5EF4-FFF2-40B4-BE49-F238E27FC236}">
                <a16:creationId xmlns:a16="http://schemas.microsoft.com/office/drawing/2014/main" id="{53D5CCAA-E736-ED2F-91B5-204448134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114800"/>
            <a:ext cx="8140700" cy="2249488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Disassembler</a:t>
            </a:r>
          </a:p>
          <a:p>
            <a:pPr lvl="1">
              <a:buFont typeface="Wingdings" pitchFamily="2" charset="2"/>
              <a:buNone/>
            </a:pPr>
            <a:r>
              <a:rPr lang="en-US" altLang="zh-CN" b="1">
                <a:latin typeface="Courier New" panose="02070309020205020404" pitchFamily="49" charset="0"/>
                <a:ea typeface="宋体" panose="02010600030101010101" pitchFamily="2" charset="-122"/>
              </a:rPr>
              <a:t>objdump –d sum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Useful tool for examining object code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Analyzes </a:t>
            </a:r>
            <a:r>
              <a:rPr lang="en-US" altLang="zh-CN" sz="2000">
                <a:solidFill>
                  <a:srgbClr val="FF0000"/>
                </a:solidFill>
                <a:ea typeface="宋体" panose="02010600030101010101" pitchFamily="2" charset="-122"/>
              </a:rPr>
              <a:t>bit pattern </a:t>
            </a:r>
            <a:r>
              <a:rPr lang="en-US" altLang="zh-CN" sz="2000">
                <a:ea typeface="宋体" panose="02010600030101010101" pitchFamily="2" charset="-122"/>
              </a:rPr>
              <a:t>of series of instructions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Produces approximate rendition of assembly code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Can be run on either </a:t>
            </a:r>
            <a:r>
              <a:rPr lang="en-US" altLang="zh-CN" sz="2000">
                <a:latin typeface="Courier New" panose="02070309020205020404" pitchFamily="49" charset="0"/>
                <a:ea typeface="宋体" panose="02010600030101010101" pitchFamily="2" charset="-122"/>
              </a:rPr>
              <a:t>a.out</a:t>
            </a:r>
            <a:r>
              <a:rPr lang="en-US" altLang="zh-CN" sz="2000">
                <a:ea typeface="宋体" panose="02010600030101010101" pitchFamily="2" charset="-122"/>
              </a:rPr>
              <a:t> (complete executable) or </a:t>
            </a:r>
            <a:r>
              <a:rPr lang="en-US" altLang="zh-CN" sz="2000">
                <a:latin typeface="Courier New" panose="02070309020205020404" pitchFamily="49" charset="0"/>
                <a:ea typeface="宋体" panose="02010600030101010101" pitchFamily="2" charset="-122"/>
              </a:rPr>
              <a:t>.o</a:t>
            </a:r>
            <a:r>
              <a:rPr lang="en-US" altLang="zh-CN" sz="2000">
                <a:ea typeface="宋体" panose="02010600030101010101" pitchFamily="2" charset="-122"/>
              </a:rPr>
              <a:t> file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7947E1D3-CF7E-0ABE-F547-CB648805B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873250"/>
            <a:ext cx="7493000" cy="2027238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0000000000400595 &lt;sumstore&gt;: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 400595:  53               push   %rbx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 400596:  48 89 d3         mov    %rdx,%rbx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 400599:  e8 f2 ff ff ff   callq  400590 &lt;plus&gt;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 40059e:  48 89 03         mov    %rax,(%rbx)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 4005a1:  5b               pop    %rbx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 4005a2:  c3               retq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859699EF-F41A-5437-559A-EB8547A32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8938" y="1455738"/>
            <a:ext cx="26035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23838" indent="-223838" defTabSz="8953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8953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8953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8953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8953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3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Calibri" panose="020F0502020204030204" pitchFamily="34" charset="0"/>
              </a:rPr>
              <a:t>Disassembled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021F90ED-55D3-082D-8717-D8467C7CF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0925" y="2009775"/>
            <a:ext cx="6846888" cy="2028825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Dump of assembler code for function sumstore: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0x0000000000400595 &lt;+0&gt;: push   %rbx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0x0000000000400596 &lt;+1&gt;: mov    %rdx,%rbx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0x0000000000400599 &lt;+4&gt;: callq  0x400590 &lt;plus&gt;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0x000000000040059e &lt;+9&gt;: mov    %rax,(%rbx)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0x00000000004005a1 &lt;+12&gt;:pop    %rbx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 0x00000000004005a2 &lt;+13&gt;:retq </a:t>
            </a:r>
            <a:endParaRPr lang="en-US" altLang="zh-CN" sz="1800" i="1">
              <a:latin typeface="Courier New" panose="02070309020205020404" pitchFamily="49" charset="0"/>
            </a:endParaRPr>
          </a:p>
        </p:txBody>
      </p:sp>
      <p:sp>
        <p:nvSpPr>
          <p:cNvPr id="34819" name="Rectangle 4">
            <a:extLst>
              <a:ext uri="{FF2B5EF4-FFF2-40B4-BE49-F238E27FC236}">
                <a16:creationId xmlns:a16="http://schemas.microsoft.com/office/drawing/2014/main" id="{55B53B4F-54BA-BEF7-B67C-2404389DD3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17513"/>
            <a:ext cx="6248400" cy="573087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Alternate Disassembly</a:t>
            </a:r>
          </a:p>
        </p:txBody>
      </p:sp>
      <p:sp>
        <p:nvSpPr>
          <p:cNvPr id="34820" name="Rectangle 5">
            <a:extLst>
              <a:ext uri="{FF2B5EF4-FFF2-40B4-BE49-F238E27FC236}">
                <a16:creationId xmlns:a16="http://schemas.microsoft.com/office/drawing/2014/main" id="{1BA599AA-9FC9-D006-2CE9-5D015C776C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97113" y="4195763"/>
            <a:ext cx="6300787" cy="2249487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Within </a:t>
            </a:r>
            <a:r>
              <a:rPr lang="en-US" altLang="zh-CN" sz="2400">
                <a:solidFill>
                  <a:srgbClr val="FF0000"/>
                </a:solidFill>
                <a:ea typeface="宋体" panose="02010600030101010101" pitchFamily="2" charset="-122"/>
              </a:rPr>
              <a:t>gdb </a:t>
            </a:r>
            <a:r>
              <a:rPr lang="en-US" altLang="zh-CN" sz="2400">
                <a:ea typeface="宋体" panose="02010600030101010101" pitchFamily="2" charset="-122"/>
              </a:rPr>
              <a:t>Debugger</a:t>
            </a:r>
          </a:p>
          <a:p>
            <a:pPr lvl="1">
              <a:buFont typeface="Wingdings" pitchFamily="2" charset="2"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gdb sum</a:t>
            </a:r>
          </a:p>
          <a:p>
            <a:pPr lvl="1">
              <a:buFont typeface="Wingdings" pitchFamily="2" charset="2"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disassemble sumstore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Disassemble procedure</a:t>
            </a:r>
          </a:p>
          <a:p>
            <a:pPr lvl="1">
              <a:buFont typeface="Wingdings" pitchFamily="2" charset="2"/>
              <a:buNone/>
            </a:pPr>
            <a:r>
              <a:rPr lang="en-US" altLang="zh-CN" sz="2000" b="1">
                <a:latin typeface="Courier New" panose="02070309020205020404" pitchFamily="49" charset="0"/>
                <a:ea typeface="宋体" panose="02010600030101010101" pitchFamily="2" charset="-122"/>
              </a:rPr>
              <a:t>x/14xb sumstore</a:t>
            </a: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Examine the 14 bytes starting at </a:t>
            </a:r>
            <a:r>
              <a:rPr lang="en-US" altLang="zh-CN" sz="2000">
                <a:latin typeface="Courier New" panose="02070309020205020404" pitchFamily="49" charset="0"/>
                <a:ea typeface="宋体" panose="02010600030101010101" pitchFamily="2" charset="-122"/>
              </a:rPr>
              <a:t>sumstore</a:t>
            </a:r>
          </a:p>
          <a:p>
            <a:pPr lvl="1"/>
            <a:endParaRPr lang="en-US" altLang="zh-CN" sz="2000">
              <a:ea typeface="宋体" panose="02010600030101010101" pitchFamily="2" charset="-122"/>
            </a:endParaRPr>
          </a:p>
        </p:txBody>
      </p:sp>
      <p:sp>
        <p:nvSpPr>
          <p:cNvPr id="34821" name="Rectangle 6">
            <a:extLst>
              <a:ext uri="{FF2B5EF4-FFF2-40B4-BE49-F238E27FC236}">
                <a16:creationId xmlns:a16="http://schemas.microsoft.com/office/drawing/2014/main" id="{53D9EC22-66D2-FD52-5291-8ED7B3B0B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613" y="1371600"/>
            <a:ext cx="1308100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223838" indent="-223838" defTabSz="89535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 defTabSz="8953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 defTabSz="89535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 defTabSz="8953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 defTabSz="8953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defTabSz="895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30000"/>
              </a:spcBef>
              <a:buFontTx/>
              <a:buNone/>
            </a:pPr>
            <a:r>
              <a:rPr lang="en-US" altLang="zh-CN" sz="2400">
                <a:solidFill>
                  <a:schemeClr val="tx2"/>
                </a:solidFill>
                <a:latin typeface="Calibri" panose="020F0502020204030204" pitchFamily="34" charset="0"/>
              </a:rPr>
              <a:t>Object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240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sp>
        <p:nvSpPr>
          <p:cNvPr id="154631" name="Rectangle 7">
            <a:extLst>
              <a:ext uri="{FF2B5EF4-FFF2-40B4-BE49-F238E27FC236}">
                <a16:creationId xmlns:a16="http://schemas.microsoft.com/office/drawing/2014/main" id="{04C7E0FE-F6FE-AF88-47FC-64E081236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3" y="1828800"/>
            <a:ext cx="1828800" cy="42449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spAutoFit/>
          </a:bodyPr>
          <a:lstStyle/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latin typeface="Courier New" pitchFamily="49" charset="0"/>
                <a:ea typeface="宋体" charset="-122"/>
              </a:rPr>
              <a:t>0x0400595: 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latin typeface="Courier New" pitchFamily="49" charset="0"/>
                <a:ea typeface="宋体" charset="-122"/>
              </a:rPr>
              <a:t>   0x53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latin typeface="Courier New" pitchFamily="49" charset="0"/>
                <a:ea typeface="宋体" charset="-122"/>
              </a:rPr>
              <a:t>   0x48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latin typeface="Courier New" pitchFamily="49" charset="0"/>
                <a:ea typeface="宋体" charset="-122"/>
              </a:rPr>
              <a:t>   0x89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latin typeface="Courier New" pitchFamily="49" charset="0"/>
                <a:ea typeface="宋体" charset="-122"/>
              </a:rPr>
              <a:t>   0xd3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latin typeface="Courier New" pitchFamily="49" charset="0"/>
                <a:ea typeface="宋体" charset="-122"/>
              </a:rPr>
              <a:t>   0xe8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latin typeface="Courier New" pitchFamily="49" charset="0"/>
                <a:ea typeface="宋体" charset="-122"/>
              </a:rPr>
              <a:t>   0xf2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latin typeface="Courier New" pitchFamily="49" charset="0"/>
                <a:ea typeface="宋体" charset="-122"/>
              </a:rPr>
              <a:t>   0xff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latin typeface="Courier New" pitchFamily="49" charset="0"/>
                <a:ea typeface="宋体" charset="-122"/>
              </a:rPr>
              <a:t>   0xff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latin typeface="Courier New" pitchFamily="49" charset="0"/>
                <a:ea typeface="宋体" charset="-122"/>
              </a:rPr>
              <a:t>   0xff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latin typeface="Courier New" pitchFamily="49" charset="0"/>
                <a:ea typeface="宋体" charset="-122"/>
              </a:rPr>
              <a:t>   0x48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latin typeface="Courier New" pitchFamily="49" charset="0"/>
                <a:ea typeface="宋体" charset="-122"/>
              </a:rPr>
              <a:t>   0x89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latin typeface="Courier New" pitchFamily="49" charset="0"/>
                <a:ea typeface="宋体" charset="-122"/>
              </a:rPr>
              <a:t>   0x03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latin typeface="Courier New" pitchFamily="49" charset="0"/>
                <a:ea typeface="宋体" charset="-122"/>
              </a:rPr>
              <a:t>   0x5b</a:t>
            </a:r>
          </a:p>
          <a:p>
            <a:pPr>
              <a:tabLst>
                <a:tab pos="457200" algn="l"/>
                <a:tab pos="1485900" algn="l"/>
              </a:tabLst>
              <a:defRPr/>
            </a:pPr>
            <a:r>
              <a:rPr lang="en-US" sz="1800" dirty="0">
                <a:latin typeface="Courier New" pitchFamily="49" charset="0"/>
                <a:ea typeface="宋体" charset="-122"/>
              </a:rPr>
              <a:t>   0xc3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991F0A01-5E2B-5480-6FC3-7232740691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69913"/>
            <a:ext cx="7150100" cy="573087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What Can be Disassembled?</a:t>
            </a:r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26F474AC-C2B0-1323-B870-181AFE25A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0513" y="5551488"/>
            <a:ext cx="8624887" cy="1306512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Anything that can be interpreted as executable code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Disassembler examines bytes and reconstructs assembly source</a:t>
            </a:r>
          </a:p>
        </p:txBody>
      </p:sp>
      <p:sp>
        <p:nvSpPr>
          <p:cNvPr id="36867" name="Rectangle 4">
            <a:extLst>
              <a:ext uri="{FF2B5EF4-FFF2-40B4-BE49-F238E27FC236}">
                <a16:creationId xmlns:a16="http://schemas.microsoft.com/office/drawing/2014/main" id="{8BE7B410-9B32-3822-13AC-38A6B45A8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85913"/>
            <a:ext cx="8153400" cy="3671887"/>
          </a:xfrm>
          <a:prstGeom prst="rect">
            <a:avLst/>
          </a:prstGeom>
          <a:solidFill>
            <a:srgbClr val="F6F5BD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457200" algn="l"/>
                <a:tab pos="1485900" algn="l"/>
              </a:tabLst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% objdump -d WINWORD.EXE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WINWORD.EXE:   file format pei-i386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No symbols in "WINWORD.EXE".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Disassembly of section .text: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80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30001000 &lt;.text&gt;: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30001000:  55             push   %ebp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30001001:  8b ec          mov    %esp,%ebp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30001003:  6a ff          push   $0xffffffff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30001005:  68 90 10 00 30 push   $0x30001090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panose="02070309020205020404" pitchFamily="49" charset="0"/>
              </a:rPr>
              <a:t>3000100a:  68 91 dc 4c 30 push   $0x304cdc91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0815EE-C819-76AC-196A-9463CCFBAD6A}"/>
              </a:ext>
            </a:extLst>
          </p:cNvPr>
          <p:cNvSpPr/>
          <p:nvPr/>
        </p:nvSpPr>
        <p:spPr bwMode="auto">
          <a:xfrm>
            <a:off x="2133600" y="3859213"/>
            <a:ext cx="5334000" cy="13716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anchor="ctr" anchorCtr="1"/>
          <a:lstStyle/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latin typeface="Calibri" pitchFamily="34" charset="0"/>
                <a:ea typeface="宋体" charset="-122"/>
              </a:rPr>
              <a:t>Reverse engineering forbidden by</a:t>
            </a:r>
          </a:p>
          <a:p>
            <a:pPr algn="ctr">
              <a:defRPr/>
            </a:pPr>
            <a:r>
              <a:rPr lang="en-US" dirty="0">
                <a:solidFill>
                  <a:srgbClr val="FF0000"/>
                </a:solidFill>
                <a:latin typeface="Calibri" pitchFamily="34" charset="0"/>
                <a:ea typeface="宋体" charset="-122"/>
              </a:rPr>
              <a:t>Microsoft End User License Agreement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灯片编号占位符 5">
            <a:extLst>
              <a:ext uri="{FF2B5EF4-FFF2-40B4-BE49-F238E27FC236}">
                <a16:creationId xmlns:a16="http://schemas.microsoft.com/office/drawing/2014/main" id="{22F25B1B-5FB0-D09B-9EB7-E9E116AA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DB480F9-A9F6-E541-A1B4-9F5489FA8B4B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D7A719B8-5C2A-F1D8-7AC7-F15BDB301F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Code Examples</a:t>
            </a:r>
          </a:p>
        </p:txBody>
      </p:sp>
      <p:graphicFrame>
        <p:nvGraphicFramePr>
          <p:cNvPr id="940050" name="Group 18">
            <a:extLst>
              <a:ext uri="{FF2B5EF4-FFF2-40B4-BE49-F238E27FC236}">
                <a16:creationId xmlns:a16="http://schemas.microsoft.com/office/drawing/2014/main" id="{D160FBDE-208A-4E40-861C-EA31D3F2240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001000" cy="4572000"/>
        </p:xfrm>
        <a:graphic>
          <a:graphicData uri="http://schemas.openxmlformats.org/drawingml/2006/table">
            <a:tbl>
              <a:tblPr/>
              <a:tblGrid>
                <a:gridCol w="800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72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//C code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int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accum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= 0;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int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sum(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int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x,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int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y)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int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t =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x+y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accum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+= 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 return 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}</a:t>
                      </a:r>
                      <a:endParaRPr kumimoji="0" lang="zh-CN" alt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灯片编号占位符 5">
            <a:extLst>
              <a:ext uri="{FF2B5EF4-FFF2-40B4-BE49-F238E27FC236}">
                <a16:creationId xmlns:a16="http://schemas.microsoft.com/office/drawing/2014/main" id="{41170CAB-15DF-CC86-7B4A-BA4FD23B4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8B4190-7A5C-F049-A763-51ECB5BF5FF6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F812A5D0-CAED-C457-A3EE-886E62129D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Code Examples</a:t>
            </a:r>
          </a:p>
        </p:txBody>
      </p:sp>
      <p:graphicFrame>
        <p:nvGraphicFramePr>
          <p:cNvPr id="942094" name="Group 14">
            <a:extLst>
              <a:ext uri="{FF2B5EF4-FFF2-40B4-BE49-F238E27FC236}">
                <a16:creationId xmlns:a16="http://schemas.microsoft.com/office/drawing/2014/main" id="{F48FDD65-9F4A-3FD9-F388-B54E9E608C5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305800" cy="4495800"/>
        </p:xfrm>
        <a:graphic>
          <a:graphicData uri="http://schemas.openxmlformats.org/drawingml/2006/table">
            <a:tbl>
              <a:tblPr/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09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//C code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int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accum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= 0;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int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sum(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int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x, 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int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y)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{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int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t = 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x+y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accum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+= 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 return 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}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_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sum: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	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pushl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	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movl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esp,%ebp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	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movl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12(%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ebp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),%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eax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	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addl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8(%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ebp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),%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eax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   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addl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eax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, 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accum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	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movl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ebp,%esp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	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popl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	ret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Obtain with command</a:t>
                      </a:r>
                    </a:p>
                    <a:p>
                      <a:pPr marL="45720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gcc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–O2 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-S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code.c</a:t>
                      </a: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34" charset="0"/>
                          <a:ea typeface="宋体" pitchFamily="2" charset="-122"/>
                        </a:rPr>
                        <a:t>Assembly file </a:t>
                      </a:r>
                      <a:r>
                        <a:rPr kumimoji="0" lang="en-US" altLang="zh-CN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code.s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" name="组合 14">
            <a:extLst>
              <a:ext uri="{FF2B5EF4-FFF2-40B4-BE49-F238E27FC236}">
                <a16:creationId xmlns:a16="http://schemas.microsoft.com/office/drawing/2014/main" id="{8B731E88-0AA3-703F-C9FE-907092953C25}"/>
              </a:ext>
            </a:extLst>
          </p:cNvPr>
          <p:cNvGrpSpPr>
            <a:grpSpLocks/>
          </p:cNvGrpSpPr>
          <p:nvPr/>
        </p:nvGrpSpPr>
        <p:grpSpPr bwMode="auto">
          <a:xfrm>
            <a:off x="4481513" y="1295400"/>
            <a:ext cx="4586287" cy="2530475"/>
            <a:chOff x="4482192" y="1295400"/>
            <a:chExt cx="4585608" cy="2529820"/>
          </a:xfrm>
        </p:grpSpPr>
        <p:grpSp>
          <p:nvGrpSpPr>
            <p:cNvPr id="40974" name="组合 10">
              <a:extLst>
                <a:ext uri="{FF2B5EF4-FFF2-40B4-BE49-F238E27FC236}">
                  <a16:creationId xmlns:a16="http://schemas.microsoft.com/office/drawing/2014/main" id="{B137E572-F577-4130-F47A-13466B8B22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82192" y="1295400"/>
              <a:ext cx="4085100" cy="2529820"/>
              <a:chOff x="4482192" y="1295400"/>
              <a:chExt cx="4085100" cy="2529820"/>
            </a:xfrm>
          </p:grpSpPr>
          <p:sp>
            <p:nvSpPr>
              <p:cNvPr id="40976" name="TextBox 4">
                <a:extLst>
                  <a:ext uri="{FF2B5EF4-FFF2-40B4-BE49-F238E27FC236}">
                    <a16:creationId xmlns:a16="http://schemas.microsoft.com/office/drawing/2014/main" id="{E337A49A-CF5E-86F2-B330-36C72320D4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82192" y="3302000"/>
                <a:ext cx="3836308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>
                    <a:solidFill>
                      <a:srgbClr val="FF0000"/>
                    </a:solidFill>
                    <a:latin typeface="Courier New" panose="02070309020205020404" pitchFamily="49" charset="0"/>
                  </a:rPr>
                  <a:t>addl 8(%ebp),%eax</a:t>
                </a:r>
                <a:endParaRPr lang="zh-CN" altLang="en-US" sz="2000">
                  <a:solidFill>
                    <a:srgbClr val="FF0000"/>
                  </a:solidFill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D5410C-DE10-4FE5-6FEC-3E4F9266E552}"/>
                  </a:ext>
                </a:extLst>
              </p:cNvPr>
              <p:cNvSpPr txBox="1"/>
              <p:nvPr/>
            </p:nvSpPr>
            <p:spPr>
              <a:xfrm>
                <a:off x="6020251" y="1295400"/>
                <a:ext cx="2547561" cy="523739"/>
              </a:xfrm>
              <a:prstGeom prst="rect">
                <a:avLst/>
              </a:prstGeom>
              <a:solidFill>
                <a:schemeClr val="accent3"/>
              </a:solidFill>
            </p:spPr>
            <p:txBody>
              <a:bodyPr wrap="none">
                <a:spAutoFit/>
              </a:bodyPr>
              <a:lstStyle/>
              <a:p>
                <a:pPr>
                  <a:defRPr/>
                </a:pPr>
                <a:r>
                  <a:rPr lang="en-US" altLang="zh-CN" sz="2800" dirty="0">
                    <a:solidFill>
                      <a:srgbClr val="FF0000"/>
                    </a:solidFill>
                    <a:latin typeface="Courier New" pitchFamily="49" charset="0"/>
                  </a:rPr>
                  <a:t>instruction</a:t>
                </a:r>
                <a:endParaRPr lang="zh-CN" altLang="en-US" dirty="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40975" name="任意多边形 11">
              <a:extLst>
                <a:ext uri="{FF2B5EF4-FFF2-40B4-BE49-F238E27FC236}">
                  <a16:creationId xmlns:a16="http://schemas.microsoft.com/office/drawing/2014/main" id="{E6941608-5242-0CCD-E216-1FD7296B9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7700" y="1562100"/>
              <a:ext cx="800100" cy="2051625"/>
            </a:xfrm>
            <a:custGeom>
              <a:avLst/>
              <a:gdLst>
                <a:gd name="T0" fmla="*/ 241300 w 800100"/>
                <a:gd name="T1" fmla="*/ 0 h 2051625"/>
                <a:gd name="T2" fmla="*/ 330200 w 800100"/>
                <a:gd name="T3" fmla="*/ 12700 h 2051625"/>
                <a:gd name="T4" fmla="*/ 444500 w 800100"/>
                <a:gd name="T5" fmla="*/ 88900 h 2051625"/>
                <a:gd name="T6" fmla="*/ 571500 w 800100"/>
                <a:gd name="T7" fmla="*/ 203200 h 2051625"/>
                <a:gd name="T8" fmla="*/ 673100 w 800100"/>
                <a:gd name="T9" fmla="*/ 317500 h 2051625"/>
                <a:gd name="T10" fmla="*/ 711200 w 800100"/>
                <a:gd name="T11" fmla="*/ 393700 h 2051625"/>
                <a:gd name="T12" fmla="*/ 749300 w 800100"/>
                <a:gd name="T13" fmla="*/ 457200 h 2051625"/>
                <a:gd name="T14" fmla="*/ 762000 w 800100"/>
                <a:gd name="T15" fmla="*/ 533400 h 2051625"/>
                <a:gd name="T16" fmla="*/ 787400 w 800100"/>
                <a:gd name="T17" fmla="*/ 596900 h 2051625"/>
                <a:gd name="T18" fmla="*/ 800100 w 800100"/>
                <a:gd name="T19" fmla="*/ 635000 h 2051625"/>
                <a:gd name="T20" fmla="*/ 774700 w 800100"/>
                <a:gd name="T21" fmla="*/ 1231900 h 2051625"/>
                <a:gd name="T22" fmla="*/ 749300 w 800100"/>
                <a:gd name="T23" fmla="*/ 1422400 h 2051625"/>
                <a:gd name="T24" fmla="*/ 736600 w 800100"/>
                <a:gd name="T25" fmla="*/ 1511300 h 2051625"/>
                <a:gd name="T26" fmla="*/ 711200 w 800100"/>
                <a:gd name="T27" fmla="*/ 1625600 h 2051625"/>
                <a:gd name="T28" fmla="*/ 647700 w 800100"/>
                <a:gd name="T29" fmla="*/ 1714500 h 2051625"/>
                <a:gd name="T30" fmla="*/ 609600 w 800100"/>
                <a:gd name="T31" fmla="*/ 1739900 h 2051625"/>
                <a:gd name="T32" fmla="*/ 584200 w 800100"/>
                <a:gd name="T33" fmla="*/ 1778000 h 2051625"/>
                <a:gd name="T34" fmla="*/ 508000 w 800100"/>
                <a:gd name="T35" fmla="*/ 1816100 h 2051625"/>
                <a:gd name="T36" fmla="*/ 431800 w 800100"/>
                <a:gd name="T37" fmla="*/ 1866900 h 2051625"/>
                <a:gd name="T38" fmla="*/ 368300 w 800100"/>
                <a:gd name="T39" fmla="*/ 1943100 h 2051625"/>
                <a:gd name="T40" fmla="*/ 330200 w 800100"/>
                <a:gd name="T41" fmla="*/ 1955800 h 2051625"/>
                <a:gd name="T42" fmla="*/ 254000 w 800100"/>
                <a:gd name="T43" fmla="*/ 2006600 h 2051625"/>
                <a:gd name="T44" fmla="*/ 215900 w 800100"/>
                <a:gd name="T45" fmla="*/ 2019300 h 2051625"/>
                <a:gd name="T46" fmla="*/ 177800 w 800100"/>
                <a:gd name="T47" fmla="*/ 2044700 h 2051625"/>
                <a:gd name="T48" fmla="*/ 0 w 800100"/>
                <a:gd name="T49" fmla="*/ 2044700 h 205162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800100"/>
                <a:gd name="T76" fmla="*/ 0 h 2051625"/>
                <a:gd name="T77" fmla="*/ 800100 w 800100"/>
                <a:gd name="T78" fmla="*/ 2051625 h 2051625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800100" h="2051625">
                  <a:moveTo>
                    <a:pt x="241300" y="0"/>
                  </a:moveTo>
                  <a:cubicBezTo>
                    <a:pt x="270933" y="4233"/>
                    <a:pt x="301802" y="3234"/>
                    <a:pt x="330200" y="12700"/>
                  </a:cubicBezTo>
                  <a:cubicBezTo>
                    <a:pt x="363687" y="23862"/>
                    <a:pt x="415252" y="68426"/>
                    <a:pt x="444500" y="88900"/>
                  </a:cubicBezTo>
                  <a:cubicBezTo>
                    <a:pt x="574143" y="179650"/>
                    <a:pt x="474202" y="93740"/>
                    <a:pt x="571500" y="203200"/>
                  </a:cubicBezTo>
                  <a:cubicBezTo>
                    <a:pt x="619229" y="256895"/>
                    <a:pt x="632512" y="253719"/>
                    <a:pt x="673100" y="317500"/>
                  </a:cubicBezTo>
                  <a:cubicBezTo>
                    <a:pt x="688346" y="341458"/>
                    <a:pt x="697602" y="368769"/>
                    <a:pt x="711200" y="393700"/>
                  </a:cubicBezTo>
                  <a:cubicBezTo>
                    <a:pt x="723020" y="415370"/>
                    <a:pt x="736600" y="436033"/>
                    <a:pt x="749300" y="457200"/>
                  </a:cubicBezTo>
                  <a:cubicBezTo>
                    <a:pt x="753533" y="482600"/>
                    <a:pt x="755225" y="508557"/>
                    <a:pt x="762000" y="533400"/>
                  </a:cubicBezTo>
                  <a:cubicBezTo>
                    <a:pt x="767998" y="555394"/>
                    <a:pt x="779395" y="575554"/>
                    <a:pt x="787400" y="596900"/>
                  </a:cubicBezTo>
                  <a:cubicBezTo>
                    <a:pt x="792100" y="609435"/>
                    <a:pt x="795867" y="622300"/>
                    <a:pt x="800100" y="635000"/>
                  </a:cubicBezTo>
                  <a:cubicBezTo>
                    <a:pt x="791633" y="833967"/>
                    <a:pt x="785353" y="1033038"/>
                    <a:pt x="774700" y="1231900"/>
                  </a:cubicBezTo>
                  <a:cubicBezTo>
                    <a:pt x="770344" y="1313220"/>
                    <a:pt x="760787" y="1347732"/>
                    <a:pt x="749300" y="1422400"/>
                  </a:cubicBezTo>
                  <a:cubicBezTo>
                    <a:pt x="744748" y="1451986"/>
                    <a:pt x="741152" y="1481714"/>
                    <a:pt x="736600" y="1511300"/>
                  </a:cubicBezTo>
                  <a:cubicBezTo>
                    <a:pt x="732264" y="1539482"/>
                    <a:pt x="726550" y="1594899"/>
                    <a:pt x="711200" y="1625600"/>
                  </a:cubicBezTo>
                  <a:cubicBezTo>
                    <a:pt x="703989" y="1640022"/>
                    <a:pt x="653453" y="1708747"/>
                    <a:pt x="647700" y="1714500"/>
                  </a:cubicBezTo>
                  <a:cubicBezTo>
                    <a:pt x="636907" y="1725293"/>
                    <a:pt x="622300" y="1731433"/>
                    <a:pt x="609600" y="1739900"/>
                  </a:cubicBezTo>
                  <a:cubicBezTo>
                    <a:pt x="601133" y="1752600"/>
                    <a:pt x="594993" y="1767207"/>
                    <a:pt x="584200" y="1778000"/>
                  </a:cubicBezTo>
                  <a:cubicBezTo>
                    <a:pt x="559581" y="1802619"/>
                    <a:pt x="538988" y="1805771"/>
                    <a:pt x="508000" y="1816100"/>
                  </a:cubicBezTo>
                  <a:cubicBezTo>
                    <a:pt x="386457" y="1937643"/>
                    <a:pt x="542078" y="1793382"/>
                    <a:pt x="431800" y="1866900"/>
                  </a:cubicBezTo>
                  <a:cubicBezTo>
                    <a:pt x="286681" y="1963646"/>
                    <a:pt x="485439" y="1849388"/>
                    <a:pt x="368300" y="1943100"/>
                  </a:cubicBezTo>
                  <a:cubicBezTo>
                    <a:pt x="357847" y="1951463"/>
                    <a:pt x="341902" y="1949299"/>
                    <a:pt x="330200" y="1955800"/>
                  </a:cubicBezTo>
                  <a:cubicBezTo>
                    <a:pt x="303515" y="1970625"/>
                    <a:pt x="282960" y="1996947"/>
                    <a:pt x="254000" y="2006600"/>
                  </a:cubicBezTo>
                  <a:cubicBezTo>
                    <a:pt x="241300" y="2010833"/>
                    <a:pt x="227874" y="2013313"/>
                    <a:pt x="215900" y="2019300"/>
                  </a:cubicBezTo>
                  <a:cubicBezTo>
                    <a:pt x="202248" y="2026126"/>
                    <a:pt x="192959" y="2042917"/>
                    <a:pt x="177800" y="2044700"/>
                  </a:cubicBezTo>
                  <a:cubicBezTo>
                    <a:pt x="118939" y="2051625"/>
                    <a:pt x="59267" y="2044700"/>
                    <a:pt x="0" y="2044700"/>
                  </a:cubicBezTo>
                </a:path>
              </a:pathLst>
            </a:custGeom>
            <a:noFill/>
            <a:ln w="444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灯片编号占位符 5">
            <a:extLst>
              <a:ext uri="{FF2B5EF4-FFF2-40B4-BE49-F238E27FC236}">
                <a16:creationId xmlns:a16="http://schemas.microsoft.com/office/drawing/2014/main" id="{F3B2C251-F456-A777-70A9-8ECD1B8AD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56C32E-2DD8-3046-9D20-6BE9C94F5460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0DC7E0CD-CEEC-BC9E-E589-78AFE60215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From C Codes to Assembly codes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F478F8A1-8B33-5F5F-C782-31D673307F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Instruction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Performs a very elementary operation only</a:t>
            </a:r>
          </a:p>
          <a:p>
            <a:r>
              <a:rPr kumimoji="1" lang="en-US" altLang="zh-CN">
                <a:ea typeface="宋体" panose="02010600030101010101" pitchFamily="2" charset="-122"/>
              </a:rPr>
              <a:t>Add two signed integers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C code:</a:t>
            </a: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int t = x+y;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Assembly code:</a:t>
            </a:r>
          </a:p>
          <a:p>
            <a:pPr lvl="2"/>
            <a:r>
              <a:rPr lang="en-US" altLang="zh-CN" sz="2400" u="sng">
                <a:solidFill>
                  <a:schemeClr val="hlink"/>
                </a:solidFill>
                <a:ea typeface="宋体" panose="02010600030101010101" pitchFamily="2" charset="-122"/>
              </a:rPr>
              <a:t>addl   8(%ebp),%eax</a:t>
            </a:r>
          </a:p>
          <a:p>
            <a:pPr lvl="2">
              <a:spcBef>
                <a:spcPct val="0"/>
              </a:spcBef>
            </a:pPr>
            <a:r>
              <a:rPr kumimoji="1" lang="en-US" altLang="zh-CN" sz="2400">
                <a:ea typeface="宋体" panose="02010600030101010101" pitchFamily="2" charset="-122"/>
              </a:rPr>
              <a:t>Add 2 4-byte integers</a:t>
            </a:r>
            <a:endParaRPr lang="en-US" altLang="zh-CN" sz="2400">
              <a:ea typeface="宋体" panose="02010600030101010101" pitchFamily="2" charset="-122"/>
            </a:endParaRPr>
          </a:p>
          <a:p>
            <a:pPr lvl="2">
              <a:spcBef>
                <a:spcPct val="0"/>
              </a:spcBef>
            </a:pPr>
            <a:r>
              <a:rPr kumimoji="1" lang="en-US" altLang="zh-CN" sz="2400">
                <a:ea typeface="宋体" panose="02010600030101010101" pitchFamily="2" charset="-122"/>
              </a:rPr>
              <a:t>Similar to expression x +=y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灯片编号占位符 5">
            <a:extLst>
              <a:ext uri="{FF2B5EF4-FFF2-40B4-BE49-F238E27FC236}">
                <a16:creationId xmlns:a16="http://schemas.microsoft.com/office/drawing/2014/main" id="{03C6011F-E4B0-9F93-6A45-808B079E2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9BCFA9-826D-C249-B2BF-AB1CA2716015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A407B196-8F72-5ED2-2ACC-10D088C24C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Operands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AFA6460F-3E96-B620-C6E1-0DE54A24FC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In high level languages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Either constants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Or variable</a:t>
            </a:r>
          </a:p>
          <a:p>
            <a:pPr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Example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A = A + 4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7F207754-6378-FB1A-E86B-D107FCBF97C0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4114800"/>
            <a:ext cx="990600" cy="1071563"/>
            <a:chOff x="96" y="3216"/>
            <a:chExt cx="624" cy="675"/>
          </a:xfrm>
        </p:grpSpPr>
        <p:sp>
          <p:nvSpPr>
            <p:cNvPr id="45064" name="Text Box 5">
              <a:extLst>
                <a:ext uri="{FF2B5EF4-FFF2-40B4-BE49-F238E27FC236}">
                  <a16:creationId xmlns:a16="http://schemas.microsoft.com/office/drawing/2014/main" id="{A5D45552-EEF9-8FB1-5AB1-0E78BFBD8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8810868">
              <a:off x="96" y="3216"/>
              <a:ext cx="346" cy="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variable</a:t>
              </a:r>
            </a:p>
          </p:txBody>
        </p:sp>
        <p:sp>
          <p:nvSpPr>
            <p:cNvPr id="45065" name="Line 6">
              <a:extLst>
                <a:ext uri="{FF2B5EF4-FFF2-40B4-BE49-F238E27FC236}">
                  <a16:creationId xmlns:a16="http://schemas.microsoft.com/office/drawing/2014/main" id="{38B7610C-38F0-3E14-CCC3-842C967533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" y="3600"/>
              <a:ext cx="384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C87CB56B-20AA-D9A6-9D35-3BCD7957BFBB}"/>
              </a:ext>
            </a:extLst>
          </p:cNvPr>
          <p:cNvGrpSpPr>
            <a:grpSpLocks/>
          </p:cNvGrpSpPr>
          <p:nvPr/>
        </p:nvGrpSpPr>
        <p:grpSpPr bwMode="auto">
          <a:xfrm>
            <a:off x="1925638" y="4648200"/>
            <a:ext cx="1198562" cy="1031875"/>
            <a:chOff x="902" y="3552"/>
            <a:chExt cx="755" cy="650"/>
          </a:xfrm>
        </p:grpSpPr>
        <p:sp>
          <p:nvSpPr>
            <p:cNvPr id="45062" name="Text Box 8">
              <a:extLst>
                <a:ext uri="{FF2B5EF4-FFF2-40B4-BE49-F238E27FC236}">
                  <a16:creationId xmlns:a16="http://schemas.microsoft.com/office/drawing/2014/main" id="{81515244-4C9D-962D-9E8E-0078D92A0B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2" y="3914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constant</a:t>
              </a:r>
            </a:p>
          </p:txBody>
        </p:sp>
        <p:sp>
          <p:nvSpPr>
            <p:cNvPr id="45063" name="Line 9">
              <a:extLst>
                <a:ext uri="{FF2B5EF4-FFF2-40B4-BE49-F238E27FC236}">
                  <a16:creationId xmlns:a16="http://schemas.microsoft.com/office/drawing/2014/main" id="{674F506C-D3D3-8E71-7776-AA574E9355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3552"/>
              <a:ext cx="4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灯片编号占位符 5">
            <a:extLst>
              <a:ext uri="{FF2B5EF4-FFF2-40B4-BE49-F238E27FC236}">
                <a16:creationId xmlns:a16="http://schemas.microsoft.com/office/drawing/2014/main" id="{C698E2E7-9CD7-9B69-019C-416CAEA96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3FE771-562A-5747-804B-E1D088210871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4651453F-F0FF-1B35-CEA4-D7A3A6477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Assembly Code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34A6A798-D9B1-2F16-3E5A-DE033F3A00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kumimoji="1" lang="en-US" altLang="zh-CN">
                <a:ea typeface="宋体" panose="02010600030101010101" pitchFamily="2" charset="-122"/>
              </a:rPr>
              <a:t>Operands: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1" lang="en-US" altLang="zh-CN">
                <a:ea typeface="宋体" panose="02010600030101010101" pitchFamily="2" charset="-122"/>
              </a:rPr>
              <a:t>x:	Register	%eax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1" lang="en-US" altLang="zh-CN">
                <a:ea typeface="宋体" panose="02010600030101010101" pitchFamily="2" charset="-122"/>
              </a:rPr>
              <a:t>y:	Memory	M[%ebp+8]</a:t>
            </a:r>
          </a:p>
          <a:p>
            <a:pPr lvl="1">
              <a:lnSpc>
                <a:spcPct val="120000"/>
              </a:lnSpc>
              <a:spcBef>
                <a:spcPct val="0"/>
              </a:spcBef>
            </a:pPr>
            <a:r>
              <a:rPr kumimoji="1" lang="en-US" altLang="zh-CN">
                <a:ea typeface="宋体" panose="02010600030101010101" pitchFamily="2" charset="-122"/>
              </a:rPr>
              <a:t>4:	Immediate 	$4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灯片编号占位符 5">
            <a:extLst>
              <a:ext uri="{FF2B5EF4-FFF2-40B4-BE49-F238E27FC236}">
                <a16:creationId xmlns:a16="http://schemas.microsoft.com/office/drawing/2014/main" id="{BA9F7B7F-9345-CC68-DE20-4CA06D3F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1CA6DE-24D5-DD4E-B203-5B132A80E20B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FF6AE0E0-C47F-CC29-F9C3-EA73247ED8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IA-32</a:t>
            </a:r>
          </a:p>
        </p:txBody>
      </p:sp>
      <p:pic>
        <p:nvPicPr>
          <p:cNvPr id="49155" name="Picture 5">
            <a:extLst>
              <a:ext uri="{FF2B5EF4-FFF2-40B4-BE49-F238E27FC236}">
                <a16:creationId xmlns:a16="http://schemas.microsoft.com/office/drawing/2014/main" id="{F80F80B1-1CA7-FD99-2F9F-6A03A46846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8229600" cy="526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156" name="TextBox 4">
            <a:extLst>
              <a:ext uri="{FF2B5EF4-FFF2-40B4-BE49-F238E27FC236}">
                <a16:creationId xmlns:a16="http://schemas.microsoft.com/office/drawing/2014/main" id="{08F9B256-E141-D151-1956-A460B9324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81000"/>
            <a:ext cx="16240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/>
              <a:t>Register</a:t>
            </a:r>
            <a:endParaRPr lang="zh-CN" altLang="en-US"/>
          </a:p>
        </p:txBody>
      </p:sp>
      <p:sp>
        <p:nvSpPr>
          <p:cNvPr id="49157" name="任意多边形 6">
            <a:extLst>
              <a:ext uri="{FF2B5EF4-FFF2-40B4-BE49-F238E27FC236}">
                <a16:creationId xmlns:a16="http://schemas.microsoft.com/office/drawing/2014/main" id="{6588FB62-EBB0-1DF1-D55C-B1A8E37B0806}"/>
              </a:ext>
            </a:extLst>
          </p:cNvPr>
          <p:cNvSpPr>
            <a:spLocks/>
          </p:cNvSpPr>
          <p:nvPr/>
        </p:nvSpPr>
        <p:spPr bwMode="auto">
          <a:xfrm>
            <a:off x="2209800" y="673100"/>
            <a:ext cx="2921000" cy="774700"/>
          </a:xfrm>
          <a:custGeom>
            <a:avLst/>
            <a:gdLst>
              <a:gd name="T0" fmla="*/ 2565400 w 2921000"/>
              <a:gd name="T1" fmla="*/ 0 h 939800"/>
              <a:gd name="T2" fmla="*/ 2743200 w 2921000"/>
              <a:gd name="T3" fmla="*/ 161 h 939800"/>
              <a:gd name="T4" fmla="*/ 2870200 w 2921000"/>
              <a:gd name="T5" fmla="*/ 339 h 939800"/>
              <a:gd name="T6" fmla="*/ 2921000 w 2921000"/>
              <a:gd name="T7" fmla="*/ 445 h 939800"/>
              <a:gd name="T8" fmla="*/ 2908300 w 2921000"/>
              <a:gd name="T9" fmla="*/ 516 h 939800"/>
              <a:gd name="T10" fmla="*/ 2717800 w 2921000"/>
              <a:gd name="T11" fmla="*/ 696 h 939800"/>
              <a:gd name="T12" fmla="*/ 2247900 w 2921000"/>
              <a:gd name="T13" fmla="*/ 892 h 939800"/>
              <a:gd name="T14" fmla="*/ 2057400 w 2921000"/>
              <a:gd name="T15" fmla="*/ 927 h 939800"/>
              <a:gd name="T16" fmla="*/ 1790700 w 2921000"/>
              <a:gd name="T17" fmla="*/ 856 h 939800"/>
              <a:gd name="T18" fmla="*/ 1625600 w 2921000"/>
              <a:gd name="T19" fmla="*/ 748 h 939800"/>
              <a:gd name="T20" fmla="*/ 1574800 w 2921000"/>
              <a:gd name="T21" fmla="*/ 732 h 939800"/>
              <a:gd name="T22" fmla="*/ 1536700 w 2921000"/>
              <a:gd name="T23" fmla="*/ 696 h 939800"/>
              <a:gd name="T24" fmla="*/ 1498600 w 2921000"/>
              <a:gd name="T25" fmla="*/ 714 h 939800"/>
              <a:gd name="T26" fmla="*/ 1231900 w 2921000"/>
              <a:gd name="T27" fmla="*/ 696 h 939800"/>
              <a:gd name="T28" fmla="*/ 952500 w 2921000"/>
              <a:gd name="T29" fmla="*/ 696 h 939800"/>
              <a:gd name="T30" fmla="*/ 558800 w 2921000"/>
              <a:gd name="T31" fmla="*/ 714 h 939800"/>
              <a:gd name="T32" fmla="*/ 482600 w 2921000"/>
              <a:gd name="T33" fmla="*/ 785 h 939800"/>
              <a:gd name="T34" fmla="*/ 444500 w 2921000"/>
              <a:gd name="T35" fmla="*/ 820 h 939800"/>
              <a:gd name="T36" fmla="*/ 317500 w 2921000"/>
              <a:gd name="T37" fmla="*/ 874 h 939800"/>
              <a:gd name="T38" fmla="*/ 177800 w 2921000"/>
              <a:gd name="T39" fmla="*/ 998 h 939800"/>
              <a:gd name="T40" fmla="*/ 139700 w 2921000"/>
              <a:gd name="T41" fmla="*/ 1035 h 939800"/>
              <a:gd name="T42" fmla="*/ 101600 w 2921000"/>
              <a:gd name="T43" fmla="*/ 1105 h 939800"/>
              <a:gd name="T44" fmla="*/ 63500 w 2921000"/>
              <a:gd name="T45" fmla="*/ 1159 h 939800"/>
              <a:gd name="T46" fmla="*/ 12700 w 2921000"/>
              <a:gd name="T47" fmla="*/ 1266 h 939800"/>
              <a:gd name="T48" fmla="*/ 0 w 2921000"/>
              <a:gd name="T49" fmla="*/ 1319 h 939800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2921000"/>
              <a:gd name="T76" fmla="*/ 0 h 939800"/>
              <a:gd name="T77" fmla="*/ 2921000 w 2921000"/>
              <a:gd name="T78" fmla="*/ 939800 h 939800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2921000" h="939800">
                <a:moveTo>
                  <a:pt x="2565400" y="0"/>
                </a:moveTo>
                <a:cubicBezTo>
                  <a:pt x="2649680" y="42140"/>
                  <a:pt x="2663281" y="43261"/>
                  <a:pt x="2743200" y="114300"/>
                </a:cubicBezTo>
                <a:cubicBezTo>
                  <a:pt x="2787946" y="154074"/>
                  <a:pt x="2836991" y="191487"/>
                  <a:pt x="2870200" y="241300"/>
                </a:cubicBezTo>
                <a:lnTo>
                  <a:pt x="2921000" y="317500"/>
                </a:lnTo>
                <a:cubicBezTo>
                  <a:pt x="2916767" y="334433"/>
                  <a:pt x="2919976" y="355326"/>
                  <a:pt x="2908300" y="368300"/>
                </a:cubicBezTo>
                <a:cubicBezTo>
                  <a:pt x="2876321" y="403832"/>
                  <a:pt x="2765312" y="472794"/>
                  <a:pt x="2717800" y="495300"/>
                </a:cubicBezTo>
                <a:cubicBezTo>
                  <a:pt x="2566089" y="567163"/>
                  <a:pt x="2418859" y="612205"/>
                  <a:pt x="2247900" y="635000"/>
                </a:cubicBezTo>
                <a:lnTo>
                  <a:pt x="2057400" y="660400"/>
                </a:lnTo>
                <a:cubicBezTo>
                  <a:pt x="1968500" y="643467"/>
                  <a:pt x="1878672" y="630835"/>
                  <a:pt x="1790700" y="609600"/>
                </a:cubicBezTo>
                <a:cubicBezTo>
                  <a:pt x="1641961" y="573697"/>
                  <a:pt x="1736512" y="582694"/>
                  <a:pt x="1625600" y="533400"/>
                </a:cubicBezTo>
                <a:cubicBezTo>
                  <a:pt x="1609650" y="526311"/>
                  <a:pt x="1591733" y="524933"/>
                  <a:pt x="1574800" y="520700"/>
                </a:cubicBezTo>
                <a:cubicBezTo>
                  <a:pt x="1562100" y="512233"/>
                  <a:pt x="1551756" y="497809"/>
                  <a:pt x="1536700" y="495300"/>
                </a:cubicBezTo>
                <a:cubicBezTo>
                  <a:pt x="1523495" y="493099"/>
                  <a:pt x="1511987" y="508000"/>
                  <a:pt x="1498600" y="508000"/>
                </a:cubicBezTo>
                <a:cubicBezTo>
                  <a:pt x="1409599" y="508000"/>
                  <a:pt x="1320800" y="499533"/>
                  <a:pt x="1231900" y="495300"/>
                </a:cubicBezTo>
                <a:cubicBezTo>
                  <a:pt x="1104209" y="463377"/>
                  <a:pt x="1210997" y="484749"/>
                  <a:pt x="952500" y="495300"/>
                </a:cubicBezTo>
                <a:lnTo>
                  <a:pt x="558800" y="508000"/>
                </a:lnTo>
                <a:lnTo>
                  <a:pt x="482600" y="558800"/>
                </a:lnTo>
                <a:cubicBezTo>
                  <a:pt x="469900" y="567267"/>
                  <a:pt x="458980" y="579373"/>
                  <a:pt x="444500" y="584200"/>
                </a:cubicBezTo>
                <a:cubicBezTo>
                  <a:pt x="351741" y="615120"/>
                  <a:pt x="394275" y="603106"/>
                  <a:pt x="317500" y="622300"/>
                </a:cubicBezTo>
                <a:cubicBezTo>
                  <a:pt x="227823" y="676106"/>
                  <a:pt x="274539" y="646708"/>
                  <a:pt x="177800" y="711200"/>
                </a:cubicBezTo>
                <a:cubicBezTo>
                  <a:pt x="165100" y="719667"/>
                  <a:pt x="148858" y="724389"/>
                  <a:pt x="139700" y="736600"/>
                </a:cubicBezTo>
                <a:cubicBezTo>
                  <a:pt x="127000" y="753533"/>
                  <a:pt x="115375" y="771329"/>
                  <a:pt x="101600" y="787400"/>
                </a:cubicBezTo>
                <a:cubicBezTo>
                  <a:pt x="89911" y="801037"/>
                  <a:pt x="74527" y="811323"/>
                  <a:pt x="63500" y="825500"/>
                </a:cubicBezTo>
                <a:cubicBezTo>
                  <a:pt x="44758" y="849597"/>
                  <a:pt x="22353" y="872740"/>
                  <a:pt x="12700" y="901700"/>
                </a:cubicBezTo>
                <a:lnTo>
                  <a:pt x="0" y="939800"/>
                </a:lnTo>
              </a:path>
            </a:pathLst>
          </a:cu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49158" name="TextBox 7">
            <a:extLst>
              <a:ext uri="{FF2B5EF4-FFF2-40B4-BE49-F238E27FC236}">
                <a16:creationId xmlns:a16="http://schemas.microsoft.com/office/drawing/2014/main" id="{E90A4FA8-74D7-6A5C-CA5A-B640E3442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65863" y="381000"/>
            <a:ext cx="15414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/>
              <a:t>Memory</a:t>
            </a:r>
            <a:endParaRPr lang="zh-CN" altLang="en-US"/>
          </a:p>
        </p:txBody>
      </p:sp>
      <p:cxnSp>
        <p:nvCxnSpPr>
          <p:cNvPr id="49159" name="直接箭头连接符 9">
            <a:extLst>
              <a:ext uri="{FF2B5EF4-FFF2-40B4-BE49-F238E27FC236}">
                <a16:creationId xmlns:a16="http://schemas.microsoft.com/office/drawing/2014/main" id="{C05E45D3-8967-02D9-47CE-8D013A593704}"/>
              </a:ext>
            </a:extLst>
          </p:cNvPr>
          <p:cNvCxnSpPr>
            <a:cxnSpLocks noChangeShapeType="1"/>
            <a:stCxn id="49158" idx="2"/>
          </p:cNvCxnSpPr>
          <p:nvPr/>
        </p:nvCxnSpPr>
        <p:spPr bwMode="auto">
          <a:xfrm>
            <a:off x="7035800" y="904875"/>
            <a:ext cx="50800" cy="19907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160" name="TextBox 10">
            <a:extLst>
              <a:ext uri="{FF2B5EF4-FFF2-40B4-BE49-F238E27FC236}">
                <a16:creationId xmlns:a16="http://schemas.microsoft.com/office/drawing/2014/main" id="{46AFBEE5-C677-D3F4-DF81-159A0C6F1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0188" y="6096000"/>
            <a:ext cx="9128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/>
              <a:t>Disk</a:t>
            </a:r>
            <a:endParaRPr lang="zh-CN" altLang="en-US"/>
          </a:p>
        </p:txBody>
      </p:sp>
      <p:cxnSp>
        <p:nvCxnSpPr>
          <p:cNvPr id="49161" name="直接箭头连接符 12">
            <a:extLst>
              <a:ext uri="{FF2B5EF4-FFF2-40B4-BE49-F238E27FC236}">
                <a16:creationId xmlns:a16="http://schemas.microsoft.com/office/drawing/2014/main" id="{59968926-BEE0-282B-80FA-C542B36295D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733800" y="6096000"/>
            <a:ext cx="1600200" cy="228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4D804B2-8FAC-2DF7-EBC4-0E7EDFD5A174}"/>
              </a:ext>
            </a:extLst>
          </p:cNvPr>
          <p:cNvSpPr txBox="1"/>
          <p:nvPr/>
        </p:nvSpPr>
        <p:spPr>
          <a:xfrm>
            <a:off x="533400" y="3922713"/>
            <a:ext cx="8153400" cy="2678112"/>
          </a:xfrm>
          <a:prstGeom prst="rect">
            <a:avLst/>
          </a:prstGeom>
          <a:solidFill>
            <a:schemeClr val="accent3"/>
          </a:solidFill>
        </p:spPr>
        <p:txBody>
          <a:bodyPr>
            <a:spAutoFit/>
          </a:bodyPr>
          <a:lstStyle/>
          <a:p>
            <a:pPr marL="0" lvl="1">
              <a:defRPr/>
            </a:pPr>
            <a:endParaRPr lang="en-US" altLang="zh-CN" sz="2800" dirty="0">
              <a:latin typeface="Comic Sans MS" panose="030F0702030302020204" pitchFamily="66" charset="0"/>
            </a:endParaRPr>
          </a:p>
          <a:p>
            <a:pPr marL="0" lvl="1">
              <a:defRPr/>
            </a:pPr>
            <a:r>
              <a:rPr lang="en-US" altLang="zh-CN" sz="2800" dirty="0">
                <a:latin typeface="Comic Sans MS" panose="030F0702030302020204" pitchFamily="66" charset="0"/>
              </a:rPr>
              <a:t>The fastest storage units in computer systems, 32-bit long</a:t>
            </a:r>
          </a:p>
          <a:p>
            <a:pPr marL="0" lvl="1">
              <a:defRPr/>
            </a:pPr>
            <a:endParaRPr lang="en-US" altLang="zh-CN" sz="2800" dirty="0">
              <a:latin typeface="Comic Sans MS" panose="030F0702030302020204" pitchFamily="66" charset="0"/>
            </a:endParaRPr>
          </a:p>
          <a:p>
            <a:pPr marL="0" lvl="1">
              <a:defRPr/>
            </a:pPr>
            <a:endParaRPr lang="en-US" altLang="zh-CN" sz="2800" dirty="0">
              <a:latin typeface="Comic Sans MS" panose="030F0702030302020204" pitchFamily="66" charset="0"/>
            </a:endParaRPr>
          </a:p>
          <a:p>
            <a:pPr marL="0" lvl="1">
              <a:defRPr/>
            </a:pPr>
            <a:endParaRPr lang="en-US" altLang="zh-CN" sz="28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灯片编号占位符 5">
            <a:extLst>
              <a:ext uri="{FF2B5EF4-FFF2-40B4-BE49-F238E27FC236}">
                <a16:creationId xmlns:a16="http://schemas.microsoft.com/office/drawing/2014/main" id="{2231E4C0-8200-F24F-C5C0-17B2C516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A63095-DF33-614D-B908-2B1381A73CB7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3062F9CE-ACA9-6F41-0262-273C324EB9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READ/WRITE operations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27813CBE-C550-00F3-FF45-D0B3EB92FB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534400" cy="45720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Two important concepts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Name and value</a:t>
            </a: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WRITE(</a:t>
            </a:r>
            <a:r>
              <a:rPr lang="en-US" altLang="zh-CN" i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name, value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      value </a:t>
            </a:r>
            <a:r>
              <a:rPr lang="en-US" altLang="zh-CN">
                <a:latin typeface="Times New Roman" panose="02020603050405020304" pitchFamily="18" charset="0"/>
                <a:ea typeface="仿宋_GB2312"/>
                <a:cs typeface="Times New Roman" panose="02020603050405020304" pitchFamily="18" charset="0"/>
              </a:rPr>
              <a:t>← READ(</a:t>
            </a:r>
            <a:r>
              <a:rPr lang="en-US" altLang="zh-CN" i="1">
                <a:latin typeface="Times New Roman" panose="02020603050405020304" pitchFamily="18" charset="0"/>
                <a:ea typeface="仿宋_GB2312"/>
                <a:cs typeface="Times New Roman" panose="02020603050405020304" pitchFamily="18" charset="0"/>
              </a:rPr>
              <a:t>name</a:t>
            </a:r>
            <a:r>
              <a:rPr lang="en-US" altLang="zh-CN">
                <a:latin typeface="Times New Roman" panose="02020603050405020304" pitchFamily="18" charset="0"/>
                <a:ea typeface="仿宋_GB231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WRITE</a:t>
            </a:r>
            <a:r>
              <a:rPr lang="en-US" altLang="zh-CN">
                <a:ea typeface="宋体" panose="02010600030101010101" pitchFamily="2" charset="-122"/>
              </a:rPr>
              <a:t> operation specifies 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a value to be remembered 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a name by which one can recall that value in the future</a:t>
            </a:r>
          </a:p>
          <a:p>
            <a:r>
              <a:rPr lang="en-US" altLang="zh-CN">
                <a:ea typeface="宋体" panose="02010600030101010101" pitchFamily="2" charset="-122"/>
              </a:rPr>
              <a:t>READ operation specifies 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the name of some previous remembered value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the memory device returns that value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灯片编号占位符 5">
            <a:extLst>
              <a:ext uri="{FF2B5EF4-FFF2-40B4-BE49-F238E27FC236}">
                <a16:creationId xmlns:a16="http://schemas.microsoft.com/office/drawing/2014/main" id="{733588E9-5785-F6E4-B1A4-204AA621D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A17CFC-E0A6-C240-A6B2-0D2571DCBB8E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FD5C7155-8780-56DD-C750-A0EBE465BA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Registers vs. Virtual Memory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5476F544-D873-AA2B-C7D9-2F3A66058F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534400" cy="4648200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How to name registers </a:t>
            </a:r>
          </a:p>
          <a:p>
            <a:pPr lvl="1"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Using specific names, </a:t>
            </a:r>
          </a:p>
          <a:p>
            <a:pPr lvl="1"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For example, in IA-32</a:t>
            </a:r>
          </a:p>
          <a:p>
            <a:pPr lvl="2">
              <a:spcBef>
                <a:spcPts val="300"/>
              </a:spcBef>
            </a:pPr>
            <a:r>
              <a:rPr lang="en-US" altLang="zh-CN" sz="2400">
                <a:ea typeface="宋体" panose="02010600030101010101" pitchFamily="2" charset="-122"/>
              </a:rPr>
              <a:t>%eax, %ecx, %edx, %ebx, %esi, %edi, %esp, %ebp</a:t>
            </a:r>
          </a:p>
          <a:p>
            <a:pPr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How to name virtual memory</a:t>
            </a:r>
          </a:p>
          <a:p>
            <a:pPr lvl="1"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Using address as we have studied</a:t>
            </a:r>
          </a:p>
          <a:p>
            <a:pPr>
              <a:spcBef>
                <a:spcPts val="300"/>
              </a:spcBef>
            </a:pP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What’s the difference</a:t>
            </a:r>
          </a:p>
          <a:p>
            <a:pPr lvl="1"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Accessing values in Registers is fast </a:t>
            </a:r>
          </a:p>
          <a:p>
            <a:pPr lvl="1"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Number of the registers is small</a:t>
            </a:r>
          </a:p>
          <a:p>
            <a:pPr lvl="1">
              <a:spcBef>
                <a:spcPts val="300"/>
              </a:spcBef>
            </a:pPr>
            <a:r>
              <a:rPr lang="en-US" altLang="zh-CN">
                <a:ea typeface="宋体" panose="02010600030101010101" pitchFamily="2" charset="-122"/>
              </a:rPr>
              <a:t>Most modern instructions can access registers only</a:t>
            </a:r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en-US" altLang="zh-CN">
                <a:ea typeface="宋体" panose="02010600030101010101" pitchFamily="2" charset="-122"/>
              </a:rPr>
              <a:t>RISC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E1BAB7AE-C616-0F8E-4DBC-03CC19224A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Where are the variables? — registers &amp; Memory</a:t>
            </a:r>
          </a:p>
        </p:txBody>
      </p:sp>
      <p:grpSp>
        <p:nvGrpSpPr>
          <p:cNvPr id="55298" name="组合 99">
            <a:extLst>
              <a:ext uri="{FF2B5EF4-FFF2-40B4-BE49-F238E27FC236}">
                <a16:creationId xmlns:a16="http://schemas.microsoft.com/office/drawing/2014/main" id="{B055BA2A-0654-33E1-3846-D9E6D166FA94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133600"/>
            <a:ext cx="3276600" cy="3657600"/>
            <a:chOff x="457200" y="1540934"/>
            <a:chExt cx="3276600" cy="4064000"/>
          </a:xfrm>
        </p:grpSpPr>
        <p:sp>
          <p:nvSpPr>
            <p:cNvPr id="55332" name="Rectangle 4">
              <a:extLst>
                <a:ext uri="{FF2B5EF4-FFF2-40B4-BE49-F238E27FC236}">
                  <a16:creationId xmlns:a16="http://schemas.microsoft.com/office/drawing/2014/main" id="{333DEEE4-9BA6-F77B-4051-ACDA87093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" y="1540934"/>
              <a:ext cx="3276600" cy="40640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3200"/>
            </a:p>
          </p:txBody>
        </p:sp>
        <p:sp>
          <p:nvSpPr>
            <p:cNvPr id="55333" name="Rectangle 27">
              <a:extLst>
                <a:ext uri="{FF2B5EF4-FFF2-40B4-BE49-F238E27FC236}">
                  <a16:creationId xmlns:a16="http://schemas.microsoft.com/office/drawing/2014/main" id="{5323108F-9D59-0C7F-8CF9-52CF40E62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16764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Courier New" panose="02070309020205020404" pitchFamily="49" charset="0"/>
                </a:rPr>
                <a:t>%</a:t>
              </a:r>
              <a:r>
                <a:rPr lang="en-US" altLang="zh-CN">
                  <a:latin typeface="Courier New" panose="02070309020205020404" pitchFamily="49" charset="0"/>
                </a:rPr>
                <a:t>eax</a:t>
              </a:r>
            </a:p>
          </p:txBody>
        </p:sp>
        <p:sp>
          <p:nvSpPr>
            <p:cNvPr id="55334" name="Rectangle 28">
              <a:extLst>
                <a:ext uri="{FF2B5EF4-FFF2-40B4-BE49-F238E27FC236}">
                  <a16:creationId xmlns:a16="http://schemas.microsoft.com/office/drawing/2014/main" id="{D22A5752-B24D-7406-617A-664DA9CFF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21336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Courier New" panose="02070309020205020404" pitchFamily="49" charset="0"/>
                </a:rPr>
                <a:t>%</a:t>
              </a:r>
              <a:r>
                <a:rPr lang="en-US" altLang="zh-CN">
                  <a:latin typeface="Courier New" panose="02070309020205020404" pitchFamily="49" charset="0"/>
                </a:rPr>
                <a:t>edx</a:t>
              </a:r>
            </a:p>
          </p:txBody>
        </p:sp>
        <p:sp>
          <p:nvSpPr>
            <p:cNvPr id="55335" name="Rectangle 29">
              <a:extLst>
                <a:ext uri="{FF2B5EF4-FFF2-40B4-BE49-F238E27FC236}">
                  <a16:creationId xmlns:a16="http://schemas.microsoft.com/office/drawing/2014/main" id="{AC6F2E17-9CDA-22FC-34FF-7062C37E8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25908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Courier New" panose="02070309020205020404" pitchFamily="49" charset="0"/>
                </a:rPr>
                <a:t>%</a:t>
              </a:r>
              <a:r>
                <a:rPr lang="en-US" altLang="zh-CN">
                  <a:latin typeface="Courier New" panose="02070309020205020404" pitchFamily="49" charset="0"/>
                </a:rPr>
                <a:t>ecx</a:t>
              </a:r>
            </a:p>
          </p:txBody>
        </p:sp>
        <p:sp>
          <p:nvSpPr>
            <p:cNvPr id="55336" name="Rectangle 30">
              <a:extLst>
                <a:ext uri="{FF2B5EF4-FFF2-40B4-BE49-F238E27FC236}">
                  <a16:creationId xmlns:a16="http://schemas.microsoft.com/office/drawing/2014/main" id="{6F19EBC5-C9B7-F299-7A8E-9EC409228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30480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Courier New" panose="02070309020205020404" pitchFamily="49" charset="0"/>
                </a:rPr>
                <a:t>%</a:t>
              </a:r>
              <a:r>
                <a:rPr lang="en-US" altLang="zh-CN">
                  <a:latin typeface="Courier New" panose="02070309020205020404" pitchFamily="49" charset="0"/>
                </a:rPr>
                <a:t>ebx</a:t>
              </a:r>
            </a:p>
          </p:txBody>
        </p:sp>
        <p:sp>
          <p:nvSpPr>
            <p:cNvPr id="55337" name="Rectangle 31">
              <a:extLst>
                <a:ext uri="{FF2B5EF4-FFF2-40B4-BE49-F238E27FC236}">
                  <a16:creationId xmlns:a16="http://schemas.microsoft.com/office/drawing/2014/main" id="{9B6DFD74-F8C8-1AC3-ABB6-B7F4D28E5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35052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Courier New" panose="02070309020205020404" pitchFamily="49" charset="0"/>
                </a:rPr>
                <a:t>%</a:t>
              </a:r>
              <a:r>
                <a:rPr lang="en-US" altLang="zh-CN">
                  <a:latin typeface="Courier New" panose="02070309020205020404" pitchFamily="49" charset="0"/>
                </a:rPr>
                <a:t>esi</a:t>
              </a:r>
            </a:p>
          </p:txBody>
        </p:sp>
        <p:sp>
          <p:nvSpPr>
            <p:cNvPr id="55338" name="Rectangle 32">
              <a:extLst>
                <a:ext uri="{FF2B5EF4-FFF2-40B4-BE49-F238E27FC236}">
                  <a16:creationId xmlns:a16="http://schemas.microsoft.com/office/drawing/2014/main" id="{E5B71AEA-E12B-D31C-3444-815C492F2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3962400"/>
              <a:ext cx="2514600" cy="38100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Courier New" panose="02070309020205020404" pitchFamily="49" charset="0"/>
                </a:rPr>
                <a:t>%</a:t>
              </a:r>
              <a:r>
                <a:rPr lang="en-US" altLang="zh-CN">
                  <a:latin typeface="Courier New" panose="02070309020205020404" pitchFamily="49" charset="0"/>
                </a:rPr>
                <a:t>edi</a:t>
              </a:r>
            </a:p>
          </p:txBody>
        </p:sp>
        <p:sp>
          <p:nvSpPr>
            <p:cNvPr id="55339" name="Rectangle 33">
              <a:extLst>
                <a:ext uri="{FF2B5EF4-FFF2-40B4-BE49-F238E27FC236}">
                  <a16:creationId xmlns:a16="http://schemas.microsoft.com/office/drawing/2014/main" id="{95B590D3-60D9-DBAB-91BE-7952778DD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4419600"/>
              <a:ext cx="2514600" cy="381000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Courier New" panose="02070309020205020404" pitchFamily="49" charset="0"/>
                </a:rPr>
                <a:t>%</a:t>
              </a:r>
              <a:r>
                <a:rPr lang="en-US" altLang="zh-CN">
                  <a:latin typeface="Courier New" panose="02070309020205020404" pitchFamily="49" charset="0"/>
                </a:rPr>
                <a:t>esp</a:t>
              </a:r>
            </a:p>
          </p:txBody>
        </p:sp>
        <p:sp>
          <p:nvSpPr>
            <p:cNvPr id="55340" name="Rectangle 34">
              <a:extLst>
                <a:ext uri="{FF2B5EF4-FFF2-40B4-BE49-F238E27FC236}">
                  <a16:creationId xmlns:a16="http://schemas.microsoft.com/office/drawing/2014/main" id="{6C5E2C55-9D73-D6EB-00E1-5CE0E625D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8200" y="4876800"/>
              <a:ext cx="2514600" cy="381000"/>
            </a:xfrm>
            <a:prstGeom prst="rect">
              <a:avLst/>
            </a:prstGeom>
            <a:solidFill>
              <a:srgbClr val="FFFF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>
                  <a:latin typeface="Courier New" panose="02070309020205020404" pitchFamily="49" charset="0"/>
                </a:rPr>
                <a:t>%</a:t>
              </a:r>
              <a:r>
                <a:rPr lang="en-US" altLang="zh-CN">
                  <a:latin typeface="Courier New" panose="02070309020205020404" pitchFamily="49" charset="0"/>
                </a:rPr>
                <a:t>ebp</a:t>
              </a:r>
            </a:p>
          </p:txBody>
        </p:sp>
      </p:grpSp>
      <p:graphicFrame>
        <p:nvGraphicFramePr>
          <p:cNvPr id="116" name="Group 4">
            <a:extLst>
              <a:ext uri="{FF2B5EF4-FFF2-40B4-BE49-F238E27FC236}">
                <a16:creationId xmlns:a16="http://schemas.microsoft.com/office/drawing/2014/main" id="{CDDF2E48-6716-0DEA-5172-E47D1AFBC6D9}"/>
              </a:ext>
            </a:extLst>
          </p:cNvPr>
          <p:cNvGraphicFramePr>
            <a:graphicFrameLocks noGrp="1"/>
          </p:cNvGraphicFramePr>
          <p:nvPr/>
        </p:nvGraphicFramePr>
        <p:xfrm>
          <a:off x="6477000" y="1662113"/>
          <a:ext cx="1055688" cy="4805363"/>
        </p:xfrm>
        <a:graphic>
          <a:graphicData uri="http://schemas.openxmlformats.org/drawingml/2006/table">
            <a:tbl>
              <a:tblPr/>
              <a:tblGrid>
                <a:gridCol w="1055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87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L="91493" marR="91493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L="91493" marR="91493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L="91493" marR="91493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L="91493" marR="91493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7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Times New Roman" charset="0"/>
                          <a:cs typeface="Times New Roman" charset="0"/>
                        </a:rPr>
                        <a:t>… … … </a:t>
                      </a:r>
                    </a:p>
                  </a:txBody>
                  <a:tcPr marL="91493" marR="91493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L="91493" marR="91493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L="91493" marR="91493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7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marL="91493" marR="91493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5319" name="Text Box 24">
            <a:extLst>
              <a:ext uri="{FF2B5EF4-FFF2-40B4-BE49-F238E27FC236}">
                <a16:creationId xmlns:a16="http://schemas.microsoft.com/office/drawing/2014/main" id="{AEE97B21-9FBF-C85A-6847-C6F01E493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676400"/>
            <a:ext cx="1143000" cy="493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600">
                <a:latin typeface="Times New Roman" panose="02020603050405020304" pitchFamily="18" charset="0"/>
              </a:rPr>
              <a:t>0xffffffff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600">
                <a:latin typeface="Times New Roman" panose="02020603050405020304" pitchFamily="18" charset="0"/>
              </a:rPr>
              <a:t>0xfffffffe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1600">
              <a:latin typeface="Times New Roman" panose="02020603050405020304" pitchFamily="18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2000">
              <a:latin typeface="Times New Roman" panose="02020603050405020304" pitchFamily="18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2000">
              <a:latin typeface="Times New Roman" panose="02020603050405020304" pitchFamily="18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2000">
              <a:latin typeface="Times New Roman" panose="02020603050405020304" pitchFamily="18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2000">
              <a:latin typeface="Times New Roman" panose="02020603050405020304" pitchFamily="18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1600">
              <a:latin typeface="Times New Roman" panose="02020603050405020304" pitchFamily="18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600">
                <a:latin typeface="Times New Roman" panose="02020603050405020304" pitchFamily="18" charset="0"/>
              </a:rPr>
              <a:t>0x2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700">
              <a:latin typeface="Times New Roman" panose="02020603050405020304" pitchFamily="18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600">
                <a:latin typeface="Times New Roman" panose="02020603050405020304" pitchFamily="18" charset="0"/>
              </a:rPr>
              <a:t>0x1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900">
              <a:latin typeface="Times New Roman" panose="02020603050405020304" pitchFamily="18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600">
                <a:latin typeface="Times New Roman" panose="02020603050405020304" pitchFamily="18" charset="0"/>
              </a:rPr>
              <a:t>0x0</a:t>
            </a:r>
          </a:p>
        </p:txBody>
      </p:sp>
      <p:sp>
        <p:nvSpPr>
          <p:cNvPr id="55320" name="Text Box 25">
            <a:extLst>
              <a:ext uri="{FF2B5EF4-FFF2-40B4-BE49-F238E27FC236}">
                <a16:creationId xmlns:a16="http://schemas.microsoft.com/office/drawing/2014/main" id="{87A2E516-5D6B-C2AA-1A22-E43E50F60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3950" y="2890838"/>
            <a:ext cx="16700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addresses</a:t>
            </a:r>
          </a:p>
        </p:txBody>
      </p:sp>
      <p:sp>
        <p:nvSpPr>
          <p:cNvPr id="55321" name="Text Box 28">
            <a:extLst>
              <a:ext uri="{FF2B5EF4-FFF2-40B4-BE49-F238E27FC236}">
                <a16:creationId xmlns:a16="http://schemas.microsoft.com/office/drawing/2014/main" id="{62EBC3C4-EEB7-4B8E-745C-AF6462AFC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4325" y="2755900"/>
            <a:ext cx="14890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en-US" altLang="zh-CN" sz="2400">
                <a:latin typeface="Times New Roman" panose="02020603050405020304" pitchFamily="18" charset="0"/>
              </a:rPr>
              <a:t>contents</a:t>
            </a:r>
          </a:p>
        </p:txBody>
      </p:sp>
      <p:grpSp>
        <p:nvGrpSpPr>
          <p:cNvPr id="55322" name="组合 119">
            <a:extLst>
              <a:ext uri="{FF2B5EF4-FFF2-40B4-BE49-F238E27FC236}">
                <a16:creationId xmlns:a16="http://schemas.microsoft.com/office/drawing/2014/main" id="{C273E715-D386-659D-8354-16E9A9EFF012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1828800"/>
            <a:ext cx="381000" cy="4527550"/>
            <a:chOff x="5105400" y="3439762"/>
            <a:chExt cx="1752600" cy="2580038"/>
          </a:xfrm>
        </p:grpSpPr>
        <p:sp>
          <p:nvSpPr>
            <p:cNvPr id="55329" name="Line 29">
              <a:extLst>
                <a:ext uri="{FF2B5EF4-FFF2-40B4-BE49-F238E27FC236}">
                  <a16:creationId xmlns:a16="http://schemas.microsoft.com/office/drawing/2014/main" id="{579FCA71-6BB2-968B-1665-3B1EF6004B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81600" y="4114800"/>
              <a:ext cx="16764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0" name="Line 30">
              <a:extLst>
                <a:ext uri="{FF2B5EF4-FFF2-40B4-BE49-F238E27FC236}">
                  <a16:creationId xmlns:a16="http://schemas.microsoft.com/office/drawing/2014/main" id="{723A85B6-19E5-3796-CBF0-9AD2076628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81600" y="4114800"/>
              <a:ext cx="1676400" cy="1905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31" name="Line 31">
              <a:extLst>
                <a:ext uri="{FF2B5EF4-FFF2-40B4-BE49-F238E27FC236}">
                  <a16:creationId xmlns:a16="http://schemas.microsoft.com/office/drawing/2014/main" id="{BB8286A2-17BE-A0B9-3E55-77767D470C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105400" y="3439762"/>
              <a:ext cx="1752600" cy="6750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5323" name="组合 123">
            <a:extLst>
              <a:ext uri="{FF2B5EF4-FFF2-40B4-BE49-F238E27FC236}">
                <a16:creationId xmlns:a16="http://schemas.microsoft.com/office/drawing/2014/main" id="{04812776-679C-7AAF-9DFC-6709EBCC6EC3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1828800"/>
            <a:ext cx="914400" cy="4419600"/>
            <a:chOff x="1905000" y="3359405"/>
            <a:chExt cx="1964827" cy="2518645"/>
          </a:xfrm>
        </p:grpSpPr>
        <p:sp>
          <p:nvSpPr>
            <p:cNvPr id="55324" name="Line 26">
              <a:extLst>
                <a:ext uri="{FF2B5EF4-FFF2-40B4-BE49-F238E27FC236}">
                  <a16:creationId xmlns:a16="http://schemas.microsoft.com/office/drawing/2014/main" id="{A94AC15A-7B3F-6427-209F-2E53D58496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5000" y="3359405"/>
              <a:ext cx="818678" cy="75539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5" name="Line 27">
              <a:extLst>
                <a:ext uri="{FF2B5EF4-FFF2-40B4-BE49-F238E27FC236}">
                  <a16:creationId xmlns:a16="http://schemas.microsoft.com/office/drawing/2014/main" id="{1AF31FDE-649C-7FC8-6758-4550AACEB1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5000" y="3663379"/>
              <a:ext cx="818678" cy="4514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6" name="Line 32">
              <a:extLst>
                <a:ext uri="{FF2B5EF4-FFF2-40B4-BE49-F238E27FC236}">
                  <a16:creationId xmlns:a16="http://schemas.microsoft.com/office/drawing/2014/main" id="{D371F197-FE97-C141-7172-B32CD0887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8736" y="4271328"/>
              <a:ext cx="1801091" cy="9119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7" name="Line 33">
              <a:extLst>
                <a:ext uri="{FF2B5EF4-FFF2-40B4-BE49-F238E27FC236}">
                  <a16:creationId xmlns:a16="http://schemas.microsoft.com/office/drawing/2014/main" id="{B94608EC-9330-7BD8-4FFC-C5DC72809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000" y="4114800"/>
              <a:ext cx="1801091" cy="17632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8" name="Line 34">
              <a:extLst>
                <a:ext uri="{FF2B5EF4-FFF2-40B4-BE49-F238E27FC236}">
                  <a16:creationId xmlns:a16="http://schemas.microsoft.com/office/drawing/2014/main" id="{52698171-4FA1-BADC-5263-F1475EB5B4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000" y="4114800"/>
              <a:ext cx="1964827" cy="13724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灯片编号占位符 5">
            <a:extLst>
              <a:ext uri="{FF2B5EF4-FFF2-40B4-BE49-F238E27FC236}">
                <a16:creationId xmlns:a16="http://schemas.microsoft.com/office/drawing/2014/main" id="{5C67EEEB-EAE6-6ADD-B9B7-3AA196F9F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4D5BCF-BCB1-9B4D-B72B-7FCC21EF685D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D699FEE2-4DCE-A243-2E7A-BCEE64CCDF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Operands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D5C3688-06B0-8E48-9894-445A53CF55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Counterparts in assembly languages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宋体" panose="02010600030101010101" pitchFamily="2" charset="-122"/>
              </a:rPr>
              <a:t>Immediate ( constant )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宋体" panose="02010600030101010101" pitchFamily="2" charset="-122"/>
              </a:rPr>
              <a:t>Register ( variable )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宋体" panose="02010600030101010101" pitchFamily="2" charset="-122"/>
              </a:rPr>
              <a:t>Memory ( variable )</a:t>
            </a:r>
          </a:p>
          <a:p>
            <a:pPr>
              <a:lnSpc>
                <a:spcPct val="140000"/>
              </a:lnSpc>
            </a:pPr>
            <a:r>
              <a:rPr lang="en-US" altLang="zh-CN" dirty="0">
                <a:ea typeface="宋体" panose="02010600030101010101" pitchFamily="2" charset="-122"/>
              </a:rPr>
              <a:t>Example</a:t>
            </a:r>
          </a:p>
          <a:p>
            <a:pPr lvl="1">
              <a:buFontTx/>
              <a:buNone/>
            </a:pPr>
            <a:r>
              <a:rPr lang="en-US" altLang="zh-CN" b="1" dirty="0">
                <a:ea typeface="宋体" panose="02010600030101010101" pitchFamily="2" charset="-122"/>
              </a:rPr>
              <a:t>				</a:t>
            </a:r>
            <a:r>
              <a:rPr lang="en-US" altLang="zh-CN" b="1" dirty="0" err="1">
                <a:ea typeface="宋体" panose="02010600030101010101" pitchFamily="2" charset="-122"/>
              </a:rPr>
              <a:t>movl</a:t>
            </a:r>
            <a:r>
              <a:rPr lang="en-US" altLang="zh-CN" b="1" dirty="0">
                <a:ea typeface="宋体" panose="02010600030101010101" pitchFamily="2" charset="-122"/>
              </a:rPr>
              <a:t>  </a:t>
            </a:r>
            <a:r>
              <a:rPr lang="en-US" altLang="zh-CN" b="1" dirty="0">
                <a:solidFill>
                  <a:srgbClr val="CC3300"/>
                </a:solidFill>
                <a:ea typeface="宋体" panose="02010600030101010101" pitchFamily="2" charset="-122"/>
              </a:rPr>
              <a:t>8(%</a:t>
            </a:r>
            <a:r>
              <a:rPr lang="en-US" altLang="zh-CN" b="1" dirty="0" err="1">
                <a:solidFill>
                  <a:srgbClr val="CC3300"/>
                </a:solidFill>
                <a:ea typeface="宋体" panose="02010600030101010101" pitchFamily="2" charset="-122"/>
              </a:rPr>
              <a:t>ebp</a:t>
            </a:r>
            <a:r>
              <a:rPr lang="en-US" altLang="zh-CN" b="1" dirty="0">
                <a:solidFill>
                  <a:srgbClr val="CC3300"/>
                </a:solidFill>
                <a:ea typeface="宋体" panose="02010600030101010101" pitchFamily="2" charset="-122"/>
              </a:rPr>
              <a:t>),</a:t>
            </a:r>
            <a:r>
              <a:rPr lang="en-US" altLang="zh-CN" b="1" dirty="0"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accent2"/>
                </a:solidFill>
                <a:ea typeface="宋体" panose="02010600030101010101" pitchFamily="2" charset="-122"/>
              </a:rPr>
              <a:t>%</a:t>
            </a:r>
            <a:r>
              <a:rPr lang="en-US" altLang="zh-CN" b="1" dirty="0" err="1">
                <a:solidFill>
                  <a:schemeClr val="accent2"/>
                </a:solidFill>
                <a:ea typeface="宋体" panose="02010600030101010101" pitchFamily="2" charset="-122"/>
              </a:rPr>
              <a:t>eax</a:t>
            </a:r>
            <a:endParaRPr lang="en-US" altLang="zh-CN" b="1" dirty="0">
              <a:solidFill>
                <a:schemeClr val="accent2"/>
              </a:solidFill>
              <a:ea typeface="宋体" panose="02010600030101010101" pitchFamily="2" charset="-122"/>
            </a:endParaRPr>
          </a:p>
          <a:p>
            <a:pPr lvl="1">
              <a:buFontTx/>
              <a:buNone/>
            </a:pPr>
            <a:r>
              <a:rPr lang="en-US" altLang="zh-CN" b="1" dirty="0">
                <a:ea typeface="宋体" panose="02010600030101010101" pitchFamily="2" charset="-122"/>
              </a:rPr>
              <a:t>				</a:t>
            </a:r>
            <a:r>
              <a:rPr lang="en-US" altLang="zh-CN" b="1" dirty="0" err="1">
                <a:ea typeface="宋体" panose="02010600030101010101" pitchFamily="2" charset="-122"/>
              </a:rPr>
              <a:t>addl</a:t>
            </a:r>
            <a:r>
              <a:rPr lang="en-US" altLang="zh-CN" b="1" dirty="0">
                <a:ea typeface="宋体" panose="02010600030101010101" pitchFamily="2" charset="-122"/>
              </a:rPr>
              <a:t>   </a:t>
            </a:r>
            <a:r>
              <a:rPr lang="en-US" altLang="zh-CN" b="1" dirty="0">
                <a:solidFill>
                  <a:srgbClr val="660066"/>
                </a:solidFill>
                <a:ea typeface="宋体" panose="02010600030101010101" pitchFamily="2" charset="-122"/>
              </a:rPr>
              <a:t>$4</a:t>
            </a:r>
            <a:r>
              <a:rPr lang="en-US" altLang="zh-CN" b="1" dirty="0">
                <a:ea typeface="宋体" panose="02010600030101010101" pitchFamily="2" charset="-122"/>
              </a:rPr>
              <a:t>, </a:t>
            </a:r>
            <a:r>
              <a:rPr lang="en-US" altLang="zh-CN" b="1" dirty="0">
                <a:solidFill>
                  <a:schemeClr val="accent2"/>
                </a:solidFill>
                <a:ea typeface="宋体" panose="02010600030101010101" pitchFamily="2" charset="-122"/>
              </a:rPr>
              <a:t>%</a:t>
            </a:r>
            <a:r>
              <a:rPr lang="en-US" altLang="zh-CN" b="1" dirty="0" err="1">
                <a:solidFill>
                  <a:schemeClr val="accent2"/>
                </a:solidFill>
                <a:ea typeface="宋体" panose="02010600030101010101" pitchFamily="2" charset="-122"/>
              </a:rPr>
              <a:t>eax</a:t>
            </a:r>
            <a:endParaRPr lang="en-US" altLang="zh-CN" b="1" dirty="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ACBEDAF9-0B4A-ADD7-6D86-750C1A56CC8D}"/>
              </a:ext>
            </a:extLst>
          </p:cNvPr>
          <p:cNvGrpSpPr>
            <a:grpSpLocks/>
          </p:cNvGrpSpPr>
          <p:nvPr/>
        </p:nvGrpSpPr>
        <p:grpSpPr bwMode="auto">
          <a:xfrm>
            <a:off x="4419600" y="3276600"/>
            <a:ext cx="1198563" cy="1219200"/>
            <a:chOff x="2688" y="2688"/>
            <a:chExt cx="755" cy="768"/>
          </a:xfrm>
        </p:grpSpPr>
        <p:sp>
          <p:nvSpPr>
            <p:cNvPr id="57355" name="Text Box 5">
              <a:extLst>
                <a:ext uri="{FF2B5EF4-FFF2-40B4-BE49-F238E27FC236}">
                  <a16:creationId xmlns:a16="http://schemas.microsoft.com/office/drawing/2014/main" id="{EAE5EFBF-36C0-65A3-41A7-F939B03AD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928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kumimoji="1" lang="zh-CN" altLang="en-US" sz="2000">
                <a:latin typeface="Times New Roman" panose="02020603050405020304" pitchFamily="18" charset="0"/>
              </a:endParaRPr>
            </a:p>
          </p:txBody>
        </p:sp>
        <p:sp>
          <p:nvSpPr>
            <p:cNvPr id="57356" name="Text Box 6">
              <a:extLst>
                <a:ext uri="{FF2B5EF4-FFF2-40B4-BE49-F238E27FC236}">
                  <a16:creationId xmlns:a16="http://schemas.microsoft.com/office/drawing/2014/main" id="{A4358846-03F5-626C-7E36-C17D992F10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688"/>
              <a:ext cx="7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memory</a:t>
              </a:r>
            </a:p>
          </p:txBody>
        </p:sp>
        <p:sp>
          <p:nvSpPr>
            <p:cNvPr id="57357" name="Line 7">
              <a:extLst>
                <a:ext uri="{FF2B5EF4-FFF2-40B4-BE49-F238E27FC236}">
                  <a16:creationId xmlns:a16="http://schemas.microsoft.com/office/drawing/2014/main" id="{12783291-0A07-2EDD-8F7E-F4E7DCC0C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3024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85B23C61-C0E3-027C-5E63-50637DD40FA6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4419600"/>
            <a:ext cx="2316163" cy="457200"/>
            <a:chOff x="4032" y="3360"/>
            <a:chExt cx="1459" cy="288"/>
          </a:xfrm>
        </p:grpSpPr>
        <p:sp>
          <p:nvSpPr>
            <p:cNvPr id="57353" name="Text Box 9">
              <a:extLst>
                <a:ext uri="{FF2B5EF4-FFF2-40B4-BE49-F238E27FC236}">
                  <a16:creationId xmlns:a16="http://schemas.microsoft.com/office/drawing/2014/main" id="{B5910F6C-48DA-B9AC-A3C7-68E830FC23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3360"/>
              <a:ext cx="6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register</a:t>
              </a:r>
            </a:p>
          </p:txBody>
        </p:sp>
        <p:sp>
          <p:nvSpPr>
            <p:cNvPr id="57354" name="Line 10">
              <a:extLst>
                <a:ext uri="{FF2B5EF4-FFF2-40B4-BE49-F238E27FC236}">
                  <a16:creationId xmlns:a16="http://schemas.microsoft.com/office/drawing/2014/main" id="{F3516DF1-9DD8-1107-C00E-26FA6D7E98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32" y="3504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1">
            <a:extLst>
              <a:ext uri="{FF2B5EF4-FFF2-40B4-BE49-F238E27FC236}">
                <a16:creationId xmlns:a16="http://schemas.microsoft.com/office/drawing/2014/main" id="{9357CBA1-9A70-5299-8596-3ACC3DA8421A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5216525"/>
            <a:ext cx="2974975" cy="498475"/>
            <a:chOff x="2928" y="3888"/>
            <a:chExt cx="1874" cy="314"/>
          </a:xfrm>
        </p:grpSpPr>
        <p:sp>
          <p:nvSpPr>
            <p:cNvPr id="57351" name="Text Box 12">
              <a:extLst>
                <a:ext uri="{FF2B5EF4-FFF2-40B4-BE49-F238E27FC236}">
                  <a16:creationId xmlns:a16="http://schemas.microsoft.com/office/drawing/2014/main" id="{ACC80DBA-BC41-B991-FF92-F5DB81753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3914"/>
              <a:ext cx="9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immediate</a:t>
              </a:r>
            </a:p>
          </p:txBody>
        </p:sp>
        <p:sp>
          <p:nvSpPr>
            <p:cNvPr id="57352" name="Line 13">
              <a:extLst>
                <a:ext uri="{FF2B5EF4-FFF2-40B4-BE49-F238E27FC236}">
                  <a16:creationId xmlns:a16="http://schemas.microsoft.com/office/drawing/2014/main" id="{34C05FE1-6982-9108-367B-39AE1C7318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28" y="3888"/>
              <a:ext cx="86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灯片编号占位符 5">
            <a:extLst>
              <a:ext uri="{FF2B5EF4-FFF2-40B4-BE49-F238E27FC236}">
                <a16:creationId xmlns:a16="http://schemas.microsoft.com/office/drawing/2014/main" id="{7A20D9B6-92A3-0AE8-C200-74151675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44273E-E8A5-3146-9D23-EE5E619E10ED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65F1A5A8-4EE2-19BF-8A6F-B15D8882F2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4582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Express Operands in Assembly (</a:t>
            </a:r>
            <a:r>
              <a:rPr lang="en-US" altLang="zh-CN" sz="2400" b="0">
                <a:ea typeface="宋体" panose="02010600030101010101" pitchFamily="2" charset="-122"/>
              </a:rPr>
              <a:t>Addressing Mode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DA091C7-6E5E-6A02-9993-B18F96FA23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Immediate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represents a constant 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The format is $imm ($4, $0xffffffff)</a:t>
            </a:r>
          </a:p>
          <a:p>
            <a:r>
              <a:rPr lang="en-US" altLang="zh-CN">
                <a:ea typeface="宋体" panose="02010600030101010101" pitchFamily="2" charset="-122"/>
              </a:rPr>
              <a:t>Registers 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Register mode E</a:t>
            </a:r>
            <a:r>
              <a:rPr lang="en-US" altLang="zh-CN" baseline="-25000">
                <a:ea typeface="宋体" panose="02010600030101010101" pitchFamily="2" charset="-122"/>
              </a:rPr>
              <a:t>a</a:t>
            </a: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%eax</a:t>
            </a: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The value stored in the register %eax</a:t>
            </a:r>
          </a:p>
          <a:p>
            <a:pPr lvl="3"/>
            <a:r>
              <a:rPr lang="en-US" altLang="zh-CN" sz="2400">
                <a:ea typeface="宋体" panose="02010600030101010101" pitchFamily="2" charset="-122"/>
              </a:rPr>
              <a:t>Noted as R[E</a:t>
            </a:r>
            <a:r>
              <a:rPr lang="en-US" altLang="zh-CN" sz="2400" baseline="-25000">
                <a:ea typeface="宋体" panose="02010600030101010101" pitchFamily="2" charset="-122"/>
              </a:rPr>
              <a:t>a</a:t>
            </a:r>
            <a:r>
              <a:rPr lang="en-US" altLang="zh-CN" sz="2400">
                <a:ea typeface="宋体" panose="02010600030101010101" pitchFamily="2" charset="-122"/>
              </a:rPr>
              <a:t>] (R[%eax])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灯片编号占位符 5">
            <a:extLst>
              <a:ext uri="{FF2B5EF4-FFF2-40B4-BE49-F238E27FC236}">
                <a16:creationId xmlns:a16="http://schemas.microsoft.com/office/drawing/2014/main" id="{84DBEEDB-B3F8-D7A6-6707-A4E5F19F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80EC7C4-2A05-B845-AB87-A8B3D47F553A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8FA68877-461E-51C9-A6FF-38CFD299C6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Virtual spaces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99EDC035-FB08-66AD-671B-F3AC325C04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 linear array of bytes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each with its own unique address (array index) starting at zero</a:t>
            </a:r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865284" name="Group 4">
            <a:extLst>
              <a:ext uri="{FF2B5EF4-FFF2-40B4-BE49-F238E27FC236}">
                <a16:creationId xmlns:a16="http://schemas.microsoft.com/office/drawing/2014/main" id="{DD5104F2-63D5-C515-095C-5C1F98C4BF44}"/>
              </a:ext>
            </a:extLst>
          </p:cNvPr>
          <p:cNvGraphicFramePr>
            <a:graphicFrameLocks noGrp="1"/>
          </p:cNvGraphicFramePr>
          <p:nvPr/>
        </p:nvGraphicFramePr>
        <p:xfrm>
          <a:off x="3962400" y="3352800"/>
          <a:ext cx="1371600" cy="274002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8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charset="0"/>
                          <a:ea typeface="Times New Roman" charset="0"/>
                          <a:cs typeface="Times New Roman" charset="0"/>
                        </a:rPr>
                        <a:t>… … … 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1464" name="Text Box 24">
            <a:extLst>
              <a:ext uri="{FF2B5EF4-FFF2-40B4-BE49-F238E27FC236}">
                <a16:creationId xmlns:a16="http://schemas.microsoft.com/office/drawing/2014/main" id="{74EED7FE-1840-59FD-3D9F-14ABE98A0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352800"/>
            <a:ext cx="990600" cy="271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600">
                <a:latin typeface="Times New Roman" panose="02020603050405020304" pitchFamily="18" charset="0"/>
              </a:rPr>
              <a:t>0xffffffff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600">
                <a:latin typeface="Times New Roman" panose="02020603050405020304" pitchFamily="18" charset="0"/>
              </a:rPr>
              <a:t>0xfffffffe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1600">
              <a:latin typeface="Times New Roman" panose="02020603050405020304" pitchFamily="18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endParaRPr kumimoji="1" lang="en-US" altLang="zh-CN" sz="2000">
              <a:latin typeface="Times New Roman" panose="02020603050405020304" pitchFamily="18" charset="0"/>
            </a:endParaRP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600">
                <a:latin typeface="Times New Roman" panose="02020603050405020304" pitchFamily="18" charset="0"/>
              </a:rPr>
              <a:t>0x2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600">
                <a:latin typeface="Times New Roman" panose="02020603050405020304" pitchFamily="18" charset="0"/>
              </a:rPr>
              <a:t>0x1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1600">
                <a:latin typeface="Times New Roman" panose="02020603050405020304" pitchFamily="18" charset="0"/>
              </a:rPr>
              <a:t>0x0</a:t>
            </a:r>
          </a:p>
        </p:txBody>
      </p:sp>
      <p:sp>
        <p:nvSpPr>
          <p:cNvPr id="61465" name="Text Box 25">
            <a:extLst>
              <a:ext uri="{FF2B5EF4-FFF2-40B4-BE49-F238E27FC236}">
                <a16:creationId xmlns:a16="http://schemas.microsoft.com/office/drawing/2014/main" id="{7ACC0B51-C3BA-AA35-85C8-65607B683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0386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000">
                <a:latin typeface="Times New Roman" panose="02020603050405020304" pitchFamily="18" charset="0"/>
              </a:rPr>
              <a:t>addresses</a:t>
            </a:r>
          </a:p>
        </p:txBody>
      </p:sp>
      <p:sp>
        <p:nvSpPr>
          <p:cNvPr id="61466" name="Line 26">
            <a:extLst>
              <a:ext uri="{FF2B5EF4-FFF2-40B4-BE49-F238E27FC236}">
                <a16:creationId xmlns:a16="http://schemas.microsoft.com/office/drawing/2014/main" id="{F7E8D285-6C0D-87F8-A120-C3F9BECCCE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35814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67" name="Line 27">
            <a:extLst>
              <a:ext uri="{FF2B5EF4-FFF2-40B4-BE49-F238E27FC236}">
                <a16:creationId xmlns:a16="http://schemas.microsoft.com/office/drawing/2014/main" id="{DBC46E86-6FFD-1E26-62F3-DFEB265C35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05000" y="3886200"/>
            <a:ext cx="914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68" name="Text Box 28">
            <a:extLst>
              <a:ext uri="{FF2B5EF4-FFF2-40B4-BE49-F238E27FC236}">
                <a16:creationId xmlns:a16="http://schemas.microsoft.com/office/drawing/2014/main" id="{B4E25DA0-C38F-68ED-D19E-778CE5930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38862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000">
                <a:latin typeface="Times New Roman" panose="02020603050405020304" pitchFamily="18" charset="0"/>
              </a:rPr>
              <a:t>contents</a:t>
            </a:r>
          </a:p>
        </p:txBody>
      </p:sp>
      <p:sp>
        <p:nvSpPr>
          <p:cNvPr id="61469" name="Line 29">
            <a:extLst>
              <a:ext uri="{FF2B5EF4-FFF2-40B4-BE49-F238E27FC236}">
                <a16:creationId xmlns:a16="http://schemas.microsoft.com/office/drawing/2014/main" id="{A5A6A8C2-B5FE-51A7-D9CE-3C74251A86E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4114800"/>
            <a:ext cx="1676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0" name="Line 30">
            <a:extLst>
              <a:ext uri="{FF2B5EF4-FFF2-40B4-BE49-F238E27FC236}">
                <a16:creationId xmlns:a16="http://schemas.microsoft.com/office/drawing/2014/main" id="{038AE07F-948B-2346-C28A-E10CC9C42A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4114800"/>
            <a:ext cx="1676400" cy="190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1" name="Line 31">
            <a:extLst>
              <a:ext uri="{FF2B5EF4-FFF2-40B4-BE49-F238E27FC236}">
                <a16:creationId xmlns:a16="http://schemas.microsoft.com/office/drawing/2014/main" id="{CD92DA5C-1817-A8E4-72BD-EA5487272CA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105400" y="3581400"/>
            <a:ext cx="1752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2" name="Line 32">
            <a:extLst>
              <a:ext uri="{FF2B5EF4-FFF2-40B4-BE49-F238E27FC236}">
                <a16:creationId xmlns:a16="http://schemas.microsoft.com/office/drawing/2014/main" id="{38CEAC22-0B7B-A0F7-E44D-9F74C04872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4114800"/>
            <a:ext cx="1447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3" name="Line 33">
            <a:extLst>
              <a:ext uri="{FF2B5EF4-FFF2-40B4-BE49-F238E27FC236}">
                <a16:creationId xmlns:a16="http://schemas.microsoft.com/office/drawing/2014/main" id="{C9678C3A-4239-CD64-E4A2-3C4A64F629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4114800"/>
            <a:ext cx="14478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74" name="Line 34">
            <a:extLst>
              <a:ext uri="{FF2B5EF4-FFF2-40B4-BE49-F238E27FC236}">
                <a16:creationId xmlns:a16="http://schemas.microsoft.com/office/drawing/2014/main" id="{F4554908-3C97-9BA8-29F8-425835C5B86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5000" y="4114800"/>
            <a:ext cx="152400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灯片编号占位符 5">
            <a:extLst>
              <a:ext uri="{FF2B5EF4-FFF2-40B4-BE49-F238E27FC236}">
                <a16:creationId xmlns:a16="http://schemas.microsoft.com/office/drawing/2014/main" id="{5A2DCD1B-B50D-B1BD-87E9-0DCBB6164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F61598-CF08-364C-810A-B4D0BC53E555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9C87FACA-E1EC-1455-4447-5F98A7B8DE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Memory References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C1EBDC48-E44B-1BD0-5E0F-48BFAF0F72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The name of the array is annotated as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M</a:t>
            </a:r>
          </a:p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If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addr</a:t>
            </a:r>
            <a:r>
              <a:rPr lang="en-US" altLang="zh-CN">
                <a:ea typeface="宋体" panose="02010600030101010101" pitchFamily="2" charset="-122"/>
              </a:rPr>
              <a:t> is a memory address</a:t>
            </a:r>
          </a:p>
          <a:p>
            <a:pPr>
              <a:lnSpc>
                <a:spcPct val="120000"/>
              </a:lnSpc>
            </a:pP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M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[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addr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]</a:t>
            </a:r>
            <a:r>
              <a:rPr lang="en-US" altLang="zh-CN">
                <a:ea typeface="宋体" panose="02010600030101010101" pitchFamily="2" charset="-122"/>
              </a:rPr>
              <a:t> is the content of the memory starting at 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addr</a:t>
            </a:r>
          </a:p>
          <a:p>
            <a:pPr>
              <a:lnSpc>
                <a:spcPct val="120000"/>
              </a:lnSpc>
            </a:pP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addr</a:t>
            </a:r>
            <a:r>
              <a:rPr lang="en-US" altLang="zh-CN" i="1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is used as an array index</a:t>
            </a:r>
            <a:endParaRPr lang="en-US" altLang="zh-CN" i="1"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How many bytes are there in </a:t>
            </a:r>
            <a:r>
              <a:rPr lang="en-US" altLang="zh-CN">
                <a:solidFill>
                  <a:schemeClr val="accent2"/>
                </a:solidFill>
                <a:ea typeface="宋体" panose="02010600030101010101" pitchFamily="2" charset="-122"/>
              </a:rPr>
              <a:t>M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[</a:t>
            </a:r>
            <a:r>
              <a:rPr lang="en-US" altLang="zh-CN" i="1">
                <a:solidFill>
                  <a:srgbClr val="FF0000"/>
                </a:solidFill>
                <a:ea typeface="宋体" panose="02010600030101010101" pitchFamily="2" charset="-122"/>
              </a:rPr>
              <a:t>addr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]</a:t>
            </a:r>
            <a:r>
              <a:rPr lang="en-US" altLang="zh-CN">
                <a:ea typeface="宋体" panose="02010600030101010101" pitchFamily="2" charset="-122"/>
              </a:rPr>
              <a:t>?</a:t>
            </a: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It depends on the context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灯片编号占位符 5">
            <a:extLst>
              <a:ext uri="{FF2B5EF4-FFF2-40B4-BE49-F238E27FC236}">
                <a16:creationId xmlns:a16="http://schemas.microsoft.com/office/drawing/2014/main" id="{1A597F65-54AD-0690-8B00-EAFB81500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03263F5-197B-EA41-AAAA-FE818211A9A3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0EF91F54-DEA9-E1FD-D32D-582B87F6B9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Indexed Addressing Mode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A6F61AB-8E56-820C-EDDD-2FBDADCE99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>
                <a:ea typeface="宋体" panose="02010600030101010101" pitchFamily="2" charset="-122"/>
              </a:rPr>
              <a:t>An expression for 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宋体" panose="02010600030101010101" pitchFamily="2" charset="-122"/>
              </a:rPr>
              <a:t>a memory address (or an array index)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ea typeface="宋体" panose="02010600030101010101" pitchFamily="2" charset="-122"/>
              </a:rPr>
              <a:t>Most general form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 err="1">
                <a:ea typeface="宋体" panose="02010600030101010101" pitchFamily="2" charset="-122"/>
              </a:rPr>
              <a:t>Imm</a:t>
            </a:r>
            <a:r>
              <a:rPr lang="zh-CN" altLang="en-US" dirty="0">
                <a:ea typeface="宋体" panose="02010600030101010101" pitchFamily="2" charset="-122"/>
              </a:rPr>
              <a:t>(</a:t>
            </a:r>
            <a:r>
              <a:rPr lang="en-US" altLang="zh-CN" dirty="0"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ea typeface="宋体" panose="02010600030101010101" pitchFamily="2" charset="-122"/>
              </a:rPr>
              <a:t>b</a:t>
            </a:r>
            <a:r>
              <a:rPr lang="zh-CN" altLang="en-US" dirty="0">
                <a:ea typeface="宋体" panose="02010600030101010101" pitchFamily="2" charset="-122"/>
              </a:rPr>
              <a:t>, </a:t>
            </a:r>
            <a:r>
              <a:rPr lang="en-US" altLang="zh-CN" dirty="0"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ea typeface="宋体" panose="02010600030101010101" pitchFamily="2" charset="-122"/>
              </a:rPr>
              <a:t>i</a:t>
            </a:r>
            <a:r>
              <a:rPr lang="zh-CN" altLang="en-US" dirty="0">
                <a:ea typeface="宋体" panose="02010600030101010101" pitchFamily="2" charset="-122"/>
              </a:rPr>
              <a:t>, </a:t>
            </a:r>
            <a:r>
              <a:rPr lang="en-US" altLang="zh-CN" dirty="0">
                <a:ea typeface="宋体" panose="02010600030101010101" pitchFamily="2" charset="-122"/>
              </a:rPr>
              <a:t>s)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宋体" panose="02010600030101010101" pitchFamily="2" charset="-122"/>
              </a:rPr>
              <a:t>Constant “displacement” </a:t>
            </a:r>
            <a:r>
              <a:rPr lang="en-US" altLang="zh-CN" dirty="0" err="1">
                <a:ea typeface="宋体" panose="02010600030101010101" pitchFamily="2" charset="-122"/>
              </a:rPr>
              <a:t>Imm</a:t>
            </a:r>
            <a:r>
              <a:rPr lang="en-US" altLang="zh-CN" dirty="0">
                <a:ea typeface="宋体" panose="02010600030101010101" pitchFamily="2" charset="-122"/>
              </a:rPr>
              <a:t>:  1, 2 or 4 bytes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宋体" panose="02010600030101010101" pitchFamily="2" charset="-122"/>
              </a:rPr>
              <a:t>Base register E</a:t>
            </a:r>
            <a:r>
              <a:rPr lang="en-US" altLang="zh-CN" baseline="-25000" dirty="0">
                <a:ea typeface="宋体" panose="02010600030101010101" pitchFamily="2" charset="-122"/>
              </a:rPr>
              <a:t>b</a:t>
            </a:r>
            <a:r>
              <a:rPr lang="en-US" altLang="zh-CN" dirty="0">
                <a:ea typeface="宋体" panose="02010600030101010101" pitchFamily="2" charset="-122"/>
              </a:rPr>
              <a:t>: Any of 8 integer registers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宋体" panose="02010600030101010101" pitchFamily="2" charset="-122"/>
              </a:rPr>
              <a:t>Index register E</a:t>
            </a:r>
            <a:r>
              <a:rPr lang="en-US" altLang="zh-CN" baseline="-25000" dirty="0">
                <a:ea typeface="宋体" panose="02010600030101010101" pitchFamily="2" charset="-122"/>
              </a:rPr>
              <a:t>i </a:t>
            </a:r>
            <a:r>
              <a:rPr lang="en-US" altLang="zh-CN" dirty="0">
                <a:ea typeface="宋体" panose="02010600030101010101" pitchFamily="2" charset="-122"/>
              </a:rPr>
              <a:t>: Any, except for 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%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esp</a:t>
            </a:r>
            <a:endParaRPr lang="en-US" altLang="zh-CN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S: </a:t>
            </a:r>
            <a:r>
              <a:rPr lang="en-US" altLang="zh-CN" dirty="0">
                <a:ea typeface="宋体" panose="02010600030101010101" pitchFamily="2" charset="-122"/>
              </a:rPr>
              <a:t>Scale: 1, 2, 4, or 8</a:t>
            </a:r>
          </a:p>
          <a:p>
            <a:pPr lvl="1">
              <a:lnSpc>
                <a:spcPct val="120000"/>
              </a:lnSpc>
            </a:pPr>
            <a:r>
              <a:rPr lang="zh-CN" altLang="en-US" dirty="0">
                <a:ea typeface="宋体" panose="02010600030101010101" pitchFamily="2" charset="-122"/>
              </a:rPr>
              <a:t>实际访问</a:t>
            </a:r>
            <a:r>
              <a:rPr lang="en-US" altLang="zh-CN" dirty="0" err="1">
                <a:ea typeface="宋体" panose="02010600030101010101" pitchFamily="2" charset="-122"/>
              </a:rPr>
              <a:t>Eb+Ei</a:t>
            </a:r>
            <a:r>
              <a:rPr lang="zh-CN" altLang="en-US" dirty="0">
                <a:ea typeface="宋体" panose="02010600030101010101" pitchFamily="2" charset="-122"/>
              </a:rPr>
              <a:t>*</a:t>
            </a:r>
            <a:r>
              <a:rPr lang="en-US" altLang="zh-CN" dirty="0" err="1">
                <a:ea typeface="宋体" panose="02010600030101010101" pitchFamily="2" charset="-122"/>
              </a:rPr>
              <a:t>s+Imm</a:t>
            </a:r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灯片编号占位符 5">
            <a:extLst>
              <a:ext uri="{FF2B5EF4-FFF2-40B4-BE49-F238E27FC236}">
                <a16:creationId xmlns:a16="http://schemas.microsoft.com/office/drawing/2014/main" id="{DF23D52B-8773-23F4-CCBA-E0C3FEBE4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81EDF1-9745-754F-B659-4BE2747401EA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3E0B5419-900A-0FE7-A21E-460E35AF1C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Memory Addressing Mode</a:t>
            </a:r>
            <a:r>
              <a:rPr lang="zh-CN" altLang="en-US">
                <a:ea typeface="宋体" panose="02010600030101010101" pitchFamily="2" charset="-122"/>
              </a:rPr>
              <a:t>（寻址方式）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4D3DEC41-63DE-487F-9FF2-751D5A204A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The address represented by the above form</a:t>
            </a: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imm + R[E</a:t>
            </a:r>
            <a:r>
              <a:rPr lang="en-US" altLang="zh-CN" baseline="-25000">
                <a:ea typeface="宋体" panose="02010600030101010101" pitchFamily="2" charset="-122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] + R[E</a:t>
            </a:r>
            <a:r>
              <a:rPr lang="en-US" altLang="zh-CN" baseline="-25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] * s</a:t>
            </a:r>
          </a:p>
          <a:p>
            <a:pPr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It gives the value</a:t>
            </a: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panose="02010600030101010101" pitchFamily="2" charset="-122"/>
              </a:rPr>
              <a:t>M[imm + R[E</a:t>
            </a:r>
            <a:r>
              <a:rPr lang="en-US" altLang="zh-CN" baseline="-25000">
                <a:ea typeface="宋体" panose="02010600030101010101" pitchFamily="2" charset="-122"/>
              </a:rPr>
              <a:t>b</a:t>
            </a:r>
            <a:r>
              <a:rPr lang="en-US" altLang="zh-CN">
                <a:ea typeface="宋体" panose="02010600030101010101" pitchFamily="2" charset="-122"/>
              </a:rPr>
              <a:t>] + R[E</a:t>
            </a:r>
            <a:r>
              <a:rPr lang="en-US" altLang="zh-CN" baseline="-25000">
                <a:ea typeface="宋体" panose="02010600030101010101" pitchFamily="2" charset="-122"/>
              </a:rPr>
              <a:t>i</a:t>
            </a:r>
            <a:r>
              <a:rPr lang="en-US" altLang="zh-CN">
                <a:ea typeface="宋体" panose="02010600030101010101" pitchFamily="2" charset="-122"/>
              </a:rPr>
              <a:t>] * s]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灯片编号占位符 5">
            <a:extLst>
              <a:ext uri="{FF2B5EF4-FFF2-40B4-BE49-F238E27FC236}">
                <a16:creationId xmlns:a16="http://schemas.microsoft.com/office/drawing/2014/main" id="{FC250313-6F18-790C-B63E-E7980BF38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42B005-2230-5447-928B-3E886A92E0A1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graphicFrame>
        <p:nvGraphicFramePr>
          <p:cNvPr id="873474" name="Group 2">
            <a:extLst>
              <a:ext uri="{FF2B5EF4-FFF2-40B4-BE49-F238E27FC236}">
                <a16:creationId xmlns:a16="http://schemas.microsoft.com/office/drawing/2014/main" id="{818B6D38-A037-9E45-7867-B8FDAFA89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727710"/>
              </p:ext>
            </p:extLst>
          </p:nvPr>
        </p:nvGraphicFramePr>
        <p:xfrm>
          <a:off x="420688" y="1524000"/>
          <a:ext cx="8342312" cy="5137362"/>
        </p:xfrm>
        <a:graphic>
          <a:graphicData uri="http://schemas.openxmlformats.org/drawingml/2006/table">
            <a:tbl>
              <a:tblPr/>
              <a:tblGrid>
                <a:gridCol w="1355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4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7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Type</a:t>
                      </a:r>
                    </a:p>
                  </a:txBody>
                  <a:tcPr marT="42462" marB="424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Form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Operand value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Name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4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Immediate</a:t>
                      </a:r>
                    </a:p>
                  </a:txBody>
                  <a:tcPr marT="42462" marB="424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$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Imm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Imm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Immediate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7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Register</a:t>
                      </a:r>
                    </a:p>
                  </a:txBody>
                  <a:tcPr marT="42462" marB="424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a</a:t>
                      </a:r>
                      <a:endParaRPr kumimoji="0" lang="en-US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R[E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]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Register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24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Indexed</a:t>
                      </a:r>
                    </a:p>
                  </a:txBody>
                  <a:tcPr marT="42462" marB="424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Imm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M[Imm]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Absolute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7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Indexed</a:t>
                      </a:r>
                      <a:endParaRPr kumimoji="0" lang="zh-CN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a</a:t>
                      </a: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M[R[</a:t>
                      </a:r>
                      <a:r>
                        <a:rPr kumimoji="0" lang="en-US" altLang="zh-CN" sz="1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</a:t>
                      </a:r>
                      <a:r>
                        <a:rPr kumimoji="0" lang="en-US" altLang="zh-CN" sz="17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a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]]</a:t>
                      </a:r>
                      <a:r>
                        <a:rPr kumimoji="0" lang="zh-CN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 寄存器读出来</a:t>
                      </a: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的是内存地址</a:t>
                      </a:r>
                      <a:endParaRPr kumimoji="0" lang="en-US" altLang="zh-CN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Indirect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4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Indexed</a:t>
                      </a:r>
                      <a:endParaRPr kumimoji="0" lang="zh-CN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Imm(E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)</a:t>
                      </a:r>
                      <a:endParaRPr kumimoji="0" lang="en-US" altLang="zh-CN" sz="17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M[Imm+ R[E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]]</a:t>
                      </a:r>
                      <a:endParaRPr kumimoji="0" lang="zh-CN" alt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Base+displacement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7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Indexed</a:t>
                      </a:r>
                      <a:endParaRPr kumimoji="0" lang="zh-CN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</a:t>
                      </a: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,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</a:t>
                      </a: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M[R[</a:t>
                      </a:r>
                      <a:r>
                        <a:rPr kumimoji="0" lang="en-US" altLang="zh-CN" sz="1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</a:t>
                      </a:r>
                      <a:r>
                        <a:rPr kumimoji="0" lang="en-US" altLang="zh-CN" sz="17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]+ R[</a:t>
                      </a:r>
                      <a:r>
                        <a:rPr kumimoji="0" lang="en-US" altLang="zh-CN" sz="17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</a:t>
                      </a:r>
                      <a:r>
                        <a:rPr kumimoji="0" lang="en-US" altLang="zh-CN" sz="1700" b="1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]]</a:t>
                      </a:r>
                      <a:endParaRPr kumimoji="0" lang="zh-CN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Indexed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24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Indexed</a:t>
                      </a:r>
                      <a:endParaRPr kumimoji="0" lang="zh-CN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Imm(E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, 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M[Imm+ R[E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]+ R[E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]]</a:t>
                      </a:r>
                      <a:endParaRPr kumimoji="0" lang="zh-CN" alt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Scaled indexed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7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Indexed</a:t>
                      </a:r>
                      <a:endParaRPr kumimoji="0" lang="zh-CN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(,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</a:t>
                      </a: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,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s)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M[R[E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]*s]</a:t>
                      </a:r>
                      <a:endParaRPr kumimoji="0" lang="zh-CN" alt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Scaled indexed</a:t>
                      </a:r>
                      <a:endParaRPr kumimoji="0" lang="zh-CN" alt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724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Indexed</a:t>
                      </a:r>
                      <a:endParaRPr kumimoji="0" lang="zh-CN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</a:t>
                      </a: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,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</a:t>
                      </a: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,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s)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M[R[E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]+ R[E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]*s]</a:t>
                      </a:r>
                      <a:endParaRPr kumimoji="0" lang="zh-CN" alt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Scaled indexed</a:t>
                      </a:r>
                      <a:endParaRPr kumimoji="0" lang="zh-CN" altLang="en-US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872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Indexed</a:t>
                      </a:r>
                      <a:endParaRPr kumimoji="0" lang="zh-CN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Imm</a:t>
                      </a: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</a:t>
                      </a: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,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</a:t>
                      </a:r>
                      <a:r>
                        <a:rPr kumimoji="0" lang="zh-CN" altLang="en-US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, 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s)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M[Imm+ R[E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]+ R[E</a:t>
                      </a:r>
                      <a:r>
                        <a:rPr kumimoji="0" lang="en-US" altLang="zh-CN" sz="17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i</a:t>
                      </a:r>
                      <a:r>
                        <a:rPr kumimoji="0" lang="en-US" altLang="zh-CN" sz="17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]*s]</a:t>
                      </a: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Scaled indexed</a:t>
                      </a:r>
                      <a:endParaRPr kumimoji="0" lang="zh-CN" altLang="en-US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2462" marB="4246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9689" name="Rectangle 59">
            <a:extLst>
              <a:ext uri="{FF2B5EF4-FFF2-40B4-BE49-F238E27FC236}">
                <a16:creationId xmlns:a16="http://schemas.microsoft.com/office/drawing/2014/main" id="{AEEFCD93-4A9B-1D92-D379-F5BE7B00D5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Addressing Mode</a:t>
            </a:r>
            <a:r>
              <a:rPr lang="zh-CN" altLang="en-US">
                <a:ea typeface="宋体" panose="02010600030101010101" pitchFamily="2" charset="-122"/>
              </a:rPr>
              <a:t>（寻址方式）</a:t>
            </a:r>
            <a:endParaRPr lang="en-US" altLang="zh-CN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灯片编号占位符 5">
            <a:extLst>
              <a:ext uri="{FF2B5EF4-FFF2-40B4-BE49-F238E27FC236}">
                <a16:creationId xmlns:a16="http://schemas.microsoft.com/office/drawing/2014/main" id="{A5BF470F-E913-482F-6B91-369BF3898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932F2E-A1D8-5E44-8F65-3ECE19117665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graphicFrame>
        <p:nvGraphicFramePr>
          <p:cNvPr id="875522" name="Group 2">
            <a:extLst>
              <a:ext uri="{FF2B5EF4-FFF2-40B4-BE49-F238E27FC236}">
                <a16:creationId xmlns:a16="http://schemas.microsoft.com/office/drawing/2014/main" id="{E0536AD2-72BA-BC96-70BD-131D31D05F9D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228600"/>
          <a:ext cx="3048000" cy="229711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942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Address</a:t>
                      </a:r>
                    </a:p>
                  </a:txBody>
                  <a:tcPr marL="90000" marR="90000" marT="46806" marB="468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Value</a:t>
                      </a:r>
                    </a:p>
                  </a:txBody>
                  <a:tcPr marL="90000" marR="90000" marT="46806" marB="468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42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0x100</a:t>
                      </a:r>
                    </a:p>
                  </a:txBody>
                  <a:tcPr marL="90000" marR="90000" marT="46806" marB="468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0xFF</a:t>
                      </a:r>
                    </a:p>
                  </a:txBody>
                  <a:tcPr marL="90000" marR="90000" marT="46806" marB="468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42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0x104</a:t>
                      </a:r>
                    </a:p>
                  </a:txBody>
                  <a:tcPr marL="90000" marR="90000" marT="46806" marB="468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0xAB</a:t>
                      </a:r>
                    </a:p>
                  </a:txBody>
                  <a:tcPr marL="90000" marR="90000" marT="46806" marB="468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42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0x108</a:t>
                      </a:r>
                    </a:p>
                  </a:txBody>
                  <a:tcPr marL="90000" marR="90000" marT="46806" marB="468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0x13</a:t>
                      </a:r>
                    </a:p>
                  </a:txBody>
                  <a:tcPr marL="90000" marR="90000" marT="46806" marB="468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42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0x10C</a:t>
                      </a:r>
                    </a:p>
                  </a:txBody>
                  <a:tcPr marL="90000" marR="90000" marT="46806" marB="4680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0x11</a:t>
                      </a:r>
                    </a:p>
                  </a:txBody>
                  <a:tcPr marL="90000" marR="90000" marT="46806" marB="4680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75542" name="Group 22">
            <a:extLst>
              <a:ext uri="{FF2B5EF4-FFF2-40B4-BE49-F238E27FC236}">
                <a16:creationId xmlns:a16="http://schemas.microsoft.com/office/drawing/2014/main" id="{AC328F36-E8A7-6979-5017-C6584FA5E156}"/>
              </a:ext>
            </a:extLst>
          </p:cNvPr>
          <p:cNvGraphicFramePr>
            <a:graphicFrameLocks noGrp="1"/>
          </p:cNvGraphicFramePr>
          <p:nvPr/>
        </p:nvGraphicFramePr>
        <p:xfrm>
          <a:off x="5257800" y="457200"/>
          <a:ext cx="2971800" cy="1905000"/>
        </p:xfrm>
        <a:graphic>
          <a:graphicData uri="http://schemas.openxmlformats.org/drawingml/2006/table">
            <a:tbl>
              <a:tblPr/>
              <a:tblGrid>
                <a:gridCol w="148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Register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%eax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%ecx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%edx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0x3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75559" name="Rectangle 39">
            <a:extLst>
              <a:ext uri="{FF2B5EF4-FFF2-40B4-BE49-F238E27FC236}">
                <a16:creationId xmlns:a16="http://schemas.microsoft.com/office/drawing/2014/main" id="{3D98E8B2-C87B-0499-2B58-B95EBAEC0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5041900"/>
            <a:ext cx="36195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0x13</a:t>
            </a:r>
          </a:p>
        </p:txBody>
      </p:sp>
      <p:sp>
        <p:nvSpPr>
          <p:cNvPr id="71720" name="Rectangle 40">
            <a:extLst>
              <a:ext uri="{FF2B5EF4-FFF2-40B4-BE49-F238E27FC236}">
                <a16:creationId xmlns:a16="http://schemas.microsoft.com/office/drawing/2014/main" id="{DD5CCB55-8E80-E0DE-C045-7DCA82994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041900"/>
            <a:ext cx="36195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0x108</a:t>
            </a:r>
          </a:p>
        </p:txBody>
      </p:sp>
      <p:sp>
        <p:nvSpPr>
          <p:cNvPr id="875561" name="Rectangle 41">
            <a:extLst>
              <a:ext uri="{FF2B5EF4-FFF2-40B4-BE49-F238E27FC236}">
                <a16:creationId xmlns:a16="http://schemas.microsoft.com/office/drawing/2014/main" id="{86A4DF32-09D1-4463-6C68-A86D08872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5559425"/>
            <a:ext cx="36195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(0x108)0x13</a:t>
            </a:r>
          </a:p>
        </p:txBody>
      </p:sp>
      <p:sp>
        <p:nvSpPr>
          <p:cNvPr id="71722" name="Rectangle 42">
            <a:extLst>
              <a:ext uri="{FF2B5EF4-FFF2-40B4-BE49-F238E27FC236}">
                <a16:creationId xmlns:a16="http://schemas.microsoft.com/office/drawing/2014/main" id="{EEBCD8C6-25A2-B0C4-B80D-4BFD97191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559425"/>
            <a:ext cx="36195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260(%ecx,%edx)</a:t>
            </a:r>
          </a:p>
        </p:txBody>
      </p:sp>
      <p:sp>
        <p:nvSpPr>
          <p:cNvPr id="875563" name="Rectangle 43">
            <a:extLst>
              <a:ext uri="{FF2B5EF4-FFF2-40B4-BE49-F238E27FC236}">
                <a16:creationId xmlns:a16="http://schemas.microsoft.com/office/drawing/2014/main" id="{D1D7367F-5686-6F74-E26F-5A123B43F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6076950"/>
            <a:ext cx="36195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chemeClr val="accent2"/>
                </a:solidFill>
                <a:latin typeface="Courier New" panose="02070309020205020404" pitchFamily="49" charset="0"/>
              </a:rPr>
              <a:t>(0x10C)0x11</a:t>
            </a:r>
          </a:p>
        </p:txBody>
      </p:sp>
      <p:sp>
        <p:nvSpPr>
          <p:cNvPr id="71724" name="Rectangle 44">
            <a:extLst>
              <a:ext uri="{FF2B5EF4-FFF2-40B4-BE49-F238E27FC236}">
                <a16:creationId xmlns:a16="http://schemas.microsoft.com/office/drawing/2014/main" id="{F8CE11DF-CEFC-27BD-07C5-4638D7E80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076950"/>
            <a:ext cx="36195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(%eax,%edx,4)</a:t>
            </a:r>
          </a:p>
        </p:txBody>
      </p:sp>
      <p:sp>
        <p:nvSpPr>
          <p:cNvPr id="875565" name="Rectangle 45">
            <a:extLst>
              <a:ext uri="{FF2B5EF4-FFF2-40B4-BE49-F238E27FC236}">
                <a16:creationId xmlns:a16="http://schemas.microsoft.com/office/drawing/2014/main" id="{3EF34264-4BA6-296A-62D8-62B29C6A5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4524375"/>
            <a:ext cx="36195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0x108</a:t>
            </a:r>
          </a:p>
        </p:txBody>
      </p:sp>
      <p:sp>
        <p:nvSpPr>
          <p:cNvPr id="71726" name="Rectangle 46">
            <a:extLst>
              <a:ext uri="{FF2B5EF4-FFF2-40B4-BE49-F238E27FC236}">
                <a16:creationId xmlns:a16="http://schemas.microsoft.com/office/drawing/2014/main" id="{94D1D476-033D-D0DB-10D2-3BB4C9F5F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524375"/>
            <a:ext cx="36195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$0x108</a:t>
            </a:r>
          </a:p>
        </p:txBody>
      </p:sp>
      <p:sp>
        <p:nvSpPr>
          <p:cNvPr id="875567" name="Rectangle 47">
            <a:extLst>
              <a:ext uri="{FF2B5EF4-FFF2-40B4-BE49-F238E27FC236}">
                <a16:creationId xmlns:a16="http://schemas.microsoft.com/office/drawing/2014/main" id="{2B5DF632-FCF8-4DEC-2EF4-32CF1A307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4006850"/>
            <a:ext cx="36195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0xFF</a:t>
            </a:r>
          </a:p>
        </p:txBody>
      </p:sp>
      <p:sp>
        <p:nvSpPr>
          <p:cNvPr id="71728" name="Rectangle 48">
            <a:extLst>
              <a:ext uri="{FF2B5EF4-FFF2-40B4-BE49-F238E27FC236}">
                <a16:creationId xmlns:a16="http://schemas.microsoft.com/office/drawing/2014/main" id="{5C92FA04-5E0B-20C6-02A0-0DB5FE96D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006850"/>
            <a:ext cx="36195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(%eax)</a:t>
            </a:r>
          </a:p>
        </p:txBody>
      </p:sp>
      <p:sp>
        <p:nvSpPr>
          <p:cNvPr id="875569" name="Rectangle 49">
            <a:extLst>
              <a:ext uri="{FF2B5EF4-FFF2-40B4-BE49-F238E27FC236}">
                <a16:creationId xmlns:a16="http://schemas.microsoft.com/office/drawing/2014/main" id="{6D4271EB-062E-67A7-42EC-62B5DCD5A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3489325"/>
            <a:ext cx="36195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0x100</a:t>
            </a:r>
          </a:p>
        </p:txBody>
      </p:sp>
      <p:sp>
        <p:nvSpPr>
          <p:cNvPr id="71730" name="Rectangle 50">
            <a:extLst>
              <a:ext uri="{FF2B5EF4-FFF2-40B4-BE49-F238E27FC236}">
                <a16:creationId xmlns:a16="http://schemas.microsoft.com/office/drawing/2014/main" id="{704303B1-141E-52B8-198E-1C9DCB5D0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489325"/>
            <a:ext cx="36195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Courier New" panose="02070309020205020404" pitchFamily="49" charset="0"/>
              </a:rPr>
              <a:t>%eax</a:t>
            </a:r>
          </a:p>
        </p:txBody>
      </p:sp>
      <p:sp>
        <p:nvSpPr>
          <p:cNvPr id="71731" name="Rectangle 51">
            <a:extLst>
              <a:ext uri="{FF2B5EF4-FFF2-40B4-BE49-F238E27FC236}">
                <a16:creationId xmlns:a16="http://schemas.microsoft.com/office/drawing/2014/main" id="{92D0381D-B74A-4C7F-DA47-81B9EFA95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0" y="2971800"/>
            <a:ext cx="36195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/>
              <a:t>Value</a:t>
            </a:r>
          </a:p>
        </p:txBody>
      </p:sp>
      <p:sp>
        <p:nvSpPr>
          <p:cNvPr id="71732" name="Rectangle 52">
            <a:extLst>
              <a:ext uri="{FF2B5EF4-FFF2-40B4-BE49-F238E27FC236}">
                <a16:creationId xmlns:a16="http://schemas.microsoft.com/office/drawing/2014/main" id="{5ABC47DE-DA19-204E-7878-DF7CD90DD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971800"/>
            <a:ext cx="3619500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/>
              <a:t>Operand</a:t>
            </a:r>
          </a:p>
        </p:txBody>
      </p:sp>
      <p:sp>
        <p:nvSpPr>
          <p:cNvPr id="71733" name="Line 53">
            <a:extLst>
              <a:ext uri="{FF2B5EF4-FFF2-40B4-BE49-F238E27FC236}">
                <a16:creationId xmlns:a16="http://schemas.microsoft.com/office/drawing/2014/main" id="{B5361F19-FB00-1DD0-5486-D956CB4579A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971800"/>
            <a:ext cx="7239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4" name="Line 54">
            <a:extLst>
              <a:ext uri="{FF2B5EF4-FFF2-40B4-BE49-F238E27FC236}">
                <a16:creationId xmlns:a16="http://schemas.microsoft.com/office/drawing/2014/main" id="{00A5AEF1-FDDE-879C-470E-6FAAC0A0F98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3489325"/>
            <a:ext cx="723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5" name="Line 55">
            <a:extLst>
              <a:ext uri="{FF2B5EF4-FFF2-40B4-BE49-F238E27FC236}">
                <a16:creationId xmlns:a16="http://schemas.microsoft.com/office/drawing/2014/main" id="{B7E5CE7E-3D7D-356D-EAB0-BC6FC36BB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006850"/>
            <a:ext cx="723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6" name="Line 56">
            <a:extLst>
              <a:ext uri="{FF2B5EF4-FFF2-40B4-BE49-F238E27FC236}">
                <a16:creationId xmlns:a16="http://schemas.microsoft.com/office/drawing/2014/main" id="{9A0D58A2-8660-2C32-48B8-0B30C5FD823A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4524375"/>
            <a:ext cx="723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7" name="Line 57">
            <a:extLst>
              <a:ext uri="{FF2B5EF4-FFF2-40B4-BE49-F238E27FC236}">
                <a16:creationId xmlns:a16="http://schemas.microsoft.com/office/drawing/2014/main" id="{754D2B73-9109-2B92-5819-80D4E9B99A06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041900"/>
            <a:ext cx="723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8" name="Line 58">
            <a:extLst>
              <a:ext uri="{FF2B5EF4-FFF2-40B4-BE49-F238E27FC236}">
                <a16:creationId xmlns:a16="http://schemas.microsoft.com/office/drawing/2014/main" id="{DF3471B8-7C9F-B184-B866-5B227ACB55A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6594475"/>
            <a:ext cx="72390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39" name="Line 59">
            <a:extLst>
              <a:ext uri="{FF2B5EF4-FFF2-40B4-BE49-F238E27FC236}">
                <a16:creationId xmlns:a16="http://schemas.microsoft.com/office/drawing/2014/main" id="{2781D4E0-FF40-CCBD-F91A-1204FDFCB70F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971800"/>
            <a:ext cx="0" cy="36226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40" name="Line 60">
            <a:extLst>
              <a:ext uri="{FF2B5EF4-FFF2-40B4-BE49-F238E27FC236}">
                <a16:creationId xmlns:a16="http://schemas.microsoft.com/office/drawing/2014/main" id="{85E054B1-8046-7FA2-CB1B-81D6913CEE1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7700" y="2971800"/>
            <a:ext cx="0" cy="3622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41" name="Line 61">
            <a:extLst>
              <a:ext uri="{FF2B5EF4-FFF2-40B4-BE49-F238E27FC236}">
                <a16:creationId xmlns:a16="http://schemas.microsoft.com/office/drawing/2014/main" id="{45D366CD-CF2A-2E9A-B8D1-6A12555A250E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2971800"/>
            <a:ext cx="0" cy="36226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42" name="Line 62">
            <a:extLst>
              <a:ext uri="{FF2B5EF4-FFF2-40B4-BE49-F238E27FC236}">
                <a16:creationId xmlns:a16="http://schemas.microsoft.com/office/drawing/2014/main" id="{E38E1125-29A2-DC03-6BED-A144ADF35F3E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6076950"/>
            <a:ext cx="723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743" name="Line 63">
            <a:extLst>
              <a:ext uri="{FF2B5EF4-FFF2-40B4-BE49-F238E27FC236}">
                <a16:creationId xmlns:a16="http://schemas.microsoft.com/office/drawing/2014/main" id="{58B8B951-3E60-F479-756A-95BE8C901E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5559425"/>
            <a:ext cx="7239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6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6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6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CC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5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5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5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5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5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61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75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75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7556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5559" grpId="0" autoUpdateAnimBg="0"/>
      <p:bldP spid="875561" grpId="0" autoUpdateAnimBg="0"/>
      <p:bldP spid="875563" grpId="0" autoUpdateAnimBg="0"/>
      <p:bldP spid="875565" grpId="0" autoUpdateAnimBg="0"/>
      <p:bldP spid="875567" grpId="0" autoUpdateAnimBg="0"/>
      <p:bldP spid="875569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1030">
            <a:extLst>
              <a:ext uri="{FF2B5EF4-FFF2-40B4-BE49-F238E27FC236}">
                <a16:creationId xmlns:a16="http://schemas.microsoft.com/office/drawing/2014/main" id="{5DD27FC8-C832-5A03-7822-8178911873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85A780-0E51-7949-9513-7379BB065B7A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BCAEEF12-961C-C1DF-6BE7-B74203EE1B2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Understanding Machine Execution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灯片编号占位符 5">
            <a:extLst>
              <a:ext uri="{FF2B5EF4-FFF2-40B4-BE49-F238E27FC236}">
                <a16:creationId xmlns:a16="http://schemas.microsoft.com/office/drawing/2014/main" id="{7D6ACAE0-A33D-8B10-DE27-7A680107D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A2E7FF-AB5A-A244-87D5-45C52AE6B9DE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41872DB9-A1E6-74FA-09E8-8C361F946F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Outline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51C4D45D-63E9-7434-119D-3934DABBEA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Machine states</a:t>
            </a:r>
          </a:p>
          <a:p>
            <a:r>
              <a:rPr lang="en-US" altLang="zh-CN">
                <a:ea typeface="宋体" panose="02010600030101010101" pitchFamily="2" charset="-122"/>
              </a:rPr>
              <a:t>Machine execution</a:t>
            </a:r>
          </a:p>
          <a:p>
            <a:r>
              <a:rPr lang="en-US" altLang="zh-CN">
                <a:ea typeface="宋体" panose="02010600030101010101" pitchFamily="2" charset="-122"/>
              </a:rPr>
              <a:t>Virtual Memory Layout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灯片编号占位符 5">
            <a:extLst>
              <a:ext uri="{FF2B5EF4-FFF2-40B4-BE49-F238E27FC236}">
                <a16:creationId xmlns:a16="http://schemas.microsoft.com/office/drawing/2014/main" id="{AA52510A-B878-20D4-2607-B186D83AB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804829-B99C-C640-AAE2-693877572B9D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61874155-B20E-641D-A6FA-1622F2247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Assembly Programmer’s View</a:t>
            </a:r>
          </a:p>
        </p:txBody>
      </p:sp>
      <p:sp>
        <p:nvSpPr>
          <p:cNvPr id="77827" name="Rectangle 4">
            <a:extLst>
              <a:ext uri="{FF2B5EF4-FFF2-40B4-BE49-F238E27FC236}">
                <a16:creationId xmlns:a16="http://schemas.microsoft.com/office/drawing/2014/main" id="{09D46173-5E6D-D185-728F-98ED2E981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71600"/>
            <a:ext cx="3276600" cy="5334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828" name="Rectangle 5">
            <a:extLst>
              <a:ext uri="{FF2B5EF4-FFF2-40B4-BE49-F238E27FC236}">
                <a16:creationId xmlns:a16="http://schemas.microsoft.com/office/drawing/2014/main" id="{83BCC999-ECDA-400C-2691-D07068F25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371600"/>
            <a:ext cx="3124200" cy="5334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grpSp>
        <p:nvGrpSpPr>
          <p:cNvPr id="77829" name="Group 6">
            <a:extLst>
              <a:ext uri="{FF2B5EF4-FFF2-40B4-BE49-F238E27FC236}">
                <a16:creationId xmlns:a16="http://schemas.microsoft.com/office/drawing/2014/main" id="{89B0BF59-6990-4539-9E31-3A37F01CE2B4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1524000"/>
            <a:ext cx="2743200" cy="5091113"/>
            <a:chOff x="240" y="96"/>
            <a:chExt cx="1728" cy="4192"/>
          </a:xfrm>
        </p:grpSpPr>
        <p:sp>
          <p:nvSpPr>
            <p:cNvPr id="77850" name="Rectangle 7">
              <a:extLst>
                <a:ext uri="{FF2B5EF4-FFF2-40B4-BE49-F238E27FC236}">
                  <a16:creationId xmlns:a16="http://schemas.microsoft.com/office/drawing/2014/main" id="{B7919A6C-B741-DF68-2953-09588BFCF0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168"/>
              <a:ext cx="912" cy="10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77851" name="Rectangle 8">
              <a:extLst>
                <a:ext uri="{FF2B5EF4-FFF2-40B4-BE49-F238E27FC236}">
                  <a16:creationId xmlns:a16="http://schemas.microsoft.com/office/drawing/2014/main" id="{67AEA64C-9C7D-7505-2C66-3043F11B9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160"/>
              <a:ext cx="912" cy="10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77852" name="Rectangle 9">
              <a:extLst>
                <a:ext uri="{FF2B5EF4-FFF2-40B4-BE49-F238E27FC236}">
                  <a16:creationId xmlns:a16="http://schemas.microsoft.com/office/drawing/2014/main" id="{9920AD95-A1C2-B2BB-65E4-166119461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152"/>
              <a:ext cx="912" cy="10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77853" name="Rectangle 10">
              <a:extLst>
                <a:ext uri="{FF2B5EF4-FFF2-40B4-BE49-F238E27FC236}">
                  <a16:creationId xmlns:a16="http://schemas.microsoft.com/office/drawing/2014/main" id="{49E1EDDF-5DB8-850C-3CC8-7305F60BC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44"/>
              <a:ext cx="912" cy="10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77854" name="Text Box 11">
              <a:extLst>
                <a:ext uri="{FF2B5EF4-FFF2-40B4-BE49-F238E27FC236}">
                  <a16:creationId xmlns:a16="http://schemas.microsoft.com/office/drawing/2014/main" id="{B4340F94-BE6C-B846-C0F3-E74F911FC6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96"/>
              <a:ext cx="81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anose="02070309020205020404" pitchFamily="49" charset="0"/>
                </a:rPr>
                <a:t>FFFFFFFF</a:t>
              </a:r>
            </a:p>
          </p:txBody>
        </p:sp>
        <p:sp>
          <p:nvSpPr>
            <p:cNvPr id="77855" name="Text Box 12">
              <a:extLst>
                <a:ext uri="{FF2B5EF4-FFF2-40B4-BE49-F238E27FC236}">
                  <a16:creationId xmlns:a16="http://schemas.microsoft.com/office/drawing/2014/main" id="{E6587417-0768-5FB0-D2EF-2FF6545980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1113"/>
              <a:ext cx="81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anose="02070309020205020404" pitchFamily="49" charset="0"/>
                </a:rPr>
                <a:t>BFFFFFFF</a:t>
              </a:r>
            </a:p>
          </p:txBody>
        </p:sp>
        <p:sp>
          <p:nvSpPr>
            <p:cNvPr id="77856" name="Text Box 13">
              <a:extLst>
                <a:ext uri="{FF2B5EF4-FFF2-40B4-BE49-F238E27FC236}">
                  <a16:creationId xmlns:a16="http://schemas.microsoft.com/office/drawing/2014/main" id="{A411372F-55AB-42A3-4C63-D530333FD3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" y="2130"/>
              <a:ext cx="81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7</a:t>
              </a:r>
              <a:r>
                <a:rPr lang="en-US" altLang="zh-CN" sz="1800">
                  <a:latin typeface="Courier New" panose="02070309020205020404" pitchFamily="49" charset="0"/>
                </a:rPr>
                <a:t>FFFFFFF</a:t>
              </a:r>
            </a:p>
          </p:txBody>
        </p:sp>
        <p:sp>
          <p:nvSpPr>
            <p:cNvPr id="77857" name="Text Box 14">
              <a:extLst>
                <a:ext uri="{FF2B5EF4-FFF2-40B4-BE49-F238E27FC236}">
                  <a16:creationId xmlns:a16="http://schemas.microsoft.com/office/drawing/2014/main" id="{1D115745-C75A-06E0-EB10-EAD142E6FD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147"/>
              <a:ext cx="81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3</a:t>
              </a:r>
              <a:r>
                <a:rPr lang="en-US" altLang="zh-CN" sz="1800">
                  <a:latin typeface="Courier New" panose="02070309020205020404" pitchFamily="49" charset="0"/>
                </a:rPr>
                <a:t>FFFFFFF</a:t>
              </a:r>
            </a:p>
          </p:txBody>
        </p:sp>
        <p:sp>
          <p:nvSpPr>
            <p:cNvPr id="77858" name="Text Box 15">
              <a:extLst>
                <a:ext uri="{FF2B5EF4-FFF2-40B4-BE49-F238E27FC236}">
                  <a16:creationId xmlns:a16="http://schemas.microsoft.com/office/drawing/2014/main" id="{3CC92F86-B181-59F8-538C-819342A0A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959"/>
              <a:ext cx="81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latin typeface="Courier New" panose="02070309020205020404" pitchFamily="49" charset="0"/>
                </a:rPr>
                <a:t>C0000000</a:t>
              </a:r>
            </a:p>
          </p:txBody>
        </p:sp>
        <p:sp>
          <p:nvSpPr>
            <p:cNvPr id="77859" name="Text Box 16">
              <a:extLst>
                <a:ext uri="{FF2B5EF4-FFF2-40B4-BE49-F238E27FC236}">
                  <a16:creationId xmlns:a16="http://schemas.microsoft.com/office/drawing/2014/main" id="{F409674B-0646-3CE1-68FE-8BA0F883B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1968"/>
              <a:ext cx="81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80</a:t>
              </a:r>
              <a:r>
                <a:rPr lang="en-US" altLang="zh-CN" sz="1800">
                  <a:latin typeface="Courier New" panose="02070309020205020404" pitchFamily="49" charset="0"/>
                </a:rPr>
                <a:t>000000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77860" name="Text Box 17">
              <a:extLst>
                <a:ext uri="{FF2B5EF4-FFF2-40B4-BE49-F238E27FC236}">
                  <a16:creationId xmlns:a16="http://schemas.microsoft.com/office/drawing/2014/main" id="{9FFC81C4-A655-7875-257F-6621E2B3F0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" y="2976"/>
              <a:ext cx="81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40</a:t>
              </a:r>
              <a:r>
                <a:rPr lang="en-US" altLang="zh-CN" sz="1800">
                  <a:latin typeface="Courier New" panose="02070309020205020404" pitchFamily="49" charset="0"/>
                </a:rPr>
                <a:t>000000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77861" name="Text Box 18">
              <a:extLst>
                <a:ext uri="{FF2B5EF4-FFF2-40B4-BE49-F238E27FC236}">
                  <a16:creationId xmlns:a16="http://schemas.microsoft.com/office/drawing/2014/main" id="{28A2A69D-09FE-AAAC-C2A1-B3030CEF0D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984"/>
              <a:ext cx="81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00</a:t>
              </a:r>
              <a:r>
                <a:rPr lang="en-US" altLang="zh-CN" sz="1800">
                  <a:latin typeface="Courier New" panose="02070309020205020404" pitchFamily="49" charset="0"/>
                </a:rPr>
                <a:t>000000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  <p:sp>
          <p:nvSpPr>
            <p:cNvPr id="77862" name="Rectangle 19">
              <a:extLst>
                <a:ext uri="{FF2B5EF4-FFF2-40B4-BE49-F238E27FC236}">
                  <a16:creationId xmlns:a16="http://schemas.microsoft.com/office/drawing/2014/main" id="{C7A224BA-F94A-9249-19D1-25A805050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44"/>
              <a:ext cx="912" cy="403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endParaRPr lang="zh-CN" altLang="en-US" sz="2000"/>
            </a:p>
          </p:txBody>
        </p:sp>
        <p:sp>
          <p:nvSpPr>
            <p:cNvPr id="77863" name="Rectangle 20">
              <a:extLst>
                <a:ext uri="{FF2B5EF4-FFF2-40B4-BE49-F238E27FC236}">
                  <a16:creationId xmlns:a16="http://schemas.microsoft.com/office/drawing/2014/main" id="{E0D6EFEF-E895-A21E-638F-B6B6168CE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152"/>
              <a:ext cx="912" cy="240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  <a:latin typeface="Helvetica" pitchFamily="2" charset="0"/>
                </a:rPr>
                <a:t>Stack</a:t>
              </a:r>
            </a:p>
          </p:txBody>
        </p:sp>
        <p:sp>
          <p:nvSpPr>
            <p:cNvPr id="77864" name="Rectangle 21">
              <a:extLst>
                <a:ext uri="{FF2B5EF4-FFF2-40B4-BE49-F238E27FC236}">
                  <a16:creationId xmlns:a16="http://schemas.microsoft.com/office/drawing/2014/main" id="{D5211780-C580-66AC-C043-6129C7FCD4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976"/>
              <a:ext cx="912" cy="192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  <a:latin typeface="Helvetica" pitchFamily="2" charset="0"/>
                </a:rPr>
                <a:t>DLLs</a:t>
              </a:r>
            </a:p>
          </p:txBody>
        </p:sp>
        <p:sp>
          <p:nvSpPr>
            <p:cNvPr id="77865" name="Rectangle 22">
              <a:extLst>
                <a:ext uri="{FF2B5EF4-FFF2-40B4-BE49-F238E27FC236}">
                  <a16:creationId xmlns:a16="http://schemas.microsoft.com/office/drawing/2014/main" id="{72335E9B-421F-B18D-B813-AB70B9DD89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792"/>
              <a:ext cx="912" cy="192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  <a:latin typeface="Helvetica" pitchFamily="2" charset="0"/>
                </a:rPr>
                <a:t>Text</a:t>
              </a:r>
            </a:p>
          </p:txBody>
        </p:sp>
        <p:sp>
          <p:nvSpPr>
            <p:cNvPr id="77866" name="Rectangle 23">
              <a:extLst>
                <a:ext uri="{FF2B5EF4-FFF2-40B4-BE49-F238E27FC236}">
                  <a16:creationId xmlns:a16="http://schemas.microsoft.com/office/drawing/2014/main" id="{7738770D-DF4E-B8C5-AFFE-96EADAAE9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600"/>
              <a:ext cx="912" cy="192"/>
            </a:xfrm>
            <a:prstGeom prst="rect">
              <a:avLst/>
            </a:prstGeom>
            <a:solidFill>
              <a:srgbClr val="FF0000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Data</a:t>
              </a:r>
            </a:p>
          </p:txBody>
        </p:sp>
        <p:sp>
          <p:nvSpPr>
            <p:cNvPr id="77867" name="Rectangle 24">
              <a:extLst>
                <a:ext uri="{FF2B5EF4-FFF2-40B4-BE49-F238E27FC236}">
                  <a16:creationId xmlns:a16="http://schemas.microsoft.com/office/drawing/2014/main" id="{3E33C0BD-29F8-3893-AE2A-4D982E3F6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168"/>
              <a:ext cx="912" cy="432"/>
            </a:xfrm>
            <a:prstGeom prst="rect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chemeClr val="bg1"/>
                  </a:solidFill>
                  <a:latin typeface="Helvetica" pitchFamily="2" charset="0"/>
                </a:rPr>
                <a:t>Heap</a:t>
              </a:r>
            </a:p>
          </p:txBody>
        </p:sp>
        <p:sp>
          <p:nvSpPr>
            <p:cNvPr id="77868" name="Rectangle 25">
              <a:extLst>
                <a:ext uri="{FF2B5EF4-FFF2-40B4-BE49-F238E27FC236}">
                  <a16:creationId xmlns:a16="http://schemas.microsoft.com/office/drawing/2014/main" id="{8C5C2C25-C81A-7A15-4816-695BFA904B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016"/>
              <a:ext cx="912" cy="960"/>
            </a:xfrm>
            <a:prstGeom prst="rect">
              <a:avLst/>
            </a:prstGeom>
            <a:solidFill>
              <a:schemeClr val="accent2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chemeClr val="bg1"/>
                  </a:solidFill>
                  <a:latin typeface="Helvetica" pitchFamily="2" charset="0"/>
                </a:rPr>
                <a:t>Heap</a:t>
              </a:r>
            </a:p>
          </p:txBody>
        </p:sp>
        <p:sp>
          <p:nvSpPr>
            <p:cNvPr id="77869" name="Text Box 26">
              <a:extLst>
                <a:ext uri="{FF2B5EF4-FFF2-40B4-BE49-F238E27FC236}">
                  <a16:creationId xmlns:a16="http://schemas.microsoft.com/office/drawing/2014/main" id="{70815CB5-4551-3E98-EFAC-A150C1FDBF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3808"/>
              <a:ext cx="811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>
                  <a:latin typeface="Courier New" panose="02070309020205020404" pitchFamily="49" charset="0"/>
                </a:rPr>
                <a:t>08</a:t>
              </a:r>
              <a:r>
                <a:rPr lang="en-US" altLang="zh-CN" sz="1800">
                  <a:latin typeface="Courier New" panose="02070309020205020404" pitchFamily="49" charset="0"/>
                </a:rPr>
                <a:t>000000</a:t>
              </a:r>
              <a:endParaRPr lang="zh-CN" altLang="en-US" sz="1800">
                <a:latin typeface="Courier New" panose="02070309020205020404" pitchFamily="49" charset="0"/>
              </a:endParaRPr>
            </a:p>
          </p:txBody>
        </p:sp>
      </p:grpSp>
      <p:sp>
        <p:nvSpPr>
          <p:cNvPr id="77830" name="Rectangle 27">
            <a:extLst>
              <a:ext uri="{FF2B5EF4-FFF2-40B4-BE49-F238E27FC236}">
                <a16:creationId xmlns:a16="http://schemas.microsoft.com/office/drawing/2014/main" id="{049592D1-BAD7-A433-C7E1-6CD076B96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76400"/>
            <a:ext cx="2514600" cy="381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eax</a:t>
            </a:r>
          </a:p>
        </p:txBody>
      </p:sp>
      <p:sp>
        <p:nvSpPr>
          <p:cNvPr id="77831" name="Rectangle 28">
            <a:extLst>
              <a:ext uri="{FF2B5EF4-FFF2-40B4-BE49-F238E27FC236}">
                <a16:creationId xmlns:a16="http://schemas.microsoft.com/office/drawing/2014/main" id="{D2ED39A6-EA21-3C9D-7C74-199D0BA41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133600"/>
            <a:ext cx="2514600" cy="381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edx</a:t>
            </a:r>
          </a:p>
        </p:txBody>
      </p:sp>
      <p:sp>
        <p:nvSpPr>
          <p:cNvPr id="77832" name="Rectangle 29">
            <a:extLst>
              <a:ext uri="{FF2B5EF4-FFF2-40B4-BE49-F238E27FC236}">
                <a16:creationId xmlns:a16="http://schemas.microsoft.com/office/drawing/2014/main" id="{131E76B5-7638-298E-D321-C20AE818F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90800"/>
            <a:ext cx="2514600" cy="381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ecx</a:t>
            </a:r>
          </a:p>
        </p:txBody>
      </p:sp>
      <p:sp>
        <p:nvSpPr>
          <p:cNvPr id="77833" name="Rectangle 30">
            <a:extLst>
              <a:ext uri="{FF2B5EF4-FFF2-40B4-BE49-F238E27FC236}">
                <a16:creationId xmlns:a16="http://schemas.microsoft.com/office/drawing/2014/main" id="{62D4EB6A-9BCF-9FC2-AF8C-6E80EB140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048000"/>
            <a:ext cx="2514600" cy="381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ebx</a:t>
            </a:r>
          </a:p>
        </p:txBody>
      </p:sp>
      <p:sp>
        <p:nvSpPr>
          <p:cNvPr id="77834" name="Rectangle 31">
            <a:extLst>
              <a:ext uri="{FF2B5EF4-FFF2-40B4-BE49-F238E27FC236}">
                <a16:creationId xmlns:a16="http://schemas.microsoft.com/office/drawing/2014/main" id="{660A6230-2186-2714-38DC-1E6EFD8AF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505200"/>
            <a:ext cx="2514600" cy="381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esi</a:t>
            </a:r>
          </a:p>
        </p:txBody>
      </p:sp>
      <p:sp>
        <p:nvSpPr>
          <p:cNvPr id="77835" name="Rectangle 32">
            <a:extLst>
              <a:ext uri="{FF2B5EF4-FFF2-40B4-BE49-F238E27FC236}">
                <a16:creationId xmlns:a16="http://schemas.microsoft.com/office/drawing/2014/main" id="{BECF03C6-89EC-DD3A-FDFC-BF5443837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962400"/>
            <a:ext cx="2514600" cy="3810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edi</a:t>
            </a:r>
          </a:p>
        </p:txBody>
      </p:sp>
      <p:sp>
        <p:nvSpPr>
          <p:cNvPr id="23566" name="Rectangle 33">
            <a:extLst>
              <a:ext uri="{FF2B5EF4-FFF2-40B4-BE49-F238E27FC236}">
                <a16:creationId xmlns:a16="http://schemas.microsoft.com/office/drawing/2014/main" id="{DA785768-6BBA-2AE0-35ED-89CF25971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419600"/>
            <a:ext cx="2514600" cy="3810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%</a:t>
            </a:r>
            <a:r>
              <a:rPr lang="en-US" altLang="zh-CN" sz="2400" dirty="0" err="1">
                <a:latin typeface="Times New Roman" pitchFamily="18" charset="0"/>
                <a:cs typeface="Times New Roman" pitchFamily="18" charset="0"/>
              </a:rPr>
              <a:t>esp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567" name="Rectangle 34">
            <a:extLst>
              <a:ext uri="{FF2B5EF4-FFF2-40B4-BE49-F238E27FC236}">
                <a16:creationId xmlns:a16="http://schemas.microsoft.com/office/drawing/2014/main" id="{18942D3F-4A92-AEBB-F223-46FA3B6CE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876800"/>
            <a:ext cx="2514600" cy="3810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zh-CN" altLang="en-US" sz="2400">
                <a:latin typeface="Times New Roman" pitchFamily="18" charset="0"/>
                <a:cs typeface="Times New Roman" pitchFamily="18" charset="0"/>
              </a:rPr>
              <a:t>%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ebp</a:t>
            </a:r>
          </a:p>
        </p:txBody>
      </p:sp>
      <p:sp>
        <p:nvSpPr>
          <p:cNvPr id="77838" name="Rectangle 43">
            <a:extLst>
              <a:ext uri="{FF2B5EF4-FFF2-40B4-BE49-F238E27FC236}">
                <a16:creationId xmlns:a16="http://schemas.microsoft.com/office/drawing/2014/main" id="{DB78F2ED-FCBA-9E01-DD5F-0003229E58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334000"/>
            <a:ext cx="2514600" cy="381000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%eip</a:t>
            </a:r>
          </a:p>
        </p:txBody>
      </p:sp>
      <p:sp>
        <p:nvSpPr>
          <p:cNvPr id="77839" name="Rectangle 44">
            <a:extLst>
              <a:ext uri="{FF2B5EF4-FFF2-40B4-BE49-F238E27FC236}">
                <a16:creationId xmlns:a16="http://schemas.microsoft.com/office/drawing/2014/main" id="{E024FB9E-032C-81A1-C5F7-3B3E3C124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867400"/>
            <a:ext cx="2514600" cy="381000"/>
          </a:xfrm>
          <a:prstGeom prst="rect">
            <a:avLst/>
          </a:prstGeom>
          <a:solidFill>
            <a:srgbClr val="FFFF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%eflag</a:t>
            </a:r>
          </a:p>
        </p:txBody>
      </p:sp>
      <p:sp>
        <p:nvSpPr>
          <p:cNvPr id="77840" name="Line 45">
            <a:extLst>
              <a:ext uri="{FF2B5EF4-FFF2-40B4-BE49-F238E27FC236}">
                <a16:creationId xmlns:a16="http://schemas.microsoft.com/office/drawing/2014/main" id="{56E350F7-A5AC-91BB-98D3-76EFDA0EEC2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5814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1" name="Line 46">
            <a:extLst>
              <a:ext uri="{FF2B5EF4-FFF2-40B4-BE49-F238E27FC236}">
                <a16:creationId xmlns:a16="http://schemas.microsoft.com/office/drawing/2014/main" id="{B502008D-CAAE-ABAC-B71D-7B608C37F7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2098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2" name="Line 47">
            <a:extLst>
              <a:ext uri="{FF2B5EF4-FFF2-40B4-BE49-F238E27FC236}">
                <a16:creationId xmlns:a16="http://schemas.microsoft.com/office/drawing/2014/main" id="{3F6D69A6-DAC3-56F3-BF4D-0EA3922A74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45720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3" name="Text Box 48">
            <a:extLst>
              <a:ext uri="{FF2B5EF4-FFF2-40B4-BE49-F238E27FC236}">
                <a16:creationId xmlns:a16="http://schemas.microsoft.com/office/drawing/2014/main" id="{35FA401B-39E0-E757-1142-38433DBCE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16764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000">
                <a:latin typeface="Times New Roman" panose="02020603050405020304" pitchFamily="18" charset="0"/>
              </a:rPr>
              <a:t>Addresses</a:t>
            </a:r>
          </a:p>
        </p:txBody>
      </p:sp>
      <p:sp>
        <p:nvSpPr>
          <p:cNvPr id="77844" name="Text Box 49">
            <a:extLst>
              <a:ext uri="{FF2B5EF4-FFF2-40B4-BE49-F238E27FC236}">
                <a16:creationId xmlns:a16="http://schemas.microsoft.com/office/drawing/2014/main" id="{F4550408-38F8-FF05-96D9-6C5307BBD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9718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000">
                <a:latin typeface="Times New Roman" panose="02020603050405020304" pitchFamily="18" charset="0"/>
              </a:rPr>
              <a:t>Data</a:t>
            </a:r>
          </a:p>
        </p:txBody>
      </p:sp>
      <p:sp>
        <p:nvSpPr>
          <p:cNvPr id="77845" name="Text Box 50">
            <a:extLst>
              <a:ext uri="{FF2B5EF4-FFF2-40B4-BE49-F238E27FC236}">
                <a16:creationId xmlns:a16="http://schemas.microsoft.com/office/drawing/2014/main" id="{7C54DE15-6EE6-BE22-A391-2944F29B1D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4038600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kumimoji="1" lang="en-US" altLang="zh-CN" sz="2000">
                <a:latin typeface="Times New Roman" panose="02020603050405020304" pitchFamily="18" charset="0"/>
              </a:rPr>
              <a:t>Instructions</a:t>
            </a:r>
          </a:p>
        </p:txBody>
      </p:sp>
      <p:sp>
        <p:nvSpPr>
          <p:cNvPr id="77846" name="TextBox 42">
            <a:extLst>
              <a:ext uri="{FF2B5EF4-FFF2-40B4-BE49-F238E27FC236}">
                <a16:creationId xmlns:a16="http://schemas.microsoft.com/office/drawing/2014/main" id="{BE8F7EEE-66DE-5F8C-7030-CCEB636F9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5181600"/>
            <a:ext cx="8620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/>
              <a:t>CPU</a:t>
            </a:r>
            <a:endParaRPr lang="zh-CN" altLang="en-US"/>
          </a:p>
        </p:txBody>
      </p:sp>
      <p:cxnSp>
        <p:nvCxnSpPr>
          <p:cNvPr id="77847" name="直接箭头连接符 45">
            <a:extLst>
              <a:ext uri="{FF2B5EF4-FFF2-40B4-BE49-F238E27FC236}">
                <a16:creationId xmlns:a16="http://schemas.microsoft.com/office/drawing/2014/main" id="{123397F6-0002-5A78-904E-BB96CB98711A}"/>
              </a:ext>
            </a:extLst>
          </p:cNvPr>
          <p:cNvCxnSpPr>
            <a:cxnSpLocks noChangeShapeType="1"/>
            <a:stCxn id="77846" idx="1"/>
          </p:cNvCxnSpPr>
          <p:nvPr/>
        </p:nvCxnSpPr>
        <p:spPr bwMode="auto">
          <a:xfrm flipH="1" flipV="1">
            <a:off x="3733800" y="5105400"/>
            <a:ext cx="304800" cy="338138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848" name="TextBox 46">
            <a:extLst>
              <a:ext uri="{FF2B5EF4-FFF2-40B4-BE49-F238E27FC236}">
                <a16:creationId xmlns:a16="http://schemas.microsoft.com/office/drawing/2014/main" id="{5E6E9DEA-3072-951E-B389-F6E5DDA88F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28600"/>
            <a:ext cx="1543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/>
              <a:t>Memory</a:t>
            </a:r>
            <a:endParaRPr lang="zh-CN" altLang="en-US"/>
          </a:p>
        </p:txBody>
      </p:sp>
      <p:cxnSp>
        <p:nvCxnSpPr>
          <p:cNvPr id="77849" name="直接箭头连接符 48">
            <a:extLst>
              <a:ext uri="{FF2B5EF4-FFF2-40B4-BE49-F238E27FC236}">
                <a16:creationId xmlns:a16="http://schemas.microsoft.com/office/drawing/2014/main" id="{2D57EB5E-E504-538F-8378-CA75594973EA}"/>
              </a:ext>
            </a:extLst>
          </p:cNvPr>
          <p:cNvCxnSpPr>
            <a:cxnSpLocks noChangeShapeType="1"/>
            <a:stCxn id="77848" idx="2"/>
            <a:endCxn id="77828" idx="0"/>
          </p:cNvCxnSpPr>
          <p:nvPr/>
        </p:nvCxnSpPr>
        <p:spPr bwMode="auto">
          <a:xfrm>
            <a:off x="7019925" y="752475"/>
            <a:ext cx="28575" cy="619125"/>
          </a:xfrm>
          <a:prstGeom prst="straightConnector1">
            <a:avLst/>
          </a:prstGeom>
          <a:noFill/>
          <a:ln w="508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灯片编号占位符 5">
            <a:extLst>
              <a:ext uri="{FF2B5EF4-FFF2-40B4-BE49-F238E27FC236}">
                <a16:creationId xmlns:a16="http://schemas.microsoft.com/office/drawing/2014/main" id="{673F5542-70B0-A0A8-A680-5844CABA3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10984C-D528-184C-91C8-1FBA094C63FC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AC27B79D-755B-218D-2385-71B54E193E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Programmer-Visible States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52A43E0E-E895-137C-2FA8-10A0D01886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Program Counter(%eip)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Address of the next instruction</a:t>
            </a:r>
          </a:p>
          <a:p>
            <a:pPr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Register File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Heavily used program data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Integer and floating-point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灯片编号占位符 5">
            <a:extLst>
              <a:ext uri="{FF2B5EF4-FFF2-40B4-BE49-F238E27FC236}">
                <a16:creationId xmlns:a16="http://schemas.microsoft.com/office/drawing/2014/main" id="{81832978-48E4-815E-B631-80A7177EF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FBFF9D-CF6B-C041-8322-F98D290F753D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25F910C1-5FED-CA16-9E05-BEF00AC07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Programmer-Visible States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C3DA5261-5AD0-23D0-206F-1F31816F6A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Conditional code register (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%eflags</a:t>
            </a:r>
            <a:r>
              <a:rPr lang="en-US" altLang="zh-CN">
                <a:ea typeface="宋体" panose="02010600030101010101" pitchFamily="2" charset="-122"/>
              </a:rPr>
              <a:t>)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Hold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status</a:t>
            </a:r>
            <a:r>
              <a:rPr lang="en-US" altLang="zh-CN">
                <a:ea typeface="宋体" panose="02010600030101010101" pitchFamily="2" charset="-122"/>
              </a:rPr>
              <a:t> information about the </a:t>
            </a:r>
            <a:r>
              <a:rPr lang="en-US" altLang="zh-CN">
                <a:solidFill>
                  <a:srgbClr val="FF0000"/>
                </a:solidFill>
                <a:ea typeface="宋体" panose="02010600030101010101" pitchFamily="2" charset="-122"/>
              </a:rPr>
              <a:t>most recently </a:t>
            </a:r>
            <a:r>
              <a:rPr lang="en-US" altLang="zh-CN">
                <a:ea typeface="宋体" panose="02010600030101010101" pitchFamily="2" charset="-122"/>
              </a:rPr>
              <a:t>executed instruction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Implement conditional changes in the control flow</a:t>
            </a:r>
          </a:p>
          <a:p>
            <a:pPr>
              <a:lnSpc>
                <a:spcPct val="140000"/>
              </a:lnSpc>
            </a:pPr>
            <a:r>
              <a:rPr lang="en-US" altLang="zh-CN">
                <a:ea typeface="宋体" panose="02010600030101010101" pitchFamily="2" charset="-122"/>
              </a:rPr>
              <a:t>Virtual Memory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灯片编号占位符 5">
            <a:extLst>
              <a:ext uri="{FF2B5EF4-FFF2-40B4-BE49-F238E27FC236}">
                <a16:creationId xmlns:a16="http://schemas.microsoft.com/office/drawing/2014/main" id="{6E02DBC3-6C2A-FA03-FBDA-63D036DE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0B32F7-59D9-A34A-B1F4-D83452FF273F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C1AC8A7E-87E7-7A95-7942-E2DA244787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Operations in Assembly Instructions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7BEDA49A-3DE7-8337-D3B7-7DC6009898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8458200" cy="4419600"/>
          </a:xfrm>
        </p:spPr>
        <p:txBody>
          <a:bodyPr/>
          <a:lstStyle/>
          <a:p>
            <a:r>
              <a:rPr lang="en-US" altLang="zh-CN" b="1">
                <a:solidFill>
                  <a:srgbClr val="FF0000"/>
                </a:solidFill>
                <a:ea typeface="宋体" panose="02010600030101010101" pitchFamily="2" charset="-122"/>
              </a:rPr>
              <a:t>Instruction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Performs only a very elementary operation</a:t>
            </a:r>
          </a:p>
          <a:p>
            <a:r>
              <a:rPr lang="en-US" altLang="zh-CN">
                <a:ea typeface="宋体" panose="02010600030101010101" pitchFamily="2" charset="-122"/>
              </a:rPr>
              <a:t>Program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is a sequence of instructions</a:t>
            </a:r>
          </a:p>
          <a:p>
            <a:r>
              <a:rPr lang="en-US" altLang="zh-CN">
                <a:ea typeface="宋体" panose="02010600030101010101" pitchFamily="2" charset="-122"/>
              </a:rPr>
              <a:t>Sequential execution mode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Normally one by one in sequential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Conditionally branch to a new instruction address</a:t>
            </a:r>
          </a:p>
          <a:p>
            <a:r>
              <a:rPr lang="en-US" altLang="zh-CN">
                <a:ea typeface="宋体" panose="02010600030101010101" pitchFamily="2" charset="-122"/>
              </a:rPr>
              <a:t>Typically operates data stored in registers</a:t>
            </a:r>
          </a:p>
          <a:p>
            <a:r>
              <a:rPr lang="en-US" altLang="zh-CN">
                <a:ea typeface="宋体" panose="02010600030101010101" pitchFamily="2" charset="-122"/>
              </a:rPr>
              <a:t>Transfers data between memory and a register</a:t>
            </a:r>
          </a:p>
        </p:txBody>
      </p:sp>
      <p:graphicFrame>
        <p:nvGraphicFramePr>
          <p:cNvPr id="5" name="Group 14">
            <a:extLst>
              <a:ext uri="{FF2B5EF4-FFF2-40B4-BE49-F238E27FC236}">
                <a16:creationId xmlns:a16="http://schemas.microsoft.com/office/drawing/2014/main" id="{500A32F9-7BA3-21AF-2BE8-A1224FFEF137}"/>
              </a:ext>
            </a:extLst>
          </p:cNvPr>
          <p:cNvGraphicFramePr>
            <a:graphicFrameLocks/>
          </p:cNvGraphicFramePr>
          <p:nvPr/>
        </p:nvGraphicFramePr>
        <p:xfrm>
          <a:off x="3352800" y="1739900"/>
          <a:ext cx="5181600" cy="4443413"/>
        </p:xfrm>
        <a:graphic>
          <a:graphicData uri="http://schemas.openxmlformats.org/drawingml/2006/table">
            <a:tbl>
              <a:tblPr/>
              <a:tblGrid>
                <a:gridCol w="518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43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_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sum: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	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pushl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	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movl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esp,%ebp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	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movl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12(%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ebp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),%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eax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	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addl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8(%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ebp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),%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eax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   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addl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eax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, 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accum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	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movl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ebp,%esp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	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popl</a:t>
                      </a: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 %</a:t>
                      </a:r>
                      <a:r>
                        <a:rPr kumimoji="0" lang="en-US" altLang="zh-CN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ebp</a:t>
                      </a:r>
                      <a:endParaRPr kumimoji="0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宋体" pitchFamily="2" charset="-122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</a:rPr>
                        <a:t>	ret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603" marB="456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灯片编号占位符 5">
            <a:extLst>
              <a:ext uri="{FF2B5EF4-FFF2-40B4-BE49-F238E27FC236}">
                <a16:creationId xmlns:a16="http://schemas.microsoft.com/office/drawing/2014/main" id="{3251B52F-35A2-EDD0-FEC9-D5FC5250C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19E9EA-7C1A-F848-8A8E-301C7E275580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74FF01C2-354C-F94A-0700-405D9200FD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Understanding Machine Execution 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81272BF6-0AA5-2AFE-392A-377B0C599C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600200"/>
            <a:ext cx="8686800" cy="44196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Where the sequence of instructions are stored?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In virtual memory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Code area</a:t>
            </a:r>
          </a:p>
          <a:p>
            <a:r>
              <a:rPr lang="en-US" altLang="zh-CN">
                <a:ea typeface="宋体" panose="02010600030101010101" pitchFamily="2" charset="-122"/>
              </a:rPr>
              <a:t>How the instructions are executed?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%eip stores an address of memory, 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from the address, machine can read a whole instruction once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then execute it 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increase %eip</a:t>
            </a:r>
          </a:p>
          <a:p>
            <a:pPr lvl="2"/>
            <a:r>
              <a:rPr lang="en-US" altLang="zh-CN" sz="2400">
                <a:ea typeface="宋体" panose="02010600030101010101" pitchFamily="2" charset="-122"/>
              </a:rPr>
              <a:t>%eip is also called program counter (PC)</a:t>
            </a:r>
          </a:p>
        </p:txBody>
      </p:sp>
      <p:graphicFrame>
        <p:nvGraphicFramePr>
          <p:cNvPr id="5" name="Group 3">
            <a:extLst>
              <a:ext uri="{FF2B5EF4-FFF2-40B4-BE49-F238E27FC236}">
                <a16:creationId xmlns:a16="http://schemas.microsoft.com/office/drawing/2014/main" id="{768A5D90-AA1F-2437-6DAB-CAF10218A9BE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600200"/>
          <a:ext cx="8288338" cy="3581400"/>
        </p:xfrm>
        <a:graphic>
          <a:graphicData uri="http://schemas.openxmlformats.org/drawingml/2006/table">
            <a:tbl>
              <a:tblPr/>
              <a:tblGrid>
                <a:gridCol w="410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1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55 89 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e5 8b 45 0c 03 45 08 01 05 00 00 00 00 89 ec 5d c3</a:t>
                      </a:r>
                    </a:p>
                  </a:txBody>
                  <a:tcPr marL="91446" marR="9144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902030302020204" pitchFamily="66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宋体" panose="02010600030101010101" pitchFamily="2" charset="-122"/>
                        </a:rPr>
                        <a:t>Obtain with command</a:t>
                      </a:r>
                    </a:p>
                    <a:p>
                      <a:pPr marL="457200" marR="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gcc –O2 -c code.c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lvetica" pitchFamily="2" charset="0"/>
                          <a:ea typeface="宋体" panose="02010600030101010101" pitchFamily="2" charset="-122"/>
                        </a:rPr>
                        <a:t>Relocatable object file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</a:rPr>
                        <a:t>code.o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ea typeface="宋体" panose="02010600030101010101" pitchFamily="2" charset="-122"/>
                      </a:endParaRPr>
                    </a:p>
                  </a:txBody>
                  <a:tcPr marL="91446" marR="9144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灯片编号占位符 5">
            <a:extLst>
              <a:ext uri="{FF2B5EF4-FFF2-40B4-BE49-F238E27FC236}">
                <a16:creationId xmlns:a16="http://schemas.microsoft.com/office/drawing/2014/main" id="{AC4F310E-1C97-155F-0399-2FF6D359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29F462-9DC5-C946-ADB9-B6EA9D8BDE2C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68EE81FE-B5E2-972D-D7E0-6BD2D0197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Code Layout</a:t>
            </a:r>
          </a:p>
        </p:txBody>
      </p:sp>
      <p:sp>
        <p:nvSpPr>
          <p:cNvPr id="88067" name="Rectangle 43">
            <a:extLst>
              <a:ext uri="{FF2B5EF4-FFF2-40B4-BE49-F238E27FC236}">
                <a16:creationId xmlns:a16="http://schemas.microsoft.com/office/drawing/2014/main" id="{5A97AEA7-1082-7DF7-A2F9-F691E5F645F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1665288"/>
            <a:ext cx="2665412" cy="69691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kernel virtual memory</a:t>
            </a:r>
          </a:p>
        </p:txBody>
      </p:sp>
      <p:sp>
        <p:nvSpPr>
          <p:cNvPr id="88068" name="Rectangle 44">
            <a:extLst>
              <a:ext uri="{FF2B5EF4-FFF2-40B4-BE49-F238E27FC236}">
                <a16:creationId xmlns:a16="http://schemas.microsoft.com/office/drawing/2014/main" id="{861C55A3-E518-C2DE-1E05-6ECDEE6D454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2362200"/>
            <a:ext cx="2665412" cy="198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1400">
              <a:latin typeface="Helvetica" pitchFamily="2" charset="0"/>
            </a:endParaRPr>
          </a:p>
        </p:txBody>
      </p:sp>
      <p:sp>
        <p:nvSpPr>
          <p:cNvPr id="88069" name="Rectangle 48">
            <a:extLst>
              <a:ext uri="{FF2B5EF4-FFF2-40B4-BE49-F238E27FC236}">
                <a16:creationId xmlns:a16="http://schemas.microsoft.com/office/drawing/2014/main" id="{573B8C78-3CEF-CF7F-DF28-8CCCABE153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5181600"/>
            <a:ext cx="2665412" cy="7366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Helvetica" pitchFamily="2" charset="0"/>
              </a:rPr>
              <a:t>Read only code</a:t>
            </a:r>
          </a:p>
        </p:txBody>
      </p:sp>
      <p:sp>
        <p:nvSpPr>
          <p:cNvPr id="88070" name="Rectangle 49">
            <a:extLst>
              <a:ext uri="{FF2B5EF4-FFF2-40B4-BE49-F238E27FC236}">
                <a16:creationId xmlns:a16="http://schemas.microsoft.com/office/drawing/2014/main" id="{4D6D7215-CB7F-6C18-58A5-862BC5E8CB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4648200"/>
            <a:ext cx="2665412" cy="558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Read only data</a:t>
            </a:r>
          </a:p>
        </p:txBody>
      </p:sp>
      <p:sp>
        <p:nvSpPr>
          <p:cNvPr id="88071" name="Rectangle 50">
            <a:extLst>
              <a:ext uri="{FF2B5EF4-FFF2-40B4-BE49-F238E27FC236}">
                <a16:creationId xmlns:a16="http://schemas.microsoft.com/office/drawing/2014/main" id="{18D3AC62-A6B4-D3F2-01B2-4999A731B2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4038600"/>
            <a:ext cx="2665412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Read/write data</a:t>
            </a:r>
          </a:p>
        </p:txBody>
      </p:sp>
      <p:sp>
        <p:nvSpPr>
          <p:cNvPr id="88072" name="Rectangle 55">
            <a:extLst>
              <a:ext uri="{FF2B5EF4-FFF2-40B4-BE49-F238E27FC236}">
                <a16:creationId xmlns:a16="http://schemas.microsoft.com/office/drawing/2014/main" id="{7D55FCE5-367F-BC0B-E1DB-5ACFE39BE2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5903913"/>
            <a:ext cx="2665412" cy="344487"/>
          </a:xfrm>
          <a:prstGeom prst="rect">
            <a:avLst/>
          </a:prstGeom>
          <a:solidFill>
            <a:srgbClr val="C0C0C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forbidden</a:t>
            </a:r>
          </a:p>
        </p:txBody>
      </p:sp>
      <p:sp>
        <p:nvSpPr>
          <p:cNvPr id="88073" name="Text Box 58">
            <a:extLst>
              <a:ext uri="{FF2B5EF4-FFF2-40B4-BE49-F238E27FC236}">
                <a16:creationId xmlns:a16="http://schemas.microsoft.com/office/drawing/2014/main" id="{3D9F3CCF-6B8F-E948-2CD9-8596E1D77C3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518275" y="1524000"/>
            <a:ext cx="23780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memory invisible to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 user code</a:t>
            </a:r>
          </a:p>
        </p:txBody>
      </p:sp>
      <p:sp>
        <p:nvSpPr>
          <p:cNvPr id="88074" name="Line 59">
            <a:extLst>
              <a:ext uri="{FF2B5EF4-FFF2-40B4-BE49-F238E27FC236}">
                <a16:creationId xmlns:a16="http://schemas.microsoft.com/office/drawing/2014/main" id="{831D86CD-6D4D-E3D5-5402-98E9E7FC1958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389688" y="1625600"/>
            <a:ext cx="0" cy="384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8075" name="Text Box 62">
            <a:extLst>
              <a:ext uri="{FF2B5EF4-FFF2-40B4-BE49-F238E27FC236}">
                <a16:creationId xmlns:a16="http://schemas.microsoft.com/office/drawing/2014/main" id="{2A23611F-9A90-F55C-0837-94E8E54CC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159125"/>
            <a:ext cx="1584325" cy="173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>
                <a:solidFill>
                  <a:schemeClr val="tx2"/>
                </a:solidFill>
                <a:latin typeface="Helvetica" pitchFamily="2" charset="0"/>
              </a:rPr>
              <a:t>Linux/x86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>
                <a:solidFill>
                  <a:schemeClr val="tx2"/>
                </a:solidFill>
                <a:latin typeface="Helvetica" pitchFamily="2" charset="0"/>
              </a:rPr>
              <a:t>process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>
                <a:solidFill>
                  <a:schemeClr val="tx2"/>
                </a:solidFill>
                <a:latin typeface="Helvetica" pitchFamily="2" charset="0"/>
              </a:rPr>
              <a:t>memory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>
                <a:solidFill>
                  <a:schemeClr val="tx2"/>
                </a:solidFill>
                <a:latin typeface="Helvetica" pitchFamily="2" charset="0"/>
              </a:rPr>
              <a:t>image</a:t>
            </a:r>
          </a:p>
        </p:txBody>
      </p:sp>
      <p:sp>
        <p:nvSpPr>
          <p:cNvPr id="88076" name="TextBox 24">
            <a:extLst>
              <a:ext uri="{FF2B5EF4-FFF2-40B4-BE49-F238E27FC236}">
                <a16:creationId xmlns:a16="http://schemas.microsoft.com/office/drawing/2014/main" id="{236B5C1E-05E4-2656-F12B-448F11063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447800"/>
            <a:ext cx="1089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0xffffffff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077" name="TextBox 25">
            <a:extLst>
              <a:ext uri="{FF2B5EF4-FFF2-40B4-BE49-F238E27FC236}">
                <a16:creationId xmlns:a16="http://schemas.microsoft.com/office/drawing/2014/main" id="{B0AEA85A-C429-1642-69E2-CDA0E86A3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133600"/>
            <a:ext cx="1452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0xc0000000</a:t>
            </a: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078" name="TextBox 26">
            <a:extLst>
              <a:ext uri="{FF2B5EF4-FFF2-40B4-BE49-F238E27FC236}">
                <a16:creationId xmlns:a16="http://schemas.microsoft.com/office/drawing/2014/main" id="{A9308062-75CA-8566-4DDD-B3A526A3E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649913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0x08048000</a:t>
            </a: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079" name="TextBox 27">
            <a:extLst>
              <a:ext uri="{FF2B5EF4-FFF2-40B4-BE49-F238E27FC236}">
                <a16:creationId xmlns:a16="http://schemas.microsoft.com/office/drawing/2014/main" id="{44FCEE6C-0DEA-1958-6315-51C89749E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334000"/>
            <a:ext cx="746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/>
              <a:t>%eip</a:t>
            </a:r>
            <a:endParaRPr lang="zh-CN" altLang="en-US" sz="2000"/>
          </a:p>
        </p:txBody>
      </p:sp>
      <p:cxnSp>
        <p:nvCxnSpPr>
          <p:cNvPr id="88080" name="直接箭头连接符 31">
            <a:extLst>
              <a:ext uri="{FF2B5EF4-FFF2-40B4-BE49-F238E27FC236}">
                <a16:creationId xmlns:a16="http://schemas.microsoft.com/office/drawing/2014/main" id="{B0AE36D2-2A43-944E-05BB-F1AEB846C809}"/>
              </a:ext>
            </a:extLst>
          </p:cNvPr>
          <p:cNvCxnSpPr>
            <a:cxnSpLocks noChangeShapeType="1"/>
            <a:stCxn id="88079" idx="1"/>
            <a:endCxn id="88069" idx="3"/>
          </p:cNvCxnSpPr>
          <p:nvPr/>
        </p:nvCxnSpPr>
        <p:spPr bwMode="auto">
          <a:xfrm rot="10800000" flipV="1">
            <a:off x="6286500" y="5534025"/>
            <a:ext cx="723900" cy="15875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灯片编号占位符 5">
            <a:extLst>
              <a:ext uri="{FF2B5EF4-FFF2-40B4-BE49-F238E27FC236}">
                <a16:creationId xmlns:a16="http://schemas.microsoft.com/office/drawing/2014/main" id="{B0771DE9-282E-654C-BBE5-8BE831C86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FB48BA-02CB-B241-AA2A-F28CC2A63809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54B50B78-6C0A-1EE3-E97C-83C3DE155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Sequential execution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B89F3559-90BE-522A-492D-4D2253BE68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2819400" cy="4419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f()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{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zh-CN" altLang="en-US">
                <a:ea typeface="宋体" panose="02010600030101010101" pitchFamily="2" charset="-122"/>
              </a:rPr>
              <a:t>	</a:t>
            </a:r>
            <a:r>
              <a:rPr lang="en-US" altLang="zh-CN">
                <a:ea typeface="宋体" panose="02010600030101010101" pitchFamily="2" charset="-122"/>
              </a:rPr>
              <a:t>int i = 3 ;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>
                <a:ea typeface="宋体" panose="02010600030101010101" pitchFamily="2" charset="-122"/>
              </a:rPr>
              <a:t>}</a:t>
            </a:r>
            <a:endParaRPr lang="zh-CN" altLang="en-US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>
              <a:ea typeface="宋体" panose="02010600030101010101" pitchFamily="2" charset="-122"/>
            </a:endParaRPr>
          </a:p>
          <a:p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2D8202E6-037B-6AD1-3D9F-EA81E8768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3733800"/>
            <a:ext cx="5638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08048390 &lt;_f&gt;: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90: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55              		push   %ebp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91:  89 e5          	mov    %esp,%ebp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93:  83 ec 14      	sub    $0x14,%esp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96:  c7 45 fc 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	movl  $03, -0x4(%ebp)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9d:  c9  03 00 00 00        leave  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9e: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c3                   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ret 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117" name="矩形 5">
            <a:extLst>
              <a:ext uri="{FF2B5EF4-FFF2-40B4-BE49-F238E27FC236}">
                <a16:creationId xmlns:a16="http://schemas.microsoft.com/office/drawing/2014/main" id="{9885991E-CC75-4515-EB15-FABC977F6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581400"/>
            <a:ext cx="533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sp>
        <p:nvSpPr>
          <p:cNvPr id="90118" name="Rectangle 43">
            <a:extLst>
              <a:ext uri="{FF2B5EF4-FFF2-40B4-BE49-F238E27FC236}">
                <a16:creationId xmlns:a16="http://schemas.microsoft.com/office/drawing/2014/main" id="{F967E60C-301F-D591-9DAF-8AE628208A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03888" y="2247900"/>
            <a:ext cx="2665412" cy="69691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kernel virtual memory</a:t>
            </a:r>
          </a:p>
        </p:txBody>
      </p:sp>
      <p:sp>
        <p:nvSpPr>
          <p:cNvPr id="90119" name="Rectangle 44">
            <a:extLst>
              <a:ext uri="{FF2B5EF4-FFF2-40B4-BE49-F238E27FC236}">
                <a16:creationId xmlns:a16="http://schemas.microsoft.com/office/drawing/2014/main" id="{867330DE-C6D2-E6BF-3539-1773B4F0CC9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03888" y="2944813"/>
            <a:ext cx="2665412" cy="198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1400">
              <a:latin typeface="Helvetica" pitchFamily="2" charset="0"/>
            </a:endParaRPr>
          </a:p>
        </p:txBody>
      </p:sp>
      <p:sp>
        <p:nvSpPr>
          <p:cNvPr id="90120" name="Rectangle 48">
            <a:extLst>
              <a:ext uri="{FF2B5EF4-FFF2-40B4-BE49-F238E27FC236}">
                <a16:creationId xmlns:a16="http://schemas.microsoft.com/office/drawing/2014/main" id="{3DF3475C-8BC1-715E-0588-CF0C2DC32A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03888" y="5764213"/>
            <a:ext cx="2665412" cy="7366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Helvetica" pitchFamily="2" charset="0"/>
              </a:rPr>
              <a:t>Read only code</a:t>
            </a:r>
          </a:p>
        </p:txBody>
      </p:sp>
      <p:sp>
        <p:nvSpPr>
          <p:cNvPr id="90121" name="Rectangle 49">
            <a:extLst>
              <a:ext uri="{FF2B5EF4-FFF2-40B4-BE49-F238E27FC236}">
                <a16:creationId xmlns:a16="http://schemas.microsoft.com/office/drawing/2014/main" id="{B0A04E29-837E-6185-33AE-4E1B0381DC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03888" y="5230813"/>
            <a:ext cx="2665412" cy="558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Read only data</a:t>
            </a:r>
          </a:p>
        </p:txBody>
      </p:sp>
      <p:sp>
        <p:nvSpPr>
          <p:cNvPr id="90122" name="Rectangle 50">
            <a:extLst>
              <a:ext uri="{FF2B5EF4-FFF2-40B4-BE49-F238E27FC236}">
                <a16:creationId xmlns:a16="http://schemas.microsoft.com/office/drawing/2014/main" id="{9E997FD2-2222-1E1B-71E2-FA7DCBB941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03888" y="4621213"/>
            <a:ext cx="2665412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Read/write data</a:t>
            </a:r>
          </a:p>
        </p:txBody>
      </p:sp>
      <p:sp>
        <p:nvSpPr>
          <p:cNvPr id="90123" name="Rectangle 55">
            <a:extLst>
              <a:ext uri="{FF2B5EF4-FFF2-40B4-BE49-F238E27FC236}">
                <a16:creationId xmlns:a16="http://schemas.microsoft.com/office/drawing/2014/main" id="{C760CF9E-4120-65C7-DA7D-BB10F57E6F7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03888" y="6486525"/>
            <a:ext cx="2665412" cy="344488"/>
          </a:xfrm>
          <a:prstGeom prst="rect">
            <a:avLst/>
          </a:prstGeom>
          <a:solidFill>
            <a:srgbClr val="C0C0C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forbidden</a:t>
            </a:r>
          </a:p>
        </p:txBody>
      </p:sp>
      <p:sp>
        <p:nvSpPr>
          <p:cNvPr id="90124" name="TextBox 26">
            <a:extLst>
              <a:ext uri="{FF2B5EF4-FFF2-40B4-BE49-F238E27FC236}">
                <a16:creationId xmlns:a16="http://schemas.microsoft.com/office/drawing/2014/main" id="{16CA902B-1E1F-4E50-7375-BC2FC7019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0525" y="6208713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0x08048000</a:t>
            </a: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125" name="TextBox 27">
            <a:extLst>
              <a:ext uri="{FF2B5EF4-FFF2-40B4-BE49-F238E27FC236}">
                <a16:creationId xmlns:a16="http://schemas.microsoft.com/office/drawing/2014/main" id="{202FF7B7-6C94-8712-1F03-EBE484036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8188" y="5764213"/>
            <a:ext cx="746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/>
              <a:t>%eip</a:t>
            </a:r>
            <a:endParaRPr lang="zh-CN" altLang="en-US" sz="2000"/>
          </a:p>
        </p:txBody>
      </p:sp>
      <p:cxnSp>
        <p:nvCxnSpPr>
          <p:cNvPr id="90126" name="直接箭头连接符 31">
            <a:extLst>
              <a:ext uri="{FF2B5EF4-FFF2-40B4-BE49-F238E27FC236}">
                <a16:creationId xmlns:a16="http://schemas.microsoft.com/office/drawing/2014/main" id="{93BFBEE2-733D-D3C2-16B4-FCA417B140C1}"/>
              </a:ext>
            </a:extLst>
          </p:cNvPr>
          <p:cNvCxnSpPr>
            <a:cxnSpLocks noChangeShapeType="1"/>
            <a:endCxn id="90120" idx="3"/>
          </p:cNvCxnSpPr>
          <p:nvPr/>
        </p:nvCxnSpPr>
        <p:spPr bwMode="auto">
          <a:xfrm rot="10800000" flipV="1">
            <a:off x="8369300" y="6116638"/>
            <a:ext cx="723900" cy="15875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灯片编号占位符 5">
            <a:extLst>
              <a:ext uri="{FF2B5EF4-FFF2-40B4-BE49-F238E27FC236}">
                <a16:creationId xmlns:a16="http://schemas.microsoft.com/office/drawing/2014/main" id="{E3FE8632-9E5E-25FF-DC7F-0FC2AF7A5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F73664-11C4-9048-8656-51486C43DFF7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3C808048-D9CD-619A-4DE5-D89B3BD309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077200" cy="914400"/>
          </a:xfrm>
        </p:spPr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Sequential execution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DD800EE5-8890-C618-1710-5D0D14707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838200"/>
            <a:ext cx="6019800" cy="441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00000000 &lt;_f&gt;:</a:t>
            </a:r>
            <a:endParaRPr lang="zh-CN" altLang="en-US" sz="20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0:</a:t>
            </a:r>
            <a:r>
              <a:rPr lang="zh-CN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55              	 push   %ebp</a:t>
            </a:r>
            <a:endParaRPr lang="zh-CN" altLang="en-US" sz="20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1:  89 e5          	 mov    %esp,%ebp</a:t>
            </a:r>
            <a:endParaRPr lang="zh-CN" altLang="en-US" sz="20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3:  83 ec 14      	 sub    $0x14,%esp</a:t>
            </a:r>
            <a:endParaRPr lang="zh-CN" altLang="en-US" sz="20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6:  c7 45 fc 03 00 00 00</a:t>
            </a:r>
            <a:r>
              <a:rPr lang="zh-CN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0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		 movl</a:t>
            </a:r>
            <a:r>
              <a:rPr lang="en-US" altLang="zh-CN" sz="1600" b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$0x3,-0x4(%ebp)</a:t>
            </a:r>
            <a:endParaRPr lang="zh-CN" altLang="en-US" sz="20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d:  c9                  leave  </a:t>
            </a:r>
            <a:endParaRPr lang="zh-CN" altLang="en-US" sz="20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e:</a:t>
            </a:r>
            <a:r>
              <a:rPr lang="zh-CN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c3                 </a:t>
            </a:r>
            <a:r>
              <a:rPr lang="zh-CN" altLang="en-US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altLang="zh-CN" sz="2000" b="0">
                <a:latin typeface="Times New Roman" panose="02020603050405020304" pitchFamily="18" charset="0"/>
                <a:cs typeface="Times New Roman" panose="02020603050405020304" pitchFamily="18" charset="0"/>
              </a:rPr>
              <a:t>ret </a:t>
            </a:r>
            <a:endParaRPr lang="zh-CN" altLang="en-US" sz="20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8032167D-74AE-F0FD-869B-566C79E43367}"/>
              </a:ext>
            </a:extLst>
          </p:cNvPr>
          <p:cNvGraphicFramePr>
            <a:graphicFrameLocks noGrp="1"/>
          </p:cNvGraphicFramePr>
          <p:nvPr/>
        </p:nvGraphicFramePr>
        <p:xfrm>
          <a:off x="4724400" y="762000"/>
          <a:ext cx="4051300" cy="5943600"/>
        </p:xfrm>
        <a:graphic>
          <a:graphicData uri="http://schemas.openxmlformats.org/drawingml/2006/table">
            <a:tbl>
              <a:tblPr/>
              <a:tblGrid>
                <a:gridCol w="512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 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c3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ret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              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c9 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leave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9c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00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00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00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03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98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fc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45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c7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movl   $0x3,-0x4(%ebp)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14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94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ec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83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sub    $0x14,%esp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e5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 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89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mov    %esp,%ebp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14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 90              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55 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charset="0"/>
                          <a:ea typeface="Times New Roman" charset="0"/>
                          <a:cs typeface="Times New Roman" charset="0"/>
                        </a:rPr>
                        <a:t>push   %ebp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92228" name="矩形 11">
            <a:extLst>
              <a:ext uri="{FF2B5EF4-FFF2-40B4-BE49-F238E27FC236}">
                <a16:creationId xmlns:a16="http://schemas.microsoft.com/office/drawing/2014/main" id="{98651AA2-4DC3-B12A-7A35-4018D9E7B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61722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grpSp>
        <p:nvGrpSpPr>
          <p:cNvPr id="2" name="组合 17">
            <a:extLst>
              <a:ext uri="{FF2B5EF4-FFF2-40B4-BE49-F238E27FC236}">
                <a16:creationId xmlns:a16="http://schemas.microsoft.com/office/drawing/2014/main" id="{050FAB04-01AF-9EA5-F133-9C8ADC33B5B0}"/>
              </a:ext>
            </a:extLst>
          </p:cNvPr>
          <p:cNvGrpSpPr>
            <a:grpSpLocks/>
          </p:cNvGrpSpPr>
          <p:nvPr/>
        </p:nvGrpSpPr>
        <p:grpSpPr bwMode="auto">
          <a:xfrm>
            <a:off x="1244600" y="6172200"/>
            <a:ext cx="3708400" cy="461963"/>
            <a:chOff x="1245275" y="6172200"/>
            <a:chExt cx="3707725" cy="461665"/>
          </a:xfrm>
        </p:grpSpPr>
        <p:grpSp>
          <p:nvGrpSpPr>
            <p:cNvPr id="92260" name="组合 14">
              <a:extLst>
                <a:ext uri="{FF2B5EF4-FFF2-40B4-BE49-F238E27FC236}">
                  <a16:creationId xmlns:a16="http://schemas.microsoft.com/office/drawing/2014/main" id="{C13D968D-3AE5-C9D6-0AEC-9956FD473A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5275" y="6172200"/>
              <a:ext cx="2486877" cy="461665"/>
              <a:chOff x="2209800" y="6172200"/>
              <a:chExt cx="2486877" cy="461665"/>
            </a:xfrm>
          </p:grpSpPr>
          <p:sp>
            <p:nvSpPr>
              <p:cNvPr id="92262" name="TextBox 12">
                <a:extLst>
                  <a:ext uri="{FF2B5EF4-FFF2-40B4-BE49-F238E27FC236}">
                    <a16:creationId xmlns:a16="http://schemas.microsoft.com/office/drawing/2014/main" id="{9C80DAB1-4758-4EE0-170E-B6C28960F3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3441" y="6172200"/>
                <a:ext cx="1723236" cy="3998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08 04 83 90     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263" name="TextBox 13">
                <a:extLst>
                  <a:ext uri="{FF2B5EF4-FFF2-40B4-BE49-F238E27FC236}">
                    <a16:creationId xmlns:a16="http://schemas.microsoft.com/office/drawing/2014/main" id="{BD8711F2-1E1B-C3FA-85B3-BB9C364E5A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9800" y="6172200"/>
                <a:ext cx="56137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92261" name="直接箭头连接符 16">
              <a:extLst>
                <a:ext uri="{FF2B5EF4-FFF2-40B4-BE49-F238E27FC236}">
                  <a16:creationId xmlns:a16="http://schemas.microsoft.com/office/drawing/2014/main" id="{80229618-3887-0584-D8EA-6CDF34B36A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600" y="6400800"/>
              <a:ext cx="914400" cy="76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2230" name="矩形 19">
            <a:extLst>
              <a:ext uri="{FF2B5EF4-FFF2-40B4-BE49-F238E27FC236}">
                <a16:creationId xmlns:a16="http://schemas.microsoft.com/office/drawing/2014/main" id="{A4F68A2A-256E-D7E3-71C0-7D745B69A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7912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grpSp>
        <p:nvGrpSpPr>
          <p:cNvPr id="4" name="组合 20">
            <a:extLst>
              <a:ext uri="{FF2B5EF4-FFF2-40B4-BE49-F238E27FC236}">
                <a16:creationId xmlns:a16="http://schemas.microsoft.com/office/drawing/2014/main" id="{2F546181-4435-D6CB-B1B5-C4DEE481D7E4}"/>
              </a:ext>
            </a:extLst>
          </p:cNvPr>
          <p:cNvGrpSpPr>
            <a:grpSpLocks/>
          </p:cNvGrpSpPr>
          <p:nvPr/>
        </p:nvGrpSpPr>
        <p:grpSpPr bwMode="auto">
          <a:xfrm>
            <a:off x="1244600" y="5791200"/>
            <a:ext cx="3708400" cy="461963"/>
            <a:chOff x="1245275" y="6172200"/>
            <a:chExt cx="3707725" cy="461665"/>
          </a:xfrm>
        </p:grpSpPr>
        <p:grpSp>
          <p:nvGrpSpPr>
            <p:cNvPr id="92256" name="组合 14">
              <a:extLst>
                <a:ext uri="{FF2B5EF4-FFF2-40B4-BE49-F238E27FC236}">
                  <a16:creationId xmlns:a16="http://schemas.microsoft.com/office/drawing/2014/main" id="{4CDC62E3-5E96-7C4A-F098-836AD6AE12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5275" y="6172200"/>
              <a:ext cx="2486880" cy="461665"/>
              <a:chOff x="2209800" y="6172200"/>
              <a:chExt cx="2486880" cy="461665"/>
            </a:xfrm>
          </p:grpSpPr>
          <p:sp>
            <p:nvSpPr>
              <p:cNvPr id="92258" name="TextBox 23">
                <a:extLst>
                  <a:ext uri="{FF2B5EF4-FFF2-40B4-BE49-F238E27FC236}">
                    <a16:creationId xmlns:a16="http://schemas.microsoft.com/office/drawing/2014/main" id="{554D775D-F04F-6A02-745D-2A568B891F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3444" y="6172200"/>
                <a:ext cx="1723236" cy="3998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08 04 83 91     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259" name="TextBox 24">
                <a:extLst>
                  <a:ext uri="{FF2B5EF4-FFF2-40B4-BE49-F238E27FC236}">
                    <a16:creationId xmlns:a16="http://schemas.microsoft.com/office/drawing/2014/main" id="{4A617ABE-827C-5119-655A-9895A18381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9800" y="6172200"/>
                <a:ext cx="56137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92257" name="直接箭头连接符 22">
              <a:extLst>
                <a:ext uri="{FF2B5EF4-FFF2-40B4-BE49-F238E27FC236}">
                  <a16:creationId xmlns:a16="http://schemas.microsoft.com/office/drawing/2014/main" id="{6B2B5B4D-B6D9-331A-F027-4DC56441E8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600" y="6400800"/>
              <a:ext cx="914400" cy="76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2232" name="矩形 25">
            <a:extLst>
              <a:ext uri="{FF2B5EF4-FFF2-40B4-BE49-F238E27FC236}">
                <a16:creationId xmlns:a16="http://schemas.microsoft.com/office/drawing/2014/main" id="{1E95588C-92B8-11D6-5ABC-C7FD2B198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50292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grpSp>
        <p:nvGrpSpPr>
          <p:cNvPr id="6" name="组合 26">
            <a:extLst>
              <a:ext uri="{FF2B5EF4-FFF2-40B4-BE49-F238E27FC236}">
                <a16:creationId xmlns:a16="http://schemas.microsoft.com/office/drawing/2014/main" id="{E6BC9F02-4012-26DD-DCBA-81650DFF4D0A}"/>
              </a:ext>
            </a:extLst>
          </p:cNvPr>
          <p:cNvGrpSpPr>
            <a:grpSpLocks/>
          </p:cNvGrpSpPr>
          <p:nvPr/>
        </p:nvGrpSpPr>
        <p:grpSpPr bwMode="auto">
          <a:xfrm>
            <a:off x="1244600" y="5029200"/>
            <a:ext cx="3708400" cy="461963"/>
            <a:chOff x="1245275" y="6172200"/>
            <a:chExt cx="3707725" cy="461665"/>
          </a:xfrm>
        </p:grpSpPr>
        <p:grpSp>
          <p:nvGrpSpPr>
            <p:cNvPr id="92252" name="组合 14">
              <a:extLst>
                <a:ext uri="{FF2B5EF4-FFF2-40B4-BE49-F238E27FC236}">
                  <a16:creationId xmlns:a16="http://schemas.microsoft.com/office/drawing/2014/main" id="{5A95930D-64CF-650C-B197-1A84D2956C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5275" y="6172200"/>
              <a:ext cx="2486880" cy="461665"/>
              <a:chOff x="2209800" y="6172200"/>
              <a:chExt cx="2486880" cy="461665"/>
            </a:xfrm>
          </p:grpSpPr>
          <p:sp>
            <p:nvSpPr>
              <p:cNvPr id="92254" name="TextBox 29">
                <a:extLst>
                  <a:ext uri="{FF2B5EF4-FFF2-40B4-BE49-F238E27FC236}">
                    <a16:creationId xmlns:a16="http://schemas.microsoft.com/office/drawing/2014/main" id="{A0FE23C2-D0DB-05E0-A51F-215311E4D0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3444" y="6172200"/>
                <a:ext cx="1723236" cy="39985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08 04 83 93     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255" name="TextBox 30">
                <a:extLst>
                  <a:ext uri="{FF2B5EF4-FFF2-40B4-BE49-F238E27FC236}">
                    <a16:creationId xmlns:a16="http://schemas.microsoft.com/office/drawing/2014/main" id="{53A67B5E-52E4-B419-9845-F53738EF78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9800" y="6172200"/>
                <a:ext cx="561372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92253" name="直接箭头连接符 28">
              <a:extLst>
                <a:ext uri="{FF2B5EF4-FFF2-40B4-BE49-F238E27FC236}">
                  <a16:creationId xmlns:a16="http://schemas.microsoft.com/office/drawing/2014/main" id="{1F270947-7EB4-B570-BCB1-FA79959F75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600" y="6400800"/>
              <a:ext cx="914400" cy="76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2234" name="矩形 31">
            <a:extLst>
              <a:ext uri="{FF2B5EF4-FFF2-40B4-BE49-F238E27FC236}">
                <a16:creationId xmlns:a16="http://schemas.microsoft.com/office/drawing/2014/main" id="{2C038886-2590-6167-49ED-543BE018C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8862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grpSp>
        <p:nvGrpSpPr>
          <p:cNvPr id="9" name="组合 32">
            <a:extLst>
              <a:ext uri="{FF2B5EF4-FFF2-40B4-BE49-F238E27FC236}">
                <a16:creationId xmlns:a16="http://schemas.microsoft.com/office/drawing/2014/main" id="{F08F89BA-E2C8-2CD9-543C-93E21EB8482F}"/>
              </a:ext>
            </a:extLst>
          </p:cNvPr>
          <p:cNvGrpSpPr>
            <a:grpSpLocks/>
          </p:cNvGrpSpPr>
          <p:nvPr/>
        </p:nvGrpSpPr>
        <p:grpSpPr bwMode="auto">
          <a:xfrm>
            <a:off x="1244600" y="3886200"/>
            <a:ext cx="3708400" cy="461963"/>
            <a:chOff x="1245275" y="6172200"/>
            <a:chExt cx="3707725" cy="461665"/>
          </a:xfrm>
        </p:grpSpPr>
        <p:grpSp>
          <p:nvGrpSpPr>
            <p:cNvPr id="92248" name="组合 14">
              <a:extLst>
                <a:ext uri="{FF2B5EF4-FFF2-40B4-BE49-F238E27FC236}">
                  <a16:creationId xmlns:a16="http://schemas.microsoft.com/office/drawing/2014/main" id="{56DFD4BC-B6DC-6C05-A7FC-C80883DCAA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5275" y="6172200"/>
              <a:ext cx="2486880" cy="461665"/>
              <a:chOff x="2209800" y="6172200"/>
              <a:chExt cx="2486880" cy="461665"/>
            </a:xfrm>
          </p:grpSpPr>
          <p:sp>
            <p:nvSpPr>
              <p:cNvPr id="92250" name="TextBox 35">
                <a:extLst>
                  <a:ext uri="{FF2B5EF4-FFF2-40B4-BE49-F238E27FC236}">
                    <a16:creationId xmlns:a16="http://schemas.microsoft.com/office/drawing/2014/main" id="{393BE06C-F8E8-6C4D-FF7C-1EDB8CE724B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3444" y="6172200"/>
                <a:ext cx="1723236" cy="3998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08 04 83 96     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251" name="TextBox 36">
                <a:extLst>
                  <a:ext uri="{FF2B5EF4-FFF2-40B4-BE49-F238E27FC236}">
                    <a16:creationId xmlns:a16="http://schemas.microsoft.com/office/drawing/2014/main" id="{80682AD8-9356-F2D4-E5F0-AF4E01A43C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9800" y="6172200"/>
                <a:ext cx="561372" cy="4616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92249" name="直接箭头连接符 34">
              <a:extLst>
                <a:ext uri="{FF2B5EF4-FFF2-40B4-BE49-F238E27FC236}">
                  <a16:creationId xmlns:a16="http://schemas.microsoft.com/office/drawing/2014/main" id="{CAC053E5-11B8-2729-354B-9604ADC7FCB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600" y="6400800"/>
              <a:ext cx="914400" cy="76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2236" name="矩形 37">
            <a:extLst>
              <a:ext uri="{FF2B5EF4-FFF2-40B4-BE49-F238E27FC236}">
                <a16:creationId xmlns:a16="http://schemas.microsoft.com/office/drawing/2014/main" id="{06821C2A-FCAA-C2F5-76B3-35FEDA233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0668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grpSp>
        <p:nvGrpSpPr>
          <p:cNvPr id="11" name="组合 38">
            <a:extLst>
              <a:ext uri="{FF2B5EF4-FFF2-40B4-BE49-F238E27FC236}">
                <a16:creationId xmlns:a16="http://schemas.microsoft.com/office/drawing/2014/main" id="{8999AEF4-7620-A175-4301-B7B808789D00}"/>
              </a:ext>
            </a:extLst>
          </p:cNvPr>
          <p:cNvGrpSpPr>
            <a:grpSpLocks/>
          </p:cNvGrpSpPr>
          <p:nvPr/>
        </p:nvGrpSpPr>
        <p:grpSpPr bwMode="auto">
          <a:xfrm>
            <a:off x="1244600" y="1066800"/>
            <a:ext cx="3708400" cy="461963"/>
            <a:chOff x="1245275" y="6172200"/>
            <a:chExt cx="3707725" cy="461665"/>
          </a:xfrm>
        </p:grpSpPr>
        <p:grpSp>
          <p:nvGrpSpPr>
            <p:cNvPr id="92244" name="组合 14">
              <a:extLst>
                <a:ext uri="{FF2B5EF4-FFF2-40B4-BE49-F238E27FC236}">
                  <a16:creationId xmlns:a16="http://schemas.microsoft.com/office/drawing/2014/main" id="{CDD5585C-DD36-2CCF-4999-D000945578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5275" y="6172200"/>
              <a:ext cx="2494093" cy="461665"/>
              <a:chOff x="2209800" y="6172200"/>
              <a:chExt cx="2494093" cy="461665"/>
            </a:xfrm>
          </p:grpSpPr>
          <p:sp>
            <p:nvSpPr>
              <p:cNvPr id="92246" name="TextBox 41">
                <a:extLst>
                  <a:ext uri="{FF2B5EF4-FFF2-40B4-BE49-F238E27FC236}">
                    <a16:creationId xmlns:a16="http://schemas.microsoft.com/office/drawing/2014/main" id="{04EC770F-A262-98C5-0BA1-00D180C77D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6233" y="6172200"/>
                <a:ext cx="1737660" cy="3998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08 04 83 9d     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247" name="TextBox 42">
                <a:extLst>
                  <a:ext uri="{FF2B5EF4-FFF2-40B4-BE49-F238E27FC236}">
                    <a16:creationId xmlns:a16="http://schemas.microsoft.com/office/drawing/2014/main" id="{07514E68-6727-54AB-B77F-59B2A4F523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9800" y="6172200"/>
                <a:ext cx="561372" cy="4616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92245" name="直接箭头连接符 40">
              <a:extLst>
                <a:ext uri="{FF2B5EF4-FFF2-40B4-BE49-F238E27FC236}">
                  <a16:creationId xmlns:a16="http://schemas.microsoft.com/office/drawing/2014/main" id="{4D8EE09E-4F9A-68E1-13B7-F1D3495C1F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600" y="6400800"/>
              <a:ext cx="914400" cy="76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92238" name="矩形 43">
            <a:extLst>
              <a:ext uri="{FF2B5EF4-FFF2-40B4-BE49-F238E27FC236}">
                <a16:creationId xmlns:a16="http://schemas.microsoft.com/office/drawing/2014/main" id="{59606EEE-86F6-6123-DF21-247AD71E5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685800"/>
            <a:ext cx="2362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000"/>
          </a:p>
        </p:txBody>
      </p:sp>
      <p:grpSp>
        <p:nvGrpSpPr>
          <p:cNvPr id="13" name="组合 44">
            <a:extLst>
              <a:ext uri="{FF2B5EF4-FFF2-40B4-BE49-F238E27FC236}">
                <a16:creationId xmlns:a16="http://schemas.microsoft.com/office/drawing/2014/main" id="{AFF1F426-047A-DDF4-E9B6-810BA3CCEB49}"/>
              </a:ext>
            </a:extLst>
          </p:cNvPr>
          <p:cNvGrpSpPr>
            <a:grpSpLocks/>
          </p:cNvGrpSpPr>
          <p:nvPr/>
        </p:nvGrpSpPr>
        <p:grpSpPr bwMode="auto">
          <a:xfrm>
            <a:off x="1244600" y="685800"/>
            <a:ext cx="3708400" cy="461963"/>
            <a:chOff x="1245275" y="6172200"/>
            <a:chExt cx="3707725" cy="461665"/>
          </a:xfrm>
        </p:grpSpPr>
        <p:grpSp>
          <p:nvGrpSpPr>
            <p:cNvPr id="92240" name="组合 14">
              <a:extLst>
                <a:ext uri="{FF2B5EF4-FFF2-40B4-BE49-F238E27FC236}">
                  <a16:creationId xmlns:a16="http://schemas.microsoft.com/office/drawing/2014/main" id="{84491DE6-975C-E6F6-9EF1-E5C95160E3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5275" y="6172200"/>
              <a:ext cx="2470852" cy="461665"/>
              <a:chOff x="2209800" y="6172200"/>
              <a:chExt cx="2470852" cy="461665"/>
            </a:xfrm>
          </p:grpSpPr>
          <p:sp>
            <p:nvSpPr>
              <p:cNvPr id="92242" name="TextBox 47">
                <a:extLst>
                  <a:ext uri="{FF2B5EF4-FFF2-40B4-BE49-F238E27FC236}">
                    <a16:creationId xmlns:a16="http://schemas.microsoft.com/office/drawing/2014/main" id="{09DC45CE-1486-6B9B-08E2-2D6B88BDC5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1841" y="6172200"/>
                <a:ext cx="1708811" cy="39985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08 04 83 9e     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243" name="TextBox 48">
                <a:extLst>
                  <a:ext uri="{FF2B5EF4-FFF2-40B4-BE49-F238E27FC236}">
                    <a16:creationId xmlns:a16="http://schemas.microsoft.com/office/drawing/2014/main" id="{40B935BB-85FA-B1EB-2E2C-0462E99DF8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09800" y="6172200"/>
                <a:ext cx="561372" cy="4616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anose="030F0902030302020204" pitchFamily="66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PC</a:t>
                </a:r>
                <a:endParaRPr lang="zh-CN" altLang="en-US" sz="2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92241" name="直接箭头连接符 46">
              <a:extLst>
                <a:ext uri="{FF2B5EF4-FFF2-40B4-BE49-F238E27FC236}">
                  <a16:creationId xmlns:a16="http://schemas.microsoft.com/office/drawing/2014/main" id="{6F8ED690-6907-B5D0-8A17-A53A2B58918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8600" y="6400800"/>
              <a:ext cx="914400" cy="7620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灯片编号占位符 5">
            <a:extLst>
              <a:ext uri="{FF2B5EF4-FFF2-40B4-BE49-F238E27FC236}">
                <a16:creationId xmlns:a16="http://schemas.microsoft.com/office/drawing/2014/main" id="{D24ED6C0-935D-0BD7-D483-A23EFCB57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FBA0851-05A4-244B-BEC1-9D4EDB572C43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976CE6D2-A631-F997-7FE0-5A5702D92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Code Layout</a:t>
            </a:r>
          </a:p>
        </p:txBody>
      </p:sp>
      <p:sp>
        <p:nvSpPr>
          <p:cNvPr id="94211" name="Rectangle 43">
            <a:extLst>
              <a:ext uri="{FF2B5EF4-FFF2-40B4-BE49-F238E27FC236}">
                <a16:creationId xmlns:a16="http://schemas.microsoft.com/office/drawing/2014/main" id="{608AA234-FF19-0F35-73D4-0C336F3411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1665288"/>
            <a:ext cx="2665412" cy="69691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kernel virtual memory</a:t>
            </a:r>
          </a:p>
        </p:txBody>
      </p:sp>
      <p:sp>
        <p:nvSpPr>
          <p:cNvPr id="94212" name="Rectangle 44">
            <a:extLst>
              <a:ext uri="{FF2B5EF4-FFF2-40B4-BE49-F238E27FC236}">
                <a16:creationId xmlns:a16="http://schemas.microsoft.com/office/drawing/2014/main" id="{780F80BD-7E85-E32D-7F5C-25F93DCF78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2362200"/>
            <a:ext cx="2665412" cy="1981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1400">
              <a:latin typeface="Helvetica" pitchFamily="2" charset="0"/>
            </a:endParaRPr>
          </a:p>
        </p:txBody>
      </p:sp>
      <p:sp>
        <p:nvSpPr>
          <p:cNvPr id="94213" name="Rectangle 48">
            <a:extLst>
              <a:ext uri="{FF2B5EF4-FFF2-40B4-BE49-F238E27FC236}">
                <a16:creationId xmlns:a16="http://schemas.microsoft.com/office/drawing/2014/main" id="{7F9BAF71-42CB-DFCA-5579-1ACA158777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5181600"/>
            <a:ext cx="2665412" cy="7366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Helvetica" pitchFamily="2" charset="0"/>
              </a:rPr>
              <a:t>Read only code</a:t>
            </a:r>
          </a:p>
        </p:txBody>
      </p:sp>
      <p:sp>
        <p:nvSpPr>
          <p:cNvPr id="94214" name="Rectangle 49">
            <a:extLst>
              <a:ext uri="{FF2B5EF4-FFF2-40B4-BE49-F238E27FC236}">
                <a16:creationId xmlns:a16="http://schemas.microsoft.com/office/drawing/2014/main" id="{D2B2F181-0ECF-0508-7DED-C3C6356662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4648200"/>
            <a:ext cx="2665412" cy="5588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Read only data</a:t>
            </a:r>
          </a:p>
        </p:txBody>
      </p:sp>
      <p:sp>
        <p:nvSpPr>
          <p:cNvPr id="94215" name="Rectangle 50">
            <a:extLst>
              <a:ext uri="{FF2B5EF4-FFF2-40B4-BE49-F238E27FC236}">
                <a16:creationId xmlns:a16="http://schemas.microsoft.com/office/drawing/2014/main" id="{4FF1C0CE-BC4A-6125-FBA7-29B7E370DD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4038600"/>
            <a:ext cx="2665412" cy="609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Read/write data</a:t>
            </a:r>
          </a:p>
        </p:txBody>
      </p:sp>
      <p:sp>
        <p:nvSpPr>
          <p:cNvPr id="94216" name="Rectangle 55">
            <a:extLst>
              <a:ext uri="{FF2B5EF4-FFF2-40B4-BE49-F238E27FC236}">
                <a16:creationId xmlns:a16="http://schemas.microsoft.com/office/drawing/2014/main" id="{437C76A0-041B-17C8-2771-95468B5C9B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5903913"/>
            <a:ext cx="2665412" cy="344487"/>
          </a:xfrm>
          <a:prstGeom prst="rect">
            <a:avLst/>
          </a:prstGeom>
          <a:solidFill>
            <a:srgbClr val="C0C0C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forbidden</a:t>
            </a:r>
          </a:p>
        </p:txBody>
      </p:sp>
      <p:sp>
        <p:nvSpPr>
          <p:cNvPr id="94217" name="Text Box 58">
            <a:extLst>
              <a:ext uri="{FF2B5EF4-FFF2-40B4-BE49-F238E27FC236}">
                <a16:creationId xmlns:a16="http://schemas.microsoft.com/office/drawing/2014/main" id="{89991198-240A-2C83-C958-0972009AF3C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518275" y="1524000"/>
            <a:ext cx="2378075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memory invisible to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 user code</a:t>
            </a:r>
          </a:p>
        </p:txBody>
      </p:sp>
      <p:sp>
        <p:nvSpPr>
          <p:cNvPr id="94218" name="Line 59">
            <a:extLst>
              <a:ext uri="{FF2B5EF4-FFF2-40B4-BE49-F238E27FC236}">
                <a16:creationId xmlns:a16="http://schemas.microsoft.com/office/drawing/2014/main" id="{76CA48AE-737A-B0E0-2190-763AF6161883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389688" y="1625600"/>
            <a:ext cx="0" cy="384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219" name="Text Box 62">
            <a:extLst>
              <a:ext uri="{FF2B5EF4-FFF2-40B4-BE49-F238E27FC236}">
                <a16:creationId xmlns:a16="http://schemas.microsoft.com/office/drawing/2014/main" id="{FBD81AFA-ED88-36C7-042D-E11AC0331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159125"/>
            <a:ext cx="1584325" cy="173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>
                <a:solidFill>
                  <a:schemeClr val="tx2"/>
                </a:solidFill>
                <a:latin typeface="Helvetica" pitchFamily="2" charset="0"/>
              </a:rPr>
              <a:t>Linux/x86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>
                <a:solidFill>
                  <a:schemeClr val="tx2"/>
                </a:solidFill>
                <a:latin typeface="Helvetica" pitchFamily="2" charset="0"/>
              </a:rPr>
              <a:t>process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>
                <a:solidFill>
                  <a:schemeClr val="tx2"/>
                </a:solidFill>
                <a:latin typeface="Helvetica" pitchFamily="2" charset="0"/>
              </a:rPr>
              <a:t>memory 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FontTx/>
              <a:buNone/>
            </a:pPr>
            <a:r>
              <a:rPr lang="en-US" altLang="zh-CN" sz="2000">
                <a:solidFill>
                  <a:schemeClr val="tx2"/>
                </a:solidFill>
                <a:latin typeface="Helvetica" pitchFamily="2" charset="0"/>
              </a:rPr>
              <a:t>image</a:t>
            </a:r>
          </a:p>
        </p:txBody>
      </p:sp>
      <p:sp>
        <p:nvSpPr>
          <p:cNvPr id="94220" name="TextBox 24">
            <a:extLst>
              <a:ext uri="{FF2B5EF4-FFF2-40B4-BE49-F238E27FC236}">
                <a16:creationId xmlns:a16="http://schemas.microsoft.com/office/drawing/2014/main" id="{7079A8F8-36BB-1A00-EADE-2336929534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447800"/>
            <a:ext cx="1089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0xffffffff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221" name="TextBox 25">
            <a:extLst>
              <a:ext uri="{FF2B5EF4-FFF2-40B4-BE49-F238E27FC236}">
                <a16:creationId xmlns:a16="http://schemas.microsoft.com/office/drawing/2014/main" id="{14F38768-1493-3F1B-B9BF-C69802E55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133600"/>
            <a:ext cx="1452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0xc0000000</a:t>
            </a: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222" name="TextBox 26">
            <a:extLst>
              <a:ext uri="{FF2B5EF4-FFF2-40B4-BE49-F238E27FC236}">
                <a16:creationId xmlns:a16="http://schemas.microsoft.com/office/drawing/2014/main" id="{5E8CD6E7-4F77-0D8A-63D7-74DB24B4F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649913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0x08048000</a:t>
            </a: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223" name="TextBox 27">
            <a:extLst>
              <a:ext uri="{FF2B5EF4-FFF2-40B4-BE49-F238E27FC236}">
                <a16:creationId xmlns:a16="http://schemas.microsoft.com/office/drawing/2014/main" id="{333C15B5-567B-69B0-3977-0EE3E5486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334000"/>
            <a:ext cx="746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/>
              <a:t>%eip</a:t>
            </a:r>
            <a:endParaRPr lang="zh-CN" altLang="en-US" sz="2000"/>
          </a:p>
        </p:txBody>
      </p:sp>
      <p:cxnSp>
        <p:nvCxnSpPr>
          <p:cNvPr id="94224" name="直接箭头连接符 31">
            <a:extLst>
              <a:ext uri="{FF2B5EF4-FFF2-40B4-BE49-F238E27FC236}">
                <a16:creationId xmlns:a16="http://schemas.microsoft.com/office/drawing/2014/main" id="{D000BCD3-73BF-3334-B9F1-3CC875CD114D}"/>
              </a:ext>
            </a:extLst>
          </p:cNvPr>
          <p:cNvCxnSpPr>
            <a:cxnSpLocks noChangeShapeType="1"/>
            <a:stCxn id="94223" idx="1"/>
            <a:endCxn id="94213" idx="3"/>
          </p:cNvCxnSpPr>
          <p:nvPr/>
        </p:nvCxnSpPr>
        <p:spPr bwMode="auto">
          <a:xfrm rot="10800000" flipV="1">
            <a:off x="6286500" y="5534025"/>
            <a:ext cx="723900" cy="15875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灯片编号占位符 5">
            <a:extLst>
              <a:ext uri="{FF2B5EF4-FFF2-40B4-BE49-F238E27FC236}">
                <a16:creationId xmlns:a16="http://schemas.microsoft.com/office/drawing/2014/main" id="{D47288AF-9913-6911-A4DD-38C6620FD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FE6690-514D-BB4C-82C9-D7D688B65909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9EFDF88A-7F4E-0F49-8647-C9F7DFD31A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Data layout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FC942A23-D790-1A8B-D930-8544DDC4FC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Object model in assembly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A large, byte-addressable array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No distinctions even between signed or unsigned integers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Code, user data, OS data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Run-time stack for managing procedure call and return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Blocks of memory allocated by user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灯片编号占位符 5">
            <a:extLst>
              <a:ext uri="{FF2B5EF4-FFF2-40B4-BE49-F238E27FC236}">
                <a16:creationId xmlns:a16="http://schemas.microsoft.com/office/drawing/2014/main" id="{8255F6FD-53F4-B36B-B8EA-EBBCF4DE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1876DD-34C2-A64E-9F0E-AA4B11317F8F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41C986F6-87B0-8B22-0F9D-619A775DC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Data Layout</a:t>
            </a:r>
          </a:p>
        </p:txBody>
      </p:sp>
      <p:sp>
        <p:nvSpPr>
          <p:cNvPr id="98307" name="Rectangle 43">
            <a:extLst>
              <a:ext uri="{FF2B5EF4-FFF2-40B4-BE49-F238E27FC236}">
                <a16:creationId xmlns:a16="http://schemas.microsoft.com/office/drawing/2014/main" id="{AA97359A-6038-2E99-6D65-D5D5F453D7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1665288"/>
            <a:ext cx="2665412" cy="696912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kernel virtual memory</a:t>
            </a:r>
          </a:p>
        </p:txBody>
      </p:sp>
      <p:sp>
        <p:nvSpPr>
          <p:cNvPr id="98308" name="Rectangle 44">
            <a:extLst>
              <a:ext uri="{FF2B5EF4-FFF2-40B4-BE49-F238E27FC236}">
                <a16:creationId xmlns:a16="http://schemas.microsoft.com/office/drawing/2014/main" id="{450B6D53-70F1-FD76-7217-64A33C98CD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2362200"/>
            <a:ext cx="2665412" cy="2133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zh-CN" sz="1400">
              <a:latin typeface="Helvetica" pitchFamily="2" charset="0"/>
            </a:endParaRPr>
          </a:p>
        </p:txBody>
      </p:sp>
      <p:sp>
        <p:nvSpPr>
          <p:cNvPr id="98309" name="Rectangle 48">
            <a:extLst>
              <a:ext uri="{FF2B5EF4-FFF2-40B4-BE49-F238E27FC236}">
                <a16:creationId xmlns:a16="http://schemas.microsoft.com/office/drawing/2014/main" id="{C1F71A9E-8D98-53A5-7506-17CEF947B4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5181600"/>
            <a:ext cx="2665412" cy="736600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Read only code</a:t>
            </a:r>
          </a:p>
        </p:txBody>
      </p:sp>
      <p:sp>
        <p:nvSpPr>
          <p:cNvPr id="98310" name="Rectangle 49">
            <a:extLst>
              <a:ext uri="{FF2B5EF4-FFF2-40B4-BE49-F238E27FC236}">
                <a16:creationId xmlns:a16="http://schemas.microsoft.com/office/drawing/2014/main" id="{BD7C1BFC-3084-2651-2D74-6A0D127FEE3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4876800"/>
            <a:ext cx="2665412" cy="3302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Helvetica" pitchFamily="2" charset="0"/>
              </a:rPr>
              <a:t>Read only data</a:t>
            </a:r>
          </a:p>
        </p:txBody>
      </p:sp>
      <p:sp>
        <p:nvSpPr>
          <p:cNvPr id="98311" name="Rectangle 50">
            <a:extLst>
              <a:ext uri="{FF2B5EF4-FFF2-40B4-BE49-F238E27FC236}">
                <a16:creationId xmlns:a16="http://schemas.microsoft.com/office/drawing/2014/main" id="{9C39EEC7-F019-6B66-DC7A-7D9ED60071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4495800"/>
            <a:ext cx="2665412" cy="3810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Helvetica" pitchFamily="2" charset="0"/>
              </a:rPr>
              <a:t>Read/write data</a:t>
            </a:r>
          </a:p>
        </p:txBody>
      </p:sp>
      <p:sp>
        <p:nvSpPr>
          <p:cNvPr id="98312" name="Rectangle 55">
            <a:extLst>
              <a:ext uri="{FF2B5EF4-FFF2-40B4-BE49-F238E27FC236}">
                <a16:creationId xmlns:a16="http://schemas.microsoft.com/office/drawing/2014/main" id="{41E15B96-AFD2-ABA8-9E76-46F4DC7B62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21088" y="5903913"/>
            <a:ext cx="2665412" cy="344487"/>
          </a:xfrm>
          <a:prstGeom prst="rect">
            <a:avLst/>
          </a:prstGeom>
          <a:solidFill>
            <a:srgbClr val="C0C0C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forbidden</a:t>
            </a:r>
          </a:p>
        </p:txBody>
      </p:sp>
      <p:sp>
        <p:nvSpPr>
          <p:cNvPr id="98313" name="Text Box 58">
            <a:extLst>
              <a:ext uri="{FF2B5EF4-FFF2-40B4-BE49-F238E27FC236}">
                <a16:creationId xmlns:a16="http://schemas.microsoft.com/office/drawing/2014/main" id="{298D4EF0-775C-71AE-0162-FCA30CEE7E6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518275" y="1524000"/>
            <a:ext cx="237966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memory invisible to</a:t>
            </a:r>
          </a:p>
          <a:p>
            <a:pPr algn="ctr"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latin typeface="Helvetica" pitchFamily="2" charset="0"/>
              </a:rPr>
              <a:t> user code</a:t>
            </a:r>
          </a:p>
        </p:txBody>
      </p:sp>
      <p:sp>
        <p:nvSpPr>
          <p:cNvPr id="98314" name="Line 59">
            <a:extLst>
              <a:ext uri="{FF2B5EF4-FFF2-40B4-BE49-F238E27FC236}">
                <a16:creationId xmlns:a16="http://schemas.microsoft.com/office/drawing/2014/main" id="{08CE8E36-278C-7AA5-955F-3675C5E59261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389688" y="1625600"/>
            <a:ext cx="0" cy="384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8140" name="Text Box 62">
            <a:extLst>
              <a:ext uri="{FF2B5EF4-FFF2-40B4-BE49-F238E27FC236}">
                <a16:creationId xmlns:a16="http://schemas.microsoft.com/office/drawing/2014/main" id="{77692569-1699-723B-5C2E-D08797BC4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697413"/>
            <a:ext cx="2971800" cy="865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0487" tIns="44450" rIns="90487" bIns="44450">
            <a:spAutoFit/>
          </a:bodyPr>
          <a:lstStyle/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altLang="zh-CN" dirty="0">
                <a:solidFill>
                  <a:schemeClr val="tx2"/>
                </a:solidFill>
                <a:latin typeface="+mj-lt"/>
              </a:rPr>
              <a:t>Linux/x86  process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defRPr/>
            </a:pPr>
            <a:r>
              <a:rPr lang="en-US" altLang="zh-CN" dirty="0">
                <a:solidFill>
                  <a:schemeClr val="tx2"/>
                </a:solidFill>
                <a:latin typeface="+mj-lt"/>
              </a:rPr>
              <a:t>memory  image</a:t>
            </a:r>
          </a:p>
        </p:txBody>
      </p:sp>
      <p:sp>
        <p:nvSpPr>
          <p:cNvPr id="98316" name="TextBox 24">
            <a:extLst>
              <a:ext uri="{FF2B5EF4-FFF2-40B4-BE49-F238E27FC236}">
                <a16:creationId xmlns:a16="http://schemas.microsoft.com/office/drawing/2014/main" id="{1B28A2C3-6222-0A01-49CF-D9DAD6907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447800"/>
            <a:ext cx="1089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0xffffffff</a:t>
            </a:r>
            <a:endParaRPr lang="zh-CN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317" name="TextBox 25">
            <a:extLst>
              <a:ext uri="{FF2B5EF4-FFF2-40B4-BE49-F238E27FC236}">
                <a16:creationId xmlns:a16="http://schemas.microsoft.com/office/drawing/2014/main" id="{9704EAE7-1843-EE8E-7DDE-8F5859867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133600"/>
            <a:ext cx="1452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0xc0000000</a:t>
            </a: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318" name="TextBox 26">
            <a:extLst>
              <a:ext uri="{FF2B5EF4-FFF2-40B4-BE49-F238E27FC236}">
                <a16:creationId xmlns:a16="http://schemas.microsoft.com/office/drawing/2014/main" id="{1FEE96B6-64A3-1953-F996-D2F2E0A25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5649913"/>
            <a:ext cx="1466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0x08048000</a:t>
            </a:r>
            <a:endParaRPr lang="zh-CN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319" name="TextBox 27">
            <a:extLst>
              <a:ext uri="{FF2B5EF4-FFF2-40B4-BE49-F238E27FC236}">
                <a16:creationId xmlns:a16="http://schemas.microsoft.com/office/drawing/2014/main" id="{FBC248DF-D627-6415-1E19-7B4A21F4A3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5334000"/>
            <a:ext cx="746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/>
              <a:t>%eip</a:t>
            </a:r>
            <a:endParaRPr lang="zh-CN" altLang="en-US" sz="2000"/>
          </a:p>
        </p:txBody>
      </p:sp>
      <p:cxnSp>
        <p:nvCxnSpPr>
          <p:cNvPr id="98320" name="直接箭头连接符 31">
            <a:extLst>
              <a:ext uri="{FF2B5EF4-FFF2-40B4-BE49-F238E27FC236}">
                <a16:creationId xmlns:a16="http://schemas.microsoft.com/office/drawing/2014/main" id="{26A74664-7278-7110-BC09-06604A8D9E7D}"/>
              </a:ext>
            </a:extLst>
          </p:cNvPr>
          <p:cNvCxnSpPr>
            <a:cxnSpLocks noChangeShapeType="1"/>
            <a:stCxn id="98319" idx="1"/>
            <a:endCxn id="98309" idx="3"/>
          </p:cNvCxnSpPr>
          <p:nvPr/>
        </p:nvCxnSpPr>
        <p:spPr bwMode="auto">
          <a:xfrm rot="10800000" flipV="1">
            <a:off x="6286500" y="5534025"/>
            <a:ext cx="723900" cy="15875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321" name="Rectangle 50">
            <a:extLst>
              <a:ext uri="{FF2B5EF4-FFF2-40B4-BE49-F238E27FC236}">
                <a16:creationId xmlns:a16="http://schemas.microsoft.com/office/drawing/2014/main" id="{109FB9BB-CE71-8B0F-2034-34FCB0DCF5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19500" y="2362200"/>
            <a:ext cx="2665413" cy="609600"/>
          </a:xfrm>
          <a:prstGeom prst="rect">
            <a:avLst/>
          </a:prstGeom>
          <a:solidFill>
            <a:srgbClr val="FF0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Helvetica" pitchFamily="2" charset="0"/>
              </a:rPr>
              <a:t>Stack</a:t>
            </a:r>
          </a:p>
        </p:txBody>
      </p:sp>
      <p:sp>
        <p:nvSpPr>
          <p:cNvPr id="98322" name="Line 59">
            <a:extLst>
              <a:ext uri="{FF2B5EF4-FFF2-40B4-BE49-F238E27FC236}">
                <a16:creationId xmlns:a16="http://schemas.microsoft.com/office/drawing/2014/main" id="{B79192C5-9493-0759-A580-90DB78F2E20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6400800" y="2435225"/>
            <a:ext cx="0" cy="3841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23" name="Text Box 58">
            <a:extLst>
              <a:ext uri="{FF2B5EF4-FFF2-40B4-BE49-F238E27FC236}">
                <a16:creationId xmlns:a16="http://schemas.microsoft.com/office/drawing/2014/main" id="{8D76443D-7B44-E8CF-2F4C-86746E4E3BC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527800" y="2470150"/>
            <a:ext cx="2238375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Helvetica" pitchFamily="2" charset="0"/>
              </a:rPr>
              <a:t>Downward growth</a:t>
            </a:r>
          </a:p>
        </p:txBody>
      </p:sp>
      <p:sp>
        <p:nvSpPr>
          <p:cNvPr id="98324" name="TextBox 20">
            <a:extLst>
              <a:ext uri="{FF2B5EF4-FFF2-40B4-BE49-F238E27FC236}">
                <a16:creationId xmlns:a16="http://schemas.microsoft.com/office/drawing/2014/main" id="{D1E7E1A6-EB34-3088-7360-1E5274200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2738438"/>
            <a:ext cx="920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/>
              <a:t>%esp</a:t>
            </a:r>
            <a:endParaRPr lang="zh-CN" altLang="en-US" sz="2000"/>
          </a:p>
        </p:txBody>
      </p:sp>
      <p:cxnSp>
        <p:nvCxnSpPr>
          <p:cNvPr id="98325" name="直接箭头连接符 22">
            <a:extLst>
              <a:ext uri="{FF2B5EF4-FFF2-40B4-BE49-F238E27FC236}">
                <a16:creationId xmlns:a16="http://schemas.microsoft.com/office/drawing/2014/main" id="{3154FFFE-80FD-04B5-8DC6-4C38F987F664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905000" y="2971800"/>
            <a:ext cx="1655763" cy="0"/>
          </a:xfrm>
          <a:prstGeom prst="straightConnector1">
            <a:avLst/>
          </a:prstGeom>
          <a:noFill/>
          <a:ln w="317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灯片编号占位符 5">
            <a:extLst>
              <a:ext uri="{FF2B5EF4-FFF2-40B4-BE49-F238E27FC236}">
                <a16:creationId xmlns:a16="http://schemas.microsoft.com/office/drawing/2014/main" id="{2BB431FA-0CC8-FC3C-1F12-1DA3BB68C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7DDCB8-8997-F34B-9187-953FE6E8E058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635A9F3A-A763-AFA4-F80C-16E7DDCDEF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 (C Code)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D692B97F-85B1-B21F-47FC-B032BB9A6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38400" y="1600200"/>
            <a:ext cx="3429000" cy="1219200"/>
          </a:xfrm>
        </p:spPr>
        <p:txBody>
          <a:bodyPr/>
          <a:lstStyle/>
          <a:p>
            <a:pPr marL="287338"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#include &lt;stdio.h&gt;</a:t>
            </a:r>
          </a:p>
          <a:p>
            <a:pPr marL="287338">
              <a:spcBef>
                <a:spcPct val="0"/>
              </a:spcBef>
              <a:buFontTx/>
              <a:buNone/>
            </a:pP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7338">
              <a:spcBef>
                <a:spcPct val="0"/>
              </a:spcBef>
              <a:buFontTx/>
              <a:buNone/>
            </a:pP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accum = 0;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356" name="Text Box 4">
            <a:extLst>
              <a:ext uri="{FF2B5EF4-FFF2-40B4-BE49-F238E27FC236}">
                <a16:creationId xmlns:a16="http://schemas.microsoft.com/office/drawing/2014/main" id="{6F853633-7CCB-D97D-FF3E-3864D526B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113088"/>
            <a:ext cx="4495800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int main()</a:t>
            </a:r>
            <a:endParaRPr lang="zh-CN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    int s;</a:t>
            </a:r>
            <a:endParaRPr lang="zh-CN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    s = sum(4,3);</a:t>
            </a:r>
            <a:endParaRPr lang="zh-CN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    printf(" %d %d \n", s, accum);</a:t>
            </a:r>
            <a:endParaRPr lang="zh-CN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    return 0;</a:t>
            </a:r>
            <a:endParaRPr lang="zh-CN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357" name="Rectangle 3">
            <a:extLst>
              <a:ext uri="{FF2B5EF4-FFF2-40B4-BE49-F238E27FC236}">
                <a16:creationId xmlns:a16="http://schemas.microsoft.com/office/drawing/2014/main" id="{713B7DC8-0EE1-2DC7-A2A6-B466015AA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124200"/>
            <a:ext cx="34290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7338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int sum(int x, int y)</a:t>
            </a:r>
            <a:endParaRPr lang="zh-CN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zh-CN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    int t = x + y;</a:t>
            </a:r>
            <a:endParaRPr lang="zh-CN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    accum += t;</a:t>
            </a:r>
            <a:endParaRPr lang="zh-CN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    return t;</a:t>
            </a:r>
            <a:endParaRPr lang="zh-CN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zh-CN" sz="2400" b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0">
                <a:cs typeface="Times New Roman" panose="02020603050405020304" pitchFamily="18" charset="0"/>
              </a:rPr>
              <a:t> </a:t>
            </a:r>
            <a:endParaRPr lang="zh-CN" altLang="zh-CN" sz="2400" b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灯片编号占位符 5">
            <a:extLst>
              <a:ext uri="{FF2B5EF4-FFF2-40B4-BE49-F238E27FC236}">
                <a16:creationId xmlns:a16="http://schemas.microsoft.com/office/drawing/2014/main" id="{7081BB2A-6EBA-69BB-8D1D-5E367FEA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4DBF010-7B47-524F-8B40-CA474A58B1ED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C99078AB-BED8-7E3B-1C29-36BDD6113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 (object Code)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254E7F07-6221-93FA-B116-B45EACFB8E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95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08048360 &lt;sum&gt;: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8048360:   55                      		push   %ebp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8048361:   89 e5                  		mov    %esp,%ebp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8048363:   8b 45 0c                	mov   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0xc(%ebp)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,%eax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8048366:   8b 55 08                	mov   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0x8(%ebp)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,%edx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8048369:   5d                      		pop    %ebp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804836a:   01 d0                   		add    %edx,%eax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804836c:   01 05 f0 95 04 08       	add    %eax, 0x80495f0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8048372:   c3                      		ret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灯片编号占位符 5">
            <a:extLst>
              <a:ext uri="{FF2B5EF4-FFF2-40B4-BE49-F238E27FC236}">
                <a16:creationId xmlns:a16="http://schemas.microsoft.com/office/drawing/2014/main" id="{592450CC-F8BB-1B36-23CC-9C2AF8F05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01E18D-A660-C749-9629-3F5877CA0932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2E3EC775-7AB6-9E8A-1C60-D9916FC6F3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 (object Code)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E9A46D51-84D2-C7EE-56FF-6C214A9719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95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08048360 &lt;sum&gt;: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8048360:   55                      		push   %ebp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8048361:   89 e5                  		mov    %esp,%ebp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8048363:   8b 45 0c                	mov    0xc(%ebp),%eax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8048366:   8b 55 08                	mov    0x8(%ebp),%edx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8048369:   5d                      		pop    %ebp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804836a:   01 d0                   		add    %edx,%eax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804836c:   01 05 f0 95 04 08       	add    %eax,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0x80495f0</a:t>
            </a:r>
            <a:endParaRPr lang="zh-CN" altLang="zh-CN" sz="24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8048372:   c3                      		ret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灯片编号占位符 5">
            <a:extLst>
              <a:ext uri="{FF2B5EF4-FFF2-40B4-BE49-F238E27FC236}">
                <a16:creationId xmlns:a16="http://schemas.microsoft.com/office/drawing/2014/main" id="{FEEB6768-6B3A-97FB-9BBE-40088EEA4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C96B51-570F-A944-857F-CF32DF73EA6C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B6BC8ABA-E571-27EB-998C-E6D5E4CD2E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 (object Code)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AD09B83B-0881-78DF-5EEE-E6EAB2756F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4495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08048360 &lt;sum&gt;: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8048360:   55                      		push   %ebp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8048361:   89 e5                  		mov    %esp,%ebp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8048363:   8b 45 0c                	mov    0xc(%ebp),%eax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8048366:   8b 55 08                	mov    0x8(%ebp),%edx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8048369:   5d                      		pop    %ebp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804836a:   01 d0                   		add    %edx,%eax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804836c:   01 05 f0 95 04 08       	add   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%eax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0x80495f0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8048372:   c3                      		ret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24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1030">
            <a:extLst>
              <a:ext uri="{FF2B5EF4-FFF2-40B4-BE49-F238E27FC236}">
                <a16:creationId xmlns:a16="http://schemas.microsoft.com/office/drawing/2014/main" id="{96E9F35F-8CEE-DC65-04C5-70984B05909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FD952F-0AA7-A64B-B69F-5113E63E760B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2F33FE9B-B4B5-BF20-5FFA-C23BAA7C1D2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600">
                <a:ea typeface="宋体" panose="02010600030101010101" pitchFamily="2" charset="-122"/>
              </a:rPr>
              <a:t>Organization of an Assembly Program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灯片编号占位符 5">
            <a:extLst>
              <a:ext uri="{FF2B5EF4-FFF2-40B4-BE49-F238E27FC236}">
                <a16:creationId xmlns:a16="http://schemas.microsoft.com/office/drawing/2014/main" id="{8F14AE8C-B43D-E9A7-67A5-FDDB8CF60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3D2D55-441A-F44C-A4F1-AF873D2C25FF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37633DA0-904B-B048-7BC3-CDFFA57943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77BD6E85-5BF9-30D3-751D-294F30A1A9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153400" cy="5105400"/>
          </a:xfrm>
        </p:spPr>
        <p:txBody>
          <a:bodyPr/>
          <a:lstStyle/>
          <a:p>
            <a:pPr>
              <a:buFontTx/>
              <a:buNone/>
            </a:pP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.data        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msg : .string "hello world!\n"        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len = . – msg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.text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.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global _start</a:t>
            </a:r>
            <a:b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_start:        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$len, %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dx   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个参数，字符串长度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$msg, %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cx  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个参数，字符串地址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 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$1, %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bx      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个参数，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指定标准输出（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0-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标准输入）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$4, %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ax      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个参数，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为系统调用号：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sys_write</a:t>
            </a:r>
          </a:p>
          <a:p>
            <a:pPr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$0x80      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;80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中断，系统调用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movl $0, %ebx      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参数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，退出代码，指定的返回值</a:t>
            </a:r>
            <a:endParaRPr lang="en-US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movl $1, %eax        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;1</a:t>
            </a:r>
            <a:r>
              <a:rPr lang="zh-CN" altLang="en-US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号系统调用：</a:t>
            </a: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sys_exit</a:t>
            </a:r>
          </a:p>
          <a:p>
            <a:pPr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mr-IN" altLang="zh-CN" sz="20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int $0x80</a:t>
            </a:r>
            <a:endParaRPr lang="zh-CN" altLang="zh-CN" sz="20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596" name="矩形 1">
            <a:extLst>
              <a:ext uri="{FF2B5EF4-FFF2-40B4-BE49-F238E27FC236}">
                <a16:creationId xmlns:a16="http://schemas.microsoft.com/office/drawing/2014/main" id="{992AE306-01E1-6885-D89A-F6539B5608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6038"/>
            <a:ext cx="3429000" cy="1323975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$ as hello.s -o hello.o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$ ld hello.o -o hello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$ ./hello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/>
              <a:t>$ echo $?   #</a:t>
            </a:r>
            <a:r>
              <a:rPr lang="zh-CN" altLang="en-US" sz="2000"/>
              <a:t>打印返回值</a:t>
            </a:r>
          </a:p>
        </p:txBody>
      </p:sp>
      <p:pic>
        <p:nvPicPr>
          <p:cNvPr id="110597" name="图片 2">
            <a:extLst>
              <a:ext uri="{FF2B5EF4-FFF2-40B4-BE49-F238E27FC236}">
                <a16:creationId xmlns:a16="http://schemas.microsoft.com/office/drawing/2014/main" id="{3AB8DF66-D709-740C-36F0-396202668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1460500"/>
            <a:ext cx="3975100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标题 1">
            <a:extLst>
              <a:ext uri="{FF2B5EF4-FFF2-40B4-BE49-F238E27FC236}">
                <a16:creationId xmlns:a16="http://schemas.microsoft.com/office/drawing/2014/main" id="{115732CF-7004-D146-65BA-378B9A7315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语法</a:t>
            </a:r>
          </a:p>
        </p:txBody>
      </p:sp>
      <p:sp>
        <p:nvSpPr>
          <p:cNvPr id="112642" name="内容占位符 2">
            <a:extLst>
              <a:ext uri="{FF2B5EF4-FFF2-40B4-BE49-F238E27FC236}">
                <a16:creationId xmlns:a16="http://schemas.microsoft.com/office/drawing/2014/main" id="{3AB74FE9-BDDA-ED89-DCF3-4070F3F18F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X86</a:t>
            </a:r>
            <a:r>
              <a:rPr kumimoji="1" lang="zh-CN" altLang="en-US">
                <a:ea typeface="宋体" panose="02010600030101010101" pitchFamily="2" charset="-122"/>
              </a:rPr>
              <a:t>汇编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AT&amp;T</a:t>
            </a:r>
            <a:r>
              <a:rPr kumimoji="1" lang="zh-CN" altLang="en-US">
                <a:ea typeface="宋体" panose="02010600030101010101" pitchFamily="2" charset="-122"/>
              </a:rPr>
              <a:t>格式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zh-CN" altLang="en-US">
                <a:ea typeface="宋体" panose="02010600030101010101" pitchFamily="2" charset="-122"/>
              </a:rPr>
              <a:t>寄存器</a:t>
            </a:r>
            <a:r>
              <a:rPr kumimoji="1" lang="en-US" altLang="zh-CN">
                <a:ea typeface="宋体" panose="02010600030101010101" pitchFamily="2" charset="-122"/>
              </a:rPr>
              <a:t>%</a:t>
            </a:r>
          </a:p>
          <a:p>
            <a:pPr lvl="2"/>
            <a:r>
              <a:rPr kumimoji="1" lang="zh-CN" altLang="en-US">
                <a:ea typeface="宋体" panose="02010600030101010101" pitchFamily="2" charset="-122"/>
              </a:rPr>
              <a:t>常量、变量</a:t>
            </a:r>
            <a:r>
              <a:rPr kumimoji="1" lang="en-US" altLang="zh-CN">
                <a:ea typeface="宋体" panose="02010600030101010101" pitchFamily="2" charset="-122"/>
              </a:rPr>
              <a:t>$</a:t>
            </a:r>
          </a:p>
          <a:p>
            <a:pPr lvl="2"/>
            <a:r>
              <a:rPr kumimoji="1" lang="zh-CN" altLang="en-US">
                <a:ea typeface="宋体" panose="02010600030101010101" pitchFamily="2" charset="-122"/>
              </a:rPr>
              <a:t>寄存器参数：</a:t>
            </a:r>
            <a:r>
              <a:rPr kumimoji="1" lang="en-US" altLang="zh-CN">
                <a:ea typeface="宋体" panose="02010600030101010101" pitchFamily="2" charset="-122"/>
              </a:rPr>
              <a:t>src, dst (</a:t>
            </a:r>
            <a:r>
              <a:rPr kumimoji="1" lang="en-US" altLang="zh-CN">
                <a:ea typeface="宋体" panose="02010600030101010101" pitchFamily="2" charset="-122"/>
                <a:sym typeface="Wingdings" pitchFamily="2" charset="2"/>
              </a:rPr>
              <a:t>)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en-US" altLang="zh-CN">
                <a:ea typeface="宋体" panose="02010600030101010101" pitchFamily="2" charset="-122"/>
              </a:rPr>
              <a:t>Len = . - msg</a:t>
            </a: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Intel</a:t>
            </a:r>
            <a:r>
              <a:rPr kumimoji="1" lang="zh-CN" altLang="en-US">
                <a:ea typeface="宋体" panose="02010600030101010101" pitchFamily="2" charset="-122"/>
              </a:rPr>
              <a:t>格式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zh-CN" altLang="en-US">
                <a:ea typeface="宋体" panose="02010600030101010101" pitchFamily="2" charset="-122"/>
              </a:rPr>
              <a:t>寄存器参数：</a:t>
            </a:r>
            <a:r>
              <a:rPr kumimoji="1" lang="en-US" altLang="zh-CN">
                <a:ea typeface="宋体" panose="02010600030101010101" pitchFamily="2" charset="-122"/>
              </a:rPr>
              <a:t> dst, src (</a:t>
            </a:r>
            <a:r>
              <a:rPr kumimoji="1" lang="en-US" altLang="zh-CN">
                <a:ea typeface="宋体" panose="02010600030101010101" pitchFamily="2" charset="-122"/>
                <a:sym typeface="Wingdings" pitchFamily="2" charset="2"/>
              </a:rPr>
              <a:t>)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2"/>
            <a:r>
              <a:rPr kumimoji="1" lang="en-US" altLang="zh-CN">
                <a:ea typeface="宋体" panose="02010600030101010101" pitchFamily="2" charset="-122"/>
              </a:rPr>
              <a:t>Len equ $ - msg</a:t>
            </a:r>
          </a:p>
          <a:p>
            <a:pPr lvl="2"/>
            <a:r>
              <a:rPr kumimoji="1" lang="en-US" altLang="zh-CN">
                <a:ea typeface="宋体" panose="02010600030101010101" pitchFamily="2" charset="-122"/>
              </a:rPr>
              <a:t>Len = $ - msg</a:t>
            </a:r>
          </a:p>
          <a:p>
            <a:pPr lvl="1"/>
            <a:r>
              <a:rPr lang="en-US" altLang="zh-CN">
                <a:ea typeface="宋体" panose="02010600030101010101" pitchFamily="2" charset="-122"/>
              </a:rPr>
              <a:t>gcc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–O1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–S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–masm=intel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code.c</a:t>
            </a:r>
            <a:r>
              <a:rPr lang="zh-CN" altLang="en-US">
                <a:ea typeface="宋体" panose="02010600030101010101" pitchFamily="2" charset="-122"/>
              </a:rPr>
              <a:t>，可以生成</a:t>
            </a:r>
            <a:r>
              <a:rPr lang="en-US" altLang="zh-CN">
                <a:ea typeface="宋体" panose="02010600030101010101" pitchFamily="2" charset="-122"/>
              </a:rPr>
              <a:t>intel</a:t>
            </a:r>
            <a:r>
              <a:rPr lang="zh-CN" altLang="en-US">
                <a:ea typeface="宋体" panose="02010600030101010101" pitchFamily="2" charset="-122"/>
              </a:rPr>
              <a:t>风格的汇编代码</a:t>
            </a:r>
            <a:endParaRPr kumimoji="1" lang="en-US" altLang="zh-CN">
              <a:ea typeface="宋体" panose="02010600030101010101" pitchFamily="2" charset="-122"/>
            </a:endParaRPr>
          </a:p>
          <a:p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112643" name="幻灯片编号占位符 3">
            <a:extLst>
              <a:ext uri="{FF2B5EF4-FFF2-40B4-BE49-F238E27FC236}">
                <a16:creationId xmlns:a16="http://schemas.microsoft.com/office/drawing/2014/main" id="{2B2C5853-5847-6447-F18E-4A8CBDA5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1F7D69-195C-364A-8E2C-E7D48BD63E49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112644" name="矩形 4">
            <a:extLst>
              <a:ext uri="{FF2B5EF4-FFF2-40B4-BE49-F238E27FC236}">
                <a16:creationId xmlns:a16="http://schemas.microsoft.com/office/drawing/2014/main" id="{83778D78-8DD3-4FA4-7BA0-010798E6C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2286000"/>
            <a:ext cx="4572000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/>
              <a:t>加长度后缀</a:t>
            </a:r>
            <a:endParaRPr lang="en-US" altLang="zh-CN" sz="2000"/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zh-CN" sz="2000"/>
              <a:t>movb</a:t>
            </a:r>
            <a:r>
              <a:rPr lang="zh-CN" altLang="en-US" sz="2000"/>
              <a:t>传送字节</a:t>
            </a:r>
            <a:endParaRPr lang="en-US" altLang="zh-CN" sz="2000"/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zh-CN" sz="2000"/>
              <a:t>movw</a:t>
            </a:r>
            <a:r>
              <a:rPr lang="en-US" altLang="en-US" sz="2000"/>
              <a:t>传送字</a:t>
            </a:r>
            <a:endParaRPr lang="en-US" altLang="zh-CN" sz="2000"/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zh-CN" sz="2000"/>
              <a:t>movl</a:t>
            </a:r>
            <a:r>
              <a:rPr lang="en-US" altLang="en-US" sz="2000"/>
              <a:t>传送双字</a:t>
            </a:r>
            <a:r>
              <a:rPr lang="en-US" altLang="zh-CN" sz="2000"/>
              <a:t>(long</a:t>
            </a:r>
            <a:r>
              <a:rPr lang="zh-CN" altLang="en-US" sz="2000"/>
              <a:t> </a:t>
            </a:r>
            <a:r>
              <a:rPr lang="en-US" altLang="zh-CN" sz="2000"/>
              <a:t>word)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en-US" altLang="zh-CN" sz="2000"/>
              <a:t>movq</a:t>
            </a:r>
            <a:r>
              <a:rPr lang="zh-CN" altLang="en-US" sz="2000"/>
              <a:t>传送四字</a:t>
            </a:r>
            <a:endParaRPr lang="en-US" altLang="zh-CN" sz="2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标题 1">
            <a:extLst>
              <a:ext uri="{FF2B5EF4-FFF2-40B4-BE49-F238E27FC236}">
                <a16:creationId xmlns:a16="http://schemas.microsoft.com/office/drawing/2014/main" id="{5495DBB5-3AF9-D19E-2C1F-D870C85F7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语法</a:t>
            </a:r>
          </a:p>
        </p:txBody>
      </p:sp>
      <p:sp>
        <p:nvSpPr>
          <p:cNvPr id="113666" name="内容占位符 2">
            <a:extLst>
              <a:ext uri="{FF2B5EF4-FFF2-40B4-BE49-F238E27FC236}">
                <a16:creationId xmlns:a16="http://schemas.microsoft.com/office/drawing/2014/main" id="{C2ED8AA1-9897-88A4-99CB-2D90763AB8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>
                <a:ea typeface="宋体" panose="02010600030101010101" pitchFamily="2" charset="-122"/>
              </a:rPr>
              <a:t>.data</a:t>
            </a:r>
            <a:r>
              <a:rPr kumimoji="1" lang="zh-CN" altLang="en-US">
                <a:ea typeface="宋体" panose="02010600030101010101" pitchFamily="2" charset="-122"/>
              </a:rPr>
              <a:t> 数据段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zh-CN" altLang="en-US">
                <a:ea typeface="宋体" panose="02010600030101010101" pitchFamily="2" charset="-122"/>
              </a:rPr>
              <a:t>全局变量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zh-CN" altLang="en-US">
                <a:ea typeface="宋体" panose="02010600030101010101" pitchFamily="2" charset="-122"/>
              </a:rPr>
              <a:t>常量</a:t>
            </a:r>
            <a:endParaRPr kumimoji="1" lang="en-US" altLang="zh-CN">
              <a:ea typeface="宋体" panose="02010600030101010101" pitchFamily="2" charset="-122"/>
            </a:endParaRPr>
          </a:p>
          <a:p>
            <a:r>
              <a:rPr kumimoji="1" lang="en-US" altLang="zh-CN">
                <a:ea typeface="宋体" panose="02010600030101010101" pitchFamily="2" charset="-122"/>
              </a:rPr>
              <a:t>.text</a:t>
            </a:r>
            <a:r>
              <a:rPr kumimoji="1" lang="zh-CN" altLang="en-US">
                <a:ea typeface="宋体" panose="02010600030101010101" pitchFamily="2" charset="-122"/>
              </a:rPr>
              <a:t> 程序段</a:t>
            </a:r>
            <a:endParaRPr kumimoji="1" lang="en-US" altLang="zh-CN">
              <a:ea typeface="宋体" panose="02010600030101010101" pitchFamily="2" charset="-122"/>
            </a:endParaRPr>
          </a:p>
          <a:p>
            <a:r>
              <a:rPr kumimoji="1" lang="en-US" altLang="zh-CN">
                <a:ea typeface="宋体" panose="02010600030101010101" pitchFamily="2" charset="-122"/>
              </a:rPr>
              <a:t>.stack </a:t>
            </a:r>
            <a:r>
              <a:rPr kumimoji="1" lang="zh-CN" altLang="en-US">
                <a:ea typeface="宋体" panose="02010600030101010101" pitchFamily="2" charset="-122"/>
              </a:rPr>
              <a:t>堆栈段</a:t>
            </a:r>
            <a:endParaRPr kumimoji="1" lang="en-US" altLang="zh-CN">
              <a:ea typeface="宋体" panose="02010600030101010101" pitchFamily="2" charset="-122"/>
            </a:endParaRPr>
          </a:p>
          <a:p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113667" name="幻灯片编号占位符 3">
            <a:extLst>
              <a:ext uri="{FF2B5EF4-FFF2-40B4-BE49-F238E27FC236}">
                <a16:creationId xmlns:a16="http://schemas.microsoft.com/office/drawing/2014/main" id="{BEDBDD7B-F7C3-D173-B3EF-A11B2313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C534D9-ABCA-F24A-BB61-EEA0B76BBD94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标题 1">
            <a:extLst>
              <a:ext uri="{FF2B5EF4-FFF2-40B4-BE49-F238E27FC236}">
                <a16:creationId xmlns:a16="http://schemas.microsoft.com/office/drawing/2014/main" id="{FDB8F23E-95CF-8084-77A9-F8B1D7282F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常量</a:t>
            </a:r>
            <a:r>
              <a:rPr kumimoji="1" lang="en-US" altLang="zh-CN">
                <a:ea typeface="宋体" panose="02010600030101010101" pitchFamily="2" charset="-122"/>
              </a:rPr>
              <a:t>vs</a:t>
            </a:r>
            <a:r>
              <a:rPr kumimoji="1" lang="zh-CN" altLang="en-US">
                <a:ea typeface="宋体" panose="02010600030101010101" pitchFamily="2" charset="-122"/>
              </a:rPr>
              <a:t>变量</a:t>
            </a:r>
          </a:p>
        </p:txBody>
      </p:sp>
      <p:sp>
        <p:nvSpPr>
          <p:cNvPr id="114690" name="内容占位符 2">
            <a:extLst>
              <a:ext uri="{FF2B5EF4-FFF2-40B4-BE49-F238E27FC236}">
                <a16:creationId xmlns:a16="http://schemas.microsoft.com/office/drawing/2014/main" id="{D8896092-70D0-A913-9B06-AA6A0CB879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2400" b="1">
                <a:ea typeface="宋体" panose="02010600030101010101" pitchFamily="2" charset="-122"/>
              </a:rPr>
              <a:t>符号常量</a:t>
            </a:r>
            <a:endParaRPr kumimoji="1" lang="en-US" altLang="zh-CN" sz="2400" b="1">
              <a:ea typeface="宋体" panose="02010600030101010101" pitchFamily="2" charset="-122"/>
            </a:endParaRPr>
          </a:p>
          <a:p>
            <a:pPr lvl="1"/>
            <a:r>
              <a:rPr lang="zh-CN" altLang="en-US" sz="2000">
                <a:ea typeface="宋体" panose="02010600030101010101" pitchFamily="2" charset="-122"/>
              </a:rPr>
              <a:t>符号常量使用标识符表达一个数值</a:t>
            </a:r>
            <a:endParaRPr lang="en-US" altLang="zh-CN" sz="2000">
              <a:ea typeface="宋体" panose="02010600030101010101" pitchFamily="2" charset="-122"/>
            </a:endParaRPr>
          </a:p>
          <a:p>
            <a:pPr lvl="1"/>
            <a:r>
              <a:rPr lang="en-US" altLang="zh-CN" sz="2000">
                <a:ea typeface="宋体" panose="02010600030101010101" pitchFamily="2" charset="-122"/>
              </a:rPr>
              <a:t>Len = . </a:t>
            </a:r>
            <a:r>
              <a:rPr lang="mr-IN" altLang="zh-CN" sz="2000"/>
              <a:t>–</a:t>
            </a:r>
            <a:r>
              <a:rPr lang="en-US" altLang="zh-CN" sz="2000">
                <a:ea typeface="宋体" panose="02010600030101010101" pitchFamily="2" charset="-122"/>
              </a:rPr>
              <a:t> msg</a:t>
            </a:r>
          </a:p>
          <a:p>
            <a:pPr lvl="1"/>
            <a:r>
              <a:rPr kumimoji="1" lang="zh-CN" altLang="en-US" sz="2000">
                <a:ea typeface="宋体" panose="02010600030101010101" pitchFamily="2" charset="-122"/>
              </a:rPr>
              <a:t>在变为机器代码时会直接替换为对应的</a:t>
            </a:r>
            <a:r>
              <a:rPr kumimoji="1"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值</a:t>
            </a:r>
            <a:endParaRPr kumimoji="1" lang="en-US" altLang="zh-CN" sz="2000">
              <a:solidFill>
                <a:srgbClr val="FF0000"/>
              </a:solidFill>
              <a:ea typeface="宋体" panose="02010600030101010101" pitchFamily="2" charset="-122"/>
            </a:endParaRPr>
          </a:p>
          <a:p>
            <a:r>
              <a:rPr kumimoji="1" lang="zh-CN" altLang="en-US" sz="2400" b="1">
                <a:ea typeface="宋体" panose="02010600030101010101" pitchFamily="2" charset="-122"/>
              </a:rPr>
              <a:t>变量</a:t>
            </a:r>
            <a:endParaRPr kumimoji="1" lang="en-US" altLang="zh-CN" sz="2400" b="1">
              <a:ea typeface="宋体" panose="02010600030101010101" pitchFamily="2" charset="-122"/>
            </a:endParaRPr>
          </a:p>
          <a:p>
            <a:pPr lvl="1"/>
            <a:r>
              <a:rPr kumimoji="1" lang="zh-CN" altLang="en-US" sz="2000">
                <a:ea typeface="宋体" panose="02010600030101010101" pitchFamily="2" charset="-122"/>
              </a:rPr>
              <a:t>本质是</a:t>
            </a:r>
            <a:r>
              <a:rPr kumimoji="1" lang="en-US" altLang="zh-CN" sz="2000">
                <a:ea typeface="宋体" panose="02010600030101010101" pitchFamily="2" charset="-122"/>
              </a:rPr>
              <a:t>(</a:t>
            </a:r>
            <a:r>
              <a:rPr kumimoji="1" lang="zh-CN" altLang="en-US" sz="2000">
                <a:ea typeface="宋体" panose="02010600030101010101" pitchFamily="2" charset="-122"/>
              </a:rPr>
              <a:t>临时</a:t>
            </a:r>
            <a:r>
              <a:rPr kumimoji="1" lang="en-US" altLang="zh-CN" sz="2000">
                <a:ea typeface="宋体" panose="02010600030101010101" pitchFamily="2" charset="-122"/>
              </a:rPr>
              <a:t>)</a:t>
            </a:r>
            <a:r>
              <a:rPr kumimoji="1" lang="zh-CN" altLang="en-US" sz="2000">
                <a:ea typeface="宋体" panose="02010600030101010101" pitchFamily="2" charset="-122"/>
              </a:rPr>
              <a:t>拥有一段内存，变量即内存的地址</a:t>
            </a:r>
            <a:endParaRPr kumimoji="1" lang="en-US" altLang="zh-CN" sz="2000">
              <a:ea typeface="宋体" panose="02010600030101010101" pitchFamily="2" charset="-122"/>
            </a:endParaRPr>
          </a:p>
          <a:p>
            <a:pPr lvl="1"/>
            <a:r>
              <a:rPr kumimoji="1" lang="zh-CN" altLang="en-US" sz="2000">
                <a:ea typeface="宋体" panose="02010600030101010101" pitchFamily="2" charset="-122"/>
              </a:rPr>
              <a:t>在变为机器代码时会直接替换为对应内存段的</a:t>
            </a:r>
            <a:r>
              <a:rPr kumimoji="1" lang="zh-CN" altLang="en-US" sz="2000">
                <a:solidFill>
                  <a:srgbClr val="FF0000"/>
                </a:solidFill>
                <a:ea typeface="宋体" panose="02010600030101010101" pitchFamily="2" charset="-122"/>
              </a:rPr>
              <a:t>首地址</a:t>
            </a:r>
            <a:r>
              <a:rPr lang="cs-CZ" altLang="zh-CN" sz="200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cs-CZ" altLang="zh-CN" sz="2000"/>
              <a:t>.ascii                 </a:t>
            </a:r>
            <a:r>
              <a:rPr lang="zh-CN" altLang="cs-CZ" sz="2000">
                <a:ea typeface="宋体" panose="02010600030101010101" pitchFamily="2" charset="-122"/>
              </a:rPr>
              <a:t>字符串</a:t>
            </a:r>
            <a:endParaRPr lang="cs-CZ" altLang="zh-CN" sz="2000"/>
          </a:p>
          <a:p>
            <a:pPr lvl="1"/>
            <a:r>
              <a:rPr lang="cs-CZ" altLang="zh-CN" sz="2000"/>
              <a:t>.short                </a:t>
            </a:r>
            <a:r>
              <a:rPr lang="zh-CN" altLang="cs-CZ" sz="2000">
                <a:ea typeface="宋体" panose="02010600030101010101" pitchFamily="2" charset="-122"/>
              </a:rPr>
              <a:t>短整型 </a:t>
            </a:r>
            <a:r>
              <a:rPr lang="cs-CZ" altLang="zh-CN" sz="2000"/>
              <a:t>16</a:t>
            </a:r>
            <a:r>
              <a:rPr lang="zh-CN" altLang="cs-CZ" sz="2000">
                <a:ea typeface="宋体" panose="02010600030101010101" pitchFamily="2" charset="-122"/>
              </a:rPr>
              <a:t>位</a:t>
            </a:r>
            <a:r>
              <a:rPr lang="cs-CZ" altLang="zh-CN" sz="2000"/>
              <a:t>2</a:t>
            </a:r>
            <a:r>
              <a:rPr lang="zh-CN" altLang="cs-CZ" sz="2000">
                <a:ea typeface="宋体" panose="02010600030101010101" pitchFamily="2" charset="-122"/>
              </a:rPr>
              <a:t>字节</a:t>
            </a:r>
            <a:endParaRPr lang="cs-CZ" altLang="zh-CN" sz="2000"/>
          </a:p>
          <a:p>
            <a:pPr lvl="1"/>
            <a:r>
              <a:rPr lang="cs-CZ" altLang="zh-CN" sz="2000"/>
              <a:t>.int .long      </a:t>
            </a:r>
            <a:r>
              <a:rPr lang="zh-CN" altLang="cs-CZ" sz="2000">
                <a:ea typeface="宋体" panose="02010600030101010101" pitchFamily="2" charset="-122"/>
              </a:rPr>
              <a:t>长整型 </a:t>
            </a:r>
            <a:r>
              <a:rPr lang="cs-CZ" altLang="zh-CN" sz="2000"/>
              <a:t>32</a:t>
            </a:r>
            <a:r>
              <a:rPr lang="zh-CN" altLang="cs-CZ" sz="2000">
                <a:ea typeface="宋体" panose="02010600030101010101" pitchFamily="2" charset="-122"/>
              </a:rPr>
              <a:t>位</a:t>
            </a:r>
            <a:r>
              <a:rPr lang="cs-CZ" altLang="zh-CN" sz="2000"/>
              <a:t>4</a:t>
            </a:r>
            <a:r>
              <a:rPr lang="zh-CN" altLang="cs-CZ" sz="2000">
                <a:ea typeface="宋体" panose="02010600030101010101" pitchFamily="2" charset="-122"/>
              </a:rPr>
              <a:t>字节</a:t>
            </a:r>
            <a:r>
              <a:rPr lang="cs-CZ" altLang="zh-CN" sz="2000"/>
              <a:t> (</a:t>
            </a:r>
            <a:r>
              <a:rPr lang="zh-CN" altLang="en-US" sz="2000">
                <a:ea typeface="宋体" panose="02010600030101010101" pitchFamily="2" charset="-122"/>
              </a:rPr>
              <a:t>同一平台</a:t>
            </a:r>
            <a:r>
              <a:rPr lang="en-US" altLang="zh-CN" sz="2000">
                <a:ea typeface="宋体" panose="02010600030101010101" pitchFamily="2" charset="-122"/>
              </a:rPr>
              <a:t>C</a:t>
            </a:r>
            <a:r>
              <a:rPr lang="zh-CN" altLang="en-US" sz="2000">
                <a:ea typeface="宋体" panose="02010600030101010101" pitchFamily="2" charset="-122"/>
              </a:rPr>
              <a:t>语言中</a:t>
            </a:r>
            <a:r>
              <a:rPr lang="en-US" altLang="zh-CN" sz="2000">
                <a:ea typeface="宋体" panose="02010600030101010101" pitchFamily="2" charset="-122"/>
              </a:rPr>
              <a:t>long </a:t>
            </a:r>
            <a:r>
              <a:rPr lang="zh-CN" altLang="en-US" sz="2000">
                <a:ea typeface="宋体" panose="02010600030101010101" pitchFamily="2" charset="-122"/>
              </a:rPr>
              <a:t>为</a:t>
            </a:r>
            <a:r>
              <a:rPr lang="en-US" altLang="zh-CN" sz="2000">
                <a:ea typeface="宋体" panose="02010600030101010101" pitchFamily="2" charset="-122"/>
              </a:rPr>
              <a:t>8</a:t>
            </a:r>
            <a:r>
              <a:rPr lang="zh-CN" altLang="en-US" sz="2000">
                <a:ea typeface="宋体" panose="02010600030101010101" pitchFamily="2" charset="-122"/>
              </a:rPr>
              <a:t>字节）</a:t>
            </a:r>
            <a:endParaRPr lang="cs-CZ" altLang="zh-CN" sz="2000"/>
          </a:p>
          <a:p>
            <a:pPr lvl="1"/>
            <a:r>
              <a:rPr lang="cs-CZ" altLang="zh-CN" sz="2000"/>
              <a:t>.byte                 </a:t>
            </a:r>
            <a:r>
              <a:rPr lang="zh-CN" altLang="cs-CZ" sz="2000">
                <a:ea typeface="宋体" panose="02010600030101010101" pitchFamily="2" charset="-122"/>
              </a:rPr>
              <a:t>一个字节</a:t>
            </a:r>
            <a:endParaRPr lang="cs-CZ" altLang="zh-CN" sz="2000"/>
          </a:p>
          <a:p>
            <a:pPr lvl="1"/>
            <a:r>
              <a:rPr lang="cs-CZ" altLang="zh-CN" sz="2000"/>
              <a:t>.float                </a:t>
            </a:r>
            <a:r>
              <a:rPr lang="zh-CN" altLang="cs-CZ" sz="2000">
                <a:ea typeface="宋体" panose="02010600030101010101" pitchFamily="2" charset="-122"/>
              </a:rPr>
              <a:t>浮点单精度</a:t>
            </a:r>
            <a:endParaRPr lang="cs-CZ" altLang="zh-CN" sz="2000"/>
          </a:p>
          <a:p>
            <a:pPr lvl="1"/>
            <a:r>
              <a:rPr lang="cs-CZ" altLang="zh-CN" sz="2000"/>
              <a:t>.double             </a:t>
            </a:r>
            <a:r>
              <a:rPr lang="zh-CN" altLang="cs-CZ" sz="2000">
                <a:ea typeface="宋体" panose="02010600030101010101" pitchFamily="2" charset="-122"/>
              </a:rPr>
              <a:t>浮点双精度</a:t>
            </a:r>
            <a:endParaRPr lang="cs-CZ" altLang="zh-CN" sz="2000"/>
          </a:p>
        </p:txBody>
      </p:sp>
      <p:sp>
        <p:nvSpPr>
          <p:cNvPr id="114691" name="幻灯片编号占位符 3">
            <a:extLst>
              <a:ext uri="{FF2B5EF4-FFF2-40B4-BE49-F238E27FC236}">
                <a16:creationId xmlns:a16="http://schemas.microsoft.com/office/drawing/2014/main" id="{992BA044-5894-FEEB-28E2-4B94338DC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721770-C635-414F-9757-B8FD56343ED8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标题 1">
            <a:extLst>
              <a:ext uri="{FF2B5EF4-FFF2-40B4-BE49-F238E27FC236}">
                <a16:creationId xmlns:a16="http://schemas.microsoft.com/office/drawing/2014/main" id="{910C8C35-3E6A-7664-8D88-656FDF0FED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工具</a:t>
            </a:r>
          </a:p>
        </p:txBody>
      </p:sp>
      <p:sp>
        <p:nvSpPr>
          <p:cNvPr id="115714" name="内容占位符 2">
            <a:extLst>
              <a:ext uri="{FF2B5EF4-FFF2-40B4-BE49-F238E27FC236}">
                <a16:creationId xmlns:a16="http://schemas.microsoft.com/office/drawing/2014/main" id="{7F43D3BB-A329-7ED8-6A8D-2B792F3D1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汇编器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as, gcc</a:t>
            </a:r>
            <a:r>
              <a:rPr kumimoji="1" lang="zh-CN" altLang="en-US">
                <a:ea typeface="宋体" panose="02010600030101010101" pitchFamily="2" charset="-122"/>
              </a:rPr>
              <a:t>依赖的汇编器</a:t>
            </a:r>
            <a:endParaRPr kumimoji="1" lang="en-US" altLang="zh-CN">
              <a:ea typeface="宋体" panose="02010600030101010101" pitchFamily="2" charset="-122"/>
            </a:endParaRPr>
          </a:p>
          <a:p>
            <a:r>
              <a:rPr kumimoji="1" lang="zh-CN" altLang="en-US">
                <a:ea typeface="宋体" panose="02010600030101010101" pitchFamily="2" charset="-122"/>
              </a:rPr>
              <a:t>链接器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ld</a:t>
            </a:r>
          </a:p>
          <a:p>
            <a:r>
              <a:rPr kumimoji="1" lang="zh-CN" altLang="en-US">
                <a:ea typeface="宋体" panose="02010600030101010101" pitchFamily="2" charset="-122"/>
              </a:rPr>
              <a:t>调试器</a:t>
            </a:r>
            <a:endParaRPr kumimoji="1" lang="en-US" altLang="zh-CN">
              <a:ea typeface="宋体" panose="02010600030101010101" pitchFamily="2" charset="-122"/>
            </a:endParaRPr>
          </a:p>
          <a:p>
            <a:pPr lvl="1"/>
            <a:r>
              <a:rPr kumimoji="1" lang="en-US" altLang="zh-CN">
                <a:ea typeface="宋体" panose="02010600030101010101" pitchFamily="2" charset="-122"/>
              </a:rPr>
              <a:t>Gdb</a:t>
            </a:r>
          </a:p>
          <a:p>
            <a:pPr lvl="1"/>
            <a:r>
              <a:rPr kumimoji="1" lang="zh-CN" altLang="en-US">
                <a:ea typeface="宋体" panose="02010600030101010101" pitchFamily="2" charset="-122"/>
              </a:rPr>
              <a:t>将在</a:t>
            </a:r>
            <a:r>
              <a:rPr kumimoji="1" lang="en-US" altLang="zh-CN">
                <a:ea typeface="宋体" panose="02010600030101010101" pitchFamily="2" charset="-122"/>
              </a:rPr>
              <a:t>bomblab</a:t>
            </a:r>
            <a:r>
              <a:rPr kumimoji="1" lang="zh-CN" altLang="en-US">
                <a:ea typeface="宋体" panose="02010600030101010101" pitchFamily="2" charset="-122"/>
              </a:rPr>
              <a:t>时详细讲解</a:t>
            </a:r>
          </a:p>
        </p:txBody>
      </p:sp>
      <p:sp>
        <p:nvSpPr>
          <p:cNvPr id="115715" name="幻灯片编号占位符 3">
            <a:extLst>
              <a:ext uri="{FF2B5EF4-FFF2-40B4-BE49-F238E27FC236}">
                <a16:creationId xmlns:a16="http://schemas.microsoft.com/office/drawing/2014/main" id="{51611EBA-6F54-052B-2886-CA20E0FA6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CAD6AA-D070-F64A-8CE3-367E48A7D023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标题 1">
            <a:extLst>
              <a:ext uri="{FF2B5EF4-FFF2-40B4-BE49-F238E27FC236}">
                <a16:creationId xmlns:a16="http://schemas.microsoft.com/office/drawing/2014/main" id="{7844ADFD-CE87-3641-ADDD-1F3879A9D2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anose="02010600030101010101" pitchFamily="2" charset="-122"/>
              </a:rPr>
              <a:t>Example</a:t>
            </a:r>
            <a:r>
              <a:rPr lang="zh-CN" altLang="en-US">
                <a:ea typeface="宋体" panose="02010600030101010101" pitchFamily="2" charset="-122"/>
              </a:rPr>
              <a:t> </a:t>
            </a:r>
            <a:r>
              <a:rPr lang="en-US" altLang="zh-CN">
                <a:ea typeface="宋体" panose="02010600030101010101" pitchFamily="2" charset="-122"/>
              </a:rPr>
              <a:t>2</a:t>
            </a:r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116738" name="内容占位符 2">
            <a:extLst>
              <a:ext uri="{FF2B5EF4-FFF2-40B4-BE49-F238E27FC236}">
                <a16:creationId xmlns:a16="http://schemas.microsoft.com/office/drawing/2014/main" id="{4C69863C-DD9C-0412-30D5-54D2E9EF8DF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1600200"/>
            <a:ext cx="4572000" cy="4419600"/>
          </a:xfrm>
        </p:spPr>
        <p:txBody>
          <a:bodyPr/>
          <a:lstStyle/>
          <a:p>
            <a:r>
              <a:rPr lang="zh-CN" altLang="en-US" sz="2400">
                <a:ea typeface="宋体" panose="02010600030101010101" pitchFamily="2" charset="-122"/>
              </a:rPr>
              <a:t>查询</a:t>
            </a:r>
            <a:r>
              <a:rPr lang="en-US" altLang="zh-CN" sz="2400">
                <a:ea typeface="宋体" panose="02010600030101010101" pitchFamily="2" charset="-122"/>
              </a:rPr>
              <a:t>CPU</a:t>
            </a:r>
            <a:r>
              <a:rPr lang="zh-CN" altLang="en-US" sz="2400">
                <a:ea typeface="宋体" panose="02010600030101010101" pitchFamily="2" charset="-122"/>
              </a:rPr>
              <a:t>的厂商</a:t>
            </a:r>
            <a:r>
              <a:rPr lang="en-US" altLang="zh-CN" sz="2400">
                <a:ea typeface="宋体" panose="02010600030101010101" pitchFamily="2" charset="-122"/>
              </a:rPr>
              <a:t>ID</a:t>
            </a:r>
          </a:p>
          <a:p>
            <a:endParaRPr lang="en-US" altLang="zh-CN" sz="2400">
              <a:ea typeface="宋体" panose="02010600030101010101" pitchFamily="2" charset="-122"/>
            </a:endParaRPr>
          </a:p>
          <a:p>
            <a:r>
              <a:rPr lang="en-US" altLang="zh-CN" sz="2400">
                <a:ea typeface="宋体" panose="02010600030101010101" pitchFamily="2" charset="-122"/>
              </a:rPr>
              <a:t>.data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output:</a:t>
            </a:r>
            <a:r>
              <a:rPr lang="zh-CN" altLang="en-US" sz="2400">
                <a:ea typeface="宋体" panose="02010600030101010101" pitchFamily="2" charset="-122"/>
              </a:rPr>
              <a:t> </a:t>
            </a:r>
            <a:r>
              <a:rPr lang="en-US" altLang="zh-CN" sz="2400">
                <a:ea typeface="宋体" panose="02010600030101010101" pitchFamily="2" charset="-122"/>
              </a:rPr>
              <a:t>.ascii "The processor Vendor ID is 'xxxxxxxxxxxx'\n"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.text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.global _start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_start: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movl $0, %eax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cpuid</a:t>
            </a:r>
            <a:br>
              <a:rPr lang="en-US" altLang="zh-CN" sz="2400">
                <a:ea typeface="宋体" panose="02010600030101010101" pitchFamily="2" charset="-122"/>
              </a:rPr>
            </a:br>
            <a:endParaRPr kumimoji="1" lang="zh-CN" altLang="en-US" sz="2400">
              <a:ea typeface="宋体" panose="02010600030101010101" pitchFamily="2" charset="-122"/>
            </a:endParaRPr>
          </a:p>
        </p:txBody>
      </p:sp>
      <p:sp>
        <p:nvSpPr>
          <p:cNvPr id="116739" name="内容占位符 3">
            <a:extLst>
              <a:ext uri="{FF2B5EF4-FFF2-40B4-BE49-F238E27FC236}">
                <a16:creationId xmlns:a16="http://schemas.microsoft.com/office/drawing/2014/main" id="{203475E0-4290-96D1-03DD-96ED77C2AFD4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5257800" y="1600200"/>
            <a:ext cx="3505200" cy="4419600"/>
          </a:xfrm>
        </p:spPr>
        <p:txBody>
          <a:bodyPr/>
          <a:lstStyle/>
          <a:p>
            <a:r>
              <a:rPr lang="en-US" altLang="zh-CN" sz="2400">
                <a:ea typeface="宋体" panose="02010600030101010101" pitchFamily="2" charset="-122"/>
              </a:rPr>
              <a:t>movl $output, %edi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movl %ebx, 28(%edi)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movl %edx, 32(%edi)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movl %ecx, 36(%edi)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movl $4, %eax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movl $1, %ebx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movl $output, %ecx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movl $42, %edx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int $0x80</a:t>
            </a:r>
          </a:p>
          <a:p>
            <a:r>
              <a:rPr lang="en-US" altLang="zh-CN" sz="2400">
                <a:ea typeface="宋体" panose="02010600030101010101" pitchFamily="2" charset="-122"/>
              </a:rPr>
              <a:t>movl $1, %eax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movl $0, %ebx</a:t>
            </a:r>
            <a:br>
              <a:rPr lang="en-US" altLang="zh-CN" sz="2400">
                <a:ea typeface="宋体" panose="02010600030101010101" pitchFamily="2" charset="-122"/>
              </a:rPr>
            </a:br>
            <a:r>
              <a:rPr lang="en-US" altLang="zh-CN" sz="2400">
                <a:ea typeface="宋体" panose="02010600030101010101" pitchFamily="2" charset="-122"/>
              </a:rPr>
              <a:t>int $0x80</a:t>
            </a:r>
            <a:endParaRPr kumimoji="1" lang="zh-CN" altLang="en-US" sz="2400">
              <a:ea typeface="宋体" panose="02010600030101010101" pitchFamily="2" charset="-122"/>
            </a:endParaRPr>
          </a:p>
          <a:p>
            <a:endParaRPr kumimoji="1" lang="zh-CN" altLang="en-US" sz="2400">
              <a:ea typeface="宋体" panose="02010600030101010101" pitchFamily="2" charset="-122"/>
            </a:endParaRPr>
          </a:p>
        </p:txBody>
      </p:sp>
      <p:sp>
        <p:nvSpPr>
          <p:cNvPr id="116740" name="幻灯片编号占位符 4">
            <a:extLst>
              <a:ext uri="{FF2B5EF4-FFF2-40B4-BE49-F238E27FC236}">
                <a16:creationId xmlns:a16="http://schemas.microsoft.com/office/drawing/2014/main" id="{055E4C45-C135-ADFC-7116-E8B8FD7AE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DA90BB-9EC1-2A45-9B16-AF8A9FBB589A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标题 1">
            <a:extLst>
              <a:ext uri="{FF2B5EF4-FFF2-40B4-BE49-F238E27FC236}">
                <a16:creationId xmlns:a16="http://schemas.microsoft.com/office/drawing/2014/main" id="{F8BC7681-C597-F8EE-0F08-A2F9B2CCDD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panose="02010600030101010101" pitchFamily="2" charset="-122"/>
              </a:rPr>
              <a:t>课堂练习</a:t>
            </a:r>
          </a:p>
        </p:txBody>
      </p:sp>
      <p:sp>
        <p:nvSpPr>
          <p:cNvPr id="117762" name="内容占位符 2">
            <a:extLst>
              <a:ext uri="{FF2B5EF4-FFF2-40B4-BE49-F238E27FC236}">
                <a16:creationId xmlns:a16="http://schemas.microsoft.com/office/drawing/2014/main" id="{C847688A-FA28-209E-0C9B-720043B3CE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.data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byte1 .byte 10110111b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byte2 = . </a:t>
            </a:r>
            <a:r>
              <a:rPr lang="mr-IN" altLang="zh-CN"/>
              <a:t>–</a:t>
            </a:r>
            <a:r>
              <a:rPr lang="en-US" altLang="zh-CN">
                <a:ea typeface="宋体" panose="02010600030101010101" pitchFamily="2" charset="-122"/>
              </a:rPr>
              <a:t> byte1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byte3 BYTE 61+1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word1 .short -9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dword1 .int 2274h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word2 .short 2274q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>
                <a:ea typeface="宋体" panose="02010600030101010101" pitchFamily="2" charset="-122"/>
              </a:rPr>
              <a:t>假设是</a:t>
            </a:r>
            <a:r>
              <a:rPr lang="en-US" altLang="zh-CN">
                <a:ea typeface="宋体" panose="02010600030101010101" pitchFamily="2" charset="-122"/>
              </a:rPr>
              <a:t>8086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DS=2000H</a:t>
            </a:r>
            <a:r>
              <a:rPr lang="zh-CN" altLang="en-US">
                <a:ea typeface="宋体" panose="02010600030101010101" pitchFamily="2" charset="-122"/>
              </a:rPr>
              <a:t>，要求画出内存状态图</a:t>
            </a:r>
            <a:endParaRPr lang="en-US" altLang="zh-CN">
              <a:ea typeface="宋体" panose="02010600030101010101" pitchFamily="2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>
                <a:ea typeface="宋体" panose="02010600030101010101" pitchFamily="2" charset="-122"/>
              </a:rPr>
              <a:t>Hint: intel</a:t>
            </a:r>
            <a:r>
              <a:rPr lang="zh-CN" altLang="en-US">
                <a:ea typeface="宋体" panose="02010600030101010101" pitchFamily="2" charset="-122"/>
              </a:rPr>
              <a:t>系列</a:t>
            </a:r>
            <a:r>
              <a:rPr lang="en-US" altLang="zh-CN">
                <a:ea typeface="宋体" panose="02010600030101010101" pitchFamily="2" charset="-122"/>
              </a:rPr>
              <a:t>CPU</a:t>
            </a:r>
            <a:r>
              <a:rPr lang="zh-CN" altLang="en-US">
                <a:ea typeface="宋体" panose="02010600030101010101" pitchFamily="2" charset="-122"/>
              </a:rPr>
              <a:t>采用小端方式</a:t>
            </a:r>
          </a:p>
          <a:p>
            <a:endParaRPr kumimoji="1" lang="zh-CN" altLang="en-US">
              <a:ea typeface="宋体" panose="02010600030101010101" pitchFamily="2" charset="-122"/>
            </a:endParaRPr>
          </a:p>
        </p:txBody>
      </p:sp>
      <p:sp>
        <p:nvSpPr>
          <p:cNvPr id="117763" name="幻灯片编号占位符 3">
            <a:extLst>
              <a:ext uri="{FF2B5EF4-FFF2-40B4-BE49-F238E27FC236}">
                <a16:creationId xmlns:a16="http://schemas.microsoft.com/office/drawing/2014/main" id="{76E41C93-A3FA-1D5F-6A10-134774195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835DA22-4DE7-B448-B6BA-9FDF479B7BE2}" type="slidenum">
              <a:rPr lang="zh-CN" altLang="en-US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Ocean</Template>
  <TotalTime>13691</TotalTime>
  <Words>3891</Words>
  <Application>Microsoft Macintosh PowerPoint</Application>
  <PresentationFormat>全屏显示(4:3)</PresentationFormat>
  <Paragraphs>829</Paragraphs>
  <Slides>53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5" baseType="lpstr">
      <vt:lpstr>Comic Sans MS</vt:lpstr>
      <vt:lpstr>宋体</vt:lpstr>
      <vt:lpstr>Arial</vt:lpstr>
      <vt:lpstr>Times New Roman</vt:lpstr>
      <vt:lpstr>Calibri</vt:lpstr>
      <vt:lpstr>Courier New</vt:lpstr>
      <vt:lpstr>Courier</vt:lpstr>
      <vt:lpstr>Wingdings</vt:lpstr>
      <vt:lpstr>Helvetica</vt:lpstr>
      <vt:lpstr>仿宋_GB2312</vt:lpstr>
      <vt:lpstr>-apple-system</vt:lpstr>
      <vt:lpstr>icfp99</vt:lpstr>
      <vt:lpstr>程序的机器级表示（2）</vt:lpstr>
      <vt:lpstr>C and Assembly Language</vt:lpstr>
      <vt:lpstr>Characteristics of the high level programming languages</vt:lpstr>
      <vt:lpstr>Characteristics of the assembly programming languages</vt:lpstr>
      <vt:lpstr>Why should we understand the assembly code</vt:lpstr>
      <vt:lpstr>From writing assembly code to understand assembly code</vt:lpstr>
      <vt:lpstr>Turning C into Object Code</vt:lpstr>
      <vt:lpstr>Compiling Into Assembly</vt:lpstr>
      <vt:lpstr>Disassembling Object Code</vt:lpstr>
      <vt:lpstr>Alternate Disassembly</vt:lpstr>
      <vt:lpstr>What Can be Disassembled?</vt:lpstr>
      <vt:lpstr>Code Examples</vt:lpstr>
      <vt:lpstr>Code Examples</vt:lpstr>
      <vt:lpstr>From C Codes to Assembly codes</vt:lpstr>
      <vt:lpstr>Operands</vt:lpstr>
      <vt:lpstr>Assembly Code</vt:lpstr>
      <vt:lpstr>IA-32</vt:lpstr>
      <vt:lpstr>READ/WRITE operations</vt:lpstr>
      <vt:lpstr>Registers vs. Virtual Memory</vt:lpstr>
      <vt:lpstr>Where are the variables? — registers &amp; Memory</vt:lpstr>
      <vt:lpstr>Operands</vt:lpstr>
      <vt:lpstr>Express Operands in Assembly (Addressing Mode)</vt:lpstr>
      <vt:lpstr>Virtual spaces</vt:lpstr>
      <vt:lpstr>Memory References</vt:lpstr>
      <vt:lpstr>Indexed Addressing Mode</vt:lpstr>
      <vt:lpstr>Memory Addressing Mode（寻址方式）</vt:lpstr>
      <vt:lpstr>Addressing Mode（寻址方式）</vt:lpstr>
      <vt:lpstr>PowerPoint 演示文稿</vt:lpstr>
      <vt:lpstr>Understanding Machine Execution</vt:lpstr>
      <vt:lpstr>Outline</vt:lpstr>
      <vt:lpstr>Assembly Programmer’s View</vt:lpstr>
      <vt:lpstr>Programmer-Visible States</vt:lpstr>
      <vt:lpstr>Programmer-Visible States</vt:lpstr>
      <vt:lpstr>Operations in Assembly Instructions</vt:lpstr>
      <vt:lpstr>Understanding Machine Execution </vt:lpstr>
      <vt:lpstr>Code Layout</vt:lpstr>
      <vt:lpstr>Sequential execution</vt:lpstr>
      <vt:lpstr>Sequential execution</vt:lpstr>
      <vt:lpstr>Code Layout</vt:lpstr>
      <vt:lpstr>Data layout</vt:lpstr>
      <vt:lpstr>Data Layout</vt:lpstr>
      <vt:lpstr>Example (C Code)</vt:lpstr>
      <vt:lpstr>Example (object Code)</vt:lpstr>
      <vt:lpstr>Example (object Code)</vt:lpstr>
      <vt:lpstr>Example (object Code)</vt:lpstr>
      <vt:lpstr>Organization of an Assembly Program</vt:lpstr>
      <vt:lpstr>Example 1</vt:lpstr>
      <vt:lpstr>语法</vt:lpstr>
      <vt:lpstr>语法</vt:lpstr>
      <vt:lpstr>常量vs变量</vt:lpstr>
      <vt:lpstr>工具</vt:lpstr>
      <vt:lpstr>Example 2</vt:lpstr>
      <vt:lpstr>课堂练习</vt:lpstr>
    </vt:vector>
  </TitlesOfParts>
  <Company>Digital Integrity,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</dc:title>
  <dc:creator>Binyu Zang</dc:creator>
  <cp:lastModifiedBy>0 yue</cp:lastModifiedBy>
  <cp:revision>545</cp:revision>
  <dcterms:created xsi:type="dcterms:W3CDTF">2000-01-15T07:54:11Z</dcterms:created>
  <dcterms:modified xsi:type="dcterms:W3CDTF">2024-10-14T08:15:43Z</dcterms:modified>
</cp:coreProperties>
</file>